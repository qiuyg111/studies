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7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0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7F7F7F"/>
    <a:srgbClr val="FFFFFF"/>
    <a:srgbClr val="4874CB"/>
    <a:srgbClr val="FF9900"/>
    <a:srgbClr val="2AAC68"/>
    <a:srgbClr val="470BF5"/>
    <a:srgbClr val="FF8001"/>
    <a:srgbClr val="FF4040"/>
    <a:srgbClr val="F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</c:v>
                </c:pt>
                <c:pt idx="1">
                  <c:v>2.5</c:v>
                </c:pt>
                <c:pt idx="2">
                  <c:v>0.1</c:v>
                </c:pt>
                <c:pt idx="3">
                  <c:v>2.5</c:v>
                </c:pt>
                <c:pt idx="4">
                  <c:v>0.2</c:v>
                </c:pt>
                <c:pt idx="5">
                  <c:v>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14c04-172e-400d-8451-59ae6106b7b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6</c:v>
                </c:pt>
                <c:pt idx="2">
                  <c:v>7</c:v>
                </c:pt>
                <c:pt idx="3">
                  <c:v>7.2</c:v>
                </c:pt>
                <c:pt idx="4">
                  <c:v>0.2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06755f2-684c-410d-8632-e7a2a492967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874CB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</c:v>
                </c:pt>
                <c:pt idx="1">
                  <c:v>6</c:v>
                </c:pt>
                <c:pt idx="2">
                  <c:v>7</c:v>
                </c:pt>
                <c:pt idx="3">
                  <c:v>7.2</c:v>
                </c:pt>
                <c:pt idx="4">
                  <c:v>0.2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06755f2-684c-410d-8632-e7a2a492967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0.1</c:v>
                </c:pt>
                <c:pt idx="3">
                  <c:v>6</c:v>
                </c:pt>
                <c:pt idx="4">
                  <c:v>0.48</c:v>
                </c:pt>
                <c:pt idx="5">
                  <c:v>7.5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14c04-172e-400d-8451-59ae6106b7b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6</c:v>
                </c:pt>
                <c:pt idx="2">
                  <c:v>7</c:v>
                </c:pt>
                <c:pt idx="3">
                  <c:v>7.2</c:v>
                </c:pt>
                <c:pt idx="4">
                  <c:v>0.2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d06755f2-684c-410d-8632-e7a2a4929673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7</c:v>
                </c:pt>
                <c:pt idx="3">
                  <c:v>7.2</c:v>
                </c:pt>
                <c:pt idx="4">
                  <c:v>0.48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14c04-172e-400d-8451-59ae6106b7b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0</c:v>
                </c:pt>
                <c:pt idx="3">
                  <c:v>7.2</c:v>
                </c:pt>
                <c:pt idx="4">
                  <c:v>0.48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14c04-172e-400d-8451-59ae6106b7b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</c:dPt>
          <c:dLbls>
            <c:delete val="1"/>
          </c:dLbls>
          <c:cat>
            <c:strRef>
              <c:f>Sheet1!$A$2:$A$7</c:f>
              <c:strCache>
                <c:ptCount val="6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3.3</c:v>
                </c:pt>
                <c:pt idx="1">
                  <c:v>2.5</c:v>
                </c:pt>
                <c:pt idx="2">
                  <c:v>0</c:v>
                </c:pt>
                <c:pt idx="3">
                  <c:v>2.95</c:v>
                </c:pt>
                <c:pt idx="4">
                  <c:v>0.2</c:v>
                </c:pt>
                <c:pt idx="5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28"/>
        <c:axId val="541119554"/>
        <c:axId val="175185480"/>
      </c:barChart>
      <c:catAx>
        <c:axId val="541119554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5185480"/>
        <c:crosses val="autoZero"/>
        <c:auto val="1"/>
        <c:lblAlgn val="ctr"/>
        <c:lblOffset val="100"/>
        <c:noMultiLvlLbl val="0"/>
      </c:catAx>
      <c:valAx>
        <c:axId val="175185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1119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e814c04-172e-400d-8451-59ae6106b7b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3.xml"/><Relationship Id="rId66" Type="http://schemas.openxmlformats.org/officeDocument/2006/relationships/slideLayout" Target="../slideLayouts/slideLayout1.xml"/><Relationship Id="rId65" Type="http://schemas.openxmlformats.org/officeDocument/2006/relationships/tags" Target="../tags/tag40.xml"/><Relationship Id="rId64" Type="http://schemas.openxmlformats.org/officeDocument/2006/relationships/tags" Target="../tags/tag39.xml"/><Relationship Id="rId63" Type="http://schemas.openxmlformats.org/officeDocument/2006/relationships/image" Target="../media/image25.svg"/><Relationship Id="rId62" Type="http://schemas.openxmlformats.org/officeDocument/2006/relationships/image" Target="../media/image24.svg"/><Relationship Id="rId61" Type="http://schemas.openxmlformats.org/officeDocument/2006/relationships/image" Target="../media/image23.png"/><Relationship Id="rId60" Type="http://schemas.openxmlformats.org/officeDocument/2006/relationships/image" Target="../media/image22.svg"/><Relationship Id="rId6" Type="http://schemas.openxmlformats.org/officeDocument/2006/relationships/tags" Target="../tags/tag2.xml"/><Relationship Id="rId59" Type="http://schemas.openxmlformats.org/officeDocument/2006/relationships/image" Target="../media/image21.png"/><Relationship Id="rId58" Type="http://schemas.openxmlformats.org/officeDocument/2006/relationships/tags" Target="../tags/tag38.xml"/><Relationship Id="rId57" Type="http://schemas.openxmlformats.org/officeDocument/2006/relationships/tags" Target="../tags/tag37.xml"/><Relationship Id="rId56" Type="http://schemas.openxmlformats.org/officeDocument/2006/relationships/image" Target="../media/image20.svg"/><Relationship Id="rId55" Type="http://schemas.openxmlformats.org/officeDocument/2006/relationships/image" Target="../media/image19.png"/><Relationship Id="rId54" Type="http://schemas.openxmlformats.org/officeDocument/2006/relationships/tags" Target="../tags/tag36.xml"/><Relationship Id="rId53" Type="http://schemas.openxmlformats.org/officeDocument/2006/relationships/tags" Target="../tags/tag35.xml"/><Relationship Id="rId52" Type="http://schemas.openxmlformats.org/officeDocument/2006/relationships/tags" Target="../tags/tag34.xml"/><Relationship Id="rId51" Type="http://schemas.openxmlformats.org/officeDocument/2006/relationships/tags" Target="../tags/tag33.xml"/><Relationship Id="rId50" Type="http://schemas.openxmlformats.org/officeDocument/2006/relationships/tags" Target="../tags/tag32.xml"/><Relationship Id="rId5" Type="http://schemas.openxmlformats.org/officeDocument/2006/relationships/tags" Target="../tags/tag1.xml"/><Relationship Id="rId49" Type="http://schemas.openxmlformats.org/officeDocument/2006/relationships/image" Target="../media/image18.svg"/><Relationship Id="rId48" Type="http://schemas.openxmlformats.org/officeDocument/2006/relationships/image" Target="../media/image17.png"/><Relationship Id="rId47" Type="http://schemas.openxmlformats.org/officeDocument/2006/relationships/image" Target="../media/image16.svg"/><Relationship Id="rId46" Type="http://schemas.openxmlformats.org/officeDocument/2006/relationships/image" Target="../media/image15.png"/><Relationship Id="rId45" Type="http://schemas.openxmlformats.org/officeDocument/2006/relationships/tags" Target="../tags/tag31.xml"/><Relationship Id="rId44" Type="http://schemas.openxmlformats.org/officeDocument/2006/relationships/tags" Target="../tags/tag30.xml"/><Relationship Id="rId43" Type="http://schemas.openxmlformats.org/officeDocument/2006/relationships/tags" Target="../tags/tag29.xml"/><Relationship Id="rId42" Type="http://schemas.openxmlformats.org/officeDocument/2006/relationships/tags" Target="../tags/tag28.xml"/><Relationship Id="rId41" Type="http://schemas.openxmlformats.org/officeDocument/2006/relationships/tags" Target="../tags/tag27.xml"/><Relationship Id="rId40" Type="http://schemas.openxmlformats.org/officeDocument/2006/relationships/tags" Target="../tags/tag26.xml"/><Relationship Id="rId4" Type="http://schemas.openxmlformats.org/officeDocument/2006/relationships/image" Target="../media/image4.svg"/><Relationship Id="rId39" Type="http://schemas.openxmlformats.org/officeDocument/2006/relationships/tags" Target="../tags/tag25.xml"/><Relationship Id="rId38" Type="http://schemas.openxmlformats.org/officeDocument/2006/relationships/image" Target="../media/image14.svg"/><Relationship Id="rId37" Type="http://schemas.openxmlformats.org/officeDocument/2006/relationships/image" Target="../media/image13.png"/><Relationship Id="rId36" Type="http://schemas.openxmlformats.org/officeDocument/2006/relationships/tags" Target="../tags/tag24.xml"/><Relationship Id="rId35" Type="http://schemas.openxmlformats.org/officeDocument/2006/relationships/tags" Target="../tags/tag23.xml"/><Relationship Id="rId34" Type="http://schemas.openxmlformats.org/officeDocument/2006/relationships/tags" Target="../tags/tag22.xml"/><Relationship Id="rId33" Type="http://schemas.openxmlformats.org/officeDocument/2006/relationships/tags" Target="../tags/tag21.xml"/><Relationship Id="rId32" Type="http://schemas.openxmlformats.org/officeDocument/2006/relationships/tags" Target="../tags/tag20.xml"/><Relationship Id="rId31" Type="http://schemas.openxmlformats.org/officeDocument/2006/relationships/tags" Target="../tags/tag19.xml"/><Relationship Id="rId30" Type="http://schemas.openxmlformats.org/officeDocument/2006/relationships/tags" Target="../tags/tag18.xml"/><Relationship Id="rId3" Type="http://schemas.openxmlformats.org/officeDocument/2006/relationships/image" Target="../media/image3.png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tags" Target="../tags/tag15.xml"/><Relationship Id="rId26" Type="http://schemas.openxmlformats.org/officeDocument/2006/relationships/image" Target="../media/image12.svg"/><Relationship Id="rId25" Type="http://schemas.openxmlformats.org/officeDocument/2006/relationships/image" Target="../media/image11.png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tags" Target="../tags/tag10.xml"/><Relationship Id="rId2" Type="http://schemas.openxmlformats.org/officeDocument/2006/relationships/image" Target="../media/image2.svg"/><Relationship Id="rId19" Type="http://schemas.openxmlformats.org/officeDocument/2006/relationships/tags" Target="../tags/tag9.xml"/><Relationship Id="rId18" Type="http://schemas.openxmlformats.org/officeDocument/2006/relationships/tags" Target="../tags/tag8.xml"/><Relationship Id="rId17" Type="http://schemas.openxmlformats.org/officeDocument/2006/relationships/tags" Target="../tags/tag7.xml"/><Relationship Id="rId16" Type="http://schemas.openxmlformats.org/officeDocument/2006/relationships/tags" Target="../tags/tag6.xml"/><Relationship Id="rId15" Type="http://schemas.openxmlformats.org/officeDocument/2006/relationships/tags" Target="../tags/tag5.xml"/><Relationship Id="rId14" Type="http://schemas.openxmlformats.org/officeDocument/2006/relationships/tags" Target="../tags/tag4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image" Target="../media/image30.svg"/><Relationship Id="rId64" Type="http://schemas.openxmlformats.org/officeDocument/2006/relationships/slideLayout" Target="../slideLayouts/slideLayout1.xml"/><Relationship Id="rId63" Type="http://schemas.openxmlformats.org/officeDocument/2006/relationships/tags" Target="../tags/tag68.xml"/><Relationship Id="rId62" Type="http://schemas.openxmlformats.org/officeDocument/2006/relationships/tags" Target="../tags/tag67.xml"/><Relationship Id="rId61" Type="http://schemas.openxmlformats.org/officeDocument/2006/relationships/tags" Target="../tags/tag66.xml"/><Relationship Id="rId60" Type="http://schemas.openxmlformats.org/officeDocument/2006/relationships/image" Target="../media/image18.svg"/><Relationship Id="rId6" Type="http://schemas.openxmlformats.org/officeDocument/2006/relationships/image" Target="../media/image29.png"/><Relationship Id="rId59" Type="http://schemas.openxmlformats.org/officeDocument/2006/relationships/image" Target="../media/image17.png"/><Relationship Id="rId58" Type="http://schemas.openxmlformats.org/officeDocument/2006/relationships/image" Target="../media/image16.svg"/><Relationship Id="rId57" Type="http://schemas.openxmlformats.org/officeDocument/2006/relationships/image" Target="../media/image15.png"/><Relationship Id="rId56" Type="http://schemas.openxmlformats.org/officeDocument/2006/relationships/tags" Target="../tags/tag65.xml"/><Relationship Id="rId55" Type="http://schemas.openxmlformats.org/officeDocument/2006/relationships/tags" Target="../tags/tag64.xml"/><Relationship Id="rId54" Type="http://schemas.openxmlformats.org/officeDocument/2006/relationships/tags" Target="../tags/tag63.xml"/><Relationship Id="rId53" Type="http://schemas.openxmlformats.org/officeDocument/2006/relationships/tags" Target="../tags/tag62.xml"/><Relationship Id="rId52" Type="http://schemas.openxmlformats.org/officeDocument/2006/relationships/tags" Target="../tags/tag61.xml"/><Relationship Id="rId51" Type="http://schemas.openxmlformats.org/officeDocument/2006/relationships/tags" Target="../tags/tag60.xml"/><Relationship Id="rId50" Type="http://schemas.openxmlformats.org/officeDocument/2006/relationships/tags" Target="../tags/tag59.xml"/><Relationship Id="rId5" Type="http://schemas.openxmlformats.org/officeDocument/2006/relationships/image" Target="../media/image28.svg"/><Relationship Id="rId49" Type="http://schemas.openxmlformats.org/officeDocument/2006/relationships/image" Target="../media/image53.svg"/><Relationship Id="rId48" Type="http://schemas.openxmlformats.org/officeDocument/2006/relationships/image" Target="../media/image52.png"/><Relationship Id="rId47" Type="http://schemas.openxmlformats.org/officeDocument/2006/relationships/tags" Target="../tags/tag58.xml"/><Relationship Id="rId46" Type="http://schemas.openxmlformats.org/officeDocument/2006/relationships/image" Target="../media/image51.svg"/><Relationship Id="rId45" Type="http://schemas.openxmlformats.org/officeDocument/2006/relationships/image" Target="../media/image50.png"/><Relationship Id="rId44" Type="http://schemas.openxmlformats.org/officeDocument/2006/relationships/tags" Target="../tags/tag57.xml"/><Relationship Id="rId43" Type="http://schemas.openxmlformats.org/officeDocument/2006/relationships/image" Target="../media/image49.svg"/><Relationship Id="rId42" Type="http://schemas.openxmlformats.org/officeDocument/2006/relationships/tags" Target="../tags/tag56.xml"/><Relationship Id="rId41" Type="http://schemas.openxmlformats.org/officeDocument/2006/relationships/image" Target="../media/image48.png"/><Relationship Id="rId40" Type="http://schemas.openxmlformats.org/officeDocument/2006/relationships/image" Target="../media/image47.svg"/><Relationship Id="rId4" Type="http://schemas.openxmlformats.org/officeDocument/2006/relationships/image" Target="../media/image7.png"/><Relationship Id="rId39" Type="http://schemas.openxmlformats.org/officeDocument/2006/relationships/image" Target="../media/image46.png"/><Relationship Id="rId38" Type="http://schemas.openxmlformats.org/officeDocument/2006/relationships/tags" Target="../tags/tag55.xml"/><Relationship Id="rId37" Type="http://schemas.openxmlformats.org/officeDocument/2006/relationships/tags" Target="../tags/tag54.xml"/><Relationship Id="rId36" Type="http://schemas.openxmlformats.org/officeDocument/2006/relationships/image" Target="../media/image45.svg"/><Relationship Id="rId35" Type="http://schemas.openxmlformats.org/officeDocument/2006/relationships/image" Target="../media/image44.svg"/><Relationship Id="rId34" Type="http://schemas.openxmlformats.org/officeDocument/2006/relationships/image" Target="../media/image43.png"/><Relationship Id="rId33" Type="http://schemas.openxmlformats.org/officeDocument/2006/relationships/image" Target="../media/image42.svg"/><Relationship Id="rId32" Type="http://schemas.openxmlformats.org/officeDocument/2006/relationships/image" Target="../media/image41.png"/><Relationship Id="rId31" Type="http://schemas.openxmlformats.org/officeDocument/2006/relationships/image" Target="../media/image40.svg"/><Relationship Id="rId30" Type="http://schemas.openxmlformats.org/officeDocument/2006/relationships/image" Target="../media/image39.png"/><Relationship Id="rId3" Type="http://schemas.openxmlformats.org/officeDocument/2006/relationships/image" Target="../media/image27.svg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image" Target="../media/image38.svg"/><Relationship Id="rId26" Type="http://schemas.openxmlformats.org/officeDocument/2006/relationships/image" Target="../media/image37.png"/><Relationship Id="rId25" Type="http://schemas.openxmlformats.org/officeDocument/2006/relationships/tags" Target="../tags/tag51.xml"/><Relationship Id="rId24" Type="http://schemas.openxmlformats.org/officeDocument/2006/relationships/image" Target="../media/image36.svg"/><Relationship Id="rId23" Type="http://schemas.openxmlformats.org/officeDocument/2006/relationships/image" Target="../media/image3.png"/><Relationship Id="rId22" Type="http://schemas.openxmlformats.org/officeDocument/2006/relationships/tags" Target="../tags/tag50.xml"/><Relationship Id="rId21" Type="http://schemas.openxmlformats.org/officeDocument/2006/relationships/tags" Target="../tags/tag49.xml"/><Relationship Id="rId20" Type="http://schemas.openxmlformats.org/officeDocument/2006/relationships/tags" Target="../tags/tag48.xml"/><Relationship Id="rId2" Type="http://schemas.openxmlformats.org/officeDocument/2006/relationships/image" Target="../media/image26.png"/><Relationship Id="rId19" Type="http://schemas.openxmlformats.org/officeDocument/2006/relationships/tags" Target="../tags/tag47.xml"/><Relationship Id="rId18" Type="http://schemas.openxmlformats.org/officeDocument/2006/relationships/tags" Target="../tags/tag46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image" Target="../media/image35.svg"/><Relationship Id="rId12" Type="http://schemas.openxmlformats.org/officeDocument/2006/relationships/image" Target="../media/image9.png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tags" Target="../tags/tag4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chart" Target="../charts/chart8.xml"/><Relationship Id="rId7" Type="http://schemas.openxmlformats.org/officeDocument/2006/relationships/chart" Target="../charts/char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Relationship Id="rId30" Type="http://schemas.openxmlformats.org/officeDocument/2006/relationships/slideLayout" Target="../slideLayouts/slideLayout1.xml"/><Relationship Id="rId3" Type="http://schemas.openxmlformats.org/officeDocument/2006/relationships/chart" Target="../charts/chart3.xml"/><Relationship Id="rId29" Type="http://schemas.openxmlformats.org/officeDocument/2006/relationships/tags" Target="../tags/tag76.xml"/><Relationship Id="rId28" Type="http://schemas.openxmlformats.org/officeDocument/2006/relationships/image" Target="../media/image18.svg"/><Relationship Id="rId27" Type="http://schemas.openxmlformats.org/officeDocument/2006/relationships/image" Target="../media/image17.png"/><Relationship Id="rId26" Type="http://schemas.openxmlformats.org/officeDocument/2006/relationships/image" Target="../media/image16.svg"/><Relationship Id="rId25" Type="http://schemas.openxmlformats.org/officeDocument/2006/relationships/image" Target="../media/image15.png"/><Relationship Id="rId24" Type="http://schemas.openxmlformats.org/officeDocument/2006/relationships/tags" Target="../tags/tag75.xml"/><Relationship Id="rId23" Type="http://schemas.openxmlformats.org/officeDocument/2006/relationships/tags" Target="../tags/tag74.xml"/><Relationship Id="rId22" Type="http://schemas.openxmlformats.org/officeDocument/2006/relationships/tags" Target="../tags/tag73.xml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chart" Target="../charts/chart2.xml"/><Relationship Id="rId19" Type="http://schemas.openxmlformats.org/officeDocument/2006/relationships/tags" Target="../tags/tag70.xml"/><Relationship Id="rId18" Type="http://schemas.openxmlformats.org/officeDocument/2006/relationships/image" Target="../media/image48.png"/><Relationship Id="rId17" Type="http://schemas.openxmlformats.org/officeDocument/2006/relationships/image" Target="../media/image57.svg"/><Relationship Id="rId16" Type="http://schemas.openxmlformats.org/officeDocument/2006/relationships/image" Target="../media/image43.png"/><Relationship Id="rId15" Type="http://schemas.openxmlformats.org/officeDocument/2006/relationships/image" Target="../media/image56.svg"/><Relationship Id="rId14" Type="http://schemas.openxmlformats.org/officeDocument/2006/relationships/image" Target="../media/image41.png"/><Relationship Id="rId13" Type="http://schemas.openxmlformats.org/officeDocument/2006/relationships/image" Target="../media/image55.svg"/><Relationship Id="rId12" Type="http://schemas.openxmlformats.org/officeDocument/2006/relationships/image" Target="../media/image39.png"/><Relationship Id="rId11" Type="http://schemas.openxmlformats.org/officeDocument/2006/relationships/tags" Target="../tags/tag69.xml"/><Relationship Id="rId10" Type="http://schemas.openxmlformats.org/officeDocument/2006/relationships/image" Target="../media/image54.svg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" name="矩形 125"/>
          <p:cNvSpPr/>
          <p:nvPr/>
        </p:nvSpPr>
        <p:spPr>
          <a:xfrm>
            <a:off x="1652905" y="2329815"/>
            <a:ext cx="3374390" cy="417576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11" name="组合 110"/>
          <p:cNvGrpSpPr/>
          <p:nvPr/>
        </p:nvGrpSpPr>
        <p:grpSpPr>
          <a:xfrm>
            <a:off x="1652905" y="2607310"/>
            <a:ext cx="878840" cy="878840"/>
            <a:chOff x="2218" y="4008"/>
            <a:chExt cx="1384" cy="1384"/>
          </a:xfrm>
        </p:grpSpPr>
        <p:pic>
          <p:nvPicPr>
            <p:cNvPr id="23" name="图形 39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218" y="4008"/>
              <a:ext cx="1384" cy="1384"/>
            </a:xfrm>
            <a:prstGeom prst="rect">
              <a:avLst/>
            </a:prstGeom>
          </p:spPr>
        </p:pic>
        <p:pic>
          <p:nvPicPr>
            <p:cNvPr id="27" name="图片 26" descr="眼镜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78" y="4169"/>
              <a:ext cx="863" cy="863"/>
            </a:xfrm>
            <a:prstGeom prst="rect">
              <a:avLst/>
            </a:prstGeom>
          </p:spPr>
        </p:pic>
      </p:grpSp>
      <p:pic>
        <p:nvPicPr>
          <p:cNvPr id="41" name="图形 3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1160" y="729615"/>
            <a:ext cx="880110" cy="880110"/>
          </a:xfrm>
          <a:prstGeom prst="rect">
            <a:avLst/>
          </a:prstGeom>
        </p:spPr>
      </p:pic>
      <p:graphicFrame>
        <p:nvGraphicFramePr>
          <p:cNvPr id="28" name="表格 27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867535" y="3522028"/>
          <a:ext cx="449580" cy="43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"/>
                <a:gridCol w="149860"/>
                <a:gridCol w="149860"/>
              </a:tblGrid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>
                        <a:alpha val="6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>
                        <a:alpha val="6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4434205" y="3523933"/>
          <a:ext cx="449580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"/>
                <a:gridCol w="149860"/>
                <a:gridCol w="149860"/>
              </a:tblGrid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</a:tr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>
                        <a:alpha val="30000"/>
                      </a:srgbClr>
                    </a:solidFill>
                  </a:tcPr>
                </a:tc>
              </a:tr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3150235" y="3522028"/>
          <a:ext cx="449580" cy="43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/>
                <a:gridCol w="151765"/>
                <a:gridCol w="151765"/>
              </a:tblGrid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pSp>
        <p:nvGrpSpPr>
          <p:cNvPr id="120" name="组合 119"/>
          <p:cNvGrpSpPr/>
          <p:nvPr/>
        </p:nvGrpSpPr>
        <p:grpSpPr>
          <a:xfrm>
            <a:off x="2931160" y="2408555"/>
            <a:ext cx="887730" cy="1077595"/>
            <a:chOff x="4073" y="3752"/>
            <a:chExt cx="1398" cy="1697"/>
          </a:xfrm>
        </p:grpSpPr>
        <p:pic>
          <p:nvPicPr>
            <p:cNvPr id="6" name="图形 39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85" y="4063"/>
              <a:ext cx="1386" cy="1386"/>
            </a:xfrm>
            <a:prstGeom prst="rect">
              <a:avLst/>
            </a:prstGeom>
          </p:spPr>
        </p:pic>
        <p:pic>
          <p:nvPicPr>
            <p:cNvPr id="12" name="图片 11" descr="帽子 (1)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73" y="3752"/>
              <a:ext cx="1391" cy="726"/>
            </a:xfrm>
            <a:prstGeom prst="rect">
              <a:avLst/>
            </a:prstGeom>
          </p:spPr>
        </p:pic>
        <p:pic>
          <p:nvPicPr>
            <p:cNvPr id="32" name="图片 31" descr="领带_fill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70" y="5000"/>
              <a:ext cx="417" cy="417"/>
            </a:xfrm>
            <a:prstGeom prst="rect">
              <a:avLst/>
            </a:prstGeom>
          </p:spPr>
        </p:pic>
      </p:grpSp>
      <p:grpSp>
        <p:nvGrpSpPr>
          <p:cNvPr id="121" name="组合 120"/>
          <p:cNvGrpSpPr/>
          <p:nvPr/>
        </p:nvGrpSpPr>
        <p:grpSpPr>
          <a:xfrm>
            <a:off x="4218305" y="2606040"/>
            <a:ext cx="880110" cy="880110"/>
            <a:chOff x="7348" y="4029"/>
            <a:chExt cx="1386" cy="1386"/>
          </a:xfrm>
        </p:grpSpPr>
        <p:pic>
          <p:nvPicPr>
            <p:cNvPr id="9" name="图形 39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348" y="4029"/>
              <a:ext cx="1386" cy="1386"/>
            </a:xfrm>
            <a:prstGeom prst="rect">
              <a:avLst/>
            </a:prstGeom>
          </p:spPr>
        </p:pic>
        <p:pic>
          <p:nvPicPr>
            <p:cNvPr id="15" name="图片 14" descr="Aviator"/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7629" y="4442"/>
              <a:ext cx="841" cy="388"/>
            </a:xfrm>
            <a:prstGeom prst="rect">
              <a:avLst/>
            </a:prstGeom>
          </p:spPr>
        </p:pic>
        <p:pic>
          <p:nvPicPr>
            <p:cNvPr id="34" name="图片 33" descr="蝴蝶结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69" y="4893"/>
              <a:ext cx="362" cy="362"/>
            </a:xfrm>
            <a:prstGeom prst="rect">
              <a:avLst/>
            </a:prstGeom>
          </p:spPr>
        </p:pic>
      </p:grpSp>
      <p:grpSp>
        <p:nvGrpSpPr>
          <p:cNvPr id="128" name="组合 127"/>
          <p:cNvGrpSpPr/>
          <p:nvPr/>
        </p:nvGrpSpPr>
        <p:grpSpPr>
          <a:xfrm>
            <a:off x="5584825" y="2609215"/>
            <a:ext cx="878840" cy="878840"/>
            <a:chOff x="10323" y="4104"/>
            <a:chExt cx="1384" cy="1384"/>
          </a:xfrm>
        </p:grpSpPr>
        <p:pic>
          <p:nvPicPr>
            <p:cNvPr id="35" name="图形 39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323" y="4104"/>
              <a:ext cx="1384" cy="1384"/>
            </a:xfrm>
            <a:prstGeom prst="rect">
              <a:avLst/>
            </a:prstGeom>
          </p:spPr>
        </p:pic>
        <p:pic>
          <p:nvPicPr>
            <p:cNvPr id="36" name="图片 35" descr="眼镜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83" y="4265"/>
              <a:ext cx="863" cy="863"/>
            </a:xfrm>
            <a:prstGeom prst="rect">
              <a:avLst/>
            </a:prstGeom>
          </p:spPr>
        </p:pic>
      </p:grpSp>
      <p:graphicFrame>
        <p:nvGraphicFramePr>
          <p:cNvPr id="37" name="表格 36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5799455" y="3520123"/>
          <a:ext cx="449580" cy="43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"/>
                <a:gridCol w="149860"/>
                <a:gridCol w="149860"/>
              </a:tblGrid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89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C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>
            <p:custDataLst>
              <p:tags r:id="rId15"/>
            </p:custDataLst>
          </p:nvPr>
        </p:nvGraphicFramePr>
        <p:xfrm>
          <a:off x="7081520" y="3520123"/>
          <a:ext cx="449580" cy="436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/>
                <a:gridCol w="151765"/>
                <a:gridCol w="151765"/>
              </a:tblGrid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ADFB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4541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6FF"/>
                    </a:solidFill>
                  </a:tcPr>
                </a:tc>
              </a:tr>
            </a:tbl>
          </a:graphicData>
        </a:graphic>
      </p:graphicFrame>
      <p:grpSp>
        <p:nvGrpSpPr>
          <p:cNvPr id="129" name="组合 128"/>
          <p:cNvGrpSpPr/>
          <p:nvPr>
            <p:custDataLst>
              <p:tags r:id="rId16"/>
            </p:custDataLst>
          </p:nvPr>
        </p:nvGrpSpPr>
        <p:grpSpPr>
          <a:xfrm>
            <a:off x="6862445" y="2410460"/>
            <a:ext cx="887730" cy="1077595"/>
            <a:chOff x="12631" y="4104"/>
            <a:chExt cx="1398" cy="1697"/>
          </a:xfrm>
        </p:grpSpPr>
        <p:pic>
          <p:nvPicPr>
            <p:cNvPr id="38" name="图形 397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643" y="4415"/>
              <a:ext cx="1386" cy="1386"/>
            </a:xfrm>
            <a:prstGeom prst="rect">
              <a:avLst/>
            </a:prstGeom>
          </p:spPr>
        </p:pic>
        <p:pic>
          <p:nvPicPr>
            <p:cNvPr id="39" name="图片 38" descr="帽子 (1)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31" y="4104"/>
              <a:ext cx="1391" cy="726"/>
            </a:xfrm>
            <a:prstGeom prst="rect">
              <a:avLst/>
            </a:prstGeom>
          </p:spPr>
        </p:pic>
        <p:pic>
          <p:nvPicPr>
            <p:cNvPr id="42" name="图片 41" descr="领带_fill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128" y="5348"/>
              <a:ext cx="417" cy="417"/>
            </a:xfrm>
            <a:prstGeom prst="rect">
              <a:avLst/>
            </a:prstGeom>
          </p:spPr>
        </p:pic>
      </p:grpSp>
      <p:graphicFrame>
        <p:nvGraphicFramePr>
          <p:cNvPr id="45" name="表格 44"/>
          <p:cNvGraphicFramePr>
            <a:graphicFrameLocks noGrp="1"/>
          </p:cNvGraphicFramePr>
          <p:nvPr>
            <p:custDataLst>
              <p:tags r:id="rId20"/>
            </p:custDataLst>
          </p:nvPr>
        </p:nvGraphicFramePr>
        <p:xfrm>
          <a:off x="8371840" y="3520123"/>
          <a:ext cx="449580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"/>
                <a:gridCol w="149860"/>
                <a:gridCol w="149860"/>
              </a:tblGrid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F5CE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</a:tr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6B1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F8B6"/>
                    </a:solidFill>
                  </a:tcPr>
                </a:tc>
              </a:tr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FEE2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FEE4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pSp>
        <p:nvGrpSpPr>
          <p:cNvPr id="130" name="组合 129"/>
          <p:cNvGrpSpPr/>
          <p:nvPr>
            <p:custDataLst>
              <p:tags r:id="rId21"/>
            </p:custDataLst>
          </p:nvPr>
        </p:nvGrpSpPr>
        <p:grpSpPr>
          <a:xfrm>
            <a:off x="8156575" y="2607945"/>
            <a:ext cx="880110" cy="880110"/>
            <a:chOff x="15320" y="4269"/>
            <a:chExt cx="1386" cy="1386"/>
          </a:xfrm>
        </p:grpSpPr>
        <p:pic>
          <p:nvPicPr>
            <p:cNvPr id="43" name="图形 397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320" y="4269"/>
              <a:ext cx="1386" cy="1386"/>
            </a:xfrm>
            <a:prstGeom prst="rect">
              <a:avLst/>
            </a:prstGeom>
          </p:spPr>
        </p:pic>
        <p:pic>
          <p:nvPicPr>
            <p:cNvPr id="47" name="图片 46" descr="眼镜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570" y="4456"/>
              <a:ext cx="863" cy="863"/>
            </a:xfrm>
            <a:prstGeom prst="rect">
              <a:avLst/>
            </a:prstGeom>
          </p:spPr>
        </p:pic>
        <p:pic>
          <p:nvPicPr>
            <p:cNvPr id="48" name="图片 47" descr="蝴蝶结 (1)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5832" y="5128"/>
              <a:ext cx="363" cy="363"/>
            </a:xfrm>
            <a:prstGeom prst="rect">
              <a:avLst/>
            </a:prstGeom>
          </p:spPr>
        </p:pic>
      </p:grpSp>
      <p:graphicFrame>
        <p:nvGraphicFramePr>
          <p:cNvPr id="60" name="表格 59"/>
          <p:cNvGraphicFramePr>
            <a:graphicFrameLocks noGrp="1"/>
          </p:cNvGraphicFramePr>
          <p:nvPr>
            <p:custDataLst>
              <p:tags r:id="rId27"/>
            </p:custDataLst>
          </p:nvPr>
        </p:nvGraphicFramePr>
        <p:xfrm>
          <a:off x="3149283" y="5828030"/>
          <a:ext cx="451485" cy="440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95"/>
                <a:gridCol w="150495"/>
                <a:gridCol w="150495"/>
              </a:tblGrid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60000">
                          <a:srgbClr val="FFFDB8"/>
                        </a:gs>
                        <a:gs pos="40000">
                          <a:srgbClr val="BFE6D1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4668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C266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  <p:sp>
        <p:nvSpPr>
          <p:cNvPr id="63" name="箭头: 下 27"/>
          <p:cNvSpPr/>
          <p:nvPr/>
        </p:nvSpPr>
        <p:spPr>
          <a:xfrm rot="3300000">
            <a:off x="2452823" y="1566473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64" name="箭头: 下 27"/>
          <p:cNvSpPr/>
          <p:nvPr/>
        </p:nvSpPr>
        <p:spPr>
          <a:xfrm rot="18240000">
            <a:off x="4155225" y="1550058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65" name="箭头: 下 27"/>
          <p:cNvSpPr/>
          <p:nvPr/>
        </p:nvSpPr>
        <p:spPr>
          <a:xfrm>
            <a:off x="3324543" y="1696085"/>
            <a:ext cx="100965" cy="5372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pSp>
        <p:nvGrpSpPr>
          <p:cNvPr id="146" name="组合 145"/>
          <p:cNvGrpSpPr/>
          <p:nvPr>
            <p:custDataLst>
              <p:tags r:id="rId28"/>
            </p:custDataLst>
          </p:nvPr>
        </p:nvGrpSpPr>
        <p:grpSpPr>
          <a:xfrm>
            <a:off x="2931160" y="4657090"/>
            <a:ext cx="887730" cy="1077595"/>
            <a:chOff x="3885" y="7334"/>
            <a:chExt cx="1398" cy="1697"/>
          </a:xfrm>
        </p:grpSpPr>
        <p:pic>
          <p:nvPicPr>
            <p:cNvPr id="22" name="图形 397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897" y="7645"/>
              <a:ext cx="1386" cy="1386"/>
            </a:xfrm>
            <a:prstGeom prst="rect">
              <a:avLst/>
            </a:prstGeom>
          </p:spPr>
        </p:pic>
        <p:pic>
          <p:nvPicPr>
            <p:cNvPr id="25" name="图片 24" descr="帽子 (1)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885" y="7334"/>
              <a:ext cx="1391" cy="726"/>
            </a:xfrm>
            <a:prstGeom prst="rect">
              <a:avLst/>
            </a:prstGeom>
          </p:spPr>
        </p:pic>
        <p:pic>
          <p:nvPicPr>
            <p:cNvPr id="26" name="图片 25" descr="眼镜"/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52" y="7801"/>
              <a:ext cx="863" cy="863"/>
            </a:xfrm>
            <a:prstGeom prst="rect">
              <a:avLst/>
            </a:prstGeom>
          </p:spPr>
        </p:pic>
        <p:pic>
          <p:nvPicPr>
            <p:cNvPr id="33" name="图片 32" descr="领带_fill"/>
            <p:cNvPicPr>
              <a:picLocks noChangeAspect="1"/>
            </p:cNvPicPr>
            <p:nvPr>
              <p:custDataLst>
                <p:tags r:id="rId32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82" y="8614"/>
              <a:ext cx="417" cy="417"/>
            </a:xfrm>
            <a:prstGeom prst="rect">
              <a:avLst/>
            </a:prstGeom>
          </p:spPr>
        </p:pic>
      </p:grpSp>
      <p:grpSp>
        <p:nvGrpSpPr>
          <p:cNvPr id="147" name="组合 146"/>
          <p:cNvGrpSpPr/>
          <p:nvPr/>
        </p:nvGrpSpPr>
        <p:grpSpPr>
          <a:xfrm>
            <a:off x="6862445" y="4657090"/>
            <a:ext cx="887730" cy="1077595"/>
            <a:chOff x="12207" y="7334"/>
            <a:chExt cx="1398" cy="1697"/>
          </a:xfrm>
        </p:grpSpPr>
        <p:pic>
          <p:nvPicPr>
            <p:cNvPr id="49" name="图形 397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219" y="7645"/>
              <a:ext cx="1386" cy="1386"/>
            </a:xfrm>
            <a:prstGeom prst="rect">
              <a:avLst/>
            </a:prstGeom>
          </p:spPr>
        </p:pic>
        <p:pic>
          <p:nvPicPr>
            <p:cNvPr id="50" name="图片 49" descr="帽子 (1)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207" y="7334"/>
              <a:ext cx="1391" cy="726"/>
            </a:xfrm>
            <a:prstGeom prst="rect">
              <a:avLst/>
            </a:prstGeom>
          </p:spPr>
        </p:pic>
        <p:pic>
          <p:nvPicPr>
            <p:cNvPr id="51" name="图片 50" descr="眼镜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474" y="7801"/>
              <a:ext cx="863" cy="863"/>
            </a:xfrm>
            <a:prstGeom prst="rect">
              <a:avLst/>
            </a:prstGeom>
          </p:spPr>
        </p:pic>
        <p:pic>
          <p:nvPicPr>
            <p:cNvPr id="53" name="图片 52" descr="领带_fill (1)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2710" y="8626"/>
              <a:ext cx="405" cy="405"/>
            </a:xfrm>
            <a:prstGeom prst="rect">
              <a:avLst/>
            </a:prstGeom>
          </p:spPr>
        </p:pic>
      </p:grpSp>
      <p:sp>
        <p:nvSpPr>
          <p:cNvPr id="123" name="箭头: 下 27"/>
          <p:cNvSpPr/>
          <p:nvPr>
            <p:custDataLst>
              <p:tags r:id="rId39"/>
            </p:custDataLst>
          </p:nvPr>
        </p:nvSpPr>
        <p:spPr>
          <a:xfrm>
            <a:off x="3324543" y="4053205"/>
            <a:ext cx="100965" cy="5372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3072130" y="6183630"/>
            <a:ext cx="1955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600" b="1">
                <a:solidFill>
                  <a:srgbClr val="FF0000"/>
                </a:solidFill>
              </a:rPr>
              <a:t>Direct Fusion</a:t>
            </a:r>
            <a:endParaRPr lang="en-US" altLang="zh-CN" sz="1600" b="1">
              <a:solidFill>
                <a:srgbClr val="FF0000"/>
              </a:solidFill>
            </a:endParaRPr>
          </a:p>
        </p:txBody>
      </p:sp>
      <p:sp>
        <p:nvSpPr>
          <p:cNvPr id="132" name="箭头: 下 27"/>
          <p:cNvSpPr/>
          <p:nvPr>
            <p:custDataLst>
              <p:tags r:id="rId40"/>
            </p:custDataLst>
          </p:nvPr>
        </p:nvSpPr>
        <p:spPr>
          <a:xfrm>
            <a:off x="7255828" y="4058920"/>
            <a:ext cx="100965" cy="5372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33" name="文本框 132"/>
          <p:cNvSpPr txBox="1"/>
          <p:nvPr>
            <p:custDataLst>
              <p:tags r:id="rId41"/>
            </p:custDataLst>
          </p:nvPr>
        </p:nvSpPr>
        <p:spPr>
          <a:xfrm>
            <a:off x="3437255" y="4174490"/>
            <a:ext cx="6864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fuse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5585460" y="2329815"/>
            <a:ext cx="3372485" cy="4175760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5" name="文本框 134"/>
          <p:cNvSpPr txBox="1"/>
          <p:nvPr>
            <p:custDataLst>
              <p:tags r:id="rId42"/>
            </p:custDataLst>
          </p:nvPr>
        </p:nvSpPr>
        <p:spPr>
          <a:xfrm>
            <a:off x="7357110" y="4174490"/>
            <a:ext cx="6864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fuse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136" name="表格 135"/>
          <p:cNvGraphicFramePr>
            <a:graphicFrameLocks noGrp="1"/>
          </p:cNvGraphicFramePr>
          <p:nvPr>
            <p:custDataLst>
              <p:tags r:id="rId43"/>
            </p:custDataLst>
          </p:nvPr>
        </p:nvGraphicFramePr>
        <p:xfrm>
          <a:off x="7081520" y="5795645"/>
          <a:ext cx="449580" cy="434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"/>
                <a:gridCol w="149860"/>
                <a:gridCol w="149860"/>
              </a:tblGrid>
              <a:tr h="14478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60000">
                          <a:srgbClr val="00259A"/>
                        </a:gs>
                        <a:gs pos="40000">
                          <a:srgbClr val="39B273"/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00259A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59A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0000">
                          <a:srgbClr val="39B273"/>
                        </a:gs>
                        <a:gs pos="60000">
                          <a:srgbClr val="FF9900"/>
                        </a:gs>
                      </a:gsLst>
                      <a:lin ang="0" scaled="1"/>
                    </a:gradFill>
                  </a:tcPr>
                </a:tc>
              </a:tr>
            </a:tbl>
          </a:graphicData>
        </a:graphic>
      </p:graphicFrame>
      <p:sp>
        <p:nvSpPr>
          <p:cNvPr id="137" name="箭头: 下 27"/>
          <p:cNvSpPr/>
          <p:nvPr/>
        </p:nvSpPr>
        <p:spPr>
          <a:xfrm rot="18300000">
            <a:off x="2393133" y="3929308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38" name="箭头: 下 27"/>
          <p:cNvSpPr/>
          <p:nvPr>
            <p:custDataLst>
              <p:tags r:id="rId44"/>
            </p:custDataLst>
          </p:nvPr>
        </p:nvSpPr>
        <p:spPr>
          <a:xfrm rot="3300000">
            <a:off x="4258730" y="3917338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1" name="箭头: 下 27"/>
          <p:cNvSpPr/>
          <p:nvPr>
            <p:custDataLst>
              <p:tags r:id="rId45"/>
            </p:custDataLst>
          </p:nvPr>
        </p:nvSpPr>
        <p:spPr>
          <a:xfrm rot="18300000">
            <a:off x="6306003" y="3917878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2" name="箭头: 下 27"/>
          <p:cNvSpPr/>
          <p:nvPr/>
        </p:nvSpPr>
        <p:spPr>
          <a:xfrm rot="3300000">
            <a:off x="8252880" y="3917338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3" name="箭头: 下 27"/>
          <p:cNvSpPr/>
          <p:nvPr/>
        </p:nvSpPr>
        <p:spPr>
          <a:xfrm rot="16200000">
            <a:off x="5278097" y="3580543"/>
            <a:ext cx="72000" cy="432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4994910" y="3495675"/>
            <a:ext cx="59817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Scale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5533390" y="6191250"/>
            <a:ext cx="24657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>
                <a:solidFill>
                  <a:srgbClr val="00B050"/>
                </a:solidFill>
              </a:rPr>
              <a:t>Fusion after Scaling</a:t>
            </a:r>
            <a:endParaRPr lang="en-US" altLang="zh-CN" sz="1600" b="1">
              <a:solidFill>
                <a:srgbClr val="00B050"/>
              </a:solidFill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9084945" y="2329815"/>
            <a:ext cx="1316355" cy="417576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箭头: 下 27"/>
          <p:cNvSpPr/>
          <p:nvPr/>
        </p:nvSpPr>
        <p:spPr>
          <a:xfrm rot="16200000">
            <a:off x="8472805" y="4676775"/>
            <a:ext cx="116205" cy="153352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7789545" y="5501640"/>
            <a:ext cx="1295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Exract Feature for</a:t>
            </a:r>
            <a:endParaRPr lang="en-US" altLang="zh-CN" sz="1400"/>
          </a:p>
        </p:txBody>
      </p:sp>
      <p:grpSp>
        <p:nvGrpSpPr>
          <p:cNvPr id="152" name="组合 151"/>
          <p:cNvGrpSpPr>
            <a:grpSpLocks noChangeAspect="1"/>
          </p:cNvGrpSpPr>
          <p:nvPr/>
        </p:nvGrpSpPr>
        <p:grpSpPr>
          <a:xfrm>
            <a:off x="8112458" y="5774903"/>
            <a:ext cx="252000" cy="228901"/>
            <a:chOff x="3957049" y="2239041"/>
            <a:chExt cx="570929" cy="518597"/>
          </a:xfrm>
        </p:grpSpPr>
        <p:pic>
          <p:nvPicPr>
            <p:cNvPr id="153" name="图形 35"/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154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155" name="图形 39"/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pSp>
        <p:nvGrpSpPr>
          <p:cNvPr id="156" name="组合 155"/>
          <p:cNvGrpSpPr/>
          <p:nvPr>
            <p:custDataLst>
              <p:tags r:id="rId50"/>
            </p:custDataLst>
          </p:nvPr>
        </p:nvGrpSpPr>
        <p:grpSpPr>
          <a:xfrm>
            <a:off x="9271318" y="4901565"/>
            <a:ext cx="880110" cy="880110"/>
            <a:chOff x="15320" y="4269"/>
            <a:chExt cx="1386" cy="1386"/>
          </a:xfrm>
        </p:grpSpPr>
        <p:pic>
          <p:nvPicPr>
            <p:cNvPr id="157" name="图形 397"/>
            <p:cNvPicPr>
              <a:picLocks noChangeAspect="1"/>
            </p:cNvPicPr>
            <p:nvPr>
              <p:custDataLst>
                <p:tags r:id="rId51"/>
              </p:custDataLst>
            </p:nvPr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320" y="4269"/>
              <a:ext cx="1386" cy="1386"/>
            </a:xfrm>
            <a:prstGeom prst="rect">
              <a:avLst/>
            </a:prstGeom>
          </p:spPr>
        </p:pic>
        <p:pic>
          <p:nvPicPr>
            <p:cNvPr id="158" name="图片 157" descr="眼镜"/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570" y="4456"/>
              <a:ext cx="863" cy="863"/>
            </a:xfrm>
            <a:prstGeom prst="rect">
              <a:avLst/>
            </a:prstGeom>
          </p:spPr>
        </p:pic>
        <p:pic>
          <p:nvPicPr>
            <p:cNvPr id="159" name="图片 158" descr="蝴蝶结 (1)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5832" y="5128"/>
              <a:ext cx="363" cy="363"/>
            </a:xfrm>
            <a:prstGeom prst="rect">
              <a:avLst/>
            </a:prstGeom>
          </p:spPr>
        </p:pic>
      </p:grpSp>
      <p:sp>
        <p:nvSpPr>
          <p:cNvPr id="160" name="箭头: 下 27"/>
          <p:cNvSpPr/>
          <p:nvPr>
            <p:custDataLst>
              <p:tags r:id="rId54"/>
            </p:custDataLst>
          </p:nvPr>
        </p:nvSpPr>
        <p:spPr>
          <a:xfrm rot="10800000">
            <a:off x="9664700" y="4058285"/>
            <a:ext cx="93345" cy="79629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9680575" y="4283710"/>
            <a:ext cx="9296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Rescale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9271318" y="2609215"/>
            <a:ext cx="880110" cy="880110"/>
            <a:chOff x="7348" y="4029"/>
            <a:chExt cx="1386" cy="1386"/>
          </a:xfrm>
        </p:grpSpPr>
        <p:pic>
          <p:nvPicPr>
            <p:cNvPr id="163" name="图形 397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348" y="4029"/>
              <a:ext cx="1386" cy="1386"/>
            </a:xfrm>
            <a:prstGeom prst="rect">
              <a:avLst/>
            </a:prstGeom>
          </p:spPr>
        </p:pic>
        <p:pic>
          <p:nvPicPr>
            <p:cNvPr id="164" name="图片 163" descr="Aviator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7629" y="4442"/>
              <a:ext cx="841" cy="388"/>
            </a:xfrm>
            <a:prstGeom prst="rect">
              <a:avLst/>
            </a:prstGeom>
          </p:spPr>
        </p:pic>
        <p:pic>
          <p:nvPicPr>
            <p:cNvPr id="165" name="图片 164" descr="蝴蝶结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69" y="4893"/>
              <a:ext cx="362" cy="362"/>
            </a:xfrm>
            <a:prstGeom prst="rect">
              <a:avLst/>
            </a:prstGeom>
          </p:spPr>
        </p:pic>
      </p:grpSp>
      <p:sp>
        <p:nvSpPr>
          <p:cNvPr id="166" name="文本框 165"/>
          <p:cNvSpPr txBox="1"/>
          <p:nvPr/>
        </p:nvSpPr>
        <p:spPr>
          <a:xfrm>
            <a:off x="9084945" y="6183630"/>
            <a:ext cx="12274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600" b="1">
                <a:solidFill>
                  <a:schemeClr val="accent1"/>
                </a:solidFill>
              </a:rPr>
              <a:t>Inference</a:t>
            </a:r>
            <a:endParaRPr lang="en-US" altLang="zh-CN" sz="1600" b="1">
              <a:solidFill>
                <a:schemeClr val="accent1"/>
              </a:solidFill>
            </a:endParaRPr>
          </a:p>
        </p:txBody>
      </p:sp>
      <p:graphicFrame>
        <p:nvGraphicFramePr>
          <p:cNvPr id="167" name="表格 166"/>
          <p:cNvGraphicFramePr>
            <a:graphicFrameLocks noGrp="1"/>
          </p:cNvGraphicFramePr>
          <p:nvPr>
            <p:custDataLst>
              <p:tags r:id="rId57"/>
            </p:custDataLst>
          </p:nvPr>
        </p:nvGraphicFramePr>
        <p:xfrm>
          <a:off x="9482138" y="5795645"/>
          <a:ext cx="458470" cy="434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"/>
                <a:gridCol w="154940"/>
                <a:gridCol w="154940"/>
              </a:tblGrid>
              <a:tr h="14478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4478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7" name="表格 506"/>
          <p:cNvGraphicFramePr>
            <a:graphicFrameLocks noGrp="1"/>
          </p:cNvGraphicFramePr>
          <p:nvPr>
            <p:custDataLst>
              <p:tags r:id="rId58"/>
            </p:custDataLst>
          </p:nvPr>
        </p:nvGraphicFramePr>
        <p:xfrm>
          <a:off x="9486583" y="3520440"/>
          <a:ext cx="449580" cy="432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860"/>
                <a:gridCol w="149860"/>
                <a:gridCol w="149860"/>
              </a:tblGrid>
              <a:tr h="14414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14414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</a:tr>
              <a:tr h="144145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30000"/>
                          </a:schemeClr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8" name="圆角矩形 167"/>
          <p:cNvSpPr/>
          <p:nvPr/>
        </p:nvSpPr>
        <p:spPr>
          <a:xfrm>
            <a:off x="5584825" y="730250"/>
            <a:ext cx="4817110" cy="1426845"/>
          </a:xfrm>
          <a:prstGeom prst="roundRect">
            <a:avLst/>
          </a:prstGeom>
          <a:solidFill>
            <a:srgbClr val="FFEFBE"/>
          </a:solidFill>
          <a:ln>
            <a:solidFill>
              <a:srgbClr val="FFEFB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9" name="图形 33"/>
          <p:cNvPicPr/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2028825" y="1734820"/>
            <a:ext cx="288000" cy="288000"/>
          </a:xfrm>
          <a:prstGeom prst="rect">
            <a:avLst/>
          </a:prstGeom>
        </p:spPr>
      </p:pic>
      <p:grpSp>
        <p:nvGrpSpPr>
          <p:cNvPr id="170" name="组合 169"/>
          <p:cNvGrpSpPr/>
          <p:nvPr/>
        </p:nvGrpSpPr>
        <p:grpSpPr>
          <a:xfrm>
            <a:off x="4335588" y="1734816"/>
            <a:ext cx="288000" cy="288000"/>
            <a:chOff x="3957049" y="2239041"/>
            <a:chExt cx="570929" cy="518597"/>
          </a:xfrm>
        </p:grpSpPr>
        <p:pic>
          <p:nvPicPr>
            <p:cNvPr id="171" name="图形 440"/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172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173" name="图形 38"/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174" name="图形 15"/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036505" y="1735105"/>
            <a:ext cx="288000" cy="288000"/>
          </a:xfrm>
          <a:prstGeom prst="rect">
            <a:avLst/>
          </a:prstGeom>
        </p:spPr>
      </p:pic>
      <p:sp>
        <p:nvSpPr>
          <p:cNvPr id="175" name="文本框 174"/>
          <p:cNvSpPr txBox="1"/>
          <p:nvPr/>
        </p:nvSpPr>
        <p:spPr>
          <a:xfrm>
            <a:off x="3814445" y="3465830"/>
            <a:ext cx="500380" cy="42164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0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2438400" y="3465195"/>
            <a:ext cx="500380" cy="42164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latin typeface="Arial" panose="020B0604020202020204"/>
                <a:cs typeface="Arial" panose="020B0604020202020204"/>
                <a:sym typeface="Arial" panose="020B0604020202020204"/>
                <a:rtl val="0"/>
              </a:rPr>
              <a:t>…</a:t>
            </a:r>
            <a:endParaRPr lang="zh-CN" altLang="en-US" sz="2000" b="1" dirty="0">
              <a:latin typeface="Arial" panose="020B0604020202020204"/>
              <a:cs typeface="Arial" panose="020B0604020202020204"/>
              <a:sym typeface="Arial" panose="020B0604020202020204"/>
              <a:rtl val="0"/>
            </a:endParaRPr>
          </a:p>
        </p:txBody>
      </p:sp>
      <p:grpSp>
        <p:nvGrpSpPr>
          <p:cNvPr id="218" name="组合 217"/>
          <p:cNvGrpSpPr/>
          <p:nvPr/>
        </p:nvGrpSpPr>
        <p:grpSpPr>
          <a:xfrm>
            <a:off x="5676265" y="909320"/>
            <a:ext cx="1278890" cy="1108075"/>
            <a:chOff x="8939" y="1432"/>
            <a:chExt cx="2014" cy="1745"/>
          </a:xfrm>
        </p:grpSpPr>
        <p:grpSp>
          <p:nvGrpSpPr>
            <p:cNvPr id="177" name="组合 176"/>
            <p:cNvGrpSpPr/>
            <p:nvPr/>
          </p:nvGrpSpPr>
          <p:grpSpPr>
            <a:xfrm rot="0">
              <a:off x="8939" y="2725"/>
              <a:ext cx="454" cy="453"/>
              <a:chOff x="3957049" y="2239041"/>
              <a:chExt cx="570929" cy="518597"/>
            </a:xfrm>
          </p:grpSpPr>
          <p:pic>
            <p:nvPicPr>
              <p:cNvPr id="178" name="图形 440"/>
              <p:cNvPicPr>
                <a:picLocks noChangeAspect="1"/>
              </p:cNvPicPr>
              <p:nvPr/>
            </p:nvPicPr>
            <p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p:blipFill>
            <p:spPr>
              <a:xfrm>
                <a:off x="3957049" y="2239041"/>
                <a:ext cx="434982" cy="434980"/>
              </a:xfrm>
              <a:prstGeom prst="rect">
                <a:avLst/>
              </a:prstGeom>
            </p:spPr>
          </p:pic>
          <p:sp>
            <p:nvSpPr>
              <p:cNvPr id="179" name="任意多边形: 形状 37"/>
              <p:cNvSpPr/>
              <p:nvPr/>
            </p:nvSpPr>
            <p:spPr>
              <a:xfrm>
                <a:off x="4141654" y="2399302"/>
                <a:ext cx="337983" cy="330622"/>
              </a:xfrm>
              <a:custGeom>
                <a:avLst/>
                <a:gdLst>
                  <a:gd name="connsiteX0" fmla="*/ -432 w 326293"/>
                  <a:gd name="connsiteY0" fmla="*/ 171393 h 343466"/>
                  <a:gd name="connsiteX1" fmla="*/ 162715 w 326293"/>
                  <a:gd name="connsiteY1" fmla="*/ -340 h 343466"/>
                  <a:gd name="connsiteX2" fmla="*/ 325861 w 326293"/>
                  <a:gd name="connsiteY2" fmla="*/ 171393 h 343466"/>
                  <a:gd name="connsiteX3" fmla="*/ 162715 w 326293"/>
                  <a:gd name="connsiteY3" fmla="*/ 343126 h 343466"/>
                  <a:gd name="connsiteX4" fmla="*/ -432 w 326293"/>
                  <a:gd name="connsiteY4" fmla="*/ 171393 h 34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293" h="343466">
                    <a:moveTo>
                      <a:pt x="-432" y="171393"/>
                    </a:moveTo>
                    <a:cubicBezTo>
                      <a:pt x="-432" y="76548"/>
                      <a:pt x="72623" y="-340"/>
                      <a:pt x="162715" y="-340"/>
                    </a:cubicBezTo>
                    <a:cubicBezTo>
                      <a:pt x="252806" y="-340"/>
                      <a:pt x="325861" y="76548"/>
                      <a:pt x="325861" y="171393"/>
                    </a:cubicBezTo>
                    <a:cubicBezTo>
                      <a:pt x="325861" y="266238"/>
                      <a:pt x="252806" y="343126"/>
                      <a:pt x="162715" y="343126"/>
                    </a:cubicBezTo>
                    <a:cubicBezTo>
                      <a:pt x="72623" y="343126"/>
                      <a:pt x="-432" y="266238"/>
                      <a:pt x="-432" y="1713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3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 sz="1400"/>
              </a:p>
            </p:txBody>
          </p:sp>
          <p:pic>
            <p:nvPicPr>
              <p:cNvPr id="180" name="图形 38"/>
              <p:cNvPicPr>
                <a:picLocks noChangeAspect="1"/>
              </p:cNvPicPr>
              <p:nvPr/>
            </p:nvPicPr>
            <p:blipFill>
              <a:blip r:embed="rId48"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p:blipFill>
            <p:spPr>
              <a:xfrm>
                <a:off x="4152653" y="2408845"/>
                <a:ext cx="375325" cy="348793"/>
              </a:xfrm>
              <a:prstGeom prst="rect">
                <a:avLst/>
              </a:prstGeom>
            </p:spPr>
          </p:pic>
        </p:grpSp>
        <p:pic>
          <p:nvPicPr>
            <p:cNvPr id="181" name="图形 15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8939" y="2079"/>
              <a:ext cx="454" cy="453"/>
            </a:xfrm>
            <a:prstGeom prst="rect">
              <a:avLst/>
            </a:prstGeom>
          </p:spPr>
        </p:pic>
        <p:pic>
          <p:nvPicPr>
            <p:cNvPr id="182" name="图形 33"/>
            <p:cNvPicPr/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8939" y="1432"/>
              <a:ext cx="454" cy="454"/>
            </a:xfrm>
            <a:prstGeom prst="rect">
              <a:avLst/>
            </a:prstGeom>
          </p:spPr>
        </p:pic>
        <p:sp>
          <p:nvSpPr>
            <p:cNvPr id="183" name="文本框 182"/>
            <p:cNvSpPr txBox="1"/>
            <p:nvPr/>
          </p:nvSpPr>
          <p:spPr>
            <a:xfrm>
              <a:off x="9285" y="1432"/>
              <a:ext cx="1430" cy="43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p>
              <a:r>
                <a:rPr lang="en-US" altLang="zh-CN" sz="1200" b="1"/>
                <a:t>Code Search</a:t>
              </a:r>
              <a:endParaRPr lang="en-US" altLang="zh-CN" sz="1200" b="1"/>
            </a:p>
          </p:txBody>
        </p:sp>
        <p:sp>
          <p:nvSpPr>
            <p:cNvPr id="184" name="文本框 183"/>
            <p:cNvSpPr txBox="1"/>
            <p:nvPr/>
          </p:nvSpPr>
          <p:spPr>
            <a:xfrm>
              <a:off x="9285" y="2055"/>
              <a:ext cx="166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/>
                <a:t>Code Sum.</a:t>
              </a:r>
              <a:endParaRPr lang="en-US" altLang="zh-CN" sz="1200" b="1"/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9285" y="2678"/>
              <a:ext cx="1606" cy="43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p>
              <a:pPr indent="0" fontAlgn="ctr"/>
              <a:r>
                <a:rPr lang="en-US" altLang="zh-CN" sz="1200" b="1"/>
                <a:t>Vul. Detection</a:t>
              </a:r>
              <a:endParaRPr lang="en-US" altLang="zh-CN" sz="1200" b="1"/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7011670" y="909320"/>
            <a:ext cx="1554480" cy="1068705"/>
            <a:chOff x="10954" y="1432"/>
            <a:chExt cx="2448" cy="1683"/>
          </a:xfrm>
        </p:grpSpPr>
        <p:pic>
          <p:nvPicPr>
            <p:cNvPr id="186" name="图片 185" descr="眼镜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46" y="1432"/>
              <a:ext cx="454" cy="454"/>
            </a:xfrm>
            <a:prstGeom prst="rect">
              <a:avLst/>
            </a:prstGeom>
          </p:spPr>
        </p:pic>
        <p:sp>
          <p:nvSpPr>
            <p:cNvPr id="187" name="文本框 186"/>
            <p:cNvSpPr txBox="1"/>
            <p:nvPr/>
          </p:nvSpPr>
          <p:spPr>
            <a:xfrm>
              <a:off x="11635" y="1432"/>
              <a:ext cx="15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Features for </a:t>
              </a:r>
              <a:endParaRPr lang="en-US" altLang="zh-CN" sz="1200" b="1">
                <a:sym typeface="+mn-ea"/>
              </a:endParaRPr>
            </a:p>
          </p:txBody>
        </p:sp>
        <p:grpSp>
          <p:nvGrpSpPr>
            <p:cNvPr id="190" name="组合 189"/>
            <p:cNvGrpSpPr/>
            <p:nvPr/>
          </p:nvGrpSpPr>
          <p:grpSpPr>
            <a:xfrm rot="0">
              <a:off x="10954" y="2107"/>
              <a:ext cx="838" cy="454"/>
              <a:chOff x="11067" y="2084"/>
              <a:chExt cx="838" cy="454"/>
            </a:xfrm>
          </p:grpSpPr>
          <p:pic>
            <p:nvPicPr>
              <p:cNvPr id="188" name="图片 187" descr="帽子 (1)"/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427" y="2169"/>
                <a:ext cx="478" cy="283"/>
              </a:xfrm>
              <a:prstGeom prst="rect">
                <a:avLst/>
              </a:prstGeom>
            </p:spPr>
          </p:pic>
          <p:pic>
            <p:nvPicPr>
              <p:cNvPr id="189" name="图片 188" descr="领带_fill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067" y="2084"/>
                <a:ext cx="454" cy="454"/>
              </a:xfrm>
              <a:prstGeom prst="rect">
                <a:avLst/>
              </a:prstGeom>
            </p:spPr>
          </p:pic>
        </p:grpSp>
        <p:pic>
          <p:nvPicPr>
            <p:cNvPr id="191" name="图片 190" descr="Aviator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10976" y="2860"/>
              <a:ext cx="397" cy="183"/>
            </a:xfrm>
            <a:prstGeom prst="rect">
              <a:avLst/>
            </a:prstGeom>
          </p:spPr>
        </p:pic>
        <p:pic>
          <p:nvPicPr>
            <p:cNvPr id="192" name="图片 191" descr="蝴蝶结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383" y="2753"/>
              <a:ext cx="340" cy="340"/>
            </a:xfrm>
            <a:prstGeom prst="rect">
              <a:avLst/>
            </a:prstGeom>
          </p:spPr>
        </p:pic>
        <p:pic>
          <p:nvPicPr>
            <p:cNvPr id="194" name="图形 33"/>
            <p:cNvPicPr/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12994" y="1439"/>
              <a:ext cx="397" cy="397"/>
            </a:xfrm>
            <a:prstGeom prst="rect">
              <a:avLst/>
            </a:prstGeom>
          </p:spPr>
        </p:pic>
        <p:sp>
          <p:nvSpPr>
            <p:cNvPr id="195" name="文本框 194"/>
            <p:cNvSpPr txBox="1"/>
            <p:nvPr/>
          </p:nvSpPr>
          <p:spPr>
            <a:xfrm>
              <a:off x="11635" y="2055"/>
              <a:ext cx="15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Features for </a:t>
              </a:r>
              <a:endParaRPr lang="en-US" altLang="zh-CN" sz="1200" b="1">
                <a:sym typeface="+mn-ea"/>
              </a:endParaRP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11635" y="2678"/>
              <a:ext cx="154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Features for </a:t>
              </a:r>
              <a:endParaRPr lang="en-US" altLang="zh-CN" sz="1200" b="1">
                <a:sym typeface="+mn-ea"/>
              </a:endParaRPr>
            </a:p>
          </p:txBody>
        </p:sp>
        <p:pic>
          <p:nvPicPr>
            <p:cNvPr id="198" name="图形 15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12972" y="2067"/>
              <a:ext cx="397" cy="396"/>
            </a:xfrm>
            <a:prstGeom prst="rect">
              <a:avLst/>
            </a:prstGeom>
          </p:spPr>
        </p:pic>
        <p:grpSp>
          <p:nvGrpSpPr>
            <p:cNvPr id="199" name="组合 198"/>
            <p:cNvGrpSpPr/>
            <p:nvPr/>
          </p:nvGrpSpPr>
          <p:grpSpPr>
            <a:xfrm rot="0">
              <a:off x="13006" y="2719"/>
              <a:ext cx="397" cy="397"/>
              <a:chOff x="3957049" y="2239041"/>
              <a:chExt cx="570929" cy="518597"/>
            </a:xfrm>
          </p:grpSpPr>
          <p:pic>
            <p:nvPicPr>
              <p:cNvPr id="200" name="图形 440"/>
              <p:cNvPicPr>
                <a:picLocks noChangeAspect="1"/>
              </p:cNvPicPr>
              <p:nvPr/>
            </p:nvPicPr>
            <p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p:blipFill>
            <p:spPr>
              <a:xfrm>
                <a:off x="3957049" y="2239041"/>
                <a:ext cx="434982" cy="434980"/>
              </a:xfrm>
              <a:prstGeom prst="rect">
                <a:avLst/>
              </a:prstGeom>
            </p:spPr>
          </p:pic>
          <p:sp>
            <p:nvSpPr>
              <p:cNvPr id="201" name="任意多边形: 形状 37"/>
              <p:cNvSpPr/>
              <p:nvPr/>
            </p:nvSpPr>
            <p:spPr>
              <a:xfrm>
                <a:off x="4141654" y="2399302"/>
                <a:ext cx="337983" cy="330622"/>
              </a:xfrm>
              <a:custGeom>
                <a:avLst/>
                <a:gdLst>
                  <a:gd name="connsiteX0" fmla="*/ -432 w 326293"/>
                  <a:gd name="connsiteY0" fmla="*/ 171393 h 343466"/>
                  <a:gd name="connsiteX1" fmla="*/ 162715 w 326293"/>
                  <a:gd name="connsiteY1" fmla="*/ -340 h 343466"/>
                  <a:gd name="connsiteX2" fmla="*/ 325861 w 326293"/>
                  <a:gd name="connsiteY2" fmla="*/ 171393 h 343466"/>
                  <a:gd name="connsiteX3" fmla="*/ 162715 w 326293"/>
                  <a:gd name="connsiteY3" fmla="*/ 343126 h 343466"/>
                  <a:gd name="connsiteX4" fmla="*/ -432 w 326293"/>
                  <a:gd name="connsiteY4" fmla="*/ 171393 h 34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293" h="343466">
                    <a:moveTo>
                      <a:pt x="-432" y="171393"/>
                    </a:moveTo>
                    <a:cubicBezTo>
                      <a:pt x="-432" y="76548"/>
                      <a:pt x="72623" y="-340"/>
                      <a:pt x="162715" y="-340"/>
                    </a:cubicBezTo>
                    <a:cubicBezTo>
                      <a:pt x="252806" y="-340"/>
                      <a:pt x="325861" y="76548"/>
                      <a:pt x="325861" y="171393"/>
                    </a:cubicBezTo>
                    <a:cubicBezTo>
                      <a:pt x="325861" y="266238"/>
                      <a:pt x="252806" y="343126"/>
                      <a:pt x="162715" y="343126"/>
                    </a:cubicBezTo>
                    <a:cubicBezTo>
                      <a:pt x="72623" y="343126"/>
                      <a:pt x="-432" y="266238"/>
                      <a:pt x="-432" y="1713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3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 sz="1400"/>
              </a:p>
            </p:txBody>
          </p:sp>
          <p:pic>
            <p:nvPicPr>
              <p:cNvPr id="202" name="图形 38"/>
              <p:cNvPicPr>
                <a:picLocks noChangeAspect="1"/>
              </p:cNvPicPr>
              <p:nvPr/>
            </p:nvPicPr>
            <p:blipFill>
              <a:blip r:embed="rId48"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p:blipFill>
            <p:spPr>
              <a:xfrm>
                <a:off x="4152653" y="2408845"/>
                <a:ext cx="375325" cy="348793"/>
              </a:xfrm>
              <a:prstGeom prst="rect">
                <a:avLst/>
              </a:prstGeom>
            </p:spPr>
          </p:pic>
        </p:grpSp>
      </p:grpSp>
      <p:grpSp>
        <p:nvGrpSpPr>
          <p:cNvPr id="216" name="组合 215"/>
          <p:cNvGrpSpPr/>
          <p:nvPr/>
        </p:nvGrpSpPr>
        <p:grpSpPr>
          <a:xfrm>
            <a:off x="8622665" y="909320"/>
            <a:ext cx="1677035" cy="459740"/>
            <a:chOff x="13579" y="1432"/>
            <a:chExt cx="2641" cy="724"/>
          </a:xfrm>
        </p:grpSpPr>
        <p:pic>
          <p:nvPicPr>
            <p:cNvPr id="203" name="图片 202" descr="眼镜"/>
            <p:cNvPicPr>
              <a:picLocks noChangeAspect="1"/>
            </p:cNvPicPr>
            <p:nvPr>
              <p:custDataLst>
                <p:tags r:id="rId64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579" y="1439"/>
              <a:ext cx="454" cy="454"/>
            </a:xfrm>
            <a:prstGeom prst="rect">
              <a:avLst/>
            </a:prstGeom>
          </p:spPr>
        </p:pic>
        <p:pic>
          <p:nvPicPr>
            <p:cNvPr id="204" name="图片 203" descr="蝴蝶结 (1)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4059" y="1451"/>
              <a:ext cx="363" cy="363"/>
            </a:xfrm>
            <a:prstGeom prst="rect">
              <a:avLst/>
            </a:prstGeom>
          </p:spPr>
        </p:pic>
        <p:sp>
          <p:nvSpPr>
            <p:cNvPr id="205" name="文本框 204"/>
            <p:cNvSpPr txBox="1"/>
            <p:nvPr/>
          </p:nvSpPr>
          <p:spPr>
            <a:xfrm>
              <a:off x="14422" y="1432"/>
              <a:ext cx="154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Features for</a:t>
              </a:r>
              <a:endParaRPr lang="en-US" altLang="zh-CN" sz="1200" b="1">
                <a:sym typeface="+mn-ea"/>
              </a:endParaRPr>
            </a:p>
            <a:p>
              <a:pPr lvl="0" algn="l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after Scaling </a:t>
              </a:r>
              <a:endParaRPr lang="en-US" altLang="zh-CN" sz="1200" b="1">
                <a:sym typeface="+mn-ea"/>
              </a:endParaRPr>
            </a:p>
          </p:txBody>
        </p:sp>
        <p:grpSp>
          <p:nvGrpSpPr>
            <p:cNvPr id="206" name="组合 205"/>
            <p:cNvGrpSpPr/>
            <p:nvPr/>
          </p:nvGrpSpPr>
          <p:grpSpPr>
            <a:xfrm>
              <a:off x="15824" y="1481"/>
              <a:ext cx="397" cy="397"/>
              <a:chOff x="3957049" y="2239041"/>
              <a:chExt cx="570929" cy="518597"/>
            </a:xfrm>
          </p:grpSpPr>
          <p:pic>
            <p:nvPicPr>
              <p:cNvPr id="207" name="图形 440"/>
              <p:cNvPicPr>
                <a:picLocks noChangeAspect="1"/>
              </p:cNvPicPr>
              <p:nvPr/>
            </p:nvPicPr>
            <p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p:blipFill>
            <p:spPr>
              <a:xfrm>
                <a:off x="3957049" y="2239041"/>
                <a:ext cx="434982" cy="434980"/>
              </a:xfrm>
              <a:prstGeom prst="rect">
                <a:avLst/>
              </a:prstGeom>
            </p:spPr>
          </p:pic>
          <p:sp>
            <p:nvSpPr>
              <p:cNvPr id="208" name="任意多边形: 形状 37"/>
              <p:cNvSpPr/>
              <p:nvPr/>
            </p:nvSpPr>
            <p:spPr>
              <a:xfrm>
                <a:off x="4141654" y="2399302"/>
                <a:ext cx="337983" cy="330622"/>
              </a:xfrm>
              <a:custGeom>
                <a:avLst/>
                <a:gdLst>
                  <a:gd name="connsiteX0" fmla="*/ -432 w 326293"/>
                  <a:gd name="connsiteY0" fmla="*/ 171393 h 343466"/>
                  <a:gd name="connsiteX1" fmla="*/ 162715 w 326293"/>
                  <a:gd name="connsiteY1" fmla="*/ -340 h 343466"/>
                  <a:gd name="connsiteX2" fmla="*/ 325861 w 326293"/>
                  <a:gd name="connsiteY2" fmla="*/ 171393 h 343466"/>
                  <a:gd name="connsiteX3" fmla="*/ 162715 w 326293"/>
                  <a:gd name="connsiteY3" fmla="*/ 343126 h 343466"/>
                  <a:gd name="connsiteX4" fmla="*/ -432 w 326293"/>
                  <a:gd name="connsiteY4" fmla="*/ 171393 h 34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293" h="343466">
                    <a:moveTo>
                      <a:pt x="-432" y="171393"/>
                    </a:moveTo>
                    <a:cubicBezTo>
                      <a:pt x="-432" y="76548"/>
                      <a:pt x="72623" y="-340"/>
                      <a:pt x="162715" y="-340"/>
                    </a:cubicBezTo>
                    <a:cubicBezTo>
                      <a:pt x="252806" y="-340"/>
                      <a:pt x="325861" y="76548"/>
                      <a:pt x="325861" y="171393"/>
                    </a:cubicBezTo>
                    <a:cubicBezTo>
                      <a:pt x="325861" y="266238"/>
                      <a:pt x="252806" y="343126"/>
                      <a:pt x="162715" y="343126"/>
                    </a:cubicBezTo>
                    <a:cubicBezTo>
                      <a:pt x="72623" y="343126"/>
                      <a:pt x="-432" y="266238"/>
                      <a:pt x="-432" y="1713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3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 sz="1400"/>
              </a:p>
            </p:txBody>
          </p:sp>
          <p:pic>
            <p:nvPicPr>
              <p:cNvPr id="209" name="图形 38"/>
              <p:cNvPicPr>
                <a:picLocks noChangeAspect="1"/>
              </p:cNvPicPr>
              <p:nvPr/>
            </p:nvPicPr>
            <p:blipFill>
              <a:blip r:embed="rId48"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p:blipFill>
            <p:spPr>
              <a:xfrm>
                <a:off x="4152653" y="2408845"/>
                <a:ext cx="375325" cy="34879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25653" y="1010285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55000">
                          <a:srgbClr val="FF9900"/>
                        </a:gs>
                        <a:gs pos="45000">
                          <a:srgbClr val="2AAC68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55000">
                          <a:srgbClr val="FF9900"/>
                        </a:gs>
                        <a:gs pos="45000">
                          <a:srgbClr val="2AAC68"/>
                        </a:gs>
                      </a:gsLst>
                      <a:lin ang="0" scaled="0"/>
                    </a:gradFill>
                  </a:tcPr>
                </a:tc>
              </a:tr>
            </a:tbl>
          </a:graphicData>
        </a:graphic>
      </p:graphicFrame>
      <p:pic>
        <p:nvPicPr>
          <p:cNvPr id="11" name="图片 10" descr="领带_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635" y="1640205"/>
            <a:ext cx="192405" cy="192405"/>
          </a:xfrm>
          <a:prstGeom prst="rect">
            <a:avLst/>
          </a:prstGeom>
        </p:spPr>
      </p:pic>
      <p:pic>
        <p:nvPicPr>
          <p:cNvPr id="10" name="图片 9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635" y="1075690"/>
            <a:ext cx="192405" cy="192405"/>
          </a:xfrm>
          <a:prstGeom prst="rect">
            <a:avLst/>
          </a:prstGeom>
        </p:spPr>
      </p:pic>
      <p:pic>
        <p:nvPicPr>
          <p:cNvPr id="8" name="图片 7" descr="领带_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6490" y="1075690"/>
            <a:ext cx="192405" cy="192405"/>
          </a:xfrm>
          <a:prstGeom prst="rect">
            <a:avLst/>
          </a:prstGeom>
        </p:spPr>
      </p:pic>
      <p:pic>
        <p:nvPicPr>
          <p:cNvPr id="41" name="图形 397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015" y="1668780"/>
            <a:ext cx="880110" cy="880110"/>
          </a:xfrm>
          <a:prstGeom prst="rect">
            <a:avLst/>
          </a:prstGeom>
        </p:spPr>
      </p:pic>
      <p:grpSp>
        <p:nvGrpSpPr>
          <p:cNvPr id="120" name="组合 119"/>
          <p:cNvGrpSpPr/>
          <p:nvPr/>
        </p:nvGrpSpPr>
        <p:grpSpPr>
          <a:xfrm>
            <a:off x="2140585" y="2276475"/>
            <a:ext cx="887730" cy="1077595"/>
            <a:chOff x="4073" y="3752"/>
            <a:chExt cx="1398" cy="1697"/>
          </a:xfrm>
        </p:grpSpPr>
        <p:pic>
          <p:nvPicPr>
            <p:cNvPr id="6" name="图形 39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85" y="4063"/>
              <a:ext cx="1386" cy="1386"/>
            </a:xfrm>
            <a:prstGeom prst="rect">
              <a:avLst/>
            </a:prstGeom>
          </p:spPr>
        </p:pic>
        <p:pic>
          <p:nvPicPr>
            <p:cNvPr id="12" name="图片 11" descr="帽子 (1)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73" y="3752"/>
              <a:ext cx="1391" cy="726"/>
            </a:xfrm>
            <a:prstGeom prst="rect">
              <a:avLst/>
            </a:prstGeom>
          </p:spPr>
        </p:pic>
        <p:pic>
          <p:nvPicPr>
            <p:cNvPr id="32" name="图片 31" descr="领带_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70" y="5000"/>
              <a:ext cx="417" cy="417"/>
            </a:xfrm>
            <a:prstGeom prst="rect">
              <a:avLst/>
            </a:prstGeom>
          </p:spPr>
        </p:pic>
      </p:grpSp>
      <p:grpSp>
        <p:nvGrpSpPr>
          <p:cNvPr id="121" name="组合 120"/>
          <p:cNvGrpSpPr/>
          <p:nvPr/>
        </p:nvGrpSpPr>
        <p:grpSpPr>
          <a:xfrm>
            <a:off x="2146300" y="1010285"/>
            <a:ext cx="880110" cy="880110"/>
            <a:chOff x="7348" y="4029"/>
            <a:chExt cx="1386" cy="1386"/>
          </a:xfrm>
        </p:grpSpPr>
        <p:pic>
          <p:nvPicPr>
            <p:cNvPr id="9" name="图形 39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48" y="4029"/>
              <a:ext cx="1386" cy="1386"/>
            </a:xfrm>
            <a:prstGeom prst="rect">
              <a:avLst/>
            </a:prstGeom>
          </p:spPr>
        </p:pic>
        <p:pic>
          <p:nvPicPr>
            <p:cNvPr id="15" name="图片 14" descr="Aviato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29" y="4442"/>
              <a:ext cx="841" cy="388"/>
            </a:xfrm>
            <a:prstGeom prst="rect">
              <a:avLst/>
            </a:prstGeom>
          </p:spPr>
        </p:pic>
        <p:pic>
          <p:nvPicPr>
            <p:cNvPr id="34" name="图片 33" descr="蝴蝶结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69" y="4893"/>
              <a:ext cx="362" cy="362"/>
            </a:xfrm>
            <a:prstGeom prst="rect">
              <a:avLst/>
            </a:prstGeom>
          </p:spPr>
        </p:pic>
      </p:grpSp>
      <p:graphicFrame>
        <p:nvGraphicFramePr>
          <p:cNvPr id="37" name="表格 36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3023870" y="237204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pSp>
        <p:nvGrpSpPr>
          <p:cNvPr id="129" name="组合 128"/>
          <p:cNvGrpSpPr/>
          <p:nvPr>
            <p:custDataLst>
              <p:tags r:id="rId15"/>
            </p:custDataLst>
          </p:nvPr>
        </p:nvGrpSpPr>
        <p:grpSpPr>
          <a:xfrm>
            <a:off x="5688965" y="2249805"/>
            <a:ext cx="887730" cy="1077595"/>
            <a:chOff x="12631" y="4104"/>
            <a:chExt cx="1398" cy="1697"/>
          </a:xfrm>
        </p:grpSpPr>
        <p:pic>
          <p:nvPicPr>
            <p:cNvPr id="38" name="图形 39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43" y="4415"/>
              <a:ext cx="1386" cy="1386"/>
            </a:xfrm>
            <a:prstGeom prst="rect">
              <a:avLst/>
            </a:prstGeom>
          </p:spPr>
        </p:pic>
        <p:pic>
          <p:nvPicPr>
            <p:cNvPr id="39" name="图片 38" descr="帽子 (1)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31" y="4104"/>
              <a:ext cx="1391" cy="726"/>
            </a:xfrm>
            <a:prstGeom prst="rect">
              <a:avLst/>
            </a:prstGeom>
          </p:spPr>
        </p:pic>
        <p:pic>
          <p:nvPicPr>
            <p:cNvPr id="42" name="图片 41" descr="领带_fill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28" y="5348"/>
              <a:ext cx="417" cy="417"/>
            </a:xfrm>
            <a:prstGeom prst="rect">
              <a:avLst/>
            </a:prstGeom>
          </p:spPr>
        </p:pic>
      </p:grpSp>
      <p:graphicFrame>
        <p:nvGraphicFramePr>
          <p:cNvPr id="45" name="表格 44"/>
          <p:cNvGraphicFramePr>
            <a:graphicFrameLocks noGrp="1"/>
          </p:cNvGraphicFramePr>
          <p:nvPr>
            <p:custDataLst>
              <p:tags r:id="rId19"/>
            </p:custDataLst>
          </p:nvPr>
        </p:nvGraphicFramePr>
        <p:xfrm>
          <a:off x="4824730" y="1011238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pSp>
        <p:nvGrpSpPr>
          <p:cNvPr id="130" name="组合 129"/>
          <p:cNvGrpSpPr/>
          <p:nvPr>
            <p:custDataLst>
              <p:tags r:id="rId20"/>
            </p:custDataLst>
          </p:nvPr>
        </p:nvGrpSpPr>
        <p:grpSpPr>
          <a:xfrm>
            <a:off x="5714365" y="1028065"/>
            <a:ext cx="880110" cy="880110"/>
            <a:chOff x="15320" y="4269"/>
            <a:chExt cx="1386" cy="1386"/>
          </a:xfrm>
        </p:grpSpPr>
        <p:pic>
          <p:nvPicPr>
            <p:cNvPr id="43" name="图形 39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320" y="4269"/>
              <a:ext cx="1386" cy="1386"/>
            </a:xfrm>
            <a:prstGeom prst="rect">
              <a:avLst/>
            </a:prstGeom>
          </p:spPr>
        </p:pic>
        <p:pic>
          <p:nvPicPr>
            <p:cNvPr id="47" name="图片 46" descr="眼镜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5570" y="4456"/>
              <a:ext cx="863" cy="863"/>
            </a:xfrm>
            <a:prstGeom prst="rect">
              <a:avLst/>
            </a:prstGeom>
          </p:spPr>
        </p:pic>
        <p:pic>
          <p:nvPicPr>
            <p:cNvPr id="48" name="图片 47" descr="蝴蝶结 (1)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832" y="5128"/>
              <a:ext cx="363" cy="363"/>
            </a:xfrm>
            <a:prstGeom prst="rect">
              <a:avLst/>
            </a:prstGeom>
          </p:spPr>
        </p:pic>
      </p:grpSp>
      <p:graphicFrame>
        <p:nvGraphicFramePr>
          <p:cNvPr id="60" name="表格 59"/>
          <p:cNvGraphicFramePr>
            <a:graphicFrameLocks noGrp="1"/>
          </p:cNvGraphicFramePr>
          <p:nvPr>
            <p:custDataLst>
              <p:tags r:id="rId28"/>
            </p:custDataLst>
          </p:nvPr>
        </p:nvGraphicFramePr>
        <p:xfrm>
          <a:off x="7125653" y="2371725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6D1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63" name="箭头: 下 27"/>
          <p:cNvSpPr/>
          <p:nvPr/>
        </p:nvSpPr>
        <p:spPr>
          <a:xfrm rot="17940000">
            <a:off x="1638753" y="2113843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64" name="箭头: 下 27"/>
          <p:cNvSpPr/>
          <p:nvPr/>
        </p:nvSpPr>
        <p:spPr>
          <a:xfrm rot="14580000">
            <a:off x="1677455" y="1206523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1" name="箭头: 下 27"/>
          <p:cNvSpPr/>
          <p:nvPr>
            <p:custDataLst>
              <p:tags r:id="rId29"/>
            </p:custDataLst>
          </p:nvPr>
        </p:nvSpPr>
        <p:spPr>
          <a:xfrm rot="16200000">
            <a:off x="6751955" y="1249680"/>
            <a:ext cx="85725" cy="56769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3" name="箭头: 下 27"/>
          <p:cNvSpPr/>
          <p:nvPr/>
        </p:nvSpPr>
        <p:spPr>
          <a:xfrm rot="16200000">
            <a:off x="4368142" y="1238663"/>
            <a:ext cx="72000" cy="432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4115435" y="1178560"/>
            <a:ext cx="61087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Scale up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3325495" y="68580"/>
            <a:ext cx="5200015" cy="841375"/>
          </a:xfrm>
          <a:prstGeom prst="roundRect">
            <a:avLst/>
          </a:prstGeom>
          <a:solidFill>
            <a:srgbClr val="FFEFBE"/>
          </a:solidFill>
          <a:ln>
            <a:solidFill>
              <a:srgbClr val="FFEFB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70" name="组合 169"/>
          <p:cNvGrpSpPr/>
          <p:nvPr/>
        </p:nvGrpSpPr>
        <p:grpSpPr>
          <a:xfrm>
            <a:off x="1548573" y="1271266"/>
            <a:ext cx="288000" cy="288000"/>
            <a:chOff x="3957049" y="2239041"/>
            <a:chExt cx="570929" cy="518597"/>
          </a:xfrm>
        </p:grpSpPr>
        <p:pic>
          <p:nvPicPr>
            <p:cNvPr id="171" name="图形 440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172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173" name="图形 38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174" name="图形 15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562035" y="2142140"/>
            <a:ext cx="288000" cy="288000"/>
          </a:xfrm>
          <a:prstGeom prst="rect">
            <a:avLst/>
          </a:prstGeom>
        </p:spPr>
      </p:pic>
      <p:grpSp>
        <p:nvGrpSpPr>
          <p:cNvPr id="94" name="组合 93"/>
          <p:cNvGrpSpPr/>
          <p:nvPr/>
        </p:nvGrpSpPr>
        <p:grpSpPr>
          <a:xfrm>
            <a:off x="3420110" y="133033"/>
            <a:ext cx="5010785" cy="712470"/>
            <a:chOff x="1357" y="229"/>
            <a:chExt cx="7891" cy="1122"/>
          </a:xfrm>
        </p:grpSpPr>
        <p:grpSp>
          <p:nvGrpSpPr>
            <p:cNvPr id="218" name="组合 217"/>
            <p:cNvGrpSpPr/>
            <p:nvPr/>
          </p:nvGrpSpPr>
          <p:grpSpPr>
            <a:xfrm>
              <a:off x="1357" y="229"/>
              <a:ext cx="2014" cy="1123"/>
              <a:chOff x="8939" y="2055"/>
              <a:chExt cx="2014" cy="1123"/>
            </a:xfrm>
          </p:grpSpPr>
          <p:grpSp>
            <p:nvGrpSpPr>
              <p:cNvPr id="177" name="组合 176"/>
              <p:cNvGrpSpPr/>
              <p:nvPr/>
            </p:nvGrpSpPr>
            <p:grpSpPr>
              <a:xfrm rot="0">
                <a:off x="8939" y="2725"/>
                <a:ext cx="454" cy="453"/>
                <a:chOff x="3957049" y="2239041"/>
                <a:chExt cx="570929" cy="518597"/>
              </a:xfrm>
            </p:grpSpPr>
            <p:pic>
              <p:nvPicPr>
                <p:cNvPr id="178" name="图形 440"/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57049" y="2239041"/>
                  <a:ext cx="434982" cy="434980"/>
                </a:xfrm>
                <a:prstGeom prst="rect">
                  <a:avLst/>
                </a:prstGeom>
              </p:spPr>
            </p:pic>
            <p:sp>
              <p:nvSpPr>
                <p:cNvPr id="179" name="任意多边形: 形状 37"/>
                <p:cNvSpPr/>
                <p:nvPr/>
              </p:nvSpPr>
              <p:spPr>
                <a:xfrm>
                  <a:off x="4141654" y="2399302"/>
                  <a:ext cx="337983" cy="330622"/>
                </a:xfrm>
                <a:custGeom>
                  <a:avLst/>
                  <a:gdLst>
                    <a:gd name="connsiteX0" fmla="*/ -432 w 326293"/>
                    <a:gd name="connsiteY0" fmla="*/ 171393 h 343466"/>
                    <a:gd name="connsiteX1" fmla="*/ 162715 w 326293"/>
                    <a:gd name="connsiteY1" fmla="*/ -340 h 343466"/>
                    <a:gd name="connsiteX2" fmla="*/ 325861 w 326293"/>
                    <a:gd name="connsiteY2" fmla="*/ 171393 h 343466"/>
                    <a:gd name="connsiteX3" fmla="*/ 162715 w 326293"/>
                    <a:gd name="connsiteY3" fmla="*/ 343126 h 343466"/>
                    <a:gd name="connsiteX4" fmla="*/ -432 w 326293"/>
                    <a:gd name="connsiteY4" fmla="*/ 171393 h 34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293" h="343466">
                      <a:moveTo>
                        <a:pt x="-432" y="171393"/>
                      </a:moveTo>
                      <a:cubicBezTo>
                        <a:pt x="-432" y="76548"/>
                        <a:pt x="72623" y="-340"/>
                        <a:pt x="162715" y="-340"/>
                      </a:cubicBezTo>
                      <a:cubicBezTo>
                        <a:pt x="252806" y="-340"/>
                        <a:pt x="325861" y="76548"/>
                        <a:pt x="325861" y="171393"/>
                      </a:cubicBezTo>
                      <a:cubicBezTo>
                        <a:pt x="325861" y="266238"/>
                        <a:pt x="252806" y="343126"/>
                        <a:pt x="162715" y="343126"/>
                      </a:cubicBezTo>
                      <a:cubicBezTo>
                        <a:pt x="72623" y="343126"/>
                        <a:pt x="-432" y="266238"/>
                        <a:pt x="-432" y="1713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32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 sz="1400"/>
                </a:p>
              </p:txBody>
            </p:sp>
            <p:pic>
              <p:nvPicPr>
                <p:cNvPr id="180" name="图形 38"/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2653" y="2408845"/>
                  <a:ext cx="375325" cy="348793"/>
                </a:xfrm>
                <a:prstGeom prst="rect">
                  <a:avLst/>
                </a:prstGeom>
              </p:spPr>
            </p:pic>
          </p:grpSp>
          <p:pic>
            <p:nvPicPr>
              <p:cNvPr id="181" name="图形 15"/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8939" y="2079"/>
                <a:ext cx="454" cy="453"/>
              </a:xfrm>
              <a:prstGeom prst="rect">
                <a:avLst/>
              </a:prstGeom>
            </p:spPr>
          </p:pic>
          <p:sp>
            <p:nvSpPr>
              <p:cNvPr id="184" name="文本框 183"/>
              <p:cNvSpPr txBox="1"/>
              <p:nvPr/>
            </p:nvSpPr>
            <p:spPr>
              <a:xfrm>
                <a:off x="9285" y="2055"/>
                <a:ext cx="166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/>
                  <a:t>Code Sum.</a:t>
                </a:r>
                <a:endParaRPr lang="en-US" altLang="zh-CN" sz="1200" b="1"/>
              </a:p>
            </p:txBody>
          </p:sp>
          <p:sp>
            <p:nvSpPr>
              <p:cNvPr id="185" name="文本框 184"/>
              <p:cNvSpPr txBox="1"/>
              <p:nvPr/>
            </p:nvSpPr>
            <p:spPr>
              <a:xfrm>
                <a:off x="9285" y="2678"/>
                <a:ext cx="1606" cy="434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p>
                <a:pPr indent="0" fontAlgn="ctr"/>
                <a:r>
                  <a:rPr lang="en-US" altLang="zh-CN" sz="1200" b="1"/>
                  <a:t>Vul. Detection</a:t>
                </a:r>
                <a:endParaRPr lang="en-US" altLang="zh-CN" sz="1200" b="1"/>
              </a:p>
            </p:txBody>
          </p:sp>
        </p:grpSp>
        <p:grpSp>
          <p:nvGrpSpPr>
            <p:cNvPr id="215" name="组合 214"/>
            <p:cNvGrpSpPr/>
            <p:nvPr/>
          </p:nvGrpSpPr>
          <p:grpSpPr>
            <a:xfrm>
              <a:off x="3765" y="272"/>
              <a:ext cx="2449" cy="1061"/>
              <a:chOff x="10954" y="2055"/>
              <a:chExt cx="2449" cy="1061"/>
            </a:xfrm>
          </p:grpSpPr>
          <p:grpSp>
            <p:nvGrpSpPr>
              <p:cNvPr id="190" name="组合 189"/>
              <p:cNvGrpSpPr/>
              <p:nvPr/>
            </p:nvGrpSpPr>
            <p:grpSpPr>
              <a:xfrm rot="0">
                <a:off x="10954" y="2107"/>
                <a:ext cx="838" cy="454"/>
                <a:chOff x="11067" y="2084"/>
                <a:chExt cx="838" cy="454"/>
              </a:xfrm>
            </p:grpSpPr>
            <p:pic>
              <p:nvPicPr>
                <p:cNvPr id="188" name="图片 187" descr="帽子 (1)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27" y="2169"/>
                  <a:ext cx="478" cy="283"/>
                </a:xfrm>
                <a:prstGeom prst="rect">
                  <a:avLst/>
                </a:prstGeom>
              </p:spPr>
            </p:pic>
            <p:pic>
              <p:nvPicPr>
                <p:cNvPr id="189" name="图片 188" descr="领带_fill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67" y="2084"/>
                  <a:ext cx="454" cy="454"/>
                </a:xfrm>
                <a:prstGeom prst="rect">
                  <a:avLst/>
                </a:prstGeom>
              </p:spPr>
            </p:pic>
          </p:grpSp>
          <p:pic>
            <p:nvPicPr>
              <p:cNvPr id="191" name="图片 190" descr="Aviator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0976" y="2860"/>
                <a:ext cx="397" cy="183"/>
              </a:xfrm>
              <a:prstGeom prst="rect">
                <a:avLst/>
              </a:prstGeom>
            </p:spPr>
          </p:pic>
          <p:pic>
            <p:nvPicPr>
              <p:cNvPr id="192" name="图片 191" descr="蝴蝶结"/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383" y="2753"/>
                <a:ext cx="340" cy="340"/>
              </a:xfrm>
              <a:prstGeom prst="rect">
                <a:avLst/>
              </a:prstGeom>
            </p:spPr>
          </p:pic>
          <p:sp>
            <p:nvSpPr>
              <p:cNvPr id="195" name="文本框 194"/>
              <p:cNvSpPr txBox="1"/>
              <p:nvPr/>
            </p:nvSpPr>
            <p:spPr>
              <a:xfrm>
                <a:off x="11635" y="2055"/>
                <a:ext cx="154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Features for </a:t>
                </a:r>
                <a:endParaRPr lang="en-US" altLang="zh-CN" sz="1200" b="1">
                  <a:sym typeface="+mn-ea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11635" y="2678"/>
                <a:ext cx="154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Features for </a:t>
                </a:r>
                <a:endParaRPr lang="en-US" altLang="zh-CN" sz="1200" b="1">
                  <a:sym typeface="+mn-ea"/>
                </a:endParaRPr>
              </a:p>
            </p:txBody>
          </p:sp>
          <p:pic>
            <p:nvPicPr>
              <p:cNvPr id="198" name="图形 15"/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12972" y="2067"/>
                <a:ext cx="397" cy="396"/>
              </a:xfrm>
              <a:prstGeom prst="rect">
                <a:avLst/>
              </a:prstGeom>
            </p:spPr>
          </p:pic>
          <p:grpSp>
            <p:nvGrpSpPr>
              <p:cNvPr id="199" name="组合 198"/>
              <p:cNvGrpSpPr/>
              <p:nvPr/>
            </p:nvGrpSpPr>
            <p:grpSpPr>
              <a:xfrm rot="0">
                <a:off x="13006" y="2719"/>
                <a:ext cx="397" cy="397"/>
                <a:chOff x="3957049" y="2239041"/>
                <a:chExt cx="570929" cy="518597"/>
              </a:xfrm>
            </p:grpSpPr>
            <p:pic>
              <p:nvPicPr>
                <p:cNvPr id="200" name="图形 440"/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57049" y="2239041"/>
                  <a:ext cx="434982" cy="434980"/>
                </a:xfrm>
                <a:prstGeom prst="rect">
                  <a:avLst/>
                </a:prstGeom>
              </p:spPr>
            </p:pic>
            <p:sp>
              <p:nvSpPr>
                <p:cNvPr id="201" name="任意多边形: 形状 37"/>
                <p:cNvSpPr/>
                <p:nvPr/>
              </p:nvSpPr>
              <p:spPr>
                <a:xfrm>
                  <a:off x="4141654" y="2399302"/>
                  <a:ext cx="337983" cy="330622"/>
                </a:xfrm>
                <a:custGeom>
                  <a:avLst/>
                  <a:gdLst>
                    <a:gd name="connsiteX0" fmla="*/ -432 w 326293"/>
                    <a:gd name="connsiteY0" fmla="*/ 171393 h 343466"/>
                    <a:gd name="connsiteX1" fmla="*/ 162715 w 326293"/>
                    <a:gd name="connsiteY1" fmla="*/ -340 h 343466"/>
                    <a:gd name="connsiteX2" fmla="*/ 325861 w 326293"/>
                    <a:gd name="connsiteY2" fmla="*/ 171393 h 343466"/>
                    <a:gd name="connsiteX3" fmla="*/ 162715 w 326293"/>
                    <a:gd name="connsiteY3" fmla="*/ 343126 h 343466"/>
                    <a:gd name="connsiteX4" fmla="*/ -432 w 326293"/>
                    <a:gd name="connsiteY4" fmla="*/ 171393 h 34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293" h="343466">
                      <a:moveTo>
                        <a:pt x="-432" y="171393"/>
                      </a:moveTo>
                      <a:cubicBezTo>
                        <a:pt x="-432" y="76548"/>
                        <a:pt x="72623" y="-340"/>
                        <a:pt x="162715" y="-340"/>
                      </a:cubicBezTo>
                      <a:cubicBezTo>
                        <a:pt x="252806" y="-340"/>
                        <a:pt x="325861" y="76548"/>
                        <a:pt x="325861" y="171393"/>
                      </a:cubicBezTo>
                      <a:cubicBezTo>
                        <a:pt x="325861" y="266238"/>
                        <a:pt x="252806" y="343126"/>
                        <a:pt x="162715" y="343126"/>
                      </a:cubicBezTo>
                      <a:cubicBezTo>
                        <a:pt x="72623" y="343126"/>
                        <a:pt x="-432" y="266238"/>
                        <a:pt x="-432" y="1713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32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 sz="1400"/>
                </a:p>
              </p:txBody>
            </p:sp>
            <p:pic>
              <p:nvPicPr>
                <p:cNvPr id="202" name="图形 38"/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2653" y="2408845"/>
                  <a:ext cx="375325" cy="34879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6" name="组合 215"/>
            <p:cNvGrpSpPr/>
            <p:nvPr/>
          </p:nvGrpSpPr>
          <p:grpSpPr>
            <a:xfrm>
              <a:off x="6608" y="284"/>
              <a:ext cx="2641" cy="724"/>
              <a:chOff x="13579" y="1432"/>
              <a:chExt cx="2641" cy="724"/>
            </a:xfrm>
          </p:grpSpPr>
          <p:pic>
            <p:nvPicPr>
              <p:cNvPr id="203" name="图片 202" descr="眼镜"/>
              <p:cNvPicPr>
                <a:picLocks noChangeAspect="1"/>
              </p:cNvPicPr>
              <p:nvPr>
                <p:custDataLst>
                  <p:tags r:id="rId37"/>
                </p:custDataLst>
              </p:nvPr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3579" y="1439"/>
                <a:ext cx="454" cy="454"/>
              </a:xfrm>
              <a:prstGeom prst="rect">
                <a:avLst/>
              </a:prstGeom>
            </p:spPr>
          </p:pic>
          <p:pic>
            <p:nvPicPr>
              <p:cNvPr id="204" name="图片 203" descr="蝴蝶结 (1)"/>
              <p:cNvPicPr>
                <a:picLocks noChangeAspect="1"/>
              </p:cNvPicPr>
              <p:nvPr>
                <p:custDataLst>
                  <p:tags r:id="rId38"/>
                </p:custDataLst>
              </p:nvPr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14059" y="1451"/>
                <a:ext cx="363" cy="363"/>
              </a:xfrm>
              <a:prstGeom prst="rect">
                <a:avLst/>
              </a:prstGeom>
            </p:spPr>
          </p:pic>
          <p:sp>
            <p:nvSpPr>
              <p:cNvPr id="205" name="文本框 204"/>
              <p:cNvSpPr txBox="1"/>
              <p:nvPr/>
            </p:nvSpPr>
            <p:spPr>
              <a:xfrm>
                <a:off x="14422" y="1432"/>
                <a:ext cx="154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Features for</a:t>
                </a:r>
                <a:endParaRPr lang="en-US" altLang="zh-CN" sz="1200" b="1">
                  <a:sym typeface="+mn-ea"/>
                </a:endParaRPr>
              </a:p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after Scaling </a:t>
                </a:r>
                <a:endParaRPr lang="en-US" altLang="zh-CN" sz="1200" b="1">
                  <a:sym typeface="+mn-ea"/>
                </a:endParaRPr>
              </a:p>
            </p:txBody>
          </p:sp>
          <p:grpSp>
            <p:nvGrpSpPr>
              <p:cNvPr id="206" name="组合 205"/>
              <p:cNvGrpSpPr/>
              <p:nvPr/>
            </p:nvGrpSpPr>
            <p:grpSpPr>
              <a:xfrm>
                <a:off x="15824" y="1481"/>
                <a:ext cx="397" cy="397"/>
                <a:chOff x="3957049" y="2239041"/>
                <a:chExt cx="570929" cy="518597"/>
              </a:xfrm>
            </p:grpSpPr>
            <p:pic>
              <p:nvPicPr>
                <p:cNvPr id="207" name="图形 440"/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57049" y="2239041"/>
                  <a:ext cx="434982" cy="434980"/>
                </a:xfrm>
                <a:prstGeom prst="rect">
                  <a:avLst/>
                </a:prstGeom>
              </p:spPr>
            </p:pic>
            <p:sp>
              <p:nvSpPr>
                <p:cNvPr id="208" name="任意多边形: 形状 37"/>
                <p:cNvSpPr/>
                <p:nvPr/>
              </p:nvSpPr>
              <p:spPr>
                <a:xfrm>
                  <a:off x="4141654" y="2399302"/>
                  <a:ext cx="337983" cy="330622"/>
                </a:xfrm>
                <a:custGeom>
                  <a:avLst/>
                  <a:gdLst>
                    <a:gd name="connsiteX0" fmla="*/ -432 w 326293"/>
                    <a:gd name="connsiteY0" fmla="*/ 171393 h 343466"/>
                    <a:gd name="connsiteX1" fmla="*/ 162715 w 326293"/>
                    <a:gd name="connsiteY1" fmla="*/ -340 h 343466"/>
                    <a:gd name="connsiteX2" fmla="*/ 325861 w 326293"/>
                    <a:gd name="connsiteY2" fmla="*/ 171393 h 343466"/>
                    <a:gd name="connsiteX3" fmla="*/ 162715 w 326293"/>
                    <a:gd name="connsiteY3" fmla="*/ 343126 h 343466"/>
                    <a:gd name="connsiteX4" fmla="*/ -432 w 326293"/>
                    <a:gd name="connsiteY4" fmla="*/ 171393 h 34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293" h="343466">
                      <a:moveTo>
                        <a:pt x="-432" y="171393"/>
                      </a:moveTo>
                      <a:cubicBezTo>
                        <a:pt x="-432" y="76548"/>
                        <a:pt x="72623" y="-340"/>
                        <a:pt x="162715" y="-340"/>
                      </a:cubicBezTo>
                      <a:cubicBezTo>
                        <a:pt x="252806" y="-340"/>
                        <a:pt x="325861" y="76548"/>
                        <a:pt x="325861" y="171393"/>
                      </a:cubicBezTo>
                      <a:cubicBezTo>
                        <a:pt x="325861" y="266238"/>
                        <a:pt x="252806" y="343126"/>
                        <a:pt x="162715" y="343126"/>
                      </a:cubicBezTo>
                      <a:cubicBezTo>
                        <a:pt x="72623" y="343126"/>
                        <a:pt x="-432" y="266238"/>
                        <a:pt x="-432" y="1713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32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 sz="1400"/>
                </a:p>
              </p:txBody>
            </p:sp>
            <p:pic>
              <p:nvPicPr>
                <p:cNvPr id="209" name="图形 38"/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2653" y="2408845"/>
                  <a:ext cx="375325" cy="348793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27" name="图片 22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2395" y="4628515"/>
            <a:ext cx="11966575" cy="1921510"/>
          </a:xfrm>
          <a:prstGeom prst="rect">
            <a:avLst/>
          </a:prstGeom>
        </p:spPr>
      </p:pic>
      <p:graphicFrame>
        <p:nvGraphicFramePr>
          <p:cNvPr id="228" name="表格 227"/>
          <p:cNvGraphicFramePr>
            <a:graphicFrameLocks noGrp="1"/>
          </p:cNvGraphicFramePr>
          <p:nvPr>
            <p:custDataLst>
              <p:tags r:id="rId42"/>
            </p:custDataLst>
          </p:nvPr>
        </p:nvGraphicFramePr>
        <p:xfrm>
          <a:off x="3023870" y="102203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229" name="图片 228" descr="Aviator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044825" y="1409700"/>
            <a:ext cx="236220" cy="109220"/>
          </a:xfrm>
          <a:prstGeom prst="rect">
            <a:avLst/>
          </a:prstGeom>
        </p:spPr>
      </p:pic>
      <p:pic>
        <p:nvPicPr>
          <p:cNvPr id="230" name="图片 229" descr="蝴蝶结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33115" y="1045210"/>
            <a:ext cx="229870" cy="229870"/>
          </a:xfrm>
          <a:prstGeom prst="rect">
            <a:avLst/>
          </a:prstGeom>
        </p:spPr>
      </p:pic>
      <p:pic>
        <p:nvPicPr>
          <p:cNvPr id="231" name="图片 230" descr="蝴蝶结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27120" y="1626235"/>
            <a:ext cx="229870" cy="229870"/>
          </a:xfrm>
          <a:prstGeom prst="rect">
            <a:avLst/>
          </a:prstGeom>
        </p:spPr>
      </p:pic>
      <p:pic>
        <p:nvPicPr>
          <p:cNvPr id="232" name="图片 231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31210" y="2737485"/>
            <a:ext cx="261620" cy="136525"/>
          </a:xfrm>
          <a:prstGeom prst="rect">
            <a:avLst/>
          </a:prstGeom>
        </p:spPr>
      </p:pic>
      <p:pic>
        <p:nvPicPr>
          <p:cNvPr id="233" name="图片 232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8475" y="3029585"/>
            <a:ext cx="261620" cy="136525"/>
          </a:xfrm>
          <a:prstGeom prst="rect">
            <a:avLst/>
          </a:prstGeom>
        </p:spPr>
      </p:pic>
      <p:pic>
        <p:nvPicPr>
          <p:cNvPr id="234" name="图片 233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9945" y="2433320"/>
            <a:ext cx="192405" cy="192405"/>
          </a:xfrm>
          <a:prstGeom prst="rect">
            <a:avLst/>
          </a:prstGeom>
        </p:spPr>
      </p:pic>
      <p:pic>
        <p:nvPicPr>
          <p:cNvPr id="236" name="图片 235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433320"/>
            <a:ext cx="192405" cy="192405"/>
          </a:xfrm>
          <a:prstGeom prst="rect">
            <a:avLst/>
          </a:prstGeom>
        </p:spPr>
      </p:pic>
      <p:pic>
        <p:nvPicPr>
          <p:cNvPr id="237" name="图片 236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987040"/>
            <a:ext cx="192405" cy="192405"/>
          </a:xfrm>
          <a:prstGeom prst="rect">
            <a:avLst/>
          </a:prstGeom>
        </p:spPr>
      </p:pic>
      <p:pic>
        <p:nvPicPr>
          <p:cNvPr id="238" name="图片 237" descr="Aviator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148195" y="2748280"/>
            <a:ext cx="236220" cy="109220"/>
          </a:xfrm>
          <a:prstGeom prst="rect">
            <a:avLst/>
          </a:prstGeom>
        </p:spPr>
      </p:pic>
      <p:pic>
        <p:nvPicPr>
          <p:cNvPr id="239" name="图片 238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6490" y="2437130"/>
            <a:ext cx="192405" cy="192405"/>
          </a:xfrm>
          <a:prstGeom prst="rect">
            <a:avLst/>
          </a:prstGeom>
        </p:spPr>
      </p:pic>
      <p:pic>
        <p:nvPicPr>
          <p:cNvPr id="240" name="图片 239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635" y="2437130"/>
            <a:ext cx="192405" cy="192405"/>
          </a:xfrm>
          <a:prstGeom prst="rect">
            <a:avLst/>
          </a:prstGeom>
        </p:spPr>
      </p:pic>
      <p:pic>
        <p:nvPicPr>
          <p:cNvPr id="241" name="图片 240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635" y="3001645"/>
            <a:ext cx="192405" cy="192405"/>
          </a:xfrm>
          <a:prstGeom prst="rect">
            <a:avLst/>
          </a:prstGeom>
        </p:spPr>
      </p:pic>
      <p:pic>
        <p:nvPicPr>
          <p:cNvPr id="242" name="图片 241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25970" y="3034030"/>
            <a:ext cx="261620" cy="136525"/>
          </a:xfrm>
          <a:prstGeom prst="rect">
            <a:avLst/>
          </a:prstGeom>
        </p:spPr>
      </p:pic>
      <p:pic>
        <p:nvPicPr>
          <p:cNvPr id="243" name="图片 242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6325" y="2733040"/>
            <a:ext cx="261620" cy="136525"/>
          </a:xfrm>
          <a:prstGeom prst="rect">
            <a:avLst/>
          </a:prstGeom>
        </p:spPr>
      </p:pic>
      <p:pic>
        <p:nvPicPr>
          <p:cNvPr id="2" name="图片 1" descr="眼镜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59655" y="1339215"/>
            <a:ext cx="237600" cy="237600"/>
          </a:xfrm>
          <a:prstGeom prst="rect">
            <a:avLst/>
          </a:prstGeom>
        </p:spPr>
      </p:pic>
      <p:pic>
        <p:nvPicPr>
          <p:cNvPr id="3" name="图片 2" descr="蝴蝶结 (1)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134928" y="1034415"/>
            <a:ext cx="230505" cy="230505"/>
          </a:xfrm>
          <a:prstGeom prst="rect">
            <a:avLst/>
          </a:prstGeom>
        </p:spPr>
      </p:pic>
      <p:pic>
        <p:nvPicPr>
          <p:cNvPr id="4" name="图片 3" descr="蝴蝶结 (1)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444173" y="1614805"/>
            <a:ext cx="230505" cy="230505"/>
          </a:xfrm>
          <a:prstGeom prst="rect">
            <a:avLst/>
          </a:prstGeom>
        </p:spPr>
      </p:pic>
      <p:pic>
        <p:nvPicPr>
          <p:cNvPr id="13" name="图片 12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25970" y="1672590"/>
            <a:ext cx="261620" cy="136525"/>
          </a:xfrm>
          <a:prstGeom prst="rect">
            <a:avLst/>
          </a:prstGeom>
        </p:spPr>
      </p:pic>
      <p:pic>
        <p:nvPicPr>
          <p:cNvPr id="14" name="图片 13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6325" y="1371600"/>
            <a:ext cx="261620" cy="136525"/>
          </a:xfrm>
          <a:prstGeom prst="rect">
            <a:avLst/>
          </a:prstGeom>
        </p:spPr>
      </p:pic>
      <p:pic>
        <p:nvPicPr>
          <p:cNvPr id="17" name="图片 16" descr="眼镜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50100" y="1327785"/>
            <a:ext cx="237600" cy="237600"/>
          </a:xfrm>
          <a:prstGeom prst="rect">
            <a:avLst/>
          </a:prstGeom>
        </p:spPr>
      </p:pic>
      <p:sp>
        <p:nvSpPr>
          <p:cNvPr id="18" name="箭头: 下 27"/>
          <p:cNvSpPr/>
          <p:nvPr/>
        </p:nvSpPr>
        <p:spPr>
          <a:xfrm rot="16200000">
            <a:off x="4368777" y="2584228"/>
            <a:ext cx="72000" cy="432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39235" y="2548890"/>
            <a:ext cx="78549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Maintain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custDataLst>
              <p:tags r:id="rId50"/>
            </p:custDataLst>
          </p:nvPr>
        </p:nvGraphicFramePr>
        <p:xfrm>
          <a:off x="4824730" y="2371408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21" name="图片 20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2070" y="2736850"/>
            <a:ext cx="261620" cy="136525"/>
          </a:xfrm>
          <a:prstGeom prst="rect">
            <a:avLst/>
          </a:prstGeom>
        </p:spPr>
      </p:pic>
      <p:pic>
        <p:nvPicPr>
          <p:cNvPr id="24" name="图片 23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39335" y="3028950"/>
            <a:ext cx="261620" cy="136525"/>
          </a:xfrm>
          <a:prstGeom prst="rect">
            <a:avLst/>
          </a:prstGeom>
        </p:spPr>
      </p:pic>
      <p:pic>
        <p:nvPicPr>
          <p:cNvPr id="29" name="图片 28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0805" y="2432685"/>
            <a:ext cx="192405" cy="192405"/>
          </a:xfrm>
          <a:prstGeom prst="rect">
            <a:avLst/>
          </a:prstGeom>
        </p:spPr>
      </p:pic>
      <p:pic>
        <p:nvPicPr>
          <p:cNvPr id="30" name="图片 29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5760" y="2432685"/>
            <a:ext cx="192405" cy="192405"/>
          </a:xfrm>
          <a:prstGeom prst="rect">
            <a:avLst/>
          </a:prstGeom>
        </p:spPr>
      </p:pic>
      <p:pic>
        <p:nvPicPr>
          <p:cNvPr id="44" name="图片 43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5760" y="2986405"/>
            <a:ext cx="192405" cy="192405"/>
          </a:xfrm>
          <a:prstGeom prst="rect">
            <a:avLst/>
          </a:prstGeom>
        </p:spPr>
      </p:pic>
      <p:sp>
        <p:nvSpPr>
          <p:cNvPr id="52" name="箭头: 下 27"/>
          <p:cNvSpPr/>
          <p:nvPr>
            <p:custDataLst>
              <p:tags r:id="rId51"/>
            </p:custDataLst>
          </p:nvPr>
        </p:nvSpPr>
        <p:spPr>
          <a:xfrm rot="12240000" flipH="1">
            <a:off x="6747153" y="1595412"/>
            <a:ext cx="86400" cy="134048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559550" y="1264920"/>
            <a:ext cx="51943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Fusion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5" name="肘形连接符 54"/>
          <p:cNvCxnSpPr/>
          <p:nvPr/>
        </p:nvCxnSpPr>
        <p:spPr>
          <a:xfrm>
            <a:off x="3889375" y="1443990"/>
            <a:ext cx="3668395" cy="2223135"/>
          </a:xfrm>
          <a:prstGeom prst="bentConnector4">
            <a:avLst>
              <a:gd name="adj1" fmla="val 3358"/>
              <a:gd name="adj2" fmla="val 11071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stCxn id="37" idx="3"/>
            <a:endCxn id="72" idx="2"/>
          </p:cNvCxnSpPr>
          <p:nvPr/>
        </p:nvCxnSpPr>
        <p:spPr>
          <a:xfrm>
            <a:off x="3888105" y="2804795"/>
            <a:ext cx="3670300" cy="862330"/>
          </a:xfrm>
          <a:prstGeom prst="bentConnector4">
            <a:avLst>
              <a:gd name="adj1" fmla="val 3287"/>
              <a:gd name="adj2" fmla="val 12761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5064611" y="3495669"/>
            <a:ext cx="158652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charset="-122"/>
                <a:ea typeface="微软雅黑" panose="020B0503020204020204" charset="-122"/>
                <a:rtl val="0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rPr>
              <a:t>Direct Max Fusion</a:t>
            </a:r>
            <a:endParaRPr lang="en-US" altLang="zh-CN" sz="1400" i="1">
              <a:solidFill>
                <a:schemeClr val="tx1"/>
              </a:solidFill>
              <a:latin typeface="+mn-lt"/>
              <a:ea typeface="+mn-ea"/>
              <a:sym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220585" y="2150745"/>
            <a:ext cx="448310" cy="219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charset="-122"/>
                <a:ea typeface="微软雅黑" panose="020B0503020204020204" charset="-122"/>
                <a:rtl val="0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rPr>
              <a:t>Loss </a:t>
            </a:r>
            <a:endParaRPr lang="en-US" altLang="zh-CN" sz="1400" i="1">
              <a:solidFill>
                <a:schemeClr val="tx1"/>
              </a:solidFill>
              <a:latin typeface="+mn-lt"/>
              <a:ea typeface="+mn-ea"/>
              <a:sym typeface="微软雅黑" panose="020B0503020204020204" charset="-122"/>
            </a:endParaRPr>
          </a:p>
        </p:txBody>
      </p:sp>
      <p:pic>
        <p:nvPicPr>
          <p:cNvPr id="58" name="图片 57" descr="蝴蝶结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15555" y="2142490"/>
            <a:ext cx="229870" cy="229870"/>
          </a:xfrm>
          <a:prstGeom prst="rect">
            <a:avLst/>
          </a:prstGeom>
        </p:spPr>
      </p:pic>
      <p:graphicFrame>
        <p:nvGraphicFramePr>
          <p:cNvPr id="59" name="表格 58"/>
          <p:cNvGraphicFramePr>
            <a:graphicFrameLocks noGrp="1"/>
          </p:cNvGraphicFramePr>
          <p:nvPr>
            <p:custDataLst>
              <p:tags r:id="rId52"/>
            </p:custDataLst>
          </p:nvPr>
        </p:nvGraphicFramePr>
        <p:xfrm>
          <a:off x="8180070" y="2363470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>
            <p:custDataLst>
              <p:tags r:id="rId53"/>
            </p:custDataLst>
          </p:nvPr>
        </p:nvGraphicFramePr>
        <p:xfrm>
          <a:off x="8180070" y="2850515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pic>
        <p:nvPicPr>
          <p:cNvPr id="67" name="图形 15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556560" y="2906045"/>
            <a:ext cx="288000" cy="288000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8577388" y="2430141"/>
            <a:ext cx="288000" cy="288000"/>
            <a:chOff x="3957049" y="2239041"/>
            <a:chExt cx="570929" cy="518597"/>
          </a:xfrm>
        </p:grpSpPr>
        <p:pic>
          <p:nvPicPr>
            <p:cNvPr id="69" name="图形 440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70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71" name="图形 38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72" name="文本框 71"/>
          <p:cNvSpPr txBox="1"/>
          <p:nvPr/>
        </p:nvSpPr>
        <p:spPr>
          <a:xfrm>
            <a:off x="7182168" y="3236595"/>
            <a:ext cx="75120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indent="0" algn="ctr" fontAlgn="auto"/>
            <a:r>
              <a:rPr lang="en-US" altLang="zh-CN" sz="1400"/>
              <a:t>Fusion </a:t>
            </a:r>
            <a:endParaRPr lang="en-US" altLang="zh-CN" sz="1400"/>
          </a:p>
          <a:p>
            <a:pPr indent="0" algn="ctr" fontAlgn="auto"/>
            <a:r>
              <a:rPr lang="en-US" altLang="zh-CN" sz="1400"/>
              <a:t>Params</a:t>
            </a:r>
            <a:endParaRPr lang="en-US" altLang="zh-CN" sz="1400"/>
          </a:p>
        </p:txBody>
      </p:sp>
      <p:sp>
        <p:nvSpPr>
          <p:cNvPr id="73" name="文本框 72"/>
          <p:cNvSpPr txBox="1"/>
          <p:nvPr/>
        </p:nvSpPr>
        <p:spPr>
          <a:xfrm>
            <a:off x="8020685" y="3235325"/>
            <a:ext cx="695960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en-US" altLang="zh-CN" sz="1400"/>
              <a:t>1-bit </a:t>
            </a:r>
            <a:endParaRPr lang="en-US" altLang="zh-CN" sz="1400"/>
          </a:p>
          <a:p>
            <a:pPr algn="ctr"/>
            <a:r>
              <a:rPr lang="en-US" altLang="zh-CN" sz="1400"/>
              <a:t>masks</a:t>
            </a:r>
            <a:endParaRPr lang="en-US" altLang="zh-CN" sz="1400"/>
          </a:p>
        </p:txBody>
      </p:sp>
      <p:graphicFrame>
        <p:nvGraphicFramePr>
          <p:cNvPr id="74" name="表格 73"/>
          <p:cNvGraphicFramePr>
            <a:graphicFrameLocks noGrp="1"/>
          </p:cNvGraphicFramePr>
          <p:nvPr>
            <p:custDataLst>
              <p:tags r:id="rId54"/>
            </p:custDataLst>
          </p:nvPr>
        </p:nvGraphicFramePr>
        <p:xfrm>
          <a:off x="8179435" y="1009015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custDataLst>
              <p:tags r:id="rId55"/>
            </p:custDataLst>
          </p:nvPr>
        </p:nvGraphicFramePr>
        <p:xfrm>
          <a:off x="8179435" y="1496060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pic>
        <p:nvPicPr>
          <p:cNvPr id="76" name="图形 15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555925" y="1551590"/>
            <a:ext cx="288000" cy="288000"/>
          </a:xfrm>
          <a:prstGeom prst="rect">
            <a:avLst/>
          </a:prstGeom>
        </p:spPr>
      </p:pic>
      <p:grpSp>
        <p:nvGrpSpPr>
          <p:cNvPr id="77" name="组合 76"/>
          <p:cNvGrpSpPr/>
          <p:nvPr/>
        </p:nvGrpSpPr>
        <p:grpSpPr>
          <a:xfrm>
            <a:off x="8576753" y="1075686"/>
            <a:ext cx="288000" cy="288000"/>
            <a:chOff x="3957049" y="2239041"/>
            <a:chExt cx="570929" cy="518597"/>
          </a:xfrm>
        </p:grpSpPr>
        <p:pic>
          <p:nvPicPr>
            <p:cNvPr id="78" name="图形 440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79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80" name="图形 38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81" name="箭头: 下 27"/>
          <p:cNvSpPr/>
          <p:nvPr>
            <p:custDataLst>
              <p:tags r:id="rId56"/>
            </p:custDataLst>
          </p:nvPr>
        </p:nvSpPr>
        <p:spPr>
          <a:xfrm rot="16200000">
            <a:off x="9116060" y="1194435"/>
            <a:ext cx="76835" cy="4432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837930" y="900430"/>
            <a:ext cx="727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/>
              <a:t>Exract </a:t>
            </a:r>
            <a:endParaRPr lang="en-US" altLang="zh-CN" sz="1400" b="1" i="1"/>
          </a:p>
          <a:p>
            <a:r>
              <a:rPr lang="en-US" altLang="zh-CN" sz="1400" b="1" i="1"/>
              <a:t>for</a:t>
            </a:r>
            <a:endParaRPr lang="en-US" altLang="zh-CN" sz="1400" b="1" i="1"/>
          </a:p>
        </p:txBody>
      </p:sp>
      <p:grpSp>
        <p:nvGrpSpPr>
          <p:cNvPr id="84" name="组合 83"/>
          <p:cNvGrpSpPr>
            <a:grpSpLocks noChangeAspect="1"/>
          </p:cNvGrpSpPr>
          <p:nvPr/>
        </p:nvGrpSpPr>
        <p:grpSpPr>
          <a:xfrm>
            <a:off x="9165923" y="1199093"/>
            <a:ext cx="198164" cy="180000"/>
            <a:chOff x="3957049" y="2239041"/>
            <a:chExt cx="570929" cy="518597"/>
          </a:xfrm>
        </p:grpSpPr>
        <p:pic>
          <p:nvPicPr>
            <p:cNvPr id="85" name="图形 35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86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87" name="图形 39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89" name="表格 88"/>
          <p:cNvGraphicFramePr>
            <a:graphicFrameLocks noGrp="1"/>
          </p:cNvGraphicFramePr>
          <p:nvPr>
            <p:custDataLst>
              <p:tags r:id="rId61"/>
            </p:custDataLst>
          </p:nvPr>
        </p:nvGraphicFramePr>
        <p:xfrm>
          <a:off x="9497060" y="102584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表格 89"/>
          <p:cNvGraphicFramePr>
            <a:graphicFrameLocks noGrp="1"/>
          </p:cNvGraphicFramePr>
          <p:nvPr>
            <p:custDataLst>
              <p:tags r:id="rId62"/>
            </p:custDataLst>
          </p:nvPr>
        </p:nvGraphicFramePr>
        <p:xfrm>
          <a:off x="9497060" y="237204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1" name="箭头: 下 27"/>
          <p:cNvSpPr/>
          <p:nvPr>
            <p:custDataLst>
              <p:tags r:id="rId63"/>
            </p:custDataLst>
          </p:nvPr>
        </p:nvSpPr>
        <p:spPr>
          <a:xfrm>
            <a:off x="9890760" y="1954530"/>
            <a:ext cx="76835" cy="360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9994265" y="1986915"/>
            <a:ext cx="831850" cy="30670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p>
            <a:r>
              <a:rPr lang="en-US" altLang="zh-CN" sz="1400" b="1" i="1">
                <a:sym typeface="+mn-ea"/>
              </a:rPr>
              <a:t>Rescale</a:t>
            </a:r>
            <a:endParaRPr lang="en-US" altLang="zh-CN" sz="1400" b="1" i="1"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965893" y="4321810"/>
            <a:ext cx="42595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/>
              <a:t>融合</a:t>
            </a:r>
            <a:r>
              <a:rPr lang="en-US" altLang="zh-CN" sz="1400" b="1"/>
              <a:t>6</a:t>
            </a:r>
            <a:r>
              <a:rPr lang="zh-CN" altLang="en-US" sz="1400" b="1"/>
              <a:t>个软件工程任务的性能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1" name="图形 39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205" y="1668780"/>
            <a:ext cx="756920" cy="756920"/>
          </a:xfrm>
          <a:prstGeom prst="rect">
            <a:avLst/>
          </a:prstGeom>
        </p:spPr>
      </p:pic>
      <p:sp>
        <p:nvSpPr>
          <p:cNvPr id="63" name="箭头: 下 27"/>
          <p:cNvSpPr/>
          <p:nvPr/>
        </p:nvSpPr>
        <p:spPr>
          <a:xfrm rot="17940000">
            <a:off x="1638753" y="2113843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64" name="箭头: 下 27"/>
          <p:cNvSpPr/>
          <p:nvPr/>
        </p:nvSpPr>
        <p:spPr>
          <a:xfrm rot="14580000">
            <a:off x="1677455" y="1206523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1" name="箭头: 下 27"/>
          <p:cNvSpPr/>
          <p:nvPr>
            <p:custDataLst>
              <p:tags r:id="rId11"/>
            </p:custDataLst>
          </p:nvPr>
        </p:nvSpPr>
        <p:spPr>
          <a:xfrm rot="16200000">
            <a:off x="6363970" y="1330325"/>
            <a:ext cx="85725" cy="44069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3" name="箭头: 下 27"/>
          <p:cNvSpPr/>
          <p:nvPr/>
        </p:nvSpPr>
        <p:spPr>
          <a:xfrm rot="16200000">
            <a:off x="4333217" y="1238663"/>
            <a:ext cx="72000" cy="432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4080510" y="1178560"/>
            <a:ext cx="61087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Scale up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70" name="组合 169"/>
          <p:cNvGrpSpPr/>
          <p:nvPr/>
        </p:nvGrpSpPr>
        <p:grpSpPr>
          <a:xfrm>
            <a:off x="1548573" y="1271266"/>
            <a:ext cx="288000" cy="288000"/>
            <a:chOff x="3957049" y="2239041"/>
            <a:chExt cx="570929" cy="518597"/>
          </a:xfrm>
        </p:grpSpPr>
        <p:pic>
          <p:nvPicPr>
            <p:cNvPr id="171" name="图形 440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172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173" name="图形 38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174" name="图形 15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562035" y="2142140"/>
            <a:ext cx="288000" cy="288000"/>
          </a:xfrm>
          <a:prstGeom prst="rect">
            <a:avLst/>
          </a:prstGeom>
        </p:spPr>
      </p:pic>
      <p:grpSp>
        <p:nvGrpSpPr>
          <p:cNvPr id="113" name="组合 112"/>
          <p:cNvGrpSpPr/>
          <p:nvPr/>
        </p:nvGrpSpPr>
        <p:grpSpPr>
          <a:xfrm>
            <a:off x="4789805" y="521335"/>
            <a:ext cx="3547110" cy="340360"/>
            <a:chOff x="7192" y="785"/>
            <a:chExt cx="5586" cy="536"/>
          </a:xfrm>
        </p:grpSpPr>
        <p:grpSp>
          <p:nvGrpSpPr>
            <p:cNvPr id="177" name="组合 176"/>
            <p:cNvGrpSpPr/>
            <p:nvPr/>
          </p:nvGrpSpPr>
          <p:grpSpPr>
            <a:xfrm rot="0">
              <a:off x="7192" y="868"/>
              <a:ext cx="454" cy="453"/>
              <a:chOff x="3957049" y="2239041"/>
              <a:chExt cx="570929" cy="518597"/>
            </a:xfrm>
          </p:grpSpPr>
          <p:pic>
            <p:nvPicPr>
              <p:cNvPr id="178" name="图形 440"/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957049" y="2239041"/>
                <a:ext cx="434982" cy="434980"/>
              </a:xfrm>
              <a:prstGeom prst="rect">
                <a:avLst/>
              </a:prstGeom>
            </p:spPr>
          </p:pic>
          <p:sp>
            <p:nvSpPr>
              <p:cNvPr id="179" name="任意多边形: 形状 37"/>
              <p:cNvSpPr/>
              <p:nvPr/>
            </p:nvSpPr>
            <p:spPr>
              <a:xfrm>
                <a:off x="4141654" y="2399302"/>
                <a:ext cx="337983" cy="330622"/>
              </a:xfrm>
              <a:custGeom>
                <a:avLst/>
                <a:gdLst>
                  <a:gd name="connsiteX0" fmla="*/ -432 w 326293"/>
                  <a:gd name="connsiteY0" fmla="*/ 171393 h 343466"/>
                  <a:gd name="connsiteX1" fmla="*/ 162715 w 326293"/>
                  <a:gd name="connsiteY1" fmla="*/ -340 h 343466"/>
                  <a:gd name="connsiteX2" fmla="*/ 325861 w 326293"/>
                  <a:gd name="connsiteY2" fmla="*/ 171393 h 343466"/>
                  <a:gd name="connsiteX3" fmla="*/ 162715 w 326293"/>
                  <a:gd name="connsiteY3" fmla="*/ 343126 h 343466"/>
                  <a:gd name="connsiteX4" fmla="*/ -432 w 326293"/>
                  <a:gd name="connsiteY4" fmla="*/ 171393 h 343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293" h="343466">
                    <a:moveTo>
                      <a:pt x="-432" y="171393"/>
                    </a:moveTo>
                    <a:cubicBezTo>
                      <a:pt x="-432" y="76548"/>
                      <a:pt x="72623" y="-340"/>
                      <a:pt x="162715" y="-340"/>
                    </a:cubicBezTo>
                    <a:cubicBezTo>
                      <a:pt x="252806" y="-340"/>
                      <a:pt x="325861" y="76548"/>
                      <a:pt x="325861" y="171393"/>
                    </a:cubicBezTo>
                    <a:cubicBezTo>
                      <a:pt x="325861" y="266238"/>
                      <a:pt x="252806" y="343126"/>
                      <a:pt x="162715" y="343126"/>
                    </a:cubicBezTo>
                    <a:cubicBezTo>
                      <a:pt x="72623" y="343126"/>
                      <a:pt x="-432" y="266238"/>
                      <a:pt x="-432" y="1713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3432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zh-CN" altLang="en-US" sz="1400"/>
              </a:p>
            </p:txBody>
          </p:sp>
          <p:pic>
            <p:nvPicPr>
              <p:cNvPr id="180" name="图形 38"/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152653" y="2408845"/>
                <a:ext cx="375325" cy="348793"/>
              </a:xfrm>
              <a:prstGeom prst="rect">
                <a:avLst/>
              </a:prstGeom>
            </p:spPr>
          </p:pic>
        </p:grpSp>
        <p:pic>
          <p:nvPicPr>
            <p:cNvPr id="181" name="图形 15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051" y="809"/>
              <a:ext cx="454" cy="453"/>
            </a:xfrm>
            <a:prstGeom prst="rect">
              <a:avLst/>
            </a:prstGeom>
          </p:spPr>
        </p:pic>
        <p:sp>
          <p:nvSpPr>
            <p:cNvPr id="184" name="文本框 183"/>
            <p:cNvSpPr txBox="1"/>
            <p:nvPr/>
          </p:nvSpPr>
          <p:spPr>
            <a:xfrm>
              <a:off x="10397" y="785"/>
              <a:ext cx="23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/>
                <a:t>Code Summarization</a:t>
              </a:r>
              <a:endParaRPr lang="en-US" altLang="zh-CN" sz="1200" b="1"/>
            </a:p>
          </p:txBody>
        </p:sp>
        <p:sp>
          <p:nvSpPr>
            <p:cNvPr id="185" name="文本框 184"/>
            <p:cNvSpPr txBox="1"/>
            <p:nvPr/>
          </p:nvSpPr>
          <p:spPr>
            <a:xfrm>
              <a:off x="7538" y="821"/>
              <a:ext cx="2859" cy="43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p>
              <a:pPr indent="0" fontAlgn="ctr"/>
              <a:r>
                <a:rPr lang="en-US" altLang="zh-CN" sz="1200" b="1"/>
                <a:t>Vul</a:t>
              </a:r>
              <a:r>
                <a:rPr lang="en-US" altLang="zh-CN" sz="1200" b="1"/>
                <a:t>nerability Detection</a:t>
              </a:r>
              <a:endParaRPr lang="en-US" altLang="zh-CN" sz="1200" b="1"/>
            </a:p>
          </p:txBody>
        </p:sp>
      </p:grpSp>
      <p:pic>
        <p:nvPicPr>
          <p:cNvPr id="227" name="图片 2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395" y="4628515"/>
            <a:ext cx="11966575" cy="1921510"/>
          </a:xfrm>
          <a:prstGeom prst="rect">
            <a:avLst/>
          </a:prstGeom>
        </p:spPr>
      </p:pic>
      <p:sp>
        <p:nvSpPr>
          <p:cNvPr id="18" name="箭头: 下 27"/>
          <p:cNvSpPr/>
          <p:nvPr/>
        </p:nvSpPr>
        <p:spPr>
          <a:xfrm rot="16200000">
            <a:off x="4333852" y="2584228"/>
            <a:ext cx="72000" cy="432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04310" y="2548890"/>
            <a:ext cx="78549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Maintain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52" name="箭头: 下 27"/>
          <p:cNvSpPr/>
          <p:nvPr>
            <p:custDataLst>
              <p:tags r:id="rId19"/>
            </p:custDataLst>
          </p:nvPr>
        </p:nvSpPr>
        <p:spPr>
          <a:xfrm rot="12360000">
            <a:off x="6332220" y="1574165"/>
            <a:ext cx="76200" cy="123571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186805" y="1285875"/>
            <a:ext cx="51943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Fusion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5" name="肘形连接符 54"/>
          <p:cNvCxnSpPr>
            <a:stCxn id="97" idx="3"/>
            <a:endCxn id="72" idx="2"/>
          </p:cNvCxnSpPr>
          <p:nvPr/>
        </p:nvCxnSpPr>
        <p:spPr>
          <a:xfrm>
            <a:off x="3681095" y="1412240"/>
            <a:ext cx="3733800" cy="1996440"/>
          </a:xfrm>
          <a:prstGeom prst="bentConnector4">
            <a:avLst>
              <a:gd name="adj1" fmla="val 5612"/>
              <a:gd name="adj2" fmla="val 11192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stCxn id="99" idx="3"/>
            <a:endCxn id="72" idx="2"/>
          </p:cNvCxnSpPr>
          <p:nvPr/>
        </p:nvCxnSpPr>
        <p:spPr>
          <a:xfrm>
            <a:off x="3684270" y="2720975"/>
            <a:ext cx="3730625" cy="687705"/>
          </a:xfrm>
          <a:prstGeom prst="bentConnector4">
            <a:avLst>
              <a:gd name="adj1" fmla="val 5565"/>
              <a:gd name="adj2" fmla="val 13462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5008096" y="3665849"/>
            <a:ext cx="158652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charset="-122"/>
                <a:ea typeface="微软雅黑" panose="020B0503020204020204" charset="-122"/>
                <a:rtl val="0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rPr>
              <a:t>Direct Max Fusion</a:t>
            </a:r>
            <a:endParaRPr lang="en-US" altLang="zh-CN" sz="1400" i="1">
              <a:solidFill>
                <a:schemeClr val="tx1"/>
              </a:solidFill>
              <a:latin typeface="+mn-lt"/>
              <a:ea typeface="+mn-ea"/>
              <a:sym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743383" y="3193415"/>
            <a:ext cx="1342390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indent="0" algn="ctr" fontAlgn="auto"/>
            <a:r>
              <a:rPr lang="en-US" altLang="zh-CN" sz="1400" b="1"/>
              <a:t>Fusion Params</a:t>
            </a:r>
            <a:endParaRPr lang="en-US" altLang="zh-CN" sz="1400" b="1"/>
          </a:p>
        </p:txBody>
      </p:sp>
      <p:sp>
        <p:nvSpPr>
          <p:cNvPr id="73" name="文本框 72"/>
          <p:cNvSpPr txBox="1"/>
          <p:nvPr/>
        </p:nvSpPr>
        <p:spPr>
          <a:xfrm>
            <a:off x="8277225" y="3207385"/>
            <a:ext cx="1170940" cy="215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en-US" altLang="zh-CN" sz="1400" b="1"/>
              <a:t>1-bit masks</a:t>
            </a:r>
            <a:endParaRPr lang="en-US" altLang="zh-CN" sz="1400" b="1"/>
          </a:p>
        </p:txBody>
      </p:sp>
      <p:sp>
        <p:nvSpPr>
          <p:cNvPr id="95" name="文本框 94"/>
          <p:cNvSpPr txBox="1"/>
          <p:nvPr/>
        </p:nvSpPr>
        <p:spPr>
          <a:xfrm>
            <a:off x="3965893" y="4321810"/>
            <a:ext cx="42595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/>
              <a:t>融合</a:t>
            </a:r>
            <a:r>
              <a:rPr lang="en-US" altLang="zh-CN" sz="1400" b="1"/>
              <a:t>6</a:t>
            </a:r>
            <a:r>
              <a:rPr lang="zh-CN" altLang="en-US" sz="1400" b="1"/>
              <a:t>个软件工程任务的性能</a:t>
            </a:r>
            <a:endParaRPr lang="zh-CN" altLang="en-US" sz="1400" b="1"/>
          </a:p>
        </p:txBody>
      </p:sp>
      <p:grpSp>
        <p:nvGrpSpPr>
          <p:cNvPr id="9" name="组合 8"/>
          <p:cNvGrpSpPr/>
          <p:nvPr/>
        </p:nvGrpSpPr>
        <p:grpSpPr>
          <a:xfrm>
            <a:off x="2105025" y="909955"/>
            <a:ext cx="1576070" cy="1004570"/>
            <a:chOff x="3315" y="1370"/>
            <a:chExt cx="2482" cy="1582"/>
          </a:xfrm>
        </p:grpSpPr>
        <p:graphicFrame>
          <p:nvGraphicFramePr>
            <p:cNvPr id="97" name="图表 96"/>
            <p:cNvGraphicFramePr/>
            <p:nvPr/>
          </p:nvGraphicFramePr>
          <p:xfrm>
            <a:off x="3315" y="1370"/>
            <a:ext cx="2482" cy="15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98" name="矩形 97"/>
            <p:cNvSpPr/>
            <p:nvPr/>
          </p:nvSpPr>
          <p:spPr>
            <a:xfrm flipV="1">
              <a:off x="3845" y="2738"/>
              <a:ext cx="1644" cy="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08200" y="2199005"/>
            <a:ext cx="1576070" cy="1044000"/>
            <a:chOff x="3320" y="3411"/>
            <a:chExt cx="2482" cy="1582"/>
          </a:xfrm>
        </p:grpSpPr>
        <p:graphicFrame>
          <p:nvGraphicFramePr>
            <p:cNvPr id="99" name="图表 98"/>
            <p:cNvGraphicFramePr/>
            <p:nvPr/>
          </p:nvGraphicFramePr>
          <p:xfrm>
            <a:off x="3320" y="3411"/>
            <a:ext cx="2482" cy="15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00" name="矩形 99"/>
            <p:cNvSpPr/>
            <p:nvPr/>
          </p:nvSpPr>
          <p:spPr>
            <a:xfrm flipV="1">
              <a:off x="3851" y="4778"/>
              <a:ext cx="1644" cy="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102" name="图表 101"/>
          <p:cNvGraphicFramePr/>
          <p:nvPr/>
        </p:nvGraphicFramePr>
        <p:xfrm>
          <a:off x="6626543" y="2199005"/>
          <a:ext cx="1576070" cy="1004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3" name="矩形 102"/>
          <p:cNvSpPr/>
          <p:nvPr/>
        </p:nvSpPr>
        <p:spPr>
          <a:xfrm flipV="1">
            <a:off x="6986905" y="3070225"/>
            <a:ext cx="1044000" cy="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667885" y="909955"/>
            <a:ext cx="1576070" cy="1004570"/>
            <a:chOff x="7364" y="1570"/>
            <a:chExt cx="2482" cy="1582"/>
          </a:xfrm>
        </p:grpSpPr>
        <p:graphicFrame>
          <p:nvGraphicFramePr>
            <p:cNvPr id="4" name="图表 3"/>
            <p:cNvGraphicFramePr/>
            <p:nvPr/>
          </p:nvGraphicFramePr>
          <p:xfrm>
            <a:off x="7364" y="1570"/>
            <a:ext cx="2482" cy="15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" name="矩形 5"/>
            <p:cNvSpPr/>
            <p:nvPr/>
          </p:nvSpPr>
          <p:spPr>
            <a:xfrm flipV="1">
              <a:off x="7894" y="2938"/>
              <a:ext cx="1644" cy="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667885" y="2199005"/>
            <a:ext cx="1576070" cy="1004570"/>
            <a:chOff x="3320" y="3411"/>
            <a:chExt cx="2482" cy="1582"/>
          </a:xfrm>
        </p:grpSpPr>
        <p:graphicFrame>
          <p:nvGraphicFramePr>
            <p:cNvPr id="16" name="图表 15"/>
            <p:cNvGraphicFramePr/>
            <p:nvPr/>
          </p:nvGraphicFramePr>
          <p:xfrm>
            <a:off x="3320" y="3411"/>
            <a:ext cx="2482" cy="15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2" name="矩形 21"/>
            <p:cNvSpPr/>
            <p:nvPr/>
          </p:nvSpPr>
          <p:spPr>
            <a:xfrm flipV="1">
              <a:off x="3851" y="4778"/>
              <a:ext cx="1644" cy="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626543" y="949960"/>
            <a:ext cx="1576070" cy="1004570"/>
            <a:chOff x="7364" y="1570"/>
            <a:chExt cx="2482" cy="1582"/>
          </a:xfrm>
        </p:grpSpPr>
        <p:graphicFrame>
          <p:nvGraphicFramePr>
            <p:cNvPr id="26" name="图表 25"/>
            <p:cNvGraphicFramePr/>
            <p:nvPr/>
          </p:nvGraphicFramePr>
          <p:xfrm>
            <a:off x="7364" y="1570"/>
            <a:ext cx="2482" cy="15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27" name="矩形 26"/>
            <p:cNvSpPr/>
            <p:nvPr/>
          </p:nvSpPr>
          <p:spPr>
            <a:xfrm flipV="1">
              <a:off x="7894" y="2938"/>
              <a:ext cx="1644" cy="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aphicFrame>
        <p:nvGraphicFramePr>
          <p:cNvPr id="32" name="表格 31"/>
          <p:cNvGraphicFramePr>
            <a:graphicFrameLocks noGrp="1"/>
          </p:cNvGraphicFramePr>
          <p:nvPr>
            <p:custDataLst>
              <p:tags r:id="rId20"/>
            </p:custDataLst>
          </p:nvPr>
        </p:nvGraphicFramePr>
        <p:xfrm>
          <a:off x="8180070" y="2850515"/>
          <a:ext cx="1296000" cy="2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"/>
                <a:gridCol w="216000"/>
                <a:gridCol w="216000"/>
                <a:gridCol w="216000"/>
                <a:gridCol w="216000"/>
                <a:gridCol w="216000"/>
              </a:tblGrid>
              <a:tr h="21600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pic>
        <p:nvPicPr>
          <p:cNvPr id="33" name="图形 15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76105" y="2854960"/>
            <a:ext cx="216000" cy="215524"/>
          </a:xfrm>
          <a:prstGeom prst="rect">
            <a:avLst/>
          </a:prstGeom>
        </p:spPr>
      </p:pic>
      <p:graphicFrame>
        <p:nvGraphicFramePr>
          <p:cNvPr id="34" name="表格 33"/>
          <p:cNvGraphicFramePr>
            <a:graphicFrameLocks noGrp="1"/>
          </p:cNvGraphicFramePr>
          <p:nvPr>
            <p:custDataLst>
              <p:tags r:id="rId21"/>
            </p:custDataLst>
          </p:nvPr>
        </p:nvGraphicFramePr>
        <p:xfrm>
          <a:off x="8180070" y="2430145"/>
          <a:ext cx="1296000" cy="2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"/>
                <a:gridCol w="216000"/>
                <a:gridCol w="216000"/>
                <a:gridCol w="216000"/>
                <a:gridCol w="216000"/>
                <a:gridCol w="216000"/>
              </a:tblGrid>
              <a:tr h="21600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35" name="组合 34"/>
          <p:cNvGrpSpPr/>
          <p:nvPr/>
        </p:nvGrpSpPr>
        <p:grpSpPr>
          <a:xfrm rot="0">
            <a:off x="9504045" y="2430145"/>
            <a:ext cx="216000" cy="216000"/>
            <a:chOff x="3957049" y="2239041"/>
            <a:chExt cx="570929" cy="518597"/>
          </a:xfrm>
        </p:grpSpPr>
        <p:pic>
          <p:nvPicPr>
            <p:cNvPr id="36" name="图形 440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37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40" name="图形 38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51" name="表格 50"/>
          <p:cNvGraphicFramePr>
            <a:graphicFrameLocks noGrp="1"/>
          </p:cNvGraphicFramePr>
          <p:nvPr>
            <p:custDataLst>
              <p:tags r:id="rId22"/>
            </p:custDataLst>
          </p:nvPr>
        </p:nvGraphicFramePr>
        <p:xfrm>
          <a:off x="8180070" y="1543685"/>
          <a:ext cx="1296000" cy="2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"/>
                <a:gridCol w="216000"/>
                <a:gridCol w="216000"/>
                <a:gridCol w="216000"/>
                <a:gridCol w="216000"/>
                <a:gridCol w="216000"/>
              </a:tblGrid>
              <a:tr h="21600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pic>
        <p:nvPicPr>
          <p:cNvPr id="53" name="图形 15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76105" y="1543685"/>
            <a:ext cx="216000" cy="215524"/>
          </a:xfrm>
          <a:prstGeom prst="rect">
            <a:avLst/>
          </a:prstGeom>
        </p:spPr>
      </p:pic>
      <p:graphicFrame>
        <p:nvGraphicFramePr>
          <p:cNvPr id="57" name="表格 56"/>
          <p:cNvGraphicFramePr>
            <a:graphicFrameLocks noGrp="1"/>
          </p:cNvGraphicFramePr>
          <p:nvPr>
            <p:custDataLst>
              <p:tags r:id="rId23"/>
            </p:custDataLst>
          </p:nvPr>
        </p:nvGraphicFramePr>
        <p:xfrm>
          <a:off x="8180070" y="1202690"/>
          <a:ext cx="1296000" cy="2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000"/>
                <a:gridCol w="216000"/>
                <a:gridCol w="216000"/>
                <a:gridCol w="216000"/>
                <a:gridCol w="216000"/>
                <a:gridCol w="216000"/>
              </a:tblGrid>
              <a:tr h="21600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grpSp>
        <p:nvGrpSpPr>
          <p:cNvPr id="58" name="组合 57"/>
          <p:cNvGrpSpPr/>
          <p:nvPr/>
        </p:nvGrpSpPr>
        <p:grpSpPr>
          <a:xfrm rot="0">
            <a:off x="9497060" y="1196340"/>
            <a:ext cx="216000" cy="216000"/>
            <a:chOff x="3957049" y="2239041"/>
            <a:chExt cx="570929" cy="518597"/>
          </a:xfrm>
        </p:grpSpPr>
        <p:pic>
          <p:nvPicPr>
            <p:cNvPr id="60" name="图形 440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61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62" name="图形 38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82" name="箭头: 下 27"/>
          <p:cNvSpPr/>
          <p:nvPr>
            <p:custDataLst>
              <p:tags r:id="rId24"/>
            </p:custDataLst>
          </p:nvPr>
        </p:nvSpPr>
        <p:spPr>
          <a:xfrm rot="16200000">
            <a:off x="9949815" y="1263015"/>
            <a:ext cx="76835" cy="4432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671685" y="969010"/>
            <a:ext cx="727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/>
              <a:t>Exract </a:t>
            </a:r>
            <a:endParaRPr lang="en-US" altLang="zh-CN" sz="1400" b="1" i="1"/>
          </a:p>
          <a:p>
            <a:r>
              <a:rPr lang="en-US" altLang="zh-CN" sz="1400" b="1" i="1"/>
              <a:t>for</a:t>
            </a:r>
            <a:endParaRPr lang="en-US" altLang="zh-CN" sz="1400" b="1" i="1"/>
          </a:p>
        </p:txBody>
      </p:sp>
      <p:grpSp>
        <p:nvGrpSpPr>
          <p:cNvPr id="92" name="组合 91"/>
          <p:cNvGrpSpPr>
            <a:grpSpLocks noChangeAspect="1"/>
          </p:cNvGrpSpPr>
          <p:nvPr/>
        </p:nvGrpSpPr>
        <p:grpSpPr>
          <a:xfrm>
            <a:off x="9999678" y="1267673"/>
            <a:ext cx="198164" cy="180000"/>
            <a:chOff x="3957049" y="2239041"/>
            <a:chExt cx="570929" cy="518597"/>
          </a:xfrm>
        </p:grpSpPr>
        <p:pic>
          <p:nvPicPr>
            <p:cNvPr id="96" name="图形 35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101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104" name="图形 39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10209848" y="909955"/>
            <a:ext cx="1576070" cy="1004570"/>
            <a:chOff x="7364" y="1570"/>
            <a:chExt cx="2482" cy="1582"/>
          </a:xfrm>
        </p:grpSpPr>
        <p:graphicFrame>
          <p:nvGraphicFramePr>
            <p:cNvPr id="106" name="图表 105"/>
            <p:cNvGraphicFramePr/>
            <p:nvPr/>
          </p:nvGraphicFramePr>
          <p:xfrm>
            <a:off x="7364" y="1570"/>
            <a:ext cx="2482" cy="15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107" name="矩形 106"/>
            <p:cNvSpPr/>
            <p:nvPr/>
          </p:nvSpPr>
          <p:spPr>
            <a:xfrm flipV="1">
              <a:off x="7894" y="2938"/>
              <a:ext cx="1644" cy="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10209848" y="2276475"/>
            <a:ext cx="1576070" cy="1004570"/>
            <a:chOff x="7364" y="1570"/>
            <a:chExt cx="2482" cy="1582"/>
          </a:xfrm>
        </p:grpSpPr>
        <p:graphicFrame>
          <p:nvGraphicFramePr>
            <p:cNvPr id="109" name="图表 108"/>
            <p:cNvGraphicFramePr/>
            <p:nvPr/>
          </p:nvGraphicFramePr>
          <p:xfrm>
            <a:off x="7364" y="1570"/>
            <a:ext cx="2482" cy="15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10" name="矩形 109"/>
            <p:cNvSpPr/>
            <p:nvPr/>
          </p:nvSpPr>
          <p:spPr>
            <a:xfrm flipV="1">
              <a:off x="7894" y="2938"/>
              <a:ext cx="1644" cy="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1" name="箭头: 下 27"/>
          <p:cNvSpPr/>
          <p:nvPr>
            <p:custDataLst>
              <p:tags r:id="rId29"/>
            </p:custDataLst>
          </p:nvPr>
        </p:nvSpPr>
        <p:spPr>
          <a:xfrm>
            <a:off x="10968355" y="1922145"/>
            <a:ext cx="76835" cy="360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11071860" y="1954530"/>
            <a:ext cx="831850" cy="30670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p>
            <a:r>
              <a:rPr lang="en-US" altLang="zh-CN" sz="1400" b="1" i="1">
                <a:sym typeface="+mn-ea"/>
              </a:rPr>
              <a:t>Rescale</a:t>
            </a:r>
            <a:endParaRPr lang="en-US" altLang="zh-CN" sz="1400" b="1" i="1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5*34"/>
  <p:tag name="TABLE_ENDDRAG_RECT" val="127*280*35*34"/>
</p:tagLst>
</file>

<file path=ppt/tags/tag2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3.xml><?xml version="1.0" encoding="utf-8"?>
<p:tagLst xmlns:p="http://schemas.openxmlformats.org/presentationml/2006/main">
  <p:tag name="TABLE_ENDDRAG_ORIGIN_RECT" val="35*34"/>
  <p:tag name="TABLE_ENDDRAG_RECT" val="175*280*35*34"/>
</p:tagLst>
</file>

<file path=ppt/tags/tag4.xml><?xml version="1.0" encoding="utf-8"?>
<p:tagLst xmlns:p="http://schemas.openxmlformats.org/presentationml/2006/main">
  <p:tag name="TABLE_ENDDRAG_ORIGIN_RECT" val="35*34"/>
  <p:tag name="TABLE_ENDDRAG_RECT" val="127*280*35*34"/>
</p:tagLst>
</file>

<file path=ppt/tags/tag5.xml><?xml version="1.0" encoding="utf-8"?>
<p:tagLst xmlns:p="http://schemas.openxmlformats.org/presentationml/2006/main">
  <p:tag name="TABLE_ENDDRAG_ORIGIN_RECT" val="35*34"/>
  <p:tag name="TABLE_ENDDRAG_RECT" val="175*280*35*34"/>
</p:tagLst>
</file>

<file path=ppt/tags/tag6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7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9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0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11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2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3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4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5.xml><?xml version="1.0" encoding="utf-8"?>
<p:tagLst xmlns:p="http://schemas.openxmlformats.org/presentationml/2006/main">
  <p:tag name="TABLE_ENDDRAG_ORIGIN_RECT" val="35*34"/>
  <p:tag name="TABLE_ENDDRAG_RECT" val="372*280*35*34"/>
</p:tagLst>
</file>

<file path=ppt/tags/tag16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7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9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1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2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3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4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6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7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9.xml><?xml version="1.0" encoding="utf-8"?>
<p:tagLst xmlns:p="http://schemas.openxmlformats.org/presentationml/2006/main">
  <p:tag name="TABLE_ENDDRAG_ORIGIN_RECT" val="35*34"/>
  <p:tag name="TABLE_ENDDRAG_RECT" val="841*277*35*34"/>
</p:tagLst>
</file>

<file path=ppt/tags/tag3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31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32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33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34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3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36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37.xml><?xml version="1.0" encoding="utf-8"?>
<p:tagLst xmlns:p="http://schemas.openxmlformats.org/presentationml/2006/main">
  <p:tag name="TABLE_ENDDRAG_ORIGIN_RECT" val="36*34"/>
  <p:tag name="TABLE_ENDDRAG_RECT" val="680*277*36*34"/>
</p:tagLst>
</file>

<file path=ppt/tags/tag38.xml><?xml version="1.0" encoding="utf-8"?>
<p:tagLst xmlns:p="http://schemas.openxmlformats.org/presentationml/2006/main">
  <p:tag name="TABLE_ENDDRAG_ORIGIN_RECT" val="35*34"/>
  <p:tag name="TABLE_ENDDRAG_RECT" val="718*277*35*34"/>
</p:tagLst>
</file>

<file path=ppt/tags/tag39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1.xml><?xml version="1.0" encoding="utf-8"?>
<p:tagLst xmlns:p="http://schemas.openxmlformats.org/presentationml/2006/main">
  <p:tag name="TABLE_ENDDRAG_ORIGIN_RECT" val="35*34"/>
  <p:tag name="TABLE_ENDDRAG_RECT" val="372*280*35*34"/>
</p:tagLst>
</file>

<file path=ppt/tags/tag42.xml><?xml version="1.0" encoding="utf-8"?>
<p:tagLst xmlns:p="http://schemas.openxmlformats.org/presentationml/2006/main">
  <p:tag name="TABLE_ENDDRAG_ORIGIN_RECT" val="35*34"/>
  <p:tag name="TABLE_ENDDRAG_RECT" val="127*280*35*34"/>
</p:tagLst>
</file>

<file path=ppt/tags/tag43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4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6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7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4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9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1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2.xml><?xml version="1.0" encoding="utf-8"?>
<p:tagLst xmlns:p="http://schemas.openxmlformats.org/presentationml/2006/main">
  <p:tag name="TABLE_ENDDRAG_ORIGIN_RECT" val="35*34"/>
  <p:tag name="TABLE_ENDDRAG_RECT" val="372*280*35*34"/>
</p:tagLst>
</file>

<file path=ppt/tags/tag53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4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6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57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9.xml><?xml version="1.0" encoding="utf-8"?>
<p:tagLst xmlns:p="http://schemas.openxmlformats.org/presentationml/2006/main">
  <p:tag name="TABLE_ENDDRAG_ORIGIN_RECT" val="35*34"/>
  <p:tag name="TABLE_ENDDRAG_RECT" val="127*280*35*34"/>
</p:tagLst>
</file>

<file path=ppt/tags/tag6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61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62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63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64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6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66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67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6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69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7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71.xml><?xml version="1.0" encoding="utf-8"?>
<p:tagLst xmlns:p="http://schemas.openxmlformats.org/presentationml/2006/main">
  <p:tag name="TABLE_ENDDRAG_ORIGIN_RECT" val="86*10"/>
  <p:tag name="TABLE_ENDDRAG_RECT" val="644*224*86*10"/>
</p:tagLst>
</file>

<file path=ppt/tags/tag72.xml><?xml version="1.0" encoding="utf-8"?>
<p:tagLst xmlns:p="http://schemas.openxmlformats.org/presentationml/2006/main">
  <p:tag name="TABLE_ENDDRAG_ORIGIN_RECT" val="86*10"/>
  <p:tag name="TABLE_ENDDRAG_RECT" val="644*224*86*10"/>
</p:tagLst>
</file>

<file path=ppt/tags/tag73.xml><?xml version="1.0" encoding="utf-8"?>
<p:tagLst xmlns:p="http://schemas.openxmlformats.org/presentationml/2006/main">
  <p:tag name="TABLE_ENDDRAG_ORIGIN_RECT" val="86*10"/>
  <p:tag name="TABLE_ENDDRAG_RECT" val="644*224*86*10"/>
</p:tagLst>
</file>

<file path=ppt/tags/tag74.xml><?xml version="1.0" encoding="utf-8"?>
<p:tagLst xmlns:p="http://schemas.openxmlformats.org/presentationml/2006/main">
  <p:tag name="TABLE_ENDDRAG_ORIGIN_RECT" val="86*10"/>
  <p:tag name="TABLE_ENDDRAG_RECT" val="644*224*86*10"/>
</p:tagLst>
</file>

<file path=ppt/tags/tag7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76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WPS 演示</Application>
  <PresentationFormat>宽屏</PresentationFormat>
  <Paragraphs>92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钢</cp:lastModifiedBy>
  <cp:revision>11</cp:revision>
  <dcterms:created xsi:type="dcterms:W3CDTF">2023-08-09T12:44:00Z</dcterms:created>
  <dcterms:modified xsi:type="dcterms:W3CDTF">2025-12-13T12:40:48Z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B27AFF7E0234414993FB5C9C5FA83BD5_12</vt:lpwstr>
  </property>
</Properties>
</file>