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2.svg" ContentType="image/svg+xml"/>
  <Override PartName="/ppt/media/image14.svg" ContentType="image/svg+xml"/>
  <Override PartName="/ppt/media/image19.svg" ContentType="image/svg+xml"/>
  <Override PartName="/ppt/media/image2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1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5" r:id="rId3"/>
  </p:sldMasterIdLst>
  <p:notesMasterIdLst>
    <p:notesMasterId r:id="rId5"/>
  </p:notesMasterIdLst>
  <p:handoutMasterIdLst>
    <p:handoutMasterId r:id="rId11"/>
  </p:handoutMasterIdLst>
  <p:sldIdLst>
    <p:sldId id="404" r:id="rId4"/>
    <p:sldId id="406" r:id="rId6"/>
    <p:sldId id="405" r:id="rId7"/>
    <p:sldId id="407" r:id="rId8"/>
    <p:sldId id="408" r:id="rId9"/>
    <p:sldId id="409" r:id="rId10"/>
  </p:sldIdLst>
  <p:sldSz cx="18000345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7E3EF657-181C-4883-9D5A-AB9F1355040F}">
          <p14:sldIdLst>
            <p14:sldId id="404"/>
            <p14:sldId id="406"/>
            <p14:sldId id="405"/>
            <p14:sldId id="407"/>
            <p14:sldId id="408"/>
            <p14:sldId id="409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59A"/>
    <a:srgbClr val="FFFDB8"/>
    <a:srgbClr val="BFE6D1"/>
    <a:srgbClr val="FFC266"/>
    <a:srgbClr val="ABADFB"/>
    <a:srgbClr val="39B273"/>
    <a:srgbClr val="FF9900"/>
    <a:srgbClr val="C9D6FF"/>
    <a:srgbClr val="FFFC89"/>
    <a:srgbClr val="B8B8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494" autoAdjust="0"/>
    <p:restoredTop sz="78403" autoAdjust="0"/>
  </p:normalViewPr>
  <p:slideViewPr>
    <p:cSldViewPr snapToGrid="0">
      <p:cViewPr varScale="1">
        <p:scale>
          <a:sx n="70" d="100"/>
          <a:sy n="70" d="100"/>
        </p:scale>
        <p:origin x="48" y="32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-528"/>
    </p:cViewPr>
  </p:sorterViewPr>
  <p:notesViewPr>
    <p:cSldViewPr snapToGrid="0">
      <p:cViewPr varScale="1">
        <p:scale>
          <a:sx n="64" d="100"/>
          <a:sy n="64" d="100"/>
        </p:scale>
        <p:origin x="319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A95C1-E06F-4CA8-8396-75D76C7FF34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CDBA3F-305F-43D9-8EEC-18859E489F8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D20703-AF86-4F31-B9FB-F7B8355B7A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-620713" y="1143000"/>
            <a:ext cx="8099426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8741DC-E11E-424D-8624-63C2B9FB9B1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620713" y="1143000"/>
            <a:ext cx="8099426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34C0232-94FA-4EBE-BB9B-79FBE4860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620713" y="1143000"/>
            <a:ext cx="8099426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34C0232-94FA-4EBE-BB9B-79FBE4860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620713" y="1143000"/>
            <a:ext cx="8099426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34C0232-94FA-4EBE-BB9B-79FBE4860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620713" y="1143000"/>
            <a:ext cx="8099426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34C0232-94FA-4EBE-BB9B-79FBE4860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620713" y="1143000"/>
            <a:ext cx="8099426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34C0232-94FA-4EBE-BB9B-79FBE4860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620713" y="1143000"/>
            <a:ext cx="8099426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34C0232-94FA-4EBE-BB9B-79FBE4860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Click="0" advTm="5000">
        <p14:ripple/>
      </p:transition>
    </mc:Choice>
    <mc:Fallback>
      <p:transition spd="slow" advClick="0" advTm="5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Click="0" advTm="5000">
        <p14:doors dir="vert"/>
      </p:transition>
    </mc:Choice>
    <mc:Fallback>
      <p:transition spd="slow" advClick="0" advTm="5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过度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 advClick="0" advTm="5000">
        <p14:warp dir="in"/>
      </p:transition>
    </mc:Choice>
    <mc:Fallback>
      <p:transition spd="slow" advClick="0" advTm="50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1"/>
          <p:cNvSpPr/>
          <p:nvPr userDrawn="1"/>
        </p:nvSpPr>
        <p:spPr>
          <a:xfrm rot="2603202">
            <a:off x="496977" y="165885"/>
            <a:ext cx="694261" cy="470228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1" rIns="121920" bIns="60961" rtlCol="0" anchor="ctr"/>
          <a:lstStyle/>
          <a:p>
            <a:pPr algn="ctr"/>
            <a:endParaRPr lang="zh-CN" altLang="en-US" sz="3200"/>
          </a:p>
        </p:txBody>
      </p:sp>
      <p:sp>
        <p:nvSpPr>
          <p:cNvPr id="3" name="Line 9"/>
          <p:cNvSpPr>
            <a:spLocks noChangeShapeType="1"/>
          </p:cNvSpPr>
          <p:nvPr userDrawn="1"/>
        </p:nvSpPr>
        <p:spPr bwMode="auto">
          <a:xfrm>
            <a:off x="1189767" y="695491"/>
            <a:ext cx="16812979" cy="0"/>
          </a:xfrm>
          <a:prstGeom prst="line">
            <a:avLst/>
          </a:prstGeom>
          <a:ln w="28575">
            <a:gradFill>
              <a:gsLst>
                <a:gs pos="0">
                  <a:schemeClr val="tx1">
                    <a:lumMod val="35000"/>
                    <a:lumOff val="65000"/>
                  </a:schemeClr>
                </a:gs>
                <a:gs pos="100000">
                  <a:schemeClr val="bg1"/>
                </a:gs>
              </a:gsLst>
              <a:lin ang="5400000" scaled="0"/>
            </a:gradFill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wrap="square" lIns="121920" tIns="60961" rIns="121920" bIns="60961" numCol="1" anchor="t" anchorCtr="0" compatLnSpc="1"/>
          <a:lstStyle/>
          <a:p>
            <a:pPr>
              <a:lnSpc>
                <a:spcPct val="120000"/>
              </a:lnSpc>
            </a:pPr>
            <a:endParaRPr lang="zh-CN" altLang="en-US" sz="320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圆角矩形 13"/>
          <p:cNvSpPr/>
          <p:nvPr userDrawn="1"/>
        </p:nvSpPr>
        <p:spPr>
          <a:xfrm rot="2634344">
            <a:off x="814143" y="237849"/>
            <a:ext cx="606146" cy="410548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1" rIns="121920" bIns="60961" rtlCol="0" anchor="ctr"/>
          <a:lstStyle/>
          <a:p>
            <a:pPr algn="ctr"/>
            <a:endParaRPr lang="zh-CN" altLang="en-US" sz="32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5000">
        <p14:prism isInverted="1"/>
      </p:transition>
    </mc:Choice>
    <mc:Fallback>
      <p:transition spd="slow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内页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Click="0" advTm="5000">
        <p14:switch dir="r"/>
      </p:transition>
    </mc:Choice>
    <mc:Fallback>
      <p:transition spd="slow" advClick="0" advTm="5000">
        <p:fade/>
      </p:transition>
    </mc:Fallback>
  </mc:AlternateContent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内页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1"/>
          <p:cNvSpPr/>
          <p:nvPr userDrawn="1"/>
        </p:nvSpPr>
        <p:spPr>
          <a:xfrm rot="2603202">
            <a:off x="496977" y="165885"/>
            <a:ext cx="694261" cy="470228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1" rIns="121920" bIns="60961" rtlCol="0" anchor="ctr"/>
          <a:lstStyle/>
          <a:p>
            <a:pPr algn="ctr"/>
            <a:endParaRPr lang="zh-CN" altLang="en-US" sz="3200"/>
          </a:p>
        </p:txBody>
      </p:sp>
      <p:sp>
        <p:nvSpPr>
          <p:cNvPr id="3" name="Line 9"/>
          <p:cNvSpPr>
            <a:spLocks noChangeShapeType="1"/>
          </p:cNvSpPr>
          <p:nvPr userDrawn="1"/>
        </p:nvSpPr>
        <p:spPr bwMode="auto">
          <a:xfrm>
            <a:off x="1189767" y="695491"/>
            <a:ext cx="16812979" cy="0"/>
          </a:xfrm>
          <a:prstGeom prst="line">
            <a:avLst/>
          </a:prstGeom>
          <a:ln w="28575">
            <a:gradFill>
              <a:gsLst>
                <a:gs pos="0">
                  <a:schemeClr val="tx1">
                    <a:lumMod val="35000"/>
                    <a:lumOff val="65000"/>
                  </a:schemeClr>
                </a:gs>
                <a:gs pos="100000">
                  <a:schemeClr val="bg1"/>
                </a:gs>
              </a:gsLst>
              <a:lin ang="5400000" scaled="0"/>
            </a:gradFill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wrap="square" lIns="121920" tIns="60961" rIns="121920" bIns="60961" numCol="1" anchor="t" anchorCtr="0" compatLnSpc="1"/>
          <a:lstStyle/>
          <a:p>
            <a:pPr>
              <a:lnSpc>
                <a:spcPct val="120000"/>
              </a:lnSpc>
            </a:pPr>
            <a:endParaRPr lang="zh-CN" altLang="en-US" sz="320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圆角矩形 13"/>
          <p:cNvSpPr/>
          <p:nvPr userDrawn="1"/>
        </p:nvSpPr>
        <p:spPr>
          <a:xfrm rot="2634344">
            <a:off x="814143" y="237849"/>
            <a:ext cx="606146" cy="410548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1" rIns="121920" bIns="60961" rtlCol="0" anchor="ctr"/>
          <a:lstStyle/>
          <a:p>
            <a:pPr algn="ctr"/>
            <a:endParaRPr lang="zh-CN" altLang="en-US" sz="32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Click="0" advTm="5000">
        <p14:flip dir="r"/>
      </p:transition>
    </mc:Choice>
    <mc:Fallback>
      <p:transition spd="slow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内页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1"/>
          <p:cNvSpPr/>
          <p:nvPr userDrawn="1"/>
        </p:nvSpPr>
        <p:spPr>
          <a:xfrm rot="2603202">
            <a:off x="496977" y="165885"/>
            <a:ext cx="694261" cy="470228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1" rIns="121920" bIns="60961" rtlCol="0" anchor="ctr"/>
          <a:lstStyle/>
          <a:p>
            <a:pPr algn="ctr"/>
            <a:endParaRPr lang="zh-CN" altLang="en-US" sz="3200"/>
          </a:p>
        </p:txBody>
      </p:sp>
      <p:sp>
        <p:nvSpPr>
          <p:cNvPr id="3" name="Line 9"/>
          <p:cNvSpPr>
            <a:spLocks noChangeShapeType="1"/>
          </p:cNvSpPr>
          <p:nvPr userDrawn="1"/>
        </p:nvSpPr>
        <p:spPr bwMode="auto">
          <a:xfrm>
            <a:off x="1189767" y="695491"/>
            <a:ext cx="16812979" cy="0"/>
          </a:xfrm>
          <a:prstGeom prst="line">
            <a:avLst/>
          </a:prstGeom>
          <a:ln w="28575">
            <a:gradFill>
              <a:gsLst>
                <a:gs pos="0">
                  <a:schemeClr val="tx1">
                    <a:lumMod val="35000"/>
                    <a:lumOff val="65000"/>
                  </a:schemeClr>
                </a:gs>
                <a:gs pos="100000">
                  <a:schemeClr val="bg1"/>
                </a:gs>
              </a:gsLst>
              <a:lin ang="5400000" scaled="0"/>
            </a:gradFill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wrap="square" lIns="121920" tIns="60961" rIns="121920" bIns="60961" numCol="1" anchor="t" anchorCtr="0" compatLnSpc="1"/>
          <a:lstStyle/>
          <a:p>
            <a:pPr>
              <a:lnSpc>
                <a:spcPct val="120000"/>
              </a:lnSpc>
            </a:pPr>
            <a:endParaRPr lang="zh-CN" altLang="en-US" sz="320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圆角矩形 13"/>
          <p:cNvSpPr/>
          <p:nvPr userDrawn="1"/>
        </p:nvSpPr>
        <p:spPr>
          <a:xfrm rot="2634344">
            <a:off x="814143" y="237849"/>
            <a:ext cx="606146" cy="410548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1" rIns="121920" bIns="60961" rtlCol="0" anchor="ctr"/>
          <a:lstStyle/>
          <a:p>
            <a:pPr algn="ctr"/>
            <a:endParaRPr lang="zh-CN" altLang="en-US" sz="32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5000">
        <p14:gallery dir="l"/>
      </p:transition>
    </mc:Choice>
    <mc:Fallback>
      <p:transition spd="slow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 advClick="0" advTm="5000">
        <p14:warp dir="in"/>
      </p:transition>
    </mc:Choice>
    <mc:Fallback>
      <p:transition spd="slow" advClick="0" advTm="500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版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5000">
        <p:blinds dir="vert"/>
      </p:transition>
    </mc:Choice>
    <mc:Fallback>
      <p:transition spd="slow" advClick="0" advTm="5000">
        <p:blinds dir="vert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37546" y="365126"/>
            <a:ext cx="15525572" cy="1325563"/>
          </a:xfrm>
          <a:prstGeom prst="rect">
            <a:avLst/>
          </a:prstGeom>
        </p:spPr>
        <p:txBody>
          <a:bodyPr lIns="121917" tIns="60958" rIns="121917" bIns="60958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1237546" y="6356352"/>
            <a:ext cx="4050149" cy="365125"/>
          </a:xfrm>
          <a:prstGeom prst="rect">
            <a:avLst/>
          </a:prstGeom>
        </p:spPr>
        <p:txBody>
          <a:bodyPr lIns="121917" tIns="60958" rIns="121917" bIns="60958"/>
          <a:lstStyle>
            <a:lvl1pPr>
              <a:defRPr/>
            </a:lvl1pPr>
          </a:lstStyle>
          <a:p>
            <a:fld id="{80F42DC0-2E3F-F440-A3AA-64F0AA1F84F2}" type="datetime1">
              <a:rPr lang="zh-CN" altLang="en-US"/>
            </a:fld>
            <a:endParaRPr lang="zh-CN" altLang="en-US" sz="1900">
              <a:solidFill>
                <a:schemeClr val="tx1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962720" y="6356352"/>
            <a:ext cx="6075224" cy="365125"/>
          </a:xfrm>
          <a:prstGeom prst="rect">
            <a:avLst/>
          </a:prstGeom>
        </p:spPr>
        <p:txBody>
          <a:bodyPr lIns="121917" tIns="60958" rIns="121917" bIns="60958"/>
          <a:lstStyle>
            <a:lvl1pPr>
              <a:defRPr/>
            </a:lvl1pPr>
          </a:lstStyle>
          <a:p>
            <a:endParaRPr lang="zh-CN" altLang="zh-CN" dirty="0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2712968" y="6356352"/>
            <a:ext cx="4050149" cy="365125"/>
          </a:xfrm>
          <a:prstGeom prst="rect">
            <a:avLst/>
          </a:prstGeom>
        </p:spPr>
        <p:txBody>
          <a:bodyPr lIns="121917" tIns="60958" rIns="121917" bIns="60958"/>
          <a:lstStyle>
            <a:lvl1pPr>
              <a:defRPr/>
            </a:lvl1pPr>
          </a:lstStyle>
          <a:p>
            <a:fld id="{C5FC99A0-26D8-5E4B-82FB-70809BCEE9F6}" type="slidenum">
              <a:rPr lang="zh-CN" altLang="en-US" smtClean="0"/>
            </a:fld>
            <a:endParaRPr lang="zh-CN" altLang="en-US" sz="19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Click="0" advTm="5000">
        <p14:ripple/>
      </p:transition>
    </mc:Choice>
    <mc:Fallback>
      <p:transition spd="slow" advClick="0" advTm="5000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Click="0" advTm="5000">
        <p14:doors dir="vert"/>
      </p:transition>
    </mc:Choice>
    <mc:Fallback>
      <p:transition spd="slow" advClick="0" advTm="5000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内页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1"/>
          <p:cNvSpPr/>
          <p:nvPr userDrawn="1"/>
        </p:nvSpPr>
        <p:spPr>
          <a:xfrm rot="2603202">
            <a:off x="496977" y="165885"/>
            <a:ext cx="694261" cy="470228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1" rIns="121920" bIns="60961" rtlCol="0" anchor="ctr"/>
          <a:lstStyle/>
          <a:p>
            <a:pPr algn="ctr"/>
            <a:endParaRPr lang="zh-CN" altLang="en-US" sz="3200"/>
          </a:p>
        </p:txBody>
      </p:sp>
      <p:sp>
        <p:nvSpPr>
          <p:cNvPr id="3" name="Line 9"/>
          <p:cNvSpPr>
            <a:spLocks noChangeShapeType="1"/>
          </p:cNvSpPr>
          <p:nvPr userDrawn="1"/>
        </p:nvSpPr>
        <p:spPr bwMode="auto">
          <a:xfrm>
            <a:off x="1189767" y="695491"/>
            <a:ext cx="16812979" cy="0"/>
          </a:xfrm>
          <a:prstGeom prst="line">
            <a:avLst/>
          </a:prstGeom>
          <a:ln w="28575">
            <a:gradFill>
              <a:gsLst>
                <a:gs pos="0">
                  <a:schemeClr val="tx1">
                    <a:lumMod val="35000"/>
                    <a:lumOff val="65000"/>
                  </a:schemeClr>
                </a:gs>
                <a:gs pos="100000">
                  <a:schemeClr val="bg1"/>
                </a:gs>
              </a:gsLst>
              <a:lin ang="5400000" scaled="0"/>
            </a:gradFill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wrap="square" lIns="121920" tIns="60961" rIns="121920" bIns="60961" numCol="1" anchor="t" anchorCtr="0" compatLnSpc="1"/>
          <a:lstStyle/>
          <a:p>
            <a:pPr>
              <a:lnSpc>
                <a:spcPct val="120000"/>
              </a:lnSpc>
            </a:pPr>
            <a:endParaRPr lang="zh-CN" altLang="en-US" sz="320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圆角矩形 13"/>
          <p:cNvSpPr/>
          <p:nvPr userDrawn="1"/>
        </p:nvSpPr>
        <p:spPr>
          <a:xfrm rot="2634344">
            <a:off x="814143" y="237849"/>
            <a:ext cx="606146" cy="410548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1" rIns="121920" bIns="60961" rtlCol="0" anchor="ctr"/>
          <a:lstStyle/>
          <a:p>
            <a:pPr algn="ctr"/>
            <a:endParaRPr lang="zh-CN" altLang="en-US" sz="32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Click="0" advTm="5000">
        <p14:switch dir="r"/>
      </p:transition>
    </mc:Choice>
    <mc:Fallback>
      <p:transition spd="slow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Click="0" advTm="5000">
        <p14:ripple/>
      </p:transition>
    </mc:Choice>
    <mc:Fallback>
      <p:transition spd="slow" advClick="0" advTm="5000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Click="0" advTm="5000">
        <p14:doors dir="vert"/>
      </p:transition>
    </mc:Choice>
    <mc:Fallback>
      <p:transition spd="slow" advClick="0" advTm="5000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内页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1"/>
          <p:cNvSpPr/>
          <p:nvPr userDrawn="1"/>
        </p:nvSpPr>
        <p:spPr>
          <a:xfrm rot="2603202">
            <a:off x="496977" y="165885"/>
            <a:ext cx="694261" cy="470228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1" rIns="121920" bIns="60961" rtlCol="0" anchor="ctr"/>
          <a:lstStyle/>
          <a:p>
            <a:pPr algn="ctr"/>
            <a:endParaRPr lang="zh-CN" altLang="en-US" sz="3200"/>
          </a:p>
        </p:txBody>
      </p:sp>
      <p:sp>
        <p:nvSpPr>
          <p:cNvPr id="3" name="Line 9"/>
          <p:cNvSpPr>
            <a:spLocks noChangeShapeType="1"/>
          </p:cNvSpPr>
          <p:nvPr userDrawn="1"/>
        </p:nvSpPr>
        <p:spPr bwMode="auto">
          <a:xfrm>
            <a:off x="1189767" y="695491"/>
            <a:ext cx="16812979" cy="0"/>
          </a:xfrm>
          <a:prstGeom prst="line">
            <a:avLst/>
          </a:prstGeom>
          <a:ln w="28575">
            <a:gradFill>
              <a:gsLst>
                <a:gs pos="0">
                  <a:schemeClr val="tx1">
                    <a:lumMod val="35000"/>
                    <a:lumOff val="65000"/>
                  </a:schemeClr>
                </a:gs>
                <a:gs pos="100000">
                  <a:schemeClr val="bg1"/>
                </a:gs>
              </a:gsLst>
              <a:lin ang="5400000" scaled="0"/>
            </a:gradFill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wrap="square" lIns="121920" tIns="60961" rIns="121920" bIns="60961" numCol="1" anchor="t" anchorCtr="0" compatLnSpc="1"/>
          <a:lstStyle/>
          <a:p>
            <a:pPr>
              <a:lnSpc>
                <a:spcPct val="120000"/>
              </a:lnSpc>
            </a:pPr>
            <a:endParaRPr lang="zh-CN" altLang="en-US" sz="320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圆角矩形 13"/>
          <p:cNvSpPr/>
          <p:nvPr userDrawn="1"/>
        </p:nvSpPr>
        <p:spPr>
          <a:xfrm rot="2634344">
            <a:off x="814143" y="237849"/>
            <a:ext cx="606146" cy="410548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1" rIns="121920" bIns="60961" rtlCol="0" anchor="ctr"/>
          <a:lstStyle/>
          <a:p>
            <a:pPr algn="ctr"/>
            <a:endParaRPr lang="zh-CN" altLang="en-US" sz="32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Click="0" advTm="5000">
        <p14:switch dir="r"/>
      </p:transition>
    </mc:Choice>
    <mc:Fallback>
      <p:transition spd="slow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50083" y="1122363"/>
            <a:ext cx="13500497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50083" y="3602038"/>
            <a:ext cx="13500497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170" y="1709739"/>
            <a:ext cx="15525572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8170" y="4589464"/>
            <a:ext cx="15525572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7545" y="1825625"/>
            <a:ext cx="7650282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12836" y="1825625"/>
            <a:ext cx="7650282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365126"/>
            <a:ext cx="15525572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9891" y="1681163"/>
            <a:ext cx="7615123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9891" y="2505075"/>
            <a:ext cx="7615123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112836" y="1681163"/>
            <a:ext cx="765262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112836" y="2505075"/>
            <a:ext cx="7652626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1" y="457200"/>
            <a:ext cx="5805682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2626" y="987426"/>
            <a:ext cx="9112836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1" y="2057400"/>
            <a:ext cx="5805682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1" y="457200"/>
            <a:ext cx="5805682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652626" y="987426"/>
            <a:ext cx="9112836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1" y="2057400"/>
            <a:ext cx="5805682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881724" y="365125"/>
            <a:ext cx="3881393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37545" y="365125"/>
            <a:ext cx="11419171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内页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Click="0" advTm="5000">
        <p14:switch dir="r"/>
      </p:transition>
    </mc:Choice>
    <mc:Fallback>
      <p:transition spd="slow" advClick="0" advTm="5000">
        <p:fade/>
      </p:transition>
    </mc:Fallback>
  </mc:AlternateContent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5.xml"/><Relationship Id="rId8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2.xml"/><Relationship Id="rId5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6.xml"/><Relationship Id="rId1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mc:AlternateContent xmlns:mc="http://schemas.openxmlformats.org/markup-compatibility/2006">
    <mc:Choice xmlns:p14="http://schemas.microsoft.com/office/powerpoint/2010/main" Requires="p14">
      <p:transition p14:dur="10" advClick="0" advTm="5000"/>
    </mc:Choice>
    <mc:Fallback>
      <p:transition advClick="0" advTm="5000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37546" y="365126"/>
            <a:ext cx="1552557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7546" y="1825625"/>
            <a:ext cx="1552557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37546" y="6356351"/>
            <a:ext cx="40501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62720" y="6356351"/>
            <a:ext cx="607522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712968" y="6356351"/>
            <a:ext cx="40501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6" Type="http://schemas.openxmlformats.org/officeDocument/2006/relationships/notesSlide" Target="../notesSlides/notesSlide1.xml"/><Relationship Id="rId15" Type="http://schemas.openxmlformats.org/officeDocument/2006/relationships/slideLayout" Target="../slideLayouts/slideLayout28.xml"/><Relationship Id="rId14" Type="http://schemas.openxmlformats.org/officeDocument/2006/relationships/image" Target="../media/image14.svg"/><Relationship Id="rId13" Type="http://schemas.openxmlformats.org/officeDocument/2006/relationships/image" Target="../media/image13.png"/><Relationship Id="rId12" Type="http://schemas.openxmlformats.org/officeDocument/2006/relationships/image" Target="../media/image12.svg"/><Relationship Id="rId11" Type="http://schemas.openxmlformats.org/officeDocument/2006/relationships/image" Target="../media/image11.png"/><Relationship Id="rId10" Type="http://schemas.openxmlformats.org/officeDocument/2006/relationships/image" Target="../media/image10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.svg"/><Relationship Id="rId8" Type="http://schemas.openxmlformats.org/officeDocument/2006/relationships/image" Target="../media/image18.png"/><Relationship Id="rId7" Type="http://schemas.openxmlformats.org/officeDocument/2006/relationships/image" Target="../media/image17.png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16.png"/><Relationship Id="rId3" Type="http://schemas.openxmlformats.org/officeDocument/2006/relationships/image" Target="../media/image2.svg"/><Relationship Id="rId21" Type="http://schemas.openxmlformats.org/officeDocument/2006/relationships/notesSlide" Target="../notesSlides/notesSlide2.xml"/><Relationship Id="rId20" Type="http://schemas.openxmlformats.org/officeDocument/2006/relationships/slideLayout" Target="../slideLayouts/slideLayout28.xml"/><Relationship Id="rId2" Type="http://schemas.openxmlformats.org/officeDocument/2006/relationships/image" Target="../media/image1.png"/><Relationship Id="rId19" Type="http://schemas.openxmlformats.org/officeDocument/2006/relationships/image" Target="../media/image23.svg"/><Relationship Id="rId18" Type="http://schemas.openxmlformats.org/officeDocument/2006/relationships/image" Target="../media/image22.png"/><Relationship Id="rId17" Type="http://schemas.openxmlformats.org/officeDocument/2006/relationships/image" Target="../media/image21.svg"/><Relationship Id="rId16" Type="http://schemas.openxmlformats.org/officeDocument/2006/relationships/image" Target="../media/image20.png"/><Relationship Id="rId15" Type="http://schemas.openxmlformats.org/officeDocument/2006/relationships/image" Target="../media/image14.svg"/><Relationship Id="rId14" Type="http://schemas.openxmlformats.org/officeDocument/2006/relationships/image" Target="../media/image13.png"/><Relationship Id="rId13" Type="http://schemas.openxmlformats.org/officeDocument/2006/relationships/image" Target="../media/image12.svg"/><Relationship Id="rId12" Type="http://schemas.openxmlformats.org/officeDocument/2006/relationships/image" Target="../media/image11.png"/><Relationship Id="rId11" Type="http://schemas.openxmlformats.org/officeDocument/2006/relationships/image" Target="../media/image8.svg"/><Relationship Id="rId10" Type="http://schemas.openxmlformats.org/officeDocument/2006/relationships/image" Target="../media/image7.png"/><Relationship Id="rId1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2.png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6" Type="http://schemas.openxmlformats.org/officeDocument/2006/relationships/notesSlide" Target="../notesSlides/notesSlide3.xml"/><Relationship Id="rId15" Type="http://schemas.openxmlformats.org/officeDocument/2006/relationships/slideLayout" Target="../slideLayouts/slideLayout28.xml"/><Relationship Id="rId14" Type="http://schemas.openxmlformats.org/officeDocument/2006/relationships/image" Target="../media/image25.svg"/><Relationship Id="rId13" Type="http://schemas.openxmlformats.org/officeDocument/2006/relationships/image" Target="../media/image24.png"/><Relationship Id="rId12" Type="http://schemas.openxmlformats.org/officeDocument/2006/relationships/image" Target="../media/image21.svg"/><Relationship Id="rId11" Type="http://schemas.openxmlformats.org/officeDocument/2006/relationships/image" Target="../media/image20.png"/><Relationship Id="rId10" Type="http://schemas.openxmlformats.org/officeDocument/2006/relationships/image" Target="../media/image23.sv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8.xml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21.svg"/><Relationship Id="rId3" Type="http://schemas.openxmlformats.org/officeDocument/2006/relationships/image" Target="../media/image20.png"/><Relationship Id="rId2" Type="http://schemas.openxmlformats.org/officeDocument/2006/relationships/image" Target="../media/image4.svg"/><Relationship Id="rId10" Type="http://schemas.openxmlformats.org/officeDocument/2006/relationships/notesSlide" Target="../notesSlides/notesSlide4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28.xml"/><Relationship Id="rId4" Type="http://schemas.openxmlformats.org/officeDocument/2006/relationships/image" Target="../media/image29.svg"/><Relationship Id="rId3" Type="http://schemas.openxmlformats.org/officeDocument/2006/relationships/image" Target="../media/image28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2.png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8" Type="http://schemas.openxmlformats.org/officeDocument/2006/relationships/notesSlide" Target="../notesSlides/notesSlide6.xml"/><Relationship Id="rId17" Type="http://schemas.openxmlformats.org/officeDocument/2006/relationships/slideLayout" Target="../slideLayouts/slideLayout28.xml"/><Relationship Id="rId16" Type="http://schemas.openxmlformats.org/officeDocument/2006/relationships/image" Target="../media/image31.svg"/><Relationship Id="rId15" Type="http://schemas.openxmlformats.org/officeDocument/2006/relationships/image" Target="../media/image30.png"/><Relationship Id="rId14" Type="http://schemas.openxmlformats.org/officeDocument/2006/relationships/image" Target="../media/image25.svg"/><Relationship Id="rId13" Type="http://schemas.openxmlformats.org/officeDocument/2006/relationships/image" Target="../media/image24.png"/><Relationship Id="rId12" Type="http://schemas.openxmlformats.org/officeDocument/2006/relationships/image" Target="../media/image21.svg"/><Relationship Id="rId11" Type="http://schemas.openxmlformats.org/officeDocument/2006/relationships/image" Target="../media/image20.png"/><Relationship Id="rId10" Type="http://schemas.openxmlformats.org/officeDocument/2006/relationships/image" Target="../media/image23.sv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文本框 320"/>
          <p:cNvSpPr txBox="1"/>
          <p:nvPr/>
        </p:nvSpPr>
        <p:spPr>
          <a:xfrm>
            <a:off x="3670878" y="5208441"/>
            <a:ext cx="6430221" cy="36234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注释：一些融合方法需要特定任务额外信息，没有的话可忽略那部分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921870" y="3355539"/>
            <a:ext cx="492443" cy="49475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2400" b="1" dirty="0">
                <a:solidFill>
                  <a:srgbClr val="404040"/>
                </a:solidFill>
                <a:latin typeface="Arial" panose="020B0604020202020204"/>
                <a:cs typeface="Arial" panose="020B0604020202020204"/>
                <a:sym typeface="Arial" panose="020B0604020202020204"/>
                <a:rtl val="0"/>
              </a:rPr>
              <a:t>…</a:t>
            </a:r>
            <a:endParaRPr lang="zh-CN" altLang="en-US" sz="2400" b="1" dirty="0">
              <a:solidFill>
                <a:srgbClr val="404040"/>
              </a:solidFill>
              <a:latin typeface="Arial" panose="020B0604020202020204"/>
              <a:cs typeface="Arial" panose="020B0604020202020204"/>
              <a:sym typeface="Arial" panose="020B0604020202020204"/>
              <a:rtl val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760853" y="1820443"/>
            <a:ext cx="800219" cy="2951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2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代码搜索</a:t>
            </a:r>
            <a:endParaRPr lang="zh-CN" altLang="en-US" sz="12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5760852" y="3004926"/>
            <a:ext cx="800219" cy="2951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2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克隆检测</a:t>
            </a:r>
            <a:endParaRPr lang="zh-CN" altLang="en-US" sz="12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5767989" y="4594842"/>
            <a:ext cx="800219" cy="2951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2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代码生成</a:t>
            </a:r>
            <a:endParaRPr lang="zh-CN" altLang="en-US" sz="12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562062" y="2371329"/>
            <a:ext cx="492443" cy="2951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2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微调</a:t>
            </a:r>
            <a:endParaRPr lang="zh-CN" altLang="en-US" sz="12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352" name="文本框 351"/>
          <p:cNvSpPr txBox="1"/>
          <p:nvPr/>
        </p:nvSpPr>
        <p:spPr>
          <a:xfrm>
            <a:off x="9000331" y="2286331"/>
            <a:ext cx="800219" cy="2951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2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共享参数</a:t>
            </a:r>
            <a:endParaRPr lang="zh-CN" altLang="en-US" sz="12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372" name="文本框 371"/>
          <p:cNvSpPr txBox="1"/>
          <p:nvPr/>
        </p:nvSpPr>
        <p:spPr>
          <a:xfrm>
            <a:off x="8080552" y="2320115"/>
            <a:ext cx="492443" cy="2951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2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融合</a:t>
            </a:r>
            <a:endParaRPr lang="zh-CN" altLang="en-US" sz="12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375" name="文本框 374"/>
          <p:cNvSpPr txBox="1"/>
          <p:nvPr/>
        </p:nvSpPr>
        <p:spPr>
          <a:xfrm>
            <a:off x="10151968" y="2387569"/>
            <a:ext cx="492443" cy="2951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2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结合</a:t>
            </a:r>
            <a:endParaRPr lang="zh-CN" altLang="en-US" sz="12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376" name="文本框 375"/>
          <p:cNvSpPr txBox="1"/>
          <p:nvPr/>
        </p:nvSpPr>
        <p:spPr>
          <a:xfrm>
            <a:off x="11008395" y="4361420"/>
            <a:ext cx="1107996" cy="2951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特定任务输入</a:t>
            </a:r>
            <a:endParaRPr lang="zh-CN" altLang="en-US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388" name="文本框 387"/>
          <p:cNvSpPr txBox="1"/>
          <p:nvPr/>
        </p:nvSpPr>
        <p:spPr>
          <a:xfrm>
            <a:off x="11913393" y="2871110"/>
            <a:ext cx="492443" cy="2951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输出</a:t>
            </a:r>
            <a:endParaRPr lang="zh-CN" altLang="en-US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389" name="文本框 388"/>
          <p:cNvSpPr txBox="1"/>
          <p:nvPr/>
        </p:nvSpPr>
        <p:spPr>
          <a:xfrm>
            <a:off x="3555971" y="3004926"/>
            <a:ext cx="954107" cy="2951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2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预训练模型</a:t>
            </a:r>
            <a:endParaRPr lang="zh-CN" altLang="en-US" sz="12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390" name="文本框 389"/>
          <p:cNvSpPr txBox="1"/>
          <p:nvPr/>
        </p:nvSpPr>
        <p:spPr>
          <a:xfrm>
            <a:off x="9000331" y="3659156"/>
            <a:ext cx="873966" cy="51674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2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特定任务额外信息</a:t>
            </a:r>
            <a:endParaRPr lang="zh-CN" altLang="en-US" sz="12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392" name="Rectangle 1"/>
          <p:cNvSpPr>
            <a:spLocks noChangeArrowheads="1"/>
          </p:cNvSpPr>
          <p:nvPr/>
        </p:nvSpPr>
        <p:spPr bwMode="auto">
          <a:xfrm>
            <a:off x="10137159" y="3610164"/>
            <a:ext cx="2898387" cy="738664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rgbClr val="067D17"/>
                </a:solidFill>
                <a:latin typeface="Times New Roman" panose="02020603050405020304" pitchFamily="18" charset="0"/>
                <a:ea typeface="JetBrains Mono"/>
                <a:cs typeface="Times New Roman" panose="02020603050405020304" pitchFamily="18" charset="0"/>
              </a:rPr>
              <a:t>G</a:t>
            </a:r>
            <a:r>
              <a:rPr lang="zh-CN" altLang="zh-CN" sz="1400" dirty="0">
                <a:solidFill>
                  <a:srgbClr val="067D17"/>
                </a:solidFill>
                <a:latin typeface="Times New Roman" panose="02020603050405020304" pitchFamily="18" charset="0"/>
                <a:ea typeface="JetBrains Mono"/>
                <a:cs typeface="Times New Roman" panose="02020603050405020304" pitchFamily="18" charset="0"/>
              </a:rPr>
              <a:t>enerate a piece of code that conforms to the function described in natural language</a:t>
            </a:r>
            <a:r>
              <a:rPr lang="en-US" altLang="zh-CN" sz="1400" dirty="0">
                <a:solidFill>
                  <a:srgbClr val="067D17"/>
                </a:solidFill>
                <a:latin typeface="Times New Roman" panose="02020603050405020304" pitchFamily="18" charset="0"/>
                <a:ea typeface="JetBrains Mono"/>
                <a:cs typeface="Times New Roman" panose="02020603050405020304" pitchFamily="18" charset="0"/>
              </a:rPr>
              <a:t>…</a:t>
            </a:r>
            <a:endParaRPr lang="zh-CN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98" name="图形 397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37744" y="2310620"/>
            <a:ext cx="640800" cy="640800"/>
          </a:xfrm>
          <a:prstGeom prst="rect">
            <a:avLst/>
          </a:prstGeom>
        </p:spPr>
      </p:pic>
      <p:pic>
        <p:nvPicPr>
          <p:cNvPr id="402" name="图形 401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38263" y="1176081"/>
            <a:ext cx="686691" cy="677226"/>
          </a:xfrm>
          <a:prstGeom prst="rect">
            <a:avLst/>
          </a:prstGeom>
        </p:spPr>
      </p:pic>
      <p:grpSp>
        <p:nvGrpSpPr>
          <p:cNvPr id="407" name="组合 406"/>
          <p:cNvGrpSpPr/>
          <p:nvPr/>
        </p:nvGrpSpPr>
        <p:grpSpPr>
          <a:xfrm>
            <a:off x="5822917" y="2344998"/>
            <a:ext cx="745793" cy="676800"/>
            <a:chOff x="1115728" y="1226176"/>
            <a:chExt cx="719997" cy="703092"/>
          </a:xfrm>
        </p:grpSpPr>
        <p:pic>
          <p:nvPicPr>
            <p:cNvPr id="404" name="图形 403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115728" y="1226176"/>
              <a:ext cx="594266" cy="594266"/>
            </a:xfrm>
            <a:prstGeom prst="rect">
              <a:avLst/>
            </a:prstGeom>
          </p:spPr>
        </p:pic>
        <p:sp>
          <p:nvSpPr>
            <p:cNvPr id="16" name="任意多边形: 形状 15"/>
            <p:cNvSpPr/>
            <p:nvPr/>
          </p:nvSpPr>
          <p:spPr>
            <a:xfrm>
              <a:off x="1462763" y="1557012"/>
              <a:ext cx="326293" cy="343466"/>
            </a:xfrm>
            <a:custGeom>
              <a:avLst/>
              <a:gdLst>
                <a:gd name="connsiteX0" fmla="*/ -432 w 326293"/>
                <a:gd name="connsiteY0" fmla="*/ 171393 h 343466"/>
                <a:gd name="connsiteX1" fmla="*/ 162715 w 326293"/>
                <a:gd name="connsiteY1" fmla="*/ -340 h 343466"/>
                <a:gd name="connsiteX2" fmla="*/ 325861 w 326293"/>
                <a:gd name="connsiteY2" fmla="*/ 171393 h 343466"/>
                <a:gd name="connsiteX3" fmla="*/ 162715 w 326293"/>
                <a:gd name="connsiteY3" fmla="*/ 343126 h 343466"/>
                <a:gd name="connsiteX4" fmla="*/ -432 w 326293"/>
                <a:gd name="connsiteY4" fmla="*/ 171393 h 34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6293" h="343466">
                  <a:moveTo>
                    <a:pt x="-432" y="171393"/>
                  </a:moveTo>
                  <a:cubicBezTo>
                    <a:pt x="-432" y="76548"/>
                    <a:pt x="72623" y="-340"/>
                    <a:pt x="162715" y="-340"/>
                  </a:cubicBezTo>
                  <a:cubicBezTo>
                    <a:pt x="252806" y="-340"/>
                    <a:pt x="325861" y="76548"/>
                    <a:pt x="325861" y="171393"/>
                  </a:cubicBezTo>
                  <a:cubicBezTo>
                    <a:pt x="325861" y="266238"/>
                    <a:pt x="252806" y="343126"/>
                    <a:pt x="162715" y="343126"/>
                  </a:cubicBezTo>
                  <a:cubicBezTo>
                    <a:pt x="72623" y="343126"/>
                    <a:pt x="-432" y="266238"/>
                    <a:pt x="-432" y="171393"/>
                  </a:cubicBezTo>
                  <a:close/>
                </a:path>
              </a:pathLst>
            </a:custGeom>
            <a:solidFill>
              <a:srgbClr val="FFFFFF"/>
            </a:solidFill>
            <a:ln w="34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pic>
          <p:nvPicPr>
            <p:cNvPr id="406" name="图形 405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473382" y="1566925"/>
              <a:ext cx="362343" cy="362343"/>
            </a:xfrm>
            <a:prstGeom prst="rect">
              <a:avLst/>
            </a:prstGeom>
          </p:spPr>
        </p:pic>
      </p:grpSp>
      <p:pic>
        <p:nvPicPr>
          <p:cNvPr id="409" name="图形 408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884271" y="3909430"/>
            <a:ext cx="676800" cy="676800"/>
          </a:xfrm>
          <a:prstGeom prst="rect">
            <a:avLst/>
          </a:prstGeom>
        </p:spPr>
      </p:pic>
      <p:cxnSp>
        <p:nvCxnSpPr>
          <p:cNvPr id="411" name="连接符: 肘形 410"/>
          <p:cNvCxnSpPr>
            <a:stCxn id="398" idx="3"/>
            <a:endCxn id="402" idx="1"/>
          </p:cNvCxnSpPr>
          <p:nvPr/>
        </p:nvCxnSpPr>
        <p:spPr>
          <a:xfrm flipV="1">
            <a:off x="4378544" y="1514694"/>
            <a:ext cx="1459718" cy="1116326"/>
          </a:xfrm>
          <a:prstGeom prst="bentConnector3">
            <a:avLst>
              <a:gd name="adj1" fmla="val 51566"/>
            </a:avLst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2" name="连接符: 肘形 411"/>
          <p:cNvCxnSpPr>
            <a:stCxn id="398" idx="3"/>
            <a:endCxn id="409" idx="1"/>
          </p:cNvCxnSpPr>
          <p:nvPr/>
        </p:nvCxnSpPr>
        <p:spPr>
          <a:xfrm>
            <a:off x="4378545" y="2631020"/>
            <a:ext cx="1505727" cy="1616810"/>
          </a:xfrm>
          <a:prstGeom prst="bentConnector3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7" name="直接箭头连接符 416"/>
          <p:cNvCxnSpPr>
            <a:stCxn id="398" idx="3"/>
            <a:endCxn id="404" idx="1"/>
          </p:cNvCxnSpPr>
          <p:nvPr/>
        </p:nvCxnSpPr>
        <p:spPr>
          <a:xfrm>
            <a:off x="4378544" y="2631020"/>
            <a:ext cx="1444372" cy="0"/>
          </a:xfrm>
          <a:prstGeom prst="straightConnector1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27" name="表格 426"/>
          <p:cNvGraphicFramePr>
            <a:graphicFrameLocks noGrp="1"/>
          </p:cNvGraphicFramePr>
          <p:nvPr/>
        </p:nvGraphicFramePr>
        <p:xfrm>
          <a:off x="6858625" y="1169451"/>
          <a:ext cx="672950" cy="6912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8278"/>
                <a:gridCol w="227336"/>
                <a:gridCol w="227336"/>
              </a:tblGrid>
              <a:tr h="228000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6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FFF"/>
                    </a:solidFill>
                  </a:tcPr>
                </a:tc>
              </a:tr>
              <a:tr h="228000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ADFB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D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</a:tr>
              <a:tr h="228000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8DF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6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28" name="表格 427"/>
          <p:cNvGraphicFramePr>
            <a:graphicFrameLocks noGrp="1"/>
          </p:cNvGraphicFramePr>
          <p:nvPr/>
        </p:nvGraphicFramePr>
        <p:xfrm>
          <a:off x="6858625" y="2327404"/>
          <a:ext cx="672950" cy="6912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8278"/>
                <a:gridCol w="227336"/>
                <a:gridCol w="227336"/>
              </a:tblGrid>
              <a:tr h="228000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F5CE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EC4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/>
                    </a:solidFill>
                  </a:tcPr>
                </a:tc>
              </a:tr>
              <a:tr h="228000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F18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C00"/>
                    </a:solidFill>
                  </a:tcPr>
                </a:tc>
              </a:tr>
              <a:tr h="228000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C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EC4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29" name="表格 428"/>
          <p:cNvGraphicFramePr>
            <a:graphicFrameLocks noGrp="1"/>
          </p:cNvGraphicFramePr>
          <p:nvPr/>
        </p:nvGraphicFramePr>
        <p:xfrm>
          <a:off x="6858625" y="3965286"/>
          <a:ext cx="672950" cy="6912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8278"/>
                <a:gridCol w="227336"/>
                <a:gridCol w="227336"/>
              </a:tblGrid>
              <a:tr h="228000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C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228000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47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669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</a:tr>
              <a:tr h="228000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C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C9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31" name="表格 430"/>
          <p:cNvGraphicFramePr>
            <a:graphicFrameLocks noGrp="1"/>
          </p:cNvGraphicFramePr>
          <p:nvPr/>
        </p:nvGraphicFramePr>
        <p:xfrm>
          <a:off x="9019135" y="1509488"/>
          <a:ext cx="672950" cy="6912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8278"/>
                <a:gridCol w="227336"/>
                <a:gridCol w="227336"/>
              </a:tblGrid>
              <a:tr h="228000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EC4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228000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F18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669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</a:tr>
              <a:tr h="228000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8DF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/>
                    </a:solidFill>
                  </a:tcPr>
                </a:tc>
              </a:tr>
            </a:tbl>
          </a:graphicData>
        </a:graphic>
      </p:graphicFrame>
      <p:cxnSp>
        <p:nvCxnSpPr>
          <p:cNvPr id="433" name="连接符: 肘形 432"/>
          <p:cNvCxnSpPr>
            <a:stCxn id="428" idx="3"/>
            <a:endCxn id="431" idx="1"/>
          </p:cNvCxnSpPr>
          <p:nvPr/>
        </p:nvCxnSpPr>
        <p:spPr>
          <a:xfrm flipV="1">
            <a:off x="7531575" y="1855127"/>
            <a:ext cx="1487560" cy="817916"/>
          </a:xfrm>
          <a:prstGeom prst="bentConnector3">
            <a:avLst>
              <a:gd name="adj1" fmla="val 81375"/>
            </a:avLst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6" name="连接符: 肘形 435"/>
          <p:cNvCxnSpPr/>
          <p:nvPr/>
        </p:nvCxnSpPr>
        <p:spPr>
          <a:xfrm>
            <a:off x="7535386" y="2673043"/>
            <a:ext cx="1470581" cy="644112"/>
          </a:xfrm>
          <a:prstGeom prst="bentConnector3">
            <a:avLst>
              <a:gd name="adj1" fmla="val 82126"/>
            </a:avLst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42" name="图形 441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002156" y="2975155"/>
            <a:ext cx="684000" cy="684000"/>
          </a:xfrm>
          <a:prstGeom prst="rect">
            <a:avLst/>
          </a:prstGeom>
        </p:spPr>
      </p:pic>
      <p:graphicFrame>
        <p:nvGraphicFramePr>
          <p:cNvPr id="448" name="表格 447"/>
          <p:cNvGraphicFramePr>
            <a:graphicFrameLocks noGrp="1"/>
          </p:cNvGraphicFramePr>
          <p:nvPr/>
        </p:nvGraphicFramePr>
        <p:xfrm>
          <a:off x="10766717" y="2313647"/>
          <a:ext cx="672950" cy="6912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8278"/>
                <a:gridCol w="227336"/>
                <a:gridCol w="227336"/>
              </a:tblGrid>
              <a:tr h="228000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8000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</a:tr>
              <a:tr h="228000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8DF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449" name="连接符: 肘形 448"/>
          <p:cNvCxnSpPr/>
          <p:nvPr/>
        </p:nvCxnSpPr>
        <p:spPr>
          <a:xfrm>
            <a:off x="9698181" y="1855128"/>
            <a:ext cx="1074632" cy="804159"/>
          </a:xfrm>
          <a:prstGeom prst="bentConnector3">
            <a:avLst>
              <a:gd name="adj1" fmla="val 25608"/>
            </a:avLst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2" name="连接符: 肘形 451"/>
          <p:cNvCxnSpPr>
            <a:stCxn id="442" idx="3"/>
            <a:endCxn id="448" idx="1"/>
          </p:cNvCxnSpPr>
          <p:nvPr/>
        </p:nvCxnSpPr>
        <p:spPr>
          <a:xfrm flipV="1">
            <a:off x="9686157" y="2659287"/>
            <a:ext cx="1080561" cy="657869"/>
          </a:xfrm>
          <a:prstGeom prst="bentConnector3">
            <a:avLst>
              <a:gd name="adj1" fmla="val 26235"/>
            </a:avLst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8" name="连接符: 肘形 467"/>
          <p:cNvCxnSpPr>
            <a:stCxn id="427" idx="3"/>
          </p:cNvCxnSpPr>
          <p:nvPr/>
        </p:nvCxnSpPr>
        <p:spPr>
          <a:xfrm>
            <a:off x="7531575" y="1515091"/>
            <a:ext cx="297554" cy="1157915"/>
          </a:xfrm>
          <a:prstGeom prst="bentConnector2">
            <a:avLst/>
          </a:prstGeom>
          <a:ln w="19050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2" name="连接符: 肘形 471"/>
          <p:cNvCxnSpPr>
            <a:stCxn id="429" idx="3"/>
          </p:cNvCxnSpPr>
          <p:nvPr/>
        </p:nvCxnSpPr>
        <p:spPr>
          <a:xfrm flipV="1">
            <a:off x="7531575" y="2682713"/>
            <a:ext cx="297554" cy="1628212"/>
          </a:xfrm>
          <a:prstGeom prst="bentConnector2">
            <a:avLst/>
          </a:prstGeom>
          <a:ln w="19050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9" name="直接箭头连接符 478"/>
          <p:cNvCxnSpPr>
            <a:endCxn id="448" idx="2"/>
          </p:cNvCxnSpPr>
          <p:nvPr/>
        </p:nvCxnSpPr>
        <p:spPr>
          <a:xfrm flipV="1">
            <a:off x="11103192" y="3004925"/>
            <a:ext cx="0" cy="597988"/>
          </a:xfrm>
          <a:prstGeom prst="straightConnector1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4" name="直接箭头连接符 483"/>
          <p:cNvCxnSpPr>
            <a:stCxn id="448" idx="3"/>
            <a:endCxn id="488" idx="1"/>
          </p:cNvCxnSpPr>
          <p:nvPr/>
        </p:nvCxnSpPr>
        <p:spPr>
          <a:xfrm>
            <a:off x="11439668" y="2659287"/>
            <a:ext cx="421795" cy="7187"/>
          </a:xfrm>
          <a:prstGeom prst="straightConnector1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88" name="图形 487"/>
          <p:cNvPicPr/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861462" y="2406915"/>
            <a:ext cx="594058" cy="5191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 descr="卡通人物&#10;&#10;AI 生成的内容可能不正确。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3741" y="2263370"/>
            <a:ext cx="620971" cy="795191"/>
          </a:xfrm>
          <a:prstGeom prst="rect">
            <a:avLst/>
          </a:prstGeom>
        </p:spPr>
      </p:pic>
      <p:sp>
        <p:nvSpPr>
          <p:cNvPr id="321" name="文本框 320"/>
          <p:cNvSpPr txBox="1"/>
          <p:nvPr/>
        </p:nvSpPr>
        <p:spPr>
          <a:xfrm>
            <a:off x="3670878" y="5208441"/>
            <a:ext cx="6430221" cy="36234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注释：一些融合方法需要特定任务额外信息，没有的话可忽略那部分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921870" y="3355539"/>
            <a:ext cx="492443" cy="49475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2400" b="1" dirty="0">
                <a:solidFill>
                  <a:srgbClr val="404040"/>
                </a:solidFill>
                <a:latin typeface="Arial" panose="020B0604020202020204"/>
                <a:cs typeface="Arial" panose="020B0604020202020204"/>
                <a:sym typeface="Arial" panose="020B0604020202020204"/>
                <a:rtl val="0"/>
              </a:rPr>
              <a:t>…</a:t>
            </a:r>
            <a:endParaRPr lang="zh-CN" altLang="en-US" sz="2400" b="1" dirty="0">
              <a:solidFill>
                <a:srgbClr val="404040"/>
              </a:solidFill>
              <a:latin typeface="Arial" panose="020B0604020202020204"/>
              <a:cs typeface="Arial" panose="020B0604020202020204"/>
              <a:sym typeface="Arial" panose="020B0604020202020204"/>
              <a:rtl val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760853" y="1820443"/>
            <a:ext cx="800219" cy="2951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2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代码搜索</a:t>
            </a:r>
            <a:endParaRPr lang="zh-CN" altLang="en-US" sz="12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5760852" y="3004926"/>
            <a:ext cx="800219" cy="2951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2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漏洞检测</a:t>
            </a:r>
            <a:endParaRPr lang="zh-CN" altLang="en-US" sz="12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5767989" y="4594842"/>
            <a:ext cx="800219" cy="2951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2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摘要生成</a:t>
            </a:r>
            <a:endParaRPr lang="zh-CN" altLang="en-US" sz="12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562062" y="2371329"/>
            <a:ext cx="492443" cy="2951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2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微调</a:t>
            </a:r>
            <a:endParaRPr lang="zh-CN" altLang="en-US" sz="12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352" name="文本框 351"/>
          <p:cNvSpPr txBox="1"/>
          <p:nvPr/>
        </p:nvSpPr>
        <p:spPr>
          <a:xfrm>
            <a:off x="12497911" y="3722092"/>
            <a:ext cx="800219" cy="2951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2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共享参数</a:t>
            </a:r>
            <a:endParaRPr lang="zh-CN" altLang="en-US" sz="12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372" name="文本框 371"/>
          <p:cNvSpPr txBox="1"/>
          <p:nvPr/>
        </p:nvSpPr>
        <p:spPr>
          <a:xfrm>
            <a:off x="11578132" y="3755876"/>
            <a:ext cx="492443" cy="2951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2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融合</a:t>
            </a:r>
            <a:endParaRPr lang="zh-CN" altLang="en-US" sz="12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375" name="文本框 374"/>
          <p:cNvSpPr txBox="1"/>
          <p:nvPr/>
        </p:nvSpPr>
        <p:spPr>
          <a:xfrm>
            <a:off x="13649548" y="3823330"/>
            <a:ext cx="492443" cy="2951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2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结合</a:t>
            </a:r>
            <a:endParaRPr lang="zh-CN" altLang="en-US" sz="12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376" name="文本框 375"/>
          <p:cNvSpPr txBox="1"/>
          <p:nvPr/>
        </p:nvSpPr>
        <p:spPr>
          <a:xfrm>
            <a:off x="14505975" y="5797181"/>
            <a:ext cx="1107996" cy="2951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特定任务输入</a:t>
            </a:r>
            <a:endParaRPr lang="zh-CN" altLang="en-US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388" name="文本框 387"/>
          <p:cNvSpPr txBox="1"/>
          <p:nvPr/>
        </p:nvSpPr>
        <p:spPr>
          <a:xfrm>
            <a:off x="18315304" y="4306871"/>
            <a:ext cx="492443" cy="2951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输出</a:t>
            </a:r>
            <a:endParaRPr lang="zh-CN" altLang="en-US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389" name="文本框 388"/>
          <p:cNvSpPr txBox="1"/>
          <p:nvPr/>
        </p:nvSpPr>
        <p:spPr>
          <a:xfrm>
            <a:off x="3555971" y="3004926"/>
            <a:ext cx="954107" cy="2951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2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预训练模型</a:t>
            </a:r>
            <a:endParaRPr lang="zh-CN" altLang="en-US" sz="12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390" name="文本框 389"/>
          <p:cNvSpPr txBox="1"/>
          <p:nvPr/>
        </p:nvSpPr>
        <p:spPr>
          <a:xfrm>
            <a:off x="12497911" y="5094917"/>
            <a:ext cx="873966" cy="51674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2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特定任务额外信息</a:t>
            </a:r>
            <a:endParaRPr lang="zh-CN" altLang="en-US" sz="12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392" name="Rectangle 1"/>
          <p:cNvSpPr>
            <a:spLocks noChangeArrowheads="1"/>
          </p:cNvSpPr>
          <p:nvPr/>
        </p:nvSpPr>
        <p:spPr bwMode="auto">
          <a:xfrm>
            <a:off x="13634739" y="5045925"/>
            <a:ext cx="2898387" cy="738664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rgbClr val="067D17"/>
                </a:solidFill>
                <a:latin typeface="Times New Roman" panose="02020603050405020304" pitchFamily="18" charset="0"/>
                <a:ea typeface="JetBrains Mono"/>
                <a:cs typeface="Times New Roman" panose="02020603050405020304" pitchFamily="18" charset="0"/>
              </a:rPr>
              <a:t>G</a:t>
            </a:r>
            <a:r>
              <a:rPr lang="zh-CN" altLang="zh-CN" sz="1400" dirty="0">
                <a:solidFill>
                  <a:srgbClr val="067D17"/>
                </a:solidFill>
                <a:latin typeface="Times New Roman" panose="02020603050405020304" pitchFamily="18" charset="0"/>
                <a:ea typeface="JetBrains Mono"/>
                <a:cs typeface="Times New Roman" panose="02020603050405020304" pitchFamily="18" charset="0"/>
              </a:rPr>
              <a:t>enerate a piece of code that conforms to the function described in natural language</a:t>
            </a:r>
            <a:r>
              <a:rPr lang="en-US" altLang="zh-CN" sz="1400" dirty="0">
                <a:solidFill>
                  <a:srgbClr val="067D17"/>
                </a:solidFill>
                <a:latin typeface="Times New Roman" panose="02020603050405020304" pitchFamily="18" charset="0"/>
                <a:ea typeface="JetBrains Mono"/>
                <a:cs typeface="Times New Roman" panose="02020603050405020304" pitchFamily="18" charset="0"/>
              </a:rPr>
              <a:t>…</a:t>
            </a:r>
            <a:endParaRPr lang="zh-CN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98" name="图形 397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37744" y="2310620"/>
            <a:ext cx="640800" cy="640800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5836005" y="1089720"/>
            <a:ext cx="664170" cy="871200"/>
            <a:chOff x="2973359" y="1040151"/>
            <a:chExt cx="664170" cy="871200"/>
          </a:xfrm>
        </p:grpSpPr>
        <p:pic>
          <p:nvPicPr>
            <p:cNvPr id="25" name="图片 24" descr="卡通人物&#10;&#10;AI 生成的内容可能不正确。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973359" y="1040151"/>
              <a:ext cx="580800" cy="871200"/>
            </a:xfrm>
            <a:prstGeom prst="rect">
              <a:avLst/>
            </a:prstGeom>
          </p:spPr>
        </p:pic>
        <p:grpSp>
          <p:nvGrpSpPr>
            <p:cNvPr id="35" name="组合 34"/>
            <p:cNvGrpSpPr/>
            <p:nvPr/>
          </p:nvGrpSpPr>
          <p:grpSpPr>
            <a:xfrm>
              <a:off x="3278054" y="1541751"/>
              <a:ext cx="359475" cy="354520"/>
              <a:chOff x="5158740" y="1735306"/>
              <a:chExt cx="359475" cy="354520"/>
            </a:xfrm>
          </p:grpSpPr>
          <p:sp>
            <p:nvSpPr>
              <p:cNvPr id="33" name="矩形 32"/>
              <p:cNvSpPr/>
              <p:nvPr/>
            </p:nvSpPr>
            <p:spPr>
              <a:xfrm>
                <a:off x="5204460" y="1820442"/>
                <a:ext cx="238125" cy="18552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pic>
            <p:nvPicPr>
              <p:cNvPr id="402" name="图形 401"/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5158740" y="1735306"/>
                <a:ext cx="359475" cy="354520"/>
              </a:xfrm>
              <a:prstGeom prst="rect">
                <a:avLst/>
              </a:prstGeom>
            </p:spPr>
          </p:pic>
        </p:grpSp>
      </p:grpSp>
      <p:grpSp>
        <p:nvGrpSpPr>
          <p:cNvPr id="56" name="组合 55"/>
          <p:cNvGrpSpPr/>
          <p:nvPr/>
        </p:nvGrpSpPr>
        <p:grpSpPr>
          <a:xfrm>
            <a:off x="5852748" y="2214726"/>
            <a:ext cx="607929" cy="869787"/>
            <a:chOff x="2324029" y="1680785"/>
            <a:chExt cx="607929" cy="869787"/>
          </a:xfrm>
        </p:grpSpPr>
        <p:pic>
          <p:nvPicPr>
            <p:cNvPr id="42" name="图片 41" descr="图标&#10;&#10;AI 生成的内容可能不正确。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324029" y="1680785"/>
              <a:ext cx="569390" cy="843835"/>
            </a:xfrm>
            <a:prstGeom prst="rect">
              <a:avLst/>
            </a:prstGeom>
          </p:spPr>
        </p:pic>
        <p:grpSp>
          <p:nvGrpSpPr>
            <p:cNvPr id="49" name="组合 48"/>
            <p:cNvGrpSpPr>
              <a:grpSpLocks noChangeAspect="1"/>
            </p:cNvGrpSpPr>
            <p:nvPr/>
          </p:nvGrpSpPr>
          <p:grpSpPr>
            <a:xfrm>
              <a:off x="2587250" y="2204882"/>
              <a:ext cx="344708" cy="345690"/>
              <a:chOff x="7909164" y="1920367"/>
              <a:chExt cx="667024" cy="668925"/>
            </a:xfrm>
          </p:grpSpPr>
          <p:pic>
            <p:nvPicPr>
              <p:cNvPr id="48" name="图形 47"/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7909164" y="1920367"/>
                <a:ext cx="572400" cy="572400"/>
              </a:xfrm>
              <a:prstGeom prst="rect">
                <a:avLst/>
              </a:prstGeom>
            </p:spPr>
          </p:pic>
          <p:sp>
            <p:nvSpPr>
              <p:cNvPr id="16" name="任意多边形: 形状 15"/>
              <p:cNvSpPr/>
              <p:nvPr/>
            </p:nvSpPr>
            <p:spPr>
              <a:xfrm>
                <a:off x="8189864" y="2230956"/>
                <a:ext cx="337983" cy="330622"/>
              </a:xfrm>
              <a:custGeom>
                <a:avLst/>
                <a:gdLst>
                  <a:gd name="connsiteX0" fmla="*/ -432 w 326293"/>
                  <a:gd name="connsiteY0" fmla="*/ 171393 h 343466"/>
                  <a:gd name="connsiteX1" fmla="*/ 162715 w 326293"/>
                  <a:gd name="connsiteY1" fmla="*/ -340 h 343466"/>
                  <a:gd name="connsiteX2" fmla="*/ 325861 w 326293"/>
                  <a:gd name="connsiteY2" fmla="*/ 171393 h 343466"/>
                  <a:gd name="connsiteX3" fmla="*/ 162715 w 326293"/>
                  <a:gd name="connsiteY3" fmla="*/ 343126 h 343466"/>
                  <a:gd name="connsiteX4" fmla="*/ -432 w 326293"/>
                  <a:gd name="connsiteY4" fmla="*/ 171393 h 3434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6293" h="343466">
                    <a:moveTo>
                      <a:pt x="-432" y="171393"/>
                    </a:moveTo>
                    <a:cubicBezTo>
                      <a:pt x="-432" y="76548"/>
                      <a:pt x="72623" y="-340"/>
                      <a:pt x="162715" y="-340"/>
                    </a:cubicBezTo>
                    <a:cubicBezTo>
                      <a:pt x="252806" y="-340"/>
                      <a:pt x="325861" y="76548"/>
                      <a:pt x="325861" y="171393"/>
                    </a:cubicBezTo>
                    <a:cubicBezTo>
                      <a:pt x="325861" y="266238"/>
                      <a:pt x="252806" y="343126"/>
                      <a:pt x="162715" y="343126"/>
                    </a:cubicBezTo>
                    <a:cubicBezTo>
                      <a:pt x="72623" y="343126"/>
                      <a:pt x="-432" y="266238"/>
                      <a:pt x="-432" y="171393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406" name="图形 405"/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8200863" y="2240499"/>
                <a:ext cx="375325" cy="348793"/>
              </a:xfrm>
              <a:prstGeom prst="rect">
                <a:avLst/>
              </a:prstGeom>
            </p:spPr>
          </p:pic>
        </p:grpSp>
      </p:grpSp>
      <p:cxnSp>
        <p:nvCxnSpPr>
          <p:cNvPr id="412" name="连接符: 肘形 411"/>
          <p:cNvCxnSpPr>
            <a:stCxn id="398" idx="3"/>
          </p:cNvCxnSpPr>
          <p:nvPr/>
        </p:nvCxnSpPr>
        <p:spPr>
          <a:xfrm>
            <a:off x="4378545" y="2631020"/>
            <a:ext cx="1505727" cy="1616810"/>
          </a:xfrm>
          <a:prstGeom prst="bentConnector3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7" name="直接箭头连接符 416"/>
          <p:cNvCxnSpPr>
            <a:stCxn id="398" idx="3"/>
            <a:endCxn id="42" idx="1"/>
          </p:cNvCxnSpPr>
          <p:nvPr/>
        </p:nvCxnSpPr>
        <p:spPr>
          <a:xfrm>
            <a:off x="4378545" y="2631021"/>
            <a:ext cx="1474203" cy="5623"/>
          </a:xfrm>
          <a:prstGeom prst="straightConnector1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27" name="表格 426"/>
          <p:cNvGraphicFramePr>
            <a:graphicFrameLocks noGrp="1"/>
          </p:cNvGraphicFramePr>
          <p:nvPr/>
        </p:nvGraphicFramePr>
        <p:xfrm>
          <a:off x="6858626" y="1169451"/>
          <a:ext cx="539939" cy="54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5135"/>
                <a:gridCol w="182402"/>
                <a:gridCol w="182402"/>
              </a:tblGrid>
              <a:tr h="180000"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6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ADFB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D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8DF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6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28" name="表格 427"/>
          <p:cNvGraphicFramePr>
            <a:graphicFrameLocks noGrp="1"/>
          </p:cNvGraphicFramePr>
          <p:nvPr/>
        </p:nvGraphicFramePr>
        <p:xfrm>
          <a:off x="6858626" y="2327404"/>
          <a:ext cx="539939" cy="54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5135"/>
                <a:gridCol w="182402"/>
                <a:gridCol w="182402"/>
              </a:tblGrid>
              <a:tr h="180000"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F5CE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EC4F">
                        <a:alpha val="40000"/>
                      </a:srgbClr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F18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F180">
                        <a:alpha val="40000"/>
                      </a:srgbClr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F18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EC4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>
                        <a:alpha val="4000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29" name="表格 428"/>
          <p:cNvGraphicFramePr>
            <a:graphicFrameLocks noGrp="1"/>
          </p:cNvGraphicFramePr>
          <p:nvPr/>
        </p:nvGraphicFramePr>
        <p:xfrm>
          <a:off x="6858626" y="3965286"/>
          <a:ext cx="539939" cy="54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5135"/>
                <a:gridCol w="182402"/>
                <a:gridCol w="182402"/>
              </a:tblGrid>
              <a:tr h="180000"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C9A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47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>
                        <a:solidFill>
                          <a:srgbClr val="FFFFFF"/>
                        </a:solidFill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>
                        <a:alpha val="70000"/>
                      </a:srgbClr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47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C9A">
                        <a:alpha val="70000"/>
                      </a:srgbClr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C9A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C9A">
                        <a:alpha val="7000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31" name="表格 430"/>
          <p:cNvGraphicFramePr>
            <a:graphicFrameLocks noGrp="1"/>
          </p:cNvGraphicFramePr>
          <p:nvPr/>
        </p:nvGraphicFramePr>
        <p:xfrm>
          <a:off x="12516715" y="2945249"/>
          <a:ext cx="672950" cy="6912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8278"/>
                <a:gridCol w="227336"/>
                <a:gridCol w="227336"/>
              </a:tblGrid>
              <a:tr h="228000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</a:tr>
              <a:tr h="228000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</a:tr>
              <a:tr h="228000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/>
                    </a:solidFill>
                  </a:tcPr>
                </a:tc>
              </a:tr>
            </a:tbl>
          </a:graphicData>
        </a:graphic>
      </p:graphicFrame>
      <p:cxnSp>
        <p:nvCxnSpPr>
          <p:cNvPr id="433" name="连接符: 肘形 432"/>
          <p:cNvCxnSpPr>
            <a:endCxn id="431" idx="1"/>
          </p:cNvCxnSpPr>
          <p:nvPr/>
        </p:nvCxnSpPr>
        <p:spPr>
          <a:xfrm flipV="1">
            <a:off x="11029155" y="3290888"/>
            <a:ext cx="1487560" cy="817916"/>
          </a:xfrm>
          <a:prstGeom prst="bentConnector3">
            <a:avLst>
              <a:gd name="adj1" fmla="val 81375"/>
            </a:avLst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6" name="连接符: 肘形 435"/>
          <p:cNvCxnSpPr/>
          <p:nvPr/>
        </p:nvCxnSpPr>
        <p:spPr>
          <a:xfrm>
            <a:off x="11032966" y="4108804"/>
            <a:ext cx="1470581" cy="644112"/>
          </a:xfrm>
          <a:prstGeom prst="bentConnector3">
            <a:avLst>
              <a:gd name="adj1" fmla="val 82126"/>
            </a:avLst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42" name="图形 441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2499736" y="4410916"/>
            <a:ext cx="684000" cy="684000"/>
          </a:xfrm>
          <a:prstGeom prst="rect">
            <a:avLst/>
          </a:prstGeom>
        </p:spPr>
      </p:pic>
      <p:graphicFrame>
        <p:nvGraphicFramePr>
          <p:cNvPr id="448" name="表格 447"/>
          <p:cNvGraphicFramePr>
            <a:graphicFrameLocks noGrp="1"/>
          </p:cNvGraphicFramePr>
          <p:nvPr/>
        </p:nvGraphicFramePr>
        <p:xfrm>
          <a:off x="14264297" y="3749408"/>
          <a:ext cx="672950" cy="6912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8278"/>
                <a:gridCol w="227336"/>
                <a:gridCol w="227336"/>
              </a:tblGrid>
              <a:tr h="228000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8000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</a:tr>
              <a:tr h="228000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8DF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449" name="连接符: 肘形 448"/>
          <p:cNvCxnSpPr/>
          <p:nvPr/>
        </p:nvCxnSpPr>
        <p:spPr>
          <a:xfrm>
            <a:off x="13195761" y="3290889"/>
            <a:ext cx="1074632" cy="804159"/>
          </a:xfrm>
          <a:prstGeom prst="bentConnector3">
            <a:avLst>
              <a:gd name="adj1" fmla="val 25608"/>
            </a:avLst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2" name="连接符: 肘形 451"/>
          <p:cNvCxnSpPr>
            <a:stCxn id="442" idx="3"/>
            <a:endCxn id="448" idx="1"/>
          </p:cNvCxnSpPr>
          <p:nvPr/>
        </p:nvCxnSpPr>
        <p:spPr>
          <a:xfrm flipV="1">
            <a:off x="13183737" y="4095048"/>
            <a:ext cx="1080561" cy="657869"/>
          </a:xfrm>
          <a:prstGeom prst="bentConnector3">
            <a:avLst>
              <a:gd name="adj1" fmla="val 26235"/>
            </a:avLst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8" name="连接符: 肘形 467"/>
          <p:cNvCxnSpPr/>
          <p:nvPr/>
        </p:nvCxnSpPr>
        <p:spPr>
          <a:xfrm>
            <a:off x="11029155" y="2950852"/>
            <a:ext cx="297554" cy="1157915"/>
          </a:xfrm>
          <a:prstGeom prst="bentConnector2">
            <a:avLst/>
          </a:prstGeom>
          <a:ln w="19050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2" name="连接符: 肘形 471"/>
          <p:cNvCxnSpPr/>
          <p:nvPr/>
        </p:nvCxnSpPr>
        <p:spPr>
          <a:xfrm flipV="1">
            <a:off x="11029155" y="4118474"/>
            <a:ext cx="297554" cy="1628212"/>
          </a:xfrm>
          <a:prstGeom prst="bentConnector2">
            <a:avLst/>
          </a:prstGeom>
          <a:ln w="19050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9" name="直接箭头连接符 478"/>
          <p:cNvCxnSpPr>
            <a:endCxn id="448" idx="2"/>
          </p:cNvCxnSpPr>
          <p:nvPr/>
        </p:nvCxnSpPr>
        <p:spPr>
          <a:xfrm flipV="1">
            <a:off x="14600772" y="4440686"/>
            <a:ext cx="0" cy="597988"/>
          </a:xfrm>
          <a:prstGeom prst="straightConnector1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4" name="直接箭头连接符 483"/>
          <p:cNvCxnSpPr>
            <a:stCxn id="448" idx="3"/>
            <a:endCxn id="488" idx="1"/>
          </p:cNvCxnSpPr>
          <p:nvPr/>
        </p:nvCxnSpPr>
        <p:spPr>
          <a:xfrm>
            <a:off x="14937248" y="4095048"/>
            <a:ext cx="421795" cy="7187"/>
          </a:xfrm>
          <a:prstGeom prst="straightConnector1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88" name="图形 487"/>
          <p:cNvPicPr/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8263374" y="3842676"/>
            <a:ext cx="594058" cy="519116"/>
          </a:xfrm>
          <a:prstGeom prst="rect">
            <a:avLst/>
          </a:prstGeom>
        </p:spPr>
      </p:pic>
      <p:grpSp>
        <p:nvGrpSpPr>
          <p:cNvPr id="3" name="组合 2"/>
          <p:cNvGrpSpPr>
            <a:grpSpLocks noChangeAspect="1"/>
          </p:cNvGrpSpPr>
          <p:nvPr/>
        </p:nvGrpSpPr>
        <p:grpSpPr>
          <a:xfrm>
            <a:off x="6212931" y="4295365"/>
            <a:ext cx="310044" cy="310044"/>
            <a:chOff x="6470022" y="4389735"/>
            <a:chExt cx="676800" cy="676800"/>
          </a:xfrm>
        </p:grpSpPr>
        <p:sp>
          <p:nvSpPr>
            <p:cNvPr id="2" name="矩形 1"/>
            <p:cNvSpPr/>
            <p:nvPr/>
          </p:nvSpPr>
          <p:spPr>
            <a:xfrm>
              <a:off x="6590885" y="4440686"/>
              <a:ext cx="310486" cy="5979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7" name="图形 16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6470022" y="4389735"/>
              <a:ext cx="676800" cy="676800"/>
            </a:xfrm>
            <a:prstGeom prst="rect">
              <a:avLst/>
            </a:prstGeom>
          </p:spPr>
        </p:pic>
      </p:grpSp>
      <p:pic>
        <p:nvPicPr>
          <p:cNvPr id="15" name="图形 14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999990" y="1699752"/>
            <a:ext cx="306076" cy="306076"/>
          </a:xfrm>
          <a:prstGeom prst="rect">
            <a:avLst/>
          </a:prstGeom>
        </p:spPr>
      </p:pic>
      <p:pic>
        <p:nvPicPr>
          <p:cNvPr id="18" name="图形 17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7217534" y="1703500"/>
            <a:ext cx="306076" cy="306076"/>
          </a:xfrm>
          <a:prstGeom prst="rect">
            <a:avLst/>
          </a:prstGeom>
        </p:spPr>
      </p:pic>
      <p:pic>
        <p:nvPicPr>
          <p:cNvPr id="21" name="图形 20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770433" y="1699752"/>
            <a:ext cx="306076" cy="306076"/>
          </a:xfrm>
          <a:prstGeom prst="rect">
            <a:avLst/>
          </a:prstGeom>
        </p:spPr>
      </p:pic>
      <p:pic>
        <p:nvPicPr>
          <p:cNvPr id="23" name="图形 22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971508" y="2858063"/>
            <a:ext cx="306076" cy="306076"/>
          </a:xfrm>
          <a:prstGeom prst="rect">
            <a:avLst/>
          </a:prstGeom>
        </p:spPr>
      </p:pic>
      <p:pic>
        <p:nvPicPr>
          <p:cNvPr id="26" name="图形 25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7095359" y="4469698"/>
            <a:ext cx="306076" cy="306076"/>
          </a:xfrm>
          <a:prstGeom prst="rect">
            <a:avLst/>
          </a:prstGeom>
        </p:spPr>
      </p:pic>
      <p:pic>
        <p:nvPicPr>
          <p:cNvPr id="27" name="图形 26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877456" y="4469698"/>
            <a:ext cx="306076" cy="3060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5" name="表格 394"/>
          <p:cNvGraphicFramePr>
            <a:graphicFrameLocks noGrp="1"/>
          </p:cNvGraphicFramePr>
          <p:nvPr/>
        </p:nvGraphicFramePr>
        <p:xfrm>
          <a:off x="12507608" y="2541346"/>
          <a:ext cx="433810" cy="4491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1966"/>
                <a:gridCol w="145922"/>
                <a:gridCol w="145922"/>
              </a:tblGrid>
              <a:tr h="144000"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94" name="表格 393"/>
          <p:cNvGraphicFramePr>
            <a:graphicFrameLocks noGrp="1"/>
          </p:cNvGraphicFramePr>
          <p:nvPr/>
        </p:nvGraphicFramePr>
        <p:xfrm>
          <a:off x="12458589" y="2603671"/>
          <a:ext cx="433810" cy="4491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1966"/>
                <a:gridCol w="145922"/>
                <a:gridCol w="145922"/>
              </a:tblGrid>
              <a:tr h="144000"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6785469" y="3175216"/>
            <a:ext cx="364202" cy="32707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400" b="1" dirty="0">
                <a:latin typeface="Arial" panose="020B0604020202020204"/>
                <a:cs typeface="Arial" panose="020B0604020202020204"/>
                <a:sym typeface="Arial" panose="020B0604020202020204"/>
                <a:rtl val="0"/>
              </a:rPr>
              <a:t>…</a:t>
            </a:r>
            <a:endParaRPr lang="zh-CN" altLang="en-US" sz="1400" b="1" dirty="0">
              <a:latin typeface="Arial" panose="020B0604020202020204"/>
              <a:cs typeface="Arial" panose="020B0604020202020204"/>
              <a:sym typeface="Arial" panose="020B0604020202020204"/>
              <a:rtl val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402117" y="1576560"/>
            <a:ext cx="1144096" cy="2951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Code Search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388944" y="2700530"/>
            <a:ext cx="1167435" cy="5167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Vulnerability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  <a:p>
            <a:pPr algn="ctr">
              <a:lnSpc>
                <a:spcPct val="120000"/>
              </a:lnSpc>
            </a:pP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Detection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328158" y="4278562"/>
            <a:ext cx="1353768" cy="5167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Code 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  <a:p>
            <a:pPr algn="ctr">
              <a:lnSpc>
                <a:spcPct val="120000"/>
              </a:lnSpc>
            </a:pP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Summarization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5260595" y="2054369"/>
            <a:ext cx="925253" cy="2951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1200" b="1">
                <a:solidFill>
                  <a:srgbClr val="00259A"/>
                </a:solidFill>
                <a:latin typeface="微软雅黑" panose="020B0503020204020204" pitchFamily="34" charset="-122"/>
                <a:ea typeface="微软雅黑" panose="020B0503020204020204" pitchFamily="34" charset="-122"/>
                <a:rtl val="0"/>
              </a:defRPr>
            </a:lvl1pPr>
          </a:lstStyle>
          <a:p>
            <a:r>
              <a:rPr lang="en-US" altLang="zh-CN" dirty="0">
                <a:sym typeface="微软雅黑" panose="020B0503020204020204" pitchFamily="34" charset="-122"/>
              </a:rPr>
              <a:t>Fine-tune</a:t>
            </a:r>
            <a:endParaRPr lang="zh-CN" altLang="en-US" dirty="0">
              <a:sym typeface="微软雅黑" panose="020B0503020204020204" pitchFamily="34" charset="-122"/>
            </a:endParaRPr>
          </a:p>
        </p:txBody>
      </p:sp>
      <p:sp>
        <p:nvSpPr>
          <p:cNvPr id="389" name="文本框 388"/>
          <p:cNvSpPr txBox="1"/>
          <p:nvPr/>
        </p:nvSpPr>
        <p:spPr>
          <a:xfrm>
            <a:off x="4064162" y="2699625"/>
            <a:ext cx="1638910" cy="32893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Pre-Train Model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pic>
        <p:nvPicPr>
          <p:cNvPr id="398" name="图形 397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01344" y="2046460"/>
            <a:ext cx="640800" cy="640800"/>
          </a:xfrm>
          <a:prstGeom prst="rect">
            <a:avLst/>
          </a:prstGeom>
        </p:spPr>
      </p:pic>
      <p:cxnSp>
        <p:nvCxnSpPr>
          <p:cNvPr id="411" name="连接符: 肘形 410"/>
          <p:cNvCxnSpPr>
            <a:stCxn id="398" idx="3"/>
            <a:endCxn id="34" idx="1"/>
          </p:cNvCxnSpPr>
          <p:nvPr/>
        </p:nvCxnSpPr>
        <p:spPr>
          <a:xfrm flipV="1">
            <a:off x="5242144" y="1250534"/>
            <a:ext cx="1459718" cy="1116326"/>
          </a:xfrm>
          <a:prstGeom prst="bentConnector3">
            <a:avLst>
              <a:gd name="adj1" fmla="val 71847"/>
            </a:avLst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2" name="连接符: 肘形 411"/>
          <p:cNvCxnSpPr>
            <a:stCxn id="398" idx="3"/>
          </p:cNvCxnSpPr>
          <p:nvPr/>
        </p:nvCxnSpPr>
        <p:spPr>
          <a:xfrm>
            <a:off x="5242145" y="2366860"/>
            <a:ext cx="1505727" cy="1616810"/>
          </a:xfrm>
          <a:prstGeom prst="bentConnector3">
            <a:avLst>
              <a:gd name="adj1" fmla="val 69716"/>
            </a:avLst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7" name="直接箭头连接符 416"/>
          <p:cNvCxnSpPr>
            <a:stCxn id="398" idx="3"/>
          </p:cNvCxnSpPr>
          <p:nvPr/>
        </p:nvCxnSpPr>
        <p:spPr>
          <a:xfrm>
            <a:off x="5242144" y="2366860"/>
            <a:ext cx="1444372" cy="0"/>
          </a:xfrm>
          <a:prstGeom prst="straightConnector1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图形 33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01863" y="911921"/>
            <a:ext cx="686691" cy="677226"/>
          </a:xfrm>
          <a:prstGeom prst="rect">
            <a:avLst/>
          </a:prstGeom>
        </p:spPr>
      </p:pic>
      <p:grpSp>
        <p:nvGrpSpPr>
          <p:cNvPr id="448" name="组合 447"/>
          <p:cNvGrpSpPr/>
          <p:nvPr/>
        </p:nvGrpSpPr>
        <p:grpSpPr>
          <a:xfrm>
            <a:off x="6790005" y="2176360"/>
            <a:ext cx="570929" cy="518597"/>
            <a:chOff x="3957049" y="2239041"/>
            <a:chExt cx="570929" cy="518597"/>
          </a:xfrm>
        </p:grpSpPr>
        <p:pic>
          <p:nvPicPr>
            <p:cNvPr id="441" name="图形 440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957049" y="2239041"/>
              <a:ext cx="434982" cy="434980"/>
            </a:xfrm>
            <a:prstGeom prst="rect">
              <a:avLst/>
            </a:prstGeom>
          </p:spPr>
        </p:pic>
        <p:sp>
          <p:nvSpPr>
            <p:cNvPr id="38" name="任意多边形: 形状 37"/>
            <p:cNvSpPr/>
            <p:nvPr/>
          </p:nvSpPr>
          <p:spPr>
            <a:xfrm>
              <a:off x="4141654" y="2399302"/>
              <a:ext cx="337983" cy="330622"/>
            </a:xfrm>
            <a:custGeom>
              <a:avLst/>
              <a:gdLst>
                <a:gd name="connsiteX0" fmla="*/ -432 w 326293"/>
                <a:gd name="connsiteY0" fmla="*/ 171393 h 343466"/>
                <a:gd name="connsiteX1" fmla="*/ 162715 w 326293"/>
                <a:gd name="connsiteY1" fmla="*/ -340 h 343466"/>
                <a:gd name="connsiteX2" fmla="*/ 325861 w 326293"/>
                <a:gd name="connsiteY2" fmla="*/ 171393 h 343466"/>
                <a:gd name="connsiteX3" fmla="*/ 162715 w 326293"/>
                <a:gd name="connsiteY3" fmla="*/ 343126 h 343466"/>
                <a:gd name="connsiteX4" fmla="*/ -432 w 326293"/>
                <a:gd name="connsiteY4" fmla="*/ 171393 h 34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6293" h="343466">
                  <a:moveTo>
                    <a:pt x="-432" y="171393"/>
                  </a:moveTo>
                  <a:cubicBezTo>
                    <a:pt x="-432" y="76548"/>
                    <a:pt x="72623" y="-340"/>
                    <a:pt x="162715" y="-340"/>
                  </a:cubicBezTo>
                  <a:cubicBezTo>
                    <a:pt x="252806" y="-340"/>
                    <a:pt x="325861" y="76548"/>
                    <a:pt x="325861" y="171393"/>
                  </a:cubicBezTo>
                  <a:cubicBezTo>
                    <a:pt x="325861" y="266238"/>
                    <a:pt x="252806" y="343126"/>
                    <a:pt x="162715" y="343126"/>
                  </a:cubicBezTo>
                  <a:cubicBezTo>
                    <a:pt x="72623" y="343126"/>
                    <a:pt x="-432" y="266238"/>
                    <a:pt x="-432" y="171393"/>
                  </a:cubicBezTo>
                  <a:close/>
                </a:path>
              </a:pathLst>
            </a:custGeom>
            <a:solidFill>
              <a:srgbClr val="FFFFFF"/>
            </a:solidFill>
            <a:ln w="34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pic>
          <p:nvPicPr>
            <p:cNvPr id="39" name="图形 38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152653" y="2408845"/>
              <a:ext cx="375325" cy="348793"/>
            </a:xfrm>
            <a:prstGeom prst="rect">
              <a:avLst/>
            </a:prstGeom>
          </p:spPr>
        </p:pic>
      </p:grp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7593280" y="3696809"/>
          <a:ext cx="539939" cy="54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5135"/>
                <a:gridCol w="182402"/>
                <a:gridCol w="182402"/>
              </a:tblGrid>
              <a:tr h="180000"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ADFB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ADFB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6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6FF"/>
                    </a:solidFill>
                  </a:tcPr>
                </a:tc>
              </a:tr>
            </a:tbl>
          </a:graphicData>
        </a:graphic>
      </p:graphicFrame>
      <p:pic>
        <p:nvPicPr>
          <p:cNvPr id="3" name="图形 2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34644" y="4227110"/>
            <a:ext cx="306076" cy="306076"/>
          </a:xfrm>
          <a:prstGeom prst="rect">
            <a:avLst/>
          </a:prstGeom>
        </p:spPr>
      </p:pic>
      <p:pic>
        <p:nvPicPr>
          <p:cNvPr id="4" name="图形 3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952188" y="4230858"/>
            <a:ext cx="306076" cy="306076"/>
          </a:xfrm>
          <a:prstGeom prst="rect">
            <a:avLst/>
          </a:prstGeom>
        </p:spPr>
      </p:pic>
      <p:pic>
        <p:nvPicPr>
          <p:cNvPr id="5" name="图形 4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505087" y="4227110"/>
            <a:ext cx="306076" cy="306076"/>
          </a:xfrm>
          <a:prstGeom prst="rect">
            <a:avLst/>
          </a:prstGeom>
        </p:spPr>
      </p:pic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7593280" y="2147260"/>
          <a:ext cx="539939" cy="54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5135"/>
                <a:gridCol w="182402"/>
                <a:gridCol w="182402"/>
              </a:tblGrid>
              <a:tr h="180000"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F5CE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FEE4">
                        <a:alpha val="30000"/>
                      </a:srgbClr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F6B1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F8B6">
                        <a:alpha val="30000"/>
                      </a:srgbClr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FEE2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FEE4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>
                        <a:alpha val="30000"/>
                      </a:srgbClr>
                    </a:solidFill>
                  </a:tcPr>
                </a:tc>
              </a:tr>
            </a:tbl>
          </a:graphicData>
        </a:graphic>
      </p:graphicFrame>
      <p:pic>
        <p:nvPicPr>
          <p:cNvPr id="8" name="图形 7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09461" y="2666988"/>
            <a:ext cx="306076" cy="306076"/>
          </a:xfrm>
          <a:prstGeom prst="rect">
            <a:avLst/>
          </a:prstGeom>
        </p:spPr>
      </p:pic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7584559" y="1016282"/>
          <a:ext cx="539939" cy="54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5135"/>
                <a:gridCol w="182402"/>
                <a:gridCol w="182402"/>
              </a:tblGrid>
              <a:tr h="180000">
                <a:tc>
                  <a:txBody>
                    <a:bodyPr/>
                    <a:lstStyle/>
                    <a:p>
                      <a:endParaRPr lang="zh-CN" altLang="en-US" sz="7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C9A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89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>
                        <a:solidFill>
                          <a:srgbClr val="FFFFFF">
                            <a:alpha val="70000"/>
                          </a:srgbClr>
                        </a:solidFill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>
                        <a:alpha val="60000"/>
                      </a:srgbClr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endParaRPr lang="zh-CN" altLang="en-US" sz="7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89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C9A">
                        <a:alpha val="60000"/>
                      </a:srgbClr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endParaRPr lang="zh-CN" altLang="en-US" sz="7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C9A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>
                        <a:alpha val="60000"/>
                      </a:srgbClr>
                    </a:solidFill>
                  </a:tcPr>
                </a:tc>
              </a:tr>
            </a:tbl>
          </a:graphicData>
        </a:graphic>
      </p:graphicFrame>
      <p:pic>
        <p:nvPicPr>
          <p:cNvPr id="12" name="图形 11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21292" y="1520694"/>
            <a:ext cx="306076" cy="306076"/>
          </a:xfrm>
          <a:prstGeom prst="rect">
            <a:avLst/>
          </a:prstGeom>
        </p:spPr>
      </p:pic>
      <p:pic>
        <p:nvPicPr>
          <p:cNvPr id="13" name="图形 12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603389" y="1520694"/>
            <a:ext cx="306076" cy="306076"/>
          </a:xfrm>
          <a:prstGeom prst="rect">
            <a:avLst/>
          </a:prstGeom>
        </p:spPr>
      </p:pic>
      <p:pic>
        <p:nvPicPr>
          <p:cNvPr id="16" name="图形 15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703773" y="3620005"/>
            <a:ext cx="676800" cy="676800"/>
          </a:xfrm>
          <a:prstGeom prst="rect">
            <a:avLst/>
          </a:prstGeom>
        </p:spPr>
      </p:pic>
      <p:sp>
        <p:nvSpPr>
          <p:cNvPr id="28" name="箭头: 下 27"/>
          <p:cNvSpPr/>
          <p:nvPr/>
        </p:nvSpPr>
        <p:spPr>
          <a:xfrm rot="16200000">
            <a:off x="8850397" y="3575336"/>
            <a:ext cx="122400" cy="802800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u="sng" dirty="0">
              <a:solidFill>
                <a:schemeClr val="tx1"/>
              </a:solidFill>
            </a:endParaRPr>
          </a:p>
        </p:txBody>
      </p:sp>
      <p:graphicFrame>
        <p:nvGraphicFramePr>
          <p:cNvPr id="29" name="表格 28"/>
          <p:cNvGraphicFramePr>
            <a:graphicFrameLocks noGrp="1"/>
          </p:cNvGraphicFramePr>
          <p:nvPr/>
        </p:nvGraphicFramePr>
        <p:xfrm>
          <a:off x="9509536" y="1016282"/>
          <a:ext cx="539939" cy="54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5135"/>
                <a:gridCol w="182402"/>
                <a:gridCol w="182402"/>
              </a:tblGrid>
              <a:tr h="180000">
                <a:tc>
                  <a:txBody>
                    <a:bodyPr/>
                    <a:lstStyle/>
                    <a:p>
                      <a:endParaRPr lang="zh-CN" altLang="en-US" sz="7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C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47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>
                        <a:solidFill>
                          <a:srgbClr val="FFFFFF">
                            <a:alpha val="70000"/>
                          </a:srgbClr>
                        </a:solidFill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endParaRPr lang="zh-CN" altLang="en-US" sz="7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47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C9A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endParaRPr lang="zh-CN" altLang="en-US" sz="7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C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</a:tr>
            </a:tbl>
          </a:graphicData>
        </a:graphic>
      </p:graphicFrame>
      <p:pic>
        <p:nvPicPr>
          <p:cNvPr id="32" name="图形 31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645357" y="1545351"/>
            <a:ext cx="306076" cy="306076"/>
          </a:xfrm>
          <a:prstGeom prst="rect">
            <a:avLst/>
          </a:prstGeom>
        </p:spPr>
      </p:pic>
      <p:pic>
        <p:nvPicPr>
          <p:cNvPr id="33" name="图形 32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862901" y="1549099"/>
            <a:ext cx="306076" cy="306076"/>
          </a:xfrm>
          <a:prstGeom prst="rect">
            <a:avLst/>
          </a:prstGeom>
        </p:spPr>
      </p:pic>
      <p:pic>
        <p:nvPicPr>
          <p:cNvPr id="35" name="图形 34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415800" y="1545351"/>
            <a:ext cx="306076" cy="306076"/>
          </a:xfrm>
          <a:prstGeom prst="rect">
            <a:avLst/>
          </a:prstGeom>
        </p:spPr>
      </p:pic>
      <p:pic>
        <p:nvPicPr>
          <p:cNvPr id="43" name="图形 42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656542" y="2685249"/>
            <a:ext cx="306076" cy="306076"/>
          </a:xfrm>
          <a:prstGeom prst="rect">
            <a:avLst/>
          </a:prstGeom>
        </p:spPr>
      </p:pic>
      <p:pic>
        <p:nvPicPr>
          <p:cNvPr id="44" name="图形 43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874086" y="2688997"/>
            <a:ext cx="306076" cy="306076"/>
          </a:xfrm>
          <a:prstGeom prst="rect">
            <a:avLst/>
          </a:prstGeom>
        </p:spPr>
      </p:pic>
      <p:pic>
        <p:nvPicPr>
          <p:cNvPr id="45" name="图形 44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426985" y="2685249"/>
            <a:ext cx="306076" cy="306076"/>
          </a:xfrm>
          <a:prstGeom prst="rect">
            <a:avLst/>
          </a:prstGeom>
        </p:spPr>
      </p:pic>
      <p:pic>
        <p:nvPicPr>
          <p:cNvPr id="50" name="图形 49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640653" y="4231266"/>
            <a:ext cx="306076" cy="306076"/>
          </a:xfrm>
          <a:prstGeom prst="rect">
            <a:avLst/>
          </a:prstGeom>
        </p:spPr>
      </p:pic>
      <p:pic>
        <p:nvPicPr>
          <p:cNvPr id="51" name="图形 50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858197" y="4235014"/>
            <a:ext cx="306076" cy="306076"/>
          </a:xfrm>
          <a:prstGeom prst="rect">
            <a:avLst/>
          </a:prstGeom>
        </p:spPr>
      </p:pic>
      <p:pic>
        <p:nvPicPr>
          <p:cNvPr id="52" name="图形 51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411096" y="4231266"/>
            <a:ext cx="306076" cy="306076"/>
          </a:xfrm>
          <a:prstGeom prst="rect">
            <a:avLst/>
          </a:prstGeom>
        </p:spPr>
      </p:pic>
      <p:sp>
        <p:nvSpPr>
          <p:cNvPr id="53" name="文本框 52"/>
          <p:cNvSpPr txBox="1"/>
          <p:nvPr/>
        </p:nvSpPr>
        <p:spPr>
          <a:xfrm>
            <a:off x="11144993" y="1070837"/>
            <a:ext cx="691215" cy="5167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200" b="1" dirty="0">
                <a:solidFill>
                  <a:srgbClr val="00259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Max </a:t>
            </a:r>
            <a:endParaRPr lang="en-US" altLang="zh-CN" sz="1200" b="1" dirty="0">
              <a:solidFill>
                <a:srgbClr val="00259A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  <a:p>
            <a:pPr algn="ctr">
              <a:lnSpc>
                <a:spcPct val="120000"/>
              </a:lnSpc>
            </a:pPr>
            <a:r>
              <a:rPr lang="en-US" altLang="zh-CN" sz="1200" b="1" dirty="0">
                <a:solidFill>
                  <a:srgbClr val="00259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Fusion</a:t>
            </a:r>
            <a:endParaRPr lang="zh-CN" altLang="en-US" sz="1200" b="1" dirty="0">
              <a:solidFill>
                <a:srgbClr val="00259A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11738665" y="3098578"/>
            <a:ext cx="1775621" cy="29514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Task-Specific Masks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graphicFrame>
        <p:nvGraphicFramePr>
          <p:cNvPr id="55" name="表格 54"/>
          <p:cNvGraphicFramePr>
            <a:graphicFrameLocks noGrp="1"/>
          </p:cNvGraphicFramePr>
          <p:nvPr/>
        </p:nvGraphicFramePr>
        <p:xfrm>
          <a:off x="12302817" y="1200574"/>
          <a:ext cx="672950" cy="6912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8278"/>
                <a:gridCol w="227336"/>
                <a:gridCol w="227336"/>
              </a:tblGrid>
              <a:tr h="228000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60000">
                          <a:srgbClr val="00259A"/>
                        </a:gs>
                        <a:gs pos="40000">
                          <a:srgbClr val="39B273"/>
                        </a:gs>
                      </a:gsLst>
                      <a:lin ang="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</a:tr>
              <a:tr h="228000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</a:tr>
              <a:tr h="228000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40000">
                          <a:srgbClr val="00259A"/>
                        </a:gs>
                        <a:gs pos="60000">
                          <a:srgbClr val="FF9900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40000">
                          <a:srgbClr val="39B273"/>
                        </a:gs>
                        <a:gs pos="60000">
                          <a:srgbClr val="FF9900"/>
                        </a:gs>
                      </a:gsLst>
                      <a:lin ang="0" scaled="1"/>
                    </a:gradFill>
                  </a:tcPr>
                </a:tc>
              </a:tr>
            </a:tbl>
          </a:graphicData>
        </a:graphic>
      </p:graphicFrame>
      <p:cxnSp>
        <p:nvCxnSpPr>
          <p:cNvPr id="56" name="连接符: 肘形 55"/>
          <p:cNvCxnSpPr/>
          <p:nvPr/>
        </p:nvCxnSpPr>
        <p:spPr>
          <a:xfrm flipV="1">
            <a:off x="10051331" y="1546213"/>
            <a:ext cx="2251487" cy="870910"/>
          </a:xfrm>
          <a:prstGeom prst="bentConnector3">
            <a:avLst>
              <a:gd name="adj1" fmla="val 28641"/>
            </a:avLst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连接符: 肘形 56"/>
          <p:cNvCxnSpPr>
            <a:stCxn id="425" idx="3"/>
            <a:endCxn id="391" idx="1"/>
          </p:cNvCxnSpPr>
          <p:nvPr/>
        </p:nvCxnSpPr>
        <p:spPr>
          <a:xfrm>
            <a:off x="10051330" y="2417124"/>
            <a:ext cx="2358240" cy="473459"/>
          </a:xfrm>
          <a:prstGeom prst="bentConnector3">
            <a:avLst>
              <a:gd name="adj1" fmla="val 27342"/>
            </a:avLst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连接符: 肘形 58"/>
          <p:cNvCxnSpPr>
            <a:stCxn id="29" idx="3"/>
          </p:cNvCxnSpPr>
          <p:nvPr/>
        </p:nvCxnSpPr>
        <p:spPr>
          <a:xfrm>
            <a:off x="10049475" y="1286283"/>
            <a:ext cx="200759" cy="1124493"/>
          </a:xfrm>
          <a:prstGeom prst="bentConnector2">
            <a:avLst/>
          </a:prstGeom>
          <a:ln w="19050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连接符: 肘形 59"/>
          <p:cNvCxnSpPr/>
          <p:nvPr/>
        </p:nvCxnSpPr>
        <p:spPr>
          <a:xfrm flipV="1">
            <a:off x="10039228" y="2417123"/>
            <a:ext cx="211649" cy="1553842"/>
          </a:xfrm>
          <a:prstGeom prst="bentConnector2">
            <a:avLst/>
          </a:prstGeom>
          <a:ln w="19050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91" name="表格 390"/>
          <p:cNvGraphicFramePr>
            <a:graphicFrameLocks noGrp="1"/>
          </p:cNvGraphicFramePr>
          <p:nvPr/>
        </p:nvGraphicFramePr>
        <p:xfrm>
          <a:off x="12409570" y="2665996"/>
          <a:ext cx="433810" cy="4491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1966"/>
                <a:gridCol w="145922"/>
                <a:gridCol w="145922"/>
              </a:tblGrid>
              <a:tr h="144000"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</a:tr>
            </a:tbl>
          </a:graphicData>
        </a:graphic>
      </p:graphicFrame>
      <p:sp>
        <p:nvSpPr>
          <p:cNvPr id="404" name="箭头: 下 403"/>
          <p:cNvSpPr/>
          <p:nvPr/>
        </p:nvSpPr>
        <p:spPr>
          <a:xfrm rot="16200000">
            <a:off x="8850398" y="2025788"/>
            <a:ext cx="122400" cy="802800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u="sng" dirty="0">
              <a:solidFill>
                <a:schemeClr val="tx1"/>
              </a:solidFill>
            </a:endParaRPr>
          </a:p>
        </p:txBody>
      </p:sp>
      <p:sp>
        <p:nvSpPr>
          <p:cNvPr id="405" name="箭头: 下 404"/>
          <p:cNvSpPr/>
          <p:nvPr/>
        </p:nvSpPr>
        <p:spPr>
          <a:xfrm rot="16200000">
            <a:off x="8854558" y="894287"/>
            <a:ext cx="123223" cy="802481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u="sng" dirty="0">
              <a:solidFill>
                <a:schemeClr val="tx1"/>
              </a:solidFill>
            </a:endParaRPr>
          </a:p>
        </p:txBody>
      </p:sp>
      <p:graphicFrame>
        <p:nvGraphicFramePr>
          <p:cNvPr id="425" name="表格 424"/>
          <p:cNvGraphicFramePr>
            <a:graphicFrameLocks noGrp="1"/>
          </p:cNvGraphicFramePr>
          <p:nvPr/>
        </p:nvGraphicFramePr>
        <p:xfrm>
          <a:off x="9511392" y="2147123"/>
          <a:ext cx="539939" cy="54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5135"/>
                <a:gridCol w="182402"/>
                <a:gridCol w="182402"/>
              </a:tblGrid>
              <a:tr h="180000"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F5CE">
                        <a:alpha val="9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>
                        <a:alpha val="9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FEE4">
                        <a:alpha val="93000"/>
                      </a:srgbClr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>
                        <a:alpha val="9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F6B1">
                        <a:alpha val="9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F8B6">
                        <a:alpha val="92549"/>
                      </a:srgbClr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FEE2">
                        <a:alpha val="9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FEE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>
                        <a:alpha val="93000"/>
                      </a:srgbClr>
                    </a:solidFill>
                  </a:tcPr>
                </a:tc>
              </a:tr>
            </a:tbl>
          </a:graphicData>
        </a:graphic>
      </p:graphicFrame>
      <p:pic>
        <p:nvPicPr>
          <p:cNvPr id="426" name="图形 42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854571" y="862696"/>
            <a:ext cx="365031" cy="360000"/>
          </a:xfrm>
          <a:prstGeom prst="rect">
            <a:avLst/>
          </a:prstGeom>
        </p:spPr>
      </p:pic>
      <p:pic>
        <p:nvPicPr>
          <p:cNvPr id="436" name="图形 435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973423" y="936824"/>
            <a:ext cx="360000" cy="360000"/>
          </a:xfrm>
          <a:prstGeom prst="rect">
            <a:avLst/>
          </a:prstGeom>
        </p:spPr>
      </p:pic>
      <p:sp>
        <p:nvSpPr>
          <p:cNvPr id="437" name="文本框 436"/>
          <p:cNvSpPr txBox="1"/>
          <p:nvPr/>
        </p:nvSpPr>
        <p:spPr>
          <a:xfrm>
            <a:off x="8430676" y="962240"/>
            <a:ext cx="986167" cy="2951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1200" b="1">
                <a:solidFill>
                  <a:srgbClr val="00259A"/>
                </a:solidFill>
                <a:latin typeface="微软雅黑" panose="020B0503020204020204" pitchFamily="34" charset="-122"/>
                <a:ea typeface="微软雅黑" panose="020B0503020204020204" pitchFamily="34" charset="-122"/>
                <a:rtl val="0"/>
              </a:defRPr>
            </a:lvl1pPr>
          </a:lstStyle>
          <a:p>
            <a:r>
              <a:rPr lang="en-US" altLang="zh-CN" dirty="0">
                <a:sym typeface="微软雅黑" panose="020B0503020204020204" pitchFamily="34" charset="-122"/>
              </a:rPr>
              <a:t>Scaling up</a:t>
            </a:r>
            <a:endParaRPr lang="zh-CN" altLang="en-US" dirty="0">
              <a:sym typeface="微软雅黑" panose="020B0503020204020204" pitchFamily="34" charset="-122"/>
            </a:endParaRPr>
          </a:p>
        </p:txBody>
      </p:sp>
      <p:sp>
        <p:nvSpPr>
          <p:cNvPr id="438" name="文本框 437"/>
          <p:cNvSpPr txBox="1"/>
          <p:nvPr/>
        </p:nvSpPr>
        <p:spPr>
          <a:xfrm>
            <a:off x="8426028" y="2051066"/>
            <a:ext cx="986167" cy="2951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1200" b="1">
                <a:solidFill>
                  <a:srgbClr val="00259A"/>
                </a:solidFill>
                <a:latin typeface="微软雅黑" panose="020B0503020204020204" pitchFamily="34" charset="-122"/>
                <a:ea typeface="微软雅黑" panose="020B0503020204020204" pitchFamily="34" charset="-122"/>
                <a:rtl val="0"/>
              </a:defRPr>
            </a:lvl1pPr>
          </a:lstStyle>
          <a:p>
            <a:r>
              <a:rPr lang="en-US" altLang="zh-CN" dirty="0">
                <a:sym typeface="微软雅黑" panose="020B0503020204020204" pitchFamily="34" charset="-122"/>
              </a:rPr>
              <a:t>Scaling up</a:t>
            </a:r>
            <a:endParaRPr lang="zh-CN" altLang="en-US" dirty="0">
              <a:sym typeface="微软雅黑" panose="020B0503020204020204" pitchFamily="34" charset="-122"/>
            </a:endParaRPr>
          </a:p>
        </p:txBody>
      </p:sp>
      <p:sp>
        <p:nvSpPr>
          <p:cNvPr id="440" name="文本框 439"/>
          <p:cNvSpPr txBox="1"/>
          <p:nvPr/>
        </p:nvSpPr>
        <p:spPr>
          <a:xfrm>
            <a:off x="8453493" y="3625575"/>
            <a:ext cx="872355" cy="2951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1200" b="1">
                <a:solidFill>
                  <a:srgbClr val="00259A"/>
                </a:solidFill>
                <a:latin typeface="微软雅黑" panose="020B0503020204020204" pitchFamily="34" charset="-122"/>
                <a:ea typeface="微软雅黑" panose="020B0503020204020204" pitchFamily="34" charset="-122"/>
                <a:rtl val="0"/>
              </a:defRPr>
            </a:lvl1pPr>
          </a:lstStyle>
          <a:p>
            <a:r>
              <a:rPr lang="en-US" altLang="zh-CN" dirty="0">
                <a:sym typeface="微软雅黑" panose="020B0503020204020204" pitchFamily="34" charset="-122"/>
              </a:rPr>
              <a:t>Maintain</a:t>
            </a:r>
            <a:endParaRPr lang="zh-CN" altLang="en-US" dirty="0">
              <a:sym typeface="微软雅黑" panose="020B0503020204020204" pitchFamily="34" charset="-122"/>
            </a:endParaRPr>
          </a:p>
        </p:txBody>
      </p:sp>
      <p:grpSp>
        <p:nvGrpSpPr>
          <p:cNvPr id="449" name="组合 448"/>
          <p:cNvGrpSpPr>
            <a:grpSpLocks noChangeAspect="1"/>
          </p:cNvGrpSpPr>
          <p:nvPr/>
        </p:nvGrpSpPr>
        <p:grpSpPr>
          <a:xfrm>
            <a:off x="12996260" y="1618781"/>
            <a:ext cx="356695" cy="324000"/>
            <a:chOff x="3957049" y="2239041"/>
            <a:chExt cx="570929" cy="518597"/>
          </a:xfrm>
        </p:grpSpPr>
        <p:pic>
          <p:nvPicPr>
            <p:cNvPr id="450" name="图形 449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957049" y="2239041"/>
              <a:ext cx="434982" cy="434980"/>
            </a:xfrm>
            <a:prstGeom prst="rect">
              <a:avLst/>
            </a:prstGeom>
          </p:spPr>
        </p:pic>
        <p:sp>
          <p:nvSpPr>
            <p:cNvPr id="451" name="任意多边形: 形状 450"/>
            <p:cNvSpPr/>
            <p:nvPr/>
          </p:nvSpPr>
          <p:spPr>
            <a:xfrm>
              <a:off x="4141654" y="2399302"/>
              <a:ext cx="337983" cy="330622"/>
            </a:xfrm>
            <a:custGeom>
              <a:avLst/>
              <a:gdLst>
                <a:gd name="connsiteX0" fmla="*/ -432 w 326293"/>
                <a:gd name="connsiteY0" fmla="*/ 171393 h 343466"/>
                <a:gd name="connsiteX1" fmla="*/ 162715 w 326293"/>
                <a:gd name="connsiteY1" fmla="*/ -340 h 343466"/>
                <a:gd name="connsiteX2" fmla="*/ 325861 w 326293"/>
                <a:gd name="connsiteY2" fmla="*/ 171393 h 343466"/>
                <a:gd name="connsiteX3" fmla="*/ 162715 w 326293"/>
                <a:gd name="connsiteY3" fmla="*/ 343126 h 343466"/>
                <a:gd name="connsiteX4" fmla="*/ -432 w 326293"/>
                <a:gd name="connsiteY4" fmla="*/ 171393 h 34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6293" h="343466">
                  <a:moveTo>
                    <a:pt x="-432" y="171393"/>
                  </a:moveTo>
                  <a:cubicBezTo>
                    <a:pt x="-432" y="76548"/>
                    <a:pt x="72623" y="-340"/>
                    <a:pt x="162715" y="-340"/>
                  </a:cubicBezTo>
                  <a:cubicBezTo>
                    <a:pt x="252806" y="-340"/>
                    <a:pt x="325861" y="76548"/>
                    <a:pt x="325861" y="171393"/>
                  </a:cubicBezTo>
                  <a:cubicBezTo>
                    <a:pt x="325861" y="266238"/>
                    <a:pt x="252806" y="343126"/>
                    <a:pt x="162715" y="343126"/>
                  </a:cubicBezTo>
                  <a:cubicBezTo>
                    <a:pt x="72623" y="343126"/>
                    <a:pt x="-432" y="266238"/>
                    <a:pt x="-432" y="171393"/>
                  </a:cubicBezTo>
                  <a:close/>
                </a:path>
              </a:pathLst>
            </a:custGeom>
            <a:solidFill>
              <a:srgbClr val="FFFFFF"/>
            </a:solidFill>
            <a:ln w="34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pic>
          <p:nvPicPr>
            <p:cNvPr id="452" name="图形 451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152653" y="2408845"/>
              <a:ext cx="375325" cy="348793"/>
            </a:xfrm>
            <a:prstGeom prst="rect">
              <a:avLst/>
            </a:prstGeom>
          </p:spPr>
        </p:pic>
      </p:grpSp>
      <p:sp>
        <p:nvSpPr>
          <p:cNvPr id="453" name="文本框 452"/>
          <p:cNvSpPr txBox="1"/>
          <p:nvPr/>
        </p:nvSpPr>
        <p:spPr>
          <a:xfrm>
            <a:off x="11759936" y="1896889"/>
            <a:ext cx="1807735" cy="29514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Fusion Parameters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graphicFrame>
        <p:nvGraphicFramePr>
          <p:cNvPr id="463" name="表格 462"/>
          <p:cNvGraphicFramePr>
            <a:graphicFrameLocks noGrp="1"/>
          </p:cNvGraphicFramePr>
          <p:nvPr/>
        </p:nvGraphicFramePr>
        <p:xfrm>
          <a:off x="9521078" y="3696809"/>
          <a:ext cx="539939" cy="54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5135"/>
                <a:gridCol w="182402"/>
                <a:gridCol w="182402"/>
              </a:tblGrid>
              <a:tr h="180000"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ADFB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ADFB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6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6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11473110" y="3795505"/>
          <a:ext cx="672950" cy="6912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8278"/>
                <a:gridCol w="227336"/>
                <a:gridCol w="227336"/>
              </a:tblGrid>
              <a:tr h="228000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66"/>
                    </a:solidFill>
                  </a:tcPr>
                </a:tc>
              </a:tr>
              <a:tr h="228000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60000">
                          <a:srgbClr val="FFFDB8"/>
                        </a:gs>
                        <a:gs pos="40000">
                          <a:srgbClr val="BFE6D1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6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</a:tr>
              <a:tr h="228000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40000">
                          <a:srgbClr val="00259A"/>
                        </a:gs>
                        <a:gs pos="60000">
                          <a:srgbClr val="FFC266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66"/>
                    </a:solidFill>
                  </a:tcPr>
                </a:tc>
              </a:tr>
            </a:tbl>
          </a:graphicData>
        </a:graphic>
      </p:graphicFrame>
      <p:pic>
        <p:nvPicPr>
          <p:cNvPr id="26" name="图形 25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115008" y="3619697"/>
            <a:ext cx="360000" cy="360000"/>
          </a:xfrm>
          <a:prstGeom prst="rect">
            <a:avLst/>
          </a:prstGeom>
        </p:spPr>
      </p:pic>
      <p:pic>
        <p:nvPicPr>
          <p:cNvPr id="30" name="图形 29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156625" y="3522757"/>
            <a:ext cx="365031" cy="360000"/>
          </a:xfrm>
          <a:prstGeom prst="rect">
            <a:avLst/>
          </a:prstGeom>
        </p:spPr>
      </p:pic>
      <p:grpSp>
        <p:nvGrpSpPr>
          <p:cNvPr id="31" name="组合 30"/>
          <p:cNvGrpSpPr>
            <a:grpSpLocks noChangeAspect="1"/>
          </p:cNvGrpSpPr>
          <p:nvPr/>
        </p:nvGrpSpPr>
        <p:grpSpPr>
          <a:xfrm>
            <a:off x="12180410" y="4324783"/>
            <a:ext cx="356695" cy="324000"/>
            <a:chOff x="3957049" y="2239041"/>
            <a:chExt cx="570929" cy="518597"/>
          </a:xfrm>
        </p:grpSpPr>
        <p:pic>
          <p:nvPicPr>
            <p:cNvPr id="36" name="图形 35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957049" y="2239041"/>
              <a:ext cx="434982" cy="434980"/>
            </a:xfrm>
            <a:prstGeom prst="rect">
              <a:avLst/>
            </a:prstGeom>
          </p:spPr>
        </p:pic>
        <p:sp>
          <p:nvSpPr>
            <p:cNvPr id="37" name="任意多边形: 形状 36"/>
            <p:cNvSpPr/>
            <p:nvPr/>
          </p:nvSpPr>
          <p:spPr>
            <a:xfrm>
              <a:off x="4141654" y="2399302"/>
              <a:ext cx="337983" cy="330622"/>
            </a:xfrm>
            <a:custGeom>
              <a:avLst/>
              <a:gdLst>
                <a:gd name="connsiteX0" fmla="*/ -432 w 326293"/>
                <a:gd name="connsiteY0" fmla="*/ 171393 h 343466"/>
                <a:gd name="connsiteX1" fmla="*/ 162715 w 326293"/>
                <a:gd name="connsiteY1" fmla="*/ -340 h 343466"/>
                <a:gd name="connsiteX2" fmla="*/ 325861 w 326293"/>
                <a:gd name="connsiteY2" fmla="*/ 171393 h 343466"/>
                <a:gd name="connsiteX3" fmla="*/ 162715 w 326293"/>
                <a:gd name="connsiteY3" fmla="*/ 343126 h 343466"/>
                <a:gd name="connsiteX4" fmla="*/ -432 w 326293"/>
                <a:gd name="connsiteY4" fmla="*/ 171393 h 34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6293" h="343466">
                  <a:moveTo>
                    <a:pt x="-432" y="171393"/>
                  </a:moveTo>
                  <a:cubicBezTo>
                    <a:pt x="-432" y="76548"/>
                    <a:pt x="72623" y="-340"/>
                    <a:pt x="162715" y="-340"/>
                  </a:cubicBezTo>
                  <a:cubicBezTo>
                    <a:pt x="252806" y="-340"/>
                    <a:pt x="325861" y="76548"/>
                    <a:pt x="325861" y="171393"/>
                  </a:cubicBezTo>
                  <a:cubicBezTo>
                    <a:pt x="325861" y="266238"/>
                    <a:pt x="252806" y="343126"/>
                    <a:pt x="162715" y="343126"/>
                  </a:cubicBezTo>
                  <a:cubicBezTo>
                    <a:pt x="72623" y="343126"/>
                    <a:pt x="-432" y="266238"/>
                    <a:pt x="-432" y="171393"/>
                  </a:cubicBezTo>
                  <a:close/>
                </a:path>
              </a:pathLst>
            </a:custGeom>
            <a:solidFill>
              <a:srgbClr val="FFFFFF"/>
            </a:solidFill>
            <a:ln w="34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pic>
          <p:nvPicPr>
            <p:cNvPr id="40" name="图形 39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152653" y="2408845"/>
              <a:ext cx="375325" cy="348793"/>
            </a:xfrm>
            <a:prstGeom prst="rect">
              <a:avLst/>
            </a:prstGeom>
          </p:spPr>
        </p:pic>
      </p:grpSp>
      <p:pic>
        <p:nvPicPr>
          <p:cNvPr id="42" name="图形 41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2349525" y="4209106"/>
            <a:ext cx="502807" cy="502807"/>
          </a:xfrm>
          <a:prstGeom prst="rect">
            <a:avLst/>
          </a:prstGeom>
        </p:spPr>
      </p:pic>
      <p:cxnSp>
        <p:nvCxnSpPr>
          <p:cNvPr id="456" name="连接符: 肘形 455"/>
          <p:cNvCxnSpPr>
            <a:stCxn id="10" idx="3"/>
            <a:endCxn id="14" idx="2"/>
          </p:cNvCxnSpPr>
          <p:nvPr/>
        </p:nvCxnSpPr>
        <p:spPr>
          <a:xfrm>
            <a:off x="8124497" y="1286283"/>
            <a:ext cx="3685088" cy="3200501"/>
          </a:xfrm>
          <a:prstGeom prst="bentConnector4">
            <a:avLst>
              <a:gd name="adj1" fmla="val 5802"/>
              <a:gd name="adj2" fmla="val 107143"/>
            </a:avLst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4" name="文本框 473"/>
          <p:cNvSpPr txBox="1"/>
          <p:nvPr/>
        </p:nvSpPr>
        <p:spPr>
          <a:xfrm>
            <a:off x="9488163" y="4711913"/>
            <a:ext cx="1586525" cy="2951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1200" b="1">
                <a:solidFill>
                  <a:srgbClr val="00259A"/>
                </a:solidFill>
                <a:latin typeface="微软雅黑" panose="020B0503020204020204" pitchFamily="34" charset="-122"/>
                <a:ea typeface="微软雅黑" panose="020B0503020204020204" pitchFamily="34" charset="-122"/>
                <a:rtl val="0"/>
              </a:defRPr>
            </a:lvl1pPr>
          </a:lstStyle>
          <a:p>
            <a:r>
              <a:rPr lang="en-US" altLang="zh-CN" dirty="0">
                <a:solidFill>
                  <a:srgbClr val="FF0000"/>
                </a:solidFill>
                <a:sym typeface="微软雅黑" panose="020B0503020204020204" pitchFamily="34" charset="-122"/>
              </a:rPr>
              <a:t>Direct Max Fusion</a:t>
            </a:r>
            <a:endParaRPr lang="zh-CN" altLang="en-US" dirty="0">
              <a:solidFill>
                <a:srgbClr val="FF0000"/>
              </a:solidFill>
              <a:sym typeface="微软雅黑" panose="020B0503020204020204" pitchFamily="34" charset="-122"/>
            </a:endParaRPr>
          </a:p>
        </p:txBody>
      </p:sp>
      <p:cxnSp>
        <p:nvCxnSpPr>
          <p:cNvPr id="476" name="直接连接符 475"/>
          <p:cNvCxnSpPr>
            <a:stCxn id="7" idx="3"/>
          </p:cNvCxnSpPr>
          <p:nvPr/>
        </p:nvCxnSpPr>
        <p:spPr>
          <a:xfrm>
            <a:off x="8133219" y="2417260"/>
            <a:ext cx="210903" cy="0"/>
          </a:xfrm>
          <a:prstGeom prst="line">
            <a:avLst/>
          </a:prstGeom>
          <a:ln w="1905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9" name="直接连接符 478"/>
          <p:cNvCxnSpPr>
            <a:stCxn id="2" idx="3"/>
          </p:cNvCxnSpPr>
          <p:nvPr/>
        </p:nvCxnSpPr>
        <p:spPr>
          <a:xfrm>
            <a:off x="8133219" y="3966809"/>
            <a:ext cx="210903" cy="0"/>
          </a:xfrm>
          <a:prstGeom prst="line">
            <a:avLst/>
          </a:prstGeom>
          <a:ln w="1905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10895506" y="2405234"/>
            <a:ext cx="1183721" cy="5167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1200" b="1">
                <a:solidFill>
                  <a:srgbClr val="00259A"/>
                </a:solidFill>
                <a:latin typeface="微软雅黑" panose="020B0503020204020204" pitchFamily="34" charset="-122"/>
                <a:ea typeface="微软雅黑" panose="020B0503020204020204" pitchFamily="34" charset="-122"/>
                <a:rtl val="0"/>
              </a:defRPr>
            </a:lvl1pPr>
          </a:lstStyle>
          <a:p>
            <a:r>
              <a:rPr lang="en-US" altLang="zh-CN" dirty="0">
                <a:sym typeface="微软雅黑" panose="020B0503020204020204" pitchFamily="34" charset="-122"/>
              </a:rPr>
              <a:t>Masks</a:t>
            </a:r>
            <a:endParaRPr lang="en-US" altLang="zh-CN" dirty="0">
              <a:sym typeface="微软雅黑" panose="020B0503020204020204" pitchFamily="34" charset="-122"/>
            </a:endParaRPr>
          </a:p>
          <a:p>
            <a:r>
              <a:rPr lang="en-US" altLang="zh-CN" dirty="0">
                <a:sym typeface="微软雅黑" panose="020B0503020204020204" pitchFamily="34" charset="-122"/>
              </a:rPr>
              <a:t>Construction</a:t>
            </a:r>
            <a:endParaRPr lang="zh-CN" altLang="en-US" dirty="0">
              <a:sym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8430186" y="587838"/>
            <a:ext cx="1927237" cy="3953254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 w="76200">
                <a:solidFill>
                  <a:srgbClr val="00259A"/>
                </a:solidFill>
              </a:ln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376959" y="584943"/>
            <a:ext cx="1135247" cy="32893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1200" b="1">
                <a:solidFill>
                  <a:srgbClr val="00259A"/>
                </a:solidFill>
                <a:latin typeface="微软雅黑" panose="020B0503020204020204" pitchFamily="34" charset="-122"/>
                <a:ea typeface="微软雅黑" panose="020B0503020204020204" pitchFamily="34" charset="-122"/>
                <a:rtl val="0"/>
              </a:defRPr>
            </a:lvl1pPr>
          </a:lstStyle>
          <a:p>
            <a:r>
              <a:rPr lang="en-US" altLang="zh-CN" sz="1400" dirty="0">
                <a:solidFill>
                  <a:srgbClr val="FF0000"/>
                </a:solidFill>
                <a:sym typeface="微软雅黑" panose="020B0503020204020204" pitchFamily="34" charset="-122"/>
              </a:rPr>
              <a:t>(1) Scaling</a:t>
            </a:r>
            <a:endParaRPr lang="zh-CN" altLang="en-US" sz="1400" dirty="0">
              <a:solidFill>
                <a:srgbClr val="FF0000"/>
              </a:solidFill>
              <a:sym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0467927" y="584943"/>
            <a:ext cx="3276817" cy="2844058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 w="76200">
                <a:solidFill>
                  <a:srgbClr val="00259A"/>
                </a:solidFill>
              </a:ln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0403344" y="569880"/>
            <a:ext cx="3371879" cy="32893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1200" b="1">
                <a:solidFill>
                  <a:srgbClr val="00259A"/>
                </a:solidFill>
                <a:latin typeface="微软雅黑" panose="020B0503020204020204" pitchFamily="34" charset="-122"/>
                <a:ea typeface="微软雅黑" panose="020B0503020204020204" pitchFamily="34" charset="-122"/>
                <a:rtl val="0"/>
              </a:defRPr>
            </a:lvl1pPr>
          </a:lstStyle>
          <a:p>
            <a:r>
              <a:rPr lang="en-US" altLang="zh-CN" sz="1400" dirty="0">
                <a:solidFill>
                  <a:srgbClr val="FF0000"/>
                </a:solidFill>
                <a:sym typeface="微软雅黑" panose="020B0503020204020204" pitchFamily="34" charset="-122"/>
              </a:rPr>
              <a:t>(2) Fusion Parameters Construction</a:t>
            </a:r>
            <a:endParaRPr lang="zh-CN" altLang="en-US" sz="1400" dirty="0">
              <a:solidFill>
                <a:srgbClr val="FF0000"/>
              </a:solidFill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4465071" y="1471091"/>
          <a:ext cx="672950" cy="6912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8278"/>
                <a:gridCol w="227336"/>
                <a:gridCol w="227336"/>
              </a:tblGrid>
              <a:tr h="228000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60000">
                          <a:srgbClr val="00259A"/>
                        </a:gs>
                        <a:gs pos="40000">
                          <a:srgbClr val="39B273"/>
                        </a:gs>
                      </a:gsLst>
                      <a:lin ang="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</a:tr>
              <a:tr h="228000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</a:tr>
              <a:tr h="228000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40000">
                          <a:srgbClr val="00259A"/>
                        </a:gs>
                        <a:gs pos="60000">
                          <a:srgbClr val="FF9900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40000">
                          <a:srgbClr val="39B273"/>
                        </a:gs>
                        <a:gs pos="60000">
                          <a:srgbClr val="FF9900"/>
                        </a:gs>
                      </a:gsLst>
                      <a:lin ang="0" scaled="1"/>
                    </a:gradFill>
                  </a:tcPr>
                </a:tc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4645299" y="2757451"/>
          <a:ext cx="433810" cy="4491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1966"/>
                <a:gridCol w="145922"/>
                <a:gridCol w="145922"/>
              </a:tblGrid>
              <a:tr h="144000"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4596280" y="2819776"/>
          <a:ext cx="433810" cy="4491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1966"/>
                <a:gridCol w="145922"/>
                <a:gridCol w="145922"/>
              </a:tblGrid>
              <a:tr h="144000"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5" name="文本框 14"/>
          <p:cNvSpPr txBox="1"/>
          <p:nvPr/>
        </p:nvSpPr>
        <p:spPr>
          <a:xfrm>
            <a:off x="3979758" y="3323168"/>
            <a:ext cx="1721898" cy="29514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Task-Specific Masks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graphicFrame>
        <p:nvGraphicFramePr>
          <p:cNvPr id="18" name="表格 17"/>
          <p:cNvGraphicFramePr>
            <a:graphicFrameLocks noGrp="1"/>
          </p:cNvGraphicFramePr>
          <p:nvPr/>
        </p:nvGraphicFramePr>
        <p:xfrm>
          <a:off x="4547261" y="2882101"/>
          <a:ext cx="433810" cy="4491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1966"/>
                <a:gridCol w="145922"/>
                <a:gridCol w="145922"/>
              </a:tblGrid>
              <a:tr h="144000"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</a:tr>
            </a:tbl>
          </a:graphicData>
        </a:graphic>
      </p:graphicFrame>
      <p:pic>
        <p:nvPicPr>
          <p:cNvPr id="19" name="图形 18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8464" y="1134525"/>
            <a:ext cx="365031" cy="360000"/>
          </a:xfrm>
          <a:prstGeom prst="rect">
            <a:avLst/>
          </a:prstGeom>
        </p:spPr>
      </p:pic>
      <p:pic>
        <p:nvPicPr>
          <p:cNvPr id="21" name="图形 2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47316" y="1208653"/>
            <a:ext cx="360000" cy="360000"/>
          </a:xfrm>
          <a:prstGeom prst="rect">
            <a:avLst/>
          </a:prstGeom>
        </p:spPr>
      </p:pic>
      <p:grpSp>
        <p:nvGrpSpPr>
          <p:cNvPr id="23" name="组合 22"/>
          <p:cNvGrpSpPr>
            <a:grpSpLocks noChangeAspect="1"/>
          </p:cNvGrpSpPr>
          <p:nvPr/>
        </p:nvGrpSpPr>
        <p:grpSpPr>
          <a:xfrm>
            <a:off x="5170153" y="1890610"/>
            <a:ext cx="356695" cy="324000"/>
            <a:chOff x="3957049" y="2239041"/>
            <a:chExt cx="570929" cy="518597"/>
          </a:xfrm>
        </p:grpSpPr>
        <p:pic>
          <p:nvPicPr>
            <p:cNvPr id="25" name="图形 24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957049" y="2239041"/>
              <a:ext cx="434982" cy="434980"/>
            </a:xfrm>
            <a:prstGeom prst="rect">
              <a:avLst/>
            </a:prstGeom>
          </p:spPr>
        </p:pic>
        <p:sp>
          <p:nvSpPr>
            <p:cNvPr id="26" name="任意多边形: 形状 25"/>
            <p:cNvSpPr/>
            <p:nvPr/>
          </p:nvSpPr>
          <p:spPr>
            <a:xfrm>
              <a:off x="4141654" y="2399302"/>
              <a:ext cx="337983" cy="330622"/>
            </a:xfrm>
            <a:custGeom>
              <a:avLst/>
              <a:gdLst>
                <a:gd name="connsiteX0" fmla="*/ -432 w 326293"/>
                <a:gd name="connsiteY0" fmla="*/ 171393 h 343466"/>
                <a:gd name="connsiteX1" fmla="*/ 162715 w 326293"/>
                <a:gd name="connsiteY1" fmla="*/ -340 h 343466"/>
                <a:gd name="connsiteX2" fmla="*/ 325861 w 326293"/>
                <a:gd name="connsiteY2" fmla="*/ 171393 h 343466"/>
                <a:gd name="connsiteX3" fmla="*/ 162715 w 326293"/>
                <a:gd name="connsiteY3" fmla="*/ 343126 h 343466"/>
                <a:gd name="connsiteX4" fmla="*/ -432 w 326293"/>
                <a:gd name="connsiteY4" fmla="*/ 171393 h 34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6293" h="343466">
                  <a:moveTo>
                    <a:pt x="-432" y="171393"/>
                  </a:moveTo>
                  <a:cubicBezTo>
                    <a:pt x="-432" y="76548"/>
                    <a:pt x="72623" y="-340"/>
                    <a:pt x="162715" y="-340"/>
                  </a:cubicBezTo>
                  <a:cubicBezTo>
                    <a:pt x="252806" y="-340"/>
                    <a:pt x="325861" y="76548"/>
                    <a:pt x="325861" y="171393"/>
                  </a:cubicBezTo>
                  <a:cubicBezTo>
                    <a:pt x="325861" y="266238"/>
                    <a:pt x="252806" y="343126"/>
                    <a:pt x="162715" y="343126"/>
                  </a:cubicBezTo>
                  <a:cubicBezTo>
                    <a:pt x="72623" y="343126"/>
                    <a:pt x="-432" y="266238"/>
                    <a:pt x="-432" y="171393"/>
                  </a:cubicBezTo>
                  <a:close/>
                </a:path>
              </a:pathLst>
            </a:custGeom>
            <a:solidFill>
              <a:srgbClr val="FFFFFF"/>
            </a:solidFill>
            <a:ln w="34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pic>
          <p:nvPicPr>
            <p:cNvPr id="27" name="图形 26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152653" y="2408845"/>
              <a:ext cx="375325" cy="348793"/>
            </a:xfrm>
            <a:prstGeom prst="rect">
              <a:avLst/>
            </a:prstGeom>
          </p:spPr>
        </p:pic>
      </p:grpSp>
      <p:sp>
        <p:nvSpPr>
          <p:cNvPr id="30" name="文本框 29"/>
          <p:cNvSpPr txBox="1"/>
          <p:nvPr/>
        </p:nvSpPr>
        <p:spPr>
          <a:xfrm>
            <a:off x="3979758" y="2222606"/>
            <a:ext cx="1643578" cy="29514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Fusion Parameters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cxnSp>
        <p:nvCxnSpPr>
          <p:cNvPr id="31" name="连接符: 肘形 30"/>
          <p:cNvCxnSpPr>
            <a:stCxn id="2" idx="3"/>
            <a:endCxn id="48" idx="1"/>
          </p:cNvCxnSpPr>
          <p:nvPr/>
        </p:nvCxnSpPr>
        <p:spPr>
          <a:xfrm>
            <a:off x="5138021" y="1816731"/>
            <a:ext cx="2515230" cy="736407"/>
          </a:xfrm>
          <a:prstGeom prst="bentConnector3">
            <a:avLst>
              <a:gd name="adj1" fmla="val 72116"/>
            </a:avLst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8" name="表格 47"/>
          <p:cNvGraphicFramePr>
            <a:graphicFrameLocks noGrp="1"/>
          </p:cNvGraphicFramePr>
          <p:nvPr/>
        </p:nvGraphicFramePr>
        <p:xfrm>
          <a:off x="7653251" y="2207498"/>
          <a:ext cx="672950" cy="6912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8278"/>
                <a:gridCol w="227336"/>
                <a:gridCol w="227336"/>
              </a:tblGrid>
              <a:tr h="228000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28000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28000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/>
                    </a:solidFill>
                  </a:tcPr>
                </a:tc>
              </a:tr>
            </a:tbl>
          </a:graphicData>
        </a:graphic>
      </p:graphicFrame>
      <p:sp>
        <p:nvSpPr>
          <p:cNvPr id="456" name="文本框 455"/>
          <p:cNvSpPr txBox="1"/>
          <p:nvPr/>
        </p:nvSpPr>
        <p:spPr>
          <a:xfrm>
            <a:off x="6886443" y="2240118"/>
            <a:ext cx="858223" cy="29514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200" b="1" dirty="0">
                <a:solidFill>
                  <a:srgbClr val="00259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Mask</a:t>
            </a:r>
            <a:endParaRPr lang="zh-CN" altLang="en-US" sz="1200" b="1" dirty="0">
              <a:solidFill>
                <a:srgbClr val="00259A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graphicFrame>
        <p:nvGraphicFramePr>
          <p:cNvPr id="463" name="表格 462"/>
          <p:cNvGraphicFramePr>
            <a:graphicFrameLocks noGrp="1"/>
          </p:cNvGraphicFramePr>
          <p:nvPr/>
        </p:nvGraphicFramePr>
        <p:xfrm>
          <a:off x="9249432" y="2216829"/>
          <a:ext cx="672950" cy="6912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8278"/>
                <a:gridCol w="227336"/>
                <a:gridCol w="227336"/>
              </a:tblGrid>
              <a:tr h="228000">
                <a:tc>
                  <a:txBody>
                    <a:bodyPr/>
                    <a:lstStyle/>
                    <a:p>
                      <a:endParaRPr lang="zh-CN" altLang="en-US" sz="900" dirty="0">
                        <a:solidFill>
                          <a:schemeClr val="tx1">
                            <a:alpha val="30000"/>
                          </a:schemeClr>
                        </a:solidFill>
                      </a:endParaRPr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>
                        <a:solidFill>
                          <a:schemeClr val="tx1">
                            <a:alpha val="30000"/>
                          </a:schemeClr>
                        </a:solidFill>
                      </a:endParaRPr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>
                        <a:solidFill>
                          <a:schemeClr val="tx1">
                            <a:alpha val="30000"/>
                          </a:schemeClr>
                        </a:solidFill>
                      </a:endParaRPr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30000"/>
                      </a:schemeClr>
                    </a:solidFill>
                  </a:tcPr>
                </a:tc>
              </a:tr>
              <a:tr h="228000">
                <a:tc>
                  <a:txBody>
                    <a:bodyPr/>
                    <a:lstStyle/>
                    <a:p>
                      <a:endParaRPr lang="zh-CN" altLang="en-US" sz="900" dirty="0">
                        <a:solidFill>
                          <a:schemeClr val="tx1">
                            <a:alpha val="30000"/>
                          </a:schemeClr>
                        </a:solidFill>
                      </a:endParaRPr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>
                        <a:solidFill>
                          <a:schemeClr val="tx1">
                            <a:alpha val="30000"/>
                          </a:schemeClr>
                        </a:solidFill>
                      </a:endParaRPr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>
                        <a:solidFill>
                          <a:schemeClr val="tx1">
                            <a:alpha val="30000"/>
                          </a:schemeClr>
                        </a:solidFill>
                      </a:endParaRPr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30000"/>
                      </a:schemeClr>
                    </a:solidFill>
                  </a:tcPr>
                </a:tc>
              </a:tr>
              <a:tr h="228000">
                <a:tc>
                  <a:txBody>
                    <a:bodyPr/>
                    <a:lstStyle/>
                    <a:p>
                      <a:endParaRPr lang="zh-CN" altLang="en-US" sz="900" dirty="0">
                        <a:solidFill>
                          <a:schemeClr val="tx1">
                            <a:alpha val="30000"/>
                          </a:schemeClr>
                        </a:solidFill>
                      </a:endParaRPr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>
                        <a:solidFill>
                          <a:schemeClr val="tx1">
                            <a:alpha val="30000"/>
                          </a:schemeClr>
                        </a:solidFill>
                      </a:endParaRPr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>
                        <a:solidFill>
                          <a:schemeClr val="tx1">
                            <a:alpha val="30000"/>
                          </a:schemeClr>
                        </a:solidFill>
                      </a:endParaRPr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>
                        <a:alpha val="3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64" name="箭头: 下 463"/>
          <p:cNvSpPr/>
          <p:nvPr/>
        </p:nvSpPr>
        <p:spPr>
          <a:xfrm rot="16200000">
            <a:off x="8712864" y="2192912"/>
            <a:ext cx="137597" cy="720446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u="sng" dirty="0">
              <a:solidFill>
                <a:schemeClr val="tx1"/>
              </a:solidFill>
            </a:endParaRPr>
          </a:p>
        </p:txBody>
      </p:sp>
      <p:sp>
        <p:nvSpPr>
          <p:cNvPr id="465" name="文本框 464"/>
          <p:cNvSpPr txBox="1"/>
          <p:nvPr/>
        </p:nvSpPr>
        <p:spPr>
          <a:xfrm>
            <a:off x="8386987" y="2240117"/>
            <a:ext cx="772070" cy="2951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200" b="1" dirty="0">
                <a:solidFill>
                  <a:srgbClr val="00259A"/>
                </a:solidFill>
                <a:latin typeface="微软雅黑" panose="020B0503020204020204" pitchFamily="34" charset="-122"/>
                <a:sym typeface="微软雅黑" panose="020B0503020204020204" pitchFamily="34" charset="-122"/>
                <a:rtl val="0"/>
              </a:rPr>
              <a:t>Restore</a:t>
            </a:r>
            <a:endParaRPr lang="zh-CN" altLang="en-US" sz="1400" b="1" dirty="0">
              <a:solidFill>
                <a:srgbClr val="00259A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466" name="Rectangle 1"/>
          <p:cNvSpPr>
            <a:spLocks noChangeArrowheads="1"/>
          </p:cNvSpPr>
          <p:nvPr/>
        </p:nvSpPr>
        <p:spPr bwMode="auto">
          <a:xfrm>
            <a:off x="9066605" y="1480423"/>
            <a:ext cx="1958761" cy="307777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rgbClr val="067D17"/>
                </a:solidFill>
                <a:latin typeface="Times New Roman" panose="02020603050405020304" pitchFamily="18" charset="0"/>
                <a:ea typeface="JetBrains Mono"/>
                <a:cs typeface="Times New Roman" panose="02020603050405020304" pitchFamily="18" charset="0"/>
              </a:rPr>
              <a:t>protected void open() …</a:t>
            </a:r>
            <a:endParaRPr lang="en-US" altLang="zh-CN" sz="1400" dirty="0">
              <a:solidFill>
                <a:srgbClr val="067D17"/>
              </a:solidFill>
              <a:latin typeface="Times New Roman" panose="02020603050405020304" pitchFamily="18" charset="0"/>
              <a:ea typeface="JetBrains Mono"/>
              <a:cs typeface="Times New Roman" panose="02020603050405020304" pitchFamily="18" charset="0"/>
            </a:endParaRPr>
          </a:p>
        </p:txBody>
      </p:sp>
      <p:cxnSp>
        <p:nvCxnSpPr>
          <p:cNvPr id="467" name="直接箭头连接符 466"/>
          <p:cNvCxnSpPr>
            <a:endCxn id="463" idx="0"/>
          </p:cNvCxnSpPr>
          <p:nvPr/>
        </p:nvCxnSpPr>
        <p:spPr>
          <a:xfrm>
            <a:off x="9585907" y="1788199"/>
            <a:ext cx="0" cy="428630"/>
          </a:xfrm>
          <a:prstGeom prst="straightConnector1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0" name="Rectangle 1"/>
          <p:cNvSpPr>
            <a:spLocks noChangeArrowheads="1"/>
          </p:cNvSpPr>
          <p:nvPr/>
        </p:nvSpPr>
        <p:spPr bwMode="auto">
          <a:xfrm>
            <a:off x="10157459" y="2408580"/>
            <a:ext cx="867907" cy="307777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rgbClr val="067D17"/>
                </a:solidFill>
                <a:latin typeface="Times New Roman" panose="02020603050405020304" pitchFamily="18" charset="0"/>
                <a:ea typeface="JetBrains Mono"/>
                <a:cs typeface="Times New Roman" panose="02020603050405020304" pitchFamily="18" charset="0"/>
              </a:rPr>
              <a:t>yes or no</a:t>
            </a:r>
            <a:endParaRPr lang="en-US" altLang="zh-CN" sz="1400" dirty="0">
              <a:solidFill>
                <a:srgbClr val="067D17"/>
              </a:solidFill>
              <a:latin typeface="Times New Roman" panose="02020603050405020304" pitchFamily="18" charset="0"/>
              <a:ea typeface="JetBrains Mono"/>
              <a:cs typeface="Times New Roman" panose="02020603050405020304" pitchFamily="18" charset="0"/>
            </a:endParaRPr>
          </a:p>
        </p:txBody>
      </p:sp>
      <p:cxnSp>
        <p:nvCxnSpPr>
          <p:cNvPr id="471" name="直接箭头连接符 470"/>
          <p:cNvCxnSpPr>
            <a:stCxn id="463" idx="3"/>
            <a:endCxn id="470" idx="1"/>
          </p:cNvCxnSpPr>
          <p:nvPr/>
        </p:nvCxnSpPr>
        <p:spPr>
          <a:xfrm>
            <a:off x="9922382" y="2562468"/>
            <a:ext cx="235076" cy="0"/>
          </a:xfrm>
          <a:prstGeom prst="straightConnector1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6341337" y="2812532"/>
          <a:ext cx="433810" cy="4491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1966"/>
                <a:gridCol w="145922"/>
                <a:gridCol w="145922"/>
              </a:tblGrid>
              <a:tr h="144000"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</a:tr>
            </a:tbl>
          </a:graphicData>
        </a:graphic>
      </p:graphicFrame>
      <p:cxnSp>
        <p:nvCxnSpPr>
          <p:cNvPr id="12" name="直接箭头连接符 11"/>
          <p:cNvCxnSpPr>
            <a:stCxn id="14" idx="3"/>
            <a:endCxn id="9" idx="1"/>
          </p:cNvCxnSpPr>
          <p:nvPr/>
        </p:nvCxnSpPr>
        <p:spPr>
          <a:xfrm flipV="1">
            <a:off x="5030091" y="3037118"/>
            <a:ext cx="1311247" cy="7244"/>
          </a:xfrm>
          <a:prstGeom prst="straightConnector1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5064541" y="2564794"/>
            <a:ext cx="1280618" cy="51674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200" b="1" dirty="0">
                <a:solidFill>
                  <a:srgbClr val="00259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Vulnerability</a:t>
            </a:r>
            <a:endParaRPr lang="en-US" altLang="zh-CN" sz="1200" b="1" dirty="0">
              <a:solidFill>
                <a:srgbClr val="00259A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  <a:p>
            <a:pPr algn="ctr">
              <a:lnSpc>
                <a:spcPct val="120000"/>
              </a:lnSpc>
            </a:pPr>
            <a:r>
              <a:rPr lang="en-US" altLang="zh-CN" sz="1200" b="1" dirty="0">
                <a:solidFill>
                  <a:srgbClr val="00259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 Detection</a:t>
            </a:r>
            <a:endParaRPr lang="zh-CN" altLang="en-US" sz="1200" b="1" dirty="0">
              <a:solidFill>
                <a:srgbClr val="00259A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cxnSp>
        <p:nvCxnSpPr>
          <p:cNvPr id="35" name="连接符: 肘形 34"/>
          <p:cNvCxnSpPr>
            <a:stCxn id="9" idx="3"/>
            <a:endCxn id="48" idx="1"/>
          </p:cNvCxnSpPr>
          <p:nvPr/>
        </p:nvCxnSpPr>
        <p:spPr>
          <a:xfrm flipV="1">
            <a:off x="6775147" y="2553138"/>
            <a:ext cx="878104" cy="483981"/>
          </a:xfrm>
          <a:prstGeom prst="bentConnector3">
            <a:avLst>
              <a:gd name="adj1" fmla="val 19917"/>
            </a:avLst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3270091" y="267900"/>
            <a:ext cx="7244008" cy="3525520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3270091" y="3905180"/>
            <a:ext cx="7244008" cy="2729300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279422" y="3421297"/>
            <a:ext cx="1960808" cy="36279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Fusion Procedure</a:t>
            </a:r>
            <a:endParaRPr lang="zh-CN" altLang="en-US" sz="16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788277" y="6270370"/>
            <a:ext cx="3848325" cy="36279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Task-Specific Inference Procedure</a:t>
            </a:r>
            <a:endParaRPr lang="zh-CN" altLang="en-US" sz="16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pic>
        <p:nvPicPr>
          <p:cNvPr id="19" name="图形 18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80053" y="4011394"/>
            <a:ext cx="7024085" cy="2516872"/>
          </a:xfrm>
          <a:prstGeom prst="rect">
            <a:avLst/>
          </a:prstGeom>
        </p:spPr>
      </p:pic>
      <p:pic>
        <p:nvPicPr>
          <p:cNvPr id="3" name="图形 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64352" y="375987"/>
            <a:ext cx="7185600" cy="33093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89" name="表格 488"/>
          <p:cNvGraphicFramePr>
            <a:graphicFrameLocks noGrp="1"/>
          </p:cNvGraphicFramePr>
          <p:nvPr/>
        </p:nvGraphicFramePr>
        <p:xfrm>
          <a:off x="11458282" y="1631248"/>
          <a:ext cx="672950" cy="6912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8278"/>
                <a:gridCol w="227336"/>
                <a:gridCol w="227336"/>
              </a:tblGrid>
              <a:tr h="228000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28000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28000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95" name="表格 394"/>
          <p:cNvGraphicFramePr>
            <a:graphicFrameLocks noGrp="1"/>
          </p:cNvGraphicFramePr>
          <p:nvPr/>
        </p:nvGraphicFramePr>
        <p:xfrm>
          <a:off x="8513724" y="2460482"/>
          <a:ext cx="433810" cy="4535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1966"/>
                <a:gridCol w="145922"/>
                <a:gridCol w="145922"/>
              </a:tblGrid>
              <a:tr h="151183"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</a:tr>
              <a:tr h="151183"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51183"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94" name="表格 393"/>
          <p:cNvGraphicFramePr>
            <a:graphicFrameLocks noGrp="1"/>
          </p:cNvGraphicFramePr>
          <p:nvPr/>
        </p:nvGraphicFramePr>
        <p:xfrm>
          <a:off x="8464705" y="2522807"/>
          <a:ext cx="433810" cy="4535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1966"/>
                <a:gridCol w="145922"/>
                <a:gridCol w="145922"/>
              </a:tblGrid>
              <a:tr h="151183"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51183"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</a:tr>
              <a:tr h="151183"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3241391" y="3094352"/>
            <a:ext cx="364202" cy="32707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400" b="1" dirty="0">
                <a:latin typeface="Arial" panose="020B0604020202020204"/>
                <a:cs typeface="Arial" panose="020B0604020202020204"/>
                <a:sym typeface="Arial" panose="020B0604020202020204"/>
                <a:rtl val="0"/>
              </a:rPr>
              <a:t>…</a:t>
            </a:r>
            <a:endParaRPr lang="zh-CN" altLang="en-US" sz="1400" b="1" dirty="0">
              <a:latin typeface="Arial" panose="020B0604020202020204"/>
              <a:cs typeface="Arial" panose="020B0604020202020204"/>
              <a:sym typeface="Arial" panose="020B0604020202020204"/>
              <a:rtl val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858040" y="1495695"/>
            <a:ext cx="1144096" cy="2951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Code Search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844867" y="2619667"/>
            <a:ext cx="1167435" cy="5167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Vulnerability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  <a:p>
            <a:pPr algn="ctr">
              <a:lnSpc>
                <a:spcPct val="120000"/>
              </a:lnSpc>
            </a:pP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Detection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2784080" y="4197698"/>
            <a:ext cx="1353769" cy="5167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Code 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  <a:p>
            <a:pPr algn="ctr">
              <a:lnSpc>
                <a:spcPct val="120000"/>
              </a:lnSpc>
            </a:pP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Summarization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716515" y="1973505"/>
            <a:ext cx="925254" cy="2951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1200" b="1">
                <a:solidFill>
                  <a:srgbClr val="00259A"/>
                </a:solidFill>
                <a:latin typeface="微软雅黑" panose="020B0503020204020204" pitchFamily="34" charset="-122"/>
                <a:ea typeface="微软雅黑" panose="020B0503020204020204" pitchFamily="34" charset="-122"/>
                <a:rtl val="0"/>
              </a:defRPr>
            </a:lvl1pPr>
          </a:lstStyle>
          <a:p>
            <a:r>
              <a:rPr lang="en-US" altLang="zh-CN" dirty="0">
                <a:sym typeface="微软雅黑" panose="020B0503020204020204" pitchFamily="34" charset="-122"/>
              </a:rPr>
              <a:t>Fine-tune</a:t>
            </a:r>
            <a:endParaRPr lang="zh-CN" altLang="en-US" dirty="0">
              <a:sym typeface="微软雅黑" panose="020B0503020204020204" pitchFamily="34" charset="-122"/>
            </a:endParaRPr>
          </a:p>
        </p:txBody>
      </p:sp>
      <p:sp>
        <p:nvSpPr>
          <p:cNvPr id="389" name="文本框 388"/>
          <p:cNvSpPr txBox="1"/>
          <p:nvPr/>
        </p:nvSpPr>
        <p:spPr>
          <a:xfrm>
            <a:off x="520084" y="2618760"/>
            <a:ext cx="1638910" cy="32893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Pre-Train Model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pic>
        <p:nvPicPr>
          <p:cNvPr id="398" name="图形 397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7266" y="1965595"/>
            <a:ext cx="640800" cy="640800"/>
          </a:xfrm>
          <a:prstGeom prst="rect">
            <a:avLst/>
          </a:prstGeom>
        </p:spPr>
      </p:pic>
      <p:cxnSp>
        <p:nvCxnSpPr>
          <p:cNvPr id="411" name="连接符: 肘形 410"/>
          <p:cNvCxnSpPr>
            <a:stCxn id="398" idx="3"/>
            <a:endCxn id="34" idx="1"/>
          </p:cNvCxnSpPr>
          <p:nvPr/>
        </p:nvCxnSpPr>
        <p:spPr>
          <a:xfrm flipV="1">
            <a:off x="1698066" y="1169669"/>
            <a:ext cx="1459718" cy="1116326"/>
          </a:xfrm>
          <a:prstGeom prst="bentConnector3">
            <a:avLst>
              <a:gd name="adj1" fmla="val 71847"/>
            </a:avLst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2" name="连接符: 肘形 411"/>
          <p:cNvCxnSpPr>
            <a:stCxn id="398" idx="3"/>
          </p:cNvCxnSpPr>
          <p:nvPr/>
        </p:nvCxnSpPr>
        <p:spPr>
          <a:xfrm>
            <a:off x="1698067" y="2285995"/>
            <a:ext cx="1505727" cy="1616810"/>
          </a:xfrm>
          <a:prstGeom prst="bentConnector3">
            <a:avLst>
              <a:gd name="adj1" fmla="val 69716"/>
            </a:avLst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7" name="直接箭头连接符 416"/>
          <p:cNvCxnSpPr>
            <a:stCxn id="398" idx="3"/>
          </p:cNvCxnSpPr>
          <p:nvPr/>
        </p:nvCxnSpPr>
        <p:spPr>
          <a:xfrm>
            <a:off x="1698067" y="2285995"/>
            <a:ext cx="1444372" cy="0"/>
          </a:xfrm>
          <a:prstGeom prst="straightConnector1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图形 33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57786" y="831056"/>
            <a:ext cx="686691" cy="677226"/>
          </a:xfrm>
          <a:prstGeom prst="rect">
            <a:avLst/>
          </a:prstGeom>
        </p:spPr>
      </p:pic>
      <p:grpSp>
        <p:nvGrpSpPr>
          <p:cNvPr id="448" name="组合 447"/>
          <p:cNvGrpSpPr/>
          <p:nvPr/>
        </p:nvGrpSpPr>
        <p:grpSpPr>
          <a:xfrm>
            <a:off x="3245928" y="2095496"/>
            <a:ext cx="570929" cy="518597"/>
            <a:chOff x="3957049" y="2239041"/>
            <a:chExt cx="570929" cy="518597"/>
          </a:xfrm>
        </p:grpSpPr>
        <p:pic>
          <p:nvPicPr>
            <p:cNvPr id="441" name="图形 440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957049" y="2239041"/>
              <a:ext cx="434982" cy="434980"/>
            </a:xfrm>
            <a:prstGeom prst="rect">
              <a:avLst/>
            </a:prstGeom>
          </p:spPr>
        </p:pic>
        <p:sp>
          <p:nvSpPr>
            <p:cNvPr id="38" name="任意多边形: 形状 37"/>
            <p:cNvSpPr/>
            <p:nvPr/>
          </p:nvSpPr>
          <p:spPr>
            <a:xfrm>
              <a:off x="4141654" y="2399302"/>
              <a:ext cx="337983" cy="330622"/>
            </a:xfrm>
            <a:custGeom>
              <a:avLst/>
              <a:gdLst>
                <a:gd name="connsiteX0" fmla="*/ -432 w 326293"/>
                <a:gd name="connsiteY0" fmla="*/ 171393 h 343466"/>
                <a:gd name="connsiteX1" fmla="*/ 162715 w 326293"/>
                <a:gd name="connsiteY1" fmla="*/ -340 h 343466"/>
                <a:gd name="connsiteX2" fmla="*/ 325861 w 326293"/>
                <a:gd name="connsiteY2" fmla="*/ 171393 h 343466"/>
                <a:gd name="connsiteX3" fmla="*/ 162715 w 326293"/>
                <a:gd name="connsiteY3" fmla="*/ 343126 h 343466"/>
                <a:gd name="connsiteX4" fmla="*/ -432 w 326293"/>
                <a:gd name="connsiteY4" fmla="*/ 171393 h 34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6293" h="343466">
                  <a:moveTo>
                    <a:pt x="-432" y="171393"/>
                  </a:moveTo>
                  <a:cubicBezTo>
                    <a:pt x="-432" y="76548"/>
                    <a:pt x="72623" y="-340"/>
                    <a:pt x="162715" y="-340"/>
                  </a:cubicBezTo>
                  <a:cubicBezTo>
                    <a:pt x="252806" y="-340"/>
                    <a:pt x="325861" y="76548"/>
                    <a:pt x="325861" y="171393"/>
                  </a:cubicBezTo>
                  <a:cubicBezTo>
                    <a:pt x="325861" y="266238"/>
                    <a:pt x="252806" y="343126"/>
                    <a:pt x="162715" y="343126"/>
                  </a:cubicBezTo>
                  <a:cubicBezTo>
                    <a:pt x="72623" y="343126"/>
                    <a:pt x="-432" y="266238"/>
                    <a:pt x="-432" y="171393"/>
                  </a:cubicBezTo>
                  <a:close/>
                </a:path>
              </a:pathLst>
            </a:custGeom>
            <a:solidFill>
              <a:srgbClr val="FFFFFF"/>
            </a:solidFill>
            <a:ln w="34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pic>
          <p:nvPicPr>
            <p:cNvPr id="39" name="图形 38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152653" y="2408845"/>
              <a:ext cx="375325" cy="348793"/>
            </a:xfrm>
            <a:prstGeom prst="rect">
              <a:avLst/>
            </a:prstGeom>
          </p:spPr>
        </p:pic>
      </p:grp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4049203" y="3615944"/>
          <a:ext cx="539939" cy="54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5135"/>
                <a:gridCol w="182402"/>
                <a:gridCol w="182402"/>
              </a:tblGrid>
              <a:tr h="180000"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ADFB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ADFB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6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6FF"/>
                    </a:solidFill>
                  </a:tcPr>
                </a:tc>
              </a:tr>
            </a:tbl>
          </a:graphicData>
        </a:graphic>
      </p:graphicFrame>
      <p:pic>
        <p:nvPicPr>
          <p:cNvPr id="3" name="图形 2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190566" y="4146245"/>
            <a:ext cx="306076" cy="306076"/>
          </a:xfrm>
          <a:prstGeom prst="rect">
            <a:avLst/>
          </a:prstGeom>
        </p:spPr>
      </p:pic>
      <p:pic>
        <p:nvPicPr>
          <p:cNvPr id="4" name="图形 3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408110" y="4149993"/>
            <a:ext cx="306076" cy="306076"/>
          </a:xfrm>
          <a:prstGeom prst="rect">
            <a:avLst/>
          </a:prstGeom>
        </p:spPr>
      </p:pic>
      <p:pic>
        <p:nvPicPr>
          <p:cNvPr id="5" name="图形 4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961009" y="4146245"/>
            <a:ext cx="306076" cy="306076"/>
          </a:xfrm>
          <a:prstGeom prst="rect">
            <a:avLst/>
          </a:prstGeom>
        </p:spPr>
      </p:pic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4049203" y="2066395"/>
          <a:ext cx="539939" cy="54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5135"/>
                <a:gridCol w="182402"/>
                <a:gridCol w="182402"/>
              </a:tblGrid>
              <a:tr h="180000"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F5CE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FEE4">
                        <a:alpha val="30000"/>
                      </a:srgbClr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F6B1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F8B6">
                        <a:alpha val="30000"/>
                      </a:srgbClr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FEE2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FEE4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>
                        <a:alpha val="30000"/>
                      </a:srgbClr>
                    </a:solidFill>
                  </a:tcPr>
                </a:tc>
              </a:tr>
            </a:tbl>
          </a:graphicData>
        </a:graphic>
      </p:graphicFrame>
      <p:pic>
        <p:nvPicPr>
          <p:cNvPr id="8" name="图形 7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165383" y="2586123"/>
            <a:ext cx="306076" cy="306076"/>
          </a:xfrm>
          <a:prstGeom prst="rect">
            <a:avLst/>
          </a:prstGeom>
        </p:spPr>
      </p:pic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4040482" y="935417"/>
          <a:ext cx="539939" cy="54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5135"/>
                <a:gridCol w="182402"/>
                <a:gridCol w="182402"/>
              </a:tblGrid>
              <a:tr h="180000">
                <a:tc>
                  <a:txBody>
                    <a:bodyPr/>
                    <a:lstStyle/>
                    <a:p>
                      <a:endParaRPr lang="zh-CN" altLang="en-US" sz="7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C9A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89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>
                        <a:solidFill>
                          <a:srgbClr val="FFFFFF">
                            <a:alpha val="70000"/>
                          </a:srgbClr>
                        </a:solidFill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>
                        <a:alpha val="60000"/>
                      </a:srgbClr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endParaRPr lang="zh-CN" altLang="en-US" sz="7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89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C9A">
                        <a:alpha val="60000"/>
                      </a:srgbClr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endParaRPr lang="zh-CN" altLang="en-US" sz="7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C9A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>
                        <a:alpha val="60000"/>
                      </a:srgbClr>
                    </a:solidFill>
                  </a:tcPr>
                </a:tc>
              </a:tr>
            </a:tbl>
          </a:graphicData>
        </a:graphic>
      </p:graphicFrame>
      <p:pic>
        <p:nvPicPr>
          <p:cNvPr id="12" name="图形 11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277214" y="1439829"/>
            <a:ext cx="306076" cy="306076"/>
          </a:xfrm>
          <a:prstGeom prst="rect">
            <a:avLst/>
          </a:prstGeom>
        </p:spPr>
      </p:pic>
      <p:pic>
        <p:nvPicPr>
          <p:cNvPr id="13" name="图形 12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059311" y="1439829"/>
            <a:ext cx="306076" cy="306076"/>
          </a:xfrm>
          <a:prstGeom prst="rect">
            <a:avLst/>
          </a:prstGeom>
        </p:spPr>
      </p:pic>
      <p:pic>
        <p:nvPicPr>
          <p:cNvPr id="16" name="图形 15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159695" y="3539140"/>
            <a:ext cx="676800" cy="676800"/>
          </a:xfrm>
          <a:prstGeom prst="rect">
            <a:avLst/>
          </a:prstGeom>
        </p:spPr>
      </p:pic>
      <p:sp>
        <p:nvSpPr>
          <p:cNvPr id="28" name="箭头: 下 27"/>
          <p:cNvSpPr/>
          <p:nvPr/>
        </p:nvSpPr>
        <p:spPr>
          <a:xfrm rot="16200000">
            <a:off x="5306320" y="3494471"/>
            <a:ext cx="122400" cy="802800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u="sng" dirty="0">
              <a:solidFill>
                <a:schemeClr val="tx1"/>
              </a:solidFill>
            </a:endParaRPr>
          </a:p>
        </p:txBody>
      </p:sp>
      <p:graphicFrame>
        <p:nvGraphicFramePr>
          <p:cNvPr id="29" name="表格 28"/>
          <p:cNvGraphicFramePr>
            <a:graphicFrameLocks noGrp="1"/>
          </p:cNvGraphicFramePr>
          <p:nvPr/>
        </p:nvGraphicFramePr>
        <p:xfrm>
          <a:off x="5965459" y="935417"/>
          <a:ext cx="539939" cy="54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5135"/>
                <a:gridCol w="182402"/>
                <a:gridCol w="182402"/>
              </a:tblGrid>
              <a:tr h="180000">
                <a:tc>
                  <a:txBody>
                    <a:bodyPr/>
                    <a:lstStyle/>
                    <a:p>
                      <a:endParaRPr lang="zh-CN" altLang="en-US" sz="7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C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47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>
                        <a:solidFill>
                          <a:srgbClr val="FFFFFF">
                            <a:alpha val="70000"/>
                          </a:srgbClr>
                        </a:solidFill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endParaRPr lang="zh-CN" altLang="en-US" sz="7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47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C9A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endParaRPr lang="zh-CN" altLang="en-US" sz="7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C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</a:tr>
            </a:tbl>
          </a:graphicData>
        </a:graphic>
      </p:graphicFrame>
      <p:pic>
        <p:nvPicPr>
          <p:cNvPr id="32" name="图形 31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101279" y="1464486"/>
            <a:ext cx="306076" cy="306076"/>
          </a:xfrm>
          <a:prstGeom prst="rect">
            <a:avLst/>
          </a:prstGeom>
        </p:spPr>
      </p:pic>
      <p:pic>
        <p:nvPicPr>
          <p:cNvPr id="33" name="图形 32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18823" y="1468234"/>
            <a:ext cx="306076" cy="306076"/>
          </a:xfrm>
          <a:prstGeom prst="rect">
            <a:avLst/>
          </a:prstGeom>
        </p:spPr>
      </p:pic>
      <p:pic>
        <p:nvPicPr>
          <p:cNvPr id="35" name="图形 34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871722" y="1464486"/>
            <a:ext cx="306076" cy="306076"/>
          </a:xfrm>
          <a:prstGeom prst="rect">
            <a:avLst/>
          </a:prstGeom>
        </p:spPr>
      </p:pic>
      <p:pic>
        <p:nvPicPr>
          <p:cNvPr id="43" name="图形 42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112464" y="2604384"/>
            <a:ext cx="306076" cy="306076"/>
          </a:xfrm>
          <a:prstGeom prst="rect">
            <a:avLst/>
          </a:prstGeom>
        </p:spPr>
      </p:pic>
      <p:pic>
        <p:nvPicPr>
          <p:cNvPr id="44" name="图形 43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30008" y="2608132"/>
            <a:ext cx="306076" cy="306076"/>
          </a:xfrm>
          <a:prstGeom prst="rect">
            <a:avLst/>
          </a:prstGeom>
        </p:spPr>
      </p:pic>
      <p:pic>
        <p:nvPicPr>
          <p:cNvPr id="45" name="图形 44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882907" y="2604384"/>
            <a:ext cx="306076" cy="306076"/>
          </a:xfrm>
          <a:prstGeom prst="rect">
            <a:avLst/>
          </a:prstGeom>
        </p:spPr>
      </p:pic>
      <p:pic>
        <p:nvPicPr>
          <p:cNvPr id="50" name="图形 49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096575" y="4150401"/>
            <a:ext cx="306076" cy="306076"/>
          </a:xfrm>
          <a:prstGeom prst="rect">
            <a:avLst/>
          </a:prstGeom>
        </p:spPr>
      </p:pic>
      <p:pic>
        <p:nvPicPr>
          <p:cNvPr id="51" name="图形 50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14119" y="4154149"/>
            <a:ext cx="306076" cy="306076"/>
          </a:xfrm>
          <a:prstGeom prst="rect">
            <a:avLst/>
          </a:prstGeom>
        </p:spPr>
      </p:pic>
      <p:pic>
        <p:nvPicPr>
          <p:cNvPr id="52" name="图形 51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867018" y="4150401"/>
            <a:ext cx="306076" cy="306076"/>
          </a:xfrm>
          <a:prstGeom prst="rect">
            <a:avLst/>
          </a:prstGeom>
        </p:spPr>
      </p:pic>
      <p:sp>
        <p:nvSpPr>
          <p:cNvPr id="53" name="文本框 52"/>
          <p:cNvSpPr txBox="1"/>
          <p:nvPr/>
        </p:nvSpPr>
        <p:spPr>
          <a:xfrm>
            <a:off x="6970006" y="958448"/>
            <a:ext cx="1408515" cy="51674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200" b="1" dirty="0">
                <a:solidFill>
                  <a:srgbClr val="00259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Max</a:t>
            </a:r>
            <a:endParaRPr lang="en-US" altLang="zh-CN" sz="1200" b="1" dirty="0">
              <a:solidFill>
                <a:srgbClr val="00259A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  <a:p>
            <a:pPr algn="ctr">
              <a:lnSpc>
                <a:spcPct val="120000"/>
              </a:lnSpc>
            </a:pPr>
            <a:r>
              <a:rPr lang="en-US" altLang="zh-CN" sz="1200" b="1" dirty="0">
                <a:solidFill>
                  <a:srgbClr val="00259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Fusion</a:t>
            </a:r>
            <a:endParaRPr lang="zh-CN" altLang="en-US" sz="1200" b="1" dirty="0">
              <a:solidFill>
                <a:srgbClr val="00259A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7693981" y="3017714"/>
            <a:ext cx="1775621" cy="29514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Task-Specific Masks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graphicFrame>
        <p:nvGraphicFramePr>
          <p:cNvPr id="55" name="表格 54"/>
          <p:cNvGraphicFramePr>
            <a:graphicFrameLocks noGrp="1"/>
          </p:cNvGraphicFramePr>
          <p:nvPr/>
        </p:nvGraphicFramePr>
        <p:xfrm>
          <a:off x="8370436" y="1119709"/>
          <a:ext cx="672950" cy="6912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8278"/>
                <a:gridCol w="227336"/>
                <a:gridCol w="227336"/>
              </a:tblGrid>
              <a:tr h="230426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60000">
                          <a:srgbClr val="00259A"/>
                        </a:gs>
                        <a:gs pos="40000">
                          <a:srgbClr val="39B273"/>
                        </a:gs>
                      </a:gsLst>
                      <a:lin ang="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</a:tr>
              <a:tr h="230426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</a:tr>
              <a:tr h="230426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40000">
                          <a:srgbClr val="00259A"/>
                        </a:gs>
                        <a:gs pos="60000">
                          <a:srgbClr val="FF9900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40000">
                          <a:srgbClr val="39B273"/>
                        </a:gs>
                        <a:gs pos="60000">
                          <a:srgbClr val="FF9900"/>
                        </a:gs>
                      </a:gsLst>
                      <a:lin ang="0" scaled="1"/>
                    </a:gradFill>
                  </a:tcPr>
                </a:tc>
              </a:tr>
            </a:tbl>
          </a:graphicData>
        </a:graphic>
      </p:graphicFrame>
      <p:cxnSp>
        <p:nvCxnSpPr>
          <p:cNvPr id="56" name="连接符: 肘形 55"/>
          <p:cNvCxnSpPr/>
          <p:nvPr/>
        </p:nvCxnSpPr>
        <p:spPr>
          <a:xfrm flipV="1">
            <a:off x="6506845" y="1465580"/>
            <a:ext cx="1863725" cy="870585"/>
          </a:xfrm>
          <a:prstGeom prst="bentConnector3">
            <a:avLst>
              <a:gd name="adj1" fmla="val 31959"/>
            </a:avLst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连接符: 肘形 56"/>
          <p:cNvCxnSpPr>
            <a:stCxn id="425" idx="3"/>
            <a:endCxn id="391" idx="1"/>
          </p:cNvCxnSpPr>
          <p:nvPr/>
        </p:nvCxnSpPr>
        <p:spPr>
          <a:xfrm>
            <a:off x="6507254" y="2336259"/>
            <a:ext cx="1908433" cy="475647"/>
          </a:xfrm>
          <a:prstGeom prst="bentConnector3">
            <a:avLst>
              <a:gd name="adj1" fmla="val 31231"/>
            </a:avLst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连接符: 肘形 58"/>
          <p:cNvCxnSpPr>
            <a:stCxn id="29" idx="3"/>
          </p:cNvCxnSpPr>
          <p:nvPr/>
        </p:nvCxnSpPr>
        <p:spPr>
          <a:xfrm>
            <a:off x="6505398" y="1205419"/>
            <a:ext cx="200759" cy="1124493"/>
          </a:xfrm>
          <a:prstGeom prst="bentConnector2">
            <a:avLst/>
          </a:prstGeom>
          <a:ln w="19050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连接符: 肘形 59"/>
          <p:cNvCxnSpPr/>
          <p:nvPr/>
        </p:nvCxnSpPr>
        <p:spPr>
          <a:xfrm flipV="1">
            <a:off x="6495151" y="2336258"/>
            <a:ext cx="211649" cy="1553842"/>
          </a:xfrm>
          <a:prstGeom prst="bentConnector2">
            <a:avLst/>
          </a:prstGeom>
          <a:ln w="19050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91" name="表格 390"/>
          <p:cNvGraphicFramePr>
            <a:graphicFrameLocks noGrp="1"/>
          </p:cNvGraphicFramePr>
          <p:nvPr/>
        </p:nvGraphicFramePr>
        <p:xfrm>
          <a:off x="8415687" y="2585132"/>
          <a:ext cx="433810" cy="4535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1966"/>
                <a:gridCol w="145922"/>
                <a:gridCol w="145922"/>
              </a:tblGrid>
              <a:tr h="151183"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51183"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51183"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</a:tr>
            </a:tbl>
          </a:graphicData>
        </a:graphic>
      </p:graphicFrame>
      <p:sp>
        <p:nvSpPr>
          <p:cNvPr id="404" name="箭头: 下 403"/>
          <p:cNvSpPr/>
          <p:nvPr/>
        </p:nvSpPr>
        <p:spPr>
          <a:xfrm rot="16200000">
            <a:off x="5306320" y="1944923"/>
            <a:ext cx="122400" cy="802800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u="sng" dirty="0">
              <a:solidFill>
                <a:schemeClr val="tx1"/>
              </a:solidFill>
            </a:endParaRPr>
          </a:p>
        </p:txBody>
      </p:sp>
      <p:sp>
        <p:nvSpPr>
          <p:cNvPr id="405" name="箭头: 下 404"/>
          <p:cNvSpPr/>
          <p:nvPr/>
        </p:nvSpPr>
        <p:spPr>
          <a:xfrm rot="16200000">
            <a:off x="5310481" y="813423"/>
            <a:ext cx="123223" cy="802481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u="sng" dirty="0">
              <a:solidFill>
                <a:schemeClr val="tx1"/>
              </a:solidFill>
            </a:endParaRPr>
          </a:p>
        </p:txBody>
      </p:sp>
      <p:graphicFrame>
        <p:nvGraphicFramePr>
          <p:cNvPr id="425" name="表格 424"/>
          <p:cNvGraphicFramePr>
            <a:graphicFrameLocks noGrp="1"/>
          </p:cNvGraphicFramePr>
          <p:nvPr/>
        </p:nvGraphicFramePr>
        <p:xfrm>
          <a:off x="5967315" y="2066259"/>
          <a:ext cx="539939" cy="54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5135"/>
                <a:gridCol w="182402"/>
                <a:gridCol w="182402"/>
              </a:tblGrid>
              <a:tr h="180000"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F5CE">
                        <a:alpha val="9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>
                        <a:alpha val="9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FEE4">
                        <a:alpha val="93000"/>
                      </a:srgbClr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>
                        <a:alpha val="9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F6B1">
                        <a:alpha val="9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F8B6">
                        <a:alpha val="92549"/>
                      </a:srgbClr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FEE2">
                        <a:alpha val="9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FEE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>
                        <a:alpha val="93000"/>
                      </a:srgbClr>
                    </a:solidFill>
                  </a:tcPr>
                </a:tc>
              </a:tr>
            </a:tbl>
          </a:graphicData>
        </a:graphic>
      </p:graphicFrame>
      <p:pic>
        <p:nvPicPr>
          <p:cNvPr id="426" name="图形 42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22190" y="781831"/>
            <a:ext cx="365031" cy="360000"/>
          </a:xfrm>
          <a:prstGeom prst="rect">
            <a:avLst/>
          </a:prstGeom>
        </p:spPr>
      </p:pic>
      <p:pic>
        <p:nvPicPr>
          <p:cNvPr id="436" name="图形 435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041042" y="855959"/>
            <a:ext cx="360000" cy="360000"/>
          </a:xfrm>
          <a:prstGeom prst="rect">
            <a:avLst/>
          </a:prstGeom>
        </p:spPr>
      </p:pic>
      <p:sp>
        <p:nvSpPr>
          <p:cNvPr id="437" name="文本框 436"/>
          <p:cNvSpPr txBox="1"/>
          <p:nvPr/>
        </p:nvSpPr>
        <p:spPr>
          <a:xfrm>
            <a:off x="4886598" y="881375"/>
            <a:ext cx="986168" cy="2951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1200" b="1">
                <a:solidFill>
                  <a:srgbClr val="00259A"/>
                </a:solidFill>
                <a:latin typeface="微软雅黑" panose="020B0503020204020204" pitchFamily="34" charset="-122"/>
                <a:ea typeface="微软雅黑" panose="020B0503020204020204" pitchFamily="34" charset="-122"/>
                <a:rtl val="0"/>
              </a:defRPr>
            </a:lvl1pPr>
          </a:lstStyle>
          <a:p>
            <a:r>
              <a:rPr lang="en-US" altLang="zh-CN" dirty="0">
                <a:sym typeface="微软雅黑" panose="020B0503020204020204" pitchFamily="34" charset="-122"/>
              </a:rPr>
              <a:t>Scaling up</a:t>
            </a:r>
            <a:endParaRPr lang="zh-CN" altLang="en-US" dirty="0">
              <a:sym typeface="微软雅黑" panose="020B0503020204020204" pitchFamily="34" charset="-122"/>
            </a:endParaRPr>
          </a:p>
        </p:txBody>
      </p:sp>
      <p:sp>
        <p:nvSpPr>
          <p:cNvPr id="438" name="文本框 437"/>
          <p:cNvSpPr txBox="1"/>
          <p:nvPr/>
        </p:nvSpPr>
        <p:spPr>
          <a:xfrm>
            <a:off x="4881949" y="1970201"/>
            <a:ext cx="986168" cy="2951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1200" b="1">
                <a:solidFill>
                  <a:srgbClr val="00259A"/>
                </a:solidFill>
                <a:latin typeface="微软雅黑" panose="020B0503020204020204" pitchFamily="34" charset="-122"/>
                <a:ea typeface="微软雅黑" panose="020B0503020204020204" pitchFamily="34" charset="-122"/>
                <a:rtl val="0"/>
              </a:defRPr>
            </a:lvl1pPr>
          </a:lstStyle>
          <a:p>
            <a:r>
              <a:rPr lang="en-US" altLang="zh-CN" dirty="0">
                <a:sym typeface="微软雅黑" panose="020B0503020204020204" pitchFamily="34" charset="-122"/>
              </a:rPr>
              <a:t>Scaling up</a:t>
            </a:r>
            <a:endParaRPr lang="zh-CN" altLang="en-US" dirty="0">
              <a:sym typeface="微软雅黑" panose="020B0503020204020204" pitchFamily="34" charset="-122"/>
            </a:endParaRPr>
          </a:p>
        </p:txBody>
      </p:sp>
      <p:sp>
        <p:nvSpPr>
          <p:cNvPr id="440" name="文本框 439"/>
          <p:cNvSpPr txBox="1"/>
          <p:nvPr/>
        </p:nvSpPr>
        <p:spPr>
          <a:xfrm>
            <a:off x="4909416" y="3544710"/>
            <a:ext cx="872355" cy="2951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1200" b="1">
                <a:solidFill>
                  <a:srgbClr val="00259A"/>
                </a:solidFill>
                <a:latin typeface="微软雅黑" panose="020B0503020204020204" pitchFamily="34" charset="-122"/>
                <a:ea typeface="微软雅黑" panose="020B0503020204020204" pitchFamily="34" charset="-122"/>
                <a:rtl val="0"/>
              </a:defRPr>
            </a:lvl1pPr>
          </a:lstStyle>
          <a:p>
            <a:r>
              <a:rPr lang="en-US" altLang="zh-CN" dirty="0">
                <a:sym typeface="微软雅黑" panose="020B0503020204020204" pitchFamily="34" charset="-122"/>
              </a:rPr>
              <a:t>Maintain</a:t>
            </a:r>
            <a:endParaRPr lang="zh-CN" altLang="en-US" dirty="0">
              <a:sym typeface="微软雅黑" panose="020B0503020204020204" pitchFamily="34" charset="-122"/>
            </a:endParaRPr>
          </a:p>
        </p:txBody>
      </p:sp>
      <p:grpSp>
        <p:nvGrpSpPr>
          <p:cNvPr id="449" name="组合 448"/>
          <p:cNvGrpSpPr>
            <a:grpSpLocks noChangeAspect="1"/>
          </p:cNvGrpSpPr>
          <p:nvPr/>
        </p:nvGrpSpPr>
        <p:grpSpPr>
          <a:xfrm>
            <a:off x="9063880" y="1537916"/>
            <a:ext cx="356695" cy="324000"/>
            <a:chOff x="3957049" y="2239041"/>
            <a:chExt cx="570929" cy="518597"/>
          </a:xfrm>
        </p:grpSpPr>
        <p:pic>
          <p:nvPicPr>
            <p:cNvPr id="450" name="图形 449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957049" y="2239041"/>
              <a:ext cx="434982" cy="434980"/>
            </a:xfrm>
            <a:prstGeom prst="rect">
              <a:avLst/>
            </a:prstGeom>
          </p:spPr>
        </p:pic>
        <p:sp>
          <p:nvSpPr>
            <p:cNvPr id="451" name="任意多边形: 形状 450"/>
            <p:cNvSpPr/>
            <p:nvPr/>
          </p:nvSpPr>
          <p:spPr>
            <a:xfrm>
              <a:off x="4141654" y="2399302"/>
              <a:ext cx="337983" cy="330622"/>
            </a:xfrm>
            <a:custGeom>
              <a:avLst/>
              <a:gdLst>
                <a:gd name="connsiteX0" fmla="*/ -432 w 326293"/>
                <a:gd name="connsiteY0" fmla="*/ 171393 h 343466"/>
                <a:gd name="connsiteX1" fmla="*/ 162715 w 326293"/>
                <a:gd name="connsiteY1" fmla="*/ -340 h 343466"/>
                <a:gd name="connsiteX2" fmla="*/ 325861 w 326293"/>
                <a:gd name="connsiteY2" fmla="*/ 171393 h 343466"/>
                <a:gd name="connsiteX3" fmla="*/ 162715 w 326293"/>
                <a:gd name="connsiteY3" fmla="*/ 343126 h 343466"/>
                <a:gd name="connsiteX4" fmla="*/ -432 w 326293"/>
                <a:gd name="connsiteY4" fmla="*/ 171393 h 34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6293" h="343466">
                  <a:moveTo>
                    <a:pt x="-432" y="171393"/>
                  </a:moveTo>
                  <a:cubicBezTo>
                    <a:pt x="-432" y="76548"/>
                    <a:pt x="72623" y="-340"/>
                    <a:pt x="162715" y="-340"/>
                  </a:cubicBezTo>
                  <a:cubicBezTo>
                    <a:pt x="252806" y="-340"/>
                    <a:pt x="325861" y="76548"/>
                    <a:pt x="325861" y="171393"/>
                  </a:cubicBezTo>
                  <a:cubicBezTo>
                    <a:pt x="325861" y="266238"/>
                    <a:pt x="252806" y="343126"/>
                    <a:pt x="162715" y="343126"/>
                  </a:cubicBezTo>
                  <a:cubicBezTo>
                    <a:pt x="72623" y="343126"/>
                    <a:pt x="-432" y="266238"/>
                    <a:pt x="-432" y="171393"/>
                  </a:cubicBezTo>
                  <a:close/>
                </a:path>
              </a:pathLst>
            </a:custGeom>
            <a:solidFill>
              <a:srgbClr val="FFFFFF"/>
            </a:solidFill>
            <a:ln w="34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pic>
          <p:nvPicPr>
            <p:cNvPr id="452" name="图形 451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152653" y="2408845"/>
              <a:ext cx="375325" cy="348793"/>
            </a:xfrm>
            <a:prstGeom prst="rect">
              <a:avLst/>
            </a:prstGeom>
          </p:spPr>
        </p:pic>
      </p:grpSp>
      <p:sp>
        <p:nvSpPr>
          <p:cNvPr id="453" name="文本框 452"/>
          <p:cNvSpPr txBox="1"/>
          <p:nvPr/>
        </p:nvSpPr>
        <p:spPr>
          <a:xfrm>
            <a:off x="7760866" y="1816024"/>
            <a:ext cx="1807735" cy="29514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Fusion Parameters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graphicFrame>
        <p:nvGraphicFramePr>
          <p:cNvPr id="463" name="表格 462"/>
          <p:cNvGraphicFramePr>
            <a:graphicFrameLocks noGrp="1"/>
          </p:cNvGraphicFramePr>
          <p:nvPr/>
        </p:nvGraphicFramePr>
        <p:xfrm>
          <a:off x="5977001" y="3615944"/>
          <a:ext cx="539939" cy="54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5135"/>
                <a:gridCol w="182402"/>
                <a:gridCol w="182402"/>
              </a:tblGrid>
              <a:tr h="180000"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ADFB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ADFB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6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6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7929032" y="3714640"/>
          <a:ext cx="672950" cy="6912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8278"/>
                <a:gridCol w="227336"/>
                <a:gridCol w="227336"/>
              </a:tblGrid>
              <a:tr h="230426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66"/>
                    </a:solidFill>
                  </a:tcPr>
                </a:tc>
              </a:tr>
              <a:tr h="230426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60000">
                          <a:srgbClr val="FFFDB8"/>
                        </a:gs>
                        <a:gs pos="40000">
                          <a:srgbClr val="BFE6D1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6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</a:tr>
              <a:tr h="230426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40000">
                          <a:srgbClr val="00259A"/>
                        </a:gs>
                        <a:gs pos="60000">
                          <a:srgbClr val="FFC266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66"/>
                    </a:solidFill>
                  </a:tcPr>
                </a:tc>
              </a:tr>
            </a:tbl>
          </a:graphicData>
        </a:graphic>
      </p:graphicFrame>
      <p:pic>
        <p:nvPicPr>
          <p:cNvPr id="26" name="图形 25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570930" y="3538832"/>
            <a:ext cx="360000" cy="360000"/>
          </a:xfrm>
          <a:prstGeom prst="rect">
            <a:avLst/>
          </a:prstGeom>
        </p:spPr>
      </p:pic>
      <p:pic>
        <p:nvPicPr>
          <p:cNvPr id="30" name="图形 29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12547" y="3441892"/>
            <a:ext cx="365031" cy="360000"/>
          </a:xfrm>
          <a:prstGeom prst="rect">
            <a:avLst/>
          </a:prstGeom>
        </p:spPr>
      </p:pic>
      <p:grpSp>
        <p:nvGrpSpPr>
          <p:cNvPr id="31" name="组合 30"/>
          <p:cNvGrpSpPr>
            <a:grpSpLocks noChangeAspect="1"/>
          </p:cNvGrpSpPr>
          <p:nvPr/>
        </p:nvGrpSpPr>
        <p:grpSpPr>
          <a:xfrm>
            <a:off x="8636333" y="4243918"/>
            <a:ext cx="356695" cy="324000"/>
            <a:chOff x="3957049" y="2239041"/>
            <a:chExt cx="570929" cy="518597"/>
          </a:xfrm>
        </p:grpSpPr>
        <p:pic>
          <p:nvPicPr>
            <p:cNvPr id="36" name="图形 35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957049" y="2239041"/>
              <a:ext cx="434982" cy="434980"/>
            </a:xfrm>
            <a:prstGeom prst="rect">
              <a:avLst/>
            </a:prstGeom>
          </p:spPr>
        </p:pic>
        <p:sp>
          <p:nvSpPr>
            <p:cNvPr id="37" name="任意多边形: 形状 36"/>
            <p:cNvSpPr/>
            <p:nvPr/>
          </p:nvSpPr>
          <p:spPr>
            <a:xfrm>
              <a:off x="4141654" y="2399302"/>
              <a:ext cx="337983" cy="330622"/>
            </a:xfrm>
            <a:custGeom>
              <a:avLst/>
              <a:gdLst>
                <a:gd name="connsiteX0" fmla="*/ -432 w 326293"/>
                <a:gd name="connsiteY0" fmla="*/ 171393 h 343466"/>
                <a:gd name="connsiteX1" fmla="*/ 162715 w 326293"/>
                <a:gd name="connsiteY1" fmla="*/ -340 h 343466"/>
                <a:gd name="connsiteX2" fmla="*/ 325861 w 326293"/>
                <a:gd name="connsiteY2" fmla="*/ 171393 h 343466"/>
                <a:gd name="connsiteX3" fmla="*/ 162715 w 326293"/>
                <a:gd name="connsiteY3" fmla="*/ 343126 h 343466"/>
                <a:gd name="connsiteX4" fmla="*/ -432 w 326293"/>
                <a:gd name="connsiteY4" fmla="*/ 171393 h 34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6293" h="343466">
                  <a:moveTo>
                    <a:pt x="-432" y="171393"/>
                  </a:moveTo>
                  <a:cubicBezTo>
                    <a:pt x="-432" y="76548"/>
                    <a:pt x="72623" y="-340"/>
                    <a:pt x="162715" y="-340"/>
                  </a:cubicBezTo>
                  <a:cubicBezTo>
                    <a:pt x="252806" y="-340"/>
                    <a:pt x="325861" y="76548"/>
                    <a:pt x="325861" y="171393"/>
                  </a:cubicBezTo>
                  <a:cubicBezTo>
                    <a:pt x="325861" y="266238"/>
                    <a:pt x="252806" y="343126"/>
                    <a:pt x="162715" y="343126"/>
                  </a:cubicBezTo>
                  <a:cubicBezTo>
                    <a:pt x="72623" y="343126"/>
                    <a:pt x="-432" y="266238"/>
                    <a:pt x="-432" y="171393"/>
                  </a:cubicBezTo>
                  <a:close/>
                </a:path>
              </a:pathLst>
            </a:custGeom>
            <a:solidFill>
              <a:srgbClr val="FFFFFF"/>
            </a:solidFill>
            <a:ln w="34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pic>
          <p:nvPicPr>
            <p:cNvPr id="40" name="图形 39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152653" y="2408845"/>
              <a:ext cx="375325" cy="348793"/>
            </a:xfrm>
            <a:prstGeom prst="rect">
              <a:avLst/>
            </a:prstGeom>
          </p:spPr>
        </p:pic>
      </p:grpSp>
      <p:pic>
        <p:nvPicPr>
          <p:cNvPr id="42" name="图形 41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805448" y="4128241"/>
            <a:ext cx="502807" cy="502807"/>
          </a:xfrm>
          <a:prstGeom prst="rect">
            <a:avLst/>
          </a:prstGeom>
        </p:spPr>
      </p:pic>
      <p:cxnSp>
        <p:nvCxnSpPr>
          <p:cNvPr id="456" name="连接符: 肘形 455"/>
          <p:cNvCxnSpPr>
            <a:stCxn id="10" idx="3"/>
            <a:endCxn id="14" idx="2"/>
          </p:cNvCxnSpPr>
          <p:nvPr/>
        </p:nvCxnSpPr>
        <p:spPr>
          <a:xfrm>
            <a:off x="4580419" y="1205419"/>
            <a:ext cx="3685088" cy="3200501"/>
          </a:xfrm>
          <a:prstGeom prst="bentConnector4">
            <a:avLst>
              <a:gd name="adj1" fmla="val 5802"/>
              <a:gd name="adj2" fmla="val 107143"/>
            </a:avLst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4" name="文本框 473"/>
          <p:cNvSpPr txBox="1"/>
          <p:nvPr/>
        </p:nvSpPr>
        <p:spPr>
          <a:xfrm>
            <a:off x="5944086" y="4631049"/>
            <a:ext cx="1586525" cy="2951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1200" b="1">
                <a:solidFill>
                  <a:srgbClr val="00259A"/>
                </a:solidFill>
                <a:latin typeface="微软雅黑" panose="020B0503020204020204" pitchFamily="34" charset="-122"/>
                <a:ea typeface="微软雅黑" panose="020B0503020204020204" pitchFamily="34" charset="-122"/>
                <a:rtl val="0"/>
              </a:defRPr>
            </a:lvl1pPr>
          </a:lstStyle>
          <a:p>
            <a:r>
              <a:rPr lang="en-US" altLang="zh-CN" dirty="0">
                <a:solidFill>
                  <a:srgbClr val="FF0000"/>
                </a:solidFill>
                <a:sym typeface="微软雅黑" panose="020B0503020204020204" pitchFamily="34" charset="-122"/>
              </a:rPr>
              <a:t>Direct Max Fusion</a:t>
            </a:r>
            <a:endParaRPr lang="zh-CN" altLang="en-US" dirty="0">
              <a:solidFill>
                <a:srgbClr val="FF0000"/>
              </a:solidFill>
              <a:sym typeface="微软雅黑" panose="020B0503020204020204" pitchFamily="34" charset="-122"/>
            </a:endParaRPr>
          </a:p>
        </p:txBody>
      </p:sp>
      <p:cxnSp>
        <p:nvCxnSpPr>
          <p:cNvPr id="476" name="直接连接符 475"/>
          <p:cNvCxnSpPr>
            <a:stCxn id="7" idx="3"/>
          </p:cNvCxnSpPr>
          <p:nvPr/>
        </p:nvCxnSpPr>
        <p:spPr>
          <a:xfrm>
            <a:off x="4589141" y="2336395"/>
            <a:ext cx="210903" cy="0"/>
          </a:xfrm>
          <a:prstGeom prst="line">
            <a:avLst/>
          </a:prstGeom>
          <a:ln w="1905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9" name="直接连接符 478"/>
          <p:cNvCxnSpPr>
            <a:stCxn id="2" idx="3"/>
          </p:cNvCxnSpPr>
          <p:nvPr/>
        </p:nvCxnSpPr>
        <p:spPr>
          <a:xfrm>
            <a:off x="4589141" y="3885944"/>
            <a:ext cx="210903" cy="0"/>
          </a:xfrm>
          <a:prstGeom prst="line">
            <a:avLst/>
          </a:prstGeom>
          <a:ln w="1905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7131920" y="2315709"/>
            <a:ext cx="1226347" cy="51674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1200" b="1">
                <a:solidFill>
                  <a:srgbClr val="00259A"/>
                </a:solidFill>
                <a:latin typeface="微软雅黑" panose="020B0503020204020204" pitchFamily="34" charset="-122"/>
                <a:ea typeface="微软雅黑" panose="020B0503020204020204" pitchFamily="34" charset="-122"/>
                <a:rtl val="0"/>
              </a:defRPr>
            </a:lvl1pPr>
          </a:lstStyle>
          <a:p>
            <a:r>
              <a:rPr lang="en-US" altLang="zh-CN" dirty="0">
                <a:sym typeface="微软雅黑" panose="020B0503020204020204" pitchFamily="34" charset="-122"/>
              </a:rPr>
              <a:t>Masks</a:t>
            </a:r>
            <a:endParaRPr lang="en-US" altLang="zh-CN" dirty="0">
              <a:sym typeface="微软雅黑" panose="020B0503020204020204" pitchFamily="34" charset="-122"/>
            </a:endParaRPr>
          </a:p>
          <a:p>
            <a:r>
              <a:rPr lang="en-US" altLang="zh-CN" dirty="0">
                <a:sym typeface="微软雅黑" panose="020B0503020204020204" pitchFamily="34" charset="-122"/>
              </a:rPr>
              <a:t>Construction</a:t>
            </a:r>
            <a:endParaRPr lang="zh-CN" altLang="en-US" dirty="0">
              <a:sym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886109" y="506973"/>
            <a:ext cx="1927237" cy="3953254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720">
              <a:ln w="76200">
                <a:solidFill>
                  <a:srgbClr val="00259A"/>
                </a:solidFill>
              </a:ln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881206" y="514811"/>
            <a:ext cx="1135247" cy="32893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1200" b="1">
                <a:solidFill>
                  <a:srgbClr val="00259A"/>
                </a:solidFill>
                <a:latin typeface="微软雅黑" panose="020B0503020204020204" pitchFamily="34" charset="-122"/>
                <a:ea typeface="微软雅黑" panose="020B0503020204020204" pitchFamily="34" charset="-122"/>
                <a:rtl val="0"/>
              </a:defRPr>
            </a:lvl1pPr>
          </a:lstStyle>
          <a:p>
            <a:pPr algn="l"/>
            <a:r>
              <a:rPr lang="en-US" altLang="zh-CN" sz="1400" dirty="0">
                <a:solidFill>
                  <a:srgbClr val="FF0000"/>
                </a:solidFill>
                <a:sym typeface="微软雅黑" panose="020B0503020204020204" pitchFamily="34" charset="-122"/>
              </a:rPr>
              <a:t>(1) Scaling</a:t>
            </a:r>
            <a:endParaRPr lang="zh-CN" altLang="en-US" sz="1400" dirty="0">
              <a:solidFill>
                <a:srgbClr val="FF0000"/>
              </a:solidFill>
              <a:sym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923850" y="504078"/>
            <a:ext cx="2525936" cy="2844058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720">
              <a:ln w="76200">
                <a:solidFill>
                  <a:srgbClr val="00259A"/>
                </a:solidFill>
              </a:ln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919683" y="514811"/>
            <a:ext cx="1147344" cy="32893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1200" b="1">
                <a:solidFill>
                  <a:srgbClr val="00259A"/>
                </a:solidFill>
                <a:latin typeface="微软雅黑" panose="020B0503020204020204" pitchFamily="34" charset="-122"/>
                <a:ea typeface="微软雅黑" panose="020B0503020204020204" pitchFamily="34" charset="-122"/>
                <a:rtl val="0"/>
              </a:defRPr>
            </a:lvl1pPr>
          </a:lstStyle>
          <a:p>
            <a:pPr algn="l"/>
            <a:r>
              <a:rPr lang="en-US" altLang="zh-CN" sz="1400" dirty="0">
                <a:solidFill>
                  <a:srgbClr val="FF0000"/>
                </a:solidFill>
                <a:sym typeface="微软雅黑" panose="020B0503020204020204" pitchFamily="34" charset="-122"/>
              </a:rPr>
              <a:t>(2) Fusion</a:t>
            </a:r>
            <a:endParaRPr lang="zh-CN" altLang="en-US" sz="1400" dirty="0">
              <a:solidFill>
                <a:srgbClr val="FF0000"/>
              </a:solidFill>
              <a:sym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520085" y="402770"/>
            <a:ext cx="9063837" cy="4523423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1" name="文本框 20"/>
          <p:cNvSpPr txBox="1"/>
          <p:nvPr/>
        </p:nvSpPr>
        <p:spPr>
          <a:xfrm>
            <a:off x="520084" y="405488"/>
            <a:ext cx="2427110" cy="39658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Fusion Procedure</a:t>
            </a:r>
            <a:endParaRPr lang="zh-CN" altLang="en-US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graphicFrame>
        <p:nvGraphicFramePr>
          <p:cNvPr id="459" name="表格 458"/>
          <p:cNvGraphicFramePr>
            <a:graphicFrameLocks noGrp="1"/>
          </p:cNvGraphicFramePr>
          <p:nvPr/>
        </p:nvGraphicFramePr>
        <p:xfrm>
          <a:off x="10314809" y="2589634"/>
          <a:ext cx="433810" cy="4535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1966"/>
                <a:gridCol w="145922"/>
                <a:gridCol w="145922"/>
              </a:tblGrid>
              <a:tr h="151183"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51183"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51183"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</a:tr>
            </a:tbl>
          </a:graphicData>
        </a:graphic>
      </p:graphicFrame>
      <p:cxnSp>
        <p:nvCxnSpPr>
          <p:cNvPr id="461" name="直接箭头连接符 460"/>
          <p:cNvCxnSpPr>
            <a:endCxn id="459" idx="1"/>
          </p:cNvCxnSpPr>
          <p:nvPr/>
        </p:nvCxnSpPr>
        <p:spPr>
          <a:xfrm>
            <a:off x="9046614" y="2816408"/>
            <a:ext cx="1268195" cy="0"/>
          </a:xfrm>
          <a:prstGeom prst="straightConnector1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5" name="矩形 464"/>
          <p:cNvSpPr/>
          <p:nvPr/>
        </p:nvSpPr>
        <p:spPr>
          <a:xfrm>
            <a:off x="9683110" y="402770"/>
            <a:ext cx="2793045" cy="4540319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6" name="文本框 465"/>
          <p:cNvSpPr txBox="1"/>
          <p:nvPr/>
        </p:nvSpPr>
        <p:spPr>
          <a:xfrm>
            <a:off x="9675759" y="415337"/>
            <a:ext cx="2852224" cy="39658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Task-Specific Inference</a:t>
            </a:r>
            <a:endParaRPr lang="zh-CN" altLang="en-US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grpSp>
        <p:nvGrpSpPr>
          <p:cNvPr id="468" name="组合 467"/>
          <p:cNvGrpSpPr>
            <a:grpSpLocks noChangeAspect="1"/>
          </p:cNvGrpSpPr>
          <p:nvPr/>
        </p:nvGrpSpPr>
        <p:grpSpPr>
          <a:xfrm>
            <a:off x="9837946" y="2483960"/>
            <a:ext cx="356695" cy="324000"/>
            <a:chOff x="3957049" y="2239041"/>
            <a:chExt cx="570929" cy="518597"/>
          </a:xfrm>
        </p:grpSpPr>
        <p:pic>
          <p:nvPicPr>
            <p:cNvPr id="469" name="图形 468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957049" y="2239041"/>
              <a:ext cx="434982" cy="434980"/>
            </a:xfrm>
            <a:prstGeom prst="rect">
              <a:avLst/>
            </a:prstGeom>
          </p:spPr>
        </p:pic>
        <p:sp>
          <p:nvSpPr>
            <p:cNvPr id="470" name="任意多边形: 形状 469"/>
            <p:cNvSpPr/>
            <p:nvPr/>
          </p:nvSpPr>
          <p:spPr>
            <a:xfrm>
              <a:off x="4141654" y="2399302"/>
              <a:ext cx="337983" cy="330622"/>
            </a:xfrm>
            <a:custGeom>
              <a:avLst/>
              <a:gdLst>
                <a:gd name="connsiteX0" fmla="*/ -432 w 326293"/>
                <a:gd name="connsiteY0" fmla="*/ 171393 h 343466"/>
                <a:gd name="connsiteX1" fmla="*/ 162715 w 326293"/>
                <a:gd name="connsiteY1" fmla="*/ -340 h 343466"/>
                <a:gd name="connsiteX2" fmla="*/ 325861 w 326293"/>
                <a:gd name="connsiteY2" fmla="*/ 171393 h 343466"/>
                <a:gd name="connsiteX3" fmla="*/ 162715 w 326293"/>
                <a:gd name="connsiteY3" fmla="*/ 343126 h 343466"/>
                <a:gd name="connsiteX4" fmla="*/ -432 w 326293"/>
                <a:gd name="connsiteY4" fmla="*/ 171393 h 34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6293" h="343466">
                  <a:moveTo>
                    <a:pt x="-432" y="171393"/>
                  </a:moveTo>
                  <a:cubicBezTo>
                    <a:pt x="-432" y="76548"/>
                    <a:pt x="72623" y="-340"/>
                    <a:pt x="162715" y="-340"/>
                  </a:cubicBezTo>
                  <a:cubicBezTo>
                    <a:pt x="252806" y="-340"/>
                    <a:pt x="325861" y="76548"/>
                    <a:pt x="325861" y="171393"/>
                  </a:cubicBezTo>
                  <a:cubicBezTo>
                    <a:pt x="325861" y="266238"/>
                    <a:pt x="252806" y="343126"/>
                    <a:pt x="162715" y="343126"/>
                  </a:cubicBezTo>
                  <a:cubicBezTo>
                    <a:pt x="72623" y="343126"/>
                    <a:pt x="-432" y="266238"/>
                    <a:pt x="-432" y="171393"/>
                  </a:cubicBezTo>
                  <a:close/>
                </a:path>
              </a:pathLst>
            </a:custGeom>
            <a:solidFill>
              <a:srgbClr val="FFFFFF"/>
            </a:solidFill>
            <a:ln w="34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pic>
          <p:nvPicPr>
            <p:cNvPr id="471" name="图形 470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152653" y="2408845"/>
              <a:ext cx="375325" cy="348793"/>
            </a:xfrm>
            <a:prstGeom prst="rect">
              <a:avLst/>
            </a:prstGeom>
          </p:spPr>
        </p:pic>
      </p:grpSp>
      <p:cxnSp>
        <p:nvCxnSpPr>
          <p:cNvPr id="481" name="连接符: 肘形 480"/>
          <p:cNvCxnSpPr>
            <a:stCxn id="459" idx="3"/>
            <a:endCxn id="489" idx="1"/>
          </p:cNvCxnSpPr>
          <p:nvPr/>
        </p:nvCxnSpPr>
        <p:spPr>
          <a:xfrm flipV="1">
            <a:off x="10748619" y="1976887"/>
            <a:ext cx="709663" cy="839521"/>
          </a:xfrm>
          <a:prstGeom prst="bentConnector3">
            <a:avLst>
              <a:gd name="adj1" fmla="val 17281"/>
            </a:avLst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4" name="文本框 503"/>
          <p:cNvSpPr txBox="1"/>
          <p:nvPr/>
        </p:nvSpPr>
        <p:spPr>
          <a:xfrm>
            <a:off x="10705184" y="1656674"/>
            <a:ext cx="858223" cy="29514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200" b="1" dirty="0">
                <a:solidFill>
                  <a:srgbClr val="00259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Mask</a:t>
            </a:r>
            <a:endParaRPr lang="zh-CN" altLang="en-US" sz="1200" b="1" dirty="0">
              <a:solidFill>
                <a:srgbClr val="00259A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506" name="箭头: 下 505"/>
          <p:cNvSpPr/>
          <p:nvPr/>
        </p:nvSpPr>
        <p:spPr>
          <a:xfrm>
            <a:off x="11731203" y="2406379"/>
            <a:ext cx="119769" cy="807278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u="sng" dirty="0">
              <a:solidFill>
                <a:schemeClr val="tx1"/>
              </a:solidFill>
            </a:endParaRPr>
          </a:p>
        </p:txBody>
      </p:sp>
      <p:graphicFrame>
        <p:nvGraphicFramePr>
          <p:cNvPr id="507" name="表格 506"/>
          <p:cNvGraphicFramePr>
            <a:graphicFrameLocks noGrp="1"/>
          </p:cNvGraphicFramePr>
          <p:nvPr/>
        </p:nvGraphicFramePr>
        <p:xfrm>
          <a:off x="11458282" y="3350229"/>
          <a:ext cx="672950" cy="6912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8278"/>
                <a:gridCol w="227336"/>
                <a:gridCol w="227336"/>
              </a:tblGrid>
              <a:tr h="228000">
                <a:tc>
                  <a:txBody>
                    <a:bodyPr/>
                    <a:lstStyle/>
                    <a:p>
                      <a:endParaRPr lang="zh-CN" altLang="en-US" sz="900" dirty="0">
                        <a:solidFill>
                          <a:schemeClr val="tx1">
                            <a:alpha val="30000"/>
                          </a:schemeClr>
                        </a:solidFill>
                      </a:endParaRPr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>
                        <a:solidFill>
                          <a:schemeClr val="tx1">
                            <a:alpha val="30000"/>
                          </a:schemeClr>
                        </a:solidFill>
                      </a:endParaRPr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>
                        <a:solidFill>
                          <a:schemeClr val="tx1">
                            <a:alpha val="30000"/>
                          </a:schemeClr>
                        </a:solidFill>
                      </a:endParaRPr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30000"/>
                      </a:schemeClr>
                    </a:solidFill>
                  </a:tcPr>
                </a:tc>
              </a:tr>
              <a:tr h="228000">
                <a:tc>
                  <a:txBody>
                    <a:bodyPr/>
                    <a:lstStyle/>
                    <a:p>
                      <a:endParaRPr lang="zh-CN" altLang="en-US" sz="900" dirty="0">
                        <a:solidFill>
                          <a:schemeClr val="tx1">
                            <a:alpha val="30000"/>
                          </a:schemeClr>
                        </a:solidFill>
                      </a:endParaRPr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>
                        <a:solidFill>
                          <a:schemeClr val="tx1">
                            <a:alpha val="30000"/>
                          </a:schemeClr>
                        </a:solidFill>
                      </a:endParaRPr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>
                        <a:solidFill>
                          <a:schemeClr val="tx1">
                            <a:alpha val="30000"/>
                          </a:schemeClr>
                        </a:solidFill>
                      </a:endParaRPr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30000"/>
                      </a:schemeClr>
                    </a:solidFill>
                  </a:tcPr>
                </a:tc>
              </a:tr>
              <a:tr h="228000">
                <a:tc>
                  <a:txBody>
                    <a:bodyPr/>
                    <a:lstStyle/>
                    <a:p>
                      <a:endParaRPr lang="zh-CN" altLang="en-US" sz="900" dirty="0">
                        <a:solidFill>
                          <a:schemeClr val="tx1">
                            <a:alpha val="30000"/>
                          </a:schemeClr>
                        </a:solidFill>
                      </a:endParaRPr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>
                        <a:solidFill>
                          <a:schemeClr val="tx1">
                            <a:alpha val="30000"/>
                          </a:schemeClr>
                        </a:solidFill>
                      </a:endParaRPr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>
                        <a:solidFill>
                          <a:schemeClr val="tx1">
                            <a:alpha val="30000"/>
                          </a:schemeClr>
                        </a:solidFill>
                      </a:endParaRPr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>
                        <a:alpha val="3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08" name="文本框 507"/>
          <p:cNvSpPr txBox="1"/>
          <p:nvPr/>
        </p:nvSpPr>
        <p:spPr>
          <a:xfrm>
            <a:off x="11035792" y="2613513"/>
            <a:ext cx="791309" cy="29514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200" b="1" dirty="0">
                <a:solidFill>
                  <a:srgbClr val="00259A"/>
                </a:solidFill>
                <a:latin typeface="微软雅黑" panose="020B0503020204020204" pitchFamily="34" charset="-122"/>
                <a:sym typeface="微软雅黑" panose="020B0503020204020204" pitchFamily="34" charset="-122"/>
                <a:rtl val="0"/>
              </a:rPr>
              <a:t>Restore</a:t>
            </a:r>
            <a:endParaRPr lang="zh-CN" altLang="en-US" sz="1400" b="1" dirty="0">
              <a:solidFill>
                <a:srgbClr val="00259A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pic>
        <p:nvPicPr>
          <p:cNvPr id="510" name="图形 509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726140" y="3503297"/>
            <a:ext cx="385141" cy="385141"/>
          </a:xfrm>
          <a:prstGeom prst="rect">
            <a:avLst/>
          </a:prstGeom>
        </p:spPr>
      </p:pic>
      <p:cxnSp>
        <p:nvCxnSpPr>
          <p:cNvPr id="511" name="连接符: 肘形 510"/>
          <p:cNvCxnSpPr>
            <a:stCxn id="55" idx="3"/>
            <a:endCxn id="489" idx="1"/>
          </p:cNvCxnSpPr>
          <p:nvPr/>
        </p:nvCxnSpPr>
        <p:spPr>
          <a:xfrm>
            <a:off x="9043386" y="1465348"/>
            <a:ext cx="2414896" cy="511539"/>
          </a:xfrm>
          <a:prstGeom prst="bentConnector3">
            <a:avLst>
              <a:gd name="adj1" fmla="val 75694"/>
            </a:avLst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6" name="直接箭头连接符 395"/>
          <p:cNvCxnSpPr>
            <a:stCxn id="510" idx="3"/>
            <a:endCxn id="507" idx="1"/>
          </p:cNvCxnSpPr>
          <p:nvPr/>
        </p:nvCxnSpPr>
        <p:spPr>
          <a:xfrm>
            <a:off x="11111281" y="3695868"/>
            <a:ext cx="347001" cy="0"/>
          </a:xfrm>
          <a:prstGeom prst="straightConnector1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2" name="文本框 401"/>
          <p:cNvSpPr txBox="1"/>
          <p:nvPr/>
        </p:nvSpPr>
        <p:spPr>
          <a:xfrm>
            <a:off x="10610292" y="3848450"/>
            <a:ext cx="61683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Code</a:t>
            </a:r>
            <a:endParaRPr lang="zh-CN" altLang="en-US" sz="1200" dirty="0"/>
          </a:p>
        </p:txBody>
      </p:sp>
      <p:sp>
        <p:nvSpPr>
          <p:cNvPr id="403" name="Rectangle 1"/>
          <p:cNvSpPr>
            <a:spLocks noChangeArrowheads="1"/>
          </p:cNvSpPr>
          <p:nvPr/>
        </p:nvSpPr>
        <p:spPr bwMode="auto">
          <a:xfrm>
            <a:off x="11357133" y="4313282"/>
            <a:ext cx="867907" cy="307777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rgbClr val="067D17"/>
                </a:solidFill>
                <a:latin typeface="Times New Roman" panose="02020603050405020304" pitchFamily="18" charset="0"/>
                <a:ea typeface="JetBrains Mono"/>
                <a:cs typeface="Times New Roman" panose="02020603050405020304" pitchFamily="18" charset="0"/>
              </a:rPr>
              <a:t>yes or no</a:t>
            </a:r>
            <a:endParaRPr lang="en-US" altLang="zh-CN" sz="1400" dirty="0">
              <a:solidFill>
                <a:srgbClr val="067D17"/>
              </a:solidFill>
              <a:latin typeface="Times New Roman" panose="02020603050405020304" pitchFamily="18" charset="0"/>
              <a:ea typeface="JetBrains Mono"/>
              <a:cs typeface="Times New Roman" panose="02020603050405020304" pitchFamily="18" charset="0"/>
            </a:endParaRPr>
          </a:p>
        </p:txBody>
      </p:sp>
      <p:cxnSp>
        <p:nvCxnSpPr>
          <p:cNvPr id="406" name="直接箭头连接符 405"/>
          <p:cNvCxnSpPr>
            <a:stCxn id="507" idx="2"/>
            <a:endCxn id="403" idx="0"/>
          </p:cNvCxnSpPr>
          <p:nvPr/>
        </p:nvCxnSpPr>
        <p:spPr>
          <a:xfrm flipH="1">
            <a:off x="11791087" y="4041507"/>
            <a:ext cx="3670" cy="271775"/>
          </a:xfrm>
          <a:prstGeom prst="straightConnector1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本框 48"/>
          <p:cNvSpPr txBox="1"/>
          <p:nvPr/>
        </p:nvSpPr>
        <p:spPr>
          <a:xfrm>
            <a:off x="9983196" y="3035860"/>
            <a:ext cx="11064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VD</a:t>
            </a:r>
            <a:r>
              <a:rPr lang="en-US" altLang="zh-CN" sz="1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  <a:rtl val="0"/>
              </a:rPr>
              <a:t>’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s mask</a:t>
            </a:r>
            <a:endParaRPr lang="zh-CN" alt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theme/theme1.xml><?xml version="1.0" encoding="utf-8"?>
<a:theme xmlns:a="http://schemas.openxmlformats.org/drawingml/2006/main" name="夏雨家 https://xnwe.taobao.com/">
  <a:themeElements>
    <a:clrScheme name="MC-欧美风主题色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68F9C"/>
      </a:accent1>
      <a:accent2>
        <a:srgbClr val="2A566E"/>
      </a:accent2>
      <a:accent3>
        <a:srgbClr val="D71D49"/>
      </a:accent3>
      <a:accent4>
        <a:srgbClr val="268F9C"/>
      </a:accent4>
      <a:accent5>
        <a:srgbClr val="2A566E"/>
      </a:accent5>
      <a:accent6>
        <a:srgbClr val="D71D49"/>
      </a:accent6>
      <a:hlink>
        <a:srgbClr val="0563C1"/>
      </a:hlink>
      <a:folHlink>
        <a:srgbClr val="954F72"/>
      </a:folHlink>
    </a:clrScheme>
    <a:fontScheme name="Arial+微软雅黑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烟灰色玻璃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2159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28575" h="41275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 anchor="ctr">
        <a:spAutoFit/>
      </a:bodyPr>
      <a:lstStyle>
        <a:defPPr>
          <a:lnSpc>
            <a:spcPct val="120000"/>
          </a:lnSpc>
          <a:defRPr dirty="0" smtClean="0">
            <a:solidFill>
              <a:schemeClr val="tx1">
                <a:lumMod val="75000"/>
                <a:lumOff val="25000"/>
              </a:schemeClr>
            </a:solidFill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2013 - 2022 主题">
  <a:themeElements>
    <a:clrScheme name="Office 2013 - 2022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主题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974</Words>
  <Application>WPS 演示</Application>
  <PresentationFormat>自定义</PresentationFormat>
  <Paragraphs>161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</vt:i4>
      </vt:variant>
    </vt:vector>
  </HeadingPairs>
  <TitlesOfParts>
    <vt:vector size="21" baseType="lpstr">
      <vt:lpstr>Arial</vt:lpstr>
      <vt:lpstr>宋体</vt:lpstr>
      <vt:lpstr>Wingdings</vt:lpstr>
      <vt:lpstr>微软雅黑</vt:lpstr>
      <vt:lpstr>Arial</vt:lpstr>
      <vt:lpstr>Times New Roman</vt:lpstr>
      <vt:lpstr>JetBrains Mono</vt:lpstr>
      <vt:lpstr>Segoe Print</vt:lpstr>
      <vt:lpstr>等线</vt:lpstr>
      <vt:lpstr>Calibri</vt:lpstr>
      <vt:lpstr>Arial Unicode MS</vt:lpstr>
      <vt:lpstr>等线 Light</vt:lpstr>
      <vt:lpstr>Calibri Light</vt:lpstr>
      <vt:lpstr>夏雨家 https://xnwe.taobao.com/</vt:lpstr>
      <vt:lpstr>Office 2013 - 2022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盈钢 邱</dc:creator>
  <cp:lastModifiedBy>钢</cp:lastModifiedBy>
  <cp:revision>842</cp:revision>
  <dcterms:created xsi:type="dcterms:W3CDTF">2024-11-06T01:21:00Z</dcterms:created>
  <dcterms:modified xsi:type="dcterms:W3CDTF">2025-12-13T12:56:08Z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872E2A01CFB04B0BA55A5A263932DB32_12</vt:lpwstr>
  </property>
  <property fmtid="{D5CDD505-2E9C-101B-9397-08002B2CF9AE}" pid="3" name="KSOProductBuildVer">
    <vt:lpwstr>2052-12.1.0.21915</vt:lpwstr>
  </property>
</Properties>
</file>