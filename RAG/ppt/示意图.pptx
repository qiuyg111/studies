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7A4DCF-588F-7F0E-BAF6-5064E7803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8F2C6D9-A85C-FB8C-9EF9-324C91027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A1108F-CEF6-ED9D-CC42-ABCE79B2C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41AFF-22F8-474A-9A41-AE7CCB3EF92B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7A316E-CC76-79AA-DA5B-1654AF3A7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49D3B0-6EAE-2639-9C32-CB345AD94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84B80-5DFE-4B57-88D3-3FE03937D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545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27B6C5-13E2-A596-D604-AF2576C4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BEE720-9A70-D498-F546-640D1A6B4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D77240-3B90-998B-68C0-274E66789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41AFF-22F8-474A-9A41-AE7CCB3EF92B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922774-C4DA-4331-C6EC-E0F72356D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B1B66D-1E67-1F38-5D72-1038890DB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84B80-5DFE-4B57-88D3-3FE03937D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012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EA16A-775D-9A9E-93DE-E5D94F458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111E1A-703E-A543-C835-3976032B6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104FAB-CA54-B57C-0472-492569872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41AFF-22F8-474A-9A41-AE7CCB3EF92B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D56F6E-8CED-BA8A-5F8D-B03E7901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3ACA4D-29EE-A022-A3B7-18772283C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84B80-5DFE-4B57-88D3-3FE03937D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525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8A7A58-ABD0-A83B-D2C0-A8142A29C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B7FCAE-78B5-FFEB-0C6B-CE8B4DAE7B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9072C53-3F0F-7B94-83E2-495F26BB9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313163-6662-ADC4-1BC4-AD3EDFB47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41AFF-22F8-474A-9A41-AE7CCB3EF92B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6EB730-D08D-7A73-419B-E5D77E273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FC9EBD-AD2D-972F-E17B-AE8EDB397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84B80-5DFE-4B57-88D3-3FE03937D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561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2F1262-FDEF-EC89-2A49-47359967C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8839B7-96DD-93D2-C259-A5B3EECED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7127B0-2CEF-B41C-D112-4A05D577B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14EF65D-FDC0-19BB-FD2A-6AA10B4297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EEB884E-12EC-0895-0234-831E836203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4E7D75F-D5E1-A0E4-230E-A655F0E4E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41AFF-22F8-474A-9A41-AE7CCB3EF92B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49FA079-99B0-3DD3-2693-41CD85140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985BFE8-0CBB-1018-F6FD-AE7CAAEBC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84B80-5DFE-4B57-88D3-3FE03937D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147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167D6-A7C6-C08E-A735-E73158C1C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377666D-5C12-6176-AEC4-8FACEC5E3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41AFF-22F8-474A-9A41-AE7CCB3EF92B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B9D615D-C841-4DA3-2ACA-1638DD947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EF3FD4-0B9C-39EF-3818-9FCC6D962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84B80-5DFE-4B57-88D3-3FE03937D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9074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6A042A6-D00A-91B3-7B13-A39B1A826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41AFF-22F8-474A-9A41-AE7CCB3EF92B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D2A4DA-4CAD-8EF5-50F3-43FB67229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5E3748-3984-0AAF-A754-BED38A6C2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84B80-5DFE-4B57-88D3-3FE03937D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107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10B41-73CE-AC06-B158-546025DD7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A6B506-761A-69CF-FFCA-EF82432DC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18ADCF-446F-DAC9-96FC-CB9E8A8E0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14B071-59F1-0959-96AB-ED14773E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41AFF-22F8-474A-9A41-AE7CCB3EF92B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16400E-0C47-7494-CF9B-6B510E788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BCC48E-EA78-D9E0-0CE5-67E0D36E7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84B80-5DFE-4B57-88D3-3FE03937D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468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7768D0-497B-903C-9213-D22DCB2E8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68E5209-296C-315B-BFA7-F5476B0E45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238BB3-31E5-71EE-C0DB-863866DF7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AD6FDE-E7E2-B923-D982-AF9281161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41AFF-22F8-474A-9A41-AE7CCB3EF92B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6ECDCB-DD31-D1F8-0E09-7F326D2A4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5A0D0F-2304-36A6-050A-BB8905F2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84B80-5DFE-4B57-88D3-3FE03937D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460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7E1134-48DF-AE8E-3279-D40734E68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DE142E9-D394-D159-00BF-004A3E213E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F12AAC-7175-2F1B-202D-417DFE4E2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41AFF-22F8-474A-9A41-AE7CCB3EF92B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322083-3487-F1D8-F8AA-608AF1462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C430C1-022C-C1D8-E87B-3EF52044F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84B80-5DFE-4B57-88D3-3FE03937D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900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D90F42B-9054-E57B-BE57-2693FF73C8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D22761-CCD7-00D0-69B5-FEAAB4734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0FDE6A-314F-9AF4-2D3B-01D8818C4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41AFF-22F8-474A-9A41-AE7CCB3EF92B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CB4334-083C-FE7A-D48E-FBF7C10E6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3C33F2-2A30-FAEC-6E89-FF8AEE260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84B80-5DFE-4B57-88D3-3FE03937D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399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846321F-DA85-0C05-6E99-2D1DD8004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A94CB9-323B-AAFD-4C3B-5F5EC1696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55F73F-9FFA-7BBE-8644-72F702D4B6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41AFF-22F8-474A-9A41-AE7CCB3EF92B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857760-C2DD-1360-A342-D1892C2AB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96EEA1-1C62-757A-0F5C-010CA53978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084B80-5DFE-4B57-88D3-3FE03937D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495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EEB7C84E-60EB-1EA8-9A1B-735BB5A63D93}"/>
              </a:ext>
            </a:extLst>
          </p:cNvPr>
          <p:cNvSpPr/>
          <p:nvPr/>
        </p:nvSpPr>
        <p:spPr>
          <a:xfrm>
            <a:off x="1779637" y="3186243"/>
            <a:ext cx="737419" cy="33855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9E9768E-88AF-E0EE-85DB-EAC9E3C6082A}"/>
              </a:ext>
            </a:extLst>
          </p:cNvPr>
          <p:cNvSpPr/>
          <p:nvPr/>
        </p:nvSpPr>
        <p:spPr>
          <a:xfrm>
            <a:off x="2875565" y="1627529"/>
            <a:ext cx="1130710" cy="316227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主动检索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218ACD9-D956-0F96-6BC5-3FCA15485BD6}"/>
              </a:ext>
            </a:extLst>
          </p:cNvPr>
          <p:cNvSpPr/>
          <p:nvPr/>
        </p:nvSpPr>
        <p:spPr>
          <a:xfrm>
            <a:off x="2875565" y="4755845"/>
            <a:ext cx="1130710" cy="31680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文档压缩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6D1E383-13E4-8366-49EB-D07B1CAA774E}"/>
              </a:ext>
            </a:extLst>
          </p:cNvPr>
          <p:cNvSpPr/>
          <p:nvPr/>
        </p:nvSpPr>
        <p:spPr>
          <a:xfrm>
            <a:off x="4286862" y="825916"/>
            <a:ext cx="1130712" cy="316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基于置信度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4D3D147-2A1B-41A6-2CEE-A627D4ECC754}"/>
              </a:ext>
            </a:extLst>
          </p:cNvPr>
          <p:cNvSpPr/>
          <p:nvPr/>
        </p:nvSpPr>
        <p:spPr>
          <a:xfrm>
            <a:off x="4264087" y="1627243"/>
            <a:ext cx="1130400" cy="316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基于提示词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6C08EE2-9ACE-343A-98B5-02FA65DE8280}"/>
              </a:ext>
            </a:extLst>
          </p:cNvPr>
          <p:cNvSpPr/>
          <p:nvPr/>
        </p:nvSpPr>
        <p:spPr>
          <a:xfrm>
            <a:off x="4295651" y="2653624"/>
            <a:ext cx="1130400" cy="316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基于训练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5A6710D-96FC-6E87-E8E5-E65D1182587F}"/>
              </a:ext>
            </a:extLst>
          </p:cNvPr>
          <p:cNvSpPr/>
          <p:nvPr/>
        </p:nvSpPr>
        <p:spPr>
          <a:xfrm>
            <a:off x="4286862" y="5309047"/>
            <a:ext cx="1130400" cy="316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软压缩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D782C54-41EF-4876-692E-61DB06B5F110}"/>
              </a:ext>
            </a:extLst>
          </p:cNvPr>
          <p:cNvSpPr/>
          <p:nvPr/>
        </p:nvSpPr>
        <p:spPr>
          <a:xfrm>
            <a:off x="4286862" y="4139807"/>
            <a:ext cx="1130400" cy="316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硬压缩</a:t>
            </a:r>
          </a:p>
        </p:txBody>
      </p:sp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4C9CB869-73AC-3877-8A03-005218E73A9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2517056" y="1785643"/>
            <a:ext cx="358509" cy="156987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AF8E3780-29A1-0FF9-3591-39A82EE3CF74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2517056" y="3355520"/>
            <a:ext cx="358509" cy="15587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AC58DB56-9F15-17B7-02CF-70E522DB7951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4006275" y="984316"/>
            <a:ext cx="280587" cy="80132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6317C3DB-CD78-71C5-F4FC-E7037183790B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4006275" y="1785643"/>
            <a:ext cx="2578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E636C9DA-5DA3-8014-38B7-64F34C43FB15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4006275" y="1785643"/>
            <a:ext cx="289376" cy="102638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8D6F68D9-335C-6B8C-2507-D68E22307CF6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 flipV="1">
            <a:off x="4006275" y="4298207"/>
            <a:ext cx="280587" cy="6160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8F1444C3-2F07-30EB-AA6B-E9252ED6B783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4006275" y="4914245"/>
            <a:ext cx="280587" cy="5532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2A74F87E-2BC3-3B89-2E52-5415A9E9F74D}"/>
              </a:ext>
            </a:extLst>
          </p:cNvPr>
          <p:cNvSpPr txBox="1"/>
          <p:nvPr/>
        </p:nvSpPr>
        <p:spPr>
          <a:xfrm>
            <a:off x="5730855" y="487362"/>
            <a:ext cx="11689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FLARE [1]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DB23285-36CF-DA3C-2F9F-784DDA5C9F41}"/>
              </a:ext>
            </a:extLst>
          </p:cNvPr>
          <p:cNvSpPr txBox="1"/>
          <p:nvPr/>
        </p:nvSpPr>
        <p:spPr>
          <a:xfrm>
            <a:off x="5730855" y="1074845"/>
            <a:ext cx="13067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DRAGIN [2]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5AE039E1-9E31-DF51-A375-1C6EFE88E41D}"/>
              </a:ext>
            </a:extLst>
          </p:cNvPr>
          <p:cNvCxnSpPr>
            <a:cxnSpLocks/>
            <a:stCxn id="7" idx="3"/>
            <a:endCxn id="38" idx="1"/>
          </p:cNvCxnSpPr>
          <p:nvPr/>
        </p:nvCxnSpPr>
        <p:spPr>
          <a:xfrm flipV="1">
            <a:off x="5417574" y="656639"/>
            <a:ext cx="313281" cy="32767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88E5E86E-1CFC-FB83-760A-E9AF607EE1B8}"/>
              </a:ext>
            </a:extLst>
          </p:cNvPr>
          <p:cNvCxnSpPr>
            <a:cxnSpLocks/>
            <a:stCxn id="7" idx="3"/>
            <a:endCxn id="39" idx="1"/>
          </p:cNvCxnSpPr>
          <p:nvPr/>
        </p:nvCxnSpPr>
        <p:spPr>
          <a:xfrm>
            <a:off x="5417574" y="984316"/>
            <a:ext cx="313281" cy="2598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0928E06F-A4A8-735C-494F-EE818E46D231}"/>
              </a:ext>
            </a:extLst>
          </p:cNvPr>
          <p:cNvSpPr txBox="1"/>
          <p:nvPr/>
        </p:nvSpPr>
        <p:spPr>
          <a:xfrm>
            <a:off x="5730855" y="1472256"/>
            <a:ext cx="14109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6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I</a:t>
            </a:r>
            <a:r>
              <a:rPr lang="zh-CN" altLang="en-US" dirty="0"/>
              <a:t>terDRAG </a:t>
            </a:r>
            <a:r>
              <a:rPr lang="en-US" altLang="zh-CN" dirty="0"/>
              <a:t>[3]</a:t>
            </a:r>
            <a:endParaRPr lang="zh-CN" altLang="en-US" dirty="0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AAE725CB-9BF7-540A-14D3-62C97EDC5527}"/>
              </a:ext>
            </a:extLst>
          </p:cNvPr>
          <p:cNvSpPr/>
          <p:nvPr/>
        </p:nvSpPr>
        <p:spPr>
          <a:xfrm>
            <a:off x="5730855" y="2237583"/>
            <a:ext cx="996504" cy="3141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微调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6054BE39-1BA0-9F93-59FA-15B68985205B}"/>
              </a:ext>
            </a:extLst>
          </p:cNvPr>
          <p:cNvSpPr/>
          <p:nvPr/>
        </p:nvSpPr>
        <p:spPr>
          <a:xfrm>
            <a:off x="5730855" y="3025106"/>
            <a:ext cx="996504" cy="3141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强化学习</a:t>
            </a:r>
          </a:p>
        </p:txBody>
      </p: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F181A718-A271-8076-0AC4-57F71635D843}"/>
              </a:ext>
            </a:extLst>
          </p:cNvPr>
          <p:cNvCxnSpPr>
            <a:cxnSpLocks/>
            <a:stCxn id="9" idx="3"/>
            <a:endCxn id="56" idx="1"/>
          </p:cNvCxnSpPr>
          <p:nvPr/>
        </p:nvCxnSpPr>
        <p:spPr>
          <a:xfrm flipV="1">
            <a:off x="5426051" y="2394653"/>
            <a:ext cx="304804" cy="41737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F4C297B1-A7FC-09E4-A5CB-77E6AB26CCAE}"/>
              </a:ext>
            </a:extLst>
          </p:cNvPr>
          <p:cNvCxnSpPr>
            <a:cxnSpLocks/>
            <a:stCxn id="9" idx="3"/>
            <a:endCxn id="57" idx="1"/>
          </p:cNvCxnSpPr>
          <p:nvPr/>
        </p:nvCxnSpPr>
        <p:spPr>
          <a:xfrm>
            <a:off x="5426051" y="2812024"/>
            <a:ext cx="304804" cy="3701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DC7477A1-8121-2CA6-E4DC-7F8E861F3A70}"/>
              </a:ext>
            </a:extLst>
          </p:cNvPr>
          <p:cNvSpPr txBox="1"/>
          <p:nvPr/>
        </p:nvSpPr>
        <p:spPr>
          <a:xfrm>
            <a:off x="7038878" y="2074703"/>
            <a:ext cx="13644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6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AutoRAG </a:t>
            </a:r>
            <a:r>
              <a:rPr lang="en-US" altLang="zh-CN" dirty="0"/>
              <a:t>[5]</a:t>
            </a:r>
            <a:endParaRPr lang="zh-CN" altLang="en-US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3C64E34D-4FF4-771D-202B-0C35BC573766}"/>
              </a:ext>
            </a:extLst>
          </p:cNvPr>
          <p:cNvSpPr txBox="1"/>
          <p:nvPr/>
        </p:nvSpPr>
        <p:spPr>
          <a:xfrm>
            <a:off x="7038878" y="2382445"/>
            <a:ext cx="9188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6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UAR [6]</a:t>
            </a:r>
            <a:endParaRPr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888EEED4-6C48-5614-93CC-1861CA298945}"/>
              </a:ext>
            </a:extLst>
          </p:cNvPr>
          <p:cNvSpPr txBox="1"/>
          <p:nvPr/>
        </p:nvSpPr>
        <p:spPr>
          <a:xfrm>
            <a:off x="7038878" y="3320641"/>
            <a:ext cx="13756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6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 err="1"/>
              <a:t>DeepRAG</a:t>
            </a:r>
            <a:r>
              <a:rPr lang="en-US" altLang="zh-CN" dirty="0"/>
              <a:t> [9]</a:t>
            </a:r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02B81821-4CF5-8ACB-8E10-3E576D27493F}"/>
              </a:ext>
            </a:extLst>
          </p:cNvPr>
          <p:cNvSpPr txBox="1"/>
          <p:nvPr/>
        </p:nvSpPr>
        <p:spPr>
          <a:xfrm>
            <a:off x="7038878" y="2679296"/>
            <a:ext cx="13960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6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Search-R1 [7]</a:t>
            </a:r>
            <a:endParaRPr lang="zh-CN" altLang="en-US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272164F3-4966-DD74-53AD-A9241D82262F}"/>
              </a:ext>
            </a:extLst>
          </p:cNvPr>
          <p:cNvSpPr txBox="1"/>
          <p:nvPr/>
        </p:nvSpPr>
        <p:spPr>
          <a:xfrm>
            <a:off x="5730855" y="1774193"/>
            <a:ext cx="13511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6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Search-o1 </a:t>
            </a:r>
            <a:r>
              <a:rPr lang="en-US" altLang="zh-CN" dirty="0"/>
              <a:t>[4]</a:t>
            </a:r>
            <a:endParaRPr lang="zh-CN" altLang="en-US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B3C5A8B0-1D6D-3B63-2A50-C2D9025EA8E5}"/>
              </a:ext>
            </a:extLst>
          </p:cNvPr>
          <p:cNvSpPr txBox="1"/>
          <p:nvPr/>
        </p:nvSpPr>
        <p:spPr>
          <a:xfrm>
            <a:off x="7038878" y="3011754"/>
            <a:ext cx="18128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6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R</a:t>
            </a:r>
            <a:r>
              <a:rPr lang="zh-CN" altLang="en-US" dirty="0"/>
              <a:t>1-</a:t>
            </a:r>
            <a:r>
              <a:rPr lang="en-US" altLang="zh-CN" dirty="0"/>
              <a:t>S</a:t>
            </a:r>
            <a:r>
              <a:rPr lang="zh-CN" altLang="en-US" dirty="0"/>
              <a:t>earcher++ </a:t>
            </a:r>
            <a:r>
              <a:rPr lang="en-US" altLang="zh-CN" dirty="0"/>
              <a:t>[8]</a:t>
            </a:r>
            <a:endParaRPr lang="zh-CN" altLang="en-US" dirty="0"/>
          </a:p>
        </p:txBody>
      </p:sp>
      <p:cxnSp>
        <p:nvCxnSpPr>
          <p:cNvPr id="75" name="连接符: 肘形 74">
            <a:extLst>
              <a:ext uri="{FF2B5EF4-FFF2-40B4-BE49-F238E27FC236}">
                <a16:creationId xmlns:a16="http://schemas.microsoft.com/office/drawing/2014/main" id="{F23E9198-4859-3EE1-151C-427BAFF5A13D}"/>
              </a:ext>
            </a:extLst>
          </p:cNvPr>
          <p:cNvCxnSpPr>
            <a:cxnSpLocks/>
            <a:stCxn id="8" idx="3"/>
            <a:endCxn id="50" idx="1"/>
          </p:cNvCxnSpPr>
          <p:nvPr/>
        </p:nvCxnSpPr>
        <p:spPr>
          <a:xfrm flipV="1">
            <a:off x="5394487" y="1641533"/>
            <a:ext cx="336368" cy="1441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E56043CC-7233-12F5-649E-5DC69A867111}"/>
              </a:ext>
            </a:extLst>
          </p:cNvPr>
          <p:cNvCxnSpPr>
            <a:cxnSpLocks/>
            <a:stCxn id="8" idx="3"/>
            <a:endCxn id="71" idx="1"/>
          </p:cNvCxnSpPr>
          <p:nvPr/>
        </p:nvCxnSpPr>
        <p:spPr>
          <a:xfrm>
            <a:off x="5394487" y="1785643"/>
            <a:ext cx="336368" cy="15782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116E5711-E946-8195-A0EA-3E6FDC006A28}"/>
              </a:ext>
            </a:extLst>
          </p:cNvPr>
          <p:cNvCxnSpPr>
            <a:cxnSpLocks/>
            <a:stCxn id="56" idx="3"/>
            <a:endCxn id="65" idx="1"/>
          </p:cNvCxnSpPr>
          <p:nvPr/>
        </p:nvCxnSpPr>
        <p:spPr>
          <a:xfrm flipV="1">
            <a:off x="6727359" y="2243980"/>
            <a:ext cx="311519" cy="15067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6FF5B183-BDAF-BD90-7D8E-4AA04948AF48}"/>
              </a:ext>
            </a:extLst>
          </p:cNvPr>
          <p:cNvCxnSpPr>
            <a:cxnSpLocks/>
            <a:stCxn id="56" idx="3"/>
            <a:endCxn id="66" idx="1"/>
          </p:cNvCxnSpPr>
          <p:nvPr/>
        </p:nvCxnSpPr>
        <p:spPr>
          <a:xfrm>
            <a:off x="6727359" y="2394653"/>
            <a:ext cx="311519" cy="15706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连接符: 肘形 91">
            <a:extLst>
              <a:ext uri="{FF2B5EF4-FFF2-40B4-BE49-F238E27FC236}">
                <a16:creationId xmlns:a16="http://schemas.microsoft.com/office/drawing/2014/main" id="{F8A15318-F04D-EF0C-70DD-6108C376342E}"/>
              </a:ext>
            </a:extLst>
          </p:cNvPr>
          <p:cNvCxnSpPr>
            <a:cxnSpLocks/>
            <a:stCxn id="57" idx="3"/>
            <a:endCxn id="69" idx="1"/>
          </p:cNvCxnSpPr>
          <p:nvPr/>
        </p:nvCxnSpPr>
        <p:spPr>
          <a:xfrm flipV="1">
            <a:off x="6727359" y="2848573"/>
            <a:ext cx="311519" cy="3336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连接符: 肘形 94">
            <a:extLst>
              <a:ext uri="{FF2B5EF4-FFF2-40B4-BE49-F238E27FC236}">
                <a16:creationId xmlns:a16="http://schemas.microsoft.com/office/drawing/2014/main" id="{87BED020-4F32-94F6-8694-D831782E044A}"/>
              </a:ext>
            </a:extLst>
          </p:cNvPr>
          <p:cNvCxnSpPr>
            <a:cxnSpLocks/>
            <a:stCxn id="57" idx="3"/>
            <a:endCxn id="73" idx="1"/>
          </p:cNvCxnSpPr>
          <p:nvPr/>
        </p:nvCxnSpPr>
        <p:spPr>
          <a:xfrm flipV="1">
            <a:off x="6727359" y="3181031"/>
            <a:ext cx="311519" cy="11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连接符: 肘形 97">
            <a:extLst>
              <a:ext uri="{FF2B5EF4-FFF2-40B4-BE49-F238E27FC236}">
                <a16:creationId xmlns:a16="http://schemas.microsoft.com/office/drawing/2014/main" id="{2DCA19D4-38E9-3D55-6E0C-E06818967A6C}"/>
              </a:ext>
            </a:extLst>
          </p:cNvPr>
          <p:cNvCxnSpPr>
            <a:cxnSpLocks/>
            <a:stCxn id="57" idx="3"/>
            <a:endCxn id="68" idx="1"/>
          </p:cNvCxnSpPr>
          <p:nvPr/>
        </p:nvCxnSpPr>
        <p:spPr>
          <a:xfrm>
            <a:off x="6727359" y="3182176"/>
            <a:ext cx="311519" cy="3077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文本框 157">
            <a:extLst>
              <a:ext uri="{FF2B5EF4-FFF2-40B4-BE49-F238E27FC236}">
                <a16:creationId xmlns:a16="http://schemas.microsoft.com/office/drawing/2014/main" id="{730FDEFF-A162-F273-E0BB-A02F150A3EC2}"/>
              </a:ext>
            </a:extLst>
          </p:cNvPr>
          <p:cNvSpPr txBox="1"/>
          <p:nvPr/>
        </p:nvSpPr>
        <p:spPr>
          <a:xfrm>
            <a:off x="5764293" y="3820726"/>
            <a:ext cx="14781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6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RECOMP [10]</a:t>
            </a:r>
            <a:endParaRPr lang="zh-CN" altLang="en-US" dirty="0"/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8E88DDAA-8BB3-0A0B-1942-8A45458C58AC}"/>
              </a:ext>
            </a:extLst>
          </p:cNvPr>
          <p:cNvSpPr txBox="1"/>
          <p:nvPr/>
        </p:nvSpPr>
        <p:spPr>
          <a:xfrm>
            <a:off x="5764293" y="4128930"/>
            <a:ext cx="16066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6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COMPACT </a:t>
            </a:r>
            <a:r>
              <a:rPr lang="en-US" altLang="zh-CN" dirty="0"/>
              <a:t>[11]</a:t>
            </a:r>
            <a:endParaRPr lang="zh-CN" altLang="en-US" dirty="0"/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BF1FA007-9F88-26B7-9F2E-7C1A91E1E7C1}"/>
              </a:ext>
            </a:extLst>
          </p:cNvPr>
          <p:cNvSpPr txBox="1"/>
          <p:nvPr/>
        </p:nvSpPr>
        <p:spPr>
          <a:xfrm>
            <a:off x="5764293" y="4437135"/>
            <a:ext cx="17267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6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PROVENCE </a:t>
            </a:r>
            <a:r>
              <a:rPr lang="en-US" altLang="zh-CN" dirty="0"/>
              <a:t>[12]</a:t>
            </a:r>
            <a:endParaRPr lang="zh-CN" altLang="en-US" dirty="0"/>
          </a:p>
        </p:txBody>
      </p:sp>
      <p:cxnSp>
        <p:nvCxnSpPr>
          <p:cNvPr id="166" name="连接符: 肘形 165">
            <a:extLst>
              <a:ext uri="{FF2B5EF4-FFF2-40B4-BE49-F238E27FC236}">
                <a16:creationId xmlns:a16="http://schemas.microsoft.com/office/drawing/2014/main" id="{03C80A2B-7737-5DDA-60FC-F58921E2507F}"/>
              </a:ext>
            </a:extLst>
          </p:cNvPr>
          <p:cNvCxnSpPr>
            <a:cxnSpLocks/>
            <a:stCxn id="11" idx="3"/>
            <a:endCxn id="158" idx="1"/>
          </p:cNvCxnSpPr>
          <p:nvPr/>
        </p:nvCxnSpPr>
        <p:spPr>
          <a:xfrm flipV="1">
            <a:off x="5417262" y="3990003"/>
            <a:ext cx="347031" cy="3082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连接符: 肘形 168">
            <a:extLst>
              <a:ext uri="{FF2B5EF4-FFF2-40B4-BE49-F238E27FC236}">
                <a16:creationId xmlns:a16="http://schemas.microsoft.com/office/drawing/2014/main" id="{5106AD0B-F786-41D6-F2E3-F0F7BC97584D}"/>
              </a:ext>
            </a:extLst>
          </p:cNvPr>
          <p:cNvCxnSpPr>
            <a:cxnSpLocks/>
            <a:stCxn id="11" idx="3"/>
            <a:endCxn id="160" idx="1"/>
          </p:cNvCxnSpPr>
          <p:nvPr/>
        </p:nvCxnSpPr>
        <p:spPr>
          <a:xfrm>
            <a:off x="5417262" y="4298207"/>
            <a:ext cx="3470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连接符: 肘形 171">
            <a:extLst>
              <a:ext uri="{FF2B5EF4-FFF2-40B4-BE49-F238E27FC236}">
                <a16:creationId xmlns:a16="http://schemas.microsoft.com/office/drawing/2014/main" id="{222DC355-FB50-D2D1-34AD-5EE2842F9C47}"/>
              </a:ext>
            </a:extLst>
          </p:cNvPr>
          <p:cNvCxnSpPr>
            <a:cxnSpLocks/>
            <a:stCxn id="11" idx="3"/>
            <a:endCxn id="162" idx="1"/>
          </p:cNvCxnSpPr>
          <p:nvPr/>
        </p:nvCxnSpPr>
        <p:spPr>
          <a:xfrm>
            <a:off x="5417262" y="4298207"/>
            <a:ext cx="347031" cy="30820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连接符: 肘形 179">
            <a:extLst>
              <a:ext uri="{FF2B5EF4-FFF2-40B4-BE49-F238E27FC236}">
                <a16:creationId xmlns:a16="http://schemas.microsoft.com/office/drawing/2014/main" id="{816E3CF5-A55D-88C3-F0A0-0A00142F78B9}"/>
              </a:ext>
            </a:extLst>
          </p:cNvPr>
          <p:cNvCxnSpPr>
            <a:cxnSpLocks/>
            <a:stCxn id="10" idx="3"/>
            <a:endCxn id="176" idx="1"/>
          </p:cNvCxnSpPr>
          <p:nvPr/>
        </p:nvCxnSpPr>
        <p:spPr>
          <a:xfrm flipV="1">
            <a:off x="5417262" y="5017193"/>
            <a:ext cx="334294" cy="45025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连接符: 肘形 182">
            <a:extLst>
              <a:ext uri="{FF2B5EF4-FFF2-40B4-BE49-F238E27FC236}">
                <a16:creationId xmlns:a16="http://schemas.microsoft.com/office/drawing/2014/main" id="{CFD2C879-BD52-8802-B920-E7AAFCFD8F7E}"/>
              </a:ext>
            </a:extLst>
          </p:cNvPr>
          <p:cNvCxnSpPr>
            <a:cxnSpLocks/>
            <a:stCxn id="10" idx="3"/>
            <a:endCxn id="177" idx="1"/>
          </p:cNvCxnSpPr>
          <p:nvPr/>
        </p:nvCxnSpPr>
        <p:spPr>
          <a:xfrm flipV="1">
            <a:off x="5417262" y="5317362"/>
            <a:ext cx="334294" cy="1500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连接符: 肘形 185">
            <a:extLst>
              <a:ext uri="{FF2B5EF4-FFF2-40B4-BE49-F238E27FC236}">
                <a16:creationId xmlns:a16="http://schemas.microsoft.com/office/drawing/2014/main" id="{F70054D5-B862-D1F6-8055-C13ABF678C09}"/>
              </a:ext>
            </a:extLst>
          </p:cNvPr>
          <p:cNvCxnSpPr>
            <a:cxnSpLocks/>
            <a:stCxn id="10" idx="3"/>
            <a:endCxn id="179" idx="1"/>
          </p:cNvCxnSpPr>
          <p:nvPr/>
        </p:nvCxnSpPr>
        <p:spPr>
          <a:xfrm>
            <a:off x="5417262" y="5467447"/>
            <a:ext cx="334294" cy="45025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2" name="组合 191">
            <a:extLst>
              <a:ext uri="{FF2B5EF4-FFF2-40B4-BE49-F238E27FC236}">
                <a16:creationId xmlns:a16="http://schemas.microsoft.com/office/drawing/2014/main" id="{D36E57FE-85F1-2F66-C7FC-45F984258B94}"/>
              </a:ext>
            </a:extLst>
          </p:cNvPr>
          <p:cNvGrpSpPr/>
          <p:nvPr/>
        </p:nvGrpSpPr>
        <p:grpSpPr>
          <a:xfrm>
            <a:off x="5751556" y="4847916"/>
            <a:ext cx="1388522" cy="1239062"/>
            <a:chOff x="5751556" y="5113387"/>
            <a:chExt cx="1388522" cy="1239062"/>
          </a:xfrm>
        </p:grpSpPr>
        <p:sp>
          <p:nvSpPr>
            <p:cNvPr id="176" name="文本框 175">
              <a:extLst>
                <a:ext uri="{FF2B5EF4-FFF2-40B4-BE49-F238E27FC236}">
                  <a16:creationId xmlns:a16="http://schemas.microsoft.com/office/drawing/2014/main" id="{83F10225-B963-2DB3-3191-DAC41D26A82C}"/>
                </a:ext>
              </a:extLst>
            </p:cNvPr>
            <p:cNvSpPr txBox="1"/>
            <p:nvPr/>
          </p:nvSpPr>
          <p:spPr>
            <a:xfrm>
              <a:off x="5751556" y="5113387"/>
              <a:ext cx="1136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00"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dirty="0"/>
                <a:t>xRAG </a:t>
              </a:r>
              <a:r>
                <a:rPr lang="en-US" altLang="zh-CN" dirty="0"/>
                <a:t>[13]</a:t>
              </a:r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7467B8E6-F513-B109-7CF6-B0B13E4B7DD0}"/>
                </a:ext>
              </a:extLst>
            </p:cNvPr>
            <p:cNvSpPr txBox="1"/>
            <p:nvPr/>
          </p:nvSpPr>
          <p:spPr>
            <a:xfrm>
              <a:off x="5751556" y="5413556"/>
              <a:ext cx="13885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00"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/>
                <a:t>COCOM [14]</a:t>
              </a:r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938F79CF-0B90-D4F1-7C32-FDF49C86595C}"/>
                </a:ext>
              </a:extLst>
            </p:cNvPr>
            <p:cNvSpPr txBox="1"/>
            <p:nvPr/>
          </p:nvSpPr>
          <p:spPr>
            <a:xfrm>
              <a:off x="5751556" y="6013895"/>
              <a:ext cx="129554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00"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dirty="0"/>
                <a:t>OSCAR </a:t>
              </a:r>
              <a:r>
                <a:rPr lang="en-US" altLang="zh-CN" dirty="0"/>
                <a:t>[16]</a:t>
              </a:r>
              <a:endParaRPr lang="zh-CN" altLang="en-US" dirty="0"/>
            </a:p>
          </p:txBody>
        </p: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374D0FB9-36F3-91DD-02A7-0B852F63533E}"/>
                </a:ext>
              </a:extLst>
            </p:cNvPr>
            <p:cNvSpPr txBox="1"/>
            <p:nvPr/>
          </p:nvSpPr>
          <p:spPr>
            <a:xfrm>
              <a:off x="5751556" y="5713725"/>
              <a:ext cx="12057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00"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/>
                <a:t>PISCO [15]</a:t>
              </a:r>
              <a:endParaRPr lang="zh-CN" altLang="en-US" dirty="0"/>
            </a:p>
          </p:txBody>
        </p:sp>
      </p:grpSp>
      <p:cxnSp>
        <p:nvCxnSpPr>
          <p:cNvPr id="193" name="连接符: 肘形 192">
            <a:extLst>
              <a:ext uri="{FF2B5EF4-FFF2-40B4-BE49-F238E27FC236}">
                <a16:creationId xmlns:a16="http://schemas.microsoft.com/office/drawing/2014/main" id="{D4001CFA-6F37-11D9-4770-76BD79649C1A}"/>
              </a:ext>
            </a:extLst>
          </p:cNvPr>
          <p:cNvCxnSpPr>
            <a:cxnSpLocks/>
            <a:stCxn id="10" idx="3"/>
            <a:endCxn id="189" idx="1"/>
          </p:cNvCxnSpPr>
          <p:nvPr/>
        </p:nvCxnSpPr>
        <p:spPr>
          <a:xfrm>
            <a:off x="5417262" y="5467447"/>
            <a:ext cx="334294" cy="1500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104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06576-E4AC-5275-1C9F-88F6A5BCC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4D1526B2-BE8C-E486-E2E5-CE45B8456089}"/>
              </a:ext>
            </a:extLst>
          </p:cNvPr>
          <p:cNvGrpSpPr/>
          <p:nvPr/>
        </p:nvGrpSpPr>
        <p:grpSpPr>
          <a:xfrm>
            <a:off x="344130" y="1061568"/>
            <a:ext cx="8913976" cy="3627501"/>
            <a:chOff x="344130" y="1061568"/>
            <a:chExt cx="8913976" cy="3627501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870D6812-A92A-AA88-2C8E-F45A1FF347EA}"/>
                </a:ext>
              </a:extLst>
            </p:cNvPr>
            <p:cNvSpPr/>
            <p:nvPr/>
          </p:nvSpPr>
          <p:spPr>
            <a:xfrm>
              <a:off x="344130" y="2349296"/>
              <a:ext cx="2989007" cy="1280649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en-US" altLang="zh-CN" sz="1400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 bounding sea to the West is the Ionian Sea. </a:t>
              </a:r>
              <a:r>
                <a:rPr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 the Northwest is the </a:t>
              </a:r>
              <a:r>
                <a:rPr lang="en-US" altLang="zh-CN" sz="14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Myrtoan</a:t>
              </a:r>
              <a:r>
                <a:rPr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Sea, a subdivision of the Mediterranean Sea that lies between the Cyclades and Peloponnese. </a:t>
              </a:r>
              <a:endPara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446595E9-2565-E6A0-7C39-5C81D9B852A7}"/>
                </a:ext>
              </a:extLst>
            </p:cNvPr>
            <p:cNvSpPr/>
            <p:nvPr/>
          </p:nvSpPr>
          <p:spPr>
            <a:xfrm>
              <a:off x="3898490" y="1714503"/>
              <a:ext cx="2472813" cy="538313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en-US" altLang="zh-CN" sz="1400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 bounding sea to the West is the Ionian Sea. </a:t>
              </a:r>
              <a:endPara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1E46F1C-DE56-B53E-431B-DD832DE9BBC8}"/>
                </a:ext>
              </a:extLst>
            </p:cNvPr>
            <p:cNvSpPr/>
            <p:nvPr/>
          </p:nvSpPr>
          <p:spPr>
            <a:xfrm>
              <a:off x="3898490" y="3187495"/>
              <a:ext cx="2472813" cy="1119034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 the Northwest is the </a:t>
              </a:r>
              <a:r>
                <a:rPr lang="en-US" altLang="zh-CN" sz="14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Myrtoan</a:t>
              </a:r>
              <a:r>
                <a:rPr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Sea, a subdivision of the Mediterranean Sea that lies between the Cyclades and Peloponnese. </a:t>
              </a:r>
              <a:endPara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A8D7198D-9402-872E-556E-40BF56F1CF36}"/>
                </a:ext>
              </a:extLst>
            </p:cNvPr>
            <p:cNvCxnSpPr>
              <a:stCxn id="2" idx="3"/>
              <a:endCxn id="3" idx="1"/>
            </p:cNvCxnSpPr>
            <p:nvPr/>
          </p:nvCxnSpPr>
          <p:spPr>
            <a:xfrm flipV="1">
              <a:off x="3333137" y="1983660"/>
              <a:ext cx="565353" cy="100596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EA9C5FC7-8A73-E4BC-2572-B82FA8D5ED7E}"/>
                </a:ext>
              </a:extLst>
            </p:cNvPr>
            <p:cNvCxnSpPr>
              <a:cxnSpLocks/>
              <a:stCxn id="2" idx="3"/>
              <a:endCxn id="12" idx="1"/>
            </p:cNvCxnSpPr>
            <p:nvPr/>
          </p:nvCxnSpPr>
          <p:spPr>
            <a:xfrm>
              <a:off x="3333137" y="2989621"/>
              <a:ext cx="565353" cy="75739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FB9F6961-0639-6B1D-E191-D409FA1139C4}"/>
                </a:ext>
              </a:extLst>
            </p:cNvPr>
            <p:cNvSpPr txBox="1"/>
            <p:nvPr/>
          </p:nvSpPr>
          <p:spPr>
            <a:xfrm>
              <a:off x="4922338" y="2266024"/>
              <a:ext cx="425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S1</a:t>
              </a:r>
              <a:endParaRPr lang="zh-CN" altLang="en-US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6437F557-D324-1870-8549-D2A020F356EB}"/>
                </a:ext>
              </a:extLst>
            </p:cNvPr>
            <p:cNvSpPr txBox="1"/>
            <p:nvPr/>
          </p:nvSpPr>
          <p:spPr>
            <a:xfrm>
              <a:off x="4925961" y="4319737"/>
              <a:ext cx="425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S2</a:t>
              </a:r>
              <a:endParaRPr lang="zh-CN" altLang="en-US" dirty="0"/>
            </a:p>
          </p:txBody>
        </p: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8C7FFA1D-77A4-C7D5-957A-F5433CBB3313}"/>
                </a:ext>
              </a:extLst>
            </p:cNvPr>
            <p:cNvGrpSpPr/>
            <p:nvPr/>
          </p:nvGrpSpPr>
          <p:grpSpPr>
            <a:xfrm>
              <a:off x="7492631" y="1857686"/>
              <a:ext cx="1407732" cy="251945"/>
              <a:chOff x="9383417" y="2756726"/>
              <a:chExt cx="1407732" cy="251945"/>
            </a:xfrm>
          </p:grpSpPr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F3A4BA68-969E-1EE6-734D-689064C120A2}"/>
                  </a:ext>
                </a:extLst>
              </p:cNvPr>
              <p:cNvSpPr/>
              <p:nvPr/>
            </p:nvSpPr>
            <p:spPr>
              <a:xfrm>
                <a:off x="9383417" y="2762865"/>
                <a:ext cx="262028" cy="24580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89B81FDA-195F-A6FC-3696-36B5FF45C6B5}"/>
                  </a:ext>
                </a:extLst>
              </p:cNvPr>
              <p:cNvSpPr/>
              <p:nvPr/>
            </p:nvSpPr>
            <p:spPr>
              <a:xfrm>
                <a:off x="9763197" y="2756726"/>
                <a:ext cx="262028" cy="24580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FEAE8F7B-BE33-C7F3-AAF5-037EA0A6D894}"/>
                  </a:ext>
                </a:extLst>
              </p:cNvPr>
              <p:cNvSpPr/>
              <p:nvPr/>
            </p:nvSpPr>
            <p:spPr>
              <a:xfrm>
                <a:off x="10146159" y="2756726"/>
                <a:ext cx="262028" cy="24580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360815A0-1E84-B2AD-ECF9-643541CCE7CC}"/>
                  </a:ext>
                </a:extLst>
              </p:cNvPr>
              <p:cNvSpPr/>
              <p:nvPr/>
            </p:nvSpPr>
            <p:spPr>
              <a:xfrm>
                <a:off x="10529121" y="2756726"/>
                <a:ext cx="262028" cy="24580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9DDDBB86-AD53-1218-FF2A-18541A6708BE}"/>
                </a:ext>
              </a:extLst>
            </p:cNvPr>
            <p:cNvCxnSpPr>
              <a:cxnSpLocks/>
              <a:stCxn id="3" idx="3"/>
              <a:endCxn id="26" idx="1"/>
            </p:cNvCxnSpPr>
            <p:nvPr/>
          </p:nvCxnSpPr>
          <p:spPr>
            <a:xfrm>
              <a:off x="6371303" y="1983660"/>
              <a:ext cx="1121328" cy="30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751DF5C9-FB11-9E35-6A04-3C2394776B2D}"/>
                </a:ext>
              </a:extLst>
            </p:cNvPr>
            <p:cNvSpPr txBox="1"/>
            <p:nvPr/>
          </p:nvSpPr>
          <p:spPr>
            <a:xfrm>
              <a:off x="6667006" y="1628458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压缩</a:t>
              </a:r>
            </a:p>
          </p:txBody>
        </p:sp>
        <p:cxnSp>
          <p:nvCxnSpPr>
            <p:cNvPr id="42" name="连接符: 肘形 41">
              <a:extLst>
                <a:ext uri="{FF2B5EF4-FFF2-40B4-BE49-F238E27FC236}">
                  <a16:creationId xmlns:a16="http://schemas.microsoft.com/office/drawing/2014/main" id="{87DD66C2-C8FA-A69A-8708-84B8F7AA559F}"/>
                </a:ext>
              </a:extLst>
            </p:cNvPr>
            <p:cNvCxnSpPr>
              <a:stCxn id="28" idx="0"/>
              <a:endCxn id="3" idx="0"/>
            </p:cNvCxnSpPr>
            <p:nvPr/>
          </p:nvCxnSpPr>
          <p:spPr>
            <a:xfrm rot="16200000" flipV="1">
              <a:off x="6497570" y="351831"/>
              <a:ext cx="143183" cy="2868528"/>
            </a:xfrm>
            <a:prstGeom prst="bentConnector3">
              <a:avLst>
                <a:gd name="adj1" fmla="val 259656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2B5931A4-CFD3-3D38-9B8D-C08BC3A312E3}"/>
                </a:ext>
              </a:extLst>
            </p:cNvPr>
            <p:cNvSpPr txBox="1"/>
            <p:nvPr/>
          </p:nvSpPr>
          <p:spPr>
            <a:xfrm>
              <a:off x="5696600" y="1061568"/>
              <a:ext cx="21531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任务</a:t>
              </a:r>
              <a:r>
                <a:rPr lang="en-US" altLang="zh-CN" dirty="0"/>
                <a:t>1</a:t>
              </a:r>
              <a:r>
                <a:rPr lang="zh-CN" altLang="en-US" dirty="0"/>
                <a:t>：自编码恢复</a:t>
              </a:r>
            </a:p>
          </p:txBody>
        </p: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1A57ABDB-45B3-9245-F484-28B3CAF3316B}"/>
                </a:ext>
              </a:extLst>
            </p:cNvPr>
            <p:cNvCxnSpPr>
              <a:cxnSpLocks/>
              <a:stCxn id="28" idx="2"/>
              <a:endCxn id="12" idx="3"/>
            </p:cNvCxnSpPr>
            <p:nvPr/>
          </p:nvCxnSpPr>
          <p:spPr>
            <a:xfrm flipH="1">
              <a:off x="6371303" y="2103492"/>
              <a:ext cx="1632122" cy="16435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E0FDAC8A-2999-DBA3-5710-7DA94CE5624E}"/>
                </a:ext>
              </a:extLst>
            </p:cNvPr>
            <p:cNvSpPr txBox="1"/>
            <p:nvPr/>
          </p:nvSpPr>
          <p:spPr>
            <a:xfrm>
              <a:off x="6874120" y="3086702"/>
              <a:ext cx="23839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任务</a:t>
              </a:r>
              <a:r>
                <a:rPr lang="en-US" altLang="zh-CN" dirty="0"/>
                <a:t>2</a:t>
              </a:r>
              <a:r>
                <a:rPr lang="zh-CN" altLang="en-US" dirty="0"/>
                <a:t>：下一个词预测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4656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176</Words>
  <Application>Microsoft Office PowerPoint</Application>
  <PresentationFormat>宽屏</PresentationFormat>
  <Paragraphs>34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2</cp:revision>
  <dcterms:created xsi:type="dcterms:W3CDTF">2026-06-16T06:57:30Z</dcterms:created>
  <dcterms:modified xsi:type="dcterms:W3CDTF">2026-06-16T13:16:31Z</dcterms:modified>
</cp:coreProperties>
</file>