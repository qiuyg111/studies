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34A26-2E5B-FBB2-6909-60B0A8041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728FFD-0C92-A6C7-A156-B66122F0B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93620E-C07B-75E5-589A-F0389C4B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7DA93-BF0D-9FC4-F451-3BD508CD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4E1695-3323-34D9-06D8-27133A99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B22E2-5EB7-1DE9-5F4E-DE310265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B03C43-3E80-CE21-922E-37DBE2A8F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213643-EA19-CB8B-BE89-A64FF01D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D1E68-3618-E5B3-FCB6-20477E34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0E7AD-44DB-59D9-0458-8164B10B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61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ECF85-CC4C-3E4B-A4D1-5D72B300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FF1AD6-A421-2F83-8CFD-92982D38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ECE84-9E9C-F15C-3A24-C0951D7E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F3E21-5F65-0B6B-43A1-90DEC696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AA352-2281-7E98-F17B-D021C634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6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B9B24-AC19-380E-962C-4877B965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C6E43-077C-5D5F-4436-5181F70C8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CD14EE-2A41-335C-0CB7-3DAC89589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DFC65A-C8B7-8824-D5A5-15C5CFF8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EE8F94-F06F-9E42-FC61-7DCCFFC1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002E3-E255-C999-AA39-8CF9A5D9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45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B6235-8EB9-DB84-67CB-0BE7C0DD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39407D-66C0-913F-E618-68FA8F121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3059E6-956E-5F5B-F4D8-1699E9A26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451E79-9DCD-EEB8-A527-CC706427F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11D3D4-B342-28D5-14F9-4C9802ED4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E5621F-2197-52E0-9456-2B99E549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6B7D2A-17D9-53E7-188D-8F163F6E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D0DD93-C781-30B0-A708-34066280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66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0B57C-8AB4-1D4F-4AAA-BC4238BB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B24B87-DD1E-F8CE-D0E4-21C8032B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8FBE7C-A2D6-E10D-35C7-F15C44E4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062D3D-E776-5123-D24D-CD9E57EF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03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6671B7-BD09-7B6C-8762-1EC4AD8E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B311E5-BA19-E572-42A5-15EDB3EF5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FCD1C3-1230-5025-9BD6-3138B516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46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82637-9D8C-D1FB-4CF4-0F3EFDE4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B893C-F96D-5DB9-BEC5-953DCF517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A66EA-865E-2929-8FD6-77CDE31D4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71A2D4-28CB-0DBD-8D2B-8C4DFC94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19572E-54B1-1104-4B36-F4A65E5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38040-8153-B052-62B3-1572201A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34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5B2BF-4583-590A-EF98-E416C343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B5E3D0-B12F-F3BC-1AEE-5973F3D63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AAF21E-65BD-ED6E-79A9-D2D0F3777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BC6D9-2568-E17C-29A9-9CED57FD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5E919C-4CD2-3E5D-1CAD-51A5533D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ECA5C2-6FEC-76C2-798A-9A686961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1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DC8C8-6F84-B556-6A55-EF5FE518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C320B8-9868-9FF2-5480-8604A81FB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1CFB40-1754-9290-A8B3-A2969D29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F6305-7EBE-F251-7D61-E93A33E7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7CDC8F-0ACE-593F-C3A2-957AF366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82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00D2F1-3936-9318-5C3B-CBEFFC82B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D8619F-DF61-FA97-0B57-A3ABF208D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8D5185-FEB0-0699-13ED-BA55E9F8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E133E4-3584-4558-8F24-41F5DEAF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CCB6A-812F-2931-F770-8D52289D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7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C1A73A-5A2B-7C76-A75C-6BB08662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07433B-ED92-9ED8-A1BD-1C46EC7CF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E2EEC3-A132-A99A-B973-6B28A76F8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A5B12-4050-412B-B5BF-9D0915598E2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FE8DC-F2A7-192D-9470-DC8B1F1B5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1ECBBF-12AE-C703-D78E-B710B8F98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9557D-C377-4D95-A4F9-36D3802A1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587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D904E955-DC8C-68BF-998E-6F413BCFD550}"/>
              </a:ext>
            </a:extLst>
          </p:cNvPr>
          <p:cNvSpPr txBox="1"/>
          <p:nvPr/>
        </p:nvSpPr>
        <p:spPr>
          <a:xfrm>
            <a:off x="442452" y="61822"/>
            <a:ext cx="5899354" cy="612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load_scores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"""Load student scores from a file."""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with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open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zh-CN" altLang="zh-CN" sz="1400" dirty="0">
                <a:solidFill>
                  <a:srgbClr val="067D17"/>
                </a:solidFill>
                <a:effectLst/>
                <a:latin typeface="JetBrains Mono"/>
              </a:rPr>
              <a:t>"r"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float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x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x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.readlines()]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normalize_score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"""Normalize a score to the range [0, 1]."""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/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b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evaluate_student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"""Evaluate a student using the average normalized score."""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load_scores(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[normalize_score(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&gt;-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60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.append(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sum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filter_scores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b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zh-CN" altLang="zh-CN" sz="1400" dirty="0">
                <a:solidFill>
                  <a:srgbClr val="00627A"/>
                </a:solidFill>
                <a:effectLst/>
                <a:latin typeface="JetBrains Mono"/>
              </a:rPr>
              <a:t>evaluate_team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"""Evaluate a team using normalized scores and remove the lowest score."""</a:t>
            </a:r>
            <a:b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zh-CN" altLang="zh-CN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load_scores(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path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 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= [normalize_score(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scores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&gt; </a:t>
            </a:r>
            <a:r>
              <a:rPr lang="zh-CN" altLang="zh-CN" sz="1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.remove(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min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sum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zh-CN" altLang="zh-CN" sz="1400" dirty="0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JetBrains Mono"/>
              </a:rPr>
              <a:t>normalized</a:t>
            </a:r>
            <a:r>
              <a:rPr lang="zh-CN" altLang="zh-CN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B37694-8A4E-0C28-3916-5250092261C1}"/>
              </a:ext>
            </a:extLst>
          </p:cNvPr>
          <p:cNvSpPr/>
          <p:nvPr/>
        </p:nvSpPr>
        <p:spPr>
          <a:xfrm>
            <a:off x="501445" y="108154"/>
            <a:ext cx="3470787" cy="176980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8E32D3-4B33-00BA-9C55-242A3F136439}"/>
              </a:ext>
            </a:extLst>
          </p:cNvPr>
          <p:cNvSpPr/>
          <p:nvPr/>
        </p:nvSpPr>
        <p:spPr>
          <a:xfrm>
            <a:off x="501445" y="1991032"/>
            <a:ext cx="4748981" cy="206692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9286AE34-0A6D-1A76-CE0A-3E933E1CC279}"/>
              </a:ext>
            </a:extLst>
          </p:cNvPr>
          <p:cNvSpPr/>
          <p:nvPr/>
        </p:nvSpPr>
        <p:spPr>
          <a:xfrm>
            <a:off x="4031225" y="786579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E9DC8A-5441-B64C-1568-DC4E09C73F0D}"/>
              </a:ext>
            </a:extLst>
          </p:cNvPr>
          <p:cNvSpPr txBox="1"/>
          <p:nvPr/>
        </p:nvSpPr>
        <p:spPr>
          <a:xfrm>
            <a:off x="4404851" y="7051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依赖项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100298F-C060-0F7B-B071-64348F94A6F8}"/>
              </a:ext>
            </a:extLst>
          </p:cNvPr>
          <p:cNvSpPr/>
          <p:nvPr/>
        </p:nvSpPr>
        <p:spPr>
          <a:xfrm>
            <a:off x="5309419" y="2443315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0898FC-4222-B7B5-BC94-AE6F62BBB2D9}"/>
              </a:ext>
            </a:extLst>
          </p:cNvPr>
          <p:cNvSpPr txBox="1"/>
          <p:nvPr/>
        </p:nvSpPr>
        <p:spPr>
          <a:xfrm>
            <a:off x="5683045" y="23520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相似项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5F4619-CB15-68BC-7B1E-ED878BAE7250}"/>
              </a:ext>
            </a:extLst>
          </p:cNvPr>
          <p:cNvSpPr/>
          <p:nvPr/>
        </p:nvSpPr>
        <p:spPr>
          <a:xfrm>
            <a:off x="501445" y="4139383"/>
            <a:ext cx="5742039" cy="199525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2822FDC1-D372-C7DA-2F47-E7E78D44C7F6}"/>
              </a:ext>
            </a:extLst>
          </p:cNvPr>
          <p:cNvSpPr/>
          <p:nvPr/>
        </p:nvSpPr>
        <p:spPr>
          <a:xfrm rot="5400000">
            <a:off x="3074080" y="6268491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3B6835-9B21-DEC5-246D-D4B6F312D7BA}"/>
              </a:ext>
            </a:extLst>
          </p:cNvPr>
          <p:cNvSpPr txBox="1"/>
          <p:nvPr/>
        </p:nvSpPr>
        <p:spPr>
          <a:xfrm>
            <a:off x="2706895" y="64700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目标函数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A9FAC1B-4D6D-1F05-FAE0-F4D5ED664677}"/>
              </a:ext>
            </a:extLst>
          </p:cNvPr>
          <p:cNvSpPr txBox="1"/>
          <p:nvPr/>
        </p:nvSpPr>
        <p:spPr>
          <a:xfrm>
            <a:off x="6992827" y="2078564"/>
            <a:ext cx="4432257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正常开发中，对于依赖项，只需要知道他的接口就行了，也就是输入输入和功能的描述，对这部分的压缩就是使用摘要来替代</a:t>
            </a:r>
            <a:endParaRPr lang="en-US" altLang="zh-CN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相似的代码提供参考，但只有部分的又参考意义，压缩方式就是选取最相关的代码行来作为示例</a:t>
            </a:r>
          </a:p>
        </p:txBody>
      </p:sp>
    </p:spTree>
    <p:extLst>
      <p:ext uri="{BB962C8B-B14F-4D97-AF65-F5344CB8AC3E}">
        <p14:creationId xmlns:p14="http://schemas.microsoft.com/office/powerpoint/2010/main" val="93797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5E85-BE4D-17DC-D3F9-2857861A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F5A5C5D-7F80-452E-0ADB-213D210358CC}"/>
              </a:ext>
            </a:extLst>
          </p:cNvPr>
          <p:cNvGrpSpPr/>
          <p:nvPr/>
        </p:nvGrpSpPr>
        <p:grpSpPr>
          <a:xfrm>
            <a:off x="1343220" y="1242073"/>
            <a:ext cx="5205702" cy="3748226"/>
            <a:chOff x="2479915" y="774821"/>
            <a:chExt cx="5205702" cy="374822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4326AED-7AEF-C668-A9BF-BAA3AA5570BC}"/>
                </a:ext>
              </a:extLst>
            </p:cNvPr>
            <p:cNvSpPr/>
            <p:nvPr/>
          </p:nvSpPr>
          <p:spPr>
            <a:xfrm>
              <a:off x="5129228" y="774821"/>
              <a:ext cx="1170039" cy="4621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测试样本</a:t>
              </a: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7681F4C-98C2-2BD9-F43A-10005AE394B2}"/>
                </a:ext>
              </a:extLst>
            </p:cNvPr>
            <p:cNvGrpSpPr/>
            <p:nvPr/>
          </p:nvGrpSpPr>
          <p:grpSpPr>
            <a:xfrm>
              <a:off x="3742880" y="1869372"/>
              <a:ext cx="3942737" cy="464574"/>
              <a:chOff x="1297857" y="2021921"/>
              <a:chExt cx="3942737" cy="464574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B38E7A0-5D80-881D-9D4F-62CCBB85CE3F}"/>
                  </a:ext>
                </a:extLst>
              </p:cNvPr>
              <p:cNvSpPr/>
              <p:nvPr/>
            </p:nvSpPr>
            <p:spPr>
              <a:xfrm>
                <a:off x="1297857" y="2021921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0DFD8F1-4939-0C91-578A-1696EE4D161E}"/>
                  </a:ext>
                </a:extLst>
              </p:cNvPr>
              <p:cNvSpPr/>
              <p:nvPr/>
            </p:nvSpPr>
            <p:spPr>
              <a:xfrm>
                <a:off x="2684206" y="2024379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7CCBA1F-AD84-CB00-79D5-FE717CDD81F6}"/>
                  </a:ext>
                </a:extLst>
              </p:cNvPr>
              <p:cNvSpPr/>
              <p:nvPr/>
            </p:nvSpPr>
            <p:spPr>
              <a:xfrm>
                <a:off x="4070555" y="2024379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</p:grp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EDB4AFE4-E21E-0E47-E61D-C00C5AB37B91}"/>
                </a:ext>
              </a:extLst>
            </p:cNvPr>
            <p:cNvCxnSpPr>
              <a:cxnSpLocks/>
              <a:stCxn id="32" idx="0"/>
              <a:endCxn id="3" idx="2"/>
            </p:cNvCxnSpPr>
            <p:nvPr/>
          </p:nvCxnSpPr>
          <p:spPr>
            <a:xfrm flipV="1">
              <a:off x="4327900" y="1236937"/>
              <a:ext cx="1386348" cy="6324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2380912B-77FA-90AB-0591-8A5C4189EA24}"/>
                </a:ext>
              </a:extLst>
            </p:cNvPr>
            <p:cNvCxnSpPr>
              <a:cxnSpLocks/>
              <a:stCxn id="33" idx="0"/>
              <a:endCxn id="3" idx="2"/>
            </p:cNvCxnSpPr>
            <p:nvPr/>
          </p:nvCxnSpPr>
          <p:spPr>
            <a:xfrm flipH="1" flipV="1">
              <a:off x="5714248" y="1236937"/>
              <a:ext cx="1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D291EBE-0B7C-6F40-7969-677AA6FBD2B0}"/>
                </a:ext>
              </a:extLst>
            </p:cNvPr>
            <p:cNvCxnSpPr>
              <a:cxnSpLocks/>
              <a:stCxn id="34" idx="0"/>
              <a:endCxn id="3" idx="2"/>
            </p:cNvCxnSpPr>
            <p:nvPr/>
          </p:nvCxnSpPr>
          <p:spPr>
            <a:xfrm flipH="1" flipV="1">
              <a:off x="5714248" y="1236937"/>
              <a:ext cx="1386350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9F3DE7A-F162-DCD6-A6E3-A7088A3010D4}"/>
                </a:ext>
              </a:extLst>
            </p:cNvPr>
            <p:cNvSpPr txBox="1"/>
            <p:nvPr/>
          </p:nvSpPr>
          <p:spPr>
            <a:xfrm>
              <a:off x="5401021" y="1396300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生成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00C1D16-C612-1D7E-57DB-43E365DD9AFA}"/>
                </a:ext>
              </a:extLst>
            </p:cNvPr>
            <p:cNvGrpSpPr/>
            <p:nvPr/>
          </p:nvGrpSpPr>
          <p:grpSpPr>
            <a:xfrm>
              <a:off x="3106241" y="2966381"/>
              <a:ext cx="2443315" cy="462116"/>
              <a:chOff x="825910" y="2700873"/>
              <a:chExt cx="2443315" cy="462116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9F555FE-20B2-EBF1-556F-E22098B2E708}"/>
                  </a:ext>
                </a:extLst>
              </p:cNvPr>
              <p:cNvSpPr/>
              <p:nvPr/>
            </p:nvSpPr>
            <p:spPr>
              <a:xfrm>
                <a:off x="825910" y="2700873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3F693AB-7076-FB70-7E67-B7CE45FA271C}"/>
                  </a:ext>
                </a:extLst>
              </p:cNvPr>
              <p:cNvSpPr/>
              <p:nvPr/>
            </p:nvSpPr>
            <p:spPr>
              <a:xfrm>
                <a:off x="2099186" y="2700873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40449B1-EF75-9431-7258-7509F725BBAD}"/>
                </a:ext>
              </a:extLst>
            </p:cNvPr>
            <p:cNvGrpSpPr/>
            <p:nvPr/>
          </p:nvGrpSpPr>
          <p:grpSpPr>
            <a:xfrm>
              <a:off x="2479915" y="4060931"/>
              <a:ext cx="2525930" cy="462116"/>
              <a:chOff x="592179" y="3683248"/>
              <a:chExt cx="2525930" cy="462116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12F1E5D-B668-353B-9AEA-50AD7931F06B}"/>
                  </a:ext>
                </a:extLst>
              </p:cNvPr>
              <p:cNvSpPr/>
              <p:nvPr/>
            </p:nvSpPr>
            <p:spPr>
              <a:xfrm>
                <a:off x="592179" y="3683248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DCE0F77-844C-82AD-CCAB-A5416510FE09}"/>
                  </a:ext>
                </a:extLst>
              </p:cNvPr>
              <p:cNvSpPr/>
              <p:nvPr/>
            </p:nvSpPr>
            <p:spPr>
              <a:xfrm>
                <a:off x="1948070" y="3683248"/>
                <a:ext cx="1170039" cy="4621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依赖项</a:t>
                </a:r>
              </a:p>
            </p:txBody>
          </p:sp>
        </p:grp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E693352F-29C7-E822-92D1-B6B3E75C3275}"/>
                </a:ext>
              </a:extLst>
            </p:cNvPr>
            <p:cNvCxnSpPr>
              <a:cxnSpLocks/>
              <a:stCxn id="30" idx="0"/>
              <a:endCxn id="32" idx="2"/>
            </p:cNvCxnSpPr>
            <p:nvPr/>
          </p:nvCxnSpPr>
          <p:spPr>
            <a:xfrm flipV="1">
              <a:off x="3691261" y="2331488"/>
              <a:ext cx="636639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5BC05E9-C1F3-CDD7-BD6F-36ECA0EB265A}"/>
                </a:ext>
              </a:extLst>
            </p:cNvPr>
            <p:cNvCxnSpPr>
              <a:cxnSpLocks/>
              <a:stCxn id="31" idx="0"/>
              <a:endCxn id="32" idx="2"/>
            </p:cNvCxnSpPr>
            <p:nvPr/>
          </p:nvCxnSpPr>
          <p:spPr>
            <a:xfrm flipH="1" flipV="1">
              <a:off x="4327900" y="2331488"/>
              <a:ext cx="636637" cy="634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87A49D6-56D7-C695-C2E5-D0D8C04CEB0B}"/>
                </a:ext>
              </a:extLst>
            </p:cNvPr>
            <p:cNvCxnSpPr>
              <a:cxnSpLocks/>
              <a:stCxn id="25" idx="0"/>
              <a:endCxn id="30" idx="2"/>
            </p:cNvCxnSpPr>
            <p:nvPr/>
          </p:nvCxnSpPr>
          <p:spPr>
            <a:xfrm flipV="1">
              <a:off x="3064935" y="3428497"/>
              <a:ext cx="626326" cy="632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51FE67C-35E3-738C-82EB-9C8CD7591D78}"/>
                </a:ext>
              </a:extLst>
            </p:cNvPr>
            <p:cNvCxnSpPr>
              <a:cxnSpLocks/>
              <a:stCxn id="27" idx="0"/>
              <a:endCxn id="30" idx="2"/>
            </p:cNvCxnSpPr>
            <p:nvPr/>
          </p:nvCxnSpPr>
          <p:spPr>
            <a:xfrm flipH="1" flipV="1">
              <a:off x="3691261" y="3428497"/>
              <a:ext cx="729565" cy="632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EAACB77-5953-C572-0F9E-68F7EC035C18}"/>
                </a:ext>
              </a:extLst>
            </p:cNvPr>
            <p:cNvSpPr txBox="1"/>
            <p:nvPr/>
          </p:nvSpPr>
          <p:spPr>
            <a:xfrm>
              <a:off x="3389057" y="3598815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摘要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D00D519-8464-DCD7-DB67-CEA1E710DCB7}"/>
                </a:ext>
              </a:extLst>
            </p:cNvPr>
            <p:cNvSpPr txBox="1"/>
            <p:nvPr/>
          </p:nvSpPr>
          <p:spPr>
            <a:xfrm>
              <a:off x="3978925" y="2499468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摘要</a:t>
              </a:r>
            </a:p>
          </p:txBody>
        </p:sp>
      </p:grpSp>
      <p:sp>
        <p:nvSpPr>
          <p:cNvPr id="37" name="箭头: 右 36">
            <a:extLst>
              <a:ext uri="{FF2B5EF4-FFF2-40B4-BE49-F238E27FC236}">
                <a16:creationId xmlns:a16="http://schemas.microsoft.com/office/drawing/2014/main" id="{BA63E252-E640-EC5C-5AF6-42B225647A5A}"/>
              </a:ext>
            </a:extLst>
          </p:cNvPr>
          <p:cNvSpPr/>
          <p:nvPr/>
        </p:nvSpPr>
        <p:spPr>
          <a:xfrm>
            <a:off x="4604282" y="3561452"/>
            <a:ext cx="373626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09E1373-0AF3-50DE-B49B-BE1556BA7CD2}"/>
              </a:ext>
            </a:extLst>
          </p:cNvPr>
          <p:cNvSpPr txBox="1"/>
          <p:nvPr/>
        </p:nvSpPr>
        <p:spPr>
          <a:xfrm>
            <a:off x="5126735" y="3357140"/>
            <a:ext cx="6474849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提示词将生成分为两类：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如果源码足够简单并且功能明确，就保留源码，不进行压缩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代码庞大且复杂，就对其就行摘要压缩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生成可以用参数量较小的模型就行预生成</a:t>
            </a:r>
          </a:p>
        </p:txBody>
      </p:sp>
    </p:spTree>
    <p:extLst>
      <p:ext uri="{BB962C8B-B14F-4D97-AF65-F5344CB8AC3E}">
        <p14:creationId xmlns:p14="http://schemas.microsoft.com/office/powerpoint/2010/main" val="400889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50DA5-4706-F616-E687-A7AFF9B84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6961DF18-8663-9923-7FA0-96EE8EE8FBF5}"/>
              </a:ext>
            </a:extLst>
          </p:cNvPr>
          <p:cNvSpPr txBox="1"/>
          <p:nvPr/>
        </p:nvSpPr>
        <p:spPr>
          <a:xfrm>
            <a:off x="6472003" y="1404729"/>
            <a:ext cx="517176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相似项每行与</a:t>
            </a:r>
            <a:r>
              <a:rPr lang="en-US" altLang="zh-CN" dirty="0"/>
              <a:t>Oracle</a:t>
            </a:r>
            <a:r>
              <a:rPr lang="zh-CN" altLang="en-US" dirty="0"/>
              <a:t>逐行计算相似度，保留最大值最为相似值，值大于某个阈值就保留</a:t>
            </a:r>
            <a:r>
              <a:rPr lang="en-US" altLang="zh-CN" dirty="0"/>
              <a:t>(</a:t>
            </a:r>
            <a:r>
              <a:rPr lang="zh-CN" altLang="en-US" dirty="0"/>
              <a:t>分为</a:t>
            </a:r>
            <a:r>
              <a:rPr lang="en-US" altLang="zh-CN" dirty="0"/>
              <a:t>0.2</a:t>
            </a:r>
            <a:r>
              <a:rPr lang="zh-CN" altLang="en-US" dirty="0"/>
              <a:t>，</a:t>
            </a:r>
            <a:r>
              <a:rPr lang="en-US" altLang="zh-CN" dirty="0"/>
              <a:t>0.3</a:t>
            </a:r>
            <a:r>
              <a:rPr lang="zh-CN" altLang="en-US" dirty="0"/>
              <a:t>，</a:t>
            </a:r>
            <a:r>
              <a:rPr lang="en-US" altLang="zh-CN" dirty="0"/>
              <a:t>0.4</a:t>
            </a:r>
            <a:r>
              <a:rPr lang="zh-CN" altLang="en-US" dirty="0"/>
              <a:t>，</a:t>
            </a:r>
            <a:r>
              <a:rPr lang="en-US" altLang="zh-CN" dirty="0"/>
              <a:t>0.5</a:t>
            </a:r>
            <a:r>
              <a:rPr lang="zh-CN" altLang="en-US" dirty="0"/>
              <a:t>，</a:t>
            </a:r>
            <a:r>
              <a:rPr lang="en-US" altLang="zh-CN" dirty="0"/>
              <a:t>0.6)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构造数据集，通过训练的方式得到一个模型，在推理时用模型作为代理来筛选（每个阈值对应一个分类头）</a:t>
            </a:r>
            <a:endParaRPr lang="en-US" altLang="zh-CN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抽取模型输入依赖项标签、目标函数标签和</a:t>
            </a:r>
            <a:r>
              <a:rPr lang="en-US" altLang="zh-CN" dirty="0"/>
              <a:t>docstring</a:t>
            </a:r>
            <a:r>
              <a:rPr lang="zh-CN" altLang="en-US" dirty="0"/>
              <a:t>、候选代码，输出每个</a:t>
            </a:r>
            <a:r>
              <a:rPr lang="en-US" altLang="zh-CN" dirty="0"/>
              <a:t>token</a:t>
            </a:r>
            <a:r>
              <a:rPr lang="zh-CN" altLang="en-US" dirty="0"/>
              <a:t>的保留概率，然后对于行筛选，进行投票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308F0C6-73EA-3278-A4CA-4167EF884CBB}"/>
              </a:ext>
            </a:extLst>
          </p:cNvPr>
          <p:cNvGrpSpPr/>
          <p:nvPr/>
        </p:nvGrpSpPr>
        <p:grpSpPr>
          <a:xfrm>
            <a:off x="353961" y="332659"/>
            <a:ext cx="5938683" cy="4290767"/>
            <a:chOff x="127820" y="695618"/>
            <a:chExt cx="5860026" cy="418576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A0BFBD9-E846-3C6A-CA7C-E3EF283DEEBF}"/>
                </a:ext>
              </a:extLst>
            </p:cNvPr>
            <p:cNvSpPr txBox="1"/>
            <p:nvPr/>
          </p:nvSpPr>
          <p:spPr>
            <a:xfrm>
              <a:off x="127820" y="695618"/>
              <a:ext cx="5860026" cy="41857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def </a:t>
              </a:r>
              <a:r>
                <a:rPr lang="zh-CN" altLang="zh-CN" sz="1400" dirty="0">
                  <a:solidFill>
                    <a:srgbClr val="00627A"/>
                  </a:solidFill>
                  <a:effectLst/>
                  <a:latin typeface="JetBrains Mono"/>
                </a:rPr>
                <a:t>evaluate_student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path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):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i="1" dirty="0">
                  <a:solidFill>
                    <a:srgbClr val="8C8C8C"/>
                  </a:solidFill>
                  <a:effectLst/>
                  <a:latin typeface="JetBrains Mono"/>
                </a:rPr>
                <a:t>"""Evaluate a student using the average normalized score."""</a:t>
              </a:r>
              <a:br>
                <a:rPr lang="zh-CN" altLang="zh-CN" sz="1400" i="1" dirty="0">
                  <a:solidFill>
                    <a:srgbClr val="8C8C8C"/>
                  </a:solidFill>
                  <a:effectLst/>
                  <a:latin typeface="JetBrains Mono"/>
                </a:rPr>
              </a:br>
              <a:r>
                <a:rPr lang="zh-CN" altLang="zh-CN" sz="1400" i="1" dirty="0">
                  <a:solidFill>
                    <a:srgbClr val="8C8C8C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scores 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= load_scores(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path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 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= [normalize_score(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for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in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scores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]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filter_scores 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= []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for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score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in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: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   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if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score 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&gt;- </a:t>
              </a:r>
              <a:r>
                <a:rPr lang="zh-CN" altLang="zh-CN" sz="1400" dirty="0">
                  <a:solidFill>
                    <a:srgbClr val="1750EB"/>
                  </a:solidFill>
                  <a:effectLst/>
                  <a:latin typeface="JetBrains Mono"/>
                </a:rPr>
                <a:t>60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: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       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filter_scores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.append(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score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return </a:t>
              </a:r>
              <a:r>
                <a:rPr lang="zh-CN" altLang="zh-CN" sz="1400" dirty="0">
                  <a:solidFill>
                    <a:srgbClr val="000080"/>
                  </a:solidFill>
                  <a:effectLst/>
                  <a:latin typeface="JetBrains Mono"/>
                </a:rPr>
                <a:t>sum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filter_scores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 / </a:t>
              </a:r>
              <a:r>
                <a:rPr lang="zh-CN" altLang="zh-CN" sz="1400" dirty="0">
                  <a:solidFill>
                    <a:srgbClr val="000080"/>
                  </a:solidFill>
                  <a:effectLst/>
                  <a:latin typeface="JetBrains Mono"/>
                </a:rPr>
                <a:t>len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filter_scores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</a:p>
            <a:p>
              <a:pPr>
                <a:buNone/>
              </a:pPr>
              <a:br>
                <a:rPr lang="zh-CN" altLang="zh-CN" sz="1400" dirty="0">
                  <a:solidFill>
                    <a:srgbClr val="1750EB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def </a:t>
              </a:r>
              <a:r>
                <a:rPr lang="zh-CN" altLang="zh-CN" sz="1400" dirty="0">
                  <a:solidFill>
                    <a:srgbClr val="00627A"/>
                  </a:solidFill>
                  <a:effectLst/>
                  <a:latin typeface="JetBrains Mono"/>
                </a:rPr>
                <a:t>evaluate_team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path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):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i="1" dirty="0">
                  <a:solidFill>
                    <a:srgbClr val="8C8C8C"/>
                  </a:solidFill>
                  <a:effectLst/>
                  <a:latin typeface="JetBrains Mono"/>
                </a:rPr>
                <a:t>"""Evaluate a team using normalized scores and remove the lowest score."""</a:t>
              </a:r>
              <a:br>
                <a:rPr lang="zh-CN" altLang="zh-CN" sz="1400" i="1" dirty="0">
                  <a:solidFill>
                    <a:srgbClr val="8C8C8C"/>
                  </a:solidFill>
                  <a:effectLst/>
                  <a:latin typeface="JetBrains Mono"/>
                </a:rPr>
              </a:br>
              <a:r>
                <a:rPr lang="zh-CN" altLang="zh-CN" sz="1400" i="1" dirty="0">
                  <a:solidFill>
                    <a:srgbClr val="8C8C8C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scores 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= load_scores(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path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 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= [normalize_score(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for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in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scores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]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if </a:t>
              </a:r>
              <a:r>
                <a:rPr lang="zh-CN" altLang="zh-CN" sz="1400" dirty="0">
                  <a:solidFill>
                    <a:srgbClr val="000080"/>
                  </a:solidFill>
                  <a:effectLst/>
                  <a:latin typeface="JetBrains Mono"/>
                </a:rPr>
                <a:t>len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 &gt; </a:t>
              </a:r>
              <a:r>
                <a:rPr lang="zh-CN" altLang="zh-CN" sz="1400" dirty="0">
                  <a:solidFill>
                    <a:srgbClr val="1750EB"/>
                  </a:solidFill>
                  <a:effectLst/>
                  <a:latin typeface="JetBrains Mono"/>
                </a:rPr>
                <a:t>1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: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    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.remove(</a:t>
              </a:r>
              <a:r>
                <a:rPr lang="zh-CN" altLang="zh-CN" sz="1400" dirty="0">
                  <a:solidFill>
                    <a:srgbClr val="000080"/>
                  </a:solidFill>
                  <a:effectLst/>
                  <a:latin typeface="JetBrains Mono"/>
                </a:rPr>
                <a:t>min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))</a:t>
              </a: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b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400" dirty="0">
                  <a:solidFill>
                    <a:srgbClr val="0033B3"/>
                  </a:solidFill>
                  <a:effectLst/>
                  <a:latin typeface="JetBrains Mono"/>
                </a:rPr>
                <a:t>return </a:t>
              </a:r>
              <a:r>
                <a:rPr lang="zh-CN" altLang="zh-CN" sz="1400" dirty="0">
                  <a:solidFill>
                    <a:srgbClr val="000080"/>
                  </a:solidFill>
                  <a:effectLst/>
                  <a:latin typeface="JetBrains Mono"/>
                </a:rPr>
                <a:t>sum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 / </a:t>
              </a:r>
              <a:r>
                <a:rPr lang="zh-CN" altLang="zh-CN" sz="1400" dirty="0">
                  <a:solidFill>
                    <a:srgbClr val="000080"/>
                  </a:solidFill>
                  <a:effectLst/>
                  <a:latin typeface="JetBrains Mono"/>
                </a:rPr>
                <a:t>len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400" dirty="0">
                  <a:solidFill>
                    <a:srgbClr val="000000"/>
                  </a:solidFill>
                  <a:effectLst/>
                  <a:latin typeface="JetBrains Mono"/>
                </a:rPr>
                <a:t>normalized</a:t>
              </a:r>
              <a:r>
                <a:rPr lang="zh-CN" altLang="zh-CN" sz="14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DE31B7B-50F3-6EC6-8E2A-B949B3AB9583}"/>
                </a:ext>
              </a:extLst>
            </p:cNvPr>
            <p:cNvSpPr/>
            <p:nvPr/>
          </p:nvSpPr>
          <p:spPr>
            <a:xfrm>
              <a:off x="304803" y="1179870"/>
              <a:ext cx="3736258" cy="22614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082C00C-1420-6E57-415C-2B70669BD734}"/>
                </a:ext>
              </a:extLst>
            </p:cNvPr>
            <p:cNvSpPr/>
            <p:nvPr/>
          </p:nvSpPr>
          <p:spPr>
            <a:xfrm>
              <a:off x="304803" y="3283006"/>
              <a:ext cx="3736258" cy="16518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B906B63-50CD-02FC-A3A1-C55C2F8719A8}"/>
                </a:ext>
              </a:extLst>
            </p:cNvPr>
            <p:cNvSpPr/>
            <p:nvPr/>
          </p:nvSpPr>
          <p:spPr>
            <a:xfrm>
              <a:off x="304803" y="3479041"/>
              <a:ext cx="3736258" cy="165183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585104B-AF7A-B640-C888-6AA8EDEF7DED}"/>
                </a:ext>
              </a:extLst>
            </p:cNvPr>
            <p:cNvSpPr/>
            <p:nvPr/>
          </p:nvSpPr>
          <p:spPr>
            <a:xfrm>
              <a:off x="304803" y="1426332"/>
              <a:ext cx="3736258" cy="165183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D52031A-D056-D09C-64D1-376405311755}"/>
                </a:ext>
              </a:extLst>
            </p:cNvPr>
            <p:cNvSpPr/>
            <p:nvPr/>
          </p:nvSpPr>
          <p:spPr>
            <a:xfrm>
              <a:off x="304803" y="2451598"/>
              <a:ext cx="3736258" cy="165183"/>
            </a:xfrm>
            <a:prstGeom prst="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680A39D-C9B2-BE4E-EDAE-BF88591A3819}"/>
                </a:ext>
              </a:extLst>
            </p:cNvPr>
            <p:cNvSpPr/>
            <p:nvPr/>
          </p:nvSpPr>
          <p:spPr>
            <a:xfrm>
              <a:off x="304803" y="4531888"/>
              <a:ext cx="3736258" cy="165183"/>
            </a:xfrm>
            <a:prstGeom prst="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AAAD645-E98A-058E-DCBB-D077EF167B15}"/>
              </a:ext>
            </a:extLst>
          </p:cNvPr>
          <p:cNvSpPr/>
          <p:nvPr/>
        </p:nvSpPr>
        <p:spPr>
          <a:xfrm>
            <a:off x="3630476" y="5564077"/>
            <a:ext cx="4906297" cy="4510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抽取模型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88BD8-5E10-FE0C-C068-0DB05AC018B4}"/>
              </a:ext>
            </a:extLst>
          </p:cNvPr>
          <p:cNvSpPr txBox="1"/>
          <p:nvPr/>
        </p:nvSpPr>
        <p:spPr>
          <a:xfrm>
            <a:off x="405498" y="4911084"/>
            <a:ext cx="1135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def dar1() def dar2() … def target() “docstring” def candidate(): \n token1 token2 \n token4 token5 token6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6789D0E-C9F1-C914-DB7A-444D15503E62}"/>
              </a:ext>
            </a:extLst>
          </p:cNvPr>
          <p:cNvCxnSpPr>
            <a:stCxn id="3" idx="2"/>
            <a:endCxn id="2" idx="0"/>
          </p:cNvCxnSpPr>
          <p:nvPr/>
        </p:nvCxnSpPr>
        <p:spPr>
          <a:xfrm flipH="1">
            <a:off x="6083625" y="5280416"/>
            <a:ext cx="1" cy="28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FFA3996-D403-85C2-F0A2-152B88F71F71}"/>
              </a:ext>
            </a:extLst>
          </p:cNvPr>
          <p:cNvSpPr txBox="1"/>
          <p:nvPr/>
        </p:nvSpPr>
        <p:spPr>
          <a:xfrm>
            <a:off x="2998753" y="6263495"/>
            <a:ext cx="6169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/>
              <a:t>\n p1 p2 \n p3 p4 p5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703B249-009A-328B-B8F2-2B1DEA4F04AD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6083624" y="6015166"/>
            <a:ext cx="1" cy="248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88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E1DE-36CF-A21E-72E5-89351FA9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D24EDDD-BB2E-E612-6A85-CB687F25C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793519"/>
              </p:ext>
            </p:extLst>
          </p:nvPr>
        </p:nvGraphicFramePr>
        <p:xfrm>
          <a:off x="1438251" y="146926"/>
          <a:ext cx="9492475" cy="29138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8495">
                  <a:extLst>
                    <a:ext uri="{9D8B030D-6E8A-4147-A177-3AD203B41FA5}">
                      <a16:colId xmlns:a16="http://schemas.microsoft.com/office/drawing/2014/main" val="1420442137"/>
                    </a:ext>
                  </a:extLst>
                </a:gridCol>
                <a:gridCol w="1898495">
                  <a:extLst>
                    <a:ext uri="{9D8B030D-6E8A-4147-A177-3AD203B41FA5}">
                      <a16:colId xmlns:a16="http://schemas.microsoft.com/office/drawing/2014/main" val="3927746713"/>
                    </a:ext>
                  </a:extLst>
                </a:gridCol>
                <a:gridCol w="1898495">
                  <a:extLst>
                    <a:ext uri="{9D8B030D-6E8A-4147-A177-3AD203B41FA5}">
                      <a16:colId xmlns:a16="http://schemas.microsoft.com/office/drawing/2014/main" val="11580878"/>
                    </a:ext>
                  </a:extLst>
                </a:gridCol>
                <a:gridCol w="1898495">
                  <a:extLst>
                    <a:ext uri="{9D8B030D-6E8A-4147-A177-3AD203B41FA5}">
                      <a16:colId xmlns:a16="http://schemas.microsoft.com/office/drawing/2014/main" val="1516207798"/>
                    </a:ext>
                  </a:extLst>
                </a:gridCol>
                <a:gridCol w="1898495">
                  <a:extLst>
                    <a:ext uri="{9D8B030D-6E8A-4147-A177-3AD203B41FA5}">
                      <a16:colId xmlns:a16="http://schemas.microsoft.com/office/drawing/2014/main" val="842899592"/>
                    </a:ext>
                  </a:extLst>
                </a:gridCol>
              </a:tblGrid>
              <a:tr h="309174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pass@1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pass@3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pass@5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压缩率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953783"/>
                  </a:ext>
                </a:extLst>
              </a:tr>
              <a:tr h="309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无上下文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25.10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451710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依赖项摘要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25.27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32.60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35.61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\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91402"/>
                  </a:ext>
                </a:extLst>
              </a:tr>
              <a:tr h="3091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相似项抽取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29.11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36.83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40.00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31.51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431537"/>
                  </a:ext>
                </a:extLst>
              </a:tr>
              <a:tr h="5336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相似项抽取</a:t>
                      </a:r>
                      <a:endParaRPr lang="en-US" altLang="zh-CN" sz="1400" dirty="0"/>
                    </a:p>
                    <a:p>
                      <a:pPr algn="ctr"/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依赖项摘要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29.64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38.31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41.59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30.39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233655"/>
                  </a:ext>
                </a:extLst>
              </a:tr>
              <a:tr h="5336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相似项抽取</a:t>
                      </a:r>
                      <a:endParaRPr lang="en-US" altLang="zh-CN" sz="1400" dirty="0"/>
                    </a:p>
                    <a:p>
                      <a:pPr algn="ctr"/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依赖项抽取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29.65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37.34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40.20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30.00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415478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CodePromptZip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28.01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35.58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38.27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27.64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74478"/>
                  </a:ext>
                </a:extLst>
              </a:tr>
              <a:tr h="309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完整代码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41.74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44.85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\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28786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A212A7-D380-7975-E92A-6562C1171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650278"/>
              </p:ext>
            </p:extLst>
          </p:nvPr>
        </p:nvGraphicFramePr>
        <p:xfrm>
          <a:off x="1349761" y="3199975"/>
          <a:ext cx="9492476" cy="3383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1412">
                  <a:extLst>
                    <a:ext uri="{9D8B030D-6E8A-4147-A177-3AD203B41FA5}">
                      <a16:colId xmlns:a16="http://schemas.microsoft.com/office/drawing/2014/main" val="1420442137"/>
                    </a:ext>
                  </a:extLst>
                </a:gridCol>
                <a:gridCol w="1775266">
                  <a:extLst>
                    <a:ext uri="{9D8B030D-6E8A-4147-A177-3AD203B41FA5}">
                      <a16:colId xmlns:a16="http://schemas.microsoft.com/office/drawing/2014/main" val="3927746713"/>
                    </a:ext>
                  </a:extLst>
                </a:gridCol>
                <a:gridCol w="1775266">
                  <a:extLst>
                    <a:ext uri="{9D8B030D-6E8A-4147-A177-3AD203B41FA5}">
                      <a16:colId xmlns:a16="http://schemas.microsoft.com/office/drawing/2014/main" val="11580878"/>
                    </a:ext>
                  </a:extLst>
                </a:gridCol>
                <a:gridCol w="1775266">
                  <a:extLst>
                    <a:ext uri="{9D8B030D-6E8A-4147-A177-3AD203B41FA5}">
                      <a16:colId xmlns:a16="http://schemas.microsoft.com/office/drawing/2014/main" val="1516207798"/>
                    </a:ext>
                  </a:extLst>
                </a:gridCol>
                <a:gridCol w="1775266">
                  <a:extLst>
                    <a:ext uri="{9D8B030D-6E8A-4147-A177-3AD203B41FA5}">
                      <a16:colId xmlns:a16="http://schemas.microsoft.com/office/drawing/2014/main" val="842899592"/>
                    </a:ext>
                  </a:extLst>
                </a:gridCol>
              </a:tblGrid>
              <a:tr h="293421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pass@1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pass@3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pass@5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压缩率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953783"/>
                  </a:ext>
                </a:extLst>
              </a:tr>
              <a:tr h="2934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无上下文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16.96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21.20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23.21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451710"/>
                  </a:ext>
                </a:extLst>
              </a:tr>
              <a:tr h="268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+ </a:t>
                      </a:r>
                      <a:r>
                        <a:rPr lang="zh-CN" altLang="en-US" sz="1400"/>
                        <a:t>依赖项摘要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25.27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32.60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35.61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\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91402"/>
                  </a:ext>
                </a:extLst>
              </a:tr>
              <a:tr h="293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+ </a:t>
                      </a:r>
                      <a:r>
                        <a:rPr lang="zh-CN" altLang="en-US" sz="1400"/>
                        <a:t>相似项抽取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28.48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34.61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36.68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48.07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431537"/>
                  </a:ext>
                </a:extLst>
              </a:tr>
              <a:tr h="4582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相似项抽取</a:t>
                      </a:r>
                      <a:endParaRPr lang="en-US" altLang="zh-CN" sz="1400" dirty="0"/>
                    </a:p>
                    <a:p>
                      <a:pPr algn="ctr"/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依赖项摘要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30.26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37.42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 40.69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50.93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233655"/>
                  </a:ext>
                </a:extLst>
              </a:tr>
              <a:tr h="4582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相似项抽取</a:t>
                      </a:r>
                      <a:r>
                        <a:rPr lang="en-US" altLang="zh-CN" sz="1400" dirty="0"/>
                        <a:t>(</a:t>
                      </a:r>
                      <a:r>
                        <a:rPr lang="zh-CN" altLang="en-US" sz="1400" dirty="0"/>
                        <a:t>抽取模型</a:t>
                      </a:r>
                      <a:r>
                        <a:rPr lang="en-US" altLang="zh-CN" sz="1400" dirty="0"/>
                        <a:t>)</a:t>
                      </a:r>
                    </a:p>
                    <a:p>
                      <a:pPr algn="ctr"/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依赖项摘要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30.26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37.42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40.40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52.48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279069"/>
                  </a:ext>
                </a:extLst>
              </a:tr>
              <a:tr h="4582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相似项抽取</a:t>
                      </a:r>
                      <a:endParaRPr lang="en-US" altLang="zh-CN" sz="1400" dirty="0"/>
                    </a:p>
                    <a:p>
                      <a:pPr algn="ctr"/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依赖项抽取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27.68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34.67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37.54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47.90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415478"/>
                  </a:ext>
                </a:extLst>
              </a:tr>
              <a:tr h="2822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CodePromptZip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22.92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29.37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32.09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37.58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74478"/>
                  </a:ext>
                </a:extLst>
              </a:tr>
              <a:tr h="2934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完整代码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34.84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 41.60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44.70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\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287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47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1888</Words>
  <Application>Microsoft Office PowerPoint</Application>
  <PresentationFormat>宽屏</PresentationFormat>
  <Paragraphs>118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JetBrains Mono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14</cp:revision>
  <dcterms:created xsi:type="dcterms:W3CDTF">2026-09-21T07:04:48Z</dcterms:created>
  <dcterms:modified xsi:type="dcterms:W3CDTF">2026-09-28T10:50:54Z</dcterms:modified>
</cp:coreProperties>
</file>