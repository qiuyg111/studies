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2"/>
    <p:sldId id="259" r:id="rId3"/>
    <p:sldId id="258" r:id="rId4"/>
    <p:sldId id="260" r:id="rId5"/>
    <p:sldId id="261" r:id="rId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66" d="100"/>
          <a:sy n="66" d="100"/>
        </p:scale>
        <p:origin x="1301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7A6126-206F-4E1D-AE92-11AC2C6FD5AF}" type="datetimeFigureOut">
              <a:rPr lang="zh-CN" altLang="en-US" smtClean="0"/>
              <a:t>2026/6/16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6C8B60-3ACB-44DC-880F-F37508BB13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295810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6C8B60-3ACB-44DC-880F-F37508BB1379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074096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4296557-6AAB-F7BE-7C68-1B0B7B4E38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BD3AA3B0-5624-FDE6-5102-3929CA9B45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EEA9537-D3BA-0A4C-6ED8-909487F742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5BCA8-FAD2-4CB0-9D1C-B810B8D2E9D7}" type="datetimeFigureOut">
              <a:rPr lang="zh-CN" altLang="en-US" smtClean="0"/>
              <a:t>2026/6/16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F27290B-BB1E-B509-7865-B23544EECC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7830BF7-FC5D-AC75-D206-EF95296597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F7BF9A-8DC1-4331-8305-97DA0DF30BE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293329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6238F36-3567-90A8-D33C-A4BD395BF1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E9022B1-BF69-DE6E-D751-D52CE97B90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15F66BD-468E-1B96-AF1F-45BD4EAB02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5BCA8-FAD2-4CB0-9D1C-B810B8D2E9D7}" type="datetimeFigureOut">
              <a:rPr lang="zh-CN" altLang="en-US" smtClean="0"/>
              <a:t>2026/6/16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E795D93-823C-7012-9E2B-1CEFBFEFE2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CC7C90B-6A39-DCB4-3690-D4E9456044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F7BF9A-8DC1-4331-8305-97DA0DF30BE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11452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6D19D48-CA9C-E3B2-4A62-BBF2EAB54E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B97E657-F5C4-1949-BF72-C23219EAE6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0A33FED-13BA-17E4-1A2D-A80817EADD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5BCA8-FAD2-4CB0-9D1C-B810B8D2E9D7}" type="datetimeFigureOut">
              <a:rPr lang="zh-CN" altLang="en-US" smtClean="0"/>
              <a:t>2026/6/16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61029DF-7A91-08C5-3E86-DBCF7FFC58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25F17CC-1FE5-949B-7FD2-175C6AA78C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F7BF9A-8DC1-4331-8305-97DA0DF30BE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989222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30E6148-3BBE-A8A4-3685-4335EF0D24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82E0169-6559-CAF6-6A91-29B7B23CCDF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BEF09C1-3AF7-BBC8-2AA0-61531397D9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0182382-0D5C-E155-B619-59D4643BA9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5BCA8-FAD2-4CB0-9D1C-B810B8D2E9D7}" type="datetimeFigureOut">
              <a:rPr lang="zh-CN" altLang="en-US" smtClean="0"/>
              <a:t>2026/6/16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C635314-7A50-C92D-DC54-827400EEDE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0D09D91-B8E2-68FD-3C46-E6CA14B90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F7BF9A-8DC1-4331-8305-97DA0DF30BE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94548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98C4783-86C0-1337-9F51-D21E642CEF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A16AA29-F3C3-BA6C-E045-A2958EA92B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429A7E4-3932-5EC4-F80B-FB5B177470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7BF67FC8-952D-2ECF-2AD9-88C61D45B25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C11A0696-ED23-77E3-0C10-71F90A09C3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E30DBA75-7A90-103F-695A-E9EA8D7B94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5BCA8-FAD2-4CB0-9D1C-B810B8D2E9D7}" type="datetimeFigureOut">
              <a:rPr lang="zh-CN" altLang="en-US" smtClean="0"/>
              <a:t>2026/6/16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5AD693DA-1C5B-B077-CD1F-B60A20F71C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40862C6D-BE17-B86F-4B31-0CCEE180F8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F7BF9A-8DC1-4331-8305-97DA0DF30BE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12228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6D1530D-D871-5BEE-1784-F34D1D7332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25AFEC6A-F3E6-DAD9-8130-385F7EABF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5BCA8-FAD2-4CB0-9D1C-B810B8D2E9D7}" type="datetimeFigureOut">
              <a:rPr lang="zh-CN" altLang="en-US" smtClean="0"/>
              <a:t>2026/6/16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05CB2AE-6012-DB8D-2DE2-3F5905EBAD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F4D4BDC-A7CD-F7F8-BBC5-BDE2D73459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F7BF9A-8DC1-4331-8305-97DA0DF30BE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623899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BCE6AE5E-D409-AC2B-8F8D-CB93ED5AA0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5BCA8-FAD2-4CB0-9D1C-B810B8D2E9D7}" type="datetimeFigureOut">
              <a:rPr lang="zh-CN" altLang="en-US" smtClean="0"/>
              <a:t>2026/6/16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3CAF22C-399F-27B3-526B-48EC94F508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3EE7DC9-AE36-1E42-9311-C77C8FB649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F7BF9A-8DC1-4331-8305-97DA0DF30BE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191926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80317C-6DFA-3998-718C-B19484AF11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699A5BE-4C81-E8A1-42C5-E778FDEE7B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FB1BF6D-F5BE-CD38-BE29-389D364E2A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6248A56-FD37-9260-B610-4B4A73A94F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5BCA8-FAD2-4CB0-9D1C-B810B8D2E9D7}" type="datetimeFigureOut">
              <a:rPr lang="zh-CN" altLang="en-US" smtClean="0"/>
              <a:t>2026/6/16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0D72EA0-E7AD-CE24-7AC6-EB7C21C145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667E361-FF1B-1EEB-82B7-86A7167036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F7BF9A-8DC1-4331-8305-97DA0DF30BE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199122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60C6368-55C8-BE8E-63E3-F204D4896F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7E910507-18B8-7197-FE32-BA98CE37246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9446C22-A037-9205-C45F-A53EF3352C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650B8D2-AB70-80FF-9385-6FCE44A2BE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5BCA8-FAD2-4CB0-9D1C-B810B8D2E9D7}" type="datetimeFigureOut">
              <a:rPr lang="zh-CN" altLang="en-US" smtClean="0"/>
              <a:t>2026/6/16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A32CE80-1DC6-6CED-FC65-ABDCC291D9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038DCFB-9FB6-00E1-1CCC-CFE559A319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F7BF9A-8DC1-4331-8305-97DA0DF30BE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366373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0958E3E-40C1-23F0-B000-322A2FD1DE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A71F0B7-F9EA-3F6B-B630-7F4E6BF59C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1BD4EA4-54C5-74BC-4EB6-61A5D0D1F8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5BCA8-FAD2-4CB0-9D1C-B810B8D2E9D7}" type="datetimeFigureOut">
              <a:rPr lang="zh-CN" altLang="en-US" smtClean="0"/>
              <a:t>2026/6/16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E15CF52-6FBE-6747-3241-F8C1C7B17D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928A36C-1D80-217D-BABF-C25E8034A9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F7BF9A-8DC1-4331-8305-97DA0DF30BE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254340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19E75ED1-DD4F-1DE0-9BD7-5976CA211A6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D2442B3-6CD4-B4A6-A046-677747CD57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903C66-8A98-3B1C-A26B-349386381F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5BCA8-FAD2-4CB0-9D1C-B810B8D2E9D7}" type="datetimeFigureOut">
              <a:rPr lang="zh-CN" altLang="en-US" smtClean="0"/>
              <a:t>2026/6/16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59EE29E-031F-99EA-93A4-3333E32BF4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28BE5B5-74D9-103C-8B20-F33DEAEA3C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F7BF9A-8DC1-4331-8305-97DA0DF30BE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98863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081FDEAA-1C8C-5EC7-462F-ED200D549E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4B60D37-48D1-219C-49ED-1768A91F37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807E657-EEA8-B435-A106-2175EF61AA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AB5BCA8-FAD2-4CB0-9D1C-B810B8D2E9D7}" type="datetimeFigureOut">
              <a:rPr lang="zh-CN" altLang="en-US" smtClean="0"/>
              <a:t>2026/6/16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5CD7A7F-3DEA-FB2F-0D92-4593BC10D1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F833344-4E34-070F-C539-3C366250B7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8F7BF9A-8DC1-4331-8305-97DA0DF30BE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170905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0310DAB6-7C6E-40CB-7C6D-E08E002DF303}"/>
              </a:ext>
            </a:extLst>
          </p:cNvPr>
          <p:cNvSpPr/>
          <p:nvPr/>
        </p:nvSpPr>
        <p:spPr>
          <a:xfrm>
            <a:off x="5220928" y="223594"/>
            <a:ext cx="1750144" cy="560439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b="1" dirty="0"/>
              <a:t>RAG </a:t>
            </a:r>
            <a:r>
              <a:rPr lang="zh-CN" altLang="en-US" sz="2400" b="1" dirty="0"/>
              <a:t>压缩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1DEFC6E-03C0-DAA6-ABF3-EA8C16DEFF40}"/>
              </a:ext>
            </a:extLst>
          </p:cNvPr>
          <p:cNvSpPr/>
          <p:nvPr/>
        </p:nvSpPr>
        <p:spPr>
          <a:xfrm>
            <a:off x="1386978" y="1310864"/>
            <a:ext cx="1750144" cy="560439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/>
              <a:t>硬压缩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FE40444-1819-FE02-7CF5-65B30F5E8D76}"/>
              </a:ext>
            </a:extLst>
          </p:cNvPr>
          <p:cNvSpPr/>
          <p:nvPr/>
        </p:nvSpPr>
        <p:spPr>
          <a:xfrm>
            <a:off x="8770236" y="1309498"/>
            <a:ext cx="1750144" cy="560439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/>
              <a:t>软压缩</a:t>
            </a:r>
          </a:p>
        </p:txBody>
      </p: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6178C68A-5B22-A1FD-CEF1-D394EFB4B0A8}"/>
              </a:ext>
            </a:extLst>
          </p:cNvPr>
          <p:cNvGrpSpPr/>
          <p:nvPr/>
        </p:nvGrpSpPr>
        <p:grpSpPr>
          <a:xfrm>
            <a:off x="9213276" y="4607167"/>
            <a:ext cx="1407732" cy="251945"/>
            <a:chOff x="9383417" y="2756726"/>
            <a:chExt cx="1407732" cy="251945"/>
          </a:xfrm>
        </p:grpSpPr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960E97C0-96D2-F578-E5A8-5B5D18D66A12}"/>
                </a:ext>
              </a:extLst>
            </p:cNvPr>
            <p:cNvSpPr/>
            <p:nvPr/>
          </p:nvSpPr>
          <p:spPr>
            <a:xfrm>
              <a:off x="9383417" y="2762865"/>
              <a:ext cx="262028" cy="245806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9F9B0840-C046-18A1-BF2F-12E2A71A87FD}"/>
                </a:ext>
              </a:extLst>
            </p:cNvPr>
            <p:cNvSpPr/>
            <p:nvPr/>
          </p:nvSpPr>
          <p:spPr>
            <a:xfrm>
              <a:off x="9763197" y="2756726"/>
              <a:ext cx="262028" cy="245806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90E39EA5-57E8-D328-B9D1-687E07748280}"/>
                </a:ext>
              </a:extLst>
            </p:cNvPr>
            <p:cNvSpPr/>
            <p:nvPr/>
          </p:nvSpPr>
          <p:spPr>
            <a:xfrm>
              <a:off x="10146159" y="2756726"/>
              <a:ext cx="262028" cy="245806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2C9739F0-754C-21AB-0B94-2BA5AFD3EEB3}"/>
                </a:ext>
              </a:extLst>
            </p:cNvPr>
            <p:cNvSpPr/>
            <p:nvPr/>
          </p:nvSpPr>
          <p:spPr>
            <a:xfrm>
              <a:off x="10529121" y="2756726"/>
              <a:ext cx="262028" cy="245806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5AF54F3D-2ACE-82C2-55E9-1A564AD649C4}"/>
              </a:ext>
            </a:extLst>
          </p:cNvPr>
          <p:cNvCxnSpPr>
            <a:stCxn id="4" idx="2"/>
            <a:endCxn id="5" idx="0"/>
          </p:cNvCxnSpPr>
          <p:nvPr/>
        </p:nvCxnSpPr>
        <p:spPr>
          <a:xfrm flipH="1">
            <a:off x="2262050" y="784033"/>
            <a:ext cx="3833950" cy="52683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C5186CC9-6DF3-4793-D4BF-7D17078B56E4}"/>
              </a:ext>
            </a:extLst>
          </p:cNvPr>
          <p:cNvCxnSpPr>
            <a:cxnSpLocks/>
            <a:stCxn id="4" idx="2"/>
            <a:endCxn id="6" idx="0"/>
          </p:cNvCxnSpPr>
          <p:nvPr/>
        </p:nvCxnSpPr>
        <p:spPr>
          <a:xfrm>
            <a:off x="6096000" y="784033"/>
            <a:ext cx="3549308" cy="52546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CF10B9D1-32CD-C817-8474-95CE39C465FA}"/>
              </a:ext>
            </a:extLst>
          </p:cNvPr>
          <p:cNvGrpSpPr/>
          <p:nvPr/>
        </p:nvGrpSpPr>
        <p:grpSpPr>
          <a:xfrm>
            <a:off x="443711" y="1987655"/>
            <a:ext cx="3636679" cy="1622987"/>
            <a:chOff x="807502" y="3177918"/>
            <a:chExt cx="3636679" cy="1622987"/>
          </a:xfrm>
        </p:grpSpPr>
        <p:sp>
          <p:nvSpPr>
            <p:cNvPr id="8" name="矩形: 圆角 7">
              <a:extLst>
                <a:ext uri="{FF2B5EF4-FFF2-40B4-BE49-F238E27FC236}">
                  <a16:creationId xmlns:a16="http://schemas.microsoft.com/office/drawing/2014/main" id="{1938B1FF-D98A-F9B2-681C-48B6E47A0EC1}"/>
                </a:ext>
              </a:extLst>
            </p:cNvPr>
            <p:cNvSpPr/>
            <p:nvPr/>
          </p:nvSpPr>
          <p:spPr>
            <a:xfrm>
              <a:off x="825910" y="3177919"/>
              <a:ext cx="3618271" cy="1622986"/>
            </a:xfrm>
            <a:prstGeom prst="roundRect">
              <a:avLst>
                <a:gd name="adj" fmla="val 9104"/>
              </a:avLst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2A86BF1C-8A14-D625-CDCF-ACB929BE3233}"/>
                </a:ext>
              </a:extLst>
            </p:cNvPr>
            <p:cNvSpPr txBox="1"/>
            <p:nvPr/>
          </p:nvSpPr>
          <p:spPr>
            <a:xfrm>
              <a:off x="807502" y="3549005"/>
              <a:ext cx="3618271" cy="116955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……The bounding sea to the West is the Ionian Sea. </a:t>
              </a:r>
              <a:r>
                <a:rPr lang="en-US" altLang="zh-CN" sz="14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To the Northwest is the </a:t>
              </a:r>
              <a:r>
                <a:rPr lang="en-US" altLang="zh-CN" sz="1400" dirty="0" err="1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Myrtoan</a:t>
              </a:r>
              <a:r>
                <a:rPr lang="en-US" altLang="zh-CN" sz="14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Sea, a subdivision of the Mediterranean Sea that lies between the Cyclades and Peloponnese. </a:t>
              </a:r>
              <a:r>
                <a:rPr lang="en-US" altLang="zh-CN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To the East-SE is ……</a:t>
              </a:r>
              <a:endParaRPr lang="zh-C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013932B0-9DA7-A49F-3072-A739A1C63C8F}"/>
                </a:ext>
              </a:extLst>
            </p:cNvPr>
            <p:cNvSpPr txBox="1"/>
            <p:nvPr/>
          </p:nvSpPr>
          <p:spPr>
            <a:xfrm>
              <a:off x="963561" y="3177918"/>
              <a:ext cx="100540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6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检索文档</a:t>
              </a:r>
            </a:p>
          </p:txBody>
        </p:sp>
        <p:cxnSp>
          <p:nvCxnSpPr>
            <p:cNvPr id="12" name="直接连接符 11">
              <a:extLst>
                <a:ext uri="{FF2B5EF4-FFF2-40B4-BE49-F238E27FC236}">
                  <a16:creationId xmlns:a16="http://schemas.microsoft.com/office/drawing/2014/main" id="{34AC602C-CD23-4D49-F451-C912510ECEC2}"/>
                </a:ext>
              </a:extLst>
            </p:cNvPr>
            <p:cNvCxnSpPr>
              <a:cxnSpLocks/>
            </p:cNvCxnSpPr>
            <p:nvPr/>
          </p:nvCxnSpPr>
          <p:spPr>
            <a:xfrm>
              <a:off x="825910" y="3529051"/>
              <a:ext cx="3618271" cy="0"/>
            </a:xfrm>
            <a:prstGeom prst="line">
              <a:avLst/>
            </a:prstGeom>
            <a:ln w="19050"/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96" name="组合 95">
            <a:extLst>
              <a:ext uri="{FF2B5EF4-FFF2-40B4-BE49-F238E27FC236}">
                <a16:creationId xmlns:a16="http://schemas.microsoft.com/office/drawing/2014/main" id="{345DB577-6BEF-297E-FF4E-B26AF57B3A0B}"/>
              </a:ext>
            </a:extLst>
          </p:cNvPr>
          <p:cNvGrpSpPr/>
          <p:nvPr/>
        </p:nvGrpSpPr>
        <p:grpSpPr>
          <a:xfrm>
            <a:off x="5123016" y="4141616"/>
            <a:ext cx="2173123" cy="1182147"/>
            <a:chOff x="4639614" y="4087941"/>
            <a:chExt cx="2173123" cy="1182147"/>
          </a:xfrm>
        </p:grpSpPr>
        <p:sp>
          <p:nvSpPr>
            <p:cNvPr id="54" name="矩形: 圆角 53">
              <a:extLst>
                <a:ext uri="{FF2B5EF4-FFF2-40B4-BE49-F238E27FC236}">
                  <a16:creationId xmlns:a16="http://schemas.microsoft.com/office/drawing/2014/main" id="{B278A41F-FDA3-D09D-C5F7-9A4010E27928}"/>
                </a:ext>
              </a:extLst>
            </p:cNvPr>
            <p:cNvSpPr/>
            <p:nvPr/>
          </p:nvSpPr>
          <p:spPr>
            <a:xfrm>
              <a:off x="4665274" y="4087941"/>
              <a:ext cx="2147463" cy="1182147"/>
            </a:xfrm>
            <a:prstGeom prst="roundRect">
              <a:avLst>
                <a:gd name="adj" fmla="val 9104"/>
              </a:avLst>
            </a:prstGeom>
            <a:ln>
              <a:solidFill>
                <a:srgbClr val="C0000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>
                <a:ln>
                  <a:solidFill>
                    <a:srgbClr val="C00000"/>
                  </a:solidFill>
                </a:ln>
              </a:endParaRPr>
            </a:p>
          </p:txBody>
        </p:sp>
        <p:sp>
          <p:nvSpPr>
            <p:cNvPr id="56" name="文本框 55">
              <a:extLst>
                <a:ext uri="{FF2B5EF4-FFF2-40B4-BE49-F238E27FC236}">
                  <a16:creationId xmlns:a16="http://schemas.microsoft.com/office/drawing/2014/main" id="{6A5FFA51-5D24-0D38-6DAF-A67C9F045546}"/>
                </a:ext>
              </a:extLst>
            </p:cNvPr>
            <p:cNvSpPr txBox="1"/>
            <p:nvPr/>
          </p:nvSpPr>
          <p:spPr>
            <a:xfrm>
              <a:off x="4777245" y="4087941"/>
              <a:ext cx="48663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6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问题</a:t>
              </a:r>
            </a:p>
          </p:txBody>
        </p:sp>
        <p:cxnSp>
          <p:nvCxnSpPr>
            <p:cNvPr id="57" name="直接连接符 56">
              <a:extLst>
                <a:ext uri="{FF2B5EF4-FFF2-40B4-BE49-F238E27FC236}">
                  <a16:creationId xmlns:a16="http://schemas.microsoft.com/office/drawing/2014/main" id="{09D2E9B7-A985-A594-CECC-0C863DEEFB5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665273" y="4426495"/>
              <a:ext cx="2147463" cy="12579"/>
            </a:xfrm>
            <a:prstGeom prst="line">
              <a:avLst/>
            </a:prstGeom>
            <a:ln w="19050">
              <a:solidFill>
                <a:srgbClr val="C00000"/>
              </a:solidFill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sp>
          <p:nvSpPr>
            <p:cNvPr id="47" name="文本框 46">
              <a:extLst>
                <a:ext uri="{FF2B5EF4-FFF2-40B4-BE49-F238E27FC236}">
                  <a16:creationId xmlns:a16="http://schemas.microsoft.com/office/drawing/2014/main" id="{09F7A72C-116F-71D5-6F4F-98CF451C983F}"/>
                </a:ext>
              </a:extLst>
            </p:cNvPr>
            <p:cNvSpPr txBox="1"/>
            <p:nvPr/>
          </p:nvSpPr>
          <p:spPr>
            <a:xfrm>
              <a:off x="4639614" y="4446825"/>
              <a:ext cx="2147463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defRPr sz="1600">
                  <a:latin typeface="Times New Roman" panose="02020603050405020304" pitchFamily="18" charset="0"/>
                  <a:cs typeface="Times New Roman" panose="02020603050405020304" pitchFamily="18" charset="0"/>
                </a:defRPr>
              </a:lvl1pPr>
            </a:lstStyle>
            <a:p>
              <a:r>
                <a:rPr lang="en-US" altLang="zh-CN" dirty="0"/>
                <a:t>What sea is located to the northwest of the Sea of Crete?</a:t>
              </a:r>
              <a:endParaRPr lang="zh-CN" altLang="en-US" dirty="0"/>
            </a:p>
          </p:txBody>
        </p:sp>
      </p:grpSp>
      <p:grpSp>
        <p:nvGrpSpPr>
          <p:cNvPr id="48" name="组合 47">
            <a:extLst>
              <a:ext uri="{FF2B5EF4-FFF2-40B4-BE49-F238E27FC236}">
                <a16:creationId xmlns:a16="http://schemas.microsoft.com/office/drawing/2014/main" id="{36F8A1FF-72C4-5C69-2CD1-FD03B11AB8AC}"/>
              </a:ext>
            </a:extLst>
          </p:cNvPr>
          <p:cNvGrpSpPr/>
          <p:nvPr/>
        </p:nvGrpSpPr>
        <p:grpSpPr>
          <a:xfrm>
            <a:off x="7826969" y="1984566"/>
            <a:ext cx="3636679" cy="1622987"/>
            <a:chOff x="807502" y="3177918"/>
            <a:chExt cx="3636679" cy="1622987"/>
          </a:xfrm>
        </p:grpSpPr>
        <p:sp>
          <p:nvSpPr>
            <p:cNvPr id="49" name="矩形: 圆角 48">
              <a:extLst>
                <a:ext uri="{FF2B5EF4-FFF2-40B4-BE49-F238E27FC236}">
                  <a16:creationId xmlns:a16="http://schemas.microsoft.com/office/drawing/2014/main" id="{2D992259-DB91-7B8F-0187-1482F37489B7}"/>
                </a:ext>
              </a:extLst>
            </p:cNvPr>
            <p:cNvSpPr/>
            <p:nvPr/>
          </p:nvSpPr>
          <p:spPr>
            <a:xfrm>
              <a:off x="825910" y="3177919"/>
              <a:ext cx="3618271" cy="1622986"/>
            </a:xfrm>
            <a:prstGeom prst="roundRect">
              <a:avLst>
                <a:gd name="adj" fmla="val 9104"/>
              </a:avLst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0" name="文本框 49">
              <a:extLst>
                <a:ext uri="{FF2B5EF4-FFF2-40B4-BE49-F238E27FC236}">
                  <a16:creationId xmlns:a16="http://schemas.microsoft.com/office/drawing/2014/main" id="{F5223003-C7DE-0559-075A-B87C37B58836}"/>
                </a:ext>
              </a:extLst>
            </p:cNvPr>
            <p:cNvSpPr txBox="1"/>
            <p:nvPr/>
          </p:nvSpPr>
          <p:spPr>
            <a:xfrm>
              <a:off x="807502" y="3549005"/>
              <a:ext cx="3618271" cy="116955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……The bounding sea to the West is the Ionian Sea. To the Northwest is the </a:t>
              </a:r>
              <a:r>
                <a:rPr lang="en-US" altLang="zh-CN" sz="14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Myrtoan</a:t>
              </a:r>
              <a:r>
                <a:rPr lang="en-US" altLang="zh-CN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Sea, a subdivision of the Mediterranean Sea that lies between the Cyclades and Peloponnese. To the East-SE is ……</a:t>
              </a:r>
              <a:endParaRPr lang="zh-C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1" name="文本框 50">
              <a:extLst>
                <a:ext uri="{FF2B5EF4-FFF2-40B4-BE49-F238E27FC236}">
                  <a16:creationId xmlns:a16="http://schemas.microsoft.com/office/drawing/2014/main" id="{AC3EC149-210E-2D81-031F-A6B5D36DB81E}"/>
                </a:ext>
              </a:extLst>
            </p:cNvPr>
            <p:cNvSpPr txBox="1"/>
            <p:nvPr/>
          </p:nvSpPr>
          <p:spPr>
            <a:xfrm>
              <a:off x="963561" y="3177918"/>
              <a:ext cx="100540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6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检索文档</a:t>
              </a:r>
            </a:p>
          </p:txBody>
        </p:sp>
        <p:cxnSp>
          <p:nvCxnSpPr>
            <p:cNvPr id="52" name="直接连接符 51">
              <a:extLst>
                <a:ext uri="{FF2B5EF4-FFF2-40B4-BE49-F238E27FC236}">
                  <a16:creationId xmlns:a16="http://schemas.microsoft.com/office/drawing/2014/main" id="{4D4F8173-1469-6970-F66B-E902C6279A2A}"/>
                </a:ext>
              </a:extLst>
            </p:cNvPr>
            <p:cNvCxnSpPr>
              <a:cxnSpLocks/>
            </p:cNvCxnSpPr>
            <p:nvPr/>
          </p:nvCxnSpPr>
          <p:spPr>
            <a:xfrm>
              <a:off x="825910" y="3529051"/>
              <a:ext cx="3618271" cy="0"/>
            </a:xfrm>
            <a:prstGeom prst="line">
              <a:avLst/>
            </a:prstGeom>
            <a:ln w="19050"/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sp>
        <p:nvSpPr>
          <p:cNvPr id="67" name="文本框 66">
            <a:extLst>
              <a:ext uri="{FF2B5EF4-FFF2-40B4-BE49-F238E27FC236}">
                <a16:creationId xmlns:a16="http://schemas.microsoft.com/office/drawing/2014/main" id="{38A1ADF7-2044-E465-A67C-85331BE8F45E}"/>
              </a:ext>
            </a:extLst>
          </p:cNvPr>
          <p:cNvSpPr txBox="1"/>
          <p:nvPr/>
        </p:nvSpPr>
        <p:spPr>
          <a:xfrm>
            <a:off x="9917142" y="3984139"/>
            <a:ext cx="144142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1600" b="1">
                <a:latin typeface="宋体" panose="02010600030101010101" pitchFamily="2" charset="-122"/>
                <a:ea typeface="宋体" panose="02010600030101010101" pitchFamily="2" charset="-122"/>
              </a:defRPr>
            </a:lvl1pPr>
          </a:lstStyle>
          <a:p>
            <a:r>
              <a:rPr lang="zh-CN" altLang="en-US" sz="1400" dirty="0"/>
              <a:t>压缩成多个向量</a:t>
            </a:r>
          </a:p>
        </p:txBody>
      </p:sp>
      <p:sp>
        <p:nvSpPr>
          <p:cNvPr id="66" name="箭头: 下 65">
            <a:extLst>
              <a:ext uri="{FF2B5EF4-FFF2-40B4-BE49-F238E27FC236}">
                <a16:creationId xmlns:a16="http://schemas.microsoft.com/office/drawing/2014/main" id="{FCF01B3C-641A-EB20-403E-13C76528CC35}"/>
              </a:ext>
            </a:extLst>
          </p:cNvPr>
          <p:cNvSpPr/>
          <p:nvPr/>
        </p:nvSpPr>
        <p:spPr>
          <a:xfrm>
            <a:off x="9779545" y="3816639"/>
            <a:ext cx="137597" cy="612000"/>
          </a:xfrm>
          <a:prstGeom prst="downArrow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u="sng" dirty="0">
              <a:solidFill>
                <a:schemeClr val="tx1"/>
              </a:solidFill>
            </a:endParaRPr>
          </a:p>
        </p:txBody>
      </p:sp>
      <p:sp>
        <p:nvSpPr>
          <p:cNvPr id="69" name="文本框 68">
            <a:extLst>
              <a:ext uri="{FF2B5EF4-FFF2-40B4-BE49-F238E27FC236}">
                <a16:creationId xmlns:a16="http://schemas.microsoft.com/office/drawing/2014/main" id="{6CCC9E6D-13D4-5088-0AF9-98AEFB93A3CD}"/>
              </a:ext>
            </a:extLst>
          </p:cNvPr>
          <p:cNvSpPr txBox="1"/>
          <p:nvPr/>
        </p:nvSpPr>
        <p:spPr>
          <a:xfrm>
            <a:off x="7296138" y="5646410"/>
            <a:ext cx="19217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b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zh-CN" dirty="0"/>
              <a:t>The </a:t>
            </a:r>
            <a:r>
              <a:rPr lang="en-US" altLang="zh-CN" dirty="0" err="1"/>
              <a:t>Myrtoan</a:t>
            </a:r>
            <a:r>
              <a:rPr lang="en-US" altLang="zh-CN" dirty="0"/>
              <a:t> Sea</a:t>
            </a:r>
            <a:endParaRPr lang="zh-CN" altLang="en-US" dirty="0"/>
          </a:p>
        </p:txBody>
      </p:sp>
      <p:cxnSp>
        <p:nvCxnSpPr>
          <p:cNvPr id="71" name="连接符: 肘形 70">
            <a:extLst>
              <a:ext uri="{FF2B5EF4-FFF2-40B4-BE49-F238E27FC236}">
                <a16:creationId xmlns:a16="http://schemas.microsoft.com/office/drawing/2014/main" id="{110BD3A3-7502-E3D5-0DE8-96FD5C3E374D}"/>
              </a:ext>
            </a:extLst>
          </p:cNvPr>
          <p:cNvCxnSpPr>
            <a:cxnSpLocks/>
            <a:stCxn id="54" idx="3"/>
            <a:endCxn id="69" idx="0"/>
          </p:cNvCxnSpPr>
          <p:nvPr/>
        </p:nvCxnSpPr>
        <p:spPr>
          <a:xfrm>
            <a:off x="7296139" y="4732690"/>
            <a:ext cx="960868" cy="913720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连接符: 肘形 71">
            <a:extLst>
              <a:ext uri="{FF2B5EF4-FFF2-40B4-BE49-F238E27FC236}">
                <a16:creationId xmlns:a16="http://schemas.microsoft.com/office/drawing/2014/main" id="{1569F9B8-0CA0-FDC8-C82A-DEF7E60C7CF0}"/>
              </a:ext>
            </a:extLst>
          </p:cNvPr>
          <p:cNvCxnSpPr>
            <a:cxnSpLocks/>
            <a:stCxn id="14" idx="1"/>
            <a:endCxn id="69" idx="0"/>
          </p:cNvCxnSpPr>
          <p:nvPr/>
        </p:nvCxnSpPr>
        <p:spPr>
          <a:xfrm rot="10800000" flipV="1">
            <a:off x="8257008" y="4736208"/>
            <a:ext cx="956269" cy="910201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90" name="组合 89">
            <a:extLst>
              <a:ext uri="{FF2B5EF4-FFF2-40B4-BE49-F238E27FC236}">
                <a16:creationId xmlns:a16="http://schemas.microsoft.com/office/drawing/2014/main" id="{C0D78147-5B43-0E0F-6CF0-1DD8BF31C8B5}"/>
              </a:ext>
            </a:extLst>
          </p:cNvPr>
          <p:cNvGrpSpPr/>
          <p:nvPr/>
        </p:nvGrpSpPr>
        <p:grpSpPr>
          <a:xfrm>
            <a:off x="496662" y="4112806"/>
            <a:ext cx="3636679" cy="1210953"/>
            <a:chOff x="456064" y="4574296"/>
            <a:chExt cx="3636679" cy="1210953"/>
          </a:xfrm>
        </p:grpSpPr>
        <p:sp>
          <p:nvSpPr>
            <p:cNvPr id="77" name="矩形: 圆角 76">
              <a:extLst>
                <a:ext uri="{FF2B5EF4-FFF2-40B4-BE49-F238E27FC236}">
                  <a16:creationId xmlns:a16="http://schemas.microsoft.com/office/drawing/2014/main" id="{B4434101-A3AA-0065-417F-26C9EE256775}"/>
                </a:ext>
              </a:extLst>
            </p:cNvPr>
            <p:cNvSpPr/>
            <p:nvPr/>
          </p:nvSpPr>
          <p:spPr>
            <a:xfrm>
              <a:off x="474472" y="4603102"/>
              <a:ext cx="3618271" cy="1182147"/>
            </a:xfrm>
            <a:prstGeom prst="roundRect">
              <a:avLst>
                <a:gd name="adj" fmla="val 9104"/>
              </a:avLst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8" name="文本框 77">
              <a:extLst>
                <a:ext uri="{FF2B5EF4-FFF2-40B4-BE49-F238E27FC236}">
                  <a16:creationId xmlns:a16="http://schemas.microsoft.com/office/drawing/2014/main" id="{C84A77B4-77A2-D3F7-0EAA-0756B9EE6F8A}"/>
                </a:ext>
              </a:extLst>
            </p:cNvPr>
            <p:cNvSpPr txBox="1"/>
            <p:nvPr/>
          </p:nvSpPr>
          <p:spPr>
            <a:xfrm>
              <a:off x="456064" y="5014209"/>
              <a:ext cx="3618271" cy="73866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4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To the Northwest is the </a:t>
              </a:r>
              <a:r>
                <a:rPr lang="en-US" altLang="zh-CN" sz="1400" dirty="0" err="1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Myrtoan</a:t>
              </a:r>
              <a:r>
                <a:rPr lang="en-US" altLang="zh-CN" sz="14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Sea, a subdivision of the Mediterranean Sea that lies between the Cyclades and Peloponnese. </a:t>
              </a:r>
              <a:endParaRPr lang="zh-C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9" name="文本框 78">
              <a:extLst>
                <a:ext uri="{FF2B5EF4-FFF2-40B4-BE49-F238E27FC236}">
                  <a16:creationId xmlns:a16="http://schemas.microsoft.com/office/drawing/2014/main" id="{8ECA4876-4575-A2D2-C4F1-23FDED028DFC}"/>
                </a:ext>
              </a:extLst>
            </p:cNvPr>
            <p:cNvSpPr txBox="1"/>
            <p:nvPr/>
          </p:nvSpPr>
          <p:spPr>
            <a:xfrm>
              <a:off x="612123" y="4574296"/>
              <a:ext cx="2048959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6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选出的句子 </a:t>
              </a:r>
              <a:r>
                <a:rPr lang="en-US" altLang="zh-CN" sz="16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or </a:t>
              </a:r>
              <a:r>
                <a:rPr lang="zh-CN" altLang="en-US" sz="16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摘要</a:t>
              </a:r>
            </a:p>
          </p:txBody>
        </p:sp>
        <p:cxnSp>
          <p:nvCxnSpPr>
            <p:cNvPr id="80" name="直接连接符 79">
              <a:extLst>
                <a:ext uri="{FF2B5EF4-FFF2-40B4-BE49-F238E27FC236}">
                  <a16:creationId xmlns:a16="http://schemas.microsoft.com/office/drawing/2014/main" id="{D435699F-E383-8D4B-3779-20C307FFC0E1}"/>
                </a:ext>
              </a:extLst>
            </p:cNvPr>
            <p:cNvCxnSpPr>
              <a:cxnSpLocks/>
            </p:cNvCxnSpPr>
            <p:nvPr/>
          </p:nvCxnSpPr>
          <p:spPr>
            <a:xfrm>
              <a:off x="474472" y="4925429"/>
              <a:ext cx="3618271" cy="0"/>
            </a:xfrm>
            <a:prstGeom prst="line">
              <a:avLst/>
            </a:prstGeom>
            <a:ln w="19050"/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pic>
        <p:nvPicPr>
          <p:cNvPr id="89" name="图片 88">
            <a:extLst>
              <a:ext uri="{FF2B5EF4-FFF2-40B4-BE49-F238E27FC236}">
                <a16:creationId xmlns:a16="http://schemas.microsoft.com/office/drawing/2014/main" id="{2D0005BE-EDBD-F54D-575D-ACEB0965DA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86383" y="4500500"/>
            <a:ext cx="382962" cy="400984"/>
          </a:xfrm>
          <a:prstGeom prst="rect">
            <a:avLst/>
          </a:prstGeom>
        </p:spPr>
      </p:pic>
      <p:sp>
        <p:nvSpPr>
          <p:cNvPr id="91" name="箭头: 下 90">
            <a:extLst>
              <a:ext uri="{FF2B5EF4-FFF2-40B4-BE49-F238E27FC236}">
                <a16:creationId xmlns:a16="http://schemas.microsoft.com/office/drawing/2014/main" id="{AFABE87F-CFF3-F2B7-18D5-B552D2B814C9}"/>
              </a:ext>
            </a:extLst>
          </p:cNvPr>
          <p:cNvSpPr/>
          <p:nvPr/>
        </p:nvSpPr>
        <p:spPr>
          <a:xfrm>
            <a:off x="1644970" y="3723887"/>
            <a:ext cx="137597" cy="288000"/>
          </a:xfrm>
          <a:prstGeom prst="downArrow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u="sng" dirty="0">
              <a:solidFill>
                <a:schemeClr val="tx1"/>
              </a:solidFill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43E1B2D6-42B2-12BB-E590-0452516030D5}"/>
              </a:ext>
            </a:extLst>
          </p:cNvPr>
          <p:cNvSpPr txBox="1"/>
          <p:nvPr/>
        </p:nvSpPr>
        <p:spPr>
          <a:xfrm>
            <a:off x="1757045" y="3720257"/>
            <a:ext cx="23391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1600" b="1">
                <a:latin typeface="宋体" panose="02010600030101010101" pitchFamily="2" charset="-122"/>
                <a:ea typeface="宋体" panose="02010600030101010101" pitchFamily="2" charset="-122"/>
              </a:defRPr>
            </a:lvl1pPr>
          </a:lstStyle>
          <a:p>
            <a:r>
              <a:rPr lang="zh-CN" altLang="en-US" sz="1400" dirty="0"/>
              <a:t>根据问题选择句子 </a:t>
            </a:r>
            <a:r>
              <a:rPr lang="en-US" altLang="zh-CN" sz="1400" dirty="0"/>
              <a:t>or </a:t>
            </a:r>
            <a:r>
              <a:rPr lang="zh-CN" altLang="en-US" sz="1400" dirty="0"/>
              <a:t>总结</a:t>
            </a:r>
          </a:p>
        </p:txBody>
      </p:sp>
      <p:cxnSp>
        <p:nvCxnSpPr>
          <p:cNvPr id="99" name="连接符: 肘形 98">
            <a:extLst>
              <a:ext uri="{FF2B5EF4-FFF2-40B4-BE49-F238E27FC236}">
                <a16:creationId xmlns:a16="http://schemas.microsoft.com/office/drawing/2014/main" id="{ED837B3B-62EC-B522-DCCE-C4180C80FF27}"/>
              </a:ext>
            </a:extLst>
          </p:cNvPr>
          <p:cNvCxnSpPr>
            <a:cxnSpLocks/>
            <a:stCxn id="54" idx="1"/>
            <a:endCxn id="102" idx="0"/>
          </p:cNvCxnSpPr>
          <p:nvPr/>
        </p:nvCxnSpPr>
        <p:spPr>
          <a:xfrm rot="10800000" flipV="1">
            <a:off x="4611922" y="4732690"/>
            <a:ext cx="536755" cy="1002176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" name="文本框 101">
            <a:extLst>
              <a:ext uri="{FF2B5EF4-FFF2-40B4-BE49-F238E27FC236}">
                <a16:creationId xmlns:a16="http://schemas.microsoft.com/office/drawing/2014/main" id="{63E63078-465A-B183-DD99-45DAD95DF1F7}"/>
              </a:ext>
            </a:extLst>
          </p:cNvPr>
          <p:cNvSpPr txBox="1"/>
          <p:nvPr/>
        </p:nvSpPr>
        <p:spPr>
          <a:xfrm>
            <a:off x="3651052" y="5734866"/>
            <a:ext cx="19217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b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zh-CN" dirty="0"/>
              <a:t>The </a:t>
            </a:r>
            <a:r>
              <a:rPr lang="en-US" altLang="zh-CN" dirty="0" err="1"/>
              <a:t>Myrtoan</a:t>
            </a:r>
            <a:r>
              <a:rPr lang="en-US" altLang="zh-CN" dirty="0"/>
              <a:t> Sea</a:t>
            </a:r>
            <a:endParaRPr lang="zh-CN" altLang="en-US" dirty="0"/>
          </a:p>
        </p:txBody>
      </p:sp>
      <p:cxnSp>
        <p:nvCxnSpPr>
          <p:cNvPr id="107" name="连接符: 肘形 106">
            <a:extLst>
              <a:ext uri="{FF2B5EF4-FFF2-40B4-BE49-F238E27FC236}">
                <a16:creationId xmlns:a16="http://schemas.microsoft.com/office/drawing/2014/main" id="{352EE88D-2099-5956-165F-65C14A672747}"/>
              </a:ext>
            </a:extLst>
          </p:cNvPr>
          <p:cNvCxnSpPr>
            <a:cxnSpLocks/>
            <a:stCxn id="77" idx="3"/>
            <a:endCxn id="102" idx="0"/>
          </p:cNvCxnSpPr>
          <p:nvPr/>
        </p:nvCxnSpPr>
        <p:spPr>
          <a:xfrm>
            <a:off x="4133341" y="4732686"/>
            <a:ext cx="478580" cy="1002180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8" name="图片 117">
            <a:extLst>
              <a:ext uri="{FF2B5EF4-FFF2-40B4-BE49-F238E27FC236}">
                <a16:creationId xmlns:a16="http://schemas.microsoft.com/office/drawing/2014/main" id="{F903E61A-77AB-4B07-4DCB-B599811B56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2600" y="4521566"/>
            <a:ext cx="382962" cy="400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37809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CEEE24-EA97-0D92-1DF0-04F95BF520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80D278B2-3A74-00C8-983D-D42AC0527EA8}"/>
              </a:ext>
            </a:extLst>
          </p:cNvPr>
          <p:cNvSpPr txBox="1"/>
          <p:nvPr/>
        </p:nvSpPr>
        <p:spPr>
          <a:xfrm>
            <a:off x="157316" y="64055"/>
            <a:ext cx="121723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RECOMP: IMPROVING RETRIEVAL-AUGMENTED LMS WITH COMPRESSION AND SELECTIVE AUGMENTATION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7B92110-0824-7499-FDA0-AE4AD1F0A35A}"/>
              </a:ext>
            </a:extLst>
          </p:cNvPr>
          <p:cNvSpPr txBox="1"/>
          <p:nvPr/>
        </p:nvSpPr>
        <p:spPr>
          <a:xfrm>
            <a:off x="3220065" y="869364"/>
            <a:ext cx="442943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……The bounding sea to the West is the Ionian Sea. To the Northwest is the </a:t>
            </a:r>
            <a:r>
              <a:rPr lang="en-US" altLang="zh-C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Myrtoan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Sea, a subdivision of the Mediterranean Sea that lies between the Cyclades and Peloponnese. To the East-SE is ……</a:t>
            </a:r>
            <a:endParaRPr lang="zh-CN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70AE2184-4295-FBB2-B249-EF6019B1AA05}"/>
              </a:ext>
            </a:extLst>
          </p:cNvPr>
          <p:cNvSpPr txBox="1"/>
          <p:nvPr/>
        </p:nvSpPr>
        <p:spPr>
          <a:xfrm>
            <a:off x="754626" y="2782670"/>
            <a:ext cx="263012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bounding sea to the West is the Ionian Sea. </a:t>
            </a:r>
            <a:endParaRPr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0245779-8BB7-69CB-B88B-E3668DAD24E6}"/>
              </a:ext>
            </a:extLst>
          </p:cNvPr>
          <p:cNvSpPr txBox="1"/>
          <p:nvPr/>
        </p:nvSpPr>
        <p:spPr>
          <a:xfrm>
            <a:off x="3588774" y="2782670"/>
            <a:ext cx="3692013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the Northwest is the </a:t>
            </a:r>
            <a:r>
              <a:rPr lang="en-US" altLang="zh-C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Myrtoan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Sea, a subdivision of the Mediterranean Sea that lies between the Cyclades and Peloponnese.</a:t>
            </a:r>
            <a:endParaRPr lang="zh-CN" altLang="en-US" sz="1400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4F177B10-9B01-0CAF-7B5B-9184254E8E23}"/>
              </a:ext>
            </a:extLst>
          </p:cNvPr>
          <p:cNvSpPr txBox="1"/>
          <p:nvPr/>
        </p:nvSpPr>
        <p:spPr>
          <a:xfrm>
            <a:off x="7484806" y="2782669"/>
            <a:ext cx="13716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the East-SE is ……</a:t>
            </a:r>
            <a:endParaRPr lang="zh-CN" altLang="en-US" dirty="0"/>
          </a:p>
        </p:txBody>
      </p: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1EAEBA0C-D598-0C18-E305-86B954452FB0}"/>
              </a:ext>
            </a:extLst>
          </p:cNvPr>
          <p:cNvCxnSpPr>
            <a:cxnSpLocks/>
            <a:stCxn id="5" idx="2"/>
            <a:endCxn id="8" idx="0"/>
          </p:cNvCxnSpPr>
          <p:nvPr/>
        </p:nvCxnSpPr>
        <p:spPr>
          <a:xfrm flipH="1">
            <a:off x="2069691" y="2346692"/>
            <a:ext cx="3365090" cy="43597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7F539F45-C213-1778-F49E-A17ADE9144EE}"/>
              </a:ext>
            </a:extLst>
          </p:cNvPr>
          <p:cNvCxnSpPr>
            <a:cxnSpLocks/>
            <a:stCxn id="5" idx="2"/>
            <a:endCxn id="9" idx="0"/>
          </p:cNvCxnSpPr>
          <p:nvPr/>
        </p:nvCxnSpPr>
        <p:spPr>
          <a:xfrm>
            <a:off x="5434781" y="2346692"/>
            <a:ext cx="0" cy="43597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7A6447D7-9A5E-14C3-009B-8504B06A9595}"/>
              </a:ext>
            </a:extLst>
          </p:cNvPr>
          <p:cNvCxnSpPr>
            <a:cxnSpLocks/>
            <a:stCxn id="5" idx="2"/>
            <a:endCxn id="11" idx="0"/>
          </p:cNvCxnSpPr>
          <p:nvPr/>
        </p:nvCxnSpPr>
        <p:spPr>
          <a:xfrm>
            <a:off x="5434781" y="2346692"/>
            <a:ext cx="2735825" cy="43597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A766F996-C769-4C83-95ED-FD1387B1DD54}"/>
              </a:ext>
            </a:extLst>
          </p:cNvPr>
          <p:cNvGrpSpPr/>
          <p:nvPr/>
        </p:nvGrpSpPr>
        <p:grpSpPr>
          <a:xfrm>
            <a:off x="1048738" y="3613034"/>
            <a:ext cx="1407732" cy="251945"/>
            <a:chOff x="9383417" y="2756726"/>
            <a:chExt cx="1407732" cy="251945"/>
          </a:xfrm>
        </p:grpSpPr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84FD8925-69AC-EA34-F11A-639248070DFB}"/>
                </a:ext>
              </a:extLst>
            </p:cNvPr>
            <p:cNvSpPr/>
            <p:nvPr/>
          </p:nvSpPr>
          <p:spPr>
            <a:xfrm>
              <a:off x="9383417" y="2762865"/>
              <a:ext cx="262028" cy="245806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矩形 25">
              <a:extLst>
                <a:ext uri="{FF2B5EF4-FFF2-40B4-BE49-F238E27FC236}">
                  <a16:creationId xmlns:a16="http://schemas.microsoft.com/office/drawing/2014/main" id="{314EA9B3-EDC4-33D7-6484-5445B1230080}"/>
                </a:ext>
              </a:extLst>
            </p:cNvPr>
            <p:cNvSpPr/>
            <p:nvPr/>
          </p:nvSpPr>
          <p:spPr>
            <a:xfrm>
              <a:off x="9763197" y="2756726"/>
              <a:ext cx="262028" cy="245806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矩形 26">
              <a:extLst>
                <a:ext uri="{FF2B5EF4-FFF2-40B4-BE49-F238E27FC236}">
                  <a16:creationId xmlns:a16="http://schemas.microsoft.com/office/drawing/2014/main" id="{5AA99D77-C7A4-7CE0-4E97-D3F06B985EDF}"/>
                </a:ext>
              </a:extLst>
            </p:cNvPr>
            <p:cNvSpPr/>
            <p:nvPr/>
          </p:nvSpPr>
          <p:spPr>
            <a:xfrm>
              <a:off x="10146159" y="2756726"/>
              <a:ext cx="262028" cy="245806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" name="矩形 27">
              <a:extLst>
                <a:ext uri="{FF2B5EF4-FFF2-40B4-BE49-F238E27FC236}">
                  <a16:creationId xmlns:a16="http://schemas.microsoft.com/office/drawing/2014/main" id="{CE6B56AC-FA6D-A467-6A23-B742D8968D33}"/>
                </a:ext>
              </a:extLst>
            </p:cNvPr>
            <p:cNvSpPr/>
            <p:nvPr/>
          </p:nvSpPr>
          <p:spPr>
            <a:xfrm>
              <a:off x="10529121" y="2756726"/>
              <a:ext cx="262028" cy="245806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1BF2A6CE-2370-4B8B-1E2E-44ED7BF4350F}"/>
              </a:ext>
            </a:extLst>
          </p:cNvPr>
          <p:cNvGrpSpPr/>
          <p:nvPr/>
        </p:nvGrpSpPr>
        <p:grpSpPr>
          <a:xfrm>
            <a:off x="4421203" y="3613034"/>
            <a:ext cx="1407732" cy="251945"/>
            <a:chOff x="9383417" y="2756726"/>
            <a:chExt cx="1407732" cy="251945"/>
          </a:xfrm>
        </p:grpSpPr>
        <p:sp>
          <p:nvSpPr>
            <p:cNvPr id="30" name="矩形 29">
              <a:extLst>
                <a:ext uri="{FF2B5EF4-FFF2-40B4-BE49-F238E27FC236}">
                  <a16:creationId xmlns:a16="http://schemas.microsoft.com/office/drawing/2014/main" id="{9003C39D-9529-1082-8FE4-ED26A5E0F8E2}"/>
                </a:ext>
              </a:extLst>
            </p:cNvPr>
            <p:cNvSpPr/>
            <p:nvPr/>
          </p:nvSpPr>
          <p:spPr>
            <a:xfrm>
              <a:off x="9383417" y="2762865"/>
              <a:ext cx="262028" cy="245806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矩形 30">
              <a:extLst>
                <a:ext uri="{FF2B5EF4-FFF2-40B4-BE49-F238E27FC236}">
                  <a16:creationId xmlns:a16="http://schemas.microsoft.com/office/drawing/2014/main" id="{098CA63B-66A6-F5A7-5248-154B48399864}"/>
                </a:ext>
              </a:extLst>
            </p:cNvPr>
            <p:cNvSpPr/>
            <p:nvPr/>
          </p:nvSpPr>
          <p:spPr>
            <a:xfrm>
              <a:off x="9763197" y="2756726"/>
              <a:ext cx="262028" cy="245806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矩形 31">
              <a:extLst>
                <a:ext uri="{FF2B5EF4-FFF2-40B4-BE49-F238E27FC236}">
                  <a16:creationId xmlns:a16="http://schemas.microsoft.com/office/drawing/2014/main" id="{11CD651D-678E-F23E-FE5A-D817BCFFDAFA}"/>
                </a:ext>
              </a:extLst>
            </p:cNvPr>
            <p:cNvSpPr/>
            <p:nvPr/>
          </p:nvSpPr>
          <p:spPr>
            <a:xfrm>
              <a:off x="10146159" y="2756726"/>
              <a:ext cx="262028" cy="245806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" name="矩形 32">
              <a:extLst>
                <a:ext uri="{FF2B5EF4-FFF2-40B4-BE49-F238E27FC236}">
                  <a16:creationId xmlns:a16="http://schemas.microsoft.com/office/drawing/2014/main" id="{BBA89733-C537-4287-0D75-C0927C327129}"/>
                </a:ext>
              </a:extLst>
            </p:cNvPr>
            <p:cNvSpPr/>
            <p:nvPr/>
          </p:nvSpPr>
          <p:spPr>
            <a:xfrm>
              <a:off x="10529121" y="2756726"/>
              <a:ext cx="262028" cy="245806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4" name="组合 33">
            <a:extLst>
              <a:ext uri="{FF2B5EF4-FFF2-40B4-BE49-F238E27FC236}">
                <a16:creationId xmlns:a16="http://schemas.microsoft.com/office/drawing/2014/main" id="{92F42D47-3AF1-9692-0544-ECD581C5424B}"/>
              </a:ext>
            </a:extLst>
          </p:cNvPr>
          <p:cNvGrpSpPr/>
          <p:nvPr/>
        </p:nvGrpSpPr>
        <p:grpSpPr>
          <a:xfrm>
            <a:off x="7407524" y="3613034"/>
            <a:ext cx="1407732" cy="251945"/>
            <a:chOff x="9383417" y="2756726"/>
            <a:chExt cx="1407732" cy="251945"/>
          </a:xfrm>
        </p:grpSpPr>
        <p:sp>
          <p:nvSpPr>
            <p:cNvPr id="35" name="矩形 34">
              <a:extLst>
                <a:ext uri="{FF2B5EF4-FFF2-40B4-BE49-F238E27FC236}">
                  <a16:creationId xmlns:a16="http://schemas.microsoft.com/office/drawing/2014/main" id="{D8F80FD9-1473-16E3-FD9D-7F88882DF6DE}"/>
                </a:ext>
              </a:extLst>
            </p:cNvPr>
            <p:cNvSpPr/>
            <p:nvPr/>
          </p:nvSpPr>
          <p:spPr>
            <a:xfrm>
              <a:off x="9383417" y="2762865"/>
              <a:ext cx="262028" cy="245806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" name="矩形 35">
              <a:extLst>
                <a:ext uri="{FF2B5EF4-FFF2-40B4-BE49-F238E27FC236}">
                  <a16:creationId xmlns:a16="http://schemas.microsoft.com/office/drawing/2014/main" id="{A692D2E9-E563-6379-1637-00A2E7394860}"/>
                </a:ext>
              </a:extLst>
            </p:cNvPr>
            <p:cNvSpPr/>
            <p:nvPr/>
          </p:nvSpPr>
          <p:spPr>
            <a:xfrm>
              <a:off x="9763197" y="2756726"/>
              <a:ext cx="262028" cy="245806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" name="矩形 36">
              <a:extLst>
                <a:ext uri="{FF2B5EF4-FFF2-40B4-BE49-F238E27FC236}">
                  <a16:creationId xmlns:a16="http://schemas.microsoft.com/office/drawing/2014/main" id="{EB24144F-464C-56D2-260C-B35C359BBE66}"/>
                </a:ext>
              </a:extLst>
            </p:cNvPr>
            <p:cNvSpPr/>
            <p:nvPr/>
          </p:nvSpPr>
          <p:spPr>
            <a:xfrm>
              <a:off x="10146159" y="2756726"/>
              <a:ext cx="262028" cy="245806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矩形 37">
              <a:extLst>
                <a:ext uri="{FF2B5EF4-FFF2-40B4-BE49-F238E27FC236}">
                  <a16:creationId xmlns:a16="http://schemas.microsoft.com/office/drawing/2014/main" id="{693D528A-C66D-B599-68D4-866CF01595B4}"/>
                </a:ext>
              </a:extLst>
            </p:cNvPr>
            <p:cNvSpPr/>
            <p:nvPr/>
          </p:nvSpPr>
          <p:spPr>
            <a:xfrm>
              <a:off x="10529121" y="2756726"/>
              <a:ext cx="262028" cy="245806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9" name="文本框 38">
            <a:extLst>
              <a:ext uri="{FF2B5EF4-FFF2-40B4-BE49-F238E27FC236}">
                <a16:creationId xmlns:a16="http://schemas.microsoft.com/office/drawing/2014/main" id="{FB546CF5-FD54-ECD8-3A00-B4A39388E842}"/>
              </a:ext>
            </a:extLst>
          </p:cNvPr>
          <p:cNvSpPr txBox="1"/>
          <p:nvPr/>
        </p:nvSpPr>
        <p:spPr>
          <a:xfrm>
            <a:off x="9269359" y="2813446"/>
            <a:ext cx="265823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16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zh-CN" dirty="0"/>
              <a:t>What sea is located to the northwest of the Sea of Crete?</a:t>
            </a:r>
            <a:endParaRPr lang="zh-CN" altLang="en-US" dirty="0"/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D6A12726-0359-83BC-02C5-B7E89CF4A42D}"/>
              </a:ext>
            </a:extLst>
          </p:cNvPr>
          <p:cNvSpPr txBox="1"/>
          <p:nvPr/>
        </p:nvSpPr>
        <p:spPr>
          <a:xfrm>
            <a:off x="2342902" y="1423362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文档：</a:t>
            </a: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DC457EC7-143B-10AE-37C0-C83F13416102}"/>
              </a:ext>
            </a:extLst>
          </p:cNvPr>
          <p:cNvSpPr txBox="1"/>
          <p:nvPr/>
        </p:nvSpPr>
        <p:spPr>
          <a:xfrm>
            <a:off x="10122309" y="2444114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问题：</a:t>
            </a:r>
          </a:p>
        </p:txBody>
      </p:sp>
      <p:grpSp>
        <p:nvGrpSpPr>
          <p:cNvPr id="44" name="组合 43">
            <a:extLst>
              <a:ext uri="{FF2B5EF4-FFF2-40B4-BE49-F238E27FC236}">
                <a16:creationId xmlns:a16="http://schemas.microsoft.com/office/drawing/2014/main" id="{213FC54A-DF4A-C24E-2E35-E90A46FBBB82}"/>
              </a:ext>
            </a:extLst>
          </p:cNvPr>
          <p:cNvGrpSpPr/>
          <p:nvPr/>
        </p:nvGrpSpPr>
        <p:grpSpPr>
          <a:xfrm>
            <a:off x="9735530" y="3606895"/>
            <a:ext cx="1407732" cy="251945"/>
            <a:chOff x="9383417" y="2756726"/>
            <a:chExt cx="1407732" cy="251945"/>
          </a:xfrm>
        </p:grpSpPr>
        <p:sp>
          <p:nvSpPr>
            <p:cNvPr id="45" name="矩形 44">
              <a:extLst>
                <a:ext uri="{FF2B5EF4-FFF2-40B4-BE49-F238E27FC236}">
                  <a16:creationId xmlns:a16="http://schemas.microsoft.com/office/drawing/2014/main" id="{A34012AD-844F-396D-A3D4-AE192911FA01}"/>
                </a:ext>
              </a:extLst>
            </p:cNvPr>
            <p:cNvSpPr/>
            <p:nvPr/>
          </p:nvSpPr>
          <p:spPr>
            <a:xfrm>
              <a:off x="9383417" y="2762865"/>
              <a:ext cx="262028" cy="245806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6" name="矩形 45">
              <a:extLst>
                <a:ext uri="{FF2B5EF4-FFF2-40B4-BE49-F238E27FC236}">
                  <a16:creationId xmlns:a16="http://schemas.microsoft.com/office/drawing/2014/main" id="{BF5C2776-4586-DB9B-F186-9A92152251D9}"/>
                </a:ext>
              </a:extLst>
            </p:cNvPr>
            <p:cNvSpPr/>
            <p:nvPr/>
          </p:nvSpPr>
          <p:spPr>
            <a:xfrm>
              <a:off x="9763197" y="2756726"/>
              <a:ext cx="262028" cy="245806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7" name="矩形 46">
              <a:extLst>
                <a:ext uri="{FF2B5EF4-FFF2-40B4-BE49-F238E27FC236}">
                  <a16:creationId xmlns:a16="http://schemas.microsoft.com/office/drawing/2014/main" id="{AF69479F-ACC6-8BA1-2A91-D58F9D9E43F3}"/>
                </a:ext>
              </a:extLst>
            </p:cNvPr>
            <p:cNvSpPr/>
            <p:nvPr/>
          </p:nvSpPr>
          <p:spPr>
            <a:xfrm>
              <a:off x="10146159" y="2756726"/>
              <a:ext cx="262028" cy="245806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8" name="矩形 47">
              <a:extLst>
                <a:ext uri="{FF2B5EF4-FFF2-40B4-BE49-F238E27FC236}">
                  <a16:creationId xmlns:a16="http://schemas.microsoft.com/office/drawing/2014/main" id="{2C9D30EF-C4A4-0A6D-FEF1-EF96A440C640}"/>
                </a:ext>
              </a:extLst>
            </p:cNvPr>
            <p:cNvSpPr/>
            <p:nvPr/>
          </p:nvSpPr>
          <p:spPr>
            <a:xfrm>
              <a:off x="10529121" y="2756726"/>
              <a:ext cx="262028" cy="245806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49" name="文本框 48">
            <a:extLst>
              <a:ext uri="{FF2B5EF4-FFF2-40B4-BE49-F238E27FC236}">
                <a16:creationId xmlns:a16="http://schemas.microsoft.com/office/drawing/2014/main" id="{C019FA54-D042-736A-B747-BADF69D7CE73}"/>
              </a:ext>
            </a:extLst>
          </p:cNvPr>
          <p:cNvSpPr txBox="1"/>
          <p:nvPr/>
        </p:nvSpPr>
        <p:spPr>
          <a:xfrm>
            <a:off x="4829250" y="5131951"/>
            <a:ext cx="3692013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the Northwest is the </a:t>
            </a:r>
            <a:r>
              <a:rPr lang="en-US" altLang="zh-C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Myrtoan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Sea, a subdivision of the Mediterranean Sea that lies between the Cyclades and Peloponnese.</a:t>
            </a:r>
            <a:endParaRPr lang="zh-CN" altLang="en-US" sz="1400" dirty="0"/>
          </a:p>
        </p:txBody>
      </p:sp>
      <p:cxnSp>
        <p:nvCxnSpPr>
          <p:cNvPr id="51" name="连接符: 肘形 50">
            <a:extLst>
              <a:ext uri="{FF2B5EF4-FFF2-40B4-BE49-F238E27FC236}">
                <a16:creationId xmlns:a16="http://schemas.microsoft.com/office/drawing/2014/main" id="{E4C2240E-BCFC-E529-2BA2-9C8A7180A194}"/>
              </a:ext>
            </a:extLst>
          </p:cNvPr>
          <p:cNvCxnSpPr>
            <a:cxnSpLocks/>
            <a:stCxn id="27" idx="2"/>
            <a:endCxn id="49" idx="0"/>
          </p:cNvCxnSpPr>
          <p:nvPr/>
        </p:nvCxnSpPr>
        <p:spPr>
          <a:xfrm rot="16200000" flipH="1">
            <a:off x="3672320" y="2129013"/>
            <a:ext cx="1273111" cy="4732763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连接符: 肘形 53">
            <a:extLst>
              <a:ext uri="{FF2B5EF4-FFF2-40B4-BE49-F238E27FC236}">
                <a16:creationId xmlns:a16="http://schemas.microsoft.com/office/drawing/2014/main" id="{31075AB0-5C13-96DC-B1B4-999ABCD42A8C}"/>
              </a:ext>
            </a:extLst>
          </p:cNvPr>
          <p:cNvCxnSpPr>
            <a:cxnSpLocks/>
            <a:stCxn id="32" idx="2"/>
            <a:endCxn id="49" idx="0"/>
          </p:cNvCxnSpPr>
          <p:nvPr/>
        </p:nvCxnSpPr>
        <p:spPr>
          <a:xfrm rot="16200000" flipH="1">
            <a:off x="5358553" y="3815246"/>
            <a:ext cx="1273111" cy="1360298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连接符: 肘形 56">
            <a:extLst>
              <a:ext uri="{FF2B5EF4-FFF2-40B4-BE49-F238E27FC236}">
                <a16:creationId xmlns:a16="http://schemas.microsoft.com/office/drawing/2014/main" id="{37611B56-0DE5-5957-A3A4-ADA926C5D45E}"/>
              </a:ext>
            </a:extLst>
          </p:cNvPr>
          <p:cNvCxnSpPr>
            <a:cxnSpLocks/>
            <a:stCxn id="37" idx="2"/>
            <a:endCxn id="49" idx="0"/>
          </p:cNvCxnSpPr>
          <p:nvPr/>
        </p:nvCxnSpPr>
        <p:spPr>
          <a:xfrm rot="5400000">
            <a:off x="6851714" y="3682384"/>
            <a:ext cx="1273111" cy="1626023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连接符: 肘形 59">
            <a:extLst>
              <a:ext uri="{FF2B5EF4-FFF2-40B4-BE49-F238E27FC236}">
                <a16:creationId xmlns:a16="http://schemas.microsoft.com/office/drawing/2014/main" id="{E8C2C446-048A-DB2C-5E00-BE660830E2CF}"/>
              </a:ext>
            </a:extLst>
          </p:cNvPr>
          <p:cNvCxnSpPr>
            <a:cxnSpLocks/>
            <a:stCxn id="47" idx="2"/>
            <a:endCxn id="49" idx="0"/>
          </p:cNvCxnSpPr>
          <p:nvPr/>
        </p:nvCxnSpPr>
        <p:spPr>
          <a:xfrm rot="5400000">
            <a:off x="8012647" y="2515312"/>
            <a:ext cx="1279250" cy="3954029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445368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DF380B-0C42-191D-FD38-3CA62455E3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6AA714D0-E5B0-9E15-FA26-139004D2AA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12" y="433387"/>
            <a:ext cx="12144375" cy="5991225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845C5BDD-443C-1939-1E6A-8350BAEAD5EB}"/>
              </a:ext>
            </a:extLst>
          </p:cNvPr>
          <p:cNvSpPr txBox="1"/>
          <p:nvPr/>
        </p:nvSpPr>
        <p:spPr>
          <a:xfrm>
            <a:off x="157317" y="64055"/>
            <a:ext cx="105401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xRAG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Extreme Context Compression for Retrieval-augmented Generation with One Token (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NeurIPS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2024)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98389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0795B4-CF22-4EE6-BC1E-068338B188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780FCDB2-9271-69D3-15D5-EF183F3F3EC9}"/>
              </a:ext>
            </a:extLst>
          </p:cNvPr>
          <p:cNvSpPr txBox="1"/>
          <p:nvPr/>
        </p:nvSpPr>
        <p:spPr>
          <a:xfrm>
            <a:off x="157317" y="64055"/>
            <a:ext cx="105401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OSCAR: ONLINE SOFT COMPRESSION FOR RAG (ICLR 2026)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FFF7A3A-24EF-882E-D5F0-9F45504F6927}"/>
              </a:ext>
            </a:extLst>
          </p:cNvPr>
          <p:cNvSpPr txBox="1"/>
          <p:nvPr/>
        </p:nvSpPr>
        <p:spPr>
          <a:xfrm>
            <a:off x="481922" y="986522"/>
            <a:ext cx="4752983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……The bounding sea to the West is the Ionian Sea. To the Northwest is the </a:t>
            </a:r>
            <a:r>
              <a:rPr lang="en-US" altLang="zh-C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Myrtoan</a:t>
            </a:r>
            <a:r>
              <a: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Sea, a subdivision of the Mediterranean Sea that lies between the Cyclades and Peloponnese. To the East-SE is ……</a:t>
            </a:r>
            <a:endParaRPr lang="zh-CN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0D2389A-B5F7-1F90-1534-986337A476A1}"/>
              </a:ext>
            </a:extLst>
          </p:cNvPr>
          <p:cNvSpPr txBox="1"/>
          <p:nvPr/>
        </p:nvSpPr>
        <p:spPr>
          <a:xfrm>
            <a:off x="5809991" y="1232744"/>
            <a:ext cx="265823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16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zh-CN" dirty="0"/>
              <a:t>Who is the richest person in the world as of 2024?</a:t>
            </a:r>
            <a:endParaRPr lang="zh-CN" altLang="en-US" dirty="0"/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227011EC-3100-0F56-132C-F057228B7BBB}"/>
              </a:ext>
            </a:extLst>
          </p:cNvPr>
          <p:cNvGrpSpPr/>
          <p:nvPr/>
        </p:nvGrpSpPr>
        <p:grpSpPr>
          <a:xfrm>
            <a:off x="9373975" y="1399158"/>
            <a:ext cx="1407732" cy="251945"/>
            <a:chOff x="9383417" y="2756726"/>
            <a:chExt cx="1407732" cy="251945"/>
          </a:xfrm>
        </p:grpSpPr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49EE558E-E488-D130-F1D6-4F13194DC5F4}"/>
                </a:ext>
              </a:extLst>
            </p:cNvPr>
            <p:cNvSpPr/>
            <p:nvPr/>
          </p:nvSpPr>
          <p:spPr>
            <a:xfrm>
              <a:off x="9383417" y="2762865"/>
              <a:ext cx="262028" cy="245806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E5D5A1D4-C5F7-030A-C6C2-884CF0ABE88B}"/>
                </a:ext>
              </a:extLst>
            </p:cNvPr>
            <p:cNvSpPr/>
            <p:nvPr/>
          </p:nvSpPr>
          <p:spPr>
            <a:xfrm>
              <a:off x="9763197" y="2756726"/>
              <a:ext cx="262028" cy="245806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36694FC5-EFED-AE1C-4CF8-ADD33E3522A4}"/>
                </a:ext>
              </a:extLst>
            </p:cNvPr>
            <p:cNvSpPr/>
            <p:nvPr/>
          </p:nvSpPr>
          <p:spPr>
            <a:xfrm>
              <a:off x="10146159" y="2756726"/>
              <a:ext cx="262028" cy="245806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CE3B5182-9AA1-A611-7C01-AB6A9AE01A9A}"/>
                </a:ext>
              </a:extLst>
            </p:cNvPr>
            <p:cNvSpPr/>
            <p:nvPr/>
          </p:nvSpPr>
          <p:spPr>
            <a:xfrm>
              <a:off x="10529121" y="2756726"/>
              <a:ext cx="262028" cy="245806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4" name="文本框 13">
            <a:extLst>
              <a:ext uri="{FF2B5EF4-FFF2-40B4-BE49-F238E27FC236}">
                <a16:creationId xmlns:a16="http://schemas.microsoft.com/office/drawing/2014/main" id="{B9DC5AEE-1776-AE36-CFE3-DA30C6036C04}"/>
              </a:ext>
            </a:extLst>
          </p:cNvPr>
          <p:cNvSpPr txBox="1"/>
          <p:nvPr/>
        </p:nvSpPr>
        <p:spPr>
          <a:xfrm>
            <a:off x="9448459" y="834063"/>
            <a:ext cx="13765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 * [MEM]</a:t>
            </a:r>
            <a:endParaRPr lang="zh-CN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FAD4793-36DA-E876-0C3F-714DED11C3C7}"/>
              </a:ext>
            </a:extLst>
          </p:cNvPr>
          <p:cNvSpPr txBox="1"/>
          <p:nvPr/>
        </p:nvSpPr>
        <p:spPr>
          <a:xfrm>
            <a:off x="2490386" y="717989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文档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7C34A1D6-BBF8-BB07-D72B-7B65E551E936}"/>
              </a:ext>
            </a:extLst>
          </p:cNvPr>
          <p:cNvSpPr txBox="1"/>
          <p:nvPr/>
        </p:nvSpPr>
        <p:spPr>
          <a:xfrm>
            <a:off x="6815944" y="863412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问题</a:t>
            </a:r>
          </a:p>
        </p:txBody>
      </p:sp>
      <p:pic>
        <p:nvPicPr>
          <p:cNvPr id="17" name="图形 16" descr="徽章关注 纯色填充">
            <a:extLst>
              <a:ext uri="{FF2B5EF4-FFF2-40B4-BE49-F238E27FC236}">
                <a16:creationId xmlns:a16="http://schemas.microsoft.com/office/drawing/2014/main" id="{DA1B1919-CE7E-C336-5BB6-6FE56F06F6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88617" y="1327998"/>
            <a:ext cx="388125" cy="388125"/>
          </a:xfrm>
          <a:prstGeom prst="rect">
            <a:avLst/>
          </a:prstGeom>
        </p:spPr>
      </p:pic>
      <p:pic>
        <p:nvPicPr>
          <p:cNvPr id="18" name="图形 17" descr="徽章关注 纯色填充">
            <a:extLst>
              <a:ext uri="{FF2B5EF4-FFF2-40B4-BE49-F238E27FC236}">
                <a16:creationId xmlns:a16="http://schemas.microsoft.com/office/drawing/2014/main" id="{27191D6B-3620-E0D8-55C0-C58AE4DE22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585982" y="1327998"/>
            <a:ext cx="388125" cy="388125"/>
          </a:xfrm>
          <a:prstGeom prst="rect">
            <a:avLst/>
          </a:prstGeom>
        </p:spPr>
      </p:pic>
      <p:sp>
        <p:nvSpPr>
          <p:cNvPr id="19" name="箭头: 下 18">
            <a:extLst>
              <a:ext uri="{FF2B5EF4-FFF2-40B4-BE49-F238E27FC236}">
                <a16:creationId xmlns:a16="http://schemas.microsoft.com/office/drawing/2014/main" id="{822E759E-18CE-FA62-DA56-01520E405CAE}"/>
              </a:ext>
            </a:extLst>
          </p:cNvPr>
          <p:cNvSpPr/>
          <p:nvPr/>
        </p:nvSpPr>
        <p:spPr>
          <a:xfrm>
            <a:off x="6096000" y="2063740"/>
            <a:ext cx="137597" cy="324000"/>
          </a:xfrm>
          <a:prstGeom prst="downArrow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u="sng" dirty="0">
              <a:solidFill>
                <a:schemeClr val="tx1"/>
              </a:solidFill>
            </a:endParaRP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84E58D4A-1609-E463-276B-14944FBA0594}"/>
              </a:ext>
            </a:extLst>
          </p:cNvPr>
          <p:cNvSpPr/>
          <p:nvPr/>
        </p:nvSpPr>
        <p:spPr>
          <a:xfrm>
            <a:off x="4662920" y="2569509"/>
            <a:ext cx="3003756" cy="699249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dirty="0"/>
              <a:t>Compressor</a:t>
            </a:r>
            <a:endParaRPr lang="zh-CN" altLang="en-US" sz="2800" b="1" dirty="0"/>
          </a:p>
        </p:txBody>
      </p: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33D20042-98CD-A47C-F21D-9637BE58B28F}"/>
              </a:ext>
            </a:extLst>
          </p:cNvPr>
          <p:cNvGrpSpPr/>
          <p:nvPr/>
        </p:nvGrpSpPr>
        <p:grpSpPr>
          <a:xfrm>
            <a:off x="5459093" y="3781901"/>
            <a:ext cx="1407732" cy="251945"/>
            <a:chOff x="9383417" y="2756726"/>
            <a:chExt cx="1407732" cy="251945"/>
          </a:xfrm>
        </p:grpSpPr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0B83CA4F-A666-D01C-03AC-51D86EE863DA}"/>
                </a:ext>
              </a:extLst>
            </p:cNvPr>
            <p:cNvSpPr/>
            <p:nvPr/>
          </p:nvSpPr>
          <p:spPr>
            <a:xfrm>
              <a:off x="9383417" y="2762865"/>
              <a:ext cx="262028" cy="245806"/>
            </a:xfrm>
            <a:prstGeom prst="rect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92273BF5-70BC-0861-4273-F87D67D7DD68}"/>
                </a:ext>
              </a:extLst>
            </p:cNvPr>
            <p:cNvSpPr/>
            <p:nvPr/>
          </p:nvSpPr>
          <p:spPr>
            <a:xfrm>
              <a:off x="9763197" y="2756726"/>
              <a:ext cx="262028" cy="245806"/>
            </a:xfrm>
            <a:prstGeom prst="rect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579B3F42-D9A8-7C87-6D5D-0D9C9BFDB2B7}"/>
                </a:ext>
              </a:extLst>
            </p:cNvPr>
            <p:cNvSpPr/>
            <p:nvPr/>
          </p:nvSpPr>
          <p:spPr>
            <a:xfrm>
              <a:off x="10146159" y="2756726"/>
              <a:ext cx="262028" cy="245806"/>
            </a:xfrm>
            <a:prstGeom prst="rect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420125B6-41C0-1D81-60B6-F68F64DC40F7}"/>
                </a:ext>
              </a:extLst>
            </p:cNvPr>
            <p:cNvSpPr/>
            <p:nvPr/>
          </p:nvSpPr>
          <p:spPr>
            <a:xfrm>
              <a:off x="10529121" y="2756726"/>
              <a:ext cx="262028" cy="245806"/>
            </a:xfrm>
            <a:prstGeom prst="rect">
              <a:avLst/>
            </a:prstGeom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7" name="箭头: 下 26">
            <a:extLst>
              <a:ext uri="{FF2B5EF4-FFF2-40B4-BE49-F238E27FC236}">
                <a16:creationId xmlns:a16="http://schemas.microsoft.com/office/drawing/2014/main" id="{4FC9B878-B1BC-E6DF-3266-620CA0425861}"/>
              </a:ext>
            </a:extLst>
          </p:cNvPr>
          <p:cNvSpPr/>
          <p:nvPr/>
        </p:nvSpPr>
        <p:spPr>
          <a:xfrm>
            <a:off x="6095999" y="3360582"/>
            <a:ext cx="137597" cy="324000"/>
          </a:xfrm>
          <a:prstGeom prst="downArrow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u="sng" dirty="0">
              <a:solidFill>
                <a:schemeClr val="tx1"/>
              </a:solidFill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ED976C85-0A5F-A762-DF9B-504B5196961A}"/>
              </a:ext>
            </a:extLst>
          </p:cNvPr>
          <p:cNvSpPr txBox="1"/>
          <p:nvPr/>
        </p:nvSpPr>
        <p:spPr>
          <a:xfrm>
            <a:off x="7666676" y="3612416"/>
            <a:ext cx="265823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16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zh-CN" dirty="0"/>
              <a:t>What sea is located to the northwest of the Sea of Crete?</a:t>
            </a:r>
            <a:endParaRPr lang="zh-CN" altLang="en-US" dirty="0"/>
          </a:p>
        </p:txBody>
      </p:sp>
      <p:pic>
        <p:nvPicPr>
          <p:cNvPr id="29" name="图形 28" descr="徽章关注 纯色填充">
            <a:extLst>
              <a:ext uri="{FF2B5EF4-FFF2-40B4-BE49-F238E27FC236}">
                <a16:creationId xmlns:a16="http://schemas.microsoft.com/office/drawing/2014/main" id="{850AF0D6-CCE5-B3CE-59C5-73629D1B65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39109" y="3734019"/>
            <a:ext cx="388125" cy="388125"/>
          </a:xfrm>
          <a:prstGeom prst="rect">
            <a:avLst/>
          </a:prstGeom>
        </p:spPr>
      </p:pic>
      <p:sp>
        <p:nvSpPr>
          <p:cNvPr id="30" name="箭头: 下 29">
            <a:extLst>
              <a:ext uri="{FF2B5EF4-FFF2-40B4-BE49-F238E27FC236}">
                <a16:creationId xmlns:a16="http://schemas.microsoft.com/office/drawing/2014/main" id="{4FEA5D6D-3D34-360F-CC34-8A58996D69EA}"/>
              </a:ext>
            </a:extLst>
          </p:cNvPr>
          <p:cNvSpPr/>
          <p:nvPr/>
        </p:nvSpPr>
        <p:spPr>
          <a:xfrm>
            <a:off x="7275461" y="4263405"/>
            <a:ext cx="137597" cy="324000"/>
          </a:xfrm>
          <a:prstGeom prst="downArrow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u="sng" dirty="0">
              <a:solidFill>
                <a:schemeClr val="tx1"/>
              </a:solidFill>
            </a:endParaRPr>
          </a:p>
        </p:txBody>
      </p:sp>
      <p:sp>
        <p:nvSpPr>
          <p:cNvPr id="31" name="矩形: 圆角 30">
            <a:extLst>
              <a:ext uri="{FF2B5EF4-FFF2-40B4-BE49-F238E27FC236}">
                <a16:creationId xmlns:a16="http://schemas.microsoft.com/office/drawing/2014/main" id="{87CAAF5E-FFF1-A93A-74D8-A8E5B40E6E0A}"/>
              </a:ext>
            </a:extLst>
          </p:cNvPr>
          <p:cNvSpPr/>
          <p:nvPr/>
        </p:nvSpPr>
        <p:spPr>
          <a:xfrm>
            <a:off x="5911180" y="4728666"/>
            <a:ext cx="3003756" cy="699249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dirty="0"/>
              <a:t>Generator</a:t>
            </a:r>
            <a:endParaRPr lang="zh-CN" altLang="en-US" sz="2800" b="1" dirty="0"/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7903EF63-4F0B-33B6-F31E-814D700A1896}"/>
              </a:ext>
            </a:extLst>
          </p:cNvPr>
          <p:cNvSpPr txBox="1"/>
          <p:nvPr/>
        </p:nvSpPr>
        <p:spPr>
          <a:xfrm>
            <a:off x="3297329" y="4893624"/>
            <a:ext cx="19217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b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zh-CN" dirty="0"/>
              <a:t>The </a:t>
            </a:r>
            <a:r>
              <a:rPr lang="en-US" altLang="zh-CN" dirty="0" err="1"/>
              <a:t>Myrtoan</a:t>
            </a:r>
            <a:r>
              <a:rPr lang="en-US" altLang="zh-CN" dirty="0"/>
              <a:t> Sea</a:t>
            </a:r>
            <a:endParaRPr lang="zh-CN" altLang="en-US" dirty="0"/>
          </a:p>
        </p:txBody>
      </p:sp>
      <p:sp>
        <p:nvSpPr>
          <p:cNvPr id="34" name="箭头: 下 33">
            <a:extLst>
              <a:ext uri="{FF2B5EF4-FFF2-40B4-BE49-F238E27FC236}">
                <a16:creationId xmlns:a16="http://schemas.microsoft.com/office/drawing/2014/main" id="{83A42DD8-8E50-58E1-732F-B848A2369228}"/>
              </a:ext>
            </a:extLst>
          </p:cNvPr>
          <p:cNvSpPr/>
          <p:nvPr/>
        </p:nvSpPr>
        <p:spPr>
          <a:xfrm rot="5400000">
            <a:off x="5434973" y="4916290"/>
            <a:ext cx="137597" cy="324000"/>
          </a:xfrm>
          <a:prstGeom prst="downArrow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u="sng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715231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63E4C8-B282-A37C-39D3-8375B6986D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768E411A-DEFB-672D-DEFC-6E1D3ACCF2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8141" y="0"/>
            <a:ext cx="671571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70469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618</TotalTime>
  <Words>375</Words>
  <Application>Microsoft Office PowerPoint</Application>
  <PresentationFormat>宽屏</PresentationFormat>
  <Paragraphs>36</Paragraphs>
  <Slides>5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2" baseType="lpstr">
      <vt:lpstr>等线</vt:lpstr>
      <vt:lpstr>等线 Light</vt:lpstr>
      <vt:lpstr>宋体</vt:lpstr>
      <vt:lpstr>微软雅黑</vt:lpstr>
      <vt:lpstr>Arial</vt:lpstr>
      <vt:lpstr>Times New Roman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盈钢 邱</dc:creator>
  <cp:lastModifiedBy>盈钢 邱</cp:lastModifiedBy>
  <cp:revision>9</cp:revision>
  <dcterms:created xsi:type="dcterms:W3CDTF">2026-06-15T01:32:38Z</dcterms:created>
  <dcterms:modified xsi:type="dcterms:W3CDTF">2026-06-16T13:16:32Z</dcterms:modified>
</cp:coreProperties>
</file>