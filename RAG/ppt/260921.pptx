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A34A26-2E5B-FBB2-6909-60B0A80417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5728FFD-0C92-A6C7-A156-B66122F0B6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93620E-C07B-75E5-589A-F0389C4B0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A5B12-4050-412B-B5BF-9D0915598E24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A7DA93-BF0D-9FC4-F451-3BD508CD6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4E1695-3323-34D9-06D8-27133A995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9557D-C377-4D95-A4F9-36D3802A1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0410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FB22E2-5EB7-1DE9-5F4E-DE310265D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B03C43-3E80-CE21-922E-37DBE2A8F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213643-EA19-CB8B-BE89-A64FF01D6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A5B12-4050-412B-B5BF-9D0915598E24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8D1E68-3618-E5B3-FCB6-20477E349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20E7AD-44DB-59D9-0458-8164B10B7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9557D-C377-4D95-A4F9-36D3802A1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2611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9ECF85-CC4C-3E4B-A4D1-5D72B3001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FF1AD6-A421-2F83-8CFD-92982D38F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AECE84-9E9C-F15C-3A24-C0951D7ED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A5B12-4050-412B-B5BF-9D0915598E24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3F3E21-5F65-0B6B-43A1-90DEC6968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DAA352-2281-7E98-F17B-D021C634B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9557D-C377-4D95-A4F9-36D3802A1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668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2B9B24-AC19-380E-962C-4877B9651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8C6E43-077C-5D5F-4436-5181F70C89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CD14EE-2A41-335C-0CB7-3DAC895896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DFC65A-C8B7-8824-D5A5-15C5CFF88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A5B12-4050-412B-B5BF-9D0915598E24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EE8F94-F06F-9E42-FC61-7DCCFFC16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F002E3-E255-C999-AA39-8CF9A5D90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9557D-C377-4D95-A4F9-36D3802A1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3459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CB6235-8EB9-DB84-67CB-0BE7C0DD3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39407D-66C0-913F-E618-68FA8F121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3059E6-956E-5F5B-F4D8-1699E9A26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D451E79-9DCD-EEB8-A527-CC706427FA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511D3D4-B342-28D5-14F9-4C9802ED49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7E5621F-2197-52E0-9456-2B99E5496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A5B12-4050-412B-B5BF-9D0915598E24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76B7D2A-17D9-53E7-188D-8F163F6E4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ED0DD93-C781-30B0-A708-340662801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9557D-C377-4D95-A4F9-36D3802A1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1663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40B57C-8AB4-1D4F-4AAA-BC4238BBE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DB24B87-DD1E-F8CE-D0E4-21C8032B4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A5B12-4050-412B-B5BF-9D0915598E24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78FBE7C-A2D6-E10D-35C7-F15C44E44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062D3D-E776-5123-D24D-CD9E57EFB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9557D-C377-4D95-A4F9-36D3802A1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7032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D6671B7-BD09-7B6C-8762-1EC4AD8E0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A5B12-4050-412B-B5BF-9D0915598E24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3B311E5-BA19-E572-42A5-15EDB3EF5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FCD1C3-1230-5025-9BD6-3138B516C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9557D-C377-4D95-A4F9-36D3802A1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7464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282637-9D8C-D1FB-4CF4-0F3EFDE46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0B893C-F96D-5DB9-BEC5-953DCF517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20A66EA-865E-2929-8FD6-77CDE31D4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71A2D4-28CB-0DBD-8D2B-8C4DFC94B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A5B12-4050-412B-B5BF-9D0915598E24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19572E-54B1-1104-4B36-F4A65E516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638040-8153-B052-62B3-1572201AA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9557D-C377-4D95-A4F9-36D3802A1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5349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65B2BF-4583-590A-EF98-E416C3437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DB5E3D0-B12F-F3BC-1AEE-5973F3D634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9AAF21E-65BD-ED6E-79A9-D2D0F37776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9BC6D9-2568-E17C-29A9-9CED57FD4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A5B12-4050-412B-B5BF-9D0915598E24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5E919C-4CD2-3E5D-1CAD-51A5533D1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ECA5C2-6FEC-76C2-798A-9A6869617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9557D-C377-4D95-A4F9-36D3802A1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0519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0DC8C8-6F84-B556-6A55-EF5FE518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EC320B8-9868-9FF2-5480-8604A81FB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1CFB40-1754-9290-A8B3-A2969D293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A5B12-4050-412B-B5BF-9D0915598E24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0F6305-7EBE-F251-7D61-E93A33E71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7CDC8F-0ACE-593F-C3A2-957AF3669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9557D-C377-4D95-A4F9-36D3802A1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821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D00D2F1-3936-9318-5C3B-CBEFFC82B3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CD8619F-DF61-FA97-0B57-A3ABF208D0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8D5185-FEB0-0699-13ED-BA55E9F8C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A5B12-4050-412B-B5BF-9D0915598E24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E133E4-3584-4558-8F24-41F5DEAF4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DCCB6A-812F-2931-F770-8D52289D8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9557D-C377-4D95-A4F9-36D3802A1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570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AC1A73A-5A2B-7C76-A75C-6BB086622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07433B-ED92-9ED8-A1BD-1C46EC7CF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E2EEC3-A132-A99A-B973-6B28A76F8C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9A5B12-4050-412B-B5BF-9D0915598E24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5FE8DC-F2A7-192D-9470-DC8B1F1B59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1ECBBF-12AE-C703-D78E-B710B8F986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D9557D-C377-4D95-A4F9-36D3802A1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7587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D904E955-DC8C-68BF-998E-6F413BCFD550}"/>
              </a:ext>
            </a:extLst>
          </p:cNvPr>
          <p:cNvSpPr txBox="1"/>
          <p:nvPr/>
        </p:nvSpPr>
        <p:spPr>
          <a:xfrm>
            <a:off x="442452" y="61822"/>
            <a:ext cx="5899354" cy="61247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def </a:t>
            </a:r>
            <a:r>
              <a:rPr lang="zh-CN" altLang="zh-CN" sz="1400" dirty="0">
                <a:solidFill>
                  <a:srgbClr val="00627A"/>
                </a:solidFill>
                <a:effectLst/>
                <a:latin typeface="JetBrains Mono"/>
              </a:rPr>
              <a:t>load_scores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path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zh-CN" altLang="zh-CN" sz="1400" i="1" dirty="0">
                <a:solidFill>
                  <a:srgbClr val="8C8C8C"/>
                </a:solidFill>
                <a:effectLst/>
                <a:latin typeface="JetBrains Mono"/>
              </a:rPr>
              <a:t>"""Load student scores from a file."""</a:t>
            </a:r>
            <a:br>
              <a:rPr lang="zh-CN" altLang="zh-CN" sz="14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zh-CN" altLang="zh-CN" sz="1400" i="1" dirty="0"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with </a:t>
            </a:r>
            <a:r>
              <a:rPr lang="zh-CN" altLang="zh-CN" sz="1400" dirty="0">
                <a:solidFill>
                  <a:srgbClr val="000080"/>
                </a:solidFill>
                <a:effectLst/>
                <a:latin typeface="JetBrains Mono"/>
              </a:rPr>
              <a:t>open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path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zh-CN" altLang="zh-CN" sz="1400" dirty="0">
                <a:solidFill>
                  <a:srgbClr val="067D17"/>
                </a:solidFill>
                <a:effectLst/>
                <a:latin typeface="JetBrains Mono"/>
              </a:rPr>
              <a:t>"r"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as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f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zh-CN" altLang="zh-CN" sz="1400" dirty="0">
                <a:solidFill>
                  <a:srgbClr val="000080"/>
                </a:solidFill>
                <a:effectLst/>
                <a:latin typeface="JetBrains Mono"/>
              </a:rPr>
              <a:t>float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x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x </a:t>
            </a: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f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.readlines()]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def </a:t>
            </a:r>
            <a:r>
              <a:rPr lang="zh-CN" altLang="zh-CN" sz="1400" dirty="0">
                <a:solidFill>
                  <a:srgbClr val="00627A"/>
                </a:solidFill>
                <a:effectLst/>
                <a:latin typeface="JetBrains Mono"/>
              </a:rPr>
              <a:t>normalize_score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score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zh-CN" altLang="zh-CN" sz="1400" i="1" dirty="0">
                <a:solidFill>
                  <a:srgbClr val="8C8C8C"/>
                </a:solidFill>
                <a:effectLst/>
                <a:latin typeface="JetBrains Mono"/>
              </a:rPr>
              <a:t>"""Normalize a score to the range [0, 1]."""</a:t>
            </a:r>
            <a:br>
              <a:rPr lang="zh-CN" altLang="zh-CN" sz="14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zh-CN" altLang="zh-CN" sz="1400" i="1" dirty="0"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score 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/ </a:t>
            </a:r>
            <a:r>
              <a:rPr lang="zh-CN" altLang="zh-CN" sz="1400" dirty="0">
                <a:solidFill>
                  <a:srgbClr val="1750EB"/>
                </a:solidFill>
                <a:effectLst/>
                <a:latin typeface="JetBrains Mono"/>
              </a:rPr>
              <a:t>100</a:t>
            </a:r>
            <a:br>
              <a:rPr lang="zh-CN" altLang="zh-CN" sz="1400" dirty="0">
                <a:solidFill>
                  <a:srgbClr val="1750EB"/>
                </a:solidFill>
                <a:effectLst/>
                <a:latin typeface="JetBrains Mono"/>
              </a:rPr>
            </a:b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def </a:t>
            </a:r>
            <a:r>
              <a:rPr lang="zh-CN" altLang="zh-CN" sz="1400" dirty="0">
                <a:solidFill>
                  <a:srgbClr val="00627A"/>
                </a:solidFill>
                <a:effectLst/>
                <a:latin typeface="JetBrains Mono"/>
              </a:rPr>
              <a:t>evaluate_student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path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zh-CN" altLang="zh-CN" sz="1400" i="1" dirty="0">
                <a:solidFill>
                  <a:srgbClr val="8C8C8C"/>
                </a:solidFill>
                <a:effectLst/>
                <a:latin typeface="JetBrains Mono"/>
              </a:rPr>
              <a:t>"""Evaluate a student using the average normalized score."""</a:t>
            </a:r>
            <a:br>
              <a:rPr lang="zh-CN" altLang="zh-CN" sz="14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zh-CN" altLang="zh-CN" sz="1400" i="1" dirty="0"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scores 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= load_scores(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path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normalized 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= [normalize_score(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s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s </a:t>
            </a: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scores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filter_scores 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= []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score </a:t>
            </a: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normalized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score 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&gt;- </a:t>
            </a:r>
            <a:r>
              <a:rPr lang="zh-CN" altLang="zh-CN" sz="1400" dirty="0">
                <a:solidFill>
                  <a:srgbClr val="1750EB"/>
                </a:solidFill>
                <a:effectLst/>
                <a:latin typeface="JetBrains Mono"/>
              </a:rPr>
              <a:t>60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filter_scores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.append(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score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zh-CN" altLang="zh-CN" sz="1400" dirty="0">
                <a:solidFill>
                  <a:srgbClr val="000080"/>
                </a:solidFill>
                <a:effectLst/>
                <a:latin typeface="JetBrains Mono"/>
              </a:rPr>
              <a:t>sum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filter_scores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 / </a:t>
            </a:r>
            <a:r>
              <a:rPr lang="zh-CN" altLang="zh-CN" sz="1400" dirty="0">
                <a:solidFill>
                  <a:srgbClr val="000080"/>
                </a:solidFill>
                <a:effectLst/>
                <a:latin typeface="JetBrains Mono"/>
              </a:rPr>
              <a:t>len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filter_scores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</a:p>
          <a:p>
            <a:pPr>
              <a:buNone/>
            </a:pPr>
            <a:br>
              <a:rPr lang="zh-CN" altLang="zh-CN" sz="1400" dirty="0">
                <a:solidFill>
                  <a:srgbClr val="1750EB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def </a:t>
            </a:r>
            <a:r>
              <a:rPr lang="zh-CN" altLang="zh-CN" sz="1400" dirty="0">
                <a:solidFill>
                  <a:srgbClr val="00627A"/>
                </a:solidFill>
                <a:effectLst/>
                <a:latin typeface="JetBrains Mono"/>
              </a:rPr>
              <a:t>evaluate_team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path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zh-CN" altLang="zh-CN" sz="1400" i="1" dirty="0">
                <a:solidFill>
                  <a:srgbClr val="8C8C8C"/>
                </a:solidFill>
                <a:effectLst/>
                <a:latin typeface="JetBrains Mono"/>
              </a:rPr>
              <a:t>"""Evaluate a team using normalized scores and remove the lowest score."""</a:t>
            </a:r>
            <a:br>
              <a:rPr lang="zh-CN" altLang="zh-CN" sz="14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zh-CN" altLang="zh-CN" sz="1400" i="1" dirty="0"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scores 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= load_scores(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path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normalized 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= [normalize_score(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s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s </a:t>
            </a: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scores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zh-CN" altLang="zh-CN" sz="1400" dirty="0">
                <a:solidFill>
                  <a:srgbClr val="000080"/>
                </a:solidFill>
                <a:effectLst/>
                <a:latin typeface="JetBrains Mono"/>
              </a:rPr>
              <a:t>len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normalized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 &gt; </a:t>
            </a:r>
            <a:r>
              <a:rPr lang="zh-CN" altLang="zh-CN" sz="14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normalized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.remove(</a:t>
            </a:r>
            <a:r>
              <a:rPr lang="zh-CN" altLang="zh-CN" sz="1400" dirty="0">
                <a:solidFill>
                  <a:srgbClr val="000080"/>
                </a:solidFill>
                <a:effectLst/>
                <a:latin typeface="JetBrains Mono"/>
              </a:rPr>
              <a:t>min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normalized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))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zh-CN" altLang="zh-CN" sz="1400" dirty="0">
                <a:solidFill>
                  <a:srgbClr val="000080"/>
                </a:solidFill>
                <a:effectLst/>
                <a:latin typeface="JetBrains Mono"/>
              </a:rPr>
              <a:t>sum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normalized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 / </a:t>
            </a:r>
            <a:r>
              <a:rPr lang="zh-CN" altLang="zh-CN" sz="1400" dirty="0">
                <a:solidFill>
                  <a:srgbClr val="000080"/>
                </a:solidFill>
                <a:effectLst/>
                <a:latin typeface="JetBrains Mono"/>
              </a:rPr>
              <a:t>len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normalized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7B37694-8A4E-0C28-3916-5250092261C1}"/>
              </a:ext>
            </a:extLst>
          </p:cNvPr>
          <p:cNvSpPr/>
          <p:nvPr/>
        </p:nvSpPr>
        <p:spPr>
          <a:xfrm>
            <a:off x="501445" y="108154"/>
            <a:ext cx="3470787" cy="1769806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B8E32D3-4B33-00BA-9C55-242A3F136439}"/>
              </a:ext>
            </a:extLst>
          </p:cNvPr>
          <p:cNvSpPr/>
          <p:nvPr/>
        </p:nvSpPr>
        <p:spPr>
          <a:xfrm>
            <a:off x="501445" y="1991032"/>
            <a:ext cx="4748981" cy="2066924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9286AE34-0A6D-1A76-CE0A-3E933E1CC279}"/>
              </a:ext>
            </a:extLst>
          </p:cNvPr>
          <p:cNvSpPr/>
          <p:nvPr/>
        </p:nvSpPr>
        <p:spPr>
          <a:xfrm>
            <a:off x="4031225" y="786579"/>
            <a:ext cx="373626" cy="2064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BE9DC8A-5441-B64C-1568-DC4E09C73F0D}"/>
              </a:ext>
            </a:extLst>
          </p:cNvPr>
          <p:cNvSpPr txBox="1"/>
          <p:nvPr/>
        </p:nvSpPr>
        <p:spPr>
          <a:xfrm>
            <a:off x="4404851" y="70515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依赖项</a:t>
            </a:r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0100298F-C060-0F7B-B071-64348F94A6F8}"/>
              </a:ext>
            </a:extLst>
          </p:cNvPr>
          <p:cNvSpPr/>
          <p:nvPr/>
        </p:nvSpPr>
        <p:spPr>
          <a:xfrm>
            <a:off x="5309419" y="2443315"/>
            <a:ext cx="373626" cy="2064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00898FC-4222-B7B5-BC94-AE6F62BBB2D9}"/>
              </a:ext>
            </a:extLst>
          </p:cNvPr>
          <p:cNvSpPr txBox="1"/>
          <p:nvPr/>
        </p:nvSpPr>
        <p:spPr>
          <a:xfrm>
            <a:off x="5683045" y="235205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相似项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55F4619-CB15-68BC-7B1E-ED878BAE7250}"/>
              </a:ext>
            </a:extLst>
          </p:cNvPr>
          <p:cNvSpPr/>
          <p:nvPr/>
        </p:nvSpPr>
        <p:spPr>
          <a:xfrm>
            <a:off x="501445" y="4139383"/>
            <a:ext cx="5742039" cy="1995258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2822FDC1-D372-C7DA-2F47-E7E78D44C7F6}"/>
              </a:ext>
            </a:extLst>
          </p:cNvPr>
          <p:cNvSpPr/>
          <p:nvPr/>
        </p:nvSpPr>
        <p:spPr>
          <a:xfrm rot="5400000">
            <a:off x="3074080" y="6268491"/>
            <a:ext cx="373626" cy="2064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A3B6835-9B21-DEC5-246D-D4B6F312D7BA}"/>
              </a:ext>
            </a:extLst>
          </p:cNvPr>
          <p:cNvSpPr txBox="1"/>
          <p:nvPr/>
        </p:nvSpPr>
        <p:spPr>
          <a:xfrm>
            <a:off x="2706895" y="647005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目标函数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A9FAC1B-4D6D-1F05-FAE0-F4D5ED664677}"/>
              </a:ext>
            </a:extLst>
          </p:cNvPr>
          <p:cNvSpPr txBox="1"/>
          <p:nvPr/>
        </p:nvSpPr>
        <p:spPr>
          <a:xfrm>
            <a:off x="6992827" y="2078564"/>
            <a:ext cx="4432257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正常开发中，对于依赖项，只需要知道他的接口就行了，也就是输入输入和功能的描述，对这部分的压缩就是使用摘要来替代</a:t>
            </a:r>
            <a:endParaRPr lang="en-US" altLang="zh-CN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相似的代码提供参考，但只有部分的又参考意义，压缩方式就是选取最相关的代码行来作为示例</a:t>
            </a:r>
          </a:p>
        </p:txBody>
      </p:sp>
    </p:spTree>
    <p:extLst>
      <p:ext uri="{BB962C8B-B14F-4D97-AF65-F5344CB8AC3E}">
        <p14:creationId xmlns:p14="http://schemas.microsoft.com/office/powerpoint/2010/main" val="937970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15E85-BE4D-17DC-D3F9-2857861A7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F5A5C5D-7F80-452E-0ADB-213D210358CC}"/>
              </a:ext>
            </a:extLst>
          </p:cNvPr>
          <p:cNvGrpSpPr/>
          <p:nvPr/>
        </p:nvGrpSpPr>
        <p:grpSpPr>
          <a:xfrm>
            <a:off x="1343220" y="1242073"/>
            <a:ext cx="5205702" cy="3748226"/>
            <a:chOff x="2479915" y="774821"/>
            <a:chExt cx="5205702" cy="3748226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4326AED-7AEF-C668-A9BF-BAA3AA5570BC}"/>
                </a:ext>
              </a:extLst>
            </p:cNvPr>
            <p:cNvSpPr/>
            <p:nvPr/>
          </p:nvSpPr>
          <p:spPr>
            <a:xfrm>
              <a:off x="5129228" y="774821"/>
              <a:ext cx="1170039" cy="46211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测试样本</a:t>
              </a:r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37681F4C-98C2-2BD9-F43A-10005AE394B2}"/>
                </a:ext>
              </a:extLst>
            </p:cNvPr>
            <p:cNvGrpSpPr/>
            <p:nvPr/>
          </p:nvGrpSpPr>
          <p:grpSpPr>
            <a:xfrm>
              <a:off x="3742880" y="1869372"/>
              <a:ext cx="3942737" cy="464574"/>
              <a:chOff x="1297857" y="2021921"/>
              <a:chExt cx="3942737" cy="464574"/>
            </a:xfrm>
          </p:grpSpPr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CB38E7A0-5D80-881D-9D4F-62CCBB85CE3F}"/>
                  </a:ext>
                </a:extLst>
              </p:cNvPr>
              <p:cNvSpPr/>
              <p:nvPr/>
            </p:nvSpPr>
            <p:spPr>
              <a:xfrm>
                <a:off x="1297857" y="2021921"/>
                <a:ext cx="1170039" cy="46211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/>
                  <a:t>依赖项</a:t>
                </a:r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30DFD8F1-4939-0C91-578A-1696EE4D161E}"/>
                  </a:ext>
                </a:extLst>
              </p:cNvPr>
              <p:cNvSpPr/>
              <p:nvPr/>
            </p:nvSpPr>
            <p:spPr>
              <a:xfrm>
                <a:off x="2684206" y="2024379"/>
                <a:ext cx="1170039" cy="46211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/>
                  <a:t>依赖项</a:t>
                </a:r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F7CCBA1F-AD84-CB00-79D5-FE717CDD81F6}"/>
                  </a:ext>
                </a:extLst>
              </p:cNvPr>
              <p:cNvSpPr/>
              <p:nvPr/>
            </p:nvSpPr>
            <p:spPr>
              <a:xfrm>
                <a:off x="4070555" y="2024379"/>
                <a:ext cx="1170039" cy="46211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/>
                  <a:t>依赖项</a:t>
                </a:r>
              </a:p>
            </p:txBody>
          </p:sp>
        </p:grp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EDB4AFE4-E21E-0E47-E61D-C00C5AB37B91}"/>
                </a:ext>
              </a:extLst>
            </p:cNvPr>
            <p:cNvCxnSpPr>
              <a:cxnSpLocks/>
              <a:stCxn id="32" idx="0"/>
              <a:endCxn id="3" idx="2"/>
            </p:cNvCxnSpPr>
            <p:nvPr/>
          </p:nvCxnSpPr>
          <p:spPr>
            <a:xfrm flipV="1">
              <a:off x="4327900" y="1236937"/>
              <a:ext cx="1386348" cy="63243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2380912B-77FA-90AB-0591-8A5C4189EA24}"/>
                </a:ext>
              </a:extLst>
            </p:cNvPr>
            <p:cNvCxnSpPr>
              <a:cxnSpLocks/>
              <a:stCxn id="33" idx="0"/>
              <a:endCxn id="3" idx="2"/>
            </p:cNvCxnSpPr>
            <p:nvPr/>
          </p:nvCxnSpPr>
          <p:spPr>
            <a:xfrm flipH="1" flipV="1">
              <a:off x="5714248" y="1236937"/>
              <a:ext cx="1" cy="6348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0D291EBE-0B7C-6F40-7969-677AA6FBD2B0}"/>
                </a:ext>
              </a:extLst>
            </p:cNvPr>
            <p:cNvCxnSpPr>
              <a:cxnSpLocks/>
              <a:stCxn id="34" idx="0"/>
              <a:endCxn id="3" idx="2"/>
            </p:cNvCxnSpPr>
            <p:nvPr/>
          </p:nvCxnSpPr>
          <p:spPr>
            <a:xfrm flipH="1" flipV="1">
              <a:off x="5714248" y="1236937"/>
              <a:ext cx="1386350" cy="6348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9F3DE7A-F162-DCD6-A6E3-A7088A3010D4}"/>
                </a:ext>
              </a:extLst>
            </p:cNvPr>
            <p:cNvSpPr txBox="1"/>
            <p:nvPr/>
          </p:nvSpPr>
          <p:spPr>
            <a:xfrm>
              <a:off x="5401021" y="1396300"/>
              <a:ext cx="64633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生成</a:t>
              </a: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100C1D16-C612-1D7E-57DB-43E365DD9AFA}"/>
                </a:ext>
              </a:extLst>
            </p:cNvPr>
            <p:cNvGrpSpPr/>
            <p:nvPr/>
          </p:nvGrpSpPr>
          <p:grpSpPr>
            <a:xfrm>
              <a:off x="3106241" y="2966381"/>
              <a:ext cx="2443315" cy="462116"/>
              <a:chOff x="825910" y="2700873"/>
              <a:chExt cx="2443315" cy="462116"/>
            </a:xfrm>
          </p:grpSpPr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89F555FE-20B2-EBF1-556F-E22098B2E708}"/>
                  </a:ext>
                </a:extLst>
              </p:cNvPr>
              <p:cNvSpPr/>
              <p:nvPr/>
            </p:nvSpPr>
            <p:spPr>
              <a:xfrm>
                <a:off x="825910" y="2700873"/>
                <a:ext cx="1170039" cy="46211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/>
                  <a:t>依赖项</a:t>
                </a:r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D3F693AB-7076-FB70-7E67-B7CE45FA271C}"/>
                  </a:ext>
                </a:extLst>
              </p:cNvPr>
              <p:cNvSpPr/>
              <p:nvPr/>
            </p:nvSpPr>
            <p:spPr>
              <a:xfrm>
                <a:off x="2099186" y="2700873"/>
                <a:ext cx="1170039" cy="46211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/>
                  <a:t>依赖项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F40449B1-EF75-9431-7258-7509F725BBAD}"/>
                </a:ext>
              </a:extLst>
            </p:cNvPr>
            <p:cNvGrpSpPr/>
            <p:nvPr/>
          </p:nvGrpSpPr>
          <p:grpSpPr>
            <a:xfrm>
              <a:off x="2479915" y="4060931"/>
              <a:ext cx="2525930" cy="462116"/>
              <a:chOff x="592179" y="3683248"/>
              <a:chExt cx="2525930" cy="462116"/>
            </a:xfrm>
          </p:grpSpPr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D12F1E5D-B668-353B-9AEA-50AD7931F06B}"/>
                  </a:ext>
                </a:extLst>
              </p:cNvPr>
              <p:cNvSpPr/>
              <p:nvPr/>
            </p:nvSpPr>
            <p:spPr>
              <a:xfrm>
                <a:off x="592179" y="3683248"/>
                <a:ext cx="1170039" cy="46211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/>
                  <a:t>依赖项</a:t>
                </a:r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0DCE0F77-844C-82AD-CCAB-A5416510FE09}"/>
                  </a:ext>
                </a:extLst>
              </p:cNvPr>
              <p:cNvSpPr/>
              <p:nvPr/>
            </p:nvSpPr>
            <p:spPr>
              <a:xfrm>
                <a:off x="1948070" y="3683248"/>
                <a:ext cx="1170039" cy="46211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/>
                  <a:t>依赖项</a:t>
                </a:r>
              </a:p>
            </p:txBody>
          </p:sp>
        </p:grp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E693352F-29C7-E822-92D1-B6B3E75C3275}"/>
                </a:ext>
              </a:extLst>
            </p:cNvPr>
            <p:cNvCxnSpPr>
              <a:cxnSpLocks/>
              <a:stCxn id="30" idx="0"/>
              <a:endCxn id="32" idx="2"/>
            </p:cNvCxnSpPr>
            <p:nvPr/>
          </p:nvCxnSpPr>
          <p:spPr>
            <a:xfrm flipV="1">
              <a:off x="3691261" y="2331488"/>
              <a:ext cx="636639" cy="6348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15BC05E9-C1F3-CDD7-BD6F-36ECA0EB265A}"/>
                </a:ext>
              </a:extLst>
            </p:cNvPr>
            <p:cNvCxnSpPr>
              <a:cxnSpLocks/>
              <a:stCxn id="31" idx="0"/>
              <a:endCxn id="32" idx="2"/>
            </p:cNvCxnSpPr>
            <p:nvPr/>
          </p:nvCxnSpPr>
          <p:spPr>
            <a:xfrm flipH="1" flipV="1">
              <a:off x="4327900" y="2331488"/>
              <a:ext cx="636637" cy="6348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287A49D6-56D7-C695-C2E5-D0D8C04CEB0B}"/>
                </a:ext>
              </a:extLst>
            </p:cNvPr>
            <p:cNvCxnSpPr>
              <a:cxnSpLocks/>
              <a:stCxn id="25" idx="0"/>
              <a:endCxn id="30" idx="2"/>
            </p:cNvCxnSpPr>
            <p:nvPr/>
          </p:nvCxnSpPr>
          <p:spPr>
            <a:xfrm flipV="1">
              <a:off x="3064935" y="3428497"/>
              <a:ext cx="626326" cy="63243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651FE67C-35E3-738C-82EB-9C8CD7591D78}"/>
                </a:ext>
              </a:extLst>
            </p:cNvPr>
            <p:cNvCxnSpPr>
              <a:cxnSpLocks/>
              <a:stCxn id="27" idx="0"/>
              <a:endCxn id="30" idx="2"/>
            </p:cNvCxnSpPr>
            <p:nvPr/>
          </p:nvCxnSpPr>
          <p:spPr>
            <a:xfrm flipH="1" flipV="1">
              <a:off x="3691261" y="3428497"/>
              <a:ext cx="729565" cy="63243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EAACB77-5953-C572-0F9E-68F7EC035C18}"/>
                </a:ext>
              </a:extLst>
            </p:cNvPr>
            <p:cNvSpPr txBox="1"/>
            <p:nvPr/>
          </p:nvSpPr>
          <p:spPr>
            <a:xfrm>
              <a:off x="3389057" y="3598815"/>
              <a:ext cx="64633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摘要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6D00D519-8464-DCD7-DB67-CEA1E710DCB7}"/>
                </a:ext>
              </a:extLst>
            </p:cNvPr>
            <p:cNvSpPr txBox="1"/>
            <p:nvPr/>
          </p:nvSpPr>
          <p:spPr>
            <a:xfrm>
              <a:off x="3978925" y="2499468"/>
              <a:ext cx="64633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摘要</a:t>
              </a:r>
            </a:p>
          </p:txBody>
        </p:sp>
      </p:grpSp>
      <p:sp>
        <p:nvSpPr>
          <p:cNvPr id="37" name="箭头: 右 36">
            <a:extLst>
              <a:ext uri="{FF2B5EF4-FFF2-40B4-BE49-F238E27FC236}">
                <a16:creationId xmlns:a16="http://schemas.microsoft.com/office/drawing/2014/main" id="{BA63E252-E640-EC5C-5AF6-42B225647A5A}"/>
              </a:ext>
            </a:extLst>
          </p:cNvPr>
          <p:cNvSpPr/>
          <p:nvPr/>
        </p:nvSpPr>
        <p:spPr>
          <a:xfrm>
            <a:off x="4604282" y="3561452"/>
            <a:ext cx="373626" cy="2064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09E1373-0AF3-50DE-B49B-BE1556BA7CD2}"/>
              </a:ext>
            </a:extLst>
          </p:cNvPr>
          <p:cNvSpPr txBox="1"/>
          <p:nvPr/>
        </p:nvSpPr>
        <p:spPr>
          <a:xfrm>
            <a:off x="5126735" y="3357140"/>
            <a:ext cx="6474849" cy="14311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dirty="0"/>
              <a:t>提示词将生成分为两类：</a:t>
            </a:r>
            <a:endParaRPr lang="en-US" altLang="zh-CN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/>
              <a:t>如果源码足够简单并且功能明确，就保留源码，不进行压缩</a:t>
            </a:r>
            <a:endParaRPr lang="en-US" altLang="zh-CN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/>
              <a:t>代码庞大且复杂，就对其就行摘要压缩</a:t>
            </a:r>
            <a:endParaRPr lang="en-US" altLang="zh-CN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/>
              <a:t>生成可以用参数量较小的模型就行预生成</a:t>
            </a:r>
          </a:p>
        </p:txBody>
      </p:sp>
    </p:spTree>
    <p:extLst>
      <p:ext uri="{BB962C8B-B14F-4D97-AF65-F5344CB8AC3E}">
        <p14:creationId xmlns:p14="http://schemas.microsoft.com/office/powerpoint/2010/main" val="400889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50DA5-4706-F616-E687-A7AFF9B84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>
            <a:extLst>
              <a:ext uri="{FF2B5EF4-FFF2-40B4-BE49-F238E27FC236}">
                <a16:creationId xmlns:a16="http://schemas.microsoft.com/office/drawing/2014/main" id="{0A0BFBD9-E846-3C6A-CA7C-E3EF283DEEBF}"/>
              </a:ext>
            </a:extLst>
          </p:cNvPr>
          <p:cNvSpPr txBox="1"/>
          <p:nvPr/>
        </p:nvSpPr>
        <p:spPr>
          <a:xfrm>
            <a:off x="580102" y="1452703"/>
            <a:ext cx="5860026" cy="41857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def </a:t>
            </a:r>
            <a:r>
              <a:rPr lang="zh-CN" altLang="zh-CN" sz="1400" dirty="0">
                <a:solidFill>
                  <a:srgbClr val="00627A"/>
                </a:solidFill>
                <a:effectLst/>
                <a:latin typeface="JetBrains Mono"/>
              </a:rPr>
              <a:t>evaluate_student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path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zh-CN" altLang="zh-CN" sz="1400" i="1" dirty="0">
                <a:solidFill>
                  <a:srgbClr val="8C8C8C"/>
                </a:solidFill>
                <a:effectLst/>
                <a:latin typeface="JetBrains Mono"/>
              </a:rPr>
              <a:t>"""Evaluate a student using the average normalized score."""</a:t>
            </a:r>
            <a:br>
              <a:rPr lang="zh-CN" altLang="zh-CN" sz="14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zh-CN" altLang="zh-CN" sz="1400" i="1" dirty="0"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scores 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= load_scores(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path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normalized 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= [normalize_score(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s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s </a:t>
            </a: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scores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filter_scores 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= []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score </a:t>
            </a: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normalized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score 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&gt;- </a:t>
            </a:r>
            <a:r>
              <a:rPr lang="zh-CN" altLang="zh-CN" sz="1400" dirty="0">
                <a:solidFill>
                  <a:srgbClr val="1750EB"/>
                </a:solidFill>
                <a:effectLst/>
                <a:latin typeface="JetBrains Mono"/>
              </a:rPr>
              <a:t>60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filter_scores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.append(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score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zh-CN" altLang="zh-CN" sz="1400" dirty="0">
                <a:solidFill>
                  <a:srgbClr val="000080"/>
                </a:solidFill>
                <a:effectLst/>
                <a:latin typeface="JetBrains Mono"/>
              </a:rPr>
              <a:t>sum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filter_scores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 / </a:t>
            </a:r>
            <a:r>
              <a:rPr lang="zh-CN" altLang="zh-CN" sz="1400" dirty="0">
                <a:solidFill>
                  <a:srgbClr val="000080"/>
                </a:solidFill>
                <a:effectLst/>
                <a:latin typeface="JetBrains Mono"/>
              </a:rPr>
              <a:t>len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filter_scores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</a:p>
          <a:p>
            <a:pPr>
              <a:buNone/>
            </a:pPr>
            <a:br>
              <a:rPr lang="zh-CN" altLang="zh-CN" sz="1400" dirty="0">
                <a:solidFill>
                  <a:srgbClr val="1750EB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def </a:t>
            </a:r>
            <a:r>
              <a:rPr lang="zh-CN" altLang="zh-CN" sz="1400" dirty="0">
                <a:solidFill>
                  <a:srgbClr val="00627A"/>
                </a:solidFill>
                <a:effectLst/>
                <a:latin typeface="JetBrains Mono"/>
              </a:rPr>
              <a:t>evaluate_team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path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zh-CN" altLang="zh-CN" sz="1400" i="1" dirty="0">
                <a:solidFill>
                  <a:srgbClr val="8C8C8C"/>
                </a:solidFill>
                <a:effectLst/>
                <a:latin typeface="JetBrains Mono"/>
              </a:rPr>
              <a:t>"""Evaluate a team using normalized scores and remove the lowest score."""</a:t>
            </a:r>
            <a:br>
              <a:rPr lang="zh-CN" altLang="zh-CN" sz="14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zh-CN" altLang="zh-CN" sz="1400" i="1" dirty="0"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scores 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= load_scores(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path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normalized 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= [normalize_score(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s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s </a:t>
            </a: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scores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zh-CN" altLang="zh-CN" sz="1400" dirty="0">
                <a:solidFill>
                  <a:srgbClr val="000080"/>
                </a:solidFill>
                <a:effectLst/>
                <a:latin typeface="JetBrains Mono"/>
              </a:rPr>
              <a:t>len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normalized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 &gt; </a:t>
            </a:r>
            <a:r>
              <a:rPr lang="zh-CN" altLang="zh-CN" sz="14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normalized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.remove(</a:t>
            </a:r>
            <a:r>
              <a:rPr lang="zh-CN" altLang="zh-CN" sz="1400" dirty="0">
                <a:solidFill>
                  <a:srgbClr val="000080"/>
                </a:solidFill>
                <a:effectLst/>
                <a:latin typeface="JetBrains Mono"/>
              </a:rPr>
              <a:t>min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normalized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))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zh-CN" altLang="zh-CN" sz="1400" dirty="0">
                <a:solidFill>
                  <a:srgbClr val="000080"/>
                </a:solidFill>
                <a:effectLst/>
                <a:latin typeface="JetBrains Mono"/>
              </a:rPr>
              <a:t>sum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normalized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 / </a:t>
            </a:r>
            <a:r>
              <a:rPr lang="zh-CN" altLang="zh-CN" sz="1400" dirty="0">
                <a:solidFill>
                  <a:srgbClr val="000080"/>
                </a:solidFill>
                <a:effectLst/>
                <a:latin typeface="JetBrains Mono"/>
              </a:rPr>
              <a:t>len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normalized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961DF18-8663-9923-7FA0-96EE8EE8FBF5}"/>
              </a:ext>
            </a:extLst>
          </p:cNvPr>
          <p:cNvSpPr txBox="1"/>
          <p:nvPr/>
        </p:nvSpPr>
        <p:spPr>
          <a:xfrm>
            <a:off x="6676104" y="2305088"/>
            <a:ext cx="517176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/>
              <a:t>相似项每行与</a:t>
            </a:r>
            <a:r>
              <a:rPr lang="en-US" altLang="zh-CN" dirty="0"/>
              <a:t>Oracle</a:t>
            </a:r>
            <a:r>
              <a:rPr lang="zh-CN" altLang="en-US" dirty="0"/>
              <a:t>逐行计算相似度，保留最大值最为相似值，值大于某个阈值就保留</a:t>
            </a:r>
            <a:endParaRPr lang="en-US" altLang="zh-CN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/>
              <a:t>后续，构造数据集，通过训练的方式得到一个模型，在推理时用模型作为代理来筛选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DE31B7B-50F3-6EC6-8E2A-B949B3AB9583}"/>
              </a:ext>
            </a:extLst>
          </p:cNvPr>
          <p:cNvSpPr/>
          <p:nvPr/>
        </p:nvSpPr>
        <p:spPr>
          <a:xfrm>
            <a:off x="757085" y="1936955"/>
            <a:ext cx="3736258" cy="22614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082C00C-1420-6E57-415C-2B70669BD734}"/>
              </a:ext>
            </a:extLst>
          </p:cNvPr>
          <p:cNvSpPr/>
          <p:nvPr/>
        </p:nvSpPr>
        <p:spPr>
          <a:xfrm>
            <a:off x="757085" y="4099559"/>
            <a:ext cx="3736258" cy="16518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B906B63-50CD-02FC-A3A1-C55C2F8719A8}"/>
              </a:ext>
            </a:extLst>
          </p:cNvPr>
          <p:cNvSpPr/>
          <p:nvPr/>
        </p:nvSpPr>
        <p:spPr>
          <a:xfrm>
            <a:off x="757085" y="4310461"/>
            <a:ext cx="3736258" cy="165183"/>
          </a:xfrm>
          <a:prstGeom prst="rect">
            <a:avLst/>
          </a:prstGeom>
          <a:noFill/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585104B-AF7A-B640-C888-6AA8EDEF7DED}"/>
              </a:ext>
            </a:extLst>
          </p:cNvPr>
          <p:cNvSpPr/>
          <p:nvPr/>
        </p:nvSpPr>
        <p:spPr>
          <a:xfrm>
            <a:off x="757085" y="2183417"/>
            <a:ext cx="3736258" cy="165183"/>
          </a:xfrm>
          <a:prstGeom prst="rect">
            <a:avLst/>
          </a:prstGeom>
          <a:noFill/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D52031A-D056-D09C-64D1-376405311755}"/>
              </a:ext>
            </a:extLst>
          </p:cNvPr>
          <p:cNvSpPr/>
          <p:nvPr/>
        </p:nvSpPr>
        <p:spPr>
          <a:xfrm>
            <a:off x="757085" y="3238417"/>
            <a:ext cx="3736258" cy="165183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680A39D-C9B2-BE4E-EDAE-BF88591A3819}"/>
              </a:ext>
            </a:extLst>
          </p:cNvPr>
          <p:cNvSpPr/>
          <p:nvPr/>
        </p:nvSpPr>
        <p:spPr>
          <a:xfrm>
            <a:off x="757085" y="5385609"/>
            <a:ext cx="3736258" cy="165183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889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1E1DE-36CF-A21E-72E5-89351FA90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D24EDDD-BB2E-E612-6A85-CB687F25CB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269168"/>
              </p:ext>
            </p:extLst>
          </p:nvPr>
        </p:nvGraphicFramePr>
        <p:xfrm>
          <a:off x="1834286" y="1441836"/>
          <a:ext cx="8128000" cy="3865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42044213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2774671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58087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62077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pass@1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pass@3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pass@5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9953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无上下文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25.10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27.17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3451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+ </a:t>
                      </a:r>
                      <a:r>
                        <a:rPr lang="zh-CN" altLang="en-US" dirty="0"/>
                        <a:t>依赖项签名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21.87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28.43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30.83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8598889"/>
                  </a:ext>
                </a:extLst>
              </a:tr>
              <a:tr h="33874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+ </a:t>
                      </a:r>
                      <a:r>
                        <a:rPr lang="zh-CN" altLang="en-US" dirty="0"/>
                        <a:t>依赖项摘要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25.27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32.60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35.61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2391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+ </a:t>
                      </a:r>
                      <a:r>
                        <a:rPr lang="zh-CN" altLang="en-US" dirty="0"/>
                        <a:t>压缩的相似项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29.11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36.83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40.00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1431537"/>
                  </a:ext>
                </a:extLst>
              </a:tr>
              <a:tr h="35670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+ </a:t>
                      </a:r>
                      <a:r>
                        <a:rPr lang="zh-CN" altLang="en-US" dirty="0"/>
                        <a:t>压缩的相似项</a:t>
                      </a:r>
                      <a:endParaRPr lang="en-US" altLang="zh-CN" dirty="0"/>
                    </a:p>
                    <a:p>
                      <a:pPr algn="ctr"/>
                      <a:r>
                        <a:rPr lang="en-US" altLang="zh-CN" dirty="0"/>
                        <a:t>+ </a:t>
                      </a:r>
                      <a:r>
                        <a:rPr lang="zh-CN" altLang="en-US" dirty="0"/>
                        <a:t>依赖项摘要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29.64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38.31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41.59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7233655"/>
                  </a:ext>
                </a:extLst>
              </a:tr>
              <a:tr h="35670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+ </a:t>
                      </a:r>
                      <a:r>
                        <a:rPr lang="zh-CN" altLang="en-US" dirty="0"/>
                        <a:t>压缩的相似项</a:t>
                      </a:r>
                      <a:endParaRPr lang="en-US" altLang="zh-CN" dirty="0"/>
                    </a:p>
                    <a:p>
                      <a:pPr algn="ctr"/>
                      <a:r>
                        <a:rPr lang="en-US" altLang="zh-CN" dirty="0"/>
                        <a:t>+</a:t>
                      </a:r>
                      <a:r>
                        <a:rPr lang="zh-CN" altLang="en-US" dirty="0"/>
                        <a:t>压缩的依赖项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29.65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37.34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40.20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7415478"/>
                  </a:ext>
                </a:extLst>
              </a:tr>
              <a:tr h="35670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CodePromptZip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28.01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35.58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38.27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674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完整代码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33.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</a:t>
                      </a:r>
                      <a:endParaRPr lang="zh-CN" altLang="zh-CN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41.74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44.85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3287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3472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1672</Words>
  <Application>Microsoft Office PowerPoint</Application>
  <PresentationFormat>宽屏</PresentationFormat>
  <Paragraphs>64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JetBrains Mono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盈钢 邱</dc:creator>
  <cp:lastModifiedBy>盈钢 邱</cp:lastModifiedBy>
  <cp:revision>8</cp:revision>
  <dcterms:created xsi:type="dcterms:W3CDTF">2026-09-21T07:04:48Z</dcterms:created>
  <dcterms:modified xsi:type="dcterms:W3CDTF">2026-09-21T14:20:02Z</dcterms:modified>
</cp:coreProperties>
</file>