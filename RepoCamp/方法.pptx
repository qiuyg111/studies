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B7D23"/>
    <a:srgbClr val="156082"/>
    <a:srgbClr val="8ED973"/>
    <a:srgbClr val="C04F15"/>
    <a:srgbClr val="215F9A"/>
    <a:srgbClr val="74C4E9"/>
    <a:srgbClr val="FFC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3C04B-00B1-5773-E5FD-5BABA865B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241108-46BB-39F8-20C6-920049EEA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830FB7-DE9D-B9CB-205A-13480A60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B3608-EB8D-C8EF-539B-B7CEB76D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5B745E-BFF7-21A3-E42E-822C4DDD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5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18C10-A61F-CB53-6666-8A822C1A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FACDAD-0CCA-3F21-D237-9C5EC6F51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202533-86A1-449F-7203-7A26A74F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BE376D-B1D7-0DAC-AC0D-859172F9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EC76F-DC1A-F395-15BE-901F7FAE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80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B83DE-0E5D-4745-4BCB-0A45ED80A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1F1A74-8138-1C68-F1C5-C0E0B2622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5AD99-F695-9D98-1213-4D6114BAA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BA7A0C-854B-C21D-F2DF-0D245976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D0AF4-1740-11DD-EDDF-93CE3BF1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25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0E4BB-113F-047E-242A-0D69A2F9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41E5B-E986-2058-FC63-0C51B56A1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776E91-5743-BC37-C84F-166860AFA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B3021B-4CA4-4380-5364-F85E48B1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383BE3-B3A6-2292-F45E-CEFA4197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30115E-AB3F-6DC5-216B-2C73D80E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01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256CC-7AB7-995D-0B70-4FE9B2FD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00565-BE91-2B3F-85FF-57560C44B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305030-83DE-2255-87A3-83DBE43A6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1442C8-6BB1-98EB-EB2F-156347F52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903002-4221-FE48-BCD3-0FEA2C729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546A2C-B89C-6379-DCB8-92D74556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79BDCD-2225-6585-1C72-69A7903A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2ABD1A-492A-A686-9C69-9B23A6ED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53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DE9953-B058-21AC-674D-408BD2AE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26B198-8F63-337D-FCA8-65F5E4952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6F0191-0D6F-E6B1-6614-37F484AA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D6EA1-56E5-C527-057D-1FBF95AA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67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7F6F10-099E-D150-CD6A-F966BE33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4366E9-CE88-B238-E6C5-44D0F3F5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027014-62CC-A4A1-19F3-60046A7A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3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A19B4-44E4-0B58-7E15-BC762BE9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283B4F-8887-A58D-39B2-053E148BE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7A4985-92B8-5F6F-69AC-9E6106B51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9CC3BC-3F54-2103-ACC8-D028B6E6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46E4D1-9B13-2BDF-E12B-4D1D69E2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653406-18D6-0FB9-A6DB-5144C072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43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C8837-FAA6-098F-CDD3-070F5A423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1B59F8-8423-7DF4-8CBF-1E2A8ED1A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00938C-9B90-77B3-C07D-F68590027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E33047-FCA5-68FE-E1CE-D4195382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5296CF-524F-E888-126E-4E88930E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8A8401-EC6A-2080-11B8-E17D6621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09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F7BBB-6206-9736-1165-0D8AA7B2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2AD91F-0282-8ACD-3B4A-B4E22F3F1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EA3A16-0B86-A2AD-8F8B-AAA71BE3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39227E-0209-E6C1-F0D8-02861555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A951F2-C97E-9614-4F7E-36FC3EEF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86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3AB435-5441-1CA0-4996-4897A337C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10A08A-77BB-C744-3081-8718FEB7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B64249-0F7D-4BA9-6986-E702785E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FE5152-AD52-B24B-E7CC-9DF2A9DD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E4CB4-BDDE-9068-6AE4-ECA3FE3C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42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00BA36-093B-6AF9-2042-2AFBBEF38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6AEFCB-5ABC-49E8-A167-6E483D8D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D1570F-352D-4C4A-44C2-F6A0F47EB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74764-1E09-4FB6-838E-4FD649C875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ACE69-E33E-E731-560C-7C813B9E2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34D886-A598-4E2A-5E62-75C44F98B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69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5163F86-3021-1E05-A5F8-A521313E30A4}"/>
              </a:ext>
            </a:extLst>
          </p:cNvPr>
          <p:cNvGrpSpPr/>
          <p:nvPr/>
        </p:nvGrpSpPr>
        <p:grpSpPr>
          <a:xfrm>
            <a:off x="346173" y="1181472"/>
            <a:ext cx="10612207" cy="3279360"/>
            <a:chOff x="346173" y="1181472"/>
            <a:chExt cx="10612207" cy="327936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36208B3-691C-9682-8749-F22491B03F9D}"/>
                </a:ext>
              </a:extLst>
            </p:cNvPr>
            <p:cNvGrpSpPr/>
            <p:nvPr/>
          </p:nvGrpSpPr>
          <p:grpSpPr>
            <a:xfrm>
              <a:off x="4144211" y="1528417"/>
              <a:ext cx="1166088" cy="1066078"/>
              <a:chOff x="4744325" y="1867337"/>
              <a:chExt cx="1166088" cy="1066078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1DBE9623-BFE3-524C-A9A0-A905B7B2EC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48992" y="1867337"/>
                <a:ext cx="756755" cy="756755"/>
              </a:xfrm>
              <a:prstGeom prst="rect">
                <a:avLst/>
              </a:prstGeom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495F104-B0B5-1E23-0AF4-6BCE8116DC9E}"/>
                  </a:ext>
                </a:extLst>
              </p:cNvPr>
              <p:cNvSpPr txBox="1"/>
              <p:nvPr/>
            </p:nvSpPr>
            <p:spPr>
              <a:xfrm>
                <a:off x="4744325" y="2625638"/>
                <a:ext cx="1166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Repository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A63EAB9-5566-FAD5-7E07-9CC0A1D5C82E}"/>
                </a:ext>
              </a:extLst>
            </p:cNvPr>
            <p:cNvSpPr txBox="1"/>
            <p:nvPr/>
          </p:nvSpPr>
          <p:spPr>
            <a:xfrm>
              <a:off x="3248911" y="1644852"/>
              <a:ext cx="11486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15F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</a:t>
              </a:r>
              <a:r>
                <a:rPr lang="en-US" altLang="zh-CN" sz="1400" b="1" dirty="0">
                  <a:solidFill>
                    <a:srgbClr val="215F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Retrieval</a:t>
              </a:r>
              <a:endParaRPr lang="zh-CN" altLang="en-US" sz="1400" b="1" dirty="0">
                <a:solidFill>
                  <a:srgbClr val="215F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42E52721-F1D2-B8A0-BF50-454D95A8EAEC}"/>
                </a:ext>
              </a:extLst>
            </p:cNvPr>
            <p:cNvGrpSpPr/>
            <p:nvPr/>
          </p:nvGrpSpPr>
          <p:grpSpPr>
            <a:xfrm>
              <a:off x="348122" y="1273857"/>
              <a:ext cx="2958956" cy="1260249"/>
              <a:chOff x="252787" y="1210603"/>
              <a:chExt cx="2958956" cy="1260249"/>
            </a:xfrm>
          </p:grpSpPr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D5D2D73-2871-593B-FE97-2581DFABC7E9}"/>
                  </a:ext>
                </a:extLst>
              </p:cNvPr>
              <p:cNvSpPr txBox="1"/>
              <p:nvPr/>
            </p:nvSpPr>
            <p:spPr>
              <a:xfrm>
                <a:off x="252787" y="1210603"/>
                <a:ext cx="2958956" cy="987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90000" tIns="46800" rIns="90000" bIns="46800">
                <a:spAutoFit/>
              </a:bodyPr>
              <a:lstStyle/>
              <a:p>
                <a:r>
                  <a:rPr lang="zh-CN" altLang="zh-CN" sz="1400" dirty="0">
                    <a:solidFill>
                      <a:srgbClr val="0033B3"/>
                    </a:solidFill>
                    <a:effectLst/>
                    <a:latin typeface="JetBrains Mono"/>
                  </a:rPr>
                  <a:t>def </a:t>
                </a:r>
                <a:r>
                  <a:rPr lang="zh-CN" altLang="zh-CN" sz="1400" dirty="0">
                    <a:solidFill>
                      <a:srgbClr val="080808"/>
                    </a:solidFill>
                    <a:effectLst/>
                    <a:latin typeface="JetBrains Mono"/>
                  </a:rPr>
                  <a:t>get_dropbox_folder_location():</a:t>
                </a:r>
                <a:endParaRPr lang="en-US" altLang="zh-CN" sz="1400" dirty="0">
                  <a:solidFill>
                    <a:srgbClr val="080808"/>
                  </a:solidFill>
                  <a:effectLst/>
                  <a:latin typeface="JetBrains Mono"/>
                </a:endParaRPr>
              </a:p>
              <a:p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"""</a:t>
                </a:r>
                <a:b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</a:b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Try to locate the Dropbox folder.</a:t>
                </a:r>
                <a:b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</a:b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Returns: </a:t>
                </a: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P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ath to the current</a:t>
                </a: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Dropbox folder</a:t>
                </a:r>
                <a:b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</a:b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"""</a:t>
                </a:r>
                <a:endParaRPr lang="zh-CN" altLang="zh-CN" sz="1100" dirty="0">
                  <a:solidFill>
                    <a:srgbClr val="080808"/>
                  </a:solidFill>
                  <a:latin typeface="JetBrains Mono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32DE951-A578-1C4A-5C4B-67C7425F9D1B}"/>
                  </a:ext>
                </a:extLst>
              </p:cNvPr>
              <p:cNvSpPr txBox="1"/>
              <p:nvPr/>
            </p:nvSpPr>
            <p:spPr>
              <a:xfrm>
                <a:off x="867267" y="2163075"/>
                <a:ext cx="152920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Target Task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35A32160-3F0B-7035-C5BB-F1B8FFCC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0305" y="3003704"/>
              <a:ext cx="1008000" cy="1008000"/>
            </a:xfrm>
            <a:prstGeom prst="rect">
              <a:avLst/>
            </a:prstGeom>
          </p:spPr>
        </p:pic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EBEEBBCA-EFDC-3ABC-6638-CDBA797DE5D9}"/>
                </a:ext>
              </a:extLst>
            </p:cNvPr>
            <p:cNvGrpSpPr/>
            <p:nvPr/>
          </p:nvGrpSpPr>
          <p:grpSpPr>
            <a:xfrm>
              <a:off x="5941133" y="1181472"/>
              <a:ext cx="3143286" cy="1543410"/>
              <a:chOff x="5941133" y="1260128"/>
              <a:chExt cx="3143286" cy="1543410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D0DCA1F-DFFF-544C-ADD4-089D03DDF9C1}"/>
                  </a:ext>
                </a:extLst>
              </p:cNvPr>
              <p:cNvSpPr/>
              <p:nvPr/>
            </p:nvSpPr>
            <p:spPr>
              <a:xfrm>
                <a:off x="5968214" y="1483054"/>
                <a:ext cx="3089122" cy="164431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7DA17143-A7E6-3A52-472B-9CDED70209D0}"/>
                  </a:ext>
                </a:extLst>
              </p:cNvPr>
              <p:cNvSpPr/>
              <p:nvPr/>
            </p:nvSpPr>
            <p:spPr>
              <a:xfrm>
                <a:off x="5968214" y="1647485"/>
                <a:ext cx="3089122" cy="6819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6BE1CDF0-6D0E-9152-F4F7-B50034476FB7}"/>
                  </a:ext>
                </a:extLst>
              </p:cNvPr>
              <p:cNvGrpSpPr/>
              <p:nvPr/>
            </p:nvGrpSpPr>
            <p:grpSpPr>
              <a:xfrm>
                <a:off x="5941133" y="1260128"/>
                <a:ext cx="3143286" cy="1543410"/>
                <a:chOff x="6353794" y="1219097"/>
                <a:chExt cx="3143286" cy="1543410"/>
              </a:xfrm>
            </p:grpSpPr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4FCE078-C7A3-B0F5-0233-CE2E7BAF470B}"/>
                    </a:ext>
                  </a:extLst>
                </p:cNvPr>
                <p:cNvSpPr txBox="1"/>
                <p:nvPr/>
              </p:nvSpPr>
              <p:spPr>
                <a:xfrm>
                  <a:off x="6353794" y="1219097"/>
                  <a:ext cx="3143286" cy="12772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zh-CN" altLang="zh-CN" sz="1100" dirty="0">
                      <a:solidFill>
                        <a:srgbClr val="0033B3"/>
                      </a:solidFill>
                      <a:effectLst/>
                      <a:latin typeface="JetBrains Mono"/>
                    </a:rPr>
                    <a:t>def 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get_icloud_folder_location():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</a:t>
                  </a:r>
                  <a:r>
                    <a:rPr lang="en-US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</a:t>
                  </a: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# ...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 </a:t>
                  </a:r>
                  <a:r>
                    <a:rPr lang="zh-CN" altLang="zh-CN" sz="1100" dirty="0">
                      <a:solidFill>
                        <a:srgbClr val="0033B3"/>
                      </a:solidFill>
                      <a:effectLst/>
                      <a:latin typeface="JetBrains Mono"/>
                    </a:rPr>
                    <a:t>if not 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os.path.isdir(icloud_home):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     error(constants</a:t>
                  </a:r>
                  <a:endParaRPr lang="en-US" altLang="zh-CN" sz="1100" dirty="0">
                    <a:solidFill>
                      <a:srgbClr val="080808"/>
                    </a:solidFill>
                    <a:effectLst/>
                    <a:latin typeface="JetBrains Mono"/>
                  </a:endParaRPr>
                </a:p>
                <a:p>
                  <a:pPr>
                    <a:buNone/>
                  </a:pPr>
                  <a:r>
                    <a:rPr lang="en-US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        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.ERROR_UNABLE_TO_FIND_STORAGE.format</a:t>
                  </a:r>
                  <a:endParaRPr lang="en-US" altLang="zh-CN" sz="1100" dirty="0">
                    <a:solidFill>
                      <a:srgbClr val="080808"/>
                    </a:solidFill>
                    <a:effectLst/>
                    <a:latin typeface="JetBrains Mono"/>
                  </a:endParaRPr>
                </a:p>
                <a:p>
                  <a:pPr>
                    <a:buNone/>
                  </a:pPr>
                  <a:r>
                    <a:rPr lang="en-US" altLang="zh-CN" sz="1100" dirty="0">
                      <a:solidFill>
                        <a:srgbClr val="080808"/>
                      </a:solidFill>
                      <a:latin typeface="JetBrains Mono"/>
                    </a:rPr>
                    <a:t>           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(provider=</a:t>
                  </a:r>
                  <a:r>
                    <a:rPr lang="zh-CN" altLang="zh-CN" sz="1100" dirty="0">
                      <a:solidFill>
                        <a:srgbClr val="067D17"/>
                      </a:solidFill>
                      <a:effectLst/>
                      <a:latin typeface="JetBrains Mono"/>
                    </a:rPr>
                    <a:t>“iCloud Drive”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))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</a:t>
                  </a:r>
                  <a:r>
                    <a:rPr lang="en-US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</a:t>
                  </a:r>
                  <a:r>
                    <a:rPr lang="zh-CN" altLang="zh-CN" sz="1100" i="1" dirty="0">
                      <a:solidFill>
                        <a:srgbClr val="8C8C8C"/>
                      </a:solidFill>
                      <a:latin typeface="JetBrains Mono"/>
                    </a:rPr>
                    <a:t># ...</a:t>
                  </a:r>
                  <a:endParaRPr lang="zh-CN" altLang="en-US" sz="1200" dirty="0"/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431A02C-DD15-5207-95C9-FC7C38AFFAAD}"/>
                    </a:ext>
                  </a:extLst>
                </p:cNvPr>
                <p:cNvSpPr txBox="1"/>
                <p:nvPr/>
              </p:nvSpPr>
              <p:spPr>
                <a:xfrm>
                  <a:off x="7160836" y="2454730"/>
                  <a:ext cx="152920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Similar Code</a:t>
                  </a:r>
                  <a:endPara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FE3171A2-2529-364B-53FE-05B4911D993E}"/>
                  </a:ext>
                </a:extLst>
              </p:cNvPr>
              <p:cNvSpPr/>
              <p:nvPr/>
            </p:nvSpPr>
            <p:spPr>
              <a:xfrm>
                <a:off x="5968214" y="2329475"/>
                <a:ext cx="3089122" cy="164431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6" name="箭头: 下 115">
              <a:extLst>
                <a:ext uri="{FF2B5EF4-FFF2-40B4-BE49-F238E27FC236}">
                  <a16:creationId xmlns:a16="http://schemas.microsoft.com/office/drawing/2014/main" id="{648BFF9B-643B-EF8D-9F9F-E118C627AB92}"/>
                </a:ext>
              </a:extLst>
            </p:cNvPr>
            <p:cNvSpPr/>
            <p:nvPr/>
          </p:nvSpPr>
          <p:spPr>
            <a:xfrm rot="16200000">
              <a:off x="9464307" y="1548151"/>
              <a:ext cx="159146" cy="648000"/>
            </a:xfrm>
            <a:prstGeom prst="downArrow">
              <a:avLst>
                <a:gd name="adj1" fmla="val 50000"/>
                <a:gd name="adj2" fmla="val 73529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箭头: 下 118">
              <a:extLst>
                <a:ext uri="{FF2B5EF4-FFF2-40B4-BE49-F238E27FC236}">
                  <a16:creationId xmlns:a16="http://schemas.microsoft.com/office/drawing/2014/main" id="{85100ED9-2542-F943-2C09-A792E00B6F23}"/>
                </a:ext>
              </a:extLst>
            </p:cNvPr>
            <p:cNvSpPr/>
            <p:nvPr/>
          </p:nvSpPr>
          <p:spPr>
            <a:xfrm rot="5400000">
              <a:off x="9464307" y="1698801"/>
              <a:ext cx="159146" cy="648000"/>
            </a:xfrm>
            <a:prstGeom prst="downArrow">
              <a:avLst>
                <a:gd name="adj1" fmla="val 50000"/>
                <a:gd name="adj2" fmla="val 73529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6007FE6A-8D83-3F4A-3335-F863C5749D09}"/>
                </a:ext>
              </a:extLst>
            </p:cNvPr>
            <p:cNvSpPr txBox="1"/>
            <p:nvPr/>
          </p:nvSpPr>
          <p:spPr>
            <a:xfrm>
              <a:off x="9055190" y="1410897"/>
              <a:ext cx="97738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rgbClr val="C04F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</a:t>
              </a:r>
              <a:r>
                <a:rPr lang="en-US" altLang="zh-CN" sz="1100" b="1" dirty="0">
                  <a:solidFill>
                    <a:srgbClr val="C04F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Task-Aware Ext.</a:t>
              </a:r>
              <a:endParaRPr lang="zh-CN" altLang="en-US" sz="1100" b="1" dirty="0">
                <a:solidFill>
                  <a:srgbClr val="C04F1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箭头: 下 122">
              <a:extLst>
                <a:ext uri="{FF2B5EF4-FFF2-40B4-BE49-F238E27FC236}">
                  <a16:creationId xmlns:a16="http://schemas.microsoft.com/office/drawing/2014/main" id="{4BD10CB2-10D7-C50A-6A0C-726BFA11DBE3}"/>
                </a:ext>
              </a:extLst>
            </p:cNvPr>
            <p:cNvSpPr/>
            <p:nvPr/>
          </p:nvSpPr>
          <p:spPr>
            <a:xfrm rot="16200000">
              <a:off x="9464307" y="3218908"/>
              <a:ext cx="159146" cy="648000"/>
            </a:xfrm>
            <a:prstGeom prst="downArrow">
              <a:avLst>
                <a:gd name="adj1" fmla="val 50000"/>
                <a:gd name="adj2" fmla="val 73529"/>
              </a:avLst>
            </a:prstGeom>
            <a:solidFill>
              <a:srgbClr val="C04F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箭头: 下 124">
              <a:extLst>
                <a:ext uri="{FF2B5EF4-FFF2-40B4-BE49-F238E27FC236}">
                  <a16:creationId xmlns:a16="http://schemas.microsoft.com/office/drawing/2014/main" id="{90871475-0A8C-132B-D12D-DDC154E50A30}"/>
                </a:ext>
              </a:extLst>
            </p:cNvPr>
            <p:cNvSpPr/>
            <p:nvPr/>
          </p:nvSpPr>
          <p:spPr>
            <a:xfrm rot="5400000">
              <a:off x="9464307" y="3377178"/>
              <a:ext cx="159146" cy="648000"/>
            </a:xfrm>
            <a:prstGeom prst="downArrow">
              <a:avLst>
                <a:gd name="adj1" fmla="val 50000"/>
                <a:gd name="adj2" fmla="val 73529"/>
              </a:avLst>
            </a:prstGeom>
            <a:solidFill>
              <a:srgbClr val="C04F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6D4773E1-062E-8508-8366-D21219B56557}"/>
                </a:ext>
              </a:extLst>
            </p:cNvPr>
            <p:cNvSpPr txBox="1"/>
            <p:nvPr/>
          </p:nvSpPr>
          <p:spPr>
            <a:xfrm>
              <a:off x="9028311" y="3111961"/>
              <a:ext cx="1031138" cy="33855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rgbClr val="C04F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 </a:t>
              </a:r>
              <a:r>
                <a:rPr lang="en-US" altLang="zh-CN" sz="1100" b="1" dirty="0">
                  <a:solidFill>
                    <a:srgbClr val="C04F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Depend.-Aware Sum.</a:t>
              </a:r>
              <a:endParaRPr lang="zh-CN" altLang="en-US" sz="1100" b="1" dirty="0">
                <a:solidFill>
                  <a:srgbClr val="C04F1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F9CD3BCC-A692-5FE5-A410-064854602319}"/>
                </a:ext>
              </a:extLst>
            </p:cNvPr>
            <p:cNvSpPr txBox="1"/>
            <p:nvPr/>
          </p:nvSpPr>
          <p:spPr>
            <a:xfrm>
              <a:off x="3839800" y="3931746"/>
              <a:ext cx="1790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Generator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E6BBFF93-8B4C-A3C7-1B22-81B484870A68}"/>
                </a:ext>
              </a:extLst>
            </p:cNvPr>
            <p:cNvGrpSpPr/>
            <p:nvPr/>
          </p:nvGrpSpPr>
          <p:grpSpPr>
            <a:xfrm>
              <a:off x="346173" y="2547327"/>
              <a:ext cx="2962854" cy="1859338"/>
              <a:chOff x="252787" y="1151611"/>
              <a:chExt cx="2962854" cy="1859338"/>
            </a:xfrm>
          </p:grpSpPr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B52A722E-34E6-739C-1AFF-5D3BE7F00486}"/>
                  </a:ext>
                </a:extLst>
              </p:cNvPr>
              <p:cNvSpPr txBox="1"/>
              <p:nvPr/>
            </p:nvSpPr>
            <p:spPr>
              <a:xfrm>
                <a:off x="252787" y="1151611"/>
                <a:ext cx="2962854" cy="16026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90000" tIns="46800" rIns="90000" bIns="46800">
                <a:spAutoFit/>
              </a:bodyPr>
              <a:lstStyle/>
              <a:p>
                <a:r>
                  <a:rPr lang="zh-CN" altLang="zh-CN" sz="1400" dirty="0">
                    <a:solidFill>
                      <a:srgbClr val="0033B3"/>
                    </a:solidFill>
                    <a:latin typeface="JetBrains Mono"/>
                  </a:rPr>
                  <a:t>def </a:t>
                </a: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get_dropbox_folder_location():</a:t>
                </a:r>
                <a:b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</a:b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    </a:t>
                </a:r>
                <a:r>
                  <a:rPr lang="zh-CN" altLang="zh-CN" sz="1400" i="1" dirty="0">
                    <a:solidFill>
                      <a:srgbClr val="8C8C8C"/>
                    </a:solidFill>
                    <a:latin typeface="JetBrains Mono"/>
                  </a:rPr>
                  <a:t># ...</a:t>
                </a:r>
                <a:br>
                  <a:rPr lang="zh-CN" altLang="zh-CN" sz="1400" i="1" dirty="0">
                    <a:solidFill>
                      <a:srgbClr val="8C8C8C"/>
                    </a:solidFill>
                    <a:latin typeface="JetBrains Mono"/>
                  </a:rPr>
                </a:br>
                <a:r>
                  <a:rPr lang="zh-CN" altLang="zh-CN" sz="14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400" dirty="0">
                    <a:solidFill>
                      <a:srgbClr val="0033B3"/>
                    </a:solidFill>
                    <a:latin typeface="JetBrains Mono"/>
                  </a:rPr>
                  <a:t>if not </a:t>
                </a: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dropbox_info_path:</a:t>
                </a:r>
                <a:b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</a:b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        error(constants</a:t>
                </a:r>
                <a:endParaRPr lang="en-US" altLang="zh-CN" sz="1400" dirty="0">
                  <a:solidFill>
                    <a:srgbClr val="080808"/>
                  </a:solidFill>
                  <a:latin typeface="JetBrains Mono"/>
                </a:endParaRPr>
              </a:p>
              <a:p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.ERROR_UNABLE_TO_FIND_STORAGE</a:t>
                </a:r>
                <a:endParaRPr lang="en-US" altLang="zh-CN" sz="1400" dirty="0">
                  <a:solidFill>
                    <a:srgbClr val="080808"/>
                  </a:solidFill>
                  <a:latin typeface="JetBrains Mono"/>
                </a:endParaRPr>
              </a:p>
              <a:p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.format(provider=</a:t>
                </a:r>
                <a:r>
                  <a:rPr lang="zh-CN" altLang="zh-CN" sz="1400" dirty="0">
                    <a:solidFill>
                      <a:srgbClr val="067D17"/>
                    </a:solidFill>
                    <a:latin typeface="JetBrains Mono"/>
                  </a:rPr>
                  <a:t>"Dropbox"</a:t>
                </a: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))</a:t>
                </a:r>
                <a:endParaRPr lang="en-US" altLang="zh-CN" sz="1400" dirty="0">
                  <a:solidFill>
                    <a:srgbClr val="080808"/>
                  </a:solidFill>
                  <a:latin typeface="JetBrains Mono"/>
                </a:endParaRPr>
              </a:p>
              <a:p>
                <a:r>
                  <a:rPr lang="en-US" altLang="zh-CN" sz="1400" i="1" dirty="0">
                    <a:solidFill>
                      <a:srgbClr val="8C8C8C"/>
                    </a:solidFill>
                    <a:latin typeface="JetBrains Mono"/>
                  </a:rPr>
                  <a:t>    # …</a:t>
                </a:r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C3781BE9-102A-44EA-0AFB-FD4D2945DADE}"/>
                  </a:ext>
                </a:extLst>
              </p:cNvPr>
              <p:cNvSpPr txBox="1"/>
              <p:nvPr/>
            </p:nvSpPr>
            <p:spPr>
              <a:xfrm>
                <a:off x="871163" y="2703172"/>
                <a:ext cx="152920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Output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F2A2A225-0EED-141C-0B0B-A1EDAD6305C6}"/>
                </a:ext>
              </a:extLst>
            </p:cNvPr>
            <p:cNvGrpSpPr/>
            <p:nvPr/>
          </p:nvGrpSpPr>
          <p:grpSpPr>
            <a:xfrm>
              <a:off x="5935980" y="2916886"/>
              <a:ext cx="3148438" cy="1543946"/>
              <a:chOff x="5935980" y="2868118"/>
              <a:chExt cx="3148438" cy="1543946"/>
            </a:xfrm>
          </p:grpSpPr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6D1E0349-5304-E36A-20A7-0823D7E5DEFF}"/>
                  </a:ext>
                </a:extLst>
              </p:cNvPr>
              <p:cNvSpPr/>
              <p:nvPr/>
            </p:nvSpPr>
            <p:spPr>
              <a:xfrm>
                <a:off x="5968214" y="3928426"/>
                <a:ext cx="3089122" cy="164431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4DEB94E3-C296-C456-5695-C24B48EC2F6F}"/>
                  </a:ext>
                </a:extLst>
              </p:cNvPr>
              <p:cNvSpPr/>
              <p:nvPr/>
            </p:nvSpPr>
            <p:spPr>
              <a:xfrm>
                <a:off x="5968214" y="3259147"/>
                <a:ext cx="3089122" cy="438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BAF74AD7-806E-F32A-9E86-00A1E0C9FE3D}"/>
                  </a:ext>
                </a:extLst>
              </p:cNvPr>
              <p:cNvGrpSpPr/>
              <p:nvPr/>
            </p:nvGrpSpPr>
            <p:grpSpPr>
              <a:xfrm>
                <a:off x="5935980" y="2868118"/>
                <a:ext cx="3148438" cy="1543946"/>
                <a:chOff x="6348642" y="3036458"/>
                <a:chExt cx="3148438" cy="1543946"/>
              </a:xfrm>
            </p:grpSpPr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BD00956-DA0E-317C-671D-3EBEB4B33605}"/>
                    </a:ext>
                  </a:extLst>
                </p:cNvPr>
                <p:cNvSpPr txBox="1"/>
                <p:nvPr/>
              </p:nvSpPr>
              <p:spPr>
                <a:xfrm>
                  <a:off x="6348642" y="3036458"/>
                  <a:ext cx="3148438" cy="1277273"/>
                </a:xfrm>
                <a:custGeom>
                  <a:avLst/>
                  <a:gdLst>
                    <a:gd name="csX0" fmla="*/ 5152 w 3148438"/>
                    <a:gd name="csY0" fmla="*/ 0 h 1277273"/>
                    <a:gd name="csX1" fmla="*/ 3148438 w 3148438"/>
                    <a:gd name="csY1" fmla="*/ 0 h 1277273"/>
                    <a:gd name="csX2" fmla="*/ 3148438 w 3148438"/>
                    <a:gd name="csY2" fmla="*/ 1277273 h 1277273"/>
                    <a:gd name="csX3" fmla="*/ 5152 w 3148438"/>
                    <a:gd name="csY3" fmla="*/ 1277273 h 1277273"/>
                    <a:gd name="csX4" fmla="*/ 0 w 3148438"/>
                    <a:gd name="csY4" fmla="*/ 164642 h 1277273"/>
                    <a:gd name="csX5" fmla="*/ 5152 w 3148438"/>
                    <a:gd name="csY5" fmla="*/ 0 h 12772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3148438" h="1277273">
                      <a:moveTo>
                        <a:pt x="5152" y="0"/>
                      </a:moveTo>
                      <a:lnTo>
                        <a:pt x="3148438" y="0"/>
                      </a:lnTo>
                      <a:lnTo>
                        <a:pt x="3148438" y="1277273"/>
                      </a:lnTo>
                      <a:lnTo>
                        <a:pt x="5152" y="1277273"/>
                      </a:lnTo>
                      <a:cubicBezTo>
                        <a:pt x="3435" y="906396"/>
                        <a:pt x="1717" y="535519"/>
                        <a:pt x="0" y="164642"/>
                      </a:cubicBezTo>
                      <a:lnTo>
                        <a:pt x="5152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zh-CN" altLang="zh-CN" sz="1100" dirty="0">
                      <a:solidFill>
                        <a:srgbClr val="0033B3"/>
                      </a:solidFill>
                      <a:effectLst/>
                      <a:latin typeface="JetBrains Mono"/>
                    </a:rPr>
                    <a:t>def </a:t>
                  </a:r>
                  <a:r>
                    <a:rPr lang="zh-CN" altLang="zh-CN" sz="1100" dirty="0">
                      <a:solidFill>
                        <a:srgbClr val="00627A"/>
                      </a:solidFill>
                      <a:effectLst/>
                      <a:latin typeface="JetBrains Mono"/>
                    </a:rPr>
                    <a:t>error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(</a:t>
                  </a:r>
                  <a:r>
                    <a:rPr lang="zh-CN" altLang="zh-CN" sz="1100" dirty="0">
                      <a:solidFill>
                        <a:srgbClr val="000000"/>
                      </a:solidFill>
                      <a:effectLst/>
                      <a:latin typeface="JetBrains Mono"/>
                    </a:rPr>
                    <a:t>message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):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 </a:t>
                  </a: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# generated summarization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"""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Throw an error with the given message and exit.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"""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# code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# ...</a:t>
                  </a:r>
                  <a:endParaRPr lang="zh-CN" altLang="zh-CN" sz="1100" dirty="0">
                    <a:solidFill>
                      <a:srgbClr val="080808"/>
                    </a:solidFill>
                    <a:effectLst/>
                    <a:latin typeface="JetBrains Mono"/>
                  </a:endParaRPr>
                </a:p>
              </p:txBody>
            </p: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D231A2C2-E4B5-88FF-2BED-425ABC33896D}"/>
                    </a:ext>
                  </a:extLst>
                </p:cNvPr>
                <p:cNvSpPr txBox="1"/>
                <p:nvPr/>
              </p:nvSpPr>
              <p:spPr>
                <a:xfrm>
                  <a:off x="7030375" y="4272627"/>
                  <a:ext cx="179012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Dependent Code</a:t>
                  </a:r>
                  <a:endPara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6F2F4D43-0C04-5454-EFFA-206074A468F4}"/>
                </a:ext>
              </a:extLst>
            </p:cNvPr>
            <p:cNvGrpSpPr/>
            <p:nvPr/>
          </p:nvGrpSpPr>
          <p:grpSpPr>
            <a:xfrm>
              <a:off x="6195856" y="2652114"/>
              <a:ext cx="2970980" cy="276999"/>
              <a:chOff x="6348256" y="2612786"/>
              <a:chExt cx="2970980" cy="276999"/>
            </a:xfrm>
          </p:grpSpPr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1905E249-044C-51B7-D4A1-2D919B285843}"/>
                  </a:ext>
                </a:extLst>
              </p:cNvPr>
              <p:cNvSpPr/>
              <p:nvPr/>
            </p:nvSpPr>
            <p:spPr>
              <a:xfrm>
                <a:off x="6348256" y="2678367"/>
                <a:ext cx="417631" cy="14583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241A0440-8F20-E68C-2EE4-0A86A7C60C2D}"/>
                  </a:ext>
                </a:extLst>
              </p:cNvPr>
              <p:cNvSpPr txBox="1"/>
              <p:nvPr/>
            </p:nvSpPr>
            <p:spPr>
              <a:xfrm>
                <a:off x="6701529" y="2612786"/>
                <a:ext cx="128009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>
                    <a:solidFill>
                      <a:schemeClr val="accent6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Retained</a:t>
                </a:r>
                <a:endParaRPr lang="zh-CN" altLang="en-US" sz="12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0350221C-9A6A-3612-0FD2-4D71EBA70CB0}"/>
                  </a:ext>
                </a:extLst>
              </p:cNvPr>
              <p:cNvSpPr/>
              <p:nvPr/>
            </p:nvSpPr>
            <p:spPr>
              <a:xfrm>
                <a:off x="7673756" y="2678367"/>
                <a:ext cx="417631" cy="145837"/>
              </a:xfrm>
              <a:prstGeom prst="rect">
                <a:avLst/>
              </a:prstGeom>
              <a:solidFill>
                <a:srgbClr val="FF0000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CDBE0E01-5F2E-D125-F50D-4112F23F3EC1}"/>
                  </a:ext>
                </a:extLst>
              </p:cNvPr>
              <p:cNvSpPr txBox="1"/>
              <p:nvPr/>
            </p:nvSpPr>
            <p:spPr>
              <a:xfrm>
                <a:off x="8039142" y="2612786"/>
                <a:ext cx="128009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Discarded</a:t>
                </a:r>
                <a:endPara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72" name="图片 171">
              <a:extLst>
                <a:ext uri="{FF2B5EF4-FFF2-40B4-BE49-F238E27FC236}">
                  <a16:creationId xmlns:a16="http://schemas.microsoft.com/office/drawing/2014/main" id="{76F0550A-E2AD-216D-C3D3-90B2B6378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341" y="3212444"/>
              <a:ext cx="946532" cy="881808"/>
            </a:xfrm>
            <a:prstGeom prst="rect">
              <a:avLst/>
            </a:prstGeom>
          </p:spPr>
        </p:pic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0E762101-FE7D-4498-DC12-7BFF5B078DF5}"/>
                </a:ext>
              </a:extLst>
            </p:cNvPr>
            <p:cNvCxnSpPr>
              <a:cxnSpLocks/>
            </p:cNvCxnSpPr>
            <p:nvPr/>
          </p:nvCxnSpPr>
          <p:spPr>
            <a:xfrm>
              <a:off x="3333302" y="1935608"/>
              <a:ext cx="1012638" cy="100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CBF23EB8-9504-30B2-3D58-19DD3BEA05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2714" y="1674746"/>
              <a:ext cx="818976" cy="7735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连接符: 曲线 204">
              <a:extLst>
                <a:ext uri="{FF2B5EF4-FFF2-40B4-BE49-F238E27FC236}">
                  <a16:creationId xmlns:a16="http://schemas.microsoft.com/office/drawing/2014/main" id="{0999C9B2-4D9C-33B5-656A-1D6A4BEA4B9D}"/>
                </a:ext>
              </a:extLst>
            </p:cNvPr>
            <p:cNvCxnSpPr>
              <a:cxnSpLocks/>
              <a:stCxn id="58" idx="1"/>
              <a:endCxn id="86" idx="3"/>
            </p:cNvCxnSpPr>
            <p:nvPr/>
          </p:nvCxnSpPr>
          <p:spPr>
            <a:xfrm rot="10800000" flipV="1">
              <a:off x="5188305" y="1820108"/>
              <a:ext cx="752828" cy="1687595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任意多边形: 形状 226">
              <a:extLst>
                <a:ext uri="{FF2B5EF4-FFF2-40B4-BE49-F238E27FC236}">
                  <a16:creationId xmlns:a16="http://schemas.microsoft.com/office/drawing/2014/main" id="{F3788801-DC15-8240-E4FE-ED431B45D7BF}"/>
                </a:ext>
              </a:extLst>
            </p:cNvPr>
            <p:cNvSpPr/>
            <p:nvPr/>
          </p:nvSpPr>
          <p:spPr>
            <a:xfrm>
              <a:off x="5117746" y="1935608"/>
              <a:ext cx="818234" cy="1277048"/>
            </a:xfrm>
            <a:custGeom>
              <a:avLst/>
              <a:gdLst>
                <a:gd name="csX0" fmla="*/ 0 w 693420"/>
                <a:gd name="csY0" fmla="*/ 0 h 541020"/>
                <a:gd name="csX1" fmla="*/ 693420 w 693420"/>
                <a:gd name="csY1" fmla="*/ 541020 h 541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93420" h="541020">
                  <a:moveTo>
                    <a:pt x="0" y="0"/>
                  </a:moveTo>
                  <a:cubicBezTo>
                    <a:pt x="181173" y="186166"/>
                    <a:pt x="383775" y="412615"/>
                    <a:pt x="693420" y="541020"/>
                  </a:cubicBezTo>
                </a:path>
              </a:pathLst>
            </a:custGeom>
            <a:noFill/>
            <a:ln w="38100">
              <a:solidFill>
                <a:srgbClr val="15608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8" name="直接箭头连接符 227">
              <a:extLst>
                <a:ext uri="{FF2B5EF4-FFF2-40B4-BE49-F238E27FC236}">
                  <a16:creationId xmlns:a16="http://schemas.microsoft.com/office/drawing/2014/main" id="{376916EA-1764-A4A9-CB1F-75B1FEEB20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6192" y="3603685"/>
              <a:ext cx="759788" cy="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任意多边形: 形状 235">
              <a:extLst>
                <a:ext uri="{FF2B5EF4-FFF2-40B4-BE49-F238E27FC236}">
                  <a16:creationId xmlns:a16="http://schemas.microsoft.com/office/drawing/2014/main" id="{687BA426-2965-C44C-7710-4F383C62A89B}"/>
                </a:ext>
              </a:extLst>
            </p:cNvPr>
            <p:cNvSpPr/>
            <p:nvPr/>
          </p:nvSpPr>
          <p:spPr>
            <a:xfrm>
              <a:off x="3332866" y="2116659"/>
              <a:ext cx="957494" cy="1258591"/>
            </a:xfrm>
            <a:custGeom>
              <a:avLst/>
              <a:gdLst>
                <a:gd name="csX0" fmla="*/ 0 w 716220"/>
                <a:gd name="csY0" fmla="*/ 0 h 586469"/>
                <a:gd name="csX1" fmla="*/ 716220 w 716220"/>
                <a:gd name="csY1" fmla="*/ 586469 h 586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6220" h="586469">
                  <a:moveTo>
                    <a:pt x="0" y="0"/>
                  </a:moveTo>
                  <a:cubicBezTo>
                    <a:pt x="147646" y="189590"/>
                    <a:pt x="406575" y="458064"/>
                    <a:pt x="716220" y="586469"/>
                  </a:cubicBezTo>
                </a:path>
              </a:pathLst>
            </a:custGeom>
            <a:noFill/>
            <a:ln w="3810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F49CA5D1-9E33-A0CE-8D53-56556EB54101}"/>
                </a:ext>
              </a:extLst>
            </p:cNvPr>
            <p:cNvSpPr txBox="1"/>
            <p:nvPr/>
          </p:nvSpPr>
          <p:spPr>
            <a:xfrm>
              <a:off x="3422179" y="2819696"/>
              <a:ext cx="127459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③</a:t>
              </a:r>
              <a:r>
                <a:rPr lang="en-US" altLang="zh-CN" sz="1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Generation</a:t>
              </a:r>
              <a:endPara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42" name="图片 241">
              <a:extLst>
                <a:ext uri="{FF2B5EF4-FFF2-40B4-BE49-F238E27FC236}">
                  <a16:creationId xmlns:a16="http://schemas.microsoft.com/office/drawing/2014/main" id="{96B5E9A1-61AF-8883-56E7-FF4A56886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341" y="1433011"/>
              <a:ext cx="799751" cy="958985"/>
            </a:xfrm>
            <a:prstGeom prst="rect">
              <a:avLst/>
            </a:prstGeom>
          </p:spPr>
        </p:pic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E0D0F734-981C-B10F-C966-ED0B010648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4498" y="3603685"/>
              <a:ext cx="739142" cy="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2CF6097-8679-5772-2A95-11123E45D5FB}"/>
                </a:ext>
              </a:extLst>
            </p:cNvPr>
            <p:cNvSpPr txBox="1"/>
            <p:nvPr/>
          </p:nvSpPr>
          <p:spPr>
            <a:xfrm>
              <a:off x="9929949" y="2439325"/>
              <a:ext cx="946533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Extractor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54E84EA-AE3B-05E7-A069-D3780D1DE672}"/>
                </a:ext>
              </a:extLst>
            </p:cNvPr>
            <p:cNvSpPr txBox="1"/>
            <p:nvPr/>
          </p:nvSpPr>
          <p:spPr>
            <a:xfrm>
              <a:off x="9848049" y="4191221"/>
              <a:ext cx="1110331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Summarizer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799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F3C63-04F7-B8C6-1849-58B65ECD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3F22FD23-86F4-95DD-A514-15A15BBB2377}"/>
              </a:ext>
            </a:extLst>
          </p:cNvPr>
          <p:cNvGrpSpPr/>
          <p:nvPr/>
        </p:nvGrpSpPr>
        <p:grpSpPr>
          <a:xfrm>
            <a:off x="3151948" y="42468"/>
            <a:ext cx="6494866" cy="6940213"/>
            <a:chOff x="3151948" y="42468"/>
            <a:chExt cx="6494866" cy="6940213"/>
          </a:xfrm>
        </p:grpSpPr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A79C0905-DE4E-C87A-09AB-5DE0D3ADA4DE}"/>
                </a:ext>
              </a:extLst>
            </p:cNvPr>
            <p:cNvGrpSpPr/>
            <p:nvPr/>
          </p:nvGrpSpPr>
          <p:grpSpPr>
            <a:xfrm>
              <a:off x="6498376" y="5077623"/>
              <a:ext cx="3148438" cy="1905058"/>
              <a:chOff x="-91441" y="1013960"/>
              <a:chExt cx="3148438" cy="1905058"/>
            </a:xfrm>
          </p:grpSpPr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3512E690-341F-BB3A-3E28-A3B7ED8A46BE}"/>
                  </a:ext>
                </a:extLst>
              </p:cNvPr>
              <p:cNvSpPr txBox="1"/>
              <p:nvPr/>
            </p:nvSpPr>
            <p:spPr>
              <a:xfrm>
                <a:off x="-91441" y="1013960"/>
                <a:ext cx="3148438" cy="16026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90000" tIns="46800" rIns="90000" bIns="46800">
                <a:spAutoFit/>
              </a:bodyPr>
              <a:lstStyle/>
              <a:p>
                <a:r>
                  <a:rPr lang="zh-CN" altLang="zh-CN" sz="1400" dirty="0">
                    <a:solidFill>
                      <a:srgbClr val="0033B3"/>
                    </a:solidFill>
                    <a:latin typeface="JetBrains Mono"/>
                  </a:rPr>
                  <a:t>def </a:t>
                </a: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get_dropbox_folder_location():</a:t>
                </a:r>
                <a:b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</a:b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    </a:t>
                </a:r>
                <a:r>
                  <a:rPr lang="zh-CN" altLang="zh-CN" sz="1400" i="1" dirty="0">
                    <a:solidFill>
                      <a:srgbClr val="8C8C8C"/>
                    </a:solidFill>
                    <a:latin typeface="JetBrains Mono"/>
                  </a:rPr>
                  <a:t># ...</a:t>
                </a:r>
                <a:br>
                  <a:rPr lang="zh-CN" altLang="zh-CN" sz="1400" i="1" dirty="0">
                    <a:solidFill>
                      <a:srgbClr val="8C8C8C"/>
                    </a:solidFill>
                    <a:latin typeface="JetBrains Mono"/>
                  </a:rPr>
                </a:br>
                <a:r>
                  <a:rPr lang="zh-CN" altLang="zh-CN" sz="14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400" dirty="0">
                    <a:solidFill>
                      <a:srgbClr val="0033B3"/>
                    </a:solidFill>
                    <a:latin typeface="JetBrains Mono"/>
                  </a:rPr>
                  <a:t>if not </a:t>
                </a: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dropbox_info_path:</a:t>
                </a:r>
                <a:b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</a:b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        error(constants</a:t>
                </a:r>
                <a:endParaRPr lang="en-US" altLang="zh-CN" sz="1400" dirty="0">
                  <a:solidFill>
                    <a:srgbClr val="080808"/>
                  </a:solidFill>
                  <a:latin typeface="JetBrains Mono"/>
                </a:endParaRPr>
              </a:p>
              <a:p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.ERROR_UNABLE_TO_FIND_STORAGE</a:t>
                </a:r>
                <a:endParaRPr lang="en-US" altLang="zh-CN" sz="1400" dirty="0">
                  <a:solidFill>
                    <a:srgbClr val="080808"/>
                  </a:solidFill>
                  <a:latin typeface="JetBrains Mono"/>
                </a:endParaRPr>
              </a:p>
              <a:p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.format(provider=</a:t>
                </a:r>
                <a:r>
                  <a:rPr lang="zh-CN" altLang="zh-CN" sz="1400" dirty="0">
                    <a:solidFill>
                      <a:srgbClr val="067D17"/>
                    </a:solidFill>
                    <a:latin typeface="JetBrains Mono"/>
                  </a:rPr>
                  <a:t>"Dropbox"</a:t>
                </a:r>
                <a:r>
                  <a:rPr lang="zh-CN" altLang="zh-CN" sz="1400" dirty="0">
                    <a:solidFill>
                      <a:srgbClr val="080808"/>
                    </a:solidFill>
                    <a:latin typeface="JetBrains Mono"/>
                  </a:rPr>
                  <a:t>))</a:t>
                </a:r>
                <a:endParaRPr lang="en-US" altLang="zh-CN" sz="1400" dirty="0">
                  <a:solidFill>
                    <a:srgbClr val="080808"/>
                  </a:solidFill>
                  <a:latin typeface="JetBrains Mono"/>
                </a:endParaRPr>
              </a:p>
              <a:p>
                <a:r>
                  <a:rPr lang="en-US" altLang="zh-CN" sz="1400" i="1" dirty="0">
                    <a:solidFill>
                      <a:srgbClr val="8C8C8C"/>
                    </a:solidFill>
                    <a:latin typeface="JetBrains Mono"/>
                  </a:rPr>
                  <a:t>    # …</a:t>
                </a:r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7F6FE179-C035-7360-FB60-B7B6AB4E784D}"/>
                  </a:ext>
                </a:extLst>
              </p:cNvPr>
              <p:cNvSpPr txBox="1"/>
              <p:nvPr/>
            </p:nvSpPr>
            <p:spPr>
              <a:xfrm>
                <a:off x="718178" y="2611241"/>
                <a:ext cx="152920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Output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9CF96EC-0640-E2A4-4C24-2884FD00BED3}"/>
                </a:ext>
              </a:extLst>
            </p:cNvPr>
            <p:cNvGrpSpPr/>
            <p:nvPr/>
          </p:nvGrpSpPr>
          <p:grpSpPr>
            <a:xfrm>
              <a:off x="5001906" y="2808987"/>
              <a:ext cx="303224" cy="396000"/>
              <a:chOff x="7985028" y="2733257"/>
              <a:chExt cx="303224" cy="396000"/>
            </a:xfrm>
          </p:grpSpPr>
          <p:sp>
            <p:nvSpPr>
              <p:cNvPr id="123" name="箭头: 下 122">
                <a:extLst>
                  <a:ext uri="{FF2B5EF4-FFF2-40B4-BE49-F238E27FC236}">
                    <a16:creationId xmlns:a16="http://schemas.microsoft.com/office/drawing/2014/main" id="{E8770740-01B6-2F6F-F193-C020C44822ED}"/>
                  </a:ext>
                </a:extLst>
              </p:cNvPr>
              <p:cNvSpPr/>
              <p:nvPr/>
            </p:nvSpPr>
            <p:spPr>
              <a:xfrm rot="10800000">
                <a:off x="7985028" y="2733257"/>
                <a:ext cx="159146" cy="396000"/>
              </a:xfrm>
              <a:prstGeom prst="downArrow">
                <a:avLst>
                  <a:gd name="adj1" fmla="val 50000"/>
                  <a:gd name="adj2" fmla="val 73529"/>
                </a:avLst>
              </a:prstGeom>
              <a:solidFill>
                <a:srgbClr val="C04F1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箭头: 下 17">
                <a:extLst>
                  <a:ext uri="{FF2B5EF4-FFF2-40B4-BE49-F238E27FC236}">
                    <a16:creationId xmlns:a16="http://schemas.microsoft.com/office/drawing/2014/main" id="{5485BDED-E4F6-3343-C92B-A1C1AB24690E}"/>
                  </a:ext>
                </a:extLst>
              </p:cNvPr>
              <p:cNvSpPr/>
              <p:nvPr/>
            </p:nvSpPr>
            <p:spPr>
              <a:xfrm>
                <a:off x="8129106" y="2733257"/>
                <a:ext cx="159146" cy="396000"/>
              </a:xfrm>
              <a:prstGeom prst="downArrow">
                <a:avLst>
                  <a:gd name="adj1" fmla="val 50000"/>
                  <a:gd name="adj2" fmla="val 73529"/>
                </a:avLst>
              </a:prstGeom>
              <a:solidFill>
                <a:srgbClr val="C04F1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60BB5BF-7ADF-D2F5-6CDF-4D83B1E1FCE8}"/>
                </a:ext>
              </a:extLst>
            </p:cNvPr>
            <p:cNvGrpSpPr/>
            <p:nvPr/>
          </p:nvGrpSpPr>
          <p:grpSpPr>
            <a:xfrm>
              <a:off x="5977249" y="1802363"/>
              <a:ext cx="981423" cy="1010129"/>
              <a:chOff x="5653219" y="1802363"/>
              <a:chExt cx="981423" cy="1010129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2CE06DF-D90C-39AA-72C1-E1BA5AB40E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5554" y="1802363"/>
                <a:ext cx="756755" cy="756755"/>
              </a:xfrm>
              <a:prstGeom prst="rect">
                <a:avLst/>
              </a:prstGeom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16910AD-4855-70D7-8124-9538A17DF99E}"/>
                  </a:ext>
                </a:extLst>
              </p:cNvPr>
              <p:cNvSpPr txBox="1"/>
              <p:nvPr/>
            </p:nvSpPr>
            <p:spPr>
              <a:xfrm>
                <a:off x="5653219" y="2597048"/>
                <a:ext cx="98142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Repository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5199DB1-6AD7-EF99-F437-92BE77D20B60}"/>
                </a:ext>
              </a:extLst>
            </p:cNvPr>
            <p:cNvSpPr txBox="1"/>
            <p:nvPr/>
          </p:nvSpPr>
          <p:spPr>
            <a:xfrm>
              <a:off x="6467959" y="1374485"/>
              <a:ext cx="12182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15F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 </a:t>
              </a:r>
              <a:r>
                <a:rPr lang="en-US" altLang="zh-CN" sz="1400" b="1" dirty="0">
                  <a:solidFill>
                    <a:srgbClr val="215F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Retrieval</a:t>
              </a:r>
              <a:endParaRPr lang="zh-CN" altLang="en-US" sz="1400" b="1" dirty="0">
                <a:solidFill>
                  <a:srgbClr val="215F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9F0ED54E-B4F5-5554-1DAB-AF6CD8A83982}"/>
                </a:ext>
              </a:extLst>
            </p:cNvPr>
            <p:cNvGrpSpPr/>
            <p:nvPr/>
          </p:nvGrpSpPr>
          <p:grpSpPr>
            <a:xfrm>
              <a:off x="4988482" y="42468"/>
              <a:ext cx="2958956" cy="1305969"/>
              <a:chOff x="252787" y="1164883"/>
              <a:chExt cx="2958956" cy="1305969"/>
            </a:xfrm>
          </p:grpSpPr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DDBD745-1063-E759-8B3D-F14AFB34C153}"/>
                  </a:ext>
                </a:extLst>
              </p:cNvPr>
              <p:cNvSpPr txBox="1"/>
              <p:nvPr/>
            </p:nvSpPr>
            <p:spPr>
              <a:xfrm>
                <a:off x="252787" y="1164883"/>
                <a:ext cx="2958956" cy="987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90000" tIns="46800" rIns="90000" bIns="46800">
                <a:spAutoFit/>
              </a:bodyPr>
              <a:lstStyle/>
              <a:p>
                <a:r>
                  <a:rPr lang="zh-CN" altLang="zh-CN" sz="1400" dirty="0">
                    <a:solidFill>
                      <a:srgbClr val="0033B3"/>
                    </a:solidFill>
                    <a:effectLst/>
                    <a:latin typeface="JetBrains Mono"/>
                  </a:rPr>
                  <a:t>def </a:t>
                </a:r>
                <a:r>
                  <a:rPr lang="zh-CN" altLang="zh-CN" sz="1400" dirty="0">
                    <a:solidFill>
                      <a:srgbClr val="080808"/>
                    </a:solidFill>
                    <a:effectLst/>
                    <a:latin typeface="JetBrains Mono"/>
                  </a:rPr>
                  <a:t>get_dropbox_folder_location():</a:t>
                </a:r>
                <a:endParaRPr lang="en-US" altLang="zh-CN" sz="1400" dirty="0">
                  <a:solidFill>
                    <a:srgbClr val="080808"/>
                  </a:solidFill>
                  <a:effectLst/>
                  <a:latin typeface="JetBrains Mono"/>
                </a:endParaRPr>
              </a:p>
              <a:p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"""</a:t>
                </a:r>
                <a:b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</a:b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Try to locate the Dropbox folder.</a:t>
                </a:r>
                <a:b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</a:b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Returns: </a:t>
                </a: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P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ath to the current</a:t>
                </a: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Dropbox folder</a:t>
                </a:r>
                <a:b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</a:br>
                <a:r>
                  <a:rPr lang="en-US" altLang="zh-CN" sz="1100" i="1" dirty="0">
                    <a:solidFill>
                      <a:srgbClr val="8C8C8C"/>
                    </a:solidFill>
                    <a:latin typeface="JetBrains Mono"/>
                  </a:rPr>
                  <a:t>    </a:t>
                </a:r>
                <a:r>
                  <a:rPr lang="zh-CN" altLang="zh-CN" sz="1100" i="1" dirty="0">
                    <a:solidFill>
                      <a:srgbClr val="8C8C8C"/>
                    </a:solidFill>
                    <a:latin typeface="JetBrains Mono"/>
                  </a:rPr>
                  <a:t>"""</a:t>
                </a:r>
                <a:endParaRPr lang="zh-CN" altLang="zh-CN" sz="1100" dirty="0">
                  <a:solidFill>
                    <a:srgbClr val="080808"/>
                  </a:solidFill>
                  <a:latin typeface="JetBrains Mono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BAF66CC9-4D5C-DC57-CA15-A4E648BE023D}"/>
                  </a:ext>
                </a:extLst>
              </p:cNvPr>
              <p:cNvSpPr txBox="1"/>
              <p:nvPr/>
            </p:nvSpPr>
            <p:spPr>
              <a:xfrm>
                <a:off x="967665" y="2163075"/>
                <a:ext cx="152920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Target Task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E47602E3-9CB6-D78E-CB38-E89844A47213}"/>
                </a:ext>
              </a:extLst>
            </p:cNvPr>
            <p:cNvSpPr txBox="1"/>
            <p:nvPr/>
          </p:nvSpPr>
          <p:spPr>
            <a:xfrm>
              <a:off x="3822605" y="2791544"/>
              <a:ext cx="127795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rgbClr val="C04F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</a:t>
              </a:r>
              <a:r>
                <a:rPr lang="en-US" altLang="zh-CN" sz="1100" b="1" dirty="0">
                  <a:solidFill>
                    <a:srgbClr val="C04F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Task-Aware Extraction</a:t>
              </a:r>
              <a:endParaRPr lang="zh-CN" altLang="en-US" sz="1100" b="1" dirty="0">
                <a:solidFill>
                  <a:srgbClr val="C04F1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6308C7DB-5CD3-913F-F7F3-F9B6BFF5E5C3}"/>
                </a:ext>
              </a:extLst>
            </p:cNvPr>
            <p:cNvSpPr txBox="1"/>
            <p:nvPr/>
          </p:nvSpPr>
          <p:spPr>
            <a:xfrm>
              <a:off x="7999497" y="2837710"/>
              <a:ext cx="1383585" cy="33855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rgbClr val="C04F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 </a:t>
              </a:r>
              <a:r>
                <a:rPr lang="en-US" altLang="zh-CN" sz="1100" b="1" dirty="0">
                  <a:solidFill>
                    <a:srgbClr val="C04F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Depend.-Aware Summarization</a:t>
              </a:r>
              <a:endParaRPr lang="zh-CN" altLang="en-US" sz="1100" b="1" dirty="0">
                <a:solidFill>
                  <a:srgbClr val="C04F1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8806E745-B392-FFCE-FE71-97E4B47D9F29}"/>
                </a:ext>
              </a:extLst>
            </p:cNvPr>
            <p:cNvGrpSpPr/>
            <p:nvPr/>
          </p:nvGrpSpPr>
          <p:grpSpPr>
            <a:xfrm>
              <a:off x="3812254" y="5359954"/>
              <a:ext cx="1790124" cy="1327497"/>
              <a:chOff x="3535000" y="5468413"/>
              <a:chExt cx="1790124" cy="1327497"/>
            </a:xfrm>
          </p:grpSpPr>
          <p:pic>
            <p:nvPicPr>
              <p:cNvPr id="86" name="图片 85">
                <a:extLst>
                  <a:ext uri="{FF2B5EF4-FFF2-40B4-BE49-F238E27FC236}">
                    <a16:creationId xmlns:a16="http://schemas.microsoft.com/office/drawing/2014/main" id="{98C08CCE-1608-3716-4286-BC1F2E9DE9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92498" y="5468413"/>
                <a:ext cx="1099178" cy="1099178"/>
              </a:xfrm>
              <a:prstGeom prst="rect">
                <a:avLst/>
              </a:prstGeom>
            </p:spPr>
          </p:pic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3FC6044-A020-E0F4-1FA0-9714CB4E1426}"/>
                  </a:ext>
                </a:extLst>
              </p:cNvPr>
              <p:cNvSpPr txBox="1"/>
              <p:nvPr/>
            </p:nvSpPr>
            <p:spPr>
              <a:xfrm>
                <a:off x="3535000" y="6488133"/>
                <a:ext cx="17901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Generator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A76FC41A-94E3-A4DB-C81F-E9768EAD7E82}"/>
                </a:ext>
              </a:extLst>
            </p:cNvPr>
            <p:cNvGrpSpPr/>
            <p:nvPr/>
          </p:nvGrpSpPr>
          <p:grpSpPr>
            <a:xfrm>
              <a:off x="3151948" y="3248082"/>
              <a:ext cx="3143286" cy="1589130"/>
              <a:chOff x="5941133" y="1260128"/>
              <a:chExt cx="3143286" cy="1589130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4DDB061-467C-0C4A-1A5C-CD466870F6DC}"/>
                  </a:ext>
                </a:extLst>
              </p:cNvPr>
              <p:cNvSpPr/>
              <p:nvPr/>
            </p:nvSpPr>
            <p:spPr>
              <a:xfrm>
                <a:off x="5968214" y="1483054"/>
                <a:ext cx="3089122" cy="164431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33B085DF-D19E-F584-3BE0-FD6D8EB1F12A}"/>
                  </a:ext>
                </a:extLst>
              </p:cNvPr>
              <p:cNvSpPr/>
              <p:nvPr/>
            </p:nvSpPr>
            <p:spPr>
              <a:xfrm>
                <a:off x="5968214" y="1647485"/>
                <a:ext cx="3089122" cy="6819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527EA3F9-26AA-E5FA-727D-89C350FC383C}"/>
                  </a:ext>
                </a:extLst>
              </p:cNvPr>
              <p:cNvGrpSpPr/>
              <p:nvPr/>
            </p:nvGrpSpPr>
            <p:grpSpPr>
              <a:xfrm>
                <a:off x="5941133" y="1260128"/>
                <a:ext cx="3143286" cy="1589130"/>
                <a:chOff x="6353794" y="1219097"/>
                <a:chExt cx="3143286" cy="1589130"/>
              </a:xfrm>
            </p:grpSpPr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E39948A-7E40-DB41-2D79-6CD74B0D5B14}"/>
                    </a:ext>
                  </a:extLst>
                </p:cNvPr>
                <p:cNvSpPr txBox="1"/>
                <p:nvPr/>
              </p:nvSpPr>
              <p:spPr>
                <a:xfrm>
                  <a:off x="6353794" y="1219097"/>
                  <a:ext cx="3143286" cy="12772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zh-CN" altLang="zh-CN" sz="1100" dirty="0">
                      <a:solidFill>
                        <a:srgbClr val="0033B3"/>
                      </a:solidFill>
                      <a:effectLst/>
                      <a:latin typeface="JetBrains Mono"/>
                    </a:rPr>
                    <a:t>def 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get_icloud_folder_location():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</a:t>
                  </a:r>
                  <a:r>
                    <a:rPr lang="en-US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</a:t>
                  </a: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# ...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 </a:t>
                  </a:r>
                  <a:r>
                    <a:rPr lang="zh-CN" altLang="zh-CN" sz="1100" dirty="0">
                      <a:solidFill>
                        <a:srgbClr val="0033B3"/>
                      </a:solidFill>
                      <a:effectLst/>
                      <a:latin typeface="JetBrains Mono"/>
                    </a:rPr>
                    <a:t>if not 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os.path.isdir(icloud_home):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     error(constants</a:t>
                  </a:r>
                  <a:endParaRPr lang="en-US" altLang="zh-CN" sz="1100" dirty="0">
                    <a:solidFill>
                      <a:srgbClr val="080808"/>
                    </a:solidFill>
                    <a:effectLst/>
                    <a:latin typeface="JetBrains Mono"/>
                  </a:endParaRPr>
                </a:p>
                <a:p>
                  <a:pPr>
                    <a:buNone/>
                  </a:pPr>
                  <a:r>
                    <a:rPr lang="en-US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        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.ERROR_UNABLE_TO_FIND_STORAGE.format</a:t>
                  </a:r>
                  <a:endParaRPr lang="en-US" altLang="zh-CN" sz="1100" dirty="0">
                    <a:solidFill>
                      <a:srgbClr val="080808"/>
                    </a:solidFill>
                    <a:effectLst/>
                    <a:latin typeface="JetBrains Mono"/>
                  </a:endParaRPr>
                </a:p>
                <a:p>
                  <a:pPr>
                    <a:buNone/>
                  </a:pPr>
                  <a:r>
                    <a:rPr lang="en-US" altLang="zh-CN" sz="1100" dirty="0">
                      <a:solidFill>
                        <a:srgbClr val="080808"/>
                      </a:solidFill>
                      <a:latin typeface="JetBrains Mono"/>
                    </a:rPr>
                    <a:t>           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(provider=</a:t>
                  </a:r>
                  <a:r>
                    <a:rPr lang="zh-CN" altLang="zh-CN" sz="1100" dirty="0">
                      <a:solidFill>
                        <a:srgbClr val="067D17"/>
                      </a:solidFill>
                      <a:effectLst/>
                      <a:latin typeface="JetBrains Mono"/>
                    </a:rPr>
                    <a:t>“iCloud Drive”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))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</a:t>
                  </a:r>
                  <a:r>
                    <a:rPr lang="en-US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</a:t>
                  </a:r>
                  <a:r>
                    <a:rPr lang="zh-CN" altLang="zh-CN" sz="1100" i="1" dirty="0">
                      <a:solidFill>
                        <a:srgbClr val="8C8C8C"/>
                      </a:solidFill>
                      <a:latin typeface="JetBrains Mono"/>
                    </a:rPr>
                    <a:t># ...</a:t>
                  </a:r>
                  <a:endParaRPr lang="zh-CN" altLang="en-US" sz="1200" dirty="0"/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6E9CE082-9B2A-CD44-55FD-554E530E68B0}"/>
                    </a:ext>
                  </a:extLst>
                </p:cNvPr>
                <p:cNvSpPr txBox="1"/>
                <p:nvPr/>
              </p:nvSpPr>
              <p:spPr>
                <a:xfrm>
                  <a:off x="7160836" y="2500450"/>
                  <a:ext cx="152920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Similar Code</a:t>
                  </a:r>
                  <a:endPara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F197DEE4-6A5A-0AFB-EDC2-9159A7777E5E}"/>
                  </a:ext>
                </a:extLst>
              </p:cNvPr>
              <p:cNvSpPr/>
              <p:nvPr/>
            </p:nvSpPr>
            <p:spPr>
              <a:xfrm>
                <a:off x="5968214" y="2329475"/>
                <a:ext cx="3089122" cy="164431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619E24C8-C581-41F5-D9CA-D3A3EF9C0DB1}"/>
                </a:ext>
              </a:extLst>
            </p:cNvPr>
            <p:cNvGrpSpPr/>
            <p:nvPr/>
          </p:nvGrpSpPr>
          <p:grpSpPr>
            <a:xfrm>
              <a:off x="6498375" y="3258242"/>
              <a:ext cx="3148438" cy="1589666"/>
              <a:chOff x="5935980" y="2868118"/>
              <a:chExt cx="3148438" cy="1589666"/>
            </a:xfrm>
          </p:grpSpPr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86A958E2-E00A-0E41-E435-C1948FC5DBA0}"/>
                  </a:ext>
                </a:extLst>
              </p:cNvPr>
              <p:cNvSpPr/>
              <p:nvPr/>
            </p:nvSpPr>
            <p:spPr>
              <a:xfrm>
                <a:off x="5968214" y="3928426"/>
                <a:ext cx="3089122" cy="164431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123D565D-5272-4219-7F90-E556E976F110}"/>
                  </a:ext>
                </a:extLst>
              </p:cNvPr>
              <p:cNvSpPr/>
              <p:nvPr/>
            </p:nvSpPr>
            <p:spPr>
              <a:xfrm>
                <a:off x="5968214" y="3259147"/>
                <a:ext cx="3089122" cy="438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1ED7783A-99AA-6D29-278A-0F68BEF0E4CA}"/>
                  </a:ext>
                </a:extLst>
              </p:cNvPr>
              <p:cNvGrpSpPr/>
              <p:nvPr/>
            </p:nvGrpSpPr>
            <p:grpSpPr>
              <a:xfrm>
                <a:off x="5935980" y="2868118"/>
                <a:ext cx="3148438" cy="1589666"/>
                <a:chOff x="6348642" y="3036458"/>
                <a:chExt cx="3148438" cy="1589666"/>
              </a:xfrm>
            </p:grpSpPr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1D30D3FE-23F5-BA4C-1746-6421B8202E82}"/>
                    </a:ext>
                  </a:extLst>
                </p:cNvPr>
                <p:cNvSpPr txBox="1"/>
                <p:nvPr/>
              </p:nvSpPr>
              <p:spPr>
                <a:xfrm>
                  <a:off x="6348642" y="3036458"/>
                  <a:ext cx="3148438" cy="1277273"/>
                </a:xfrm>
                <a:custGeom>
                  <a:avLst/>
                  <a:gdLst>
                    <a:gd name="csX0" fmla="*/ 5152 w 3148438"/>
                    <a:gd name="csY0" fmla="*/ 0 h 1277273"/>
                    <a:gd name="csX1" fmla="*/ 3148438 w 3148438"/>
                    <a:gd name="csY1" fmla="*/ 0 h 1277273"/>
                    <a:gd name="csX2" fmla="*/ 3148438 w 3148438"/>
                    <a:gd name="csY2" fmla="*/ 1277273 h 1277273"/>
                    <a:gd name="csX3" fmla="*/ 5152 w 3148438"/>
                    <a:gd name="csY3" fmla="*/ 1277273 h 1277273"/>
                    <a:gd name="csX4" fmla="*/ 0 w 3148438"/>
                    <a:gd name="csY4" fmla="*/ 164642 h 1277273"/>
                    <a:gd name="csX5" fmla="*/ 5152 w 3148438"/>
                    <a:gd name="csY5" fmla="*/ 0 h 12772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3148438" h="1277273">
                      <a:moveTo>
                        <a:pt x="5152" y="0"/>
                      </a:moveTo>
                      <a:lnTo>
                        <a:pt x="3148438" y="0"/>
                      </a:lnTo>
                      <a:lnTo>
                        <a:pt x="3148438" y="1277273"/>
                      </a:lnTo>
                      <a:lnTo>
                        <a:pt x="5152" y="1277273"/>
                      </a:lnTo>
                      <a:cubicBezTo>
                        <a:pt x="3435" y="906396"/>
                        <a:pt x="1717" y="535519"/>
                        <a:pt x="0" y="164642"/>
                      </a:cubicBezTo>
                      <a:lnTo>
                        <a:pt x="5152" y="0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zh-CN" altLang="zh-CN" sz="1100" dirty="0">
                      <a:solidFill>
                        <a:srgbClr val="0033B3"/>
                      </a:solidFill>
                      <a:effectLst/>
                      <a:latin typeface="JetBrains Mono"/>
                    </a:rPr>
                    <a:t>def </a:t>
                  </a:r>
                  <a:r>
                    <a:rPr lang="zh-CN" altLang="zh-CN" sz="1100" dirty="0">
                      <a:solidFill>
                        <a:srgbClr val="00627A"/>
                      </a:solidFill>
                      <a:effectLst/>
                      <a:latin typeface="JetBrains Mono"/>
                    </a:rPr>
                    <a:t>error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(</a:t>
                  </a:r>
                  <a:r>
                    <a:rPr lang="zh-CN" altLang="zh-CN" sz="1100" dirty="0">
                      <a:solidFill>
                        <a:srgbClr val="000000"/>
                      </a:solidFill>
                      <a:effectLst/>
                      <a:latin typeface="JetBrains Mono"/>
                    </a:rPr>
                    <a:t>message</a:t>
                  </a: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):</a:t>
                  </a:r>
                  <a:b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dirty="0">
                      <a:solidFill>
                        <a:srgbClr val="080808"/>
                      </a:solidFill>
                      <a:effectLst/>
                      <a:latin typeface="JetBrains Mono"/>
                    </a:rPr>
                    <a:t>    </a:t>
                  </a: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# generated summarization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"""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Throw an error with the given message and exit.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"""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# code</a:t>
                  </a:r>
                  <a:b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</a:br>
                  <a:r>
                    <a:rPr lang="zh-CN" altLang="zh-CN" sz="1100" i="1" dirty="0">
                      <a:solidFill>
                        <a:srgbClr val="8C8C8C"/>
                      </a:solidFill>
                      <a:effectLst/>
                      <a:latin typeface="JetBrains Mono"/>
                    </a:rPr>
                    <a:t>    # ...</a:t>
                  </a:r>
                  <a:endParaRPr lang="zh-CN" altLang="zh-CN" sz="1100" dirty="0">
                    <a:solidFill>
                      <a:srgbClr val="080808"/>
                    </a:solidFill>
                    <a:effectLst/>
                    <a:latin typeface="JetBrains Mono"/>
                  </a:endParaRPr>
                </a:p>
              </p:txBody>
            </p: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4631B84B-EFAA-8B53-7B10-391A776B67E9}"/>
                    </a:ext>
                  </a:extLst>
                </p:cNvPr>
                <p:cNvSpPr txBox="1"/>
                <p:nvPr/>
              </p:nvSpPr>
              <p:spPr>
                <a:xfrm>
                  <a:off x="7030375" y="4318347"/>
                  <a:ext cx="179012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Dependent Code</a:t>
                  </a:r>
                  <a:endPara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CEC1B7B4-9A31-1B0A-4102-E1DE1A7A9296}"/>
                </a:ext>
              </a:extLst>
            </p:cNvPr>
            <p:cNvGrpSpPr/>
            <p:nvPr/>
          </p:nvGrpSpPr>
          <p:grpSpPr>
            <a:xfrm>
              <a:off x="8628093" y="2018496"/>
              <a:ext cx="991638" cy="431895"/>
              <a:chOff x="8797557" y="2190631"/>
              <a:chExt cx="991638" cy="431895"/>
            </a:xfrm>
          </p:grpSpPr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EF8A2715-BCD4-B176-5302-F6D95E206BB6}"/>
                  </a:ext>
                </a:extLst>
              </p:cNvPr>
              <p:cNvGrpSpPr/>
              <p:nvPr/>
            </p:nvGrpSpPr>
            <p:grpSpPr>
              <a:xfrm>
                <a:off x="8799435" y="2190631"/>
                <a:ext cx="949948" cy="184666"/>
                <a:chOff x="8777710" y="1808082"/>
                <a:chExt cx="949948" cy="184666"/>
              </a:xfrm>
            </p:grpSpPr>
            <p:sp>
              <p:nvSpPr>
                <p:cNvPr id="159" name="矩形 158">
                  <a:extLst>
                    <a:ext uri="{FF2B5EF4-FFF2-40B4-BE49-F238E27FC236}">
                      <a16:creationId xmlns:a16="http://schemas.microsoft.com/office/drawing/2014/main" id="{FDF6BC27-452D-9355-5018-0BA73B02952C}"/>
                    </a:ext>
                  </a:extLst>
                </p:cNvPr>
                <p:cNvSpPr/>
                <p:nvPr/>
              </p:nvSpPr>
              <p:spPr>
                <a:xfrm>
                  <a:off x="8777710" y="1826615"/>
                  <a:ext cx="192522" cy="1476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4F8D591F-5734-99F5-3E34-869E6E61AEF0}"/>
                    </a:ext>
                  </a:extLst>
                </p:cNvPr>
                <p:cNvSpPr txBox="1"/>
                <p:nvPr/>
              </p:nvSpPr>
              <p:spPr>
                <a:xfrm>
                  <a:off x="8983151" y="1808082"/>
                  <a:ext cx="74450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1200" b="1" dirty="0">
                      <a:solidFill>
                        <a:schemeClr val="accent6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Retained</a:t>
                  </a:r>
                  <a:endParaRPr lang="zh-CN" altLang="en-US" sz="1200" b="1" dirty="0">
                    <a:solidFill>
                      <a:schemeClr val="accent6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AA176BF5-308F-E029-1DDC-70647F7613DD}"/>
                  </a:ext>
                </a:extLst>
              </p:cNvPr>
              <p:cNvGrpSpPr/>
              <p:nvPr/>
            </p:nvGrpSpPr>
            <p:grpSpPr>
              <a:xfrm>
                <a:off x="8797557" y="2437860"/>
                <a:ext cx="991638" cy="184666"/>
                <a:chOff x="8775832" y="2112630"/>
                <a:chExt cx="991638" cy="184666"/>
              </a:xfrm>
            </p:grpSpPr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46CB780E-6EAE-13CD-88FC-6ED17B23DA03}"/>
                    </a:ext>
                  </a:extLst>
                </p:cNvPr>
                <p:cNvSpPr/>
                <p:nvPr/>
              </p:nvSpPr>
              <p:spPr>
                <a:xfrm>
                  <a:off x="8775832" y="2132045"/>
                  <a:ext cx="194400" cy="145837"/>
                </a:xfrm>
                <a:prstGeom prst="rect">
                  <a:avLst/>
                </a:prstGeom>
                <a:solidFill>
                  <a:srgbClr val="FF0000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0DFBD5E3-A788-1B23-9F84-7EC9B9FAD293}"/>
                    </a:ext>
                  </a:extLst>
                </p:cNvPr>
                <p:cNvSpPr txBox="1"/>
                <p:nvPr/>
              </p:nvSpPr>
              <p:spPr>
                <a:xfrm>
                  <a:off x="8970232" y="2112630"/>
                  <a:ext cx="797238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12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Discarded</a:t>
                  </a:r>
                  <a:endParaRPr lang="zh-CN" altLang="en-US" sz="1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41CCBB06-5D7C-76A4-AB2B-1A3541EE9E74}"/>
                </a:ext>
              </a:extLst>
            </p:cNvPr>
            <p:cNvCxnSpPr>
              <a:cxnSpLocks/>
              <a:stCxn id="68" idx="2"/>
              <a:endCxn id="3" idx="0"/>
            </p:cNvCxnSpPr>
            <p:nvPr/>
          </p:nvCxnSpPr>
          <p:spPr>
            <a:xfrm>
              <a:off x="6467961" y="1348437"/>
              <a:ext cx="1" cy="453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50A225F-BA60-4AFC-F32F-8C12C075BCD8}"/>
                </a:ext>
              </a:extLst>
            </p:cNvPr>
            <p:cNvGrpSpPr/>
            <p:nvPr/>
          </p:nvGrpSpPr>
          <p:grpSpPr>
            <a:xfrm>
              <a:off x="4680252" y="1659891"/>
              <a:ext cx="946533" cy="1152601"/>
              <a:chOff x="4375452" y="1659891"/>
              <a:chExt cx="946533" cy="1152601"/>
            </a:xfrm>
          </p:grpSpPr>
          <p:pic>
            <p:nvPicPr>
              <p:cNvPr id="242" name="图片 241">
                <a:extLst>
                  <a:ext uri="{FF2B5EF4-FFF2-40B4-BE49-F238E27FC236}">
                    <a16:creationId xmlns:a16="http://schemas.microsoft.com/office/drawing/2014/main" id="{D071FABB-BFC1-2985-D4D4-E4777C2081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48843" y="1659891"/>
                <a:ext cx="799751" cy="958985"/>
              </a:xfrm>
              <a:prstGeom prst="rect">
                <a:avLst/>
              </a:prstGeom>
            </p:spPr>
          </p:pic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7F7EF70-72EB-6A5C-004B-AB7C2844FB3E}"/>
                  </a:ext>
                </a:extLst>
              </p:cNvPr>
              <p:cNvSpPr txBox="1"/>
              <p:nvPr/>
            </p:nvSpPr>
            <p:spPr>
              <a:xfrm>
                <a:off x="4375452" y="2597048"/>
                <a:ext cx="946533" cy="21544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Extractor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FFFFAB1-8CC2-70DA-8B85-1C28405A2495}"/>
                </a:ext>
              </a:extLst>
            </p:cNvPr>
            <p:cNvGrpSpPr/>
            <p:nvPr/>
          </p:nvGrpSpPr>
          <p:grpSpPr>
            <a:xfrm>
              <a:off x="7349808" y="1698479"/>
              <a:ext cx="1122955" cy="1114013"/>
              <a:chOff x="7098348" y="1698479"/>
              <a:chExt cx="1122955" cy="1114013"/>
            </a:xfrm>
          </p:grpSpPr>
          <p:pic>
            <p:nvPicPr>
              <p:cNvPr id="172" name="图片 171">
                <a:extLst>
                  <a:ext uri="{FF2B5EF4-FFF2-40B4-BE49-F238E27FC236}">
                    <a16:creationId xmlns:a16="http://schemas.microsoft.com/office/drawing/2014/main" id="{AD5ABFFD-1D8A-8AD6-519E-4AFC7D90E5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74771" y="1698479"/>
                <a:ext cx="946532" cy="881808"/>
              </a:xfrm>
              <a:prstGeom prst="rect">
                <a:avLst/>
              </a:prstGeom>
            </p:spPr>
          </p:pic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45F6237-7CE2-CACC-63C2-E334141E7A81}"/>
                  </a:ext>
                </a:extLst>
              </p:cNvPr>
              <p:cNvSpPr txBox="1"/>
              <p:nvPr/>
            </p:nvSpPr>
            <p:spPr>
              <a:xfrm>
                <a:off x="7098348" y="2597048"/>
                <a:ext cx="1110331" cy="21544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Summarizer</a:t>
                </a:r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434A742-99A5-05E4-22CC-622C89B43C9D}"/>
                </a:ext>
              </a:extLst>
            </p:cNvPr>
            <p:cNvGrpSpPr/>
            <p:nvPr/>
          </p:nvGrpSpPr>
          <p:grpSpPr>
            <a:xfrm>
              <a:off x="5713559" y="2875707"/>
              <a:ext cx="1508802" cy="302400"/>
              <a:chOff x="5399730" y="2875707"/>
              <a:chExt cx="1508802" cy="3024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B096683F-5E8B-4DFD-4419-705A35CC60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6775" y="2875707"/>
                <a:ext cx="511757" cy="3012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A5C4BC71-420F-FA84-7EA6-912557F364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99730" y="2875707"/>
                <a:ext cx="511200" cy="30240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19CF96EC-0640-E2A4-4C24-2884FD00BED3}"/>
                </a:ext>
              </a:extLst>
            </p:cNvPr>
            <p:cNvGrpSpPr/>
            <p:nvPr/>
          </p:nvGrpSpPr>
          <p:grpSpPr>
            <a:xfrm>
              <a:off x="7753361" y="2808987"/>
              <a:ext cx="303224" cy="396000"/>
              <a:chOff x="7985028" y="2733257"/>
              <a:chExt cx="303224" cy="396000"/>
            </a:xfrm>
          </p:grpSpPr>
          <p:sp>
            <p:nvSpPr>
              <p:cNvPr id="23" name="箭头: 下 22">
                <a:extLst>
                  <a:ext uri="{FF2B5EF4-FFF2-40B4-BE49-F238E27FC236}">
                    <a16:creationId xmlns:a16="http://schemas.microsoft.com/office/drawing/2014/main" id="{E8770740-01B6-2F6F-F193-C020C44822ED}"/>
                  </a:ext>
                </a:extLst>
              </p:cNvPr>
              <p:cNvSpPr/>
              <p:nvPr/>
            </p:nvSpPr>
            <p:spPr>
              <a:xfrm rot="10800000">
                <a:off x="7985028" y="2733257"/>
                <a:ext cx="159146" cy="396000"/>
              </a:xfrm>
              <a:prstGeom prst="downArrow">
                <a:avLst>
                  <a:gd name="adj1" fmla="val 50000"/>
                  <a:gd name="adj2" fmla="val 73529"/>
                </a:avLst>
              </a:prstGeom>
              <a:solidFill>
                <a:srgbClr val="C04F1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箭头: 下 23">
                <a:extLst>
                  <a:ext uri="{FF2B5EF4-FFF2-40B4-BE49-F238E27FC236}">
                    <a16:creationId xmlns:a16="http://schemas.microsoft.com/office/drawing/2014/main" id="{5485BDED-E4F6-3343-C92B-A1C1AB24690E}"/>
                  </a:ext>
                </a:extLst>
              </p:cNvPr>
              <p:cNvSpPr/>
              <p:nvPr/>
            </p:nvSpPr>
            <p:spPr>
              <a:xfrm>
                <a:off x="8129106" y="2733257"/>
                <a:ext cx="159146" cy="396000"/>
              </a:xfrm>
              <a:prstGeom prst="downArrow">
                <a:avLst>
                  <a:gd name="adj1" fmla="val 50000"/>
                  <a:gd name="adj2" fmla="val 73529"/>
                </a:avLst>
              </a:prstGeom>
              <a:solidFill>
                <a:srgbClr val="C04F1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932C4756-630D-8129-754C-8D62D56BC8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1052" y="4689987"/>
              <a:ext cx="1685287" cy="1042219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FD449B50-F8B2-E410-5E49-A91EF174DC37}"/>
                </a:ext>
              </a:extLst>
            </p:cNvPr>
            <p:cNvCxnSpPr>
              <a:cxnSpLocks/>
              <a:stCxn id="72" idx="2"/>
              <a:endCxn id="86" idx="0"/>
            </p:cNvCxnSpPr>
            <p:nvPr/>
          </p:nvCxnSpPr>
          <p:spPr>
            <a:xfrm flipH="1">
              <a:off x="4719341" y="4837212"/>
              <a:ext cx="4250" cy="522742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连接符: 肘形 54">
              <a:extLst>
                <a:ext uri="{FF2B5EF4-FFF2-40B4-BE49-F238E27FC236}">
                  <a16:creationId xmlns:a16="http://schemas.microsoft.com/office/drawing/2014/main" id="{FED77026-9A4C-911A-096A-E01332481020}"/>
                </a:ext>
              </a:extLst>
            </p:cNvPr>
            <p:cNvCxnSpPr>
              <a:cxnSpLocks/>
              <a:stCxn id="11" idx="1"/>
              <a:endCxn id="86" idx="1"/>
            </p:cNvCxnSpPr>
            <p:nvPr/>
          </p:nvCxnSpPr>
          <p:spPr>
            <a:xfrm rot="10800000" flipV="1">
              <a:off x="4169752" y="536001"/>
              <a:ext cx="818730" cy="5373542"/>
            </a:xfrm>
            <a:prstGeom prst="bentConnector3">
              <a:avLst>
                <a:gd name="adj1" fmla="val 235365"/>
              </a:avLst>
            </a:prstGeom>
            <a:ln w="38100">
              <a:solidFill>
                <a:srgbClr val="3B7D2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32138D7B-8BC1-DE5C-007F-0CAE1AC5B6F3}"/>
                </a:ext>
              </a:extLst>
            </p:cNvPr>
            <p:cNvSpPr txBox="1"/>
            <p:nvPr/>
          </p:nvSpPr>
          <p:spPr>
            <a:xfrm>
              <a:off x="4758264" y="4891697"/>
              <a:ext cx="1274596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③</a:t>
              </a:r>
              <a:r>
                <a:rPr lang="en-US" altLang="zh-CN" sz="1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Generation</a:t>
              </a:r>
              <a:endPara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86852805-B18A-F484-5663-F9D0FF0563E2}"/>
                </a:ext>
              </a:extLst>
            </p:cNvPr>
            <p:cNvCxnSpPr>
              <a:cxnSpLocks/>
              <a:stCxn id="86" idx="3"/>
            </p:cNvCxnSpPr>
            <p:nvPr/>
          </p:nvCxnSpPr>
          <p:spPr>
            <a:xfrm flipV="1">
              <a:off x="5268930" y="5898848"/>
              <a:ext cx="1108721" cy="1069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8202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1086</Words>
  <Application>Microsoft Office PowerPoint</Application>
  <PresentationFormat>宽屏</PresentationFormat>
  <Paragraphs>48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JetBrains Mono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12</cp:revision>
  <dcterms:created xsi:type="dcterms:W3CDTF">2026-10-09T07:56:23Z</dcterms:created>
  <dcterms:modified xsi:type="dcterms:W3CDTF">2026-10-22T10:19:49Z</dcterms:modified>
</cp:coreProperties>
</file>