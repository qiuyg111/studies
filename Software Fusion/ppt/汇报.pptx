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04" r:id="rId2"/>
    <p:sldId id="306" r:id="rId3"/>
    <p:sldId id="286" r:id="rId4"/>
    <p:sldId id="287" r:id="rId5"/>
    <p:sldId id="292" r:id="rId6"/>
    <p:sldId id="293" r:id="rId7"/>
    <p:sldId id="294" r:id="rId8"/>
    <p:sldId id="296" r:id="rId9"/>
    <p:sldId id="297" r:id="rId10"/>
    <p:sldId id="298" r:id="rId11"/>
    <p:sldId id="299" r:id="rId12"/>
    <p:sldId id="308" r:id="rId13"/>
    <p:sldId id="301" r:id="rId14"/>
    <p:sldId id="302" r:id="rId15"/>
    <p:sldId id="305"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427AAC"/>
    <a:srgbClr val="016DB2"/>
    <a:srgbClr val="FFFFFF"/>
    <a:srgbClr val="F9FAFB"/>
    <a:srgbClr val="065543"/>
    <a:srgbClr val="20936A"/>
    <a:srgbClr val="10345A"/>
    <a:srgbClr val="DA0E2C"/>
    <a:srgbClr val="006D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6" autoAdjust="0"/>
    <p:restoredTop sz="74607" autoAdjust="0"/>
  </p:normalViewPr>
  <p:slideViewPr>
    <p:cSldViewPr snapToGrid="0">
      <p:cViewPr>
        <p:scale>
          <a:sx n="100" d="100"/>
          <a:sy n="100" d="100"/>
        </p:scale>
        <p:origin x="-134" y="-109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30454372474843"/>
          <c:y val="6.5909202998619054E-3"/>
          <c:w val="0.7469545627525157"/>
          <c:h val="0.76896868330934542"/>
        </c:manualLayout>
      </c:layout>
      <c:lineChart>
        <c:grouping val="standard"/>
        <c:varyColors val="0"/>
        <c:ser>
          <c:idx val="0"/>
          <c:order val="0"/>
          <c:tx>
            <c:strRef>
              <c:f>Sheet1!$B$1</c:f>
              <c:strCache>
                <c:ptCount val="1"/>
                <c:pt idx="0">
                  <c:v>系列 1</c:v>
                </c:pt>
              </c:strCache>
            </c:strRef>
          </c:tx>
          <c:spPr>
            <a:ln w="19050" cap="rnd">
              <a:solidFill>
                <a:schemeClr val="tx1">
                  <a:lumMod val="95000"/>
                  <a:lumOff val="5000"/>
                </a:schemeClr>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0</c:v>
                </c:pt>
                <c:pt idx="1">
                  <c:v>1</c:v>
                </c:pt>
                <c:pt idx="2">
                  <c:v>2</c:v>
                </c:pt>
                <c:pt idx="3">
                  <c:v>3</c:v>
                </c:pt>
              </c:numCache>
            </c:numRef>
          </c:val>
          <c:smooth val="0"/>
          <c:extLst>
            <c:ext xmlns:c16="http://schemas.microsoft.com/office/drawing/2014/chart" uri="{C3380CC4-5D6E-409C-BE32-E72D297353CC}">
              <c16:uniqueId val="{00000000-218F-4C16-962F-B60DB37E7330}"/>
            </c:ext>
          </c:extLst>
        </c:ser>
        <c:dLbls>
          <c:showLegendKey val="0"/>
          <c:showVal val="0"/>
          <c:showCatName val="0"/>
          <c:showSerName val="0"/>
          <c:showPercent val="0"/>
          <c:showBubbleSize val="0"/>
        </c:dLbls>
        <c:smooth val="0"/>
        <c:axId val="1352728336"/>
        <c:axId val="1352722096"/>
      </c:lineChart>
      <c:catAx>
        <c:axId val="1352728336"/>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r>
                  <a:rPr lang="zh-CN" altLang="en-US" sz="1800" dirty="0">
                    <a:latin typeface="Noto Sans SC" panose="020B0200000000000000" pitchFamily="34" charset="-122"/>
                    <a:ea typeface="Noto Sans SC" panose="020B0200000000000000" pitchFamily="34" charset="-122"/>
                  </a:rPr>
                  <a:t>检查点数量</a:t>
                </a:r>
              </a:p>
            </c:rich>
          </c:tx>
          <c:layout>
            <c:manualLayout>
              <c:xMode val="edge"/>
              <c:yMode val="edge"/>
              <c:x val="0.40279988872487715"/>
              <c:y val="0.75067281682631259"/>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endParaRPr lang="zh-CN"/>
            </a:p>
          </c:txPr>
        </c:title>
        <c:numFmt formatCode="General" sourceLinked="1"/>
        <c:majorTickMark val="none"/>
        <c:minorTickMark val="none"/>
        <c:tickLblPos val="none"/>
        <c:spPr>
          <a:noFill/>
          <a:ln w="15875" cap="flat" cmpd="sng" algn="ctr">
            <a:solidFill>
              <a:schemeClr val="tx1">
                <a:lumMod val="95000"/>
                <a:lumOff val="5000"/>
              </a:schemeClr>
            </a:solidFill>
            <a:round/>
            <a:tailEnd type="triangle"/>
          </a:ln>
          <a:effectLst/>
        </c:spPr>
        <c:txPr>
          <a:bodyPr rot="-60000000" spcFirstLastPara="1" vertOverflow="ellipsis" vert="horz" wrap="square" anchor="ctr" anchorCtr="1"/>
          <a:lstStyle/>
          <a:p>
            <a:pPr>
              <a:defRPr sz="1197" b="0" i="0" u="none" strike="noStrike" kern="1200" baseline="0">
                <a:noFill/>
                <a:latin typeface="+mn-lt"/>
                <a:ea typeface="+mn-ea"/>
                <a:cs typeface="+mn-cs"/>
              </a:defRPr>
            </a:pPr>
            <a:endParaRPr lang="zh-CN"/>
          </a:p>
        </c:txPr>
        <c:crossAx val="1352722096"/>
        <c:crosses val="autoZero"/>
        <c:auto val="1"/>
        <c:lblAlgn val="ctr"/>
        <c:lblOffset val="100"/>
        <c:noMultiLvlLbl val="0"/>
      </c:catAx>
      <c:valAx>
        <c:axId val="1352722096"/>
        <c:scaling>
          <c:orientation val="minMax"/>
          <c:max val="3"/>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r>
                  <a:rPr lang="zh-CN" altLang="en-US" sz="1800" dirty="0">
                    <a:latin typeface="Noto Sans SC" panose="020B0200000000000000" pitchFamily="34" charset="-122"/>
                    <a:ea typeface="Noto Sans SC" panose="020B0200000000000000" pitchFamily="34" charset="-122"/>
                  </a:rPr>
                  <a:t>资源开销</a:t>
                </a:r>
              </a:p>
            </c:rich>
          </c:tx>
          <c:layout>
            <c:manualLayout>
              <c:xMode val="edge"/>
              <c:yMode val="edge"/>
              <c:x val="7.5646489964470834E-2"/>
              <c:y val="0.16457313583634053"/>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endParaRPr lang="zh-CN"/>
            </a:p>
          </c:txPr>
        </c:title>
        <c:numFmt formatCode="General" sourceLinked="1"/>
        <c:majorTickMark val="none"/>
        <c:minorTickMark val="none"/>
        <c:tickLblPos val="none"/>
        <c:spPr>
          <a:noFill/>
          <a:ln w="15875">
            <a:solidFill>
              <a:schemeClr val="tx1">
                <a:lumMod val="95000"/>
                <a:lumOff val="5000"/>
              </a:schemeClr>
            </a:solidFill>
            <a:tailEnd type="triangle"/>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5272833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大家好，我叫邱盈钢，来自国防科技大学计算机学院，今天我来为大家分享我们</a:t>
            </a:r>
            <a:r>
              <a:rPr lang="en-US" altLang="zh-CN" dirty="0"/>
              <a:t>fse26</a:t>
            </a:r>
            <a:r>
              <a:rPr lang="zh-CN" altLang="en-US" dirty="0"/>
              <a:t>的工作</a:t>
            </a:r>
            <a:r>
              <a:rPr lang="en-US" altLang="zh-CN" dirty="0"/>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30923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AFB4A-1CA0-3F41-99EA-3802BD1A99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6FAD8-5079-1F39-17FF-1D75AE01FF7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D754322-7245-49FB-76A7-1BA61B237315}"/>
                  </a:ext>
                </a:extLst>
              </p:cNvPr>
              <p:cNvSpPr>
                <a:spLocks noGrp="1"/>
              </p:cNvSpPr>
              <p:nvPr>
                <p:ph type="body" idx="1"/>
              </p:nvPr>
            </p:nvSpPr>
            <p:spPr/>
            <p:txBody>
              <a:bodyPr/>
              <a:lstStyle/>
              <a:p>
                <a:r>
                  <a:rPr lang="zh-CN" altLang="en-US" dirty="0">
                    <a:effectLst/>
                  </a:rPr>
                  <a:t>首先先介绍相关背景，大模型近些年发展迅速，微调也逐渐成为大模型应用的一种范式。</a:t>
                </a:r>
                <a:endParaRPr lang="en-US" altLang="zh-CN" dirty="0">
                  <a:effectLst/>
                </a:endParaRPr>
              </a:p>
              <a:p>
                <a:endParaRPr lang="en-US" altLang="zh-CN" dirty="0">
                  <a:effectLst/>
                </a:endParaRPr>
              </a:p>
              <a:p>
                <a:r>
                  <a:rPr lang="zh-CN" altLang="en-US" dirty="0">
                    <a:effectLst/>
                  </a:rPr>
                  <a:t>传统方式通常为不同软工任务以及不同编程语言版本微调一个大模型，并同时部署，但是当我们部署许多任务的检查点时，系统所需的资源开销随着任务数量呈线性增长，这大大提高了管理与部署开销，不利于大模型绿色发展</a:t>
                </a: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7DC9ED1-2B38-94E7-D704-1ED3998EA632}"/>
              </a:ext>
            </a:extLst>
          </p:cNvPr>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54147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28C3-1412-1F5A-3850-E6BA66B2CB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3D6BC4-DB0C-1AAE-9FED-6DEEC478775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7E604DD6-1B85-D90D-CF35-B53F7E2F217D}"/>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模型融合作为一种新兴方法，其将多个微调检查点融合成一个，并且要使得融合后的检查点能够处理相应的微调模型处理的任务。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rPr>
                  <a:t>模型在计算机视觉以及自然语言处理中已展现出很好的性能，但是在软工领域的有效性还需要进一步探索，因此，我们的工作主要探究的问题是</a:t>
                </a:r>
                <a:r>
                  <a:rPr lang="en-US" altLang="zh-CN" b="1" i="0" u="none" strike="noStrike" dirty="0" err="1">
                    <a:solidFill>
                      <a:srgbClr val="333333"/>
                    </a:solidFill>
                    <a:latin typeface="Noto Sans SC"/>
                    <a:ea typeface="Noto Sans SC"/>
                    <a:cs typeface="Noto Sans SC"/>
                    <a:sym typeface="Noto Sans SC"/>
                  </a:rPr>
                  <a:t>能否通过模型融合技术，让一个统一的模型同时高效适配多个软件工程任务和多种编程语言</a:t>
                </a:r>
                <a:r>
                  <a:rPr lang="en-US" altLang="zh-CN" b="1" i="0" u="none" strike="noStrike" dirty="0">
                    <a:solidFill>
                      <a:srgbClr val="333333"/>
                    </a:solidFill>
                    <a:latin typeface="Noto Sans SC"/>
                    <a:ea typeface="Noto Sans SC"/>
                    <a:cs typeface="Noto Sans SC"/>
                    <a:sym typeface="Noto Sans SC"/>
                  </a:rPr>
                  <a:t>？</a:t>
                </a:r>
                <a:endParaRPr lang="en-US" altLang="zh-CN" sz="1100" dirty="0"/>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因此，我们工作的主要流程为，首先对</a:t>
                </a:r>
                <a:r>
                  <a:rPr lang="en-US" altLang="zh-CN" sz="1200" b="0" i="0" u="none" strike="noStrike" dirty="0">
                    <a:solidFill>
                      <a:srgbClr val="000000"/>
                    </a:solidFill>
                  </a:rPr>
                  <a:t>codellama-7b</a:t>
                </a:r>
                <a:r>
                  <a:rPr lang="zh-CN" altLang="en-US" sz="1200" b="0" i="0" u="none" strike="noStrike" dirty="0">
                    <a:solidFill>
                      <a:srgbClr val="000000"/>
                    </a:solidFill>
                  </a:rPr>
                  <a:t>模型对不同任务以及不同编程语言进行</a:t>
                </a:r>
                <a:r>
                  <a:rPr lang="en-US" altLang="zh-CN" sz="1200" b="0" i="0" u="none" strike="noStrike" dirty="0">
                    <a:solidFill>
                      <a:srgbClr val="000000"/>
                    </a:solidFill>
                  </a:rPr>
                  <a:t>lora</a:t>
                </a:r>
                <a:r>
                  <a:rPr lang="zh-CN" altLang="en-US" sz="1200" b="0" i="0" u="none" strike="noStrike" dirty="0">
                    <a:solidFill>
                      <a:srgbClr val="000000"/>
                    </a:solidFill>
                  </a:rPr>
                  <a:t>微调，得到微调后的参数，</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然后我们对这些参数应用融合方法得到融合后的</a:t>
                </a:r>
                <a:r>
                  <a:rPr lang="en-US" altLang="zh-CN" sz="1200" b="0" i="0" u="none" strike="noStrike" dirty="0">
                    <a:solidFill>
                      <a:srgbClr val="000000"/>
                    </a:solidFill>
                  </a:rPr>
                  <a:t>lora</a:t>
                </a:r>
                <a:r>
                  <a:rPr lang="zh-CN" altLang="en-US" sz="1200" b="0" i="0" u="none" strike="noStrike" dirty="0">
                    <a:solidFill>
                      <a:srgbClr val="000000"/>
                    </a:solidFill>
                  </a:rPr>
                  <a:t>参数，</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最后将融合参数加载到基座模型进行推理来探究融合后的性能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447AA51-3944-FB6B-42A0-1541FF832B53}"/>
              </a:ext>
            </a:extLst>
          </p:cNvPr>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361467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C4F-26E9-6796-1272-26E63AE3EF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3584A5-4EE6-A822-5E2A-156A9FD430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4C53F0-08DA-2072-AF2E-C30A8355A6BF}"/>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接下来，我将介绍我们的研究设计，首先是探究的融合方法，我们主要探究了四个</a:t>
                </a:r>
                <a:r>
                  <a:rPr lang="en-US" altLang="zh-CN" sz="1200" b="0" i="0" u="none" strike="noStrike" dirty="0" err="1">
                    <a:solidFill>
                      <a:srgbClr val="000000"/>
                    </a:solidFill>
                  </a:rPr>
                  <a:t>sota</a:t>
                </a:r>
                <a:r>
                  <a:rPr lang="zh-CN" altLang="en-US" sz="1200" b="0" i="0" u="none" strike="noStrike" dirty="0">
                    <a:solidFill>
                      <a:srgbClr val="000000"/>
                    </a:solidFill>
                  </a:rPr>
                  <a:t>方法，</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第一个是</a:t>
                </a:r>
                <a:r>
                  <a:rPr lang="en-US" altLang="zh-CN" sz="1200" b="0" i="0" u="none" strike="noStrike" dirty="0">
                    <a:solidFill>
                      <a:srgbClr val="000000"/>
                    </a:solidFill>
                  </a:rPr>
                  <a:t>task arithmetic</a:t>
                </a:r>
                <a:r>
                  <a:rPr lang="zh-CN" altLang="en-US" sz="1200" b="0" i="0" u="none" strike="noStrike" dirty="0">
                    <a:solidFill>
                      <a:srgbClr val="000000"/>
                    </a:solidFill>
                  </a:rPr>
                  <a:t>任务算术，其就是直接将微调变化的参数视作一个向量，然后进行累加并乘以一个缩放系数得到融合参数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第二个是</a:t>
                </a:r>
                <a:r>
                  <a:rPr lang="en-US" altLang="zh-CN" sz="1200" b="0" i="0" u="none" strike="noStrike" dirty="0">
                    <a:solidFill>
                      <a:srgbClr val="000000"/>
                    </a:solidFill>
                  </a:rPr>
                  <a:t>ties-merging</a:t>
                </a:r>
                <a:r>
                  <a:rPr lang="zh-CN" altLang="en-US" sz="1200" b="0" i="0" u="none" strike="noStrike" dirty="0">
                    <a:solidFill>
                      <a:srgbClr val="000000"/>
                    </a:solidFill>
                  </a:rPr>
                  <a:t>，他发现将任务向量直接相加会出现两种问题，一个就是参数冗余，就是一个任务在某个维度的值波动很小，但是会影响其他任务在该维度上的特征，也就是平均后值变小，第二个就是符号冲突，也就是两个任务在某个维度上的特征方向相反</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为了解决这两个问题，他首先只保留每个任务的</a:t>
                </a:r>
                <a:r>
                  <a:rPr lang="en-US" altLang="zh-CN" sz="1200" b="0" i="0" u="none" strike="noStrike" dirty="0">
                    <a:solidFill>
                      <a:srgbClr val="000000"/>
                    </a:solidFill>
                  </a:rPr>
                  <a:t>top k%</a:t>
                </a:r>
                <a:r>
                  <a:rPr lang="zh-CN" altLang="en-US" sz="1200" b="0" i="0" u="none" strike="noStrike" dirty="0">
                    <a:solidFill>
                      <a:srgbClr val="000000"/>
                    </a:solidFill>
                  </a:rPr>
                  <a:t>的参数，其次对于每个维度只保留主要方向的参数，其他的置为零，最后对不为</a:t>
                </a:r>
                <a:r>
                  <a:rPr lang="en-US" altLang="zh-CN" sz="1200" b="0" i="0" u="none" strike="noStrike" dirty="0">
                    <a:solidFill>
                      <a:srgbClr val="000000"/>
                    </a:solidFill>
                  </a:rPr>
                  <a:t>0</a:t>
                </a:r>
                <a:r>
                  <a:rPr lang="zh-CN" altLang="en-US" sz="1200" b="0" i="0" u="none" strike="noStrike" dirty="0">
                    <a:solidFill>
                      <a:srgbClr val="000000"/>
                    </a:solidFill>
                  </a:rPr>
                  <a:t>的参数进行平均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第三个方法是可学习融合参数，他为每个向量引入不同的系数来进一步提升性能，为了得到最优的系数组合，其用梯度下降来优化</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最后一个就是</a:t>
                </a:r>
                <a:r>
                  <a:rPr lang="en-US" altLang="zh-CN" sz="1200" b="0" i="0" u="none" strike="noStrike" dirty="0">
                    <a:solidFill>
                      <a:srgbClr val="000000"/>
                    </a:solidFill>
                  </a:rPr>
                  <a:t>TALL-Masks</a:t>
                </a:r>
                <a:r>
                  <a:rPr lang="zh-CN" altLang="en-US" sz="1200" b="0" i="0" u="none" strike="noStrike" dirty="0">
                    <a:solidFill>
                      <a:srgbClr val="000000"/>
                    </a:solidFill>
                  </a:rPr>
                  <a:t>，其为每个任务引入额外的掩码从融合参数中定位与任务相关的参数，在本工作中，对于该方法的融合参数，我们使用最大值融合，也就是每个维度保留绝对值最大的参数，然后通过这个公式构造掩码，这个公式的含义是，当融合参数与微调参数的差距在一定范围内时，就认为其是相关的然后保留，推理的时候，融合参数与相应任务掩码安位相乘得到推理参数</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4FA3F535-2F77-4197-D586-0ED8E3DDF02A}"/>
              </a:ext>
            </a:extLst>
          </p:cNvPr>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72216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CFED-8863-137C-1513-BDCF1C7EB1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DDA035-B8FC-F5D3-A47B-A0EC8EF665C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4279E8CF-0A32-CA39-0717-72FD630ACD3C}"/>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为了探究所选方法的有效性，我们在三种重新理解任务以及三种程序生成任务上进行了实验，包括了代码所示、漏洞检测、克隆检测、代码生成、代码修复以及摘要生产，我们主要回答四个研究问题，</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第一个是同一任务中，多编程语言融合的性能如何，为了探究这个问题，我们在代码搜索以及代码修复 任务上进行了实验，融合六种主流的编程语言，这个研究问题的数据统计如表所示</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第二个是多软工任务融合的性能如何，我们在相同语言的设置下分别融合了三种程序理解任务以及三种程序生成任务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第三个是多软工任务多编程语言融合的性能如何，我们将</a:t>
                </a:r>
                <a:r>
                  <a:rPr lang="en-US" altLang="zh-CN" sz="1200" b="0" i="0" u="none" strike="noStrike" dirty="0">
                    <a:solidFill>
                      <a:srgbClr val="000000"/>
                    </a:solidFill>
                  </a:rPr>
                  <a:t>rq2</a:t>
                </a:r>
                <a:r>
                  <a:rPr lang="zh-CN" altLang="en-US" sz="1200" b="0" i="0" u="none" strike="noStrike" dirty="0">
                    <a:solidFill>
                      <a:srgbClr val="000000"/>
                    </a:solidFill>
                  </a:rPr>
                  <a:t>中的所有任务融合以探究有效性，</a:t>
                </a:r>
                <a:r>
                  <a:rPr lang="en-US" altLang="zh-CN" sz="1200" b="0" i="0" u="none" strike="noStrike" dirty="0">
                    <a:solidFill>
                      <a:srgbClr val="000000"/>
                    </a:solidFill>
                  </a:rPr>
                  <a:t>rq2</a:t>
                </a:r>
                <a:r>
                  <a:rPr lang="zh-CN" altLang="en-US" sz="1200" b="0" i="0" u="none" strike="noStrike" dirty="0">
                    <a:solidFill>
                      <a:srgbClr val="000000"/>
                    </a:solidFill>
                  </a:rPr>
                  <a:t>与</a:t>
                </a:r>
                <a:r>
                  <a:rPr lang="en-US" altLang="zh-CN" sz="1200" b="0" i="0" u="none" strike="noStrike" dirty="0">
                    <a:solidFill>
                      <a:srgbClr val="000000"/>
                    </a:solidFill>
                  </a:rPr>
                  <a:t>rq3</a:t>
                </a:r>
                <a:r>
                  <a:rPr lang="zh-CN" altLang="en-US" sz="1200" b="0" i="0" u="none" strike="noStrike" dirty="0">
                    <a:solidFill>
                      <a:srgbClr val="000000"/>
                    </a:solidFill>
                  </a:rPr>
                  <a:t>的数据统计如表所示</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最后我们改进现有方法以提升融合性能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B5E79680-BC24-FE21-FDAC-3DE239B38738}"/>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63076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72BE-77C9-6C68-E4B9-7FBED9227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D54B72-6219-3344-1EC1-7B6AA67484A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ACE0CAE0-591B-876D-00DD-F1B2B9F77FDA}"/>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首先的</a:t>
                </a:r>
                <a:r>
                  <a:rPr lang="en-US" altLang="zh-CN" sz="1200" b="0" i="0" u="none" strike="noStrike" dirty="0">
                    <a:solidFill>
                      <a:srgbClr val="000000"/>
                    </a:solidFill>
                  </a:rPr>
                  <a:t>rq1</a:t>
                </a:r>
                <a:r>
                  <a:rPr lang="zh-CN" altLang="en-US" sz="1200" b="0" i="0" u="none" strike="noStrike" dirty="0">
                    <a:solidFill>
                      <a:srgbClr val="000000"/>
                    </a:solidFill>
                  </a:rPr>
                  <a:t>，多编程语言融合</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他的结果如这个表所示，红色深浅代表融合后的性能下降程度，我们可以发现，对于代码搜索任务，所有方法都能保持比较好的性能，性能保留程度都在</a:t>
                </a:r>
                <a:r>
                  <a:rPr lang="en-US" altLang="zh-CN" sz="1200" b="0" i="0" u="none" strike="noStrike" dirty="0">
                    <a:solidFill>
                      <a:srgbClr val="000000"/>
                    </a:solidFill>
                  </a:rPr>
                  <a:t>98%</a:t>
                </a:r>
                <a:r>
                  <a:rPr lang="zh-CN" altLang="en-US" sz="1200" b="0" i="0" u="none" strike="noStrike" dirty="0">
                    <a:solidFill>
                      <a:srgbClr val="000000"/>
                    </a:solidFill>
                  </a:rPr>
                  <a:t>以上，而对于代码修复任务，我们可以发现在</a:t>
                </a:r>
                <a:r>
                  <a:rPr lang="en-US" altLang="zh-CN" sz="1200" b="0" i="0" u="none" strike="noStrike" dirty="0">
                    <a:solidFill>
                      <a:srgbClr val="000000"/>
                    </a:solidFill>
                  </a:rPr>
                  <a:t>go</a:t>
                </a:r>
                <a:r>
                  <a:rPr lang="zh-CN" altLang="en-US" sz="1200" b="0" i="0" u="none" strike="noStrike" dirty="0">
                    <a:solidFill>
                      <a:srgbClr val="000000"/>
                    </a:solidFill>
                  </a:rPr>
                  <a:t>语言和</a:t>
                </a:r>
                <a:r>
                  <a:rPr lang="en-US" altLang="zh-CN" sz="1200" b="0" i="0" u="none" strike="noStrike" dirty="0" err="1">
                    <a:solidFill>
                      <a:srgbClr val="000000"/>
                    </a:solidFill>
                  </a:rPr>
                  <a:t>php</a:t>
                </a:r>
                <a:r>
                  <a:rPr lang="zh-CN" altLang="en-US" sz="1200" b="0" i="0" u="none" strike="noStrike" dirty="0">
                    <a:solidFill>
                      <a:srgbClr val="000000"/>
                    </a:solidFill>
                  </a:rPr>
                  <a:t>语言上，几乎所有方法都有较大的性能损失</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为了探究原因，我们做了以下分析</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2D585DE-9CB7-09EF-AAB8-89C6E3B917F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75434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85B2-4387-0D30-39CC-0307A1021D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5BE45-E9B5-6AB0-3FE6-B8E6CCB13C8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674141-923E-E67F-D40F-DCD94F93E4C2}"/>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两个图分别展示了代码搜索代码搜索与代码修复任务的参数变化绝对值的分布，</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我们可以发现代码搜索任务的不同编程语言他的分布差异相较于代码修复要均衡很多，这可能是因为代码搜索任务不同语言之间的数据量更加均衡，</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因此代码搜索任务中，融合模型能够保持较好的性能，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对于代码修复任务，我们可以发现性能下降一般发生在参数变化小的任务上，例如</a:t>
                </a:r>
                <a:r>
                  <a:rPr lang="en-US" altLang="zh-CN" sz="1200" b="0" i="0" u="none" strike="noStrike" dirty="0">
                    <a:solidFill>
                      <a:srgbClr val="000000"/>
                    </a:solidFill>
                  </a:rPr>
                  <a:t>go</a:t>
                </a:r>
                <a:r>
                  <a:rPr lang="zh-CN" altLang="en-US" sz="1200" b="0" i="0" u="none" strike="noStrike" dirty="0">
                    <a:solidFill>
                      <a:srgbClr val="000000"/>
                    </a:solidFill>
                  </a:rPr>
                  <a:t>语言与</a:t>
                </a:r>
                <a:r>
                  <a:rPr lang="en-US" altLang="zh-CN" sz="1200" b="0" i="0" u="none" strike="noStrike" dirty="0" err="1">
                    <a:solidFill>
                      <a:srgbClr val="000000"/>
                    </a:solidFill>
                  </a:rPr>
                  <a:t>php</a:t>
                </a:r>
                <a:r>
                  <a:rPr lang="zh-CN" altLang="en-US" sz="1200" b="0" i="0" u="none" strike="noStrike" dirty="0">
                    <a:solidFill>
                      <a:srgbClr val="000000"/>
                    </a:solidFill>
                  </a:rPr>
                  <a:t>语言</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2E93011-9202-988F-62A0-A28E118C7F8D}"/>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878763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10F24-B386-531F-AFBF-CEC7940A1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0DBA09-84B4-10BA-7713-5D6270AE6F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8A49603-1384-3928-0536-FB8EF475EC63}"/>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其次是</a:t>
                </a:r>
                <a:r>
                  <a:rPr lang="en-US" altLang="zh-CN" sz="1200" b="0" i="0" u="none" strike="noStrike" dirty="0">
                    <a:solidFill>
                      <a:srgbClr val="000000"/>
                    </a:solidFill>
                  </a:rPr>
                  <a:t>rq2</a:t>
                </a:r>
                <a:r>
                  <a:rPr lang="zh-CN" altLang="en-US" sz="1200" b="0" i="0" u="none" strike="noStrike" dirty="0">
                    <a:solidFill>
                      <a:srgbClr val="000000"/>
                    </a:solidFill>
                  </a:rPr>
                  <a:t>，多软工任务的融合性能，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这两个表分别展示的</a:t>
                </a:r>
                <a:r>
                  <a:rPr lang="en-US" altLang="zh-CN" sz="1200" b="0" i="0" u="none" strike="noStrike" dirty="0">
                    <a:solidFill>
                      <a:srgbClr val="000000"/>
                    </a:solidFill>
                  </a:rPr>
                  <a:t>Java</a:t>
                </a:r>
                <a:r>
                  <a:rPr lang="zh-CN" altLang="en-US" sz="1200" b="0" i="0" u="none" strike="noStrike" dirty="0">
                    <a:solidFill>
                      <a:srgbClr val="000000"/>
                    </a:solidFill>
                  </a:rPr>
                  <a:t>语言的程序理解任务的融合结果与</a:t>
                </a:r>
                <a:r>
                  <a:rPr lang="en-US" altLang="zh-CN" sz="1200" b="0" i="0" u="none" strike="noStrike" dirty="0">
                    <a:solidFill>
                      <a:srgbClr val="000000"/>
                    </a:solidFill>
                  </a:rPr>
                  <a:t>python</a:t>
                </a:r>
                <a:r>
                  <a:rPr lang="zh-CN" altLang="en-US" sz="1200" b="0" i="0" u="none" strike="noStrike" dirty="0">
                    <a:solidFill>
                      <a:srgbClr val="000000"/>
                    </a:solidFill>
                  </a:rPr>
                  <a:t>语言的程序生成任务的融合结果</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我们可以发现，在漏洞检测任务，和代码修复任务上，除了</a:t>
                </a:r>
                <a:r>
                  <a:rPr lang="en-US" altLang="zh-CN" sz="1200" b="0" i="0" u="none" strike="noStrike" dirty="0">
                    <a:solidFill>
                      <a:srgbClr val="000000"/>
                    </a:solidFill>
                  </a:rPr>
                  <a:t>tall-masks</a:t>
                </a:r>
                <a:r>
                  <a:rPr lang="zh-CN" altLang="en-US" sz="1200" b="0" i="0" u="none" strike="noStrike" dirty="0">
                    <a:solidFill>
                      <a:srgbClr val="000000"/>
                    </a:solidFill>
                  </a:rPr>
                  <a:t>，其他方法都有非常大的性能下降，而对于克隆检测以及代码摘要任务，所有方法又能保持很好的性能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D59C0610-D0A5-B46A-9886-B8D54451BF4F}"/>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667609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E6DF-4721-D7F2-518A-743318D68A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4E2F1-29CD-E613-5EFF-4390E1580C8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00DFC2F-C3D2-707C-488C-8436E9430930}"/>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左图展示了不同任务的微调参数变化分布，我们可以看出不同任务的分布差异很大</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右图展示了不同模型隐藏层状态的相似度，他们分别是漏洞检测微调模型，克隆检测微调模型，以及程序理解任务的融合模型，</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可以发现，融合模型与克隆检测模型的行为更相似，</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进一步，我们可以发现克隆检测相较于漏洞检测，其参数变化也更大，我们将其成为强特征任务，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rPr>
                  <a:t>因此我们可以得出一个结论，在相同语言多任务融合设置下，</a:t>
                </a:r>
                <a:r>
                  <a:rPr lang="zh-CN" altLang="en-US" sz="1200" dirty="0">
                    <a:latin typeface="Noto Sans SC"/>
                    <a:ea typeface="Noto Sans SC"/>
                    <a:sym typeface="Arial"/>
                  </a:rPr>
                  <a:t>融合模型的行为</a:t>
                </a:r>
                <a:r>
                  <a:rPr lang="zh-CN" altLang="en-US" sz="1200" b="1" dirty="0">
                    <a:solidFill>
                      <a:srgbClr val="FF0000"/>
                    </a:solidFill>
                    <a:latin typeface="Noto Sans SC"/>
                    <a:ea typeface="Noto Sans SC"/>
                    <a:sym typeface="Arial"/>
                  </a:rPr>
                  <a:t>更接近强特征任务</a:t>
                </a:r>
                <a:r>
                  <a:rPr lang="zh-CN" altLang="en-US" sz="1200" dirty="0">
                    <a:latin typeface="Noto Sans SC"/>
                    <a:ea typeface="Noto Sans SC"/>
                    <a:sym typeface="Arial"/>
                  </a:rPr>
                  <a:t>微调模型行为</a:t>
                </a:r>
                <a:endParaRPr lang="en-US" altLang="zh-CN" sz="1200" dirty="0">
                  <a:latin typeface="Noto Sans SC"/>
                  <a:ea typeface="Noto Sans SC"/>
                  <a:sym typeface="Aria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从而导致克隆检测任务性能几乎没有影响，而保持漏洞检测性能有较大下降</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58F3948E-F17D-4269-E73B-164CEF4313DA}"/>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37130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2104-7A70-BA7D-EFC3-0ACCC34262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566F86-D82C-39A1-C61E-6C48E589592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FFFC3AC-DB78-EDD1-F8AE-670DFFC0B16D}"/>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最后，是</a:t>
                </a:r>
                <a:r>
                  <a:rPr lang="en-US" altLang="zh-CN" sz="1200" b="0" i="0" u="none" strike="noStrike" dirty="0">
                    <a:solidFill>
                      <a:srgbClr val="000000"/>
                    </a:solidFill>
                  </a:rPr>
                  <a:t>rq3</a:t>
                </a:r>
                <a:r>
                  <a:rPr lang="zh-CN" altLang="en-US" sz="1200" b="0" i="0" u="none" strike="noStrike" dirty="0">
                    <a:solidFill>
                      <a:srgbClr val="000000"/>
                    </a:solidFill>
                  </a:rPr>
                  <a:t>，多软工任务多编程语言融合，图中展示的是将三种</a:t>
                </a:r>
                <a:r>
                  <a:rPr lang="en-US" altLang="zh-CN" sz="1200" b="0" i="0" u="none" strike="noStrike" dirty="0">
                    <a:solidFill>
                      <a:srgbClr val="000000"/>
                    </a:solidFill>
                  </a:rPr>
                  <a:t>Java</a:t>
                </a:r>
                <a:r>
                  <a:rPr lang="zh-CN" altLang="en-US" sz="1200" b="0" i="0" u="none" strike="noStrike" dirty="0">
                    <a:solidFill>
                      <a:srgbClr val="000000"/>
                    </a:solidFill>
                  </a:rPr>
                  <a:t>语言的程序理解任务与三种</a:t>
                </a:r>
                <a:r>
                  <a:rPr lang="en-US" altLang="zh-CN" sz="1200" b="0" i="0" u="none" strike="noStrike" dirty="0">
                    <a:solidFill>
                      <a:srgbClr val="000000"/>
                    </a:solidFill>
                  </a:rPr>
                  <a:t>python</a:t>
                </a:r>
                <a:r>
                  <a:rPr lang="zh-CN" altLang="en-US" sz="1200" b="0" i="0" u="none" strike="noStrike" dirty="0">
                    <a:solidFill>
                      <a:srgbClr val="000000"/>
                    </a:solidFill>
                  </a:rPr>
                  <a:t>语言的程序生成任务融合的结果</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我们可以发现，几乎所有方法在特定任务上都有非常大的性能下降，可能的原因是不同编程语言以及不同类型的任务特征冲突大。</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对于</a:t>
                </a:r>
                <a:r>
                  <a:rPr lang="en-US" altLang="zh-CN" sz="1200" b="0" i="0" u="none" strike="noStrike" dirty="0">
                    <a:solidFill>
                      <a:srgbClr val="000000"/>
                    </a:solidFill>
                  </a:rPr>
                  <a:t>tall-masks</a:t>
                </a:r>
                <a:r>
                  <a:rPr lang="zh-CN" altLang="en-US" sz="1200" b="0" i="0" u="none" strike="noStrike" dirty="0">
                    <a:solidFill>
                      <a:srgbClr val="000000"/>
                    </a:solidFill>
                  </a:rPr>
                  <a:t>方法，他在漏洞检测 任务的性能下降非常大，只保留了</a:t>
                </a:r>
                <a:r>
                  <a:rPr lang="en-US" altLang="zh-CN" sz="1200" b="0" i="0" u="none" strike="noStrike" dirty="0">
                    <a:solidFill>
                      <a:srgbClr val="000000"/>
                    </a:solidFill>
                  </a:rPr>
                  <a:t>36%</a:t>
                </a:r>
                <a:r>
                  <a:rPr lang="zh-CN" altLang="en-US" sz="1200" b="0" i="0" u="none" strike="noStrike" dirty="0">
                    <a:solidFill>
                      <a:srgbClr val="000000"/>
                    </a:solidFill>
                  </a:rPr>
                  <a:t>的原始微调性能。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F05213B2-A9DE-58B2-88EB-2B0E8277B7AC}"/>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794326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8438-7BCA-7AC2-372E-1835D43712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29C51-E4E6-23C9-387E-AC393BD9095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5C8D6BE-92EC-57D2-417D-088AEDD56D99}"/>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为了探究为何</a:t>
                </a:r>
                <a:r>
                  <a:rPr lang="en-US" altLang="zh-CN" sz="1200" b="0" i="0" u="none" strike="noStrike" dirty="0">
                    <a:solidFill>
                      <a:srgbClr val="000000"/>
                    </a:solidFill>
                  </a:rPr>
                  <a:t>tall-masks</a:t>
                </a:r>
                <a:r>
                  <a:rPr lang="zh-CN" altLang="en-US" sz="1200" b="0" i="0" u="none" strike="noStrike" dirty="0">
                    <a:solidFill>
                      <a:srgbClr val="000000"/>
                    </a:solidFill>
                  </a:rPr>
                  <a:t>在某些场景下会有较大性能的损失，我们做了深入分析</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首先我们回忆一下，</a:t>
                </a:r>
                <a:r>
                  <a:rPr lang="en-US" altLang="zh-CN" sz="1200" b="0" i="0" u="none" strike="noStrike" dirty="0">
                    <a:solidFill>
                      <a:srgbClr val="000000"/>
                    </a:solidFill>
                  </a:rPr>
                  <a:t>Tall-masks</a:t>
                </a:r>
                <a:r>
                  <a:rPr lang="zh-CN" altLang="en-US" sz="1200" b="0" i="0" u="none" strike="noStrike" dirty="0">
                    <a:solidFill>
                      <a:srgbClr val="000000"/>
                    </a:solidFill>
                  </a:rPr>
                  <a:t>需要为每个任务构造掩码来定位最相关的参数，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因此我们探究了</a:t>
                </a:r>
                <a:r>
                  <a:rPr lang="en-US" altLang="zh-CN" sz="1200" b="0" i="0" u="none" strike="noStrike" dirty="0">
                    <a:solidFill>
                      <a:srgbClr val="000000"/>
                    </a:solidFill>
                  </a:rPr>
                  <a:t>tall-masks</a:t>
                </a:r>
                <a:r>
                  <a:rPr lang="zh-CN" altLang="en-US" sz="1200" b="0" i="0" u="none" strike="noStrike" dirty="0">
                    <a:solidFill>
                      <a:srgbClr val="000000"/>
                    </a:solidFill>
                  </a:rPr>
                  <a:t>对不同重要性的参数的保留率如何，</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图中分别展示了代码修复多语言融合与多软工任务多编程语言融合在不同语言与任务的参数保留率，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我们可以发现，对于</a:t>
                </a:r>
                <a:r>
                  <a:rPr lang="en-US" altLang="zh-CN" sz="1200" b="0" i="0" u="none" strike="noStrike" dirty="0" err="1">
                    <a:solidFill>
                      <a:srgbClr val="000000"/>
                    </a:solidFill>
                  </a:rPr>
                  <a:t>php</a:t>
                </a:r>
                <a:r>
                  <a:rPr lang="zh-CN" altLang="en-US" sz="1200" b="0" i="0" u="none" strike="noStrike" dirty="0">
                    <a:solidFill>
                      <a:srgbClr val="000000"/>
                    </a:solidFill>
                  </a:rPr>
                  <a:t>以及漏洞检测任务，他们的</a:t>
                </a:r>
                <a:r>
                  <a:rPr lang="en-US" altLang="zh-CN" sz="1200" b="0" i="0" u="none" strike="noStrike" dirty="0">
                    <a:solidFill>
                      <a:srgbClr val="000000"/>
                    </a:solidFill>
                  </a:rPr>
                  <a:t>top10%</a:t>
                </a:r>
                <a:r>
                  <a:rPr lang="zh-CN" altLang="en-US" sz="1200" b="0" i="0" u="none" strike="noStrike" dirty="0">
                    <a:solidFill>
                      <a:srgbClr val="000000"/>
                    </a:solidFill>
                  </a:rPr>
                  <a:t>大的参数保留率非常低，这说明对于这些任务，他们的掩码没有有效的保留最相关的参数，从而导致了这些任务的性能下降。</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0D16A2BD-856D-4D82-93EE-21457AFF7FB1}"/>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096094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D0A4-DA12-E52D-A142-8E337A516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5846C1-FB50-C578-EDF3-E2DBE7EADEE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1D00B2A-1704-F822-6978-24C3114802C3}"/>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最后我们试着改进表现最好的</a:t>
                </a:r>
                <a:r>
                  <a:rPr lang="en-US" altLang="zh-CN" sz="1200" b="0" i="0" u="none" strike="noStrike" dirty="0">
                    <a:solidFill>
                      <a:srgbClr val="000000"/>
                    </a:solidFill>
                  </a:rPr>
                  <a:t>tall-masks</a:t>
                </a:r>
                <a:r>
                  <a:rPr lang="zh-CN" altLang="en-US" sz="1200" b="0" i="0" u="none" strike="noStrike" dirty="0">
                    <a:solidFill>
                      <a:srgbClr val="000000"/>
                    </a:solidFill>
                  </a:rPr>
                  <a:t>，以提升其在弱特征任务上的性能，也就是参数变化较小的性能，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我们的核心观察是，在最大化融合时，弱特征容易被强特征淹没，从而导致构造的淹没不能有效定位相关参数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受到特征归一化的启发，我们的思路是将不同任务的不同参数范围映射到相同范围，从而提升弱特征的重要性，让其不被淹没</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如图，我更加他们绝对值比值来对弱特征进行发大，然后融合，优于弱特征的重要性提升了，构造掩码的时候就能够定位到他，使其保留相关维度的参数</a:t>
                </a:r>
                <a:br>
                  <a:rPr lang="en-US" altLang="zh-CN" sz="1200" b="0" i="0" u="none" strike="noStrike" dirty="0">
                    <a:solidFill>
                      <a:srgbClr val="000000"/>
                    </a:solidFill>
                  </a:rPr>
                </a:br>
                <a:br>
                  <a:rPr lang="en-US" altLang="zh-CN" sz="1200" b="0" i="0" u="none" strike="noStrike" dirty="0">
                    <a:solidFill>
                      <a:srgbClr val="000000"/>
                    </a:solidFill>
                  </a:rPr>
                </a:b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2D207F80-19F4-18A4-716F-C20A508C20BD}"/>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794222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21C2-FC30-E47D-B03D-D82071671B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3ED33-85DF-6FAC-1BE1-6CB1A44361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509D9360-C537-8257-5AD2-8EE6C5C92BDA}"/>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实验结果表明，在多编程语言融合以及多任务多编程语言融合设置下，我们的方法都保持了原始微调模型</a:t>
                </a:r>
                <a:r>
                  <a:rPr lang="en-US" altLang="zh-CN" sz="1200" b="0" i="0" u="none" strike="noStrike" dirty="0">
                    <a:solidFill>
                      <a:srgbClr val="000000"/>
                    </a:solidFill>
                  </a:rPr>
                  <a:t>100%</a:t>
                </a:r>
                <a:r>
                  <a:rPr lang="zh-CN" altLang="en-US" sz="1200" b="0" i="0" u="none" strike="noStrike" dirty="0">
                    <a:solidFill>
                      <a:srgbClr val="000000"/>
                    </a:solidFill>
                  </a:rPr>
                  <a:t>的性能，相较于</a:t>
                </a:r>
                <a:r>
                  <a:rPr lang="en-US" altLang="zh-CN" sz="1200" b="0" i="0" u="none" strike="noStrike" dirty="0">
                    <a:solidFill>
                      <a:srgbClr val="000000"/>
                    </a:solidFill>
                  </a:rPr>
                  <a:t>tall-masks</a:t>
                </a:r>
                <a:r>
                  <a:rPr lang="zh-CN" altLang="en-US" sz="1200" b="0" i="0" u="none" strike="noStrike" dirty="0">
                    <a:solidFill>
                      <a:srgbClr val="000000"/>
                    </a:solidFill>
                  </a:rPr>
                  <a:t>，在</a:t>
                </a:r>
                <a:r>
                  <a:rPr lang="en-US" altLang="zh-CN" sz="1200" b="0" i="0" u="none" strike="noStrike" dirty="0" err="1">
                    <a:solidFill>
                      <a:srgbClr val="000000"/>
                    </a:solidFill>
                  </a:rPr>
                  <a:t>php</a:t>
                </a:r>
                <a:r>
                  <a:rPr lang="zh-CN" altLang="en-US" sz="1200" b="0" i="0" u="none" strike="noStrike" dirty="0">
                    <a:solidFill>
                      <a:srgbClr val="000000"/>
                    </a:solidFill>
                  </a:rPr>
                  <a:t>代码修复的</a:t>
                </a:r>
                <a:r>
                  <a:rPr lang="en-US" altLang="zh-CN" sz="1200" b="0" i="0" u="none" strike="noStrike" dirty="0" err="1">
                    <a:solidFill>
                      <a:srgbClr val="000000"/>
                    </a:solidFill>
                  </a:rPr>
                  <a:t>php</a:t>
                </a:r>
                <a:r>
                  <a:rPr lang="zh-CN" altLang="en-US" sz="1200" b="0" i="0" u="none" strike="noStrike" dirty="0">
                    <a:solidFill>
                      <a:srgbClr val="000000"/>
                    </a:solidFill>
                  </a:rPr>
                  <a:t>语言上提升了</a:t>
                </a:r>
                <a:r>
                  <a:rPr lang="en-US" altLang="zh-CN" sz="1200" b="0" i="0" u="none" strike="noStrike" dirty="0">
                    <a:solidFill>
                      <a:srgbClr val="000000"/>
                    </a:solidFill>
                  </a:rPr>
                  <a:t>24%</a:t>
                </a:r>
                <a:r>
                  <a:rPr lang="zh-CN" altLang="en-US" sz="1200" b="0" i="0" u="none" strike="noStrike" dirty="0">
                    <a:solidFill>
                      <a:srgbClr val="000000"/>
                    </a:solidFill>
                  </a:rPr>
                  <a:t>的融合性能，在漏洞检测任务上提升了</a:t>
                </a:r>
                <a:r>
                  <a:rPr lang="en-US" altLang="zh-CN" sz="1200" b="0" i="0" u="none" strike="noStrike" dirty="0">
                    <a:solidFill>
                      <a:srgbClr val="000000"/>
                    </a:solidFill>
                  </a:rPr>
                  <a:t>63.4%</a:t>
                </a:r>
                <a:r>
                  <a:rPr lang="zh-CN" altLang="en-US" sz="1200" b="0" i="0" u="none" strike="noStrike" dirty="0">
                    <a:solidFill>
                      <a:srgbClr val="000000"/>
                    </a:solidFill>
                  </a:rPr>
                  <a:t>的性能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33C5354A-BF9C-10D0-4BE7-122B760332A6}"/>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73936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0344-DA62-3B88-DDD0-7AE18ADE7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813C8B-4D02-109E-4F16-964F4682CF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87BF293-2028-B191-157F-B8B8D8DDBBEE}"/>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从这两个图我们可以发现，归一化后不同任务的参数分布更加相似，并且对于所有任务，其关键参数保留率都得到了显著提升</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695EAD3-A141-7BAA-8FDF-0E5CE8568099}"/>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1279313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 Thank you for listening.</a:t>
            </a:r>
          </a:p>
          <a:p>
            <a:endParaRPr lang="en-US" altLang="zh-CN" dirty="0"/>
          </a:p>
          <a:p>
            <a:r>
              <a:rPr lang="en-US" altLang="zh-CN" dirty="0"/>
              <a:t>Please email the author to ask any questions about their work.</a:t>
            </a:r>
          </a:p>
        </p:txBody>
      </p:sp>
      <p:sp>
        <p:nvSpPr>
          <p:cNvPr id="4" name="灯片编号占位符 3"/>
          <p:cNvSpPr>
            <a:spLocks noGrp="1"/>
          </p:cNvSpPr>
          <p:nvPr>
            <p:ph type="sldNum" sz="quarter" idx="5"/>
          </p:nvPr>
        </p:nvSpPr>
        <p:spPr/>
        <p:txBody>
          <a:bodyPr/>
          <a:lstStyle/>
          <a:p>
            <a:fld id="{A423D23B-4C80-4E3C-A7A0-481D37E73F16}" type="slidenum">
              <a:rPr lang="zh-CN" altLang="en-US" smtClean="0"/>
              <a:t>15</a:t>
            </a:fld>
            <a:endParaRPr lang="zh-CN" altLang="en-US"/>
          </a:p>
        </p:txBody>
      </p:sp>
    </p:spTree>
    <p:extLst>
      <p:ext uri="{BB962C8B-B14F-4D97-AF65-F5344CB8AC3E}">
        <p14:creationId xmlns:p14="http://schemas.microsoft.com/office/powerpoint/2010/main" val="2988428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无图使用）">
    <p:spTree>
      <p:nvGrpSpPr>
        <p:cNvPr id="1" name=""/>
        <p:cNvGrpSpPr/>
        <p:nvPr/>
      </p:nvGrpSpPr>
      <p:grpSpPr>
        <a:xfrm>
          <a:off x="0" y="0"/>
          <a:ext cx="0" cy="0"/>
          <a:chOff x="0" y="0"/>
          <a:chExt cx="0" cy="0"/>
        </a:xfrm>
      </p:grpSpPr>
      <p:pic>
        <p:nvPicPr>
          <p:cNvPr id="3" name="图片 2"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10" name="标题 1"/>
          <p:cNvSpPr>
            <a:spLocks noGrp="1"/>
          </p:cNvSpPr>
          <p:nvPr>
            <p:ph type="ctrTitle" hasCustomPrompt="1"/>
          </p:nvPr>
        </p:nvSpPr>
        <p:spPr>
          <a:xfrm>
            <a:off x="531273" y="1514898"/>
            <a:ext cx="7224995" cy="712054"/>
          </a:xfrm>
        </p:spPr>
        <p:txBody>
          <a:bodyPr anchor="b">
            <a:noAutofit/>
          </a:bodyPr>
          <a:lstStyle>
            <a:lvl1pPr algn="l">
              <a:defRPr sz="4600" b="1">
                <a:solidFill>
                  <a:srgbClr val="005744"/>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11"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12"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4" name="图片 3" descr="未标题-4-13"/>
          <p:cNvPicPr>
            <a:picLocks noChangeAspect="1"/>
          </p:cNvPicPr>
          <p:nvPr userDrawn="1"/>
        </p:nvPicPr>
        <p:blipFill>
          <a:blip r:embed="rId3"/>
          <a:stretch>
            <a:fillRect/>
          </a:stretch>
        </p:blipFill>
        <p:spPr>
          <a:xfrm>
            <a:off x="656590" y="2212340"/>
            <a:ext cx="6365240" cy="882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首页（有图使用）">
    <p:spTree>
      <p:nvGrpSpPr>
        <p:cNvPr id="1" name=""/>
        <p:cNvGrpSpPr/>
        <p:nvPr/>
      </p:nvGrpSpPr>
      <p:grpSpPr>
        <a:xfrm>
          <a:off x="0" y="0"/>
          <a:ext cx="0" cy="0"/>
          <a:chOff x="0" y="0"/>
          <a:chExt cx="0" cy="0"/>
        </a:xfrm>
      </p:grpSpPr>
      <p:pic>
        <p:nvPicPr>
          <p:cNvPr id="2" name="图片 1" descr="未标题-4-14"/>
          <p:cNvPicPr>
            <a:picLocks noChangeAspect="1"/>
          </p:cNvPicPr>
          <p:nvPr userDrawn="1"/>
        </p:nvPicPr>
        <p:blipFill>
          <a:blip r:embed="rId2"/>
          <a:stretch>
            <a:fillRect/>
          </a:stretch>
        </p:blipFill>
        <p:spPr>
          <a:xfrm>
            <a:off x="-98425" y="-52070"/>
            <a:ext cx="12389485" cy="6962140"/>
          </a:xfrm>
          <a:prstGeom prst="rect">
            <a:avLst/>
          </a:prstGeom>
        </p:spPr>
      </p:pic>
      <p:sp>
        <p:nvSpPr>
          <p:cNvPr id="6"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7" name="标题 1"/>
          <p:cNvSpPr>
            <a:spLocks noGrp="1"/>
          </p:cNvSpPr>
          <p:nvPr>
            <p:ph type="ctrTitle" hasCustomPrompt="1"/>
          </p:nvPr>
        </p:nvSpPr>
        <p:spPr>
          <a:xfrm>
            <a:off x="531273" y="1514898"/>
            <a:ext cx="7224995" cy="712054"/>
          </a:xfrm>
        </p:spPr>
        <p:txBody>
          <a:bodyPr anchor="b">
            <a:noAutofit/>
          </a:bodyPr>
          <a:lstStyle>
            <a:lvl1pPr algn="l">
              <a:defRPr sz="4600" b="1">
                <a:solidFill>
                  <a:schemeClr val="bg1"/>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8"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1" name="图片 20" descr="未标题-4-15"/>
          <p:cNvPicPr>
            <a:picLocks noChangeAspect="1"/>
          </p:cNvPicPr>
          <p:nvPr userDrawn="1"/>
        </p:nvPicPr>
        <p:blipFill>
          <a:blip r:embed="rId2"/>
          <a:stretch>
            <a:fillRect/>
          </a:stretch>
        </p:blipFill>
        <p:spPr>
          <a:xfrm>
            <a:off x="0" y="7620"/>
            <a:ext cx="12192000" cy="6850380"/>
          </a:xfrm>
          <a:prstGeom prst="rect">
            <a:avLst/>
          </a:prstGeom>
        </p:spPr>
      </p:pic>
      <p:sp>
        <p:nvSpPr>
          <p:cNvPr id="4" name="文本占位符 14"/>
          <p:cNvSpPr>
            <a:spLocks noGrp="1"/>
          </p:cNvSpPr>
          <p:nvPr>
            <p:ph type="body" sz="quarter" idx="11" hasCustomPrompt="1"/>
          </p:nvPr>
        </p:nvSpPr>
        <p:spPr>
          <a:xfrm>
            <a:off x="5392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01</a:t>
            </a:r>
            <a:endParaRPr lang="zh-CN" altLang="en-US" dirty="0"/>
          </a:p>
        </p:txBody>
      </p:sp>
      <p:sp>
        <p:nvSpPr>
          <p:cNvPr id="5" name="文本占位符 16"/>
          <p:cNvSpPr>
            <a:spLocks noGrp="1"/>
          </p:cNvSpPr>
          <p:nvPr>
            <p:ph type="body" sz="quarter" idx="12" hasCustomPrompt="1"/>
          </p:nvPr>
        </p:nvSpPr>
        <p:spPr>
          <a:xfrm>
            <a:off x="5392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6" name="文本占位符 18"/>
          <p:cNvSpPr>
            <a:spLocks noGrp="1"/>
          </p:cNvSpPr>
          <p:nvPr>
            <p:ph type="body" sz="quarter" idx="13" hasCustomPrompt="1"/>
          </p:nvPr>
        </p:nvSpPr>
        <p:spPr>
          <a:xfrm>
            <a:off x="5392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1-01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1-02</a:t>
            </a:r>
            <a:endParaRPr lang="zh-CN" altLang="en-US" dirty="0"/>
          </a:p>
          <a:p>
            <a:pPr lvl="0"/>
            <a:endParaRPr lang="zh-CN" altLang="en-US" dirty="0"/>
          </a:p>
        </p:txBody>
      </p:sp>
      <p:sp>
        <p:nvSpPr>
          <p:cNvPr id="12" name="文本占位符 14"/>
          <p:cNvSpPr>
            <a:spLocks noGrp="1"/>
          </p:cNvSpPr>
          <p:nvPr>
            <p:ph type="body" sz="quarter" idx="14" hasCustomPrompt="1"/>
          </p:nvPr>
        </p:nvSpPr>
        <p:spPr>
          <a:xfrm>
            <a:off x="34920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02</a:t>
            </a:r>
            <a:endParaRPr lang="zh-CN" altLang="en-US" dirty="0"/>
          </a:p>
        </p:txBody>
      </p:sp>
      <p:sp>
        <p:nvSpPr>
          <p:cNvPr id="13" name="文本占位符 16"/>
          <p:cNvSpPr>
            <a:spLocks noGrp="1"/>
          </p:cNvSpPr>
          <p:nvPr>
            <p:ph type="body" sz="quarter" idx="15" hasCustomPrompt="1"/>
          </p:nvPr>
        </p:nvSpPr>
        <p:spPr>
          <a:xfrm>
            <a:off x="34920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4" name="文本占位符 18"/>
          <p:cNvSpPr>
            <a:spLocks noGrp="1"/>
          </p:cNvSpPr>
          <p:nvPr>
            <p:ph type="body" sz="quarter" idx="16" hasCustomPrompt="1"/>
          </p:nvPr>
        </p:nvSpPr>
        <p:spPr>
          <a:xfrm>
            <a:off x="34920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2-01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2-02</a:t>
            </a:r>
            <a:endParaRPr lang="zh-CN" altLang="en-US" dirty="0"/>
          </a:p>
          <a:p>
            <a:pPr lvl="0"/>
            <a:endParaRPr lang="zh-CN" altLang="en-US" dirty="0"/>
          </a:p>
        </p:txBody>
      </p:sp>
      <p:sp>
        <p:nvSpPr>
          <p:cNvPr id="15" name="文本占位符 14"/>
          <p:cNvSpPr>
            <a:spLocks noGrp="1"/>
          </p:cNvSpPr>
          <p:nvPr>
            <p:ph type="body" sz="quarter" idx="17" hasCustomPrompt="1"/>
          </p:nvPr>
        </p:nvSpPr>
        <p:spPr>
          <a:xfrm>
            <a:off x="64447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03</a:t>
            </a:r>
            <a:endParaRPr lang="zh-CN" altLang="en-US" dirty="0"/>
          </a:p>
        </p:txBody>
      </p:sp>
      <p:sp>
        <p:nvSpPr>
          <p:cNvPr id="16" name="文本占位符 16"/>
          <p:cNvSpPr>
            <a:spLocks noGrp="1"/>
          </p:cNvSpPr>
          <p:nvPr>
            <p:ph type="body" sz="quarter" idx="18" hasCustomPrompt="1"/>
          </p:nvPr>
        </p:nvSpPr>
        <p:spPr>
          <a:xfrm>
            <a:off x="64447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7" name="文本占位符 18"/>
          <p:cNvSpPr>
            <a:spLocks noGrp="1"/>
          </p:cNvSpPr>
          <p:nvPr>
            <p:ph type="body" sz="quarter" idx="19" hasCustomPrompt="1"/>
          </p:nvPr>
        </p:nvSpPr>
        <p:spPr>
          <a:xfrm>
            <a:off x="64447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3-01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3-02</a:t>
            </a:r>
            <a:endParaRPr lang="zh-CN" altLang="en-US" dirty="0"/>
          </a:p>
          <a:p>
            <a:pPr lvl="0"/>
            <a:endParaRPr lang="zh-CN" altLang="en-US" dirty="0"/>
          </a:p>
        </p:txBody>
      </p:sp>
      <p:sp>
        <p:nvSpPr>
          <p:cNvPr id="18" name="文本占位符 14"/>
          <p:cNvSpPr>
            <a:spLocks noGrp="1"/>
          </p:cNvSpPr>
          <p:nvPr>
            <p:ph type="body" sz="quarter" idx="20" hasCustomPrompt="1"/>
          </p:nvPr>
        </p:nvSpPr>
        <p:spPr>
          <a:xfrm>
            <a:off x="93975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04</a:t>
            </a:r>
            <a:endParaRPr lang="zh-CN" altLang="en-US" dirty="0"/>
          </a:p>
        </p:txBody>
      </p:sp>
      <p:sp>
        <p:nvSpPr>
          <p:cNvPr id="19" name="文本占位符 16"/>
          <p:cNvSpPr>
            <a:spLocks noGrp="1"/>
          </p:cNvSpPr>
          <p:nvPr>
            <p:ph type="body" sz="quarter" idx="21" hasCustomPrompt="1"/>
          </p:nvPr>
        </p:nvSpPr>
        <p:spPr>
          <a:xfrm>
            <a:off x="93975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20" name="文本占位符 18"/>
          <p:cNvSpPr>
            <a:spLocks noGrp="1"/>
          </p:cNvSpPr>
          <p:nvPr>
            <p:ph type="body" sz="quarter" idx="22" hasCustomPrompt="1"/>
          </p:nvPr>
        </p:nvSpPr>
        <p:spPr>
          <a:xfrm>
            <a:off x="93975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4-01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4-02</a:t>
            </a:r>
            <a:endParaRPr lang="zh-CN" altLang="en-US" dirty="0"/>
          </a:p>
          <a:p>
            <a:pPr lvl="0"/>
            <a:endParaRPr lang="zh-CN" altLang="en-US" dirty="0"/>
          </a:p>
        </p:txBody>
      </p:sp>
      <p:pic>
        <p:nvPicPr>
          <p:cNvPr id="24" name="图片 23" descr="未标题-4-13"/>
          <p:cNvPicPr>
            <a:picLocks noChangeAspect="1"/>
          </p:cNvPicPr>
          <p:nvPr userDrawn="1"/>
        </p:nvPicPr>
        <p:blipFill>
          <a:blip r:embed="rId3"/>
          <a:stretch>
            <a:fillRect/>
          </a:stretch>
        </p:blipFill>
        <p:spPr>
          <a:xfrm flipV="1">
            <a:off x="636270" y="3477895"/>
            <a:ext cx="2253615" cy="76200"/>
          </a:xfrm>
          <a:prstGeom prst="rect">
            <a:avLst/>
          </a:prstGeom>
        </p:spPr>
      </p:pic>
      <p:pic>
        <p:nvPicPr>
          <p:cNvPr id="25" name="图片 24" descr="未标题-4-13"/>
          <p:cNvPicPr>
            <a:picLocks noChangeAspect="1"/>
          </p:cNvPicPr>
          <p:nvPr userDrawn="1"/>
        </p:nvPicPr>
        <p:blipFill>
          <a:blip r:embed="rId3"/>
          <a:stretch>
            <a:fillRect/>
          </a:stretch>
        </p:blipFill>
        <p:spPr>
          <a:xfrm flipV="1">
            <a:off x="3575685" y="3449320"/>
            <a:ext cx="2253615" cy="76200"/>
          </a:xfrm>
          <a:prstGeom prst="rect">
            <a:avLst/>
          </a:prstGeom>
        </p:spPr>
      </p:pic>
      <p:pic>
        <p:nvPicPr>
          <p:cNvPr id="26" name="图片 25" descr="未标题-4-13"/>
          <p:cNvPicPr>
            <a:picLocks noChangeAspect="1"/>
          </p:cNvPicPr>
          <p:nvPr userDrawn="1"/>
        </p:nvPicPr>
        <p:blipFill>
          <a:blip r:embed="rId3"/>
          <a:stretch>
            <a:fillRect/>
          </a:stretch>
        </p:blipFill>
        <p:spPr>
          <a:xfrm flipV="1">
            <a:off x="6527800" y="3429000"/>
            <a:ext cx="2253615" cy="76200"/>
          </a:xfrm>
          <a:prstGeom prst="rect">
            <a:avLst/>
          </a:prstGeom>
        </p:spPr>
      </p:pic>
      <p:pic>
        <p:nvPicPr>
          <p:cNvPr id="27" name="图片 26" descr="未标题-4-13"/>
          <p:cNvPicPr>
            <a:picLocks noChangeAspect="1"/>
          </p:cNvPicPr>
          <p:nvPr userDrawn="1"/>
        </p:nvPicPr>
        <p:blipFill>
          <a:blip r:embed="rId3"/>
          <a:stretch>
            <a:fillRect/>
          </a:stretch>
        </p:blipFill>
        <p:spPr>
          <a:xfrm flipV="1">
            <a:off x="9479915" y="3429000"/>
            <a:ext cx="2253615" cy="76200"/>
          </a:xfrm>
          <a:prstGeom prst="rect">
            <a:avLst/>
          </a:prstGeom>
        </p:spPr>
      </p:pic>
      <p:sp>
        <p:nvSpPr>
          <p:cNvPr id="28" name="文本占位符 10"/>
          <p:cNvSpPr>
            <a:spLocks noGrp="1"/>
          </p:cNvSpPr>
          <p:nvPr>
            <p:ph type="body" sz="quarter" idx="10" hasCustomPrompt="1"/>
          </p:nvPr>
        </p:nvSpPr>
        <p:spPr>
          <a:xfrm>
            <a:off x="539115" y="360680"/>
            <a:ext cx="4130675" cy="1268095"/>
          </a:xfrm>
        </p:spPr>
        <p:txBody>
          <a:bodyPr>
            <a:normAutofit/>
          </a:bodyPr>
          <a:lstStyle>
            <a:lvl1pPr marL="0" indent="0">
              <a:buNone/>
              <a:defRPr sz="3800" b="1">
                <a:solidFill>
                  <a:srgbClr val="005744"/>
                </a:solidFill>
                <a:latin typeface="微软雅黑" panose="020B0503020204020204" pitchFamily="34" charset="-122"/>
                <a:ea typeface="微软雅黑" panose="020B0503020204020204" pitchFamily="34" charset="-122"/>
              </a:defRPr>
            </a:lvl1pPr>
          </a:lstStyle>
          <a:p>
            <a:pPr lvl="0"/>
            <a:r>
              <a:rPr lang="zh-CN" altLang="en-US" dirty="0"/>
              <a:t>目录</a:t>
            </a:r>
          </a:p>
          <a:p>
            <a:pPr lvl="0"/>
            <a:r>
              <a:rPr lang="en-US" altLang="zh-CN" dirty="0"/>
              <a:t>CONTENTS</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 name="标题 1"/>
          <p:cNvSpPr>
            <a:spLocks noGrp="1"/>
          </p:cNvSpPr>
          <p:nvPr>
            <p:ph type="ctrTitle" hasCustomPrompt="1"/>
          </p:nvPr>
        </p:nvSpPr>
        <p:spPr>
          <a:xfrm>
            <a:off x="522911" y="3148369"/>
            <a:ext cx="4555274" cy="712054"/>
          </a:xfrm>
        </p:spPr>
        <p:txBody>
          <a:bodyPr anchor="b">
            <a:noAutofit/>
          </a:bodyPr>
          <a:lstStyle>
            <a:lvl1pPr algn="l">
              <a:defRPr sz="3800" b="1">
                <a:solidFill>
                  <a:srgbClr val="005744"/>
                </a:solidFill>
                <a:latin typeface="微软雅黑" panose="020B0503020204020204" pitchFamily="34" charset="-122"/>
                <a:ea typeface="微软雅黑" panose="020B0503020204020204" pitchFamily="34" charset="-122"/>
              </a:defRPr>
            </a:lvl1pPr>
          </a:lstStyle>
          <a:p>
            <a:r>
              <a:rPr lang="zh-CN" altLang="en-US" dirty="0"/>
              <a:t>大标题编辑区域位置</a:t>
            </a:r>
          </a:p>
        </p:txBody>
      </p:sp>
      <p:sp>
        <p:nvSpPr>
          <p:cNvPr id="7" name="副标题 2"/>
          <p:cNvSpPr>
            <a:spLocks noGrp="1"/>
          </p:cNvSpPr>
          <p:nvPr>
            <p:ph type="subTitle" idx="1" hasCustomPrompt="1"/>
          </p:nvPr>
        </p:nvSpPr>
        <p:spPr>
          <a:xfrm>
            <a:off x="522911" y="3877375"/>
            <a:ext cx="4049089" cy="664469"/>
          </a:xfrm>
        </p:spPr>
        <p:txBody>
          <a:bodyPr>
            <a:normAutofit/>
          </a:bodyPr>
          <a:lstStyle>
            <a:lvl1pPr marL="0" indent="0" algn="l">
              <a:buNone/>
              <a:defRPr sz="27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9" name="文本占位符 10"/>
          <p:cNvSpPr>
            <a:spLocks noGrp="1"/>
          </p:cNvSpPr>
          <p:nvPr>
            <p:ph type="body" sz="quarter" idx="10" hasCustomPrompt="1"/>
          </p:nvPr>
        </p:nvSpPr>
        <p:spPr>
          <a:xfrm>
            <a:off x="522911" y="2190683"/>
            <a:ext cx="3314247" cy="699474"/>
          </a:xfrm>
        </p:spPr>
        <p:txBody>
          <a:bodyPr>
            <a:noAutofit/>
          </a:bodyPr>
          <a:lstStyle>
            <a:lvl1pPr marL="0" indent="0">
              <a:buNone/>
              <a:defRPr sz="48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PART 01</a:t>
            </a:r>
            <a:endParaRPr lang="zh-CN" altLang="en-US" dirty="0"/>
          </a:p>
        </p:txBody>
      </p:sp>
      <p:pic>
        <p:nvPicPr>
          <p:cNvPr id="4" name="图片 3" descr="未标题-4-13"/>
          <p:cNvPicPr>
            <a:picLocks noChangeAspect="1"/>
          </p:cNvPicPr>
          <p:nvPr userDrawn="1"/>
        </p:nvPicPr>
        <p:blipFill>
          <a:blip r:embed="rId2"/>
          <a:stretch>
            <a:fillRect/>
          </a:stretch>
        </p:blipFill>
        <p:spPr>
          <a:xfrm>
            <a:off x="656590" y="2964180"/>
            <a:ext cx="4262120" cy="88265"/>
          </a:xfrm>
          <a:prstGeom prst="rect">
            <a:avLst/>
          </a:prstGeom>
        </p:spPr>
      </p:pic>
      <p:pic>
        <p:nvPicPr>
          <p:cNvPr id="3" name="图片 2" descr="插画_画板 1"/>
          <p:cNvPicPr>
            <a:picLocks noChangeAspect="1"/>
          </p:cNvPicPr>
          <p:nvPr userDrawn="1"/>
        </p:nvPicPr>
        <p:blipFill>
          <a:blip r:embed="rId3">
            <a:alphaModFix amt="50000"/>
          </a:blip>
          <a:stretch>
            <a:fillRect/>
          </a:stretch>
        </p:blipFill>
        <p:spPr>
          <a:xfrm>
            <a:off x="0" y="5725160"/>
            <a:ext cx="12192000" cy="11772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单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17" name="图片占位符 16"/>
          <p:cNvSpPr>
            <a:spLocks noGrp="1"/>
          </p:cNvSpPr>
          <p:nvPr>
            <p:ph type="pic" sz="quarter" idx="10"/>
          </p:nvPr>
        </p:nvSpPr>
        <p:spPr>
          <a:xfrm>
            <a:off x="0" y="0"/>
            <a:ext cx="12192000" cy="3976007"/>
          </a:xfrm>
        </p:spPr>
        <p:txBody>
          <a:bodyPr/>
          <a:lstStyle/>
          <a:p>
            <a:endParaRPr lang="zh-CN" altLang="en-US"/>
          </a:p>
        </p:txBody>
      </p:sp>
      <p:sp>
        <p:nvSpPr>
          <p:cNvPr id="18" name="文本占位符 13"/>
          <p:cNvSpPr>
            <a:spLocks noGrp="1"/>
          </p:cNvSpPr>
          <p:nvPr>
            <p:ph type="body" sz="quarter" idx="11" hasCustomPrompt="1"/>
          </p:nvPr>
        </p:nvSpPr>
        <p:spPr>
          <a:xfrm>
            <a:off x="278355" y="4401606"/>
            <a:ext cx="2632236" cy="835414"/>
          </a:xfrm>
        </p:spPr>
        <p:txBody>
          <a:bodyPr/>
          <a:lstStyle>
            <a:lvl1pPr marL="0" indent="0">
              <a:lnSpc>
                <a:spcPts val="2500"/>
              </a:lnSpc>
              <a:buNone/>
              <a:defRPr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大标题编辑</a:t>
            </a:r>
            <a:endParaRPr lang="en-US" altLang="zh-CN" dirty="0"/>
          </a:p>
          <a:p>
            <a:pPr lvl="0"/>
            <a:r>
              <a:rPr lang="zh-CN" altLang="en-US" dirty="0"/>
              <a:t>区域位置</a:t>
            </a:r>
          </a:p>
        </p:txBody>
      </p:sp>
      <p:sp>
        <p:nvSpPr>
          <p:cNvPr id="19" name="文本占位符 15"/>
          <p:cNvSpPr>
            <a:spLocks noGrp="1"/>
          </p:cNvSpPr>
          <p:nvPr>
            <p:ph type="body" sz="quarter" idx="12" hasCustomPrompt="1"/>
          </p:nvPr>
        </p:nvSpPr>
        <p:spPr>
          <a:xfrm>
            <a:off x="278355" y="5277290"/>
            <a:ext cx="2881224" cy="361008"/>
          </a:xfrm>
        </p:spPr>
        <p:txBody>
          <a:bodyPr>
            <a:normAutofit/>
          </a:bodyPr>
          <a:lstStyle>
            <a:lvl1pPr marL="0" indent="0">
              <a:buNone/>
              <a:defRPr sz="1900">
                <a:solidFill>
                  <a:srgbClr val="3D3D3D"/>
                </a:solidFill>
                <a:latin typeface="微软雅黑" panose="020B0503020204020204" pitchFamily="34" charset="-122"/>
                <a:ea typeface="微软雅黑" panose="020B0503020204020204" pitchFamily="34" charset="-122"/>
              </a:defRPr>
            </a:lvl1pPr>
          </a:lstStyle>
          <a:p>
            <a:pPr lvl="0"/>
            <a:r>
              <a:rPr lang="zh-CN" altLang="en-US" dirty="0"/>
              <a:t>正文副标题标题文字区域</a:t>
            </a:r>
          </a:p>
        </p:txBody>
      </p:sp>
      <p:sp>
        <p:nvSpPr>
          <p:cNvPr id="20" name="文本占位符 17"/>
          <p:cNvSpPr>
            <a:spLocks noGrp="1"/>
          </p:cNvSpPr>
          <p:nvPr>
            <p:ph type="body" sz="quarter" idx="13" hasCustomPrompt="1"/>
          </p:nvPr>
        </p:nvSpPr>
        <p:spPr>
          <a:xfrm>
            <a:off x="3714155" y="4352287"/>
            <a:ext cx="3659233"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1" name="文本占位符 17"/>
          <p:cNvSpPr>
            <a:spLocks noGrp="1"/>
          </p:cNvSpPr>
          <p:nvPr>
            <p:ph type="body" sz="quarter" idx="14" hasCustomPrompt="1"/>
          </p:nvPr>
        </p:nvSpPr>
        <p:spPr>
          <a:xfrm>
            <a:off x="7770444" y="4352287"/>
            <a:ext cx="3617992"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23"/>
          <p:cNvSpPr>
            <a:spLocks noGrp="1"/>
          </p:cNvSpPr>
          <p:nvPr>
            <p:ph type="body" sz="quarter" idx="15"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3" name="图片 2"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多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图片占位符 3"/>
          <p:cNvSpPr>
            <a:spLocks noGrp="1"/>
          </p:cNvSpPr>
          <p:nvPr>
            <p:ph type="pic" sz="quarter" idx="10"/>
          </p:nvPr>
        </p:nvSpPr>
        <p:spPr>
          <a:xfrm>
            <a:off x="359683" y="1828799"/>
            <a:ext cx="3600450" cy="2212975"/>
          </a:xfrm>
        </p:spPr>
        <p:txBody>
          <a:bodyPr/>
          <a:lstStyle/>
          <a:p>
            <a:endParaRPr lang="zh-CN" altLang="en-US" dirty="0"/>
          </a:p>
        </p:txBody>
      </p:sp>
      <p:sp>
        <p:nvSpPr>
          <p:cNvPr id="5" name="图片占位符 7"/>
          <p:cNvSpPr>
            <a:spLocks noGrp="1"/>
          </p:cNvSpPr>
          <p:nvPr>
            <p:ph type="pic" sz="quarter" idx="11"/>
          </p:nvPr>
        </p:nvSpPr>
        <p:spPr>
          <a:xfrm>
            <a:off x="4250985" y="1828798"/>
            <a:ext cx="3600450" cy="2212975"/>
          </a:xfrm>
        </p:spPr>
        <p:txBody>
          <a:bodyPr/>
          <a:lstStyle/>
          <a:p>
            <a:endParaRPr lang="zh-CN" altLang="en-US" dirty="0"/>
          </a:p>
        </p:txBody>
      </p:sp>
      <p:sp>
        <p:nvSpPr>
          <p:cNvPr id="6" name="图片占位符 7"/>
          <p:cNvSpPr>
            <a:spLocks noGrp="1"/>
          </p:cNvSpPr>
          <p:nvPr>
            <p:ph type="pic" sz="quarter" idx="12"/>
          </p:nvPr>
        </p:nvSpPr>
        <p:spPr>
          <a:xfrm>
            <a:off x="8142287" y="1828797"/>
            <a:ext cx="3600450" cy="2212975"/>
          </a:xfrm>
        </p:spPr>
        <p:txBody>
          <a:bodyPr/>
          <a:lstStyle/>
          <a:p>
            <a:endParaRPr lang="zh-CN" altLang="en-US" dirty="0"/>
          </a:p>
        </p:txBody>
      </p:sp>
      <p:sp>
        <p:nvSpPr>
          <p:cNvPr id="7"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13"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14" name="文本占位符 13"/>
          <p:cNvSpPr>
            <a:spLocks noGrp="1"/>
          </p:cNvSpPr>
          <p:nvPr>
            <p:ph type="body" sz="quarter" idx="13" hasCustomPrompt="1"/>
          </p:nvPr>
        </p:nvSpPr>
        <p:spPr>
          <a:xfrm>
            <a:off x="359683" y="434408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5" name="文本占位符 17"/>
          <p:cNvSpPr>
            <a:spLocks noGrp="1"/>
          </p:cNvSpPr>
          <p:nvPr>
            <p:ph type="body" sz="quarter" idx="14" hasCustomPrompt="1"/>
          </p:nvPr>
        </p:nvSpPr>
        <p:spPr>
          <a:xfrm>
            <a:off x="359683" y="4752296"/>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5" hasCustomPrompt="1"/>
          </p:nvPr>
        </p:nvSpPr>
        <p:spPr>
          <a:xfrm>
            <a:off x="4250985"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16" hasCustomPrompt="1"/>
          </p:nvPr>
        </p:nvSpPr>
        <p:spPr>
          <a:xfrm>
            <a:off x="4250985"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6" name="文本占位符 15"/>
          <p:cNvSpPr>
            <a:spLocks noGrp="1"/>
          </p:cNvSpPr>
          <p:nvPr>
            <p:ph type="body" sz="quarter" idx="17" hasCustomPrompt="1"/>
          </p:nvPr>
        </p:nvSpPr>
        <p:spPr>
          <a:xfrm>
            <a:off x="8142287"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7" name="文本占位符 17"/>
          <p:cNvSpPr>
            <a:spLocks noGrp="1"/>
          </p:cNvSpPr>
          <p:nvPr>
            <p:ph type="body" sz="quarter" idx="18" hasCustomPrompt="1"/>
          </p:nvPr>
        </p:nvSpPr>
        <p:spPr>
          <a:xfrm>
            <a:off x="8142287"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图表）">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4"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5" name="文本占位符 15"/>
          <p:cNvSpPr>
            <a:spLocks noGrp="1"/>
          </p:cNvSpPr>
          <p:nvPr>
            <p:ph type="body" sz="quarter" idx="13" hasCustomPrompt="1"/>
          </p:nvPr>
        </p:nvSpPr>
        <p:spPr>
          <a:xfrm>
            <a:off x="5837918" y="2402550"/>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6" name="文本占位符 17"/>
          <p:cNvSpPr>
            <a:spLocks noGrp="1"/>
          </p:cNvSpPr>
          <p:nvPr>
            <p:ph type="body" sz="quarter" idx="14" hasCustomPrompt="1"/>
          </p:nvPr>
        </p:nvSpPr>
        <p:spPr>
          <a:xfrm>
            <a:off x="5837918" y="2821102"/>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3" name="文本占位符 15"/>
          <p:cNvSpPr>
            <a:spLocks noGrp="1"/>
          </p:cNvSpPr>
          <p:nvPr>
            <p:ph type="body" sz="quarter" idx="15" hasCustomPrompt="1"/>
          </p:nvPr>
        </p:nvSpPr>
        <p:spPr>
          <a:xfrm>
            <a:off x="5837918" y="4214417"/>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7" name="文本占位符 17"/>
          <p:cNvSpPr>
            <a:spLocks noGrp="1"/>
          </p:cNvSpPr>
          <p:nvPr>
            <p:ph type="body" sz="quarter" idx="16" hasCustomPrompt="1"/>
          </p:nvPr>
        </p:nvSpPr>
        <p:spPr>
          <a:xfrm>
            <a:off x="5837918" y="4632969"/>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8" name="图表占位符 17"/>
          <p:cNvSpPr>
            <a:spLocks noGrp="1"/>
          </p:cNvSpPr>
          <p:nvPr>
            <p:ph type="chart" sz="quarter" idx="17"/>
          </p:nvPr>
        </p:nvSpPr>
        <p:spPr>
          <a:xfrm>
            <a:off x="359683" y="1938338"/>
            <a:ext cx="5033055" cy="3894099"/>
          </a:xfrm>
        </p:spPr>
        <p:txBody>
          <a:bodyPr/>
          <a:lstStyle/>
          <a:p>
            <a:endParaRPr lang="zh-CN" altLang="en-US"/>
          </a:p>
        </p:txBody>
      </p:sp>
      <p:sp>
        <p:nvSpPr>
          <p:cNvPr id="19"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无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21"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5"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6" name="文本占位符 15"/>
          <p:cNvSpPr>
            <a:spLocks noGrp="1"/>
          </p:cNvSpPr>
          <p:nvPr>
            <p:ph type="body" sz="quarter" idx="13" hasCustomPrompt="1"/>
          </p:nvPr>
        </p:nvSpPr>
        <p:spPr>
          <a:xfrm>
            <a:off x="359683"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9" name="文本占位符 17"/>
          <p:cNvSpPr>
            <a:spLocks noGrp="1"/>
          </p:cNvSpPr>
          <p:nvPr>
            <p:ph type="body" sz="quarter" idx="14" hasCustomPrompt="1"/>
          </p:nvPr>
        </p:nvSpPr>
        <p:spPr>
          <a:xfrm>
            <a:off x="359683"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0" name="文本占位符 15"/>
          <p:cNvSpPr>
            <a:spLocks noGrp="1"/>
          </p:cNvSpPr>
          <p:nvPr>
            <p:ph type="body" sz="quarter" idx="15" hasCustomPrompt="1"/>
          </p:nvPr>
        </p:nvSpPr>
        <p:spPr>
          <a:xfrm>
            <a:off x="6275841"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1" name="文本占位符 17"/>
          <p:cNvSpPr>
            <a:spLocks noGrp="1"/>
          </p:cNvSpPr>
          <p:nvPr>
            <p:ph type="body" sz="quarter" idx="16" hasCustomPrompt="1"/>
          </p:nvPr>
        </p:nvSpPr>
        <p:spPr>
          <a:xfrm>
            <a:off x="6275841"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15"/>
          <p:cNvSpPr>
            <a:spLocks noGrp="1"/>
          </p:cNvSpPr>
          <p:nvPr>
            <p:ph type="body" sz="quarter" idx="17" hasCustomPrompt="1"/>
          </p:nvPr>
        </p:nvSpPr>
        <p:spPr>
          <a:xfrm>
            <a:off x="359683" y="4443216"/>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3" name="文本占位符 17"/>
          <p:cNvSpPr>
            <a:spLocks noGrp="1"/>
          </p:cNvSpPr>
          <p:nvPr>
            <p:ph type="body" sz="quarter" idx="18" hasCustomPrompt="1"/>
          </p:nvPr>
        </p:nvSpPr>
        <p:spPr>
          <a:xfrm>
            <a:off x="359683" y="4861768"/>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9" hasCustomPrompt="1"/>
          </p:nvPr>
        </p:nvSpPr>
        <p:spPr>
          <a:xfrm>
            <a:off x="6275841" y="442141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20" hasCustomPrompt="1"/>
          </p:nvPr>
        </p:nvSpPr>
        <p:spPr>
          <a:xfrm>
            <a:off x="6275841" y="4839964"/>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图片 3"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12"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5" name="图片 4" descr="未标题-4-13"/>
          <p:cNvPicPr>
            <a:picLocks noChangeAspect="1"/>
          </p:cNvPicPr>
          <p:nvPr userDrawn="1"/>
        </p:nvPicPr>
        <p:blipFill>
          <a:blip r:embed="rId3"/>
          <a:stretch>
            <a:fillRect/>
          </a:stretch>
        </p:blipFill>
        <p:spPr>
          <a:xfrm>
            <a:off x="656590" y="3160395"/>
            <a:ext cx="4088130" cy="8826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8" name="图片 7" descr="未标题-4-14"/>
          <p:cNvPicPr>
            <a:picLocks noChangeAspect="1"/>
          </p:cNvPicPr>
          <p:nvPr userDrawn="1"/>
        </p:nvPicPr>
        <p:blipFill>
          <a:blip r:embed="rId2"/>
          <a:stretch>
            <a:fillRect/>
          </a:stretch>
        </p:blipFill>
        <p:spPr>
          <a:xfrm>
            <a:off x="-99060" y="-52070"/>
            <a:ext cx="12389485" cy="696214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6"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BCC935-6F5E-4028-9633-399AFADFAEE4}" type="datetimeFigureOut">
              <a:rPr lang="zh-CN" altLang="en-US" smtClean="0"/>
              <a:t>2026/7/8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219E26F-9C0F-4D6E-84B1-C9DCC899A0B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CF135-FC0C-49BA-A035-6C77D031818C}" type="datetimeFigureOut">
              <a:rPr lang="zh-CN" altLang="en-US" smtClean="0"/>
              <a:t>2026/7/8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F6CF6-FCBD-49FC-96E5-C6C77BCF249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14.png"/><Relationship Id="rId2" Type="http://schemas.openxmlformats.org/officeDocument/2006/relationships/notesSlide" Target="../notesSlides/notesSlide3.xml"/><Relationship Id="rId16" Type="http://schemas.openxmlformats.org/officeDocument/2006/relationships/image" Target="../media/image16.svg"/><Relationship Id="rId1" Type="http://schemas.openxmlformats.org/officeDocument/2006/relationships/slideLayout" Target="../slideLayouts/slideLayout8.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15.png"/><Relationship Id="rId10" Type="http://schemas.openxmlformats.org/officeDocument/2006/relationships/image" Target="../media/image22.svg"/><Relationship Id="rId4" Type="http://schemas.openxmlformats.org/officeDocument/2006/relationships/image" Target="../media/image11.svg"/><Relationship Id="rId9" Type="http://schemas.openxmlformats.org/officeDocument/2006/relationships/image" Target="../media/image21.png"/><Relationship Id="rId1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33.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49.png"/><Relationship Id="rId4" Type="http://schemas.openxmlformats.org/officeDocument/2006/relationships/image" Target="../media/image13.sv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3CAD795-D6B1-BB31-CBCE-4C6DB6216C7F}"/>
              </a:ext>
            </a:extLst>
          </p:cNvPr>
          <p:cNvSpPr/>
          <p:nvPr/>
        </p:nvSpPr>
        <p:spPr>
          <a:xfrm>
            <a:off x="0" y="0"/>
            <a:ext cx="12192000" cy="1745111"/>
          </a:xfrm>
          <a:prstGeom prst="rect">
            <a:avLst/>
          </a:prstGeom>
          <a:solidFill>
            <a:srgbClr val="065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标题 1"/>
          <p:cNvSpPr>
            <a:spLocks noGrp="1"/>
          </p:cNvSpPr>
          <p:nvPr>
            <p:ph type="ctrTitle"/>
          </p:nvPr>
        </p:nvSpPr>
        <p:spPr>
          <a:xfrm>
            <a:off x="1582138" y="48067"/>
            <a:ext cx="10609862" cy="1508194"/>
          </a:xfrm>
          <a:noFill/>
        </p:spPr>
        <p:txBody>
          <a:bodyPr/>
          <a:lstStyle/>
          <a:p>
            <a:r>
              <a:rPr lang="en-US" altLang="zh-CN" sz="3600" dirty="0">
                <a:solidFill>
                  <a:schemeClr val="bg1"/>
                </a:solidFill>
              </a:rPr>
              <a:t>One Size Does Fit All: Exploring Model Fusion for Software Engineering Tasks</a:t>
            </a:r>
            <a:endParaRPr lang="zh-CN" altLang="en-US" sz="3600" dirty="0">
              <a:solidFill>
                <a:schemeClr val="bg1"/>
              </a:solidFill>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01964"/>
            <a:ext cx="1699260" cy="1354297"/>
          </a:xfrm>
          <a:prstGeom prst="rect">
            <a:avLst/>
          </a:prstGeom>
        </p:spPr>
      </p:pic>
      <p:sp>
        <p:nvSpPr>
          <p:cNvPr id="3" name="文本框 2">
            <a:extLst>
              <a:ext uri="{FF2B5EF4-FFF2-40B4-BE49-F238E27FC236}">
                <a16:creationId xmlns:a16="http://schemas.microsoft.com/office/drawing/2014/main" id="{3C5AB562-5DA2-AF05-55A0-2D7F710197DC}"/>
              </a:ext>
            </a:extLst>
          </p:cNvPr>
          <p:cNvSpPr txBox="1"/>
          <p:nvPr/>
        </p:nvSpPr>
        <p:spPr>
          <a:xfrm>
            <a:off x="1458542" y="2784301"/>
            <a:ext cx="9486900" cy="461665"/>
          </a:xfrm>
          <a:prstGeom prst="rect">
            <a:avLst/>
          </a:prstGeom>
          <a:noFill/>
        </p:spPr>
        <p:txBody>
          <a:bodyPr wrap="square" rtlCol="0">
            <a:spAutoFit/>
          </a:bodyPr>
          <a:lstStyle/>
          <a:p>
            <a:pPr lvl="0" algn="ctr">
              <a:defRPr/>
            </a:pP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邱盈钢</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秦意浩</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耿铭阳</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王尚文</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董德尊</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a:extLst>
              <a:ext uri="{FF2B5EF4-FFF2-40B4-BE49-F238E27FC236}">
                <a16:creationId xmlns:a16="http://schemas.microsoft.com/office/drawing/2014/main" id="{B87052F1-0D12-333B-2C7A-08CB0AFC9943}"/>
              </a:ext>
            </a:extLst>
          </p:cNvPr>
          <p:cNvSpPr txBox="1"/>
          <p:nvPr/>
        </p:nvSpPr>
        <p:spPr>
          <a:xfrm>
            <a:off x="2567222" y="3294848"/>
            <a:ext cx="7057555" cy="400110"/>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tabLst/>
              <a:defRPr kumimoji="0" sz="2400" b="0" i="0" u="none" strike="noStrike" cap="none" spc="0" normalizeH="0" baseline="0">
                <a:ln>
                  <a:noFill/>
                </a:ln>
                <a:effectLst/>
                <a:uLnTx/>
                <a:uFillTx/>
                <a:latin typeface="微软雅黑" panose="020B0503020204020204" pitchFamily="34" charset="-122"/>
                <a:ea typeface="微软雅黑" panose="020B0503020204020204" pitchFamily="34" charset="-122"/>
              </a:defRPr>
            </a:lvl1pPr>
          </a:lstStyle>
          <a:p>
            <a:r>
              <a:rPr lang="zh-CN" altLang="en-US" sz="2000" dirty="0">
                <a:latin typeface="Times New Roman" panose="02020603050405020304" pitchFamily="18" charset="0"/>
                <a:cs typeface="Times New Roman" panose="02020603050405020304" pitchFamily="18" charset="0"/>
              </a:rPr>
              <a:t>国防科技大学计算机学院</a:t>
            </a:r>
          </a:p>
        </p:txBody>
      </p:sp>
      <p:sp>
        <p:nvSpPr>
          <p:cNvPr id="10" name="文本框 9">
            <a:extLst>
              <a:ext uri="{FF2B5EF4-FFF2-40B4-BE49-F238E27FC236}">
                <a16:creationId xmlns:a16="http://schemas.microsoft.com/office/drawing/2014/main" id="{97EB1A34-19A2-967A-153F-A4B0FC336F68}"/>
              </a:ext>
            </a:extLst>
          </p:cNvPr>
          <p:cNvSpPr txBox="1"/>
          <p:nvPr/>
        </p:nvSpPr>
        <p:spPr>
          <a:xfrm>
            <a:off x="3368936" y="4063694"/>
            <a:ext cx="5454126" cy="369332"/>
          </a:xfrm>
          <a:prstGeom prst="rect">
            <a:avLst/>
          </a:prstGeom>
          <a:noFill/>
        </p:spPr>
        <p:txBody>
          <a:bodyPr wrap="square" rtlCol="0">
            <a:spAutoFit/>
          </a:bodyPr>
          <a:lstStyle/>
          <a:p>
            <a:pPr algn="ctr"/>
            <a:r>
              <a:rPr lang="en-US" altLang="zh-CN" b="1" dirty="0">
                <a:solidFill>
                  <a:srgbClr val="C00000"/>
                </a:solidFill>
                <a:latin typeface="Adobe Devanagari" panose="02040503050201020203" pitchFamily="18" charset="0"/>
                <a:cs typeface="Adobe Devanagari" panose="02040503050201020203" pitchFamily="18" charset="0"/>
              </a:rPr>
              <a:t>2026-5-16, </a:t>
            </a:r>
            <a:r>
              <a:rPr lang="zh-CN" altLang="en-US" b="1" dirty="0">
                <a:solidFill>
                  <a:srgbClr val="C00000"/>
                </a:solidFill>
                <a:latin typeface="Adobe Devanagari" panose="02040503050201020203" pitchFamily="18" charset="0"/>
                <a:cs typeface="Adobe Devanagari" panose="02040503050201020203" pitchFamily="18" charset="0"/>
              </a:rPr>
              <a:t>星期六</a:t>
            </a:r>
            <a:endParaRPr lang="en-US" altLang="zh-CN" b="1" dirty="0">
              <a:solidFill>
                <a:srgbClr val="C00000"/>
              </a:solidFill>
              <a:latin typeface="Adobe Devanagari" panose="02040503050201020203" pitchFamily="18" charset="0"/>
              <a:cs typeface="Adobe Devanagari" panose="020405030502010202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A278-7D01-F268-A414-B1A02DC62011}"/>
            </a:ext>
          </a:extLst>
        </p:cNvPr>
        <p:cNvGrpSpPr/>
        <p:nvPr/>
      </p:nvGrpSpPr>
      <p:grpSpPr>
        <a:xfrm>
          <a:off x="0" y="0"/>
          <a:ext cx="0" cy="0"/>
          <a:chOff x="0" y="0"/>
          <a:chExt cx="0" cy="0"/>
        </a:xfrm>
      </p:grpSpPr>
      <p:sp>
        <p:nvSpPr>
          <p:cNvPr id="70" name="文本框 69">
            <a:extLst>
              <a:ext uri="{FF2B5EF4-FFF2-40B4-BE49-F238E27FC236}">
                <a16:creationId xmlns:a16="http://schemas.microsoft.com/office/drawing/2014/main" id="{4BE1A7E8-8888-75F0-0C03-D67C69F87E18}"/>
              </a:ext>
            </a:extLst>
          </p:cNvPr>
          <p:cNvSpPr txBox="1"/>
          <p:nvPr/>
        </p:nvSpPr>
        <p:spPr>
          <a:xfrm>
            <a:off x="4653090" y="3097612"/>
            <a:ext cx="1021136"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漏洞检测</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16" name="矩形: 圆角 15">
            <a:extLst>
              <a:ext uri="{FF2B5EF4-FFF2-40B4-BE49-F238E27FC236}">
                <a16:creationId xmlns:a16="http://schemas.microsoft.com/office/drawing/2014/main" id="{42618593-CCE6-813C-81F9-25482A3D4E10}"/>
              </a:ext>
            </a:extLst>
          </p:cNvPr>
          <p:cNvSpPr/>
          <p:nvPr/>
        </p:nvSpPr>
        <p:spPr>
          <a:xfrm>
            <a:off x="7701280" y="2032000"/>
            <a:ext cx="4338320" cy="1117600"/>
          </a:xfrm>
          <a:prstGeom prst="roundRect">
            <a:avLst>
              <a:gd name="adj" fmla="val 794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CAC00ED-D11E-3CA2-9573-5F15D82DC3C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5097280-8DD6-0700-C4D1-4E70F783555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771BBE66-F98B-D453-8B25-A35F9CFA482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CD8BE74E-34EF-F054-55D4-BF440FA0E698}"/>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背景</a:t>
            </a:r>
          </a:p>
        </p:txBody>
      </p:sp>
      <p:sp>
        <p:nvSpPr>
          <p:cNvPr id="84" name="文本框 83">
            <a:extLst>
              <a:ext uri="{FF2B5EF4-FFF2-40B4-BE49-F238E27FC236}">
                <a16:creationId xmlns:a16="http://schemas.microsoft.com/office/drawing/2014/main" id="{346F21B7-0C6F-4F2E-0A09-53640F6B686C}"/>
              </a:ext>
            </a:extLst>
          </p:cNvPr>
          <p:cNvSpPr txBox="1"/>
          <p:nvPr/>
        </p:nvSpPr>
        <p:spPr>
          <a:xfrm>
            <a:off x="5367784" y="3800712"/>
            <a:ext cx="629415" cy="338554"/>
          </a:xfrm>
          <a:prstGeom prst="rect">
            <a:avLst/>
          </a:prstGeom>
          <a:noFill/>
        </p:spPr>
        <p:txBody>
          <a:bodyPr wrap="square">
            <a:spAutoFit/>
          </a:bodyPr>
          <a:lstStyle/>
          <a:p>
            <a:r>
              <a:rPr lang="zh-CN" altLang="en-US" sz="1600" b="1" dirty="0">
                <a:latin typeface="Noto Sans SC" panose="020B0200000000000000" pitchFamily="34" charset="-122"/>
                <a:ea typeface="Noto Sans SC" panose="020B0200000000000000" pitchFamily="34" charset="-122"/>
              </a:rPr>
              <a:t>部署</a:t>
            </a:r>
          </a:p>
        </p:txBody>
      </p:sp>
      <p:pic>
        <p:nvPicPr>
          <p:cNvPr id="74" name="图形 73">
            <a:extLst>
              <a:ext uri="{FF2B5EF4-FFF2-40B4-BE49-F238E27FC236}">
                <a16:creationId xmlns:a16="http://schemas.microsoft.com/office/drawing/2014/main" id="{19B47F26-3F8A-9142-B4C1-2C093AFDF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31796" y="2442666"/>
            <a:ext cx="716361" cy="706934"/>
          </a:xfrm>
          <a:prstGeom prst="rect">
            <a:avLst/>
          </a:prstGeom>
        </p:spPr>
      </p:pic>
      <p:pic>
        <p:nvPicPr>
          <p:cNvPr id="2" name="图形 1">
            <a:extLst>
              <a:ext uri="{FF2B5EF4-FFF2-40B4-BE49-F238E27FC236}">
                <a16:creationId xmlns:a16="http://schemas.microsoft.com/office/drawing/2014/main" id="{09DAFA03-5DA5-CCF5-2796-98081516EB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5664" y="1023264"/>
            <a:ext cx="755986" cy="746038"/>
          </a:xfrm>
          <a:prstGeom prst="rect">
            <a:avLst/>
          </a:prstGeom>
        </p:spPr>
      </p:pic>
      <p:pic>
        <p:nvPicPr>
          <p:cNvPr id="3" name="图形 2">
            <a:extLst>
              <a:ext uri="{FF2B5EF4-FFF2-40B4-BE49-F238E27FC236}">
                <a16:creationId xmlns:a16="http://schemas.microsoft.com/office/drawing/2014/main" id="{48BCBF00-6FBF-772A-2FE6-AE742B7A7E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28318" y="2442666"/>
            <a:ext cx="726374" cy="706934"/>
          </a:xfrm>
          <a:prstGeom prst="rect">
            <a:avLst/>
          </a:prstGeom>
        </p:spPr>
      </p:pic>
      <p:pic>
        <p:nvPicPr>
          <p:cNvPr id="4" name="图片 3">
            <a:extLst>
              <a:ext uri="{FF2B5EF4-FFF2-40B4-BE49-F238E27FC236}">
                <a16:creationId xmlns:a16="http://schemas.microsoft.com/office/drawing/2014/main" id="{F1C3E3FD-8DA7-11F7-4FF4-E0D6D1C7CBEE}"/>
              </a:ext>
            </a:extLst>
          </p:cNvPr>
          <p:cNvPicPr>
            <a:picLocks noChangeAspect="1"/>
          </p:cNvPicPr>
          <p:nvPr/>
        </p:nvPicPr>
        <p:blipFill>
          <a:blip r:embed="rId9"/>
          <a:stretch>
            <a:fillRect/>
          </a:stretch>
        </p:blipFill>
        <p:spPr>
          <a:xfrm>
            <a:off x="4855222" y="2508062"/>
            <a:ext cx="636900" cy="576143"/>
          </a:xfrm>
          <a:prstGeom prst="rect">
            <a:avLst/>
          </a:prstGeom>
        </p:spPr>
      </p:pic>
      <p:pic>
        <p:nvPicPr>
          <p:cNvPr id="6" name="图形 5">
            <a:extLst>
              <a:ext uri="{FF2B5EF4-FFF2-40B4-BE49-F238E27FC236}">
                <a16:creationId xmlns:a16="http://schemas.microsoft.com/office/drawing/2014/main" id="{7591728F-0B7E-B0FB-0C76-5D4484DA34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01414" y="2442666"/>
            <a:ext cx="726374" cy="706934"/>
          </a:xfrm>
          <a:prstGeom prst="rect">
            <a:avLst/>
          </a:prstGeom>
        </p:spPr>
      </p:pic>
      <p:pic>
        <p:nvPicPr>
          <p:cNvPr id="7" name="图形 6">
            <a:extLst>
              <a:ext uri="{FF2B5EF4-FFF2-40B4-BE49-F238E27FC236}">
                <a16:creationId xmlns:a16="http://schemas.microsoft.com/office/drawing/2014/main" id="{987854DA-6722-8473-1CC7-26EDF45718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2652" y="2442666"/>
            <a:ext cx="716361" cy="706934"/>
          </a:xfrm>
          <a:prstGeom prst="rect">
            <a:avLst/>
          </a:prstGeom>
        </p:spPr>
      </p:pic>
      <p:sp>
        <p:nvSpPr>
          <p:cNvPr id="8" name="文本框 7">
            <a:extLst>
              <a:ext uri="{FF2B5EF4-FFF2-40B4-BE49-F238E27FC236}">
                <a16:creationId xmlns:a16="http://schemas.microsoft.com/office/drawing/2014/main" id="{4D3D5534-7BF5-898D-86F7-6FDC5AB509E1}"/>
              </a:ext>
            </a:extLst>
          </p:cNvPr>
          <p:cNvSpPr txBox="1"/>
          <p:nvPr/>
        </p:nvSpPr>
        <p:spPr>
          <a:xfrm>
            <a:off x="5442208" y="2527874"/>
            <a:ext cx="452952" cy="401427"/>
          </a:xfrm>
          <a:prstGeom prst="rect">
            <a:avLst/>
          </a:prstGeom>
          <a:noFill/>
        </p:spPr>
        <p:txBody>
          <a:bodyPr wrap="squar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cxnSp>
        <p:nvCxnSpPr>
          <p:cNvPr id="10" name="直接箭头连接符 9">
            <a:extLst>
              <a:ext uri="{FF2B5EF4-FFF2-40B4-BE49-F238E27FC236}">
                <a16:creationId xmlns:a16="http://schemas.microsoft.com/office/drawing/2014/main" id="{7BE484D1-30B6-0E2E-93BF-AD3E07091614}"/>
              </a:ext>
            </a:extLst>
          </p:cNvPr>
          <p:cNvCxnSpPr>
            <a:cxnSpLocks/>
            <a:stCxn id="2" idx="2"/>
            <a:endCxn id="6" idx="0"/>
          </p:cNvCxnSpPr>
          <p:nvPr/>
        </p:nvCxnSpPr>
        <p:spPr>
          <a:xfrm flipH="1">
            <a:off x="3364601" y="1769302"/>
            <a:ext cx="1799056"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CC98308-8728-6F4C-0C03-17739EC63853}"/>
              </a:ext>
            </a:extLst>
          </p:cNvPr>
          <p:cNvCxnSpPr>
            <a:cxnSpLocks/>
            <a:stCxn id="2" idx="2"/>
            <a:endCxn id="3" idx="0"/>
          </p:cNvCxnSpPr>
          <p:nvPr/>
        </p:nvCxnSpPr>
        <p:spPr>
          <a:xfrm flipH="1">
            <a:off x="4291505" y="1769302"/>
            <a:ext cx="872152"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219E21B1-D3A6-1ACA-E47A-D1447CB66A7B}"/>
              </a:ext>
            </a:extLst>
          </p:cNvPr>
          <p:cNvCxnSpPr>
            <a:cxnSpLocks/>
            <a:stCxn id="2" idx="2"/>
            <a:endCxn id="4" idx="0"/>
          </p:cNvCxnSpPr>
          <p:nvPr/>
        </p:nvCxnSpPr>
        <p:spPr>
          <a:xfrm>
            <a:off x="5163657" y="1769302"/>
            <a:ext cx="10015" cy="7387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464AB363-43D0-991C-2FAF-702D6C5627CC}"/>
              </a:ext>
            </a:extLst>
          </p:cNvPr>
          <p:cNvCxnSpPr>
            <a:cxnSpLocks/>
            <a:stCxn id="2" idx="2"/>
            <a:endCxn id="7" idx="0"/>
          </p:cNvCxnSpPr>
          <p:nvPr/>
        </p:nvCxnSpPr>
        <p:spPr>
          <a:xfrm>
            <a:off x="5163657" y="1769302"/>
            <a:ext cx="887176"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4FD968BA-E52F-9C65-260F-C18DBBB8F2C6}"/>
              </a:ext>
            </a:extLst>
          </p:cNvPr>
          <p:cNvCxnSpPr>
            <a:cxnSpLocks/>
            <a:stCxn id="2" idx="2"/>
            <a:endCxn id="74" idx="0"/>
          </p:cNvCxnSpPr>
          <p:nvPr/>
        </p:nvCxnSpPr>
        <p:spPr>
          <a:xfrm>
            <a:off x="5163657" y="1769302"/>
            <a:ext cx="1826320"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023B4F0-2122-8B42-9BC4-4557671C8244}"/>
              </a:ext>
            </a:extLst>
          </p:cNvPr>
          <p:cNvSpPr txBox="1"/>
          <p:nvPr/>
        </p:nvSpPr>
        <p:spPr>
          <a:xfrm>
            <a:off x="2866991" y="3084205"/>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69" name="文本框 68">
            <a:extLst>
              <a:ext uri="{FF2B5EF4-FFF2-40B4-BE49-F238E27FC236}">
                <a16:creationId xmlns:a16="http://schemas.microsoft.com/office/drawing/2014/main" id="{53AC4070-957F-7F1F-30B5-8519F963BD63}"/>
              </a:ext>
            </a:extLst>
          </p:cNvPr>
          <p:cNvSpPr txBox="1"/>
          <p:nvPr/>
        </p:nvSpPr>
        <p:spPr>
          <a:xfrm>
            <a:off x="3766521" y="3102231"/>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1" name="文本框 70">
            <a:extLst>
              <a:ext uri="{FF2B5EF4-FFF2-40B4-BE49-F238E27FC236}">
                <a16:creationId xmlns:a16="http://schemas.microsoft.com/office/drawing/2014/main" id="{9187A4A2-3703-B309-78B8-9E89B5A507A5}"/>
              </a:ext>
            </a:extLst>
          </p:cNvPr>
          <p:cNvSpPr txBox="1"/>
          <p:nvPr/>
        </p:nvSpPr>
        <p:spPr>
          <a:xfrm>
            <a:off x="5568082" y="3097612"/>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摘要生成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2" name="文本框 71">
            <a:extLst>
              <a:ext uri="{FF2B5EF4-FFF2-40B4-BE49-F238E27FC236}">
                <a16:creationId xmlns:a16="http://schemas.microsoft.com/office/drawing/2014/main" id="{813EECFF-9CF4-3BF4-1C8E-841BB63EB6D2}"/>
              </a:ext>
            </a:extLst>
          </p:cNvPr>
          <p:cNvSpPr txBox="1"/>
          <p:nvPr/>
        </p:nvSpPr>
        <p:spPr>
          <a:xfrm>
            <a:off x="6465108" y="3097612"/>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76" name="文本框 75">
            <a:extLst>
              <a:ext uri="{FF2B5EF4-FFF2-40B4-BE49-F238E27FC236}">
                <a16:creationId xmlns:a16="http://schemas.microsoft.com/office/drawing/2014/main" id="{33970B8E-4A8B-8CB8-BC2F-8A6E824CB69C}"/>
              </a:ext>
            </a:extLst>
          </p:cNvPr>
          <p:cNvSpPr txBox="1"/>
          <p:nvPr/>
        </p:nvSpPr>
        <p:spPr>
          <a:xfrm>
            <a:off x="4776146" y="1944817"/>
            <a:ext cx="795051" cy="338554"/>
          </a:xfrm>
          <a:prstGeom prst="rect">
            <a:avLst/>
          </a:prstGeom>
          <a:solidFill>
            <a:schemeClr val="bg1"/>
          </a:solidFill>
        </p:spPr>
        <p:txBody>
          <a:bodyPr wrap="square" rtlCol="0">
            <a:spAutoFit/>
          </a:bodyPr>
          <a:lstStyle/>
          <a:p>
            <a:pPr algn="ctr"/>
            <a:r>
              <a:rPr lang="zh-CN" altLang="en-US" sz="1600" b="1" dirty="0">
                <a:latin typeface="Noto Sans SC" panose="020B0200000000000000" pitchFamily="34" charset="-122"/>
                <a:ea typeface="Noto Sans SC" panose="020B0200000000000000" pitchFamily="34" charset="-122"/>
              </a:rPr>
              <a:t>微调</a:t>
            </a:r>
          </a:p>
        </p:txBody>
      </p:sp>
      <p:sp>
        <p:nvSpPr>
          <p:cNvPr id="82" name="箭头: 下 81">
            <a:extLst>
              <a:ext uri="{FF2B5EF4-FFF2-40B4-BE49-F238E27FC236}">
                <a16:creationId xmlns:a16="http://schemas.microsoft.com/office/drawing/2014/main" id="{3A235282-3259-C120-24D7-CC06139C025B}"/>
              </a:ext>
            </a:extLst>
          </p:cNvPr>
          <p:cNvSpPr/>
          <p:nvPr/>
        </p:nvSpPr>
        <p:spPr>
          <a:xfrm>
            <a:off x="5087545" y="3668426"/>
            <a:ext cx="152227" cy="540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87" name="图表 86">
            <a:extLst>
              <a:ext uri="{FF2B5EF4-FFF2-40B4-BE49-F238E27FC236}">
                <a16:creationId xmlns:a16="http://schemas.microsoft.com/office/drawing/2014/main" id="{C40875A5-0B2B-9BA3-F6C8-C335D95B934E}"/>
              </a:ext>
            </a:extLst>
          </p:cNvPr>
          <p:cNvGraphicFramePr/>
          <p:nvPr>
            <p:extLst>
              <p:ext uri="{D42A27DB-BD31-4B8C-83A1-F6EECF244321}">
                <p14:modId xmlns:p14="http://schemas.microsoft.com/office/powerpoint/2010/main" val="953355094"/>
              </p:ext>
            </p:extLst>
          </p:nvPr>
        </p:nvGraphicFramePr>
        <p:xfrm>
          <a:off x="3746504" y="4296883"/>
          <a:ext cx="2864971" cy="1892417"/>
        </p:xfrm>
        <a:graphic>
          <a:graphicData uri="http://schemas.openxmlformats.org/drawingml/2006/chart">
            <c:chart xmlns:c="http://schemas.openxmlformats.org/drawingml/2006/chart" xmlns:r="http://schemas.openxmlformats.org/officeDocument/2006/relationships" r:id="rId12"/>
          </a:graphicData>
        </a:graphic>
      </p:graphicFrame>
      <p:sp>
        <p:nvSpPr>
          <p:cNvPr id="90" name="文本框 89">
            <a:extLst>
              <a:ext uri="{FF2B5EF4-FFF2-40B4-BE49-F238E27FC236}">
                <a16:creationId xmlns:a16="http://schemas.microsoft.com/office/drawing/2014/main" id="{BCD3AACD-3A07-6FFE-0DE3-1AA3EC983E42}"/>
              </a:ext>
            </a:extLst>
          </p:cNvPr>
          <p:cNvSpPr txBox="1"/>
          <p:nvPr/>
        </p:nvSpPr>
        <p:spPr>
          <a:xfrm>
            <a:off x="453377" y="912251"/>
            <a:ext cx="1446556" cy="400110"/>
          </a:xfrm>
          <a:prstGeom prst="rect">
            <a:avLst/>
          </a:prstGeom>
          <a:noFill/>
        </p:spPr>
        <p:txBody>
          <a:bodyPr wrap="square">
            <a:spAutoFit/>
          </a:bodyPr>
          <a:lstStyle/>
          <a:p>
            <a:r>
              <a:rPr lang="zh-CN" altLang="en-US" sz="2000" b="1" i="0" u="none" strike="noStrike" dirty="0">
                <a:latin typeface="Noto Sans SC"/>
                <a:ea typeface="Noto Sans SC"/>
                <a:cs typeface="Noto Sans SC"/>
                <a:sym typeface="Noto Sans SC"/>
              </a:rPr>
              <a:t>微调范式</a:t>
            </a:r>
            <a:endParaRPr lang="zh-CN" altLang="en-US" sz="2000" dirty="0"/>
          </a:p>
        </p:txBody>
      </p:sp>
      <p:sp>
        <p:nvSpPr>
          <p:cNvPr id="9" name="文本框 8">
            <a:extLst>
              <a:ext uri="{FF2B5EF4-FFF2-40B4-BE49-F238E27FC236}">
                <a16:creationId xmlns:a16="http://schemas.microsoft.com/office/drawing/2014/main" id="{B96D10EB-149E-4939-3635-BE53B7F62052}"/>
              </a:ext>
            </a:extLst>
          </p:cNvPr>
          <p:cNvSpPr txBox="1"/>
          <p:nvPr/>
        </p:nvSpPr>
        <p:spPr>
          <a:xfrm>
            <a:off x="7862129" y="2154647"/>
            <a:ext cx="4279071"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为每个软工任务每个编程语言微调一个检测点</a:t>
            </a:r>
          </a:p>
        </p:txBody>
      </p:sp>
      <p:sp>
        <p:nvSpPr>
          <p:cNvPr id="22" name="任意多边形: 形状 21">
            <a:extLst>
              <a:ext uri="{FF2B5EF4-FFF2-40B4-BE49-F238E27FC236}">
                <a16:creationId xmlns:a16="http://schemas.microsoft.com/office/drawing/2014/main" id="{2CBC3640-370A-3C01-09D6-EAE9897452E6}"/>
              </a:ext>
            </a:extLst>
          </p:cNvPr>
          <p:cNvSpPr/>
          <p:nvPr/>
        </p:nvSpPr>
        <p:spPr>
          <a:xfrm>
            <a:off x="7266109" y="2649130"/>
            <a:ext cx="596019" cy="373019"/>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DEAAF12F-1B92-8A53-C2E9-7DD4B237CEAA}"/>
              </a:ext>
            </a:extLst>
          </p:cNvPr>
          <p:cNvSpPr/>
          <p:nvPr/>
        </p:nvSpPr>
        <p:spPr>
          <a:xfrm>
            <a:off x="589280" y="4576072"/>
            <a:ext cx="3159760" cy="1061091"/>
          </a:xfrm>
          <a:prstGeom prst="roundRect">
            <a:avLst>
              <a:gd name="adj" fmla="val 794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EE13E76-9020-A3E9-F9AE-2C1DE4D07DCE}"/>
              </a:ext>
            </a:extLst>
          </p:cNvPr>
          <p:cNvSpPr txBox="1"/>
          <p:nvPr/>
        </p:nvSpPr>
        <p:spPr>
          <a:xfrm>
            <a:off x="750129" y="4698719"/>
            <a:ext cx="2734751"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检查点管理困难</a:t>
            </a:r>
            <a:endParaRPr lang="en-US" altLang="zh-CN" sz="2400" dirty="0">
              <a:solidFill>
                <a:schemeClr val="bg1"/>
              </a:solidFill>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部署难度大</a:t>
            </a:r>
          </a:p>
        </p:txBody>
      </p:sp>
      <p:sp>
        <p:nvSpPr>
          <p:cNvPr id="26" name="任意多边形: 形状 25">
            <a:extLst>
              <a:ext uri="{FF2B5EF4-FFF2-40B4-BE49-F238E27FC236}">
                <a16:creationId xmlns:a16="http://schemas.microsoft.com/office/drawing/2014/main" id="{72DFAF87-112C-B079-C688-BD28ED0E0DB8}"/>
              </a:ext>
            </a:extLst>
          </p:cNvPr>
          <p:cNvSpPr/>
          <p:nvPr/>
        </p:nvSpPr>
        <p:spPr>
          <a:xfrm flipH="1" flipV="1">
            <a:off x="3502664" y="4948198"/>
            <a:ext cx="530734" cy="353126"/>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37438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09C4-0622-9CB7-007C-F427388200B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6F1F1C05-754F-3CF4-26A4-A43CEEE7EE8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14410C1-86B6-8C5A-E545-DADD4E403F4E}"/>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8AB490F-B56C-1531-57F8-E5039237953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24AA0DAD-23AE-F57D-A837-DB42576BE8E0}"/>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背景</a:t>
            </a:r>
          </a:p>
        </p:txBody>
      </p:sp>
      <p:sp>
        <p:nvSpPr>
          <p:cNvPr id="2" name="Rectangle 1">
            <a:extLst>
              <a:ext uri="{FF2B5EF4-FFF2-40B4-BE49-F238E27FC236}">
                <a16:creationId xmlns:a16="http://schemas.microsoft.com/office/drawing/2014/main" id="{0BF3E369-BC27-A556-EFF2-BFAA0899B93B}"/>
              </a:ext>
            </a:extLst>
          </p:cNvPr>
          <p:cNvSpPr>
            <a:spLocks noChangeArrowheads="1"/>
          </p:cNvSpPr>
          <p:nvPr/>
        </p:nvSpPr>
        <p:spPr bwMode="auto">
          <a:xfrm>
            <a:off x="321565" y="843935"/>
            <a:ext cx="200545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形 2">
            <a:extLst>
              <a:ext uri="{FF2B5EF4-FFF2-40B4-BE49-F238E27FC236}">
                <a16:creationId xmlns:a16="http://schemas.microsoft.com/office/drawing/2014/main" id="{BE6C5800-AF76-7C29-1947-B135310FC5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7595" y="1248253"/>
            <a:ext cx="828264" cy="828264"/>
          </a:xfrm>
          <a:prstGeom prst="rect">
            <a:avLst/>
          </a:prstGeom>
        </p:spPr>
      </p:pic>
      <p:cxnSp>
        <p:nvCxnSpPr>
          <p:cNvPr id="13" name="连接符: 肘形 12">
            <a:extLst>
              <a:ext uri="{FF2B5EF4-FFF2-40B4-BE49-F238E27FC236}">
                <a16:creationId xmlns:a16="http://schemas.microsoft.com/office/drawing/2014/main" id="{87ED7CAF-8075-BE97-AE70-FD3A3F86A79C}"/>
              </a:ext>
            </a:extLst>
          </p:cNvPr>
          <p:cNvCxnSpPr>
            <a:cxnSpLocks/>
            <a:stCxn id="3" idx="2"/>
            <a:endCxn id="5" idx="0"/>
          </p:cNvCxnSpPr>
          <p:nvPr/>
        </p:nvCxnSpPr>
        <p:spPr>
          <a:xfrm rot="5400000">
            <a:off x="1675834" y="1610840"/>
            <a:ext cx="330216" cy="126157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0ADE2A00-AF82-E42D-A80B-3E6FAC29C6ED}"/>
              </a:ext>
            </a:extLst>
          </p:cNvPr>
          <p:cNvCxnSpPr>
            <a:cxnSpLocks/>
            <a:stCxn id="3" idx="2"/>
            <a:endCxn id="10" idx="0"/>
          </p:cNvCxnSpPr>
          <p:nvPr/>
        </p:nvCxnSpPr>
        <p:spPr>
          <a:xfrm rot="16200000" flipH="1">
            <a:off x="2939418" y="1608826"/>
            <a:ext cx="330216" cy="126559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FB555B86-4ECA-CA36-96C7-9CCC8557FBAF}"/>
                  </a:ext>
                </a:extLst>
              </p:cNvPr>
              <p:cNvSpPr txBox="1"/>
              <p:nvPr/>
            </p:nvSpPr>
            <p:spPr>
              <a:xfrm>
                <a:off x="735513" y="3322991"/>
                <a:ext cx="100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m:oMathPara>
                </a14:m>
                <a:endParaRPr lang="zh-CN" altLang="en-US" dirty="0"/>
              </a:p>
            </p:txBody>
          </p:sp>
        </mc:Choice>
        <mc:Fallback xmlns="">
          <p:sp>
            <p:nvSpPr>
              <p:cNvPr id="66" name="文本框 65">
                <a:extLst>
                  <a:ext uri="{FF2B5EF4-FFF2-40B4-BE49-F238E27FC236}">
                    <a16:creationId xmlns:a16="http://schemas.microsoft.com/office/drawing/2014/main" id="{FB555B86-4ECA-CA36-96C7-9CCC8557FBAF}"/>
                  </a:ext>
                </a:extLst>
              </p:cNvPr>
              <p:cNvSpPr txBox="1">
                <a:spLocks noRot="1" noChangeAspect="1" noMove="1" noResize="1" noEditPoints="1" noAdjustHandles="1" noChangeArrowheads="1" noChangeShapeType="1" noTextEdit="1"/>
              </p:cNvSpPr>
              <p:nvPr/>
            </p:nvSpPr>
            <p:spPr>
              <a:xfrm>
                <a:off x="735513" y="3322991"/>
                <a:ext cx="1008546" cy="369332"/>
              </a:xfrm>
              <a:prstGeom prst="rect">
                <a:avLst/>
              </a:prstGeom>
              <a:blipFill>
                <a:blip r:embed="rId5"/>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23201BF4-EFF8-75D8-F843-7193306D61D4}"/>
                  </a:ext>
                </a:extLst>
              </p:cNvPr>
              <p:cNvSpPr txBox="1"/>
              <p:nvPr/>
            </p:nvSpPr>
            <p:spPr>
              <a:xfrm>
                <a:off x="1949507" y="3329191"/>
                <a:ext cx="10191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67" name="文本框 66">
                <a:extLst>
                  <a:ext uri="{FF2B5EF4-FFF2-40B4-BE49-F238E27FC236}">
                    <a16:creationId xmlns:a16="http://schemas.microsoft.com/office/drawing/2014/main" id="{23201BF4-EFF8-75D8-F843-7193306D61D4}"/>
                  </a:ext>
                </a:extLst>
              </p:cNvPr>
              <p:cNvSpPr txBox="1">
                <a:spLocks noRot="1" noChangeAspect="1" noMove="1" noResize="1" noEditPoints="1" noAdjustHandles="1" noChangeArrowheads="1" noChangeShapeType="1" noTextEdit="1"/>
              </p:cNvSpPr>
              <p:nvPr/>
            </p:nvSpPr>
            <p:spPr>
              <a:xfrm>
                <a:off x="1949507" y="3329191"/>
                <a:ext cx="1019189" cy="369332"/>
              </a:xfrm>
              <a:prstGeom prst="rect">
                <a:avLst/>
              </a:prstGeom>
              <a:blipFill>
                <a:blip r:embed="rId6"/>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24DC5945-E5B4-DBE5-0721-0CCB8579BB4A}"/>
                  </a:ext>
                </a:extLst>
              </p:cNvPr>
              <p:cNvSpPr txBox="1"/>
              <p:nvPr/>
            </p:nvSpPr>
            <p:spPr>
              <a:xfrm>
                <a:off x="3201054" y="3322991"/>
                <a:ext cx="11011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oMath>
                  </m:oMathPara>
                </a14:m>
                <a:endParaRPr lang="zh-CN" altLang="en-US" dirty="0"/>
              </a:p>
            </p:txBody>
          </p:sp>
        </mc:Choice>
        <mc:Fallback xmlns="">
          <p:sp>
            <p:nvSpPr>
              <p:cNvPr id="68" name="文本框 67">
                <a:extLst>
                  <a:ext uri="{FF2B5EF4-FFF2-40B4-BE49-F238E27FC236}">
                    <a16:creationId xmlns:a16="http://schemas.microsoft.com/office/drawing/2014/main" id="{24DC5945-E5B4-DBE5-0721-0CCB8579BB4A}"/>
                  </a:ext>
                </a:extLst>
              </p:cNvPr>
              <p:cNvSpPr txBox="1">
                <a:spLocks noRot="1" noChangeAspect="1" noMove="1" noResize="1" noEditPoints="1" noAdjustHandles="1" noChangeArrowheads="1" noChangeShapeType="1" noTextEdit="1"/>
              </p:cNvSpPr>
              <p:nvPr/>
            </p:nvSpPr>
            <p:spPr>
              <a:xfrm>
                <a:off x="3201054" y="3322991"/>
                <a:ext cx="1101135" cy="369332"/>
              </a:xfrm>
              <a:prstGeom prst="rect">
                <a:avLst/>
              </a:prstGeom>
              <a:blipFill>
                <a:blip r:embed="rId7"/>
                <a:stretch>
                  <a:fillRect b="-13115"/>
                </a:stretch>
              </a:blipFill>
            </p:spPr>
            <p:txBody>
              <a:bodyPr/>
              <a:lstStyle/>
              <a:p>
                <a:r>
                  <a:rPr lang="zh-CN" altLang="en-US">
                    <a:noFill/>
                  </a:rPr>
                  <a:t> </a:t>
                </a:r>
              </a:p>
            </p:txBody>
          </p:sp>
        </mc:Fallback>
      </mc:AlternateContent>
      <p:cxnSp>
        <p:nvCxnSpPr>
          <p:cNvPr id="69" name="连接符: 肘形 68">
            <a:extLst>
              <a:ext uri="{FF2B5EF4-FFF2-40B4-BE49-F238E27FC236}">
                <a16:creationId xmlns:a16="http://schemas.microsoft.com/office/drawing/2014/main" id="{F6362B6D-0D90-F16E-3F47-AC4D39DCB8C3}"/>
              </a:ext>
            </a:extLst>
          </p:cNvPr>
          <p:cNvCxnSpPr>
            <a:cxnSpLocks/>
            <a:stCxn id="67" idx="2"/>
            <a:endCxn id="89" idx="0"/>
          </p:cNvCxnSpPr>
          <p:nvPr/>
        </p:nvCxnSpPr>
        <p:spPr>
          <a:xfrm rot="5400000">
            <a:off x="2300293" y="3857330"/>
            <a:ext cx="317616" cy="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036DF3BA-6B3E-B0AC-86D7-9DFA6ADAA9B5}"/>
              </a:ext>
            </a:extLst>
          </p:cNvPr>
          <p:cNvCxnSpPr>
            <a:cxnSpLocks/>
            <a:stCxn id="66" idx="2"/>
            <a:endCxn id="89" idx="0"/>
          </p:cNvCxnSpPr>
          <p:nvPr/>
        </p:nvCxnSpPr>
        <p:spPr>
          <a:xfrm rot="16200000" flipH="1">
            <a:off x="1687534" y="3244574"/>
            <a:ext cx="323816" cy="121931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连接符: 肘形 79">
            <a:extLst>
              <a:ext uri="{FF2B5EF4-FFF2-40B4-BE49-F238E27FC236}">
                <a16:creationId xmlns:a16="http://schemas.microsoft.com/office/drawing/2014/main" id="{97B164FA-F8E2-FCE4-43F2-5FBBF93DC98F}"/>
              </a:ext>
            </a:extLst>
          </p:cNvPr>
          <p:cNvCxnSpPr>
            <a:cxnSpLocks/>
            <a:stCxn id="68" idx="2"/>
            <a:endCxn id="89" idx="0"/>
          </p:cNvCxnSpPr>
          <p:nvPr/>
        </p:nvCxnSpPr>
        <p:spPr>
          <a:xfrm rot="5400000">
            <a:off x="2943453" y="3207970"/>
            <a:ext cx="323816" cy="129252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3E2AF276-93FB-4322-5411-888EDA2B2ED6}"/>
                  </a:ext>
                </a:extLst>
              </p:cNvPr>
              <p:cNvSpPr txBox="1"/>
              <p:nvPr/>
            </p:nvSpPr>
            <p:spPr>
              <a:xfrm>
                <a:off x="2050122" y="4896249"/>
                <a:ext cx="823110" cy="378758"/>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m:t>
                      </m:r>
                    </m:oMath>
                  </m:oMathPara>
                </a14:m>
                <a:endParaRPr lang="zh-CN" altLang="en-US" dirty="0"/>
              </a:p>
            </p:txBody>
          </p:sp>
        </mc:Choice>
        <mc:Fallback xmlns="">
          <p:sp>
            <p:nvSpPr>
              <p:cNvPr id="87" name="文本框 86">
                <a:extLst>
                  <a:ext uri="{FF2B5EF4-FFF2-40B4-BE49-F238E27FC236}">
                    <a16:creationId xmlns:a16="http://schemas.microsoft.com/office/drawing/2014/main" id="{3E2AF276-93FB-4322-5411-888EDA2B2ED6}"/>
                  </a:ext>
                </a:extLst>
              </p:cNvPr>
              <p:cNvSpPr txBox="1">
                <a:spLocks noRot="1" noChangeAspect="1" noMove="1" noResize="1" noEditPoints="1" noAdjustHandles="1" noChangeArrowheads="1" noChangeShapeType="1" noTextEdit="1"/>
              </p:cNvSpPr>
              <p:nvPr/>
            </p:nvSpPr>
            <p:spPr>
              <a:xfrm>
                <a:off x="2050122" y="4896249"/>
                <a:ext cx="823110" cy="378758"/>
              </a:xfrm>
              <a:prstGeom prst="rect">
                <a:avLst/>
              </a:prstGeom>
              <a:blipFill>
                <a:blip r:embed="rId8"/>
                <a:stretch>
                  <a:fillRect t="-8065" r="-15556" b="-14516"/>
                </a:stretch>
              </a:blipFill>
            </p:spPr>
            <p:txBody>
              <a:bodyPr/>
              <a:lstStyle/>
              <a:p>
                <a:r>
                  <a:rPr lang="zh-CN" altLang="en-US">
                    <a:noFill/>
                  </a:rPr>
                  <a:t> </a:t>
                </a:r>
              </a:p>
            </p:txBody>
          </p:sp>
        </mc:Fallback>
      </mc:AlternateContent>
      <p:grpSp>
        <p:nvGrpSpPr>
          <p:cNvPr id="88" name="组合 87">
            <a:extLst>
              <a:ext uri="{FF2B5EF4-FFF2-40B4-BE49-F238E27FC236}">
                <a16:creationId xmlns:a16="http://schemas.microsoft.com/office/drawing/2014/main" id="{FED62E27-CB73-4C03-572F-7C84B4C977D4}"/>
              </a:ext>
            </a:extLst>
          </p:cNvPr>
          <p:cNvGrpSpPr/>
          <p:nvPr/>
        </p:nvGrpSpPr>
        <p:grpSpPr>
          <a:xfrm>
            <a:off x="2019044" y="4016139"/>
            <a:ext cx="880110" cy="880110"/>
            <a:chOff x="4085" y="4063"/>
            <a:chExt cx="1386" cy="1386"/>
          </a:xfrm>
        </p:grpSpPr>
        <p:pic>
          <p:nvPicPr>
            <p:cNvPr id="89" name="图形 397">
              <a:extLst>
                <a:ext uri="{FF2B5EF4-FFF2-40B4-BE49-F238E27FC236}">
                  <a16:creationId xmlns:a16="http://schemas.microsoft.com/office/drawing/2014/main" id="{C751B42E-CCC0-97FE-8F6E-AF606A8D2F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85" y="4063"/>
              <a:ext cx="1386" cy="1386"/>
            </a:xfrm>
            <a:prstGeom prst="rect">
              <a:avLst/>
            </a:prstGeom>
          </p:spPr>
        </p:pic>
        <p:pic>
          <p:nvPicPr>
            <p:cNvPr id="91" name="图片 31" descr="领带_fill">
              <a:extLst>
                <a:ext uri="{FF2B5EF4-FFF2-40B4-BE49-F238E27FC236}">
                  <a16:creationId xmlns:a16="http://schemas.microsoft.com/office/drawing/2014/main" id="{2B166B9F-84E4-301C-6DB5-8B7EC51726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0" y="5000"/>
              <a:ext cx="417" cy="417"/>
            </a:xfrm>
            <a:prstGeom prst="rect">
              <a:avLst/>
            </a:prstGeom>
          </p:spPr>
        </p:pic>
      </p:grpSp>
      <p:pic>
        <p:nvPicPr>
          <p:cNvPr id="5" name="图形 4">
            <a:extLst>
              <a:ext uri="{FF2B5EF4-FFF2-40B4-BE49-F238E27FC236}">
                <a16:creationId xmlns:a16="http://schemas.microsoft.com/office/drawing/2014/main" id="{3C4DDC08-E04D-EE36-5DB0-3BBFA28F84A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8130" y="2406733"/>
            <a:ext cx="584051" cy="576000"/>
          </a:xfrm>
          <a:prstGeom prst="rect">
            <a:avLst/>
          </a:prstGeom>
        </p:spPr>
      </p:pic>
      <p:pic>
        <p:nvPicPr>
          <p:cNvPr id="10" name="图形 9">
            <a:extLst>
              <a:ext uri="{FF2B5EF4-FFF2-40B4-BE49-F238E27FC236}">
                <a16:creationId xmlns:a16="http://schemas.microsoft.com/office/drawing/2014/main" id="{81EA0FEB-7D96-48D0-64C7-0A0BD15B65B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49325" y="2406733"/>
            <a:ext cx="576000" cy="576000"/>
          </a:xfrm>
          <a:prstGeom prst="rect">
            <a:avLst/>
          </a:prstGeom>
        </p:spPr>
      </p:pic>
      <p:sp>
        <p:nvSpPr>
          <p:cNvPr id="11" name="文本框 10">
            <a:extLst>
              <a:ext uri="{FF2B5EF4-FFF2-40B4-BE49-F238E27FC236}">
                <a16:creationId xmlns:a16="http://schemas.microsoft.com/office/drawing/2014/main" id="{CBF1DD04-70F3-DFE9-0698-D9E946B56D57}"/>
              </a:ext>
            </a:extLst>
          </p:cNvPr>
          <p:cNvSpPr txBox="1"/>
          <p:nvPr/>
        </p:nvSpPr>
        <p:spPr>
          <a:xfrm>
            <a:off x="2948830" y="2531195"/>
            <a:ext cx="364202" cy="327077"/>
          </a:xfrm>
          <a:prstGeom prst="rect">
            <a:avLst/>
          </a:prstGeom>
          <a:noFill/>
        </p:spPr>
        <p:txBody>
          <a:bodyPr wrap="non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pic>
        <p:nvPicPr>
          <p:cNvPr id="140" name="图片 139">
            <a:extLst>
              <a:ext uri="{FF2B5EF4-FFF2-40B4-BE49-F238E27FC236}">
                <a16:creationId xmlns:a16="http://schemas.microsoft.com/office/drawing/2014/main" id="{E68C5FE2-FB3A-9E2A-DB61-A91E0A1CFCC1}"/>
              </a:ext>
            </a:extLst>
          </p:cNvPr>
          <p:cNvPicPr>
            <a:picLocks noChangeAspect="1"/>
          </p:cNvPicPr>
          <p:nvPr/>
        </p:nvPicPr>
        <p:blipFill>
          <a:blip r:embed="rId17"/>
          <a:stretch>
            <a:fillRect/>
          </a:stretch>
        </p:blipFill>
        <p:spPr>
          <a:xfrm>
            <a:off x="2219699" y="2436795"/>
            <a:ext cx="512108" cy="469433"/>
          </a:xfrm>
          <a:prstGeom prst="rect">
            <a:avLst/>
          </a:prstGeom>
        </p:spPr>
      </p:pic>
      <p:cxnSp>
        <p:nvCxnSpPr>
          <p:cNvPr id="158" name="直接箭头连接符 157">
            <a:extLst>
              <a:ext uri="{FF2B5EF4-FFF2-40B4-BE49-F238E27FC236}">
                <a16:creationId xmlns:a16="http://schemas.microsoft.com/office/drawing/2014/main" id="{8A0906B4-5826-72AD-920B-2C805AE48F9A}"/>
              </a:ext>
            </a:extLst>
          </p:cNvPr>
          <p:cNvCxnSpPr>
            <a:cxnSpLocks/>
            <a:stCxn id="3" idx="2"/>
            <a:endCxn id="140" idx="0"/>
          </p:cNvCxnSpPr>
          <p:nvPr/>
        </p:nvCxnSpPr>
        <p:spPr>
          <a:xfrm>
            <a:off x="2471727" y="2076517"/>
            <a:ext cx="4026" cy="3602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0" name="图形 159">
            <a:extLst>
              <a:ext uri="{FF2B5EF4-FFF2-40B4-BE49-F238E27FC236}">
                <a16:creationId xmlns:a16="http://schemas.microsoft.com/office/drawing/2014/main" id="{611267B7-671B-CA7B-F481-1666380750F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2299" y="5615888"/>
            <a:ext cx="584051" cy="576000"/>
          </a:xfrm>
          <a:prstGeom prst="rect">
            <a:avLst/>
          </a:prstGeom>
        </p:spPr>
      </p:pic>
      <p:pic>
        <p:nvPicPr>
          <p:cNvPr id="161" name="图形 160">
            <a:extLst>
              <a:ext uri="{FF2B5EF4-FFF2-40B4-BE49-F238E27FC236}">
                <a16:creationId xmlns:a16="http://schemas.microsoft.com/office/drawing/2014/main" id="{3509AE22-CCDF-C74E-AF3C-08930604D82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65049" y="5615888"/>
            <a:ext cx="576000" cy="576000"/>
          </a:xfrm>
          <a:prstGeom prst="rect">
            <a:avLst/>
          </a:prstGeom>
        </p:spPr>
      </p:pic>
      <p:pic>
        <p:nvPicPr>
          <p:cNvPr id="162" name="图片 161">
            <a:extLst>
              <a:ext uri="{FF2B5EF4-FFF2-40B4-BE49-F238E27FC236}">
                <a16:creationId xmlns:a16="http://schemas.microsoft.com/office/drawing/2014/main" id="{B85A921F-6E9B-8D2A-C72F-C2348A61AD24}"/>
              </a:ext>
            </a:extLst>
          </p:cNvPr>
          <p:cNvPicPr>
            <a:picLocks noChangeAspect="1"/>
          </p:cNvPicPr>
          <p:nvPr/>
        </p:nvPicPr>
        <p:blipFill>
          <a:blip r:embed="rId17"/>
          <a:stretch>
            <a:fillRect/>
          </a:stretch>
        </p:blipFill>
        <p:spPr>
          <a:xfrm>
            <a:off x="2203045" y="5669171"/>
            <a:ext cx="512108" cy="469433"/>
          </a:xfrm>
          <a:prstGeom prst="rect">
            <a:avLst/>
          </a:prstGeom>
        </p:spPr>
      </p:pic>
      <p:cxnSp>
        <p:nvCxnSpPr>
          <p:cNvPr id="163" name="连接符: 肘形 162">
            <a:extLst>
              <a:ext uri="{FF2B5EF4-FFF2-40B4-BE49-F238E27FC236}">
                <a16:creationId xmlns:a16="http://schemas.microsoft.com/office/drawing/2014/main" id="{432A4AF1-47B8-0261-B2CA-2722C59F113C}"/>
              </a:ext>
            </a:extLst>
          </p:cNvPr>
          <p:cNvCxnSpPr>
            <a:cxnSpLocks/>
            <a:stCxn id="87" idx="2"/>
            <a:endCxn id="160" idx="0"/>
          </p:cNvCxnSpPr>
          <p:nvPr/>
        </p:nvCxnSpPr>
        <p:spPr>
          <a:xfrm rot="5400000">
            <a:off x="1687561" y="4841771"/>
            <a:ext cx="340881" cy="1207352"/>
          </a:xfrm>
          <a:prstGeom prst="bentConnector3">
            <a:avLst>
              <a:gd name="adj1" fmla="val 6730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连接符: 肘形 168">
            <a:extLst>
              <a:ext uri="{FF2B5EF4-FFF2-40B4-BE49-F238E27FC236}">
                <a16:creationId xmlns:a16="http://schemas.microsoft.com/office/drawing/2014/main" id="{03A311B4-AB29-7364-843D-23EA4565EF61}"/>
              </a:ext>
            </a:extLst>
          </p:cNvPr>
          <p:cNvCxnSpPr>
            <a:cxnSpLocks/>
            <a:stCxn id="87" idx="2"/>
            <a:endCxn id="161" idx="0"/>
          </p:cNvCxnSpPr>
          <p:nvPr/>
        </p:nvCxnSpPr>
        <p:spPr>
          <a:xfrm rot="16200000" flipH="1">
            <a:off x="2936923" y="4799761"/>
            <a:ext cx="340881" cy="1291372"/>
          </a:xfrm>
          <a:prstGeom prst="bentConnector3">
            <a:avLst>
              <a:gd name="adj1" fmla="val 6730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19F8AC38-E2FB-B32B-6C49-C2CE2D0513D0}"/>
              </a:ext>
            </a:extLst>
          </p:cNvPr>
          <p:cNvCxnSpPr>
            <a:cxnSpLocks/>
            <a:stCxn id="87" idx="2"/>
            <a:endCxn id="162" idx="0"/>
          </p:cNvCxnSpPr>
          <p:nvPr/>
        </p:nvCxnSpPr>
        <p:spPr>
          <a:xfrm flipH="1">
            <a:off x="2459099" y="5275007"/>
            <a:ext cx="2578" cy="3941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文本框 186">
            <a:extLst>
              <a:ext uri="{FF2B5EF4-FFF2-40B4-BE49-F238E27FC236}">
                <a16:creationId xmlns:a16="http://schemas.microsoft.com/office/drawing/2014/main" id="{A57322AE-74E6-FDA7-78C7-FCF88BE9B96A}"/>
              </a:ext>
            </a:extLst>
          </p:cNvPr>
          <p:cNvSpPr txBox="1"/>
          <p:nvPr/>
        </p:nvSpPr>
        <p:spPr>
          <a:xfrm>
            <a:off x="2448913" y="5171193"/>
            <a:ext cx="1065805" cy="369332"/>
          </a:xfrm>
          <a:prstGeom prst="rect">
            <a:avLst/>
          </a:prstGeom>
          <a:noFill/>
        </p:spPr>
        <p:txBody>
          <a:bodyPr wrap="none" rtlCol="0">
            <a:spAutoFit/>
          </a:bodyPr>
          <a:lstStyle/>
          <a:p>
            <a:r>
              <a:rPr lang="en-US" altLang="zh-CN" i="1" dirty="0"/>
              <a:t>inference</a:t>
            </a:r>
            <a:endParaRPr lang="zh-CN" altLang="en-US" i="1" dirty="0"/>
          </a:p>
        </p:txBody>
      </p:sp>
      <p:grpSp>
        <p:nvGrpSpPr>
          <p:cNvPr id="197" name="组合 196">
            <a:extLst>
              <a:ext uri="{FF2B5EF4-FFF2-40B4-BE49-F238E27FC236}">
                <a16:creationId xmlns:a16="http://schemas.microsoft.com/office/drawing/2014/main" id="{884BD571-845C-86D2-3540-6D88627CFF20}"/>
              </a:ext>
            </a:extLst>
          </p:cNvPr>
          <p:cNvGrpSpPr/>
          <p:nvPr/>
        </p:nvGrpSpPr>
        <p:grpSpPr>
          <a:xfrm>
            <a:off x="4820067" y="2018808"/>
            <a:ext cx="7168733" cy="3810000"/>
            <a:chOff x="4718467" y="1649796"/>
            <a:chExt cx="7168733" cy="3810000"/>
          </a:xfrm>
        </p:grpSpPr>
        <p:sp>
          <p:nvSpPr>
            <p:cNvPr id="189" name="AutoShape 6">
              <a:extLst>
                <a:ext uri="{FF2B5EF4-FFF2-40B4-BE49-F238E27FC236}">
                  <a16:creationId xmlns:a16="http://schemas.microsoft.com/office/drawing/2014/main" id="{A594B977-677E-F419-EF54-E47032BA8EF0}"/>
                </a:ext>
              </a:extLst>
            </p:cNvPr>
            <p:cNvSpPr/>
            <p:nvPr/>
          </p:nvSpPr>
          <p:spPr>
            <a:xfrm>
              <a:off x="4718467" y="1649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1. </a:t>
              </a:r>
              <a:r>
                <a:rPr lang="en-US" sz="2000" b="1" i="0" u="none" strike="noStrike" dirty="0" err="1">
                  <a:solidFill>
                    <a:schemeClr val="tx1"/>
                  </a:solidFill>
                  <a:latin typeface="Noto Sans SC"/>
                  <a:ea typeface="Noto Sans SC"/>
                  <a:cs typeface="Noto Sans SC"/>
                  <a:sym typeface="Noto Sans SC"/>
                </a:rPr>
                <a:t>预训练模型</a:t>
              </a:r>
              <a:r>
                <a:rPr lang="en-US" sz="2000" b="1" i="0" u="none" strike="noStrike" dirty="0">
                  <a:solidFill>
                    <a:schemeClr val="tx1"/>
                  </a:solidFill>
                  <a:latin typeface="Noto Sans SC"/>
                  <a:ea typeface="Noto Sans SC"/>
                  <a:cs typeface="Noto Sans SC"/>
                  <a:sym typeface="Noto Sans SC"/>
                </a:rPr>
                <a:t> (Pre-trained Model)</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a:solidFill>
                    <a:schemeClr val="tx1"/>
                  </a:solidFill>
                  <a:latin typeface="Noto Sans SC"/>
                  <a:ea typeface="Noto Sans SC"/>
                  <a:cs typeface="Noto Sans SC"/>
                  <a:sym typeface="Noto Sans SC"/>
                </a:rPr>
                <a:t>以 CodeLlama</a:t>
              </a:r>
              <a:r>
                <a:rPr lang="en-US" sz="1800" dirty="0">
                  <a:solidFill>
                    <a:schemeClr val="tx1"/>
                  </a:solidFill>
                  <a:latin typeface="Noto Sans SC"/>
                  <a:ea typeface="Noto Sans SC"/>
                  <a:cs typeface="Noto Sans SC"/>
                  <a:sym typeface="Noto Sans SC"/>
                </a:rPr>
                <a:t>-7B</a:t>
              </a:r>
              <a:r>
                <a:rPr lang="en-US" sz="1800" b="0" i="0" u="none" strike="noStrike" dirty="0">
                  <a:solidFill>
                    <a:schemeClr val="tx1"/>
                  </a:solidFill>
                  <a:latin typeface="Noto Sans SC"/>
                  <a:ea typeface="Noto Sans SC"/>
                  <a:cs typeface="Noto Sans SC"/>
                  <a:sym typeface="Noto Sans SC"/>
                </a:rPr>
                <a:t>基座，作为所有任务微调的共享起点。</a:t>
              </a:r>
            </a:p>
          </p:txBody>
        </p:sp>
        <p:sp>
          <p:nvSpPr>
            <p:cNvPr id="191" name="AutoShape 8">
              <a:extLst>
                <a:ext uri="{FF2B5EF4-FFF2-40B4-BE49-F238E27FC236}">
                  <a16:creationId xmlns:a16="http://schemas.microsoft.com/office/drawing/2014/main" id="{50DB75F4-788A-1345-6C3B-3210D934BF90}"/>
                </a:ext>
              </a:extLst>
            </p:cNvPr>
            <p:cNvSpPr/>
            <p:nvPr/>
          </p:nvSpPr>
          <p:spPr>
            <a:xfrm>
              <a:off x="4718468" y="2665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2. </a:t>
              </a:r>
              <a:r>
                <a:rPr lang="en-US" sz="2000" b="1" i="0" u="none" strike="noStrike" dirty="0" err="1">
                  <a:solidFill>
                    <a:schemeClr val="tx1"/>
                  </a:solidFill>
                  <a:latin typeface="Noto Sans SC"/>
                  <a:ea typeface="Noto Sans SC"/>
                  <a:cs typeface="Noto Sans SC"/>
                  <a:sym typeface="Noto Sans SC"/>
                </a:rPr>
                <a:t>任务特定微调</a:t>
              </a:r>
              <a:r>
                <a:rPr lang="en-US" sz="2000" b="1" i="0" u="none" strike="noStrike" dirty="0">
                  <a:solidFill>
                    <a:schemeClr val="tx1"/>
                  </a:solidFill>
                  <a:latin typeface="Noto Sans SC"/>
                  <a:ea typeface="Noto Sans SC"/>
                  <a:cs typeface="Noto Sans SC"/>
                  <a:sym typeface="Noto Sans SC"/>
                </a:rPr>
                <a:t> (Fine-tuning)</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针对代码搜索、漏洞检测等任务，训练得到独立的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低秩参数</a:t>
              </a:r>
              <a:r>
                <a:rPr lang="en-US" sz="1800" b="0" i="0" u="none" strike="noStrike" dirty="0">
                  <a:solidFill>
                    <a:schemeClr val="tx1"/>
                  </a:solidFill>
                  <a:latin typeface="Noto Sans SC"/>
                  <a:ea typeface="Noto Sans SC"/>
                  <a:cs typeface="Noto Sans SC"/>
                  <a:sym typeface="Noto Sans SC"/>
                </a:rPr>
                <a:t>。</a:t>
              </a:r>
            </a:p>
          </p:txBody>
        </p:sp>
        <p:sp>
          <p:nvSpPr>
            <p:cNvPr id="193" name="AutoShape 10">
              <a:extLst>
                <a:ext uri="{FF2B5EF4-FFF2-40B4-BE49-F238E27FC236}">
                  <a16:creationId xmlns:a16="http://schemas.microsoft.com/office/drawing/2014/main" id="{7F1350EC-7F0F-2855-FA9D-0E6DBE99D0D1}"/>
                </a:ext>
              </a:extLst>
            </p:cNvPr>
            <p:cNvSpPr/>
            <p:nvPr/>
          </p:nvSpPr>
          <p:spPr>
            <a:xfrm>
              <a:off x="4718468" y="3681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3. </a:t>
              </a:r>
              <a:r>
                <a:rPr lang="en-US" sz="2000" b="1" i="0" u="none" strike="noStrike" dirty="0" err="1">
                  <a:solidFill>
                    <a:schemeClr val="tx1"/>
                  </a:solidFill>
                  <a:latin typeface="Noto Sans SC"/>
                  <a:ea typeface="Noto Sans SC"/>
                  <a:cs typeface="Noto Sans SC"/>
                  <a:sym typeface="Noto Sans SC"/>
                </a:rPr>
                <a:t>模型融合</a:t>
              </a:r>
              <a:r>
                <a:rPr lang="en-US" sz="2000" b="1" i="0" u="none" strike="noStrike" dirty="0">
                  <a:solidFill>
                    <a:schemeClr val="tx1"/>
                  </a:solidFill>
                  <a:latin typeface="Noto Sans SC"/>
                  <a:ea typeface="Noto Sans SC"/>
                  <a:cs typeface="Noto Sans SC"/>
                  <a:sym typeface="Noto Sans SC"/>
                </a:rPr>
                <a:t> (Model Fusion)</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将多个任务的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参数集合，通过融合算法合并</a:t>
              </a:r>
              <a:r>
                <a:rPr lang="zh-CN" altLang="en-US" sz="1800" dirty="0">
                  <a:solidFill>
                    <a:schemeClr val="tx1"/>
                  </a:solidFill>
                  <a:latin typeface="Noto Sans SC"/>
                  <a:ea typeface="Noto Sans SC"/>
                  <a:cs typeface="Noto Sans SC"/>
                  <a:sym typeface="Noto Sans SC"/>
                </a:rPr>
                <a:t>一个</a:t>
              </a:r>
              <a:r>
                <a:rPr lang="en-US" sz="1800" b="0" i="0" u="none" strike="noStrike" dirty="0" err="1">
                  <a:solidFill>
                    <a:schemeClr val="tx1"/>
                  </a:solidFill>
                  <a:latin typeface="Noto Sans SC"/>
                  <a:ea typeface="Noto Sans SC"/>
                  <a:cs typeface="Noto Sans SC"/>
                  <a:sym typeface="Noto Sans SC"/>
                </a:rPr>
                <a:t>参数</a:t>
              </a:r>
              <a:r>
                <a:rPr lang="en-US" sz="1800" b="0" i="0" u="none" strike="noStrike" dirty="0">
                  <a:solidFill>
                    <a:schemeClr val="tx1"/>
                  </a:solidFill>
                  <a:latin typeface="Noto Sans SC"/>
                  <a:ea typeface="Noto Sans SC"/>
                  <a:cs typeface="Noto Sans SC"/>
                  <a:sym typeface="Noto Sans SC"/>
                </a:rPr>
                <a:t>。</a:t>
              </a:r>
            </a:p>
          </p:txBody>
        </p:sp>
        <p:sp>
          <p:nvSpPr>
            <p:cNvPr id="195" name="AutoShape 12">
              <a:extLst>
                <a:ext uri="{FF2B5EF4-FFF2-40B4-BE49-F238E27FC236}">
                  <a16:creationId xmlns:a16="http://schemas.microsoft.com/office/drawing/2014/main" id="{90BF7C56-0EB2-14B3-7ED2-26D464C83D72}"/>
                </a:ext>
              </a:extLst>
            </p:cNvPr>
            <p:cNvSpPr/>
            <p:nvPr/>
          </p:nvSpPr>
          <p:spPr>
            <a:xfrm>
              <a:off x="4718467" y="4697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4. </a:t>
              </a:r>
              <a:r>
                <a:rPr lang="en-US" sz="2000" b="1" i="0" u="none" strike="noStrike" dirty="0" err="1">
                  <a:solidFill>
                    <a:schemeClr val="tx1"/>
                  </a:solidFill>
                  <a:latin typeface="Noto Sans SC"/>
                  <a:ea typeface="Noto Sans SC"/>
                  <a:cs typeface="Noto Sans SC"/>
                  <a:sym typeface="Noto Sans SC"/>
                </a:rPr>
                <a:t>模型</a:t>
              </a:r>
              <a:r>
                <a:rPr lang="zh-CN" altLang="en-US" sz="2000" b="1" dirty="0">
                  <a:solidFill>
                    <a:schemeClr val="tx1"/>
                  </a:solidFill>
                  <a:latin typeface="Noto Sans SC"/>
                  <a:ea typeface="Noto Sans SC"/>
                  <a:cs typeface="Noto Sans SC"/>
                  <a:sym typeface="Noto Sans SC"/>
                </a:rPr>
                <a:t>推理</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融合后的参数加载回基座</a:t>
              </a:r>
              <a:r>
                <a:rPr lang="en-US" sz="1800" b="0" i="0" u="none" strike="noStrike" dirty="0">
                  <a:solidFill>
                    <a:schemeClr val="tx1"/>
                  </a:solidFill>
                  <a:latin typeface="Noto Sans SC"/>
                  <a:ea typeface="Noto Sans SC"/>
                  <a:cs typeface="Noto Sans SC"/>
                  <a:sym typeface="Noto Sans SC"/>
                </a:rPr>
                <a:t>，</a:t>
              </a:r>
              <a:r>
                <a:rPr lang="zh-CN" altLang="en-US" sz="1800" b="0" i="0" u="none" strike="noStrike" dirty="0">
                  <a:solidFill>
                    <a:schemeClr val="tx1"/>
                  </a:solidFill>
                  <a:latin typeface="Noto Sans SC"/>
                  <a:ea typeface="Noto Sans SC"/>
                  <a:cs typeface="Noto Sans SC"/>
                  <a:sym typeface="Noto Sans SC"/>
                </a:rPr>
                <a:t>评估融合性能</a:t>
              </a:r>
              <a:r>
                <a:rPr lang="en-US" sz="1800" b="0" i="0" u="none" strike="noStrike" dirty="0">
                  <a:solidFill>
                    <a:schemeClr val="tx1"/>
                  </a:solidFill>
                  <a:latin typeface="Noto Sans SC"/>
                  <a:ea typeface="Noto Sans SC"/>
                  <a:cs typeface="Noto Sans SC"/>
                  <a:sym typeface="Noto Sans SC"/>
                </a:rPr>
                <a:t>。</a:t>
              </a:r>
            </a:p>
          </p:txBody>
        </p:sp>
      </p:grpSp>
      <p:sp>
        <p:nvSpPr>
          <p:cNvPr id="4" name="文本框 3">
            <a:extLst>
              <a:ext uri="{FF2B5EF4-FFF2-40B4-BE49-F238E27FC236}">
                <a16:creationId xmlns:a16="http://schemas.microsoft.com/office/drawing/2014/main" id="{ECC9FD09-57F1-CFA6-8D22-0CE1B63FA5E4}"/>
              </a:ext>
            </a:extLst>
          </p:cNvPr>
          <p:cNvSpPr txBox="1"/>
          <p:nvPr/>
        </p:nvSpPr>
        <p:spPr>
          <a:xfrm>
            <a:off x="562231" y="2930241"/>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7" name="文本框 6">
            <a:extLst>
              <a:ext uri="{FF2B5EF4-FFF2-40B4-BE49-F238E27FC236}">
                <a16:creationId xmlns:a16="http://schemas.microsoft.com/office/drawing/2014/main" id="{BC054BFD-8878-1044-E646-CF8D010F2C89}"/>
              </a:ext>
            </a:extLst>
          </p:cNvPr>
          <p:cNvSpPr txBox="1"/>
          <p:nvPr/>
        </p:nvSpPr>
        <p:spPr>
          <a:xfrm>
            <a:off x="1833325" y="2930709"/>
            <a:ext cx="1251547"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漏洞检测</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8" name="文本框 7">
            <a:extLst>
              <a:ext uri="{FF2B5EF4-FFF2-40B4-BE49-F238E27FC236}">
                <a16:creationId xmlns:a16="http://schemas.microsoft.com/office/drawing/2014/main" id="{7FA07B40-2271-111B-2F60-D697221417F0}"/>
              </a:ext>
            </a:extLst>
          </p:cNvPr>
          <p:cNvSpPr txBox="1"/>
          <p:nvPr/>
        </p:nvSpPr>
        <p:spPr>
          <a:xfrm>
            <a:off x="3147758" y="2930241"/>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摘要生成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15" name="AutoShape 9">
            <a:extLst>
              <a:ext uri="{FF2B5EF4-FFF2-40B4-BE49-F238E27FC236}">
                <a16:creationId xmlns:a16="http://schemas.microsoft.com/office/drawing/2014/main" id="{9BC9FCD9-E2DF-253F-7655-854F4A860E68}"/>
              </a:ext>
            </a:extLst>
          </p:cNvPr>
          <p:cNvSpPr/>
          <p:nvPr/>
        </p:nvSpPr>
        <p:spPr>
          <a:xfrm>
            <a:off x="4820067" y="939308"/>
            <a:ext cx="5210484" cy="889000"/>
          </a:xfrm>
          <a:prstGeom prst="roundRect">
            <a:avLst>
              <a:gd name="adj" fmla="val 11428"/>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16" name="AutoShape 10">
            <a:extLst>
              <a:ext uri="{FF2B5EF4-FFF2-40B4-BE49-F238E27FC236}">
                <a16:creationId xmlns:a16="http://schemas.microsoft.com/office/drawing/2014/main" id="{24E96D90-9DB9-A915-409D-3742A3A7BCE6}"/>
              </a:ext>
            </a:extLst>
          </p:cNvPr>
          <p:cNvSpPr/>
          <p:nvPr/>
        </p:nvSpPr>
        <p:spPr>
          <a:xfrm>
            <a:off x="4947067" y="1091708"/>
            <a:ext cx="5083484" cy="6096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b="1" i="0" u="none" strike="noStrike" dirty="0" err="1">
                <a:solidFill>
                  <a:srgbClr val="333333"/>
                </a:solidFill>
                <a:latin typeface="Noto Sans SC"/>
                <a:ea typeface="Noto Sans SC"/>
                <a:cs typeface="Noto Sans SC"/>
                <a:sym typeface="Noto Sans SC"/>
              </a:rPr>
              <a:t>能否通过模型融合技术，让一个统一的模型</a:t>
            </a:r>
            <a:br>
              <a:rPr lang="en-US" b="1" i="0" u="none" strike="noStrike" dirty="0">
                <a:solidFill>
                  <a:srgbClr val="333333"/>
                </a:solidFill>
                <a:latin typeface="Noto Sans SC"/>
                <a:ea typeface="Noto Sans SC"/>
                <a:cs typeface="Noto Sans SC"/>
                <a:sym typeface="Noto Sans SC"/>
              </a:rPr>
            </a:br>
            <a:r>
              <a:rPr lang="en-US" b="1" i="0" u="none" strike="noStrike" dirty="0" err="1">
                <a:solidFill>
                  <a:srgbClr val="333333"/>
                </a:solidFill>
                <a:latin typeface="Noto Sans SC"/>
                <a:ea typeface="Noto Sans SC"/>
                <a:cs typeface="Noto Sans SC"/>
                <a:sym typeface="Noto Sans SC"/>
              </a:rPr>
              <a:t>同时高效适配多个软件工程任务和多种编程语言</a:t>
            </a:r>
            <a:r>
              <a:rPr lang="en-US" b="1" i="0" u="none" strike="noStrike" dirty="0">
                <a:solidFill>
                  <a:srgbClr val="333333"/>
                </a:solidFill>
                <a:latin typeface="Noto Sans SC"/>
                <a:ea typeface="Noto Sans SC"/>
                <a:cs typeface="Noto Sans SC"/>
                <a:sym typeface="Noto Sans SC"/>
              </a:rPr>
              <a:t>？</a:t>
            </a:r>
            <a:endParaRPr lang="en-US" sz="1600" dirty="0"/>
          </a:p>
        </p:txBody>
      </p:sp>
    </p:spTree>
    <p:extLst>
      <p:ext uri="{BB962C8B-B14F-4D97-AF65-F5344CB8AC3E}">
        <p14:creationId xmlns:p14="http://schemas.microsoft.com/office/powerpoint/2010/main" val="1842400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42176-62B0-4CE0-E168-59EE709E2E30}"/>
            </a:ext>
          </a:extLst>
        </p:cNvPr>
        <p:cNvGrpSpPr/>
        <p:nvPr/>
      </p:nvGrpSpPr>
      <p:grpSpPr>
        <a:xfrm>
          <a:off x="0" y="0"/>
          <a:ext cx="0" cy="0"/>
          <a:chOff x="0" y="0"/>
          <a:chExt cx="0" cy="0"/>
        </a:xfrm>
      </p:grpSpPr>
      <p:sp>
        <p:nvSpPr>
          <p:cNvPr id="24" name="AutoShape 4">
            <a:extLst>
              <a:ext uri="{FF2B5EF4-FFF2-40B4-BE49-F238E27FC236}">
                <a16:creationId xmlns:a16="http://schemas.microsoft.com/office/drawing/2014/main" id="{0A4AD1F0-99AF-036F-DCEF-CB00B654DDCC}"/>
              </a:ext>
            </a:extLst>
          </p:cNvPr>
          <p:cNvSpPr/>
          <p:nvPr/>
        </p:nvSpPr>
        <p:spPr>
          <a:xfrm>
            <a:off x="353681" y="1372307"/>
            <a:ext cx="2658964"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grpSp>
        <p:nvGrpSpPr>
          <p:cNvPr id="19" name="组合 18">
            <a:extLst>
              <a:ext uri="{FF2B5EF4-FFF2-40B4-BE49-F238E27FC236}">
                <a16:creationId xmlns:a16="http://schemas.microsoft.com/office/drawing/2014/main" id="{5AB5F773-337D-54C9-03BE-B39201F8FF0F}"/>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F6F8577E-663B-2059-DCFB-B33D7EA93043}"/>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8A1C33AC-052A-3D80-05F1-34CA5B147CC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19B946DA-DCB1-5019-F24A-CF45507C667C}"/>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E2B95EAC-7A48-F6F2-9256-CEACF83F2798}"/>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7" name="组合 6">
            <a:extLst>
              <a:ext uri="{FF2B5EF4-FFF2-40B4-BE49-F238E27FC236}">
                <a16:creationId xmlns:a16="http://schemas.microsoft.com/office/drawing/2014/main" id="{72FAA3C7-ECA4-A9BC-8194-0CF41ECA2160}"/>
              </a:ext>
            </a:extLst>
          </p:cNvPr>
          <p:cNvGrpSpPr/>
          <p:nvPr/>
        </p:nvGrpSpPr>
        <p:grpSpPr>
          <a:xfrm>
            <a:off x="321565" y="2219661"/>
            <a:ext cx="2723196" cy="2394402"/>
            <a:chOff x="875419" y="1545527"/>
            <a:chExt cx="2292053" cy="1889734"/>
          </a:xfrm>
        </p:grpSpPr>
        <p:cxnSp>
          <p:nvCxnSpPr>
            <p:cNvPr id="8" name="直接箭头连接符 7">
              <a:extLst>
                <a:ext uri="{FF2B5EF4-FFF2-40B4-BE49-F238E27FC236}">
                  <a16:creationId xmlns:a16="http://schemas.microsoft.com/office/drawing/2014/main" id="{92EEB830-D779-BC80-579A-ECF151D09224}"/>
                </a:ext>
              </a:extLst>
            </p:cNvPr>
            <p:cNvCxnSpPr>
              <a:cxnSpLocks/>
            </p:cNvCxnSpPr>
            <p:nvPr/>
          </p:nvCxnSpPr>
          <p:spPr>
            <a:xfrm flipV="1">
              <a:off x="1274974" y="1545527"/>
              <a:ext cx="643534" cy="846601"/>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16B0B4B5-8448-4C57-B8A5-DF6AF68762EF}"/>
                </a:ext>
              </a:extLst>
            </p:cNvPr>
            <p:cNvCxnSpPr>
              <a:cxnSpLocks/>
            </p:cNvCxnSpPr>
            <p:nvPr/>
          </p:nvCxnSpPr>
          <p:spPr>
            <a:xfrm>
              <a:off x="1274974" y="2392128"/>
              <a:ext cx="1094596" cy="179267"/>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sp>
          <p:nvSpPr>
            <p:cNvPr id="11" name="椭圆 10">
              <a:extLst>
                <a:ext uri="{FF2B5EF4-FFF2-40B4-BE49-F238E27FC236}">
                  <a16:creationId xmlns:a16="http://schemas.microsoft.com/office/drawing/2014/main" id="{8C9FB764-F213-8FB0-25BB-D587D6BB0544}"/>
                </a:ext>
              </a:extLst>
            </p:cNvPr>
            <p:cNvSpPr/>
            <p:nvPr/>
          </p:nvSpPr>
          <p:spPr>
            <a:xfrm rot="1274678">
              <a:off x="1016474" y="2311593"/>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0EE2E1D-0A55-7911-B99B-D4085C5C3951}"/>
                    </a:ext>
                  </a:extLst>
                </p:cNvPr>
                <p:cNvSpPr txBox="1"/>
                <p:nvPr/>
              </p:nvSpPr>
              <p:spPr>
                <a:xfrm>
                  <a:off x="973735" y="1609674"/>
                  <a:ext cx="701740" cy="267197"/>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2" name="文本框 11">
                  <a:extLst>
                    <a:ext uri="{FF2B5EF4-FFF2-40B4-BE49-F238E27FC236}">
                      <a16:creationId xmlns:a16="http://schemas.microsoft.com/office/drawing/2014/main" id="{C0EE2E1D-0A55-7911-B99B-D4085C5C3951}"/>
                    </a:ext>
                  </a:extLst>
                </p:cNvPr>
                <p:cNvSpPr txBox="1">
                  <a:spLocks noRot="1" noChangeAspect="1" noMove="1" noResize="1" noEditPoints="1" noAdjustHandles="1" noChangeArrowheads="1" noChangeShapeType="1" noTextEdit="1"/>
                </p:cNvSpPr>
                <p:nvPr/>
              </p:nvSpPr>
              <p:spPr>
                <a:xfrm>
                  <a:off x="973735" y="1609674"/>
                  <a:ext cx="701740" cy="267197"/>
                </a:xfrm>
                <a:prstGeom prst="rect">
                  <a:avLst/>
                </a:prstGeom>
                <a:blipFill>
                  <a:blip r:embed="rId4"/>
                  <a:stretch>
                    <a:fillRect r="-3650" b="-10909"/>
                  </a:stretch>
                </a:blipFill>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636F9B57-30D3-57FD-DECA-5F6836CBAE5C}"/>
                </a:ext>
              </a:extLst>
            </p:cNvPr>
            <p:cNvCxnSpPr>
              <a:cxnSpLocks/>
              <a:stCxn id="11" idx="7"/>
            </p:cNvCxnSpPr>
            <p:nvPr/>
          </p:nvCxnSpPr>
          <p:spPr>
            <a:xfrm flipV="1">
              <a:off x="1274974" y="1752522"/>
              <a:ext cx="1718414" cy="639606"/>
            </a:xfrm>
            <a:prstGeom prst="straightConnector1">
              <a:avLst/>
            </a:prstGeom>
            <a:ln w="38100">
              <a:solidFill>
                <a:srgbClr val="1AE43C">
                  <a:alpha val="40000"/>
                </a:srgbClr>
              </a:solidFill>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A443316-DD55-E402-C13A-8F2DE5DE1125}"/>
                    </a:ext>
                  </a:extLst>
                </p:cNvPr>
                <p:cNvSpPr txBox="1"/>
                <p:nvPr/>
              </p:nvSpPr>
              <p:spPr>
                <a:xfrm>
                  <a:off x="875419" y="2795506"/>
                  <a:ext cx="2292053" cy="63975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𝐴</m:t>
                            </m:r>
                          </m:e>
                        </m:acc>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𝛼</m:t>
                        </m:r>
                        <m:nary>
                          <m:naryPr>
                            <m:chr m:val="∑"/>
                            <m:ctrlPr>
                              <a:rPr lang="en-US" altLang="zh-CN" sz="1600" b="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=0</m:t>
                            </m:r>
                          </m:sub>
                          <m:sup>
                            <m:r>
                              <a:rPr lang="en-US" altLang="zh-CN" sz="1600" b="0" i="1" smtClean="0">
                                <a:latin typeface="Cambria Math" panose="02040503050406030204" pitchFamily="18" charset="0"/>
                              </a:rPr>
                              <m:t>𝑁</m:t>
                            </m:r>
                          </m:sup>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𝑖</m:t>
                                </m:r>
                              </m:sub>
                            </m:sSub>
                          </m:e>
                        </m:nary>
                        <m:r>
                          <a:rPr lang="en-US" altLang="zh-CN" sz="1600" b="0" i="1" smtClean="0">
                            <a:latin typeface="Cambria Math" panose="02040503050406030204" pitchFamily="18" charset="0"/>
                          </a:rPr>
                          <m:t>,</m:t>
                        </m:r>
                        <m:acc>
                          <m:accPr>
                            <m:chr m:val="̂"/>
                            <m:ctrlPr>
                              <a:rPr lang="en-US" altLang="zh-CN" sz="1600" i="1">
                                <a:latin typeface="Cambria Math" panose="02040503050406030204" pitchFamily="18" charset="0"/>
                              </a:rPr>
                            </m:ctrlPr>
                          </m:accPr>
                          <m:e>
                            <m:r>
                              <a:rPr lang="en-US" altLang="zh-CN" sz="1600" b="0" i="1" smtClean="0">
                                <a:latin typeface="Cambria Math" panose="02040503050406030204" pitchFamily="18" charset="0"/>
                              </a:rPr>
                              <m:t>𝐵</m:t>
                            </m:r>
                          </m:e>
                        </m:acc>
                        <m:r>
                          <a:rPr lang="en-US" altLang="zh-CN" sz="1600" i="1">
                            <a:latin typeface="Cambria Math" panose="02040503050406030204" pitchFamily="18" charset="0"/>
                          </a:rPr>
                          <m:t>=</m:t>
                        </m:r>
                        <m:r>
                          <a:rPr lang="en-US" altLang="zh-CN" sz="1600" i="1">
                            <a:latin typeface="Cambria Math" panose="02040503050406030204" pitchFamily="18" charset="0"/>
                          </a:rPr>
                          <m:t>𝛼</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𝑖</m:t>
                            </m:r>
                            <m:r>
                              <a:rPr lang="en-US" altLang="zh-CN" sz="1600" i="1">
                                <a:latin typeface="Cambria Math" panose="02040503050406030204" pitchFamily="18" charset="0"/>
                              </a:rPr>
                              <m:t>=0</m:t>
                            </m:r>
                          </m:sub>
                          <m:sup>
                            <m:r>
                              <a:rPr lang="en-US" altLang="zh-CN" sz="1600" i="1">
                                <a:latin typeface="Cambria Math" panose="02040503050406030204" pitchFamily="18" charset="0"/>
                              </a:rPr>
                              <m:t>𝑁</m:t>
                            </m:r>
                          </m:sup>
                          <m:e>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i="1">
                                    <a:latin typeface="Cambria Math" panose="02040503050406030204" pitchFamily="18" charset="0"/>
                                  </a:rPr>
                                  <m:t>𝑖</m:t>
                                </m:r>
                              </m:sub>
                            </m:sSub>
                          </m:e>
                        </m:nary>
                      </m:oMath>
                    </m:oMathPara>
                  </a14:m>
                  <a:endParaRPr lang="zh-CN" altLang="en-US" sz="1600" dirty="0"/>
                </a:p>
              </p:txBody>
            </p:sp>
          </mc:Choice>
          <mc:Fallback xmlns="">
            <p:sp>
              <p:nvSpPr>
                <p:cNvPr id="15" name="文本框 14">
                  <a:extLst>
                    <a:ext uri="{FF2B5EF4-FFF2-40B4-BE49-F238E27FC236}">
                      <a16:creationId xmlns:a16="http://schemas.microsoft.com/office/drawing/2014/main" id="{7A443316-DD55-E402-C13A-8F2DE5DE1125}"/>
                    </a:ext>
                  </a:extLst>
                </p:cNvPr>
                <p:cNvSpPr txBox="1">
                  <a:spLocks noRot="1" noChangeAspect="1" noMove="1" noResize="1" noEditPoints="1" noAdjustHandles="1" noChangeArrowheads="1" noChangeShapeType="1" noTextEdit="1"/>
                </p:cNvSpPr>
                <p:nvPr/>
              </p:nvSpPr>
              <p:spPr>
                <a:xfrm>
                  <a:off x="875419" y="2795506"/>
                  <a:ext cx="2292053" cy="639755"/>
                </a:xfrm>
                <a:prstGeom prst="rect">
                  <a:avLst/>
                </a:prstGeom>
                <a:blipFill>
                  <a:blip r:embed="rId5"/>
                  <a:stretch>
                    <a:fillRect/>
                  </a:stretch>
                </a:blipFill>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7BF61BFF-B1B3-4CC1-7133-49C657F66FD9}"/>
                </a:ext>
              </a:extLst>
            </p:cNvPr>
            <p:cNvCxnSpPr>
              <a:cxnSpLocks/>
            </p:cNvCxnSpPr>
            <p:nvPr/>
          </p:nvCxnSpPr>
          <p:spPr>
            <a:xfrm>
              <a:off x="1904352" y="1573255"/>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17" name="直接箭头连接符 16">
              <a:extLst>
                <a:ext uri="{FF2B5EF4-FFF2-40B4-BE49-F238E27FC236}">
                  <a16:creationId xmlns:a16="http://schemas.microsoft.com/office/drawing/2014/main" id="{60797471-7717-9682-3952-91CDDD3FE539}"/>
                </a:ext>
              </a:extLst>
            </p:cNvPr>
            <p:cNvCxnSpPr>
              <a:cxnSpLocks/>
            </p:cNvCxnSpPr>
            <p:nvPr/>
          </p:nvCxnSpPr>
          <p:spPr>
            <a:xfrm flipV="1">
              <a:off x="2349854" y="1757294"/>
              <a:ext cx="643534" cy="846601"/>
            </a:xfrm>
            <a:prstGeom prst="straightConnector1">
              <a:avLst/>
            </a:prstGeom>
            <a:ln w="38100">
              <a:solidFill>
                <a:srgbClr val="00B0F0">
                  <a:alpha val="45098"/>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279D06C5-99E9-F6AD-3387-66155CCE54A2}"/>
                </a:ext>
              </a:extLst>
            </p:cNvPr>
            <p:cNvCxnSpPr>
              <a:cxnSpLocks/>
              <a:stCxn id="11" idx="7"/>
            </p:cNvCxnSpPr>
            <p:nvPr/>
          </p:nvCxnSpPr>
          <p:spPr>
            <a:xfrm flipV="1">
              <a:off x="1274974" y="1973835"/>
              <a:ext cx="1094596" cy="418293"/>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3598264-0995-2ECB-BB5D-56303C112D82}"/>
                  </a:ext>
                </a:extLst>
              </p:cNvPr>
              <p:cNvSpPr txBox="1"/>
              <p:nvPr/>
            </p:nvSpPr>
            <p:spPr>
              <a:xfrm>
                <a:off x="956525" y="3434522"/>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22" name="文本框 21">
                <a:extLst>
                  <a:ext uri="{FF2B5EF4-FFF2-40B4-BE49-F238E27FC236}">
                    <a16:creationId xmlns:a16="http://schemas.microsoft.com/office/drawing/2014/main" id="{D3598264-0995-2ECB-BB5D-56303C112D82}"/>
                  </a:ext>
                </a:extLst>
              </p:cNvPr>
              <p:cNvSpPr txBox="1">
                <a:spLocks noRot="1" noChangeAspect="1" noMove="1" noResize="1" noEditPoints="1" noAdjustHandles="1" noChangeArrowheads="1" noChangeShapeType="1" noTextEdit="1"/>
              </p:cNvSpPr>
              <p:nvPr/>
            </p:nvSpPr>
            <p:spPr>
              <a:xfrm>
                <a:off x="956525" y="3434522"/>
                <a:ext cx="833740" cy="338554"/>
              </a:xfrm>
              <a:prstGeom prst="rect">
                <a:avLst/>
              </a:prstGeom>
              <a:blipFill>
                <a:blip r:embed="rId6"/>
                <a:stretch>
                  <a:fillRect l="-730" r="-4380" b="-8929"/>
                </a:stretch>
              </a:blipFill>
            </p:spPr>
            <p:txBody>
              <a:bodyPr/>
              <a:lstStyle/>
              <a:p>
                <a:r>
                  <a:rPr lang="zh-CN" altLang="en-US">
                    <a:noFill/>
                  </a:rPr>
                  <a:t> </a:t>
                </a:r>
              </a:p>
            </p:txBody>
          </p:sp>
        </mc:Fallback>
      </mc:AlternateContent>
      <p:sp>
        <p:nvSpPr>
          <p:cNvPr id="23" name="Rectangle 1">
            <a:extLst>
              <a:ext uri="{FF2B5EF4-FFF2-40B4-BE49-F238E27FC236}">
                <a16:creationId xmlns:a16="http://schemas.microsoft.com/office/drawing/2014/main" id="{C5D649EB-F3F9-7B38-91ED-F38E89ECE9D8}"/>
              </a:ext>
            </a:extLst>
          </p:cNvPr>
          <p:cNvSpPr>
            <a:spLocks noChangeArrowheads="1"/>
          </p:cNvSpPr>
          <p:nvPr/>
        </p:nvSpPr>
        <p:spPr bwMode="auto">
          <a:xfrm>
            <a:off x="675931" y="1372307"/>
            <a:ext cx="20144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Task Arithmetic</a:t>
            </a:r>
            <a:endPar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AutoShape 7">
            <a:extLst>
              <a:ext uri="{FF2B5EF4-FFF2-40B4-BE49-F238E27FC236}">
                <a16:creationId xmlns:a16="http://schemas.microsoft.com/office/drawing/2014/main" id="{D4798BAB-E7C2-3A05-134C-1D61B579D87C}"/>
              </a:ext>
            </a:extLst>
          </p:cNvPr>
          <p:cNvSpPr/>
          <p:nvPr/>
        </p:nvSpPr>
        <p:spPr>
          <a:xfrm>
            <a:off x="603163" y="1795996"/>
            <a:ext cx="216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27" name="AutoShape 4">
            <a:extLst>
              <a:ext uri="{FF2B5EF4-FFF2-40B4-BE49-F238E27FC236}">
                <a16:creationId xmlns:a16="http://schemas.microsoft.com/office/drawing/2014/main" id="{1C21FD7F-28E1-5112-975A-1956E8F1B1DB}"/>
              </a:ext>
            </a:extLst>
          </p:cNvPr>
          <p:cNvSpPr/>
          <p:nvPr/>
        </p:nvSpPr>
        <p:spPr>
          <a:xfrm>
            <a:off x="3272052" y="1372307"/>
            <a:ext cx="2658964"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39" name="Rectangle 1">
            <a:extLst>
              <a:ext uri="{FF2B5EF4-FFF2-40B4-BE49-F238E27FC236}">
                <a16:creationId xmlns:a16="http://schemas.microsoft.com/office/drawing/2014/main" id="{B9C344CC-65F0-9289-7A8F-53D6A152C2E6}"/>
              </a:ext>
            </a:extLst>
          </p:cNvPr>
          <p:cNvSpPr>
            <a:spLocks noChangeArrowheads="1"/>
          </p:cNvSpPr>
          <p:nvPr/>
        </p:nvSpPr>
        <p:spPr bwMode="auto">
          <a:xfrm>
            <a:off x="3594302" y="1372307"/>
            <a:ext cx="20144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Ties-merging</a:t>
            </a:r>
            <a:endParaRPr kumimoji="0" lang="zh-CN" altLang="zh-CN"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0" name="AutoShape 7">
            <a:extLst>
              <a:ext uri="{FF2B5EF4-FFF2-40B4-BE49-F238E27FC236}">
                <a16:creationId xmlns:a16="http://schemas.microsoft.com/office/drawing/2014/main" id="{E9EBE33D-0446-F5DB-383F-886E60C55CA2}"/>
              </a:ext>
            </a:extLst>
          </p:cNvPr>
          <p:cNvSpPr/>
          <p:nvPr/>
        </p:nvSpPr>
        <p:spPr>
          <a:xfrm>
            <a:off x="3521534" y="1795996"/>
            <a:ext cx="216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55" name="文本框 54">
            <a:extLst>
              <a:ext uri="{FF2B5EF4-FFF2-40B4-BE49-F238E27FC236}">
                <a16:creationId xmlns:a16="http://schemas.microsoft.com/office/drawing/2014/main" id="{385044AF-56CB-6C16-9941-1598F6503A03}"/>
              </a:ext>
            </a:extLst>
          </p:cNvPr>
          <p:cNvSpPr txBox="1"/>
          <p:nvPr/>
        </p:nvSpPr>
        <p:spPr>
          <a:xfrm>
            <a:off x="561888" y="4962830"/>
            <a:ext cx="2262158"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将微调参数视作</a:t>
            </a:r>
            <a:r>
              <a:rPr lang="zh-CN" altLang="en-US" b="1" dirty="0">
                <a:solidFill>
                  <a:srgbClr val="FF0000"/>
                </a:solidFill>
                <a:latin typeface="Noto Sans SC" panose="020B0200000000000000" pitchFamily="34" charset="-122"/>
                <a:ea typeface="Noto Sans SC" panose="020B0200000000000000" pitchFamily="34" charset="-122"/>
              </a:rPr>
              <a:t>向量</a:t>
            </a:r>
          </a:p>
        </p:txBody>
      </p:sp>
      <p:grpSp>
        <p:nvGrpSpPr>
          <p:cNvPr id="116" name="组合 115">
            <a:extLst>
              <a:ext uri="{FF2B5EF4-FFF2-40B4-BE49-F238E27FC236}">
                <a16:creationId xmlns:a16="http://schemas.microsoft.com/office/drawing/2014/main" id="{801B4AC5-8425-5971-1D6B-2FB33CBFC27C}"/>
              </a:ext>
            </a:extLst>
          </p:cNvPr>
          <p:cNvGrpSpPr/>
          <p:nvPr/>
        </p:nvGrpSpPr>
        <p:grpSpPr>
          <a:xfrm>
            <a:off x="3357848" y="2243252"/>
            <a:ext cx="2487372" cy="1138645"/>
            <a:chOff x="3647428" y="2258790"/>
            <a:chExt cx="2487372" cy="1138645"/>
          </a:xfrm>
        </p:grpSpPr>
        <p:sp>
          <p:nvSpPr>
            <p:cNvPr id="57" name="文本框 56">
              <a:extLst>
                <a:ext uri="{FF2B5EF4-FFF2-40B4-BE49-F238E27FC236}">
                  <a16:creationId xmlns:a16="http://schemas.microsoft.com/office/drawing/2014/main" id="{F16EFB16-4F00-1BAC-18C1-EF191A2BF264}"/>
                </a:ext>
              </a:extLst>
            </p:cNvPr>
            <p:cNvSpPr txBox="1"/>
            <p:nvPr/>
          </p:nvSpPr>
          <p:spPr>
            <a:xfrm>
              <a:off x="3647428" y="3054302"/>
              <a:ext cx="884908" cy="343133"/>
            </a:xfrm>
            <a:prstGeom prst="rect">
              <a:avLst/>
            </a:prstGeom>
            <a:noFill/>
          </p:spPr>
          <p:txBody>
            <a:bodyPr wrap="square">
              <a:spAutoFit/>
            </a:bodyPr>
            <a:lstStyle/>
            <a:p>
              <a:pPr algn="ctr"/>
              <a:r>
                <a:rPr lang="zh-CN" altLang="en-US" sz="1200" b="1" dirty="0">
                  <a:latin typeface="+mn-ea"/>
                </a:rPr>
                <a:t>正常</a:t>
              </a:r>
              <a:endParaRPr lang="zh-CN" altLang="en-US" sz="1200" b="1" dirty="0"/>
            </a:p>
          </p:txBody>
        </p:sp>
        <p:cxnSp>
          <p:nvCxnSpPr>
            <p:cNvPr id="76" name="直接箭头连接符 75">
              <a:extLst>
                <a:ext uri="{FF2B5EF4-FFF2-40B4-BE49-F238E27FC236}">
                  <a16:creationId xmlns:a16="http://schemas.microsoft.com/office/drawing/2014/main" id="{89948B4F-3B0B-BDFD-B19C-3DA3BF9B54A1}"/>
                </a:ext>
              </a:extLst>
            </p:cNvPr>
            <p:cNvCxnSpPr>
              <a:cxnSpLocks/>
            </p:cNvCxnSpPr>
            <p:nvPr/>
          </p:nvCxnSpPr>
          <p:spPr>
            <a:xfrm>
              <a:off x="5877296" y="2695518"/>
              <a:ext cx="0" cy="13912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6D7FD4A4-6B48-2292-3DB7-026552898BC9}"/>
                </a:ext>
              </a:extLst>
            </p:cNvPr>
            <p:cNvCxnSpPr>
              <a:cxnSpLocks/>
            </p:cNvCxnSpPr>
            <p:nvPr/>
          </p:nvCxnSpPr>
          <p:spPr>
            <a:xfrm>
              <a:off x="5737668" y="2695517"/>
              <a:ext cx="0" cy="35830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59" name="组合 58">
              <a:extLst>
                <a:ext uri="{FF2B5EF4-FFF2-40B4-BE49-F238E27FC236}">
                  <a16:creationId xmlns:a16="http://schemas.microsoft.com/office/drawing/2014/main" id="{73B81FF1-DEBA-5A7E-2D84-F70FF8371482}"/>
                </a:ext>
              </a:extLst>
            </p:cNvPr>
            <p:cNvGrpSpPr/>
            <p:nvPr/>
          </p:nvGrpSpPr>
          <p:grpSpPr>
            <a:xfrm>
              <a:off x="3970198" y="2258790"/>
              <a:ext cx="304512" cy="436725"/>
              <a:chOff x="5223047" y="5361252"/>
              <a:chExt cx="263353" cy="422846"/>
            </a:xfrm>
          </p:grpSpPr>
          <p:cxnSp>
            <p:nvCxnSpPr>
              <p:cNvPr id="73" name="直接箭头连接符 72">
                <a:extLst>
                  <a:ext uri="{FF2B5EF4-FFF2-40B4-BE49-F238E27FC236}">
                    <a16:creationId xmlns:a16="http://schemas.microsoft.com/office/drawing/2014/main" id="{41CC1A28-41E1-96CD-A572-6696025C623D}"/>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DF78AB4F-0381-F3B6-802B-5BEE68A1DD4D}"/>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C26C7436-6235-2904-19A2-8317F459050F}"/>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70" name="直接箭头连接符 69">
              <a:extLst>
                <a:ext uri="{FF2B5EF4-FFF2-40B4-BE49-F238E27FC236}">
                  <a16:creationId xmlns:a16="http://schemas.microsoft.com/office/drawing/2014/main" id="{8F8DAFB6-5F10-FBA0-CEBF-7EE26D101FB7}"/>
                </a:ext>
              </a:extLst>
            </p:cNvPr>
            <p:cNvCxnSpPr>
              <a:cxnSpLocks/>
            </p:cNvCxnSpPr>
            <p:nvPr/>
          </p:nvCxnSpPr>
          <p:spPr>
            <a:xfrm flipV="1">
              <a:off x="5577062" y="2326246"/>
              <a:ext cx="0" cy="341201"/>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nvGrpSpPr>
            <p:cNvPr id="97" name="组合 96">
              <a:extLst>
                <a:ext uri="{FF2B5EF4-FFF2-40B4-BE49-F238E27FC236}">
                  <a16:creationId xmlns:a16="http://schemas.microsoft.com/office/drawing/2014/main" id="{6290C539-44EE-A77D-A164-5A5EEC15B215}"/>
                </a:ext>
              </a:extLst>
            </p:cNvPr>
            <p:cNvGrpSpPr/>
            <p:nvPr/>
          </p:nvGrpSpPr>
          <p:grpSpPr>
            <a:xfrm>
              <a:off x="4784079" y="2316814"/>
              <a:ext cx="362699" cy="378703"/>
              <a:chOff x="4784079" y="2512602"/>
              <a:chExt cx="362699" cy="579155"/>
            </a:xfrm>
          </p:grpSpPr>
          <p:cxnSp>
            <p:nvCxnSpPr>
              <p:cNvPr id="77" name="直接箭头连接符 76">
                <a:extLst>
                  <a:ext uri="{FF2B5EF4-FFF2-40B4-BE49-F238E27FC236}">
                    <a16:creationId xmlns:a16="http://schemas.microsoft.com/office/drawing/2014/main" id="{0A6F8659-7FCB-D409-5BC3-19C2C3ADBF79}"/>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6CAAD5D0-281C-7A95-50C6-1EAB6640321D}"/>
                  </a:ext>
                </a:extLst>
              </p:cNvPr>
              <p:cNvCxnSpPr>
                <a:cxnSpLocks/>
              </p:cNvCxnSpPr>
              <p:nvPr/>
            </p:nvCxnSpPr>
            <p:spPr>
              <a:xfrm flipV="1">
                <a:off x="4971024" y="2924064"/>
                <a:ext cx="0" cy="16769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E8996B3E-13D6-C2C2-B18D-B7D333066309}"/>
                  </a:ext>
                </a:extLst>
              </p:cNvPr>
              <p:cNvCxnSpPr>
                <a:cxnSpLocks/>
              </p:cNvCxnSpPr>
              <p:nvPr/>
            </p:nvCxnSpPr>
            <p:spPr>
              <a:xfrm flipV="1">
                <a:off x="5146778" y="2739957"/>
                <a:ext cx="0" cy="335387"/>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61" name="直接连接符 60">
              <a:extLst>
                <a:ext uri="{FF2B5EF4-FFF2-40B4-BE49-F238E27FC236}">
                  <a16:creationId xmlns:a16="http://schemas.microsoft.com/office/drawing/2014/main" id="{2A0EF75C-EE2C-475F-D62A-762DCE555F42}"/>
                </a:ext>
              </a:extLst>
            </p:cNvPr>
            <p:cNvCxnSpPr>
              <a:cxnSpLocks/>
            </p:cNvCxnSpPr>
            <p:nvPr/>
          </p:nvCxnSpPr>
          <p:spPr>
            <a:xfrm>
              <a:off x="3661470" y="2695517"/>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CA767FEA-5FDB-54FB-60D3-94AD4D334F2A}"/>
                </a:ext>
              </a:extLst>
            </p:cNvPr>
            <p:cNvSpPr txBox="1"/>
            <p:nvPr/>
          </p:nvSpPr>
          <p:spPr>
            <a:xfrm>
              <a:off x="4364984" y="3054302"/>
              <a:ext cx="1212078" cy="277000"/>
            </a:xfrm>
            <a:prstGeom prst="rect">
              <a:avLst/>
            </a:prstGeom>
            <a:noFill/>
          </p:spPr>
          <p:txBody>
            <a:bodyPr wrap="square">
              <a:spAutoFit/>
            </a:bodyPr>
            <a:lstStyle/>
            <a:p>
              <a:pPr algn="ctr"/>
              <a:r>
                <a:rPr lang="zh-CN" altLang="en-US" sz="1200" b="1" dirty="0">
                  <a:latin typeface="+mn-ea"/>
                </a:rPr>
                <a:t>参数冗余</a:t>
              </a:r>
              <a:endParaRPr lang="zh-CN" altLang="en-US" sz="1200" b="1" dirty="0"/>
            </a:p>
          </p:txBody>
        </p:sp>
        <p:sp>
          <p:nvSpPr>
            <p:cNvPr id="63" name="文本框 62">
              <a:extLst>
                <a:ext uri="{FF2B5EF4-FFF2-40B4-BE49-F238E27FC236}">
                  <a16:creationId xmlns:a16="http://schemas.microsoft.com/office/drawing/2014/main" id="{448A4680-B5A8-1616-4F15-1A5AE5639872}"/>
                </a:ext>
              </a:extLst>
            </p:cNvPr>
            <p:cNvSpPr txBox="1"/>
            <p:nvPr/>
          </p:nvSpPr>
          <p:spPr>
            <a:xfrm>
              <a:off x="5249892" y="3054302"/>
              <a:ext cx="884908" cy="277000"/>
            </a:xfrm>
            <a:prstGeom prst="rect">
              <a:avLst/>
            </a:prstGeom>
            <a:noFill/>
          </p:spPr>
          <p:txBody>
            <a:bodyPr wrap="square">
              <a:spAutoFit/>
            </a:bodyPr>
            <a:lstStyle/>
            <a:p>
              <a:pPr algn="ctr"/>
              <a:r>
                <a:rPr lang="zh-CN" altLang="en-US" sz="1200" b="1" dirty="0">
                  <a:latin typeface="+mn-ea"/>
                </a:rPr>
                <a:t>符号冲突</a:t>
              </a:r>
              <a:endParaRPr lang="zh-CN" altLang="en-US" sz="1200" b="1" dirty="0"/>
            </a:p>
          </p:txBody>
        </p:sp>
      </p:grpSp>
      <p:grpSp>
        <p:nvGrpSpPr>
          <p:cNvPr id="85" name="组合 84">
            <a:extLst>
              <a:ext uri="{FF2B5EF4-FFF2-40B4-BE49-F238E27FC236}">
                <a16:creationId xmlns:a16="http://schemas.microsoft.com/office/drawing/2014/main" id="{9CAB2F14-2617-E487-9A56-ACD366CADDFA}"/>
              </a:ext>
            </a:extLst>
          </p:cNvPr>
          <p:cNvGrpSpPr/>
          <p:nvPr/>
        </p:nvGrpSpPr>
        <p:grpSpPr>
          <a:xfrm>
            <a:off x="3507774" y="1986656"/>
            <a:ext cx="2187521" cy="161583"/>
            <a:chOff x="3669895" y="2002194"/>
            <a:chExt cx="2187521" cy="161583"/>
          </a:xfrm>
        </p:grpSpPr>
        <p:grpSp>
          <p:nvGrpSpPr>
            <p:cNvPr id="84" name="组合 83">
              <a:extLst>
                <a:ext uri="{FF2B5EF4-FFF2-40B4-BE49-F238E27FC236}">
                  <a16:creationId xmlns:a16="http://schemas.microsoft.com/office/drawing/2014/main" id="{0C39DB8A-5B87-2AAF-1C4B-B0F11B538004}"/>
                </a:ext>
              </a:extLst>
            </p:cNvPr>
            <p:cNvGrpSpPr/>
            <p:nvPr/>
          </p:nvGrpSpPr>
          <p:grpSpPr>
            <a:xfrm>
              <a:off x="3669895" y="2002194"/>
              <a:ext cx="695089" cy="161576"/>
              <a:chOff x="7023971" y="2016325"/>
              <a:chExt cx="695089" cy="161576"/>
            </a:xfrm>
          </p:grpSpPr>
          <p:cxnSp>
            <p:nvCxnSpPr>
              <p:cNvPr id="64" name="直接箭头连接符 63">
                <a:extLst>
                  <a:ext uri="{FF2B5EF4-FFF2-40B4-BE49-F238E27FC236}">
                    <a16:creationId xmlns:a16="http://schemas.microsoft.com/office/drawing/2014/main" id="{B48D3F15-A61B-B667-0BE1-EC1E3ADB4E29}"/>
                  </a:ext>
                </a:extLst>
              </p:cNvPr>
              <p:cNvCxnSpPr>
                <a:cxnSpLocks/>
              </p:cNvCxnSpPr>
              <p:nvPr/>
            </p:nvCxnSpPr>
            <p:spPr>
              <a:xfrm>
                <a:off x="7023971" y="209711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67" name="文本框 66">
                <a:extLst>
                  <a:ext uri="{FF2B5EF4-FFF2-40B4-BE49-F238E27FC236}">
                    <a16:creationId xmlns:a16="http://schemas.microsoft.com/office/drawing/2014/main" id="{2C72683A-28BD-6EBB-25F6-8E97A9C4CECA}"/>
                  </a:ext>
                </a:extLst>
              </p:cNvPr>
              <p:cNvSpPr txBox="1"/>
              <p:nvPr/>
            </p:nvSpPr>
            <p:spPr>
              <a:xfrm>
                <a:off x="7352611" y="2016325"/>
                <a:ext cx="366449" cy="161576"/>
              </a:xfrm>
              <a:prstGeom prst="rect">
                <a:avLst/>
              </a:prstGeom>
              <a:noFill/>
            </p:spPr>
            <p:txBody>
              <a:bodyPr wrap="square" lIns="0" tIns="0" rIns="0" bIns="0">
                <a:spAutoFit/>
              </a:bodyPr>
              <a:lstStyle/>
              <a:p>
                <a:r>
                  <a:rPr lang="zh-CN" altLang="en-US" sz="1050" b="1" dirty="0">
                    <a:latin typeface="+mn-ea"/>
                  </a:rPr>
                  <a:t>任务</a:t>
                </a:r>
                <a:r>
                  <a:rPr lang="en-US" altLang="zh-CN" sz="1050" b="1" dirty="0">
                    <a:latin typeface="+mn-ea"/>
                  </a:rPr>
                  <a:t>A</a:t>
                </a:r>
                <a:endParaRPr lang="zh-CN" altLang="en-US" sz="1050" b="1" dirty="0"/>
              </a:p>
            </p:txBody>
          </p:sp>
        </p:grpSp>
        <p:grpSp>
          <p:nvGrpSpPr>
            <p:cNvPr id="83" name="组合 82">
              <a:extLst>
                <a:ext uri="{FF2B5EF4-FFF2-40B4-BE49-F238E27FC236}">
                  <a16:creationId xmlns:a16="http://schemas.microsoft.com/office/drawing/2014/main" id="{858EE99F-2B89-A565-5973-879141FAC17B}"/>
                </a:ext>
              </a:extLst>
            </p:cNvPr>
            <p:cNvGrpSpPr/>
            <p:nvPr/>
          </p:nvGrpSpPr>
          <p:grpSpPr>
            <a:xfrm>
              <a:off x="4455335" y="2002194"/>
              <a:ext cx="695089" cy="161576"/>
              <a:chOff x="7023971" y="2335464"/>
              <a:chExt cx="695089" cy="161576"/>
            </a:xfrm>
          </p:grpSpPr>
          <p:cxnSp>
            <p:nvCxnSpPr>
              <p:cNvPr id="65" name="直接箭头连接符 64">
                <a:extLst>
                  <a:ext uri="{FF2B5EF4-FFF2-40B4-BE49-F238E27FC236}">
                    <a16:creationId xmlns:a16="http://schemas.microsoft.com/office/drawing/2014/main" id="{D4F1CD1F-BF54-D3BC-2937-4782C9AA2668}"/>
                  </a:ext>
                </a:extLst>
              </p:cNvPr>
              <p:cNvCxnSpPr>
                <a:cxnSpLocks/>
              </p:cNvCxnSpPr>
              <p:nvPr/>
            </p:nvCxnSpPr>
            <p:spPr>
              <a:xfrm flipV="1">
                <a:off x="7023971" y="241625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8" name="文本框 67">
                <a:extLst>
                  <a:ext uri="{FF2B5EF4-FFF2-40B4-BE49-F238E27FC236}">
                    <a16:creationId xmlns:a16="http://schemas.microsoft.com/office/drawing/2014/main" id="{95175800-1000-0624-992B-9B3E815BB7DB}"/>
                  </a:ext>
                </a:extLst>
              </p:cNvPr>
              <p:cNvSpPr txBox="1"/>
              <p:nvPr/>
            </p:nvSpPr>
            <p:spPr>
              <a:xfrm>
                <a:off x="7352611" y="2335464"/>
                <a:ext cx="366449" cy="161576"/>
              </a:xfrm>
              <a:prstGeom prst="rect">
                <a:avLst/>
              </a:prstGeom>
              <a:noFill/>
            </p:spPr>
            <p:txBody>
              <a:bodyPr wrap="square" lIns="0" tIns="0" rIns="0" bIns="0">
                <a:spAutoFit/>
              </a:bodyPr>
              <a:lstStyle/>
              <a:p>
                <a:r>
                  <a:rPr lang="zh-CN" altLang="en-US" sz="1050" b="1" dirty="0">
                    <a:latin typeface="+mn-ea"/>
                  </a:rPr>
                  <a:t>任务</a:t>
                </a:r>
                <a:r>
                  <a:rPr lang="en-US" altLang="zh-CN" sz="1050" b="1" dirty="0">
                    <a:latin typeface="+mn-ea"/>
                  </a:rPr>
                  <a:t>B</a:t>
                </a:r>
                <a:endParaRPr lang="zh-CN" altLang="en-US" sz="1050" b="1" dirty="0"/>
              </a:p>
            </p:txBody>
          </p:sp>
        </p:grpSp>
        <p:grpSp>
          <p:nvGrpSpPr>
            <p:cNvPr id="82" name="组合 81">
              <a:extLst>
                <a:ext uri="{FF2B5EF4-FFF2-40B4-BE49-F238E27FC236}">
                  <a16:creationId xmlns:a16="http://schemas.microsoft.com/office/drawing/2014/main" id="{C041BC0E-8227-FBCC-C2CF-BC6AB6B7DF0F}"/>
                </a:ext>
              </a:extLst>
            </p:cNvPr>
            <p:cNvGrpSpPr/>
            <p:nvPr/>
          </p:nvGrpSpPr>
          <p:grpSpPr>
            <a:xfrm>
              <a:off x="5240775" y="2002194"/>
              <a:ext cx="616641" cy="161583"/>
              <a:chOff x="7023971" y="2621349"/>
              <a:chExt cx="616641" cy="161583"/>
            </a:xfrm>
          </p:grpSpPr>
          <p:cxnSp>
            <p:nvCxnSpPr>
              <p:cNvPr id="66" name="直接箭头连接符 65">
                <a:extLst>
                  <a:ext uri="{FF2B5EF4-FFF2-40B4-BE49-F238E27FC236}">
                    <a16:creationId xmlns:a16="http://schemas.microsoft.com/office/drawing/2014/main" id="{8EB7321B-D6F2-ACAB-58E4-FB504F68E88E}"/>
                  </a:ext>
                </a:extLst>
              </p:cNvPr>
              <p:cNvCxnSpPr>
                <a:cxnSpLocks/>
              </p:cNvCxnSpPr>
              <p:nvPr/>
            </p:nvCxnSpPr>
            <p:spPr>
              <a:xfrm rot="5400000" flipV="1">
                <a:off x="7167971" y="255813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69" name="文本框 68">
                <a:extLst>
                  <a:ext uri="{FF2B5EF4-FFF2-40B4-BE49-F238E27FC236}">
                    <a16:creationId xmlns:a16="http://schemas.microsoft.com/office/drawing/2014/main" id="{50982970-33FB-EB7D-B6DA-337247B83B8B}"/>
                  </a:ext>
                </a:extLst>
              </p:cNvPr>
              <p:cNvSpPr txBox="1"/>
              <p:nvPr/>
            </p:nvSpPr>
            <p:spPr>
              <a:xfrm>
                <a:off x="7352612" y="2621349"/>
                <a:ext cx="288000" cy="161583"/>
              </a:xfrm>
              <a:prstGeom prst="rect">
                <a:avLst/>
              </a:prstGeom>
              <a:noFill/>
            </p:spPr>
            <p:txBody>
              <a:bodyPr wrap="square" lIns="0" tIns="0" rIns="0" bIns="0">
                <a:spAutoFit/>
              </a:bodyPr>
              <a:lstStyle/>
              <a:p>
                <a:r>
                  <a:rPr lang="zh-CN" altLang="en-US" sz="1050" b="1" dirty="0">
                    <a:latin typeface="+mn-ea"/>
                  </a:rPr>
                  <a:t>融合</a:t>
                </a:r>
                <a:endParaRPr lang="zh-CN" altLang="en-US" sz="1050" b="1" dirty="0"/>
              </a:p>
            </p:txBody>
          </p:sp>
        </p:grpSp>
      </p:grpSp>
      <p:sp>
        <p:nvSpPr>
          <p:cNvPr id="96" name="箭头: 下 95">
            <a:extLst>
              <a:ext uri="{FF2B5EF4-FFF2-40B4-BE49-F238E27FC236}">
                <a16:creationId xmlns:a16="http://schemas.microsoft.com/office/drawing/2014/main" id="{1EA12FD9-1546-16BE-5D1A-5321B26F6C62}"/>
              </a:ext>
            </a:extLst>
          </p:cNvPr>
          <p:cNvSpPr/>
          <p:nvPr/>
        </p:nvSpPr>
        <p:spPr>
          <a:xfrm>
            <a:off x="4508246" y="3440235"/>
            <a:ext cx="186576" cy="28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115" name="组合 114">
            <a:extLst>
              <a:ext uri="{FF2B5EF4-FFF2-40B4-BE49-F238E27FC236}">
                <a16:creationId xmlns:a16="http://schemas.microsoft.com/office/drawing/2014/main" id="{B6C04226-37DA-F03C-4812-B80A971444A5}"/>
              </a:ext>
            </a:extLst>
          </p:cNvPr>
          <p:cNvGrpSpPr/>
          <p:nvPr/>
        </p:nvGrpSpPr>
        <p:grpSpPr>
          <a:xfrm>
            <a:off x="3412059" y="3786572"/>
            <a:ext cx="2378950" cy="795030"/>
            <a:chOff x="3669895" y="3802110"/>
            <a:chExt cx="2378950" cy="795030"/>
          </a:xfrm>
        </p:grpSpPr>
        <p:cxnSp>
          <p:nvCxnSpPr>
            <p:cNvPr id="101" name="直接箭头连接符 100">
              <a:extLst>
                <a:ext uri="{FF2B5EF4-FFF2-40B4-BE49-F238E27FC236}">
                  <a16:creationId xmlns:a16="http://schemas.microsoft.com/office/drawing/2014/main" id="{4E951B59-FFFF-7A65-7855-CCD9192744A4}"/>
                </a:ext>
              </a:extLst>
            </p:cNvPr>
            <p:cNvCxnSpPr>
              <a:cxnSpLocks/>
            </p:cNvCxnSpPr>
            <p:nvPr/>
          </p:nvCxnSpPr>
          <p:spPr>
            <a:xfrm>
              <a:off x="5885721" y="4238838"/>
              <a:ext cx="0" cy="35830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102" name="直接箭头连接符 101">
              <a:extLst>
                <a:ext uri="{FF2B5EF4-FFF2-40B4-BE49-F238E27FC236}">
                  <a16:creationId xmlns:a16="http://schemas.microsoft.com/office/drawing/2014/main" id="{BBF6BAE9-16F5-1AF1-498E-ED0A05C65AA7}"/>
                </a:ext>
              </a:extLst>
            </p:cNvPr>
            <p:cNvCxnSpPr>
              <a:cxnSpLocks/>
            </p:cNvCxnSpPr>
            <p:nvPr/>
          </p:nvCxnSpPr>
          <p:spPr>
            <a:xfrm>
              <a:off x="5746093" y="4238837"/>
              <a:ext cx="0" cy="35830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103" name="组合 102">
              <a:extLst>
                <a:ext uri="{FF2B5EF4-FFF2-40B4-BE49-F238E27FC236}">
                  <a16:creationId xmlns:a16="http://schemas.microsoft.com/office/drawing/2014/main" id="{43C69A88-1549-EB88-9CE1-E56E4F209641}"/>
                </a:ext>
              </a:extLst>
            </p:cNvPr>
            <p:cNvGrpSpPr/>
            <p:nvPr/>
          </p:nvGrpSpPr>
          <p:grpSpPr>
            <a:xfrm>
              <a:off x="3978623" y="3802110"/>
              <a:ext cx="304512" cy="436725"/>
              <a:chOff x="5223047" y="5361252"/>
              <a:chExt cx="263353" cy="422846"/>
            </a:xfrm>
          </p:grpSpPr>
          <p:cxnSp>
            <p:nvCxnSpPr>
              <p:cNvPr id="104" name="直接箭头连接符 103">
                <a:extLst>
                  <a:ext uri="{FF2B5EF4-FFF2-40B4-BE49-F238E27FC236}">
                    <a16:creationId xmlns:a16="http://schemas.microsoft.com/office/drawing/2014/main" id="{3AFFAFD5-7D59-76F0-B595-32738947C401}"/>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DECC968A-D7C8-C3F3-A864-C9D54A62F18C}"/>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4585B569-E7FB-4952-1931-4DF70FCEDD72}"/>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108" name="组合 107">
              <a:extLst>
                <a:ext uri="{FF2B5EF4-FFF2-40B4-BE49-F238E27FC236}">
                  <a16:creationId xmlns:a16="http://schemas.microsoft.com/office/drawing/2014/main" id="{8099B29F-1807-EFD6-5938-DAABDD09B8DB}"/>
                </a:ext>
              </a:extLst>
            </p:cNvPr>
            <p:cNvGrpSpPr/>
            <p:nvPr/>
          </p:nvGrpSpPr>
          <p:grpSpPr>
            <a:xfrm>
              <a:off x="4792504" y="3860134"/>
              <a:ext cx="362699" cy="378703"/>
              <a:chOff x="4784079" y="2512602"/>
              <a:chExt cx="362699" cy="579155"/>
            </a:xfrm>
          </p:grpSpPr>
          <p:cxnSp>
            <p:nvCxnSpPr>
              <p:cNvPr id="109" name="直接箭头连接符 108">
                <a:extLst>
                  <a:ext uri="{FF2B5EF4-FFF2-40B4-BE49-F238E27FC236}">
                    <a16:creationId xmlns:a16="http://schemas.microsoft.com/office/drawing/2014/main" id="{AC18D7C8-EBB8-98D8-1E9A-67B88817DDC5}"/>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11" name="直接箭头连接符 110">
                <a:extLst>
                  <a:ext uri="{FF2B5EF4-FFF2-40B4-BE49-F238E27FC236}">
                    <a16:creationId xmlns:a16="http://schemas.microsoft.com/office/drawing/2014/main" id="{53127350-EB3F-7C02-3393-6201C6F4C492}"/>
                  </a:ext>
                </a:extLst>
              </p:cNvPr>
              <p:cNvCxnSpPr>
                <a:cxnSpLocks/>
              </p:cNvCxnSpPr>
              <p:nvPr/>
            </p:nvCxnSpPr>
            <p:spPr>
              <a:xfrm flipV="1">
                <a:off x="5146778" y="2527026"/>
                <a:ext cx="0" cy="5483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112" name="直接连接符 111">
              <a:extLst>
                <a:ext uri="{FF2B5EF4-FFF2-40B4-BE49-F238E27FC236}">
                  <a16:creationId xmlns:a16="http://schemas.microsoft.com/office/drawing/2014/main" id="{1369563F-36BF-9A3E-7E40-41988F3B132C}"/>
                </a:ext>
              </a:extLst>
            </p:cNvPr>
            <p:cNvCxnSpPr>
              <a:cxnSpLocks/>
            </p:cNvCxnSpPr>
            <p:nvPr/>
          </p:nvCxnSpPr>
          <p:spPr>
            <a:xfrm>
              <a:off x="3669895" y="4238837"/>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BEB81957-998D-47D3-B98C-CF4FE5BCB1BB}"/>
                  </a:ext>
                </a:extLst>
              </p:cNvPr>
              <p:cNvSpPr txBox="1"/>
              <p:nvPr/>
            </p:nvSpPr>
            <p:spPr>
              <a:xfrm>
                <a:off x="3346424" y="4635770"/>
                <a:ext cx="2535173" cy="984885"/>
              </a:xfrm>
              <a:prstGeom prst="rect">
                <a:avLst/>
              </a:prstGeom>
              <a:noFill/>
            </p:spPr>
            <p:txBody>
              <a:bodyPr wrap="square">
                <a:spAutoFit/>
              </a:bodyPr>
              <a:lstStyle/>
              <a:p>
                <a:pPr>
                  <a:spcBef>
                    <a:spcPts val="600"/>
                  </a:spcBef>
                </a:pPr>
                <a:r>
                  <a:rPr lang="zh-CN" altLang="en-US" sz="1200" dirty="0">
                    <a:latin typeface="Noto Sans SC"/>
                    <a:ea typeface="Noto Sans SC"/>
                    <a:sym typeface="Noto Sans SC"/>
                  </a:rPr>
                  <a:t>去除冗余：只保留</a:t>
                </a:r>
                <a:r>
                  <a:rPr lang="en-US" altLang="zh-CN" sz="1200" dirty="0">
                    <a:latin typeface="Noto Sans SC"/>
                    <a:ea typeface="Noto Sans SC"/>
                    <a:sym typeface="Noto Sans SC"/>
                  </a:rPr>
                  <a:t>top</a:t>
                </a:r>
                <a14:m>
                  <m:oMath xmlns:m="http://schemas.openxmlformats.org/officeDocument/2006/math">
                    <m:r>
                      <a:rPr lang="en-US" altLang="zh-CN" sz="1200" b="0" i="1" smtClean="0">
                        <a:latin typeface="Cambria Math" panose="02040503050406030204" pitchFamily="18" charset="0"/>
                        <a:ea typeface="Noto Sans SC"/>
                        <a:sym typeface="Noto Sans SC"/>
                      </a:rPr>
                      <m:t>𝑘</m:t>
                    </m:r>
                    <m:r>
                      <a:rPr lang="en-US" altLang="zh-CN" sz="1200" b="0" i="1" smtClean="0">
                        <a:latin typeface="Cambria Math" panose="02040503050406030204" pitchFamily="18" charset="0"/>
                        <a:ea typeface="Noto Sans SC"/>
                        <a:sym typeface="Noto Sans SC"/>
                      </a:rPr>
                      <m:t>%</m:t>
                    </m:r>
                  </m:oMath>
                </a14:m>
                <a:r>
                  <a:rPr lang="zh-CN" altLang="en-US" sz="1200" dirty="0">
                    <a:latin typeface="Noto Sans SC"/>
                    <a:ea typeface="Noto Sans SC"/>
                    <a:sym typeface="Noto Sans SC"/>
                  </a:rPr>
                  <a:t>大的参数</a:t>
                </a:r>
                <a:r>
                  <a:rPr lang="en-US" altLang="zh-CN" sz="1200" dirty="0">
                    <a:latin typeface="Noto Sans SC"/>
                    <a:ea typeface="Noto Sans SC"/>
                    <a:sym typeface="Noto Sans SC"/>
                  </a:rPr>
                  <a:t> </a:t>
                </a:r>
              </a:p>
              <a:p>
                <a:pPr>
                  <a:spcBef>
                    <a:spcPts val="600"/>
                  </a:spcBef>
                </a:pPr>
                <a:r>
                  <a:rPr lang="zh-CN" altLang="en-US" sz="1200" dirty="0">
                    <a:latin typeface="Noto Sans SC"/>
                    <a:ea typeface="Noto Sans SC"/>
                    <a:sym typeface="Noto Sans SC"/>
                  </a:rPr>
                  <a:t>消除符号冲突：对于每个参数维度，只保留主流方向的参数</a:t>
                </a:r>
                <a:endParaRPr lang="en-US" altLang="zh-CN" sz="1200" dirty="0">
                  <a:latin typeface="Noto Sans SC"/>
                  <a:ea typeface="Noto Sans SC"/>
                  <a:sym typeface="Noto Sans SC"/>
                </a:endParaRPr>
              </a:p>
              <a:p>
                <a:pPr>
                  <a:spcBef>
                    <a:spcPts val="600"/>
                  </a:spcBef>
                </a:pPr>
                <a:r>
                  <a:rPr lang="zh-CN" altLang="en-US" sz="1200" dirty="0">
                    <a:latin typeface="Noto Sans SC"/>
                    <a:ea typeface="Noto Sans SC"/>
                  </a:rPr>
                  <a:t>平均：只对不为零的参数进行平均</a:t>
                </a:r>
              </a:p>
            </p:txBody>
          </p:sp>
        </mc:Choice>
        <mc:Fallback xmlns="">
          <p:sp>
            <p:nvSpPr>
              <p:cNvPr id="117" name="文本框 116">
                <a:extLst>
                  <a:ext uri="{FF2B5EF4-FFF2-40B4-BE49-F238E27FC236}">
                    <a16:creationId xmlns:a16="http://schemas.microsoft.com/office/drawing/2014/main" id="{BEB81957-998D-47D3-B98C-CF4FE5BCB1BB}"/>
                  </a:ext>
                </a:extLst>
              </p:cNvPr>
              <p:cNvSpPr txBox="1">
                <a:spLocks noRot="1" noChangeAspect="1" noMove="1" noResize="1" noEditPoints="1" noAdjustHandles="1" noChangeArrowheads="1" noChangeShapeType="1" noTextEdit="1"/>
              </p:cNvSpPr>
              <p:nvPr/>
            </p:nvSpPr>
            <p:spPr>
              <a:xfrm>
                <a:off x="3346424" y="4635770"/>
                <a:ext cx="2535173" cy="984885"/>
              </a:xfrm>
              <a:prstGeom prst="rect">
                <a:avLst/>
              </a:prstGeom>
              <a:blipFill>
                <a:blip r:embed="rId7"/>
                <a:stretch>
                  <a:fillRect l="-240" r="-240" b="-3704"/>
                </a:stretch>
              </a:blipFill>
            </p:spPr>
            <p:txBody>
              <a:bodyPr/>
              <a:lstStyle/>
              <a:p>
                <a:r>
                  <a:rPr lang="zh-CN" altLang="en-US">
                    <a:noFill/>
                  </a:rPr>
                  <a:t> </a:t>
                </a:r>
              </a:p>
            </p:txBody>
          </p:sp>
        </mc:Fallback>
      </mc:AlternateContent>
      <p:sp>
        <p:nvSpPr>
          <p:cNvPr id="118" name="AutoShape 4">
            <a:extLst>
              <a:ext uri="{FF2B5EF4-FFF2-40B4-BE49-F238E27FC236}">
                <a16:creationId xmlns:a16="http://schemas.microsoft.com/office/drawing/2014/main" id="{0395C694-8D8F-2A9F-DD00-4E044328006F}"/>
              </a:ext>
            </a:extLst>
          </p:cNvPr>
          <p:cNvSpPr/>
          <p:nvPr/>
        </p:nvSpPr>
        <p:spPr>
          <a:xfrm>
            <a:off x="6208018" y="1372307"/>
            <a:ext cx="2658964"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119" name="Rectangle 1">
            <a:extLst>
              <a:ext uri="{FF2B5EF4-FFF2-40B4-BE49-F238E27FC236}">
                <a16:creationId xmlns:a16="http://schemas.microsoft.com/office/drawing/2014/main" id="{8EACE326-4678-A0BB-D832-23505D9C95BA}"/>
              </a:ext>
            </a:extLst>
          </p:cNvPr>
          <p:cNvSpPr>
            <a:spLocks noChangeArrowheads="1"/>
          </p:cNvSpPr>
          <p:nvPr/>
        </p:nvSpPr>
        <p:spPr bwMode="auto">
          <a:xfrm>
            <a:off x="6530268" y="1387696"/>
            <a:ext cx="2014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可学习融合系数</a:t>
            </a:r>
            <a:endPar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0" name="AutoShape 7">
            <a:extLst>
              <a:ext uri="{FF2B5EF4-FFF2-40B4-BE49-F238E27FC236}">
                <a16:creationId xmlns:a16="http://schemas.microsoft.com/office/drawing/2014/main" id="{A0F8FB9C-55B3-0D6C-5E95-9B5A28F19D34}"/>
              </a:ext>
            </a:extLst>
          </p:cNvPr>
          <p:cNvSpPr/>
          <p:nvPr/>
        </p:nvSpPr>
        <p:spPr>
          <a:xfrm>
            <a:off x="6457500" y="1795996"/>
            <a:ext cx="216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160" name="组合 159">
            <a:extLst>
              <a:ext uri="{FF2B5EF4-FFF2-40B4-BE49-F238E27FC236}">
                <a16:creationId xmlns:a16="http://schemas.microsoft.com/office/drawing/2014/main" id="{930FF294-0A6F-6568-27BF-10DB99617CFE}"/>
              </a:ext>
            </a:extLst>
          </p:cNvPr>
          <p:cNvGrpSpPr/>
          <p:nvPr/>
        </p:nvGrpSpPr>
        <p:grpSpPr>
          <a:xfrm>
            <a:off x="6334192" y="2002479"/>
            <a:ext cx="2265855" cy="1769332"/>
            <a:chOff x="676147" y="4321392"/>
            <a:chExt cx="1751004" cy="1191548"/>
          </a:xfrm>
        </p:grpSpPr>
        <p:cxnSp>
          <p:nvCxnSpPr>
            <p:cNvPr id="161" name="直接箭头连接符 160">
              <a:extLst>
                <a:ext uri="{FF2B5EF4-FFF2-40B4-BE49-F238E27FC236}">
                  <a16:creationId xmlns:a16="http://schemas.microsoft.com/office/drawing/2014/main" id="{25EC1722-4826-BF40-13E8-0FD63EAD1A53}"/>
                </a:ext>
              </a:extLst>
            </p:cNvPr>
            <p:cNvCxnSpPr>
              <a:cxnSpLocks/>
            </p:cNvCxnSpPr>
            <p:nvPr/>
          </p:nvCxnSpPr>
          <p:spPr>
            <a:xfrm flipV="1">
              <a:off x="1165739" y="4321392"/>
              <a:ext cx="643534" cy="846601"/>
            </a:xfrm>
            <a:prstGeom prst="straightConnector1">
              <a:avLst/>
            </a:prstGeom>
            <a:ln w="38100">
              <a:solidFill>
                <a:srgbClr val="00B0F0">
                  <a:alpha val="50196"/>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62" name="直接箭头连接符 161">
              <a:extLst>
                <a:ext uri="{FF2B5EF4-FFF2-40B4-BE49-F238E27FC236}">
                  <a16:creationId xmlns:a16="http://schemas.microsoft.com/office/drawing/2014/main" id="{2B07E5A6-B2CC-FB62-B9EA-6C8E7635EFDB}"/>
                </a:ext>
              </a:extLst>
            </p:cNvPr>
            <p:cNvCxnSpPr>
              <a:cxnSpLocks/>
            </p:cNvCxnSpPr>
            <p:nvPr/>
          </p:nvCxnSpPr>
          <p:spPr>
            <a:xfrm>
              <a:off x="1165739" y="5167993"/>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163" name="文本框 162">
                  <a:extLst>
                    <a:ext uri="{FF2B5EF4-FFF2-40B4-BE49-F238E27FC236}">
                      <a16:creationId xmlns:a16="http://schemas.microsoft.com/office/drawing/2014/main" id="{3D35217F-0DCF-4A04-55BB-7790E18F49D3}"/>
                    </a:ext>
                  </a:extLst>
                </p:cNvPr>
                <p:cNvSpPr txBox="1"/>
                <p:nvPr/>
              </p:nvSpPr>
              <p:spPr>
                <a:xfrm>
                  <a:off x="1102104" y="5307141"/>
                  <a:ext cx="82339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𝛼</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 name="文本框 3">
                  <a:extLst>
                    <a:ext uri="{FF2B5EF4-FFF2-40B4-BE49-F238E27FC236}">
                      <a16:creationId xmlns:a16="http://schemas.microsoft.com/office/drawing/2014/main" id="{E4674021-14AD-1021-DFC1-0160F5AE41F2}"/>
                    </a:ext>
                  </a:extLst>
                </p:cNvPr>
                <p:cNvSpPr txBox="1">
                  <a:spLocks noRot="1" noChangeAspect="1" noMove="1" noResize="1" noEditPoints="1" noAdjustHandles="1" noChangeArrowheads="1" noChangeShapeType="1" noTextEdit="1"/>
                </p:cNvSpPr>
                <p:nvPr/>
              </p:nvSpPr>
              <p:spPr>
                <a:xfrm>
                  <a:off x="1102104" y="5307141"/>
                  <a:ext cx="823390" cy="205799"/>
                </a:xfrm>
                <a:prstGeom prst="rect">
                  <a:avLst/>
                </a:prstGeom>
                <a:blipFill>
                  <a:blip r:embed="rId8"/>
                  <a:stretch>
                    <a:fillRect b="-8929"/>
                  </a:stretch>
                </a:blipFill>
              </p:spPr>
              <p:txBody>
                <a:bodyPr/>
                <a:lstStyle/>
                <a:p>
                  <a:r>
                    <a:rPr lang="zh-CN" altLang="en-US">
                      <a:noFill/>
                    </a:rPr>
                    <a:t> </a:t>
                  </a:r>
                </a:p>
              </p:txBody>
            </p:sp>
          </mc:Fallback>
        </mc:AlternateContent>
        <p:sp>
          <p:nvSpPr>
            <p:cNvPr id="164" name="椭圆 163">
              <a:extLst>
                <a:ext uri="{FF2B5EF4-FFF2-40B4-BE49-F238E27FC236}">
                  <a16:creationId xmlns:a16="http://schemas.microsoft.com/office/drawing/2014/main" id="{AA2F4EC5-C563-0CAB-3301-70467FEF9B00}"/>
                </a:ext>
              </a:extLst>
            </p:cNvPr>
            <p:cNvSpPr/>
            <p:nvPr/>
          </p:nvSpPr>
          <p:spPr>
            <a:xfrm rot="1274678">
              <a:off x="907239" y="5087458"/>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0B45721D-0FB1-AD92-20B5-E3744BD1BAE6}"/>
                    </a:ext>
                  </a:extLst>
                </p:cNvPr>
                <p:cNvSpPr txBox="1"/>
                <p:nvPr/>
              </p:nvSpPr>
              <p:spPr>
                <a:xfrm>
                  <a:off x="676147" y="4563439"/>
                  <a:ext cx="70174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i="1" smtClean="0">
                                <a:latin typeface="Cambria Math" panose="02040503050406030204" pitchFamily="18" charset="0"/>
                              </a:rPr>
                              <m:t>𝛼</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0" name="文本框 9">
                  <a:extLst>
                    <a:ext uri="{FF2B5EF4-FFF2-40B4-BE49-F238E27FC236}">
                      <a16:creationId xmlns:a16="http://schemas.microsoft.com/office/drawing/2014/main" id="{3C5B8F58-3F76-1300-87D1-8C25FAFCF56A}"/>
                    </a:ext>
                  </a:extLst>
                </p:cNvPr>
                <p:cNvSpPr txBox="1">
                  <a:spLocks noRot="1" noChangeAspect="1" noMove="1" noResize="1" noEditPoints="1" noAdjustHandles="1" noChangeArrowheads="1" noChangeShapeType="1" noTextEdit="1"/>
                </p:cNvSpPr>
                <p:nvPr/>
              </p:nvSpPr>
              <p:spPr>
                <a:xfrm>
                  <a:off x="676147" y="4563439"/>
                  <a:ext cx="701740" cy="205799"/>
                </a:xfrm>
                <a:prstGeom prst="rect">
                  <a:avLst/>
                </a:prstGeom>
                <a:blipFill>
                  <a:blip r:embed="rId9"/>
                  <a:stretch>
                    <a:fillRect r="-2717" b="-8929"/>
                  </a:stretch>
                </a:blipFill>
              </p:spPr>
              <p:txBody>
                <a:bodyPr/>
                <a:lstStyle/>
                <a:p>
                  <a:r>
                    <a:rPr lang="zh-CN" altLang="en-US">
                      <a:noFill/>
                    </a:rPr>
                    <a:t> </a:t>
                  </a:r>
                </a:p>
              </p:txBody>
            </p:sp>
          </mc:Fallback>
        </mc:AlternateContent>
        <p:cxnSp>
          <p:nvCxnSpPr>
            <p:cNvPr id="166" name="直接箭头连接符 165">
              <a:extLst>
                <a:ext uri="{FF2B5EF4-FFF2-40B4-BE49-F238E27FC236}">
                  <a16:creationId xmlns:a16="http://schemas.microsoft.com/office/drawing/2014/main" id="{7C95B1B5-AF08-9522-8320-251208620903}"/>
                </a:ext>
              </a:extLst>
            </p:cNvPr>
            <p:cNvCxnSpPr>
              <a:cxnSpLocks/>
              <a:stCxn id="164" idx="7"/>
            </p:cNvCxnSpPr>
            <p:nvPr/>
          </p:nvCxnSpPr>
          <p:spPr>
            <a:xfrm flipV="1">
              <a:off x="1165739" y="4787927"/>
              <a:ext cx="1176676" cy="380066"/>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cxnSp>
          <p:nvCxnSpPr>
            <p:cNvPr id="167" name="直接箭头连接符 166">
              <a:extLst>
                <a:ext uri="{FF2B5EF4-FFF2-40B4-BE49-F238E27FC236}">
                  <a16:creationId xmlns:a16="http://schemas.microsoft.com/office/drawing/2014/main" id="{75DE6570-6EA4-517A-0BE2-A200F0E543C5}"/>
                </a:ext>
              </a:extLst>
            </p:cNvPr>
            <p:cNvCxnSpPr>
              <a:cxnSpLocks/>
              <a:stCxn id="164" idx="7"/>
            </p:cNvCxnSpPr>
            <p:nvPr/>
          </p:nvCxnSpPr>
          <p:spPr>
            <a:xfrm flipV="1">
              <a:off x="1165739" y="4632054"/>
              <a:ext cx="407765" cy="535939"/>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168" name="直接箭头连接符 167">
              <a:extLst>
                <a:ext uri="{FF2B5EF4-FFF2-40B4-BE49-F238E27FC236}">
                  <a16:creationId xmlns:a16="http://schemas.microsoft.com/office/drawing/2014/main" id="{38197A4B-F9B6-A936-8361-6D7AF03534CC}"/>
                </a:ext>
              </a:extLst>
            </p:cNvPr>
            <p:cNvCxnSpPr>
              <a:cxnSpLocks/>
              <a:stCxn id="164" idx="7"/>
            </p:cNvCxnSpPr>
            <p:nvPr/>
          </p:nvCxnSpPr>
          <p:spPr>
            <a:xfrm>
              <a:off x="1165739" y="5167993"/>
              <a:ext cx="853647" cy="145705"/>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cxnSp>
          <p:nvCxnSpPr>
            <p:cNvPr id="169" name="直接箭头连接符 168">
              <a:extLst>
                <a:ext uri="{FF2B5EF4-FFF2-40B4-BE49-F238E27FC236}">
                  <a16:creationId xmlns:a16="http://schemas.microsoft.com/office/drawing/2014/main" id="{F230B44F-7862-D4EE-CE98-BCAA73DF31EE}"/>
                </a:ext>
              </a:extLst>
            </p:cNvPr>
            <p:cNvCxnSpPr>
              <a:cxnSpLocks/>
            </p:cNvCxnSpPr>
            <p:nvPr/>
          </p:nvCxnSpPr>
          <p:spPr>
            <a:xfrm>
              <a:off x="1552571" y="4620717"/>
              <a:ext cx="853647" cy="145705"/>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170" name="直接箭头连接符 169">
              <a:extLst>
                <a:ext uri="{FF2B5EF4-FFF2-40B4-BE49-F238E27FC236}">
                  <a16:creationId xmlns:a16="http://schemas.microsoft.com/office/drawing/2014/main" id="{E92D4F2F-00DA-EB5F-C128-A81586221369}"/>
                </a:ext>
              </a:extLst>
            </p:cNvPr>
            <p:cNvCxnSpPr>
              <a:cxnSpLocks/>
            </p:cNvCxnSpPr>
            <p:nvPr/>
          </p:nvCxnSpPr>
          <p:spPr>
            <a:xfrm flipV="1">
              <a:off x="2019386" y="4766422"/>
              <a:ext cx="407765" cy="535939"/>
            </a:xfrm>
            <a:prstGeom prst="straightConnector1">
              <a:avLst/>
            </a:prstGeom>
            <a:ln w="38100">
              <a:solidFill>
                <a:srgbClr val="00B0F0">
                  <a:alpha val="40000"/>
                </a:srgbClr>
              </a:solidFill>
              <a:prstDash val="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6C1B9100-3A69-A569-7A78-9B80E40DE7E0}"/>
                  </a:ext>
                </a:extLst>
              </p:cNvPr>
              <p:cNvSpPr txBox="1"/>
              <p:nvPr/>
            </p:nvSpPr>
            <p:spPr>
              <a:xfrm>
                <a:off x="6312266" y="3982690"/>
                <a:ext cx="2456006" cy="69833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1400" b="0" i="1" smtClean="0">
                              <a:latin typeface="Cambria Math" panose="02040503050406030204" pitchFamily="18" charset="0"/>
                            </a:rPr>
                          </m:ctrlPr>
                        </m:accPr>
                        <m:e>
                          <m:r>
                            <a:rPr lang="en-US" altLang="zh-CN" sz="1400" b="0" i="1" smtClean="0">
                              <a:latin typeface="Cambria Math" panose="02040503050406030204" pitchFamily="18" charset="0"/>
                            </a:rPr>
                            <m:t>𝐴</m:t>
                          </m:r>
                        </m:e>
                      </m:acc>
                      <m:r>
                        <a:rPr lang="en-US" altLang="zh-CN" sz="1400" b="0" i="1" smtClean="0">
                          <a:latin typeface="Cambria Math" panose="02040503050406030204" pitchFamily="18" charset="0"/>
                        </a:rPr>
                        <m:t>=</m:t>
                      </m:r>
                      <m:nary>
                        <m:naryPr>
                          <m:chr m:val="∑"/>
                          <m:ctrlPr>
                            <a:rPr lang="en-US" altLang="zh-CN" sz="1400" b="0" i="1" smtClean="0">
                              <a:latin typeface="Cambria Math" panose="02040503050406030204" pitchFamily="18" charset="0"/>
                            </a:rPr>
                          </m:ctrlPr>
                        </m:naryPr>
                        <m:sub>
                          <m:r>
                            <m:rPr>
                              <m:brk m:alnAt="23"/>
                            </m:rP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=0</m:t>
                          </m:r>
                        </m:sub>
                        <m:sup>
                          <m:r>
                            <a:rPr lang="en-US" altLang="zh-CN" sz="1400" b="0" i="1" smtClean="0">
                              <a:latin typeface="Cambria Math" panose="02040503050406030204" pitchFamily="18" charset="0"/>
                            </a:rPr>
                            <m:t>𝑁</m:t>
                          </m:r>
                        </m:sup>
                        <m:e>
                          <m:sSub>
                            <m:sSubPr>
                              <m:ctrlPr>
                                <a:rPr lang="en-US" altLang="zh-CN" sz="1400" b="0" i="1" smtClean="0">
                                  <a:latin typeface="Cambria Math" panose="02040503050406030204" pitchFamily="18" charset="0"/>
                                </a:rPr>
                              </m:ctrlPr>
                            </m:sSub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𝛼</m:t>
                                  </m:r>
                                </m:e>
                                <m:sub>
                                  <m:r>
                                    <a:rPr lang="en-US" altLang="zh-CN" sz="1400" b="0" i="1" smtClean="0">
                                      <a:latin typeface="Cambria Math" panose="02040503050406030204" pitchFamily="18" charset="0"/>
                                    </a:rPr>
                                    <m:t>𝑖</m:t>
                                  </m:r>
                                </m:sub>
                              </m:sSub>
                              <m:r>
                                <a:rPr lang="en-US" altLang="zh-CN" sz="1400" i="1">
                                  <a:latin typeface="Cambria Math" panose="02040503050406030204" pitchFamily="18" charset="0"/>
                                </a:rPr>
                                <m:t>·</m:t>
                              </m:r>
                              <m:r>
                                <a:rPr lang="en-US" altLang="zh-CN" sz="1400" b="0" i="1" smtClean="0">
                                  <a:latin typeface="Cambria Math" panose="02040503050406030204" pitchFamily="18" charset="0"/>
                                </a:rPr>
                                <m:t>𝐴</m:t>
                              </m:r>
                            </m:e>
                            <m:sub>
                              <m:r>
                                <a:rPr lang="en-US" altLang="zh-CN" sz="1400" b="0" i="1" smtClean="0">
                                  <a:latin typeface="Cambria Math" panose="02040503050406030204" pitchFamily="18" charset="0"/>
                                </a:rPr>
                                <m:t>𝑖</m:t>
                              </m:r>
                            </m:sub>
                          </m:sSub>
                        </m:e>
                      </m:nary>
                      <m:r>
                        <a:rPr lang="en-US" altLang="zh-CN" sz="1400" b="0" i="1" smtClean="0">
                          <a:latin typeface="Cambria Math" panose="02040503050406030204" pitchFamily="18" charset="0"/>
                        </a:rPr>
                        <m:t>,</m:t>
                      </m:r>
                      <m:acc>
                        <m:accPr>
                          <m:chr m:val="̂"/>
                          <m:ctrlPr>
                            <a:rPr lang="en-US" altLang="zh-CN" sz="1400" i="1">
                              <a:latin typeface="Cambria Math" panose="02040503050406030204" pitchFamily="18" charset="0"/>
                            </a:rPr>
                          </m:ctrlPr>
                        </m:accPr>
                        <m:e>
                          <m:r>
                            <a:rPr lang="en-US" altLang="zh-CN" sz="1400" b="0" i="1" smtClean="0">
                              <a:latin typeface="Cambria Math" panose="02040503050406030204" pitchFamily="18" charset="0"/>
                            </a:rPr>
                            <m:t>𝐵</m:t>
                          </m:r>
                        </m:e>
                      </m:acc>
                      <m:r>
                        <a:rPr lang="en-US" altLang="zh-CN" sz="1400" i="1">
                          <a:latin typeface="Cambria Math" panose="02040503050406030204" pitchFamily="18" charset="0"/>
                        </a:rPr>
                        <m:t>=</m:t>
                      </m:r>
                      <m:nary>
                        <m:naryPr>
                          <m:chr m:val="∑"/>
                          <m:ctrlPr>
                            <a:rPr lang="en-US" altLang="zh-CN" sz="1400" i="1">
                              <a:latin typeface="Cambria Math" panose="02040503050406030204" pitchFamily="18" charset="0"/>
                            </a:rPr>
                          </m:ctrlPr>
                        </m:naryPr>
                        <m:sub>
                          <m:r>
                            <m:rPr>
                              <m:brk m:alnAt="23"/>
                            </m:rPr>
                            <a:rPr lang="en-US" altLang="zh-CN" sz="1400" i="1">
                              <a:latin typeface="Cambria Math" panose="02040503050406030204" pitchFamily="18" charset="0"/>
                            </a:rPr>
                            <m:t>𝑖</m:t>
                          </m:r>
                          <m:r>
                            <a:rPr lang="en-US" altLang="zh-CN" sz="1400" i="1">
                              <a:latin typeface="Cambria Math" panose="02040503050406030204" pitchFamily="18" charset="0"/>
                            </a:rPr>
                            <m:t>=0</m:t>
                          </m:r>
                        </m:sub>
                        <m:sup>
                          <m:r>
                            <a:rPr lang="en-US" altLang="zh-CN" sz="1400" i="1">
                              <a:latin typeface="Cambria Math" panose="02040503050406030204" pitchFamily="18" charset="0"/>
                            </a:rPr>
                            <m:t>𝑁</m:t>
                          </m:r>
                        </m:sup>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𝛽</m:t>
                              </m:r>
                            </m:e>
                            <m:sub>
                              <m:r>
                                <a:rPr lang="en-US" altLang="zh-CN" sz="1400" b="0" i="1" smtClean="0">
                                  <a:latin typeface="Cambria Math" panose="02040503050406030204" pitchFamily="18" charset="0"/>
                                </a:rPr>
                                <m:t>𝑖</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𝐵</m:t>
                              </m:r>
                            </m:e>
                            <m:sub>
                              <m:r>
                                <a:rPr lang="en-US" altLang="zh-CN" sz="1400" i="1">
                                  <a:latin typeface="Cambria Math" panose="02040503050406030204" pitchFamily="18" charset="0"/>
                                </a:rPr>
                                <m:t>𝑖</m:t>
                              </m:r>
                            </m:sub>
                          </m:sSub>
                        </m:e>
                      </m:nary>
                    </m:oMath>
                  </m:oMathPara>
                </a14:m>
                <a:endParaRPr lang="zh-CN" altLang="en-US" sz="1400" dirty="0"/>
              </a:p>
            </p:txBody>
          </p:sp>
        </mc:Choice>
        <mc:Fallback xmlns="">
          <p:sp>
            <p:nvSpPr>
              <p:cNvPr id="171" name="文本框 170">
                <a:extLst>
                  <a:ext uri="{FF2B5EF4-FFF2-40B4-BE49-F238E27FC236}">
                    <a16:creationId xmlns:a16="http://schemas.microsoft.com/office/drawing/2014/main" id="{6C1B9100-3A69-A569-7A78-9B80E40DE7E0}"/>
                  </a:ext>
                </a:extLst>
              </p:cNvPr>
              <p:cNvSpPr txBox="1">
                <a:spLocks noRot="1" noChangeAspect="1" noMove="1" noResize="1" noEditPoints="1" noAdjustHandles="1" noChangeArrowheads="1" noChangeShapeType="1" noTextEdit="1"/>
              </p:cNvSpPr>
              <p:nvPr/>
            </p:nvSpPr>
            <p:spPr>
              <a:xfrm>
                <a:off x="6312266" y="3982690"/>
                <a:ext cx="2456006" cy="698333"/>
              </a:xfrm>
              <a:prstGeom prst="rect">
                <a:avLst/>
              </a:prstGeom>
              <a:blipFill>
                <a:blip r:embed="rId10"/>
                <a:stretch>
                  <a:fillRect/>
                </a:stretch>
              </a:blipFill>
            </p:spPr>
            <p:txBody>
              <a:bodyPr/>
              <a:lstStyle/>
              <a:p>
                <a:r>
                  <a:rPr lang="zh-CN" altLang="en-US">
                    <a:noFill/>
                  </a:rPr>
                  <a:t> </a:t>
                </a:r>
              </a:p>
            </p:txBody>
          </p:sp>
        </mc:Fallback>
      </mc:AlternateContent>
      <p:sp>
        <p:nvSpPr>
          <p:cNvPr id="172" name="文本框 171">
            <a:extLst>
              <a:ext uri="{FF2B5EF4-FFF2-40B4-BE49-F238E27FC236}">
                <a16:creationId xmlns:a16="http://schemas.microsoft.com/office/drawing/2014/main" id="{A390EAEE-7903-9E8B-D01F-12626639CB77}"/>
              </a:ext>
            </a:extLst>
          </p:cNvPr>
          <p:cNvSpPr txBox="1"/>
          <p:nvPr/>
        </p:nvSpPr>
        <p:spPr>
          <a:xfrm>
            <a:off x="6190423" y="4665803"/>
            <a:ext cx="2609955" cy="907941"/>
          </a:xfrm>
          <a:prstGeom prst="rect">
            <a:avLst/>
          </a:prstGeom>
          <a:noFill/>
        </p:spPr>
        <p:txBody>
          <a:bodyPr wrap="square">
            <a:spAutoFit/>
          </a:bodyPr>
          <a:lstStyle/>
          <a:p>
            <a:pPr marL="285750" indent="-285750">
              <a:spcBef>
                <a:spcPts val="600"/>
              </a:spcBef>
              <a:buFont typeface="Arial" panose="020B0604020202020204" pitchFamily="34" charset="0"/>
              <a:buChar char="•"/>
            </a:pPr>
            <a:r>
              <a:rPr lang="zh-CN" altLang="en-US" sz="1200" dirty="0">
                <a:latin typeface="Noto Sans SC"/>
                <a:ea typeface="Noto Sans SC"/>
                <a:sym typeface="Noto Sans SC"/>
              </a:rPr>
              <a:t>为不同任务向量分配不同的融合系数</a:t>
            </a:r>
            <a:endParaRPr lang="en-US" altLang="zh-CN" sz="1200" dirty="0">
              <a:latin typeface="Noto Sans SC"/>
              <a:ea typeface="Noto Sans SC"/>
              <a:sym typeface="Noto Sans SC"/>
            </a:endParaRPr>
          </a:p>
          <a:p>
            <a:pPr marL="285750" indent="-285750">
              <a:spcBef>
                <a:spcPts val="600"/>
              </a:spcBef>
              <a:buFont typeface="Arial" panose="020B0604020202020204" pitchFamily="34" charset="0"/>
              <a:buChar char="•"/>
            </a:pPr>
            <a:r>
              <a:rPr lang="zh-CN" altLang="en-US" sz="1200" dirty="0">
                <a:latin typeface="Noto Sans SC"/>
                <a:ea typeface="Noto Sans SC"/>
              </a:rPr>
              <a:t>通过梯度下降得到最优的融合系数组合</a:t>
            </a:r>
          </a:p>
        </p:txBody>
      </p:sp>
      <p:sp>
        <p:nvSpPr>
          <p:cNvPr id="173" name="AutoShape 4">
            <a:extLst>
              <a:ext uri="{FF2B5EF4-FFF2-40B4-BE49-F238E27FC236}">
                <a16:creationId xmlns:a16="http://schemas.microsoft.com/office/drawing/2014/main" id="{A88F5C20-755A-55D6-59DF-7792CAF1ACC6}"/>
              </a:ext>
            </a:extLst>
          </p:cNvPr>
          <p:cNvSpPr/>
          <p:nvPr/>
        </p:nvSpPr>
        <p:spPr>
          <a:xfrm>
            <a:off x="9090522" y="1387696"/>
            <a:ext cx="2658964"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174" name="Rectangle 1">
            <a:extLst>
              <a:ext uri="{FF2B5EF4-FFF2-40B4-BE49-F238E27FC236}">
                <a16:creationId xmlns:a16="http://schemas.microsoft.com/office/drawing/2014/main" id="{DD8E42A0-DAB1-60C3-BEEB-BF331A9A28A2}"/>
              </a:ext>
            </a:extLst>
          </p:cNvPr>
          <p:cNvSpPr>
            <a:spLocks noChangeArrowheads="1"/>
          </p:cNvSpPr>
          <p:nvPr/>
        </p:nvSpPr>
        <p:spPr bwMode="auto">
          <a:xfrm>
            <a:off x="9412772" y="1403085"/>
            <a:ext cx="2014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TALL-Masks</a:t>
            </a:r>
            <a:endPar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5" name="AutoShape 7">
            <a:extLst>
              <a:ext uri="{FF2B5EF4-FFF2-40B4-BE49-F238E27FC236}">
                <a16:creationId xmlns:a16="http://schemas.microsoft.com/office/drawing/2014/main" id="{393BCA08-E3EC-8F05-5530-148F5215BBAA}"/>
              </a:ext>
            </a:extLst>
          </p:cNvPr>
          <p:cNvSpPr/>
          <p:nvPr/>
        </p:nvSpPr>
        <p:spPr>
          <a:xfrm>
            <a:off x="9340004" y="1811385"/>
            <a:ext cx="216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225" name="组合 224">
            <a:extLst>
              <a:ext uri="{FF2B5EF4-FFF2-40B4-BE49-F238E27FC236}">
                <a16:creationId xmlns:a16="http://schemas.microsoft.com/office/drawing/2014/main" id="{4E9053D1-BF86-B665-A737-9CE9222E963C}"/>
              </a:ext>
            </a:extLst>
          </p:cNvPr>
          <p:cNvGrpSpPr/>
          <p:nvPr/>
        </p:nvGrpSpPr>
        <p:grpSpPr>
          <a:xfrm>
            <a:off x="9326244" y="2018221"/>
            <a:ext cx="2187521" cy="161583"/>
            <a:chOff x="3669895" y="2002194"/>
            <a:chExt cx="2187521" cy="161583"/>
          </a:xfrm>
        </p:grpSpPr>
        <p:grpSp>
          <p:nvGrpSpPr>
            <p:cNvPr id="226" name="组合 225">
              <a:extLst>
                <a:ext uri="{FF2B5EF4-FFF2-40B4-BE49-F238E27FC236}">
                  <a16:creationId xmlns:a16="http://schemas.microsoft.com/office/drawing/2014/main" id="{7A300E5C-AD11-B74D-CEA6-EF797E5433C9}"/>
                </a:ext>
              </a:extLst>
            </p:cNvPr>
            <p:cNvGrpSpPr/>
            <p:nvPr/>
          </p:nvGrpSpPr>
          <p:grpSpPr>
            <a:xfrm>
              <a:off x="3669895" y="2002194"/>
              <a:ext cx="695089" cy="161576"/>
              <a:chOff x="7023971" y="2016325"/>
              <a:chExt cx="695089" cy="161576"/>
            </a:xfrm>
          </p:grpSpPr>
          <p:cxnSp>
            <p:nvCxnSpPr>
              <p:cNvPr id="233" name="直接箭头连接符 232">
                <a:extLst>
                  <a:ext uri="{FF2B5EF4-FFF2-40B4-BE49-F238E27FC236}">
                    <a16:creationId xmlns:a16="http://schemas.microsoft.com/office/drawing/2014/main" id="{8B8E4E8A-185F-2F11-B046-28729BBB9C88}"/>
                  </a:ext>
                </a:extLst>
              </p:cNvPr>
              <p:cNvCxnSpPr>
                <a:cxnSpLocks/>
              </p:cNvCxnSpPr>
              <p:nvPr/>
            </p:nvCxnSpPr>
            <p:spPr>
              <a:xfrm>
                <a:off x="7023971" y="209711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234" name="文本框 233">
                <a:extLst>
                  <a:ext uri="{FF2B5EF4-FFF2-40B4-BE49-F238E27FC236}">
                    <a16:creationId xmlns:a16="http://schemas.microsoft.com/office/drawing/2014/main" id="{E53F4BAC-1211-81A4-DCF7-F990C78C45A3}"/>
                  </a:ext>
                </a:extLst>
              </p:cNvPr>
              <p:cNvSpPr txBox="1"/>
              <p:nvPr/>
            </p:nvSpPr>
            <p:spPr>
              <a:xfrm>
                <a:off x="7352611" y="2016325"/>
                <a:ext cx="366449" cy="161576"/>
              </a:xfrm>
              <a:prstGeom prst="rect">
                <a:avLst/>
              </a:prstGeom>
              <a:noFill/>
            </p:spPr>
            <p:txBody>
              <a:bodyPr wrap="square" lIns="0" tIns="0" rIns="0" bIns="0">
                <a:spAutoFit/>
              </a:bodyPr>
              <a:lstStyle/>
              <a:p>
                <a:r>
                  <a:rPr lang="zh-CN" altLang="en-US" sz="1050" b="1" dirty="0">
                    <a:latin typeface="+mn-ea"/>
                  </a:rPr>
                  <a:t>任务</a:t>
                </a:r>
                <a:r>
                  <a:rPr lang="en-US" altLang="zh-CN" sz="1050" b="1" dirty="0">
                    <a:latin typeface="+mn-ea"/>
                  </a:rPr>
                  <a:t>A</a:t>
                </a:r>
                <a:endParaRPr lang="zh-CN" altLang="en-US" sz="1050" b="1" dirty="0"/>
              </a:p>
            </p:txBody>
          </p:sp>
        </p:grpSp>
        <p:grpSp>
          <p:nvGrpSpPr>
            <p:cNvPr id="227" name="组合 226">
              <a:extLst>
                <a:ext uri="{FF2B5EF4-FFF2-40B4-BE49-F238E27FC236}">
                  <a16:creationId xmlns:a16="http://schemas.microsoft.com/office/drawing/2014/main" id="{013640F3-7E13-0E54-2654-18AEE5FDD4D7}"/>
                </a:ext>
              </a:extLst>
            </p:cNvPr>
            <p:cNvGrpSpPr/>
            <p:nvPr/>
          </p:nvGrpSpPr>
          <p:grpSpPr>
            <a:xfrm>
              <a:off x="4455335" y="2002194"/>
              <a:ext cx="695089" cy="161576"/>
              <a:chOff x="7023971" y="2335464"/>
              <a:chExt cx="695089" cy="161576"/>
            </a:xfrm>
          </p:grpSpPr>
          <p:cxnSp>
            <p:nvCxnSpPr>
              <p:cNvPr id="231" name="直接箭头连接符 230">
                <a:extLst>
                  <a:ext uri="{FF2B5EF4-FFF2-40B4-BE49-F238E27FC236}">
                    <a16:creationId xmlns:a16="http://schemas.microsoft.com/office/drawing/2014/main" id="{4769CFAA-C9A4-6E65-2672-E4BCCB96F23D}"/>
                  </a:ext>
                </a:extLst>
              </p:cNvPr>
              <p:cNvCxnSpPr>
                <a:cxnSpLocks/>
              </p:cNvCxnSpPr>
              <p:nvPr/>
            </p:nvCxnSpPr>
            <p:spPr>
              <a:xfrm flipV="1">
                <a:off x="7023971" y="241625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32" name="文本框 231">
                <a:extLst>
                  <a:ext uri="{FF2B5EF4-FFF2-40B4-BE49-F238E27FC236}">
                    <a16:creationId xmlns:a16="http://schemas.microsoft.com/office/drawing/2014/main" id="{0A2E0724-81EA-4942-11D2-A03BFEFF8780}"/>
                  </a:ext>
                </a:extLst>
              </p:cNvPr>
              <p:cNvSpPr txBox="1"/>
              <p:nvPr/>
            </p:nvSpPr>
            <p:spPr>
              <a:xfrm>
                <a:off x="7352611" y="2335464"/>
                <a:ext cx="366449" cy="161576"/>
              </a:xfrm>
              <a:prstGeom prst="rect">
                <a:avLst/>
              </a:prstGeom>
              <a:noFill/>
            </p:spPr>
            <p:txBody>
              <a:bodyPr wrap="square" lIns="0" tIns="0" rIns="0" bIns="0">
                <a:spAutoFit/>
              </a:bodyPr>
              <a:lstStyle/>
              <a:p>
                <a:r>
                  <a:rPr lang="zh-CN" altLang="en-US" sz="1050" b="1" dirty="0">
                    <a:latin typeface="+mn-ea"/>
                  </a:rPr>
                  <a:t>任务</a:t>
                </a:r>
                <a:r>
                  <a:rPr lang="en-US" altLang="zh-CN" sz="1050" b="1" dirty="0">
                    <a:latin typeface="+mn-ea"/>
                  </a:rPr>
                  <a:t>B</a:t>
                </a:r>
                <a:endParaRPr lang="zh-CN" altLang="en-US" sz="1050" b="1" dirty="0"/>
              </a:p>
            </p:txBody>
          </p:sp>
        </p:grpSp>
        <p:grpSp>
          <p:nvGrpSpPr>
            <p:cNvPr id="228" name="组合 227">
              <a:extLst>
                <a:ext uri="{FF2B5EF4-FFF2-40B4-BE49-F238E27FC236}">
                  <a16:creationId xmlns:a16="http://schemas.microsoft.com/office/drawing/2014/main" id="{DA9AB69E-B764-822B-A36D-5B0F80BD71B2}"/>
                </a:ext>
              </a:extLst>
            </p:cNvPr>
            <p:cNvGrpSpPr/>
            <p:nvPr/>
          </p:nvGrpSpPr>
          <p:grpSpPr>
            <a:xfrm>
              <a:off x="5240775" y="2002194"/>
              <a:ext cx="616641" cy="161583"/>
              <a:chOff x="7023971" y="2621349"/>
              <a:chExt cx="616641" cy="161583"/>
            </a:xfrm>
          </p:grpSpPr>
          <p:cxnSp>
            <p:nvCxnSpPr>
              <p:cNvPr id="229" name="直接箭头连接符 228">
                <a:extLst>
                  <a:ext uri="{FF2B5EF4-FFF2-40B4-BE49-F238E27FC236}">
                    <a16:creationId xmlns:a16="http://schemas.microsoft.com/office/drawing/2014/main" id="{DBA98790-70FE-AD24-E358-C50950466BB0}"/>
                  </a:ext>
                </a:extLst>
              </p:cNvPr>
              <p:cNvCxnSpPr>
                <a:cxnSpLocks/>
              </p:cNvCxnSpPr>
              <p:nvPr/>
            </p:nvCxnSpPr>
            <p:spPr>
              <a:xfrm rot="5400000" flipV="1">
                <a:off x="7167971" y="255813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230" name="文本框 229">
                <a:extLst>
                  <a:ext uri="{FF2B5EF4-FFF2-40B4-BE49-F238E27FC236}">
                    <a16:creationId xmlns:a16="http://schemas.microsoft.com/office/drawing/2014/main" id="{4A9EFEF7-2779-C9C7-91D1-E9D47290F7DC}"/>
                  </a:ext>
                </a:extLst>
              </p:cNvPr>
              <p:cNvSpPr txBox="1"/>
              <p:nvPr/>
            </p:nvSpPr>
            <p:spPr>
              <a:xfrm>
                <a:off x="7352612" y="2621349"/>
                <a:ext cx="288000" cy="161583"/>
              </a:xfrm>
              <a:prstGeom prst="rect">
                <a:avLst/>
              </a:prstGeom>
              <a:noFill/>
            </p:spPr>
            <p:txBody>
              <a:bodyPr wrap="square" lIns="0" tIns="0" rIns="0" bIns="0">
                <a:spAutoFit/>
              </a:bodyPr>
              <a:lstStyle/>
              <a:p>
                <a:r>
                  <a:rPr lang="zh-CN" altLang="en-US" sz="1050" b="1" dirty="0">
                    <a:latin typeface="+mn-ea"/>
                  </a:rPr>
                  <a:t>融合</a:t>
                </a:r>
                <a:endParaRPr lang="zh-CN" altLang="en-US" sz="1050" b="1" dirty="0"/>
              </a:p>
            </p:txBody>
          </p:sp>
        </p:grpSp>
      </p:grpSp>
      <p:grpSp>
        <p:nvGrpSpPr>
          <p:cNvPr id="268" name="组合 267">
            <a:extLst>
              <a:ext uri="{FF2B5EF4-FFF2-40B4-BE49-F238E27FC236}">
                <a16:creationId xmlns:a16="http://schemas.microsoft.com/office/drawing/2014/main" id="{0B88B113-3A72-E28A-7813-7CD99E406E26}"/>
              </a:ext>
            </a:extLst>
          </p:cNvPr>
          <p:cNvGrpSpPr/>
          <p:nvPr/>
        </p:nvGrpSpPr>
        <p:grpSpPr>
          <a:xfrm>
            <a:off x="9230529" y="2292962"/>
            <a:ext cx="2378951" cy="1276194"/>
            <a:chOff x="9365007" y="2308500"/>
            <a:chExt cx="2378951" cy="1276194"/>
          </a:xfrm>
        </p:grpSpPr>
        <p:grpSp>
          <p:nvGrpSpPr>
            <p:cNvPr id="251" name="组合 250">
              <a:extLst>
                <a:ext uri="{FF2B5EF4-FFF2-40B4-BE49-F238E27FC236}">
                  <a16:creationId xmlns:a16="http://schemas.microsoft.com/office/drawing/2014/main" id="{CB9746EE-0381-FCF0-CD74-3F091B43D338}"/>
                </a:ext>
              </a:extLst>
            </p:cNvPr>
            <p:cNvGrpSpPr/>
            <p:nvPr/>
          </p:nvGrpSpPr>
          <p:grpSpPr>
            <a:xfrm>
              <a:off x="10487617" y="2520372"/>
              <a:ext cx="1093218" cy="1064322"/>
              <a:chOff x="5919300" y="5484499"/>
              <a:chExt cx="945453" cy="619121"/>
            </a:xfrm>
          </p:grpSpPr>
          <p:cxnSp>
            <p:nvCxnSpPr>
              <p:cNvPr id="252" name="直接箭头连接符 251">
                <a:extLst>
                  <a:ext uri="{FF2B5EF4-FFF2-40B4-BE49-F238E27FC236}">
                    <a16:creationId xmlns:a16="http://schemas.microsoft.com/office/drawing/2014/main" id="{D3025C1E-A94B-0D7F-4A00-6666BE2B8266}"/>
                  </a:ext>
                </a:extLst>
              </p:cNvPr>
              <p:cNvCxnSpPr>
                <a:cxnSpLocks/>
              </p:cNvCxnSpPr>
              <p:nvPr/>
            </p:nvCxnSpPr>
            <p:spPr>
              <a:xfrm>
                <a:off x="6864753" y="5784099"/>
                <a:ext cx="0" cy="319521"/>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253" name="直接箭头连接符 252">
                <a:extLst>
                  <a:ext uri="{FF2B5EF4-FFF2-40B4-BE49-F238E27FC236}">
                    <a16:creationId xmlns:a16="http://schemas.microsoft.com/office/drawing/2014/main" id="{8E34A902-32D1-281C-7998-8131FCB64DBC}"/>
                  </a:ext>
                </a:extLst>
              </p:cNvPr>
              <p:cNvCxnSpPr>
                <a:cxnSpLocks/>
              </p:cNvCxnSpPr>
              <p:nvPr/>
            </p:nvCxnSpPr>
            <p:spPr>
              <a:xfrm flipV="1">
                <a:off x="5919300" y="5484499"/>
                <a:ext cx="0" cy="29960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254" name="直接箭头连接符 253">
                <a:extLst>
                  <a:ext uri="{FF2B5EF4-FFF2-40B4-BE49-F238E27FC236}">
                    <a16:creationId xmlns:a16="http://schemas.microsoft.com/office/drawing/2014/main" id="{18A9B40B-98A5-1335-9C59-A8178E41B8A5}"/>
                  </a:ext>
                </a:extLst>
              </p:cNvPr>
              <p:cNvCxnSpPr>
                <a:cxnSpLocks/>
              </p:cNvCxnSpPr>
              <p:nvPr/>
            </p:nvCxnSpPr>
            <p:spPr>
              <a:xfrm>
                <a:off x="6743998" y="5784098"/>
                <a:ext cx="0" cy="31952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255" name="组合 254">
              <a:extLst>
                <a:ext uri="{FF2B5EF4-FFF2-40B4-BE49-F238E27FC236}">
                  <a16:creationId xmlns:a16="http://schemas.microsoft.com/office/drawing/2014/main" id="{11EB4B91-51B8-AAFA-0CAD-B691F2663BFC}"/>
                </a:ext>
              </a:extLst>
            </p:cNvPr>
            <p:cNvGrpSpPr/>
            <p:nvPr/>
          </p:nvGrpSpPr>
          <p:grpSpPr>
            <a:xfrm>
              <a:off x="9673735" y="2308500"/>
              <a:ext cx="304512" cy="726908"/>
              <a:chOff x="5223047" y="5361252"/>
              <a:chExt cx="263353" cy="422846"/>
            </a:xfrm>
          </p:grpSpPr>
          <p:cxnSp>
            <p:nvCxnSpPr>
              <p:cNvPr id="256" name="直接箭头连接符 255">
                <a:extLst>
                  <a:ext uri="{FF2B5EF4-FFF2-40B4-BE49-F238E27FC236}">
                    <a16:creationId xmlns:a16="http://schemas.microsoft.com/office/drawing/2014/main" id="{A1C44D9F-E411-78FE-F638-8F68E3835326}"/>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257" name="直接箭头连接符 256">
                <a:extLst>
                  <a:ext uri="{FF2B5EF4-FFF2-40B4-BE49-F238E27FC236}">
                    <a16:creationId xmlns:a16="http://schemas.microsoft.com/office/drawing/2014/main" id="{92B6D0BB-AC88-EC0A-2802-8BF2DC806A6B}"/>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58" name="直接箭头连接符 257">
                <a:extLst>
                  <a:ext uri="{FF2B5EF4-FFF2-40B4-BE49-F238E27FC236}">
                    <a16:creationId xmlns:a16="http://schemas.microsoft.com/office/drawing/2014/main" id="{D495815D-480B-6A18-0E05-B3C05C7C91D4}"/>
                  </a:ext>
                </a:extLst>
              </p:cNvPr>
              <p:cNvCxnSpPr>
                <a:cxnSpLocks/>
              </p:cNvCxnSpPr>
              <p:nvPr/>
            </p:nvCxnSpPr>
            <p:spPr>
              <a:xfrm flipV="1">
                <a:off x="5486400" y="5377580"/>
                <a:ext cx="0" cy="4065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259" name="组合 258">
              <a:extLst>
                <a:ext uri="{FF2B5EF4-FFF2-40B4-BE49-F238E27FC236}">
                  <a16:creationId xmlns:a16="http://schemas.microsoft.com/office/drawing/2014/main" id="{B2FCDD5E-E4C1-DFC9-7616-7E1D081032B3}"/>
                </a:ext>
              </a:extLst>
            </p:cNvPr>
            <p:cNvGrpSpPr/>
            <p:nvPr/>
          </p:nvGrpSpPr>
          <p:grpSpPr>
            <a:xfrm>
              <a:off x="10674562" y="2520372"/>
              <a:ext cx="606038" cy="515036"/>
              <a:chOff x="6088597" y="5484499"/>
              <a:chExt cx="524123" cy="299599"/>
            </a:xfrm>
          </p:grpSpPr>
          <p:cxnSp>
            <p:nvCxnSpPr>
              <p:cNvPr id="260" name="直接箭头连接符 259">
                <a:extLst>
                  <a:ext uri="{FF2B5EF4-FFF2-40B4-BE49-F238E27FC236}">
                    <a16:creationId xmlns:a16="http://schemas.microsoft.com/office/drawing/2014/main" id="{8EF878D5-93AC-8C92-9398-0190D346A563}"/>
                  </a:ext>
                </a:extLst>
              </p:cNvPr>
              <p:cNvCxnSpPr>
                <a:cxnSpLocks/>
              </p:cNvCxnSpPr>
              <p:nvPr/>
            </p:nvCxnSpPr>
            <p:spPr>
              <a:xfrm flipV="1">
                <a:off x="6612720" y="5650626"/>
                <a:ext cx="0" cy="11714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261" name="直接箭头连接符 260">
                <a:extLst>
                  <a:ext uri="{FF2B5EF4-FFF2-40B4-BE49-F238E27FC236}">
                    <a16:creationId xmlns:a16="http://schemas.microsoft.com/office/drawing/2014/main" id="{A43D477F-A122-F6FD-4554-7A610C8757CD}"/>
                  </a:ext>
                </a:extLst>
              </p:cNvPr>
              <p:cNvCxnSpPr>
                <a:cxnSpLocks/>
              </p:cNvCxnSpPr>
              <p:nvPr/>
            </p:nvCxnSpPr>
            <p:spPr>
              <a:xfrm flipV="1">
                <a:off x="6088597" y="5686551"/>
                <a:ext cx="0" cy="97547"/>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62" name="直接箭头连接符 261">
                <a:extLst>
                  <a:ext uri="{FF2B5EF4-FFF2-40B4-BE49-F238E27FC236}">
                    <a16:creationId xmlns:a16="http://schemas.microsoft.com/office/drawing/2014/main" id="{E480F3B1-4E91-A2C6-4151-FA86B36460B9}"/>
                  </a:ext>
                </a:extLst>
              </p:cNvPr>
              <p:cNvCxnSpPr>
                <a:cxnSpLocks/>
              </p:cNvCxnSpPr>
              <p:nvPr/>
            </p:nvCxnSpPr>
            <p:spPr>
              <a:xfrm flipV="1">
                <a:off x="6240595" y="5484499"/>
                <a:ext cx="0" cy="29005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263" name="直接连接符 262">
              <a:extLst>
                <a:ext uri="{FF2B5EF4-FFF2-40B4-BE49-F238E27FC236}">
                  <a16:creationId xmlns:a16="http://schemas.microsoft.com/office/drawing/2014/main" id="{54B338E1-583E-7409-3AAB-E3107A4E6869}"/>
                </a:ext>
              </a:extLst>
            </p:cNvPr>
            <p:cNvCxnSpPr>
              <a:cxnSpLocks/>
            </p:cNvCxnSpPr>
            <p:nvPr/>
          </p:nvCxnSpPr>
          <p:spPr>
            <a:xfrm>
              <a:off x="9365007" y="3035408"/>
              <a:ext cx="2378951" cy="0"/>
            </a:xfrm>
            <a:prstGeom prst="line">
              <a:avLst/>
            </a:prstGeom>
            <a:ln w="38100"/>
          </p:spPr>
          <p:style>
            <a:lnRef idx="1">
              <a:schemeClr val="accent1"/>
            </a:lnRef>
            <a:fillRef idx="0">
              <a:schemeClr val="accent1"/>
            </a:fillRef>
            <a:effectRef idx="0">
              <a:schemeClr val="accent1"/>
            </a:effectRef>
            <a:fontRef idx="minor">
              <a:schemeClr val="tx1"/>
            </a:fontRef>
          </p:style>
        </p:cxnSp>
      </p:grpSp>
      <p:graphicFrame>
        <p:nvGraphicFramePr>
          <p:cNvPr id="264" name="表格 263">
            <a:extLst>
              <a:ext uri="{FF2B5EF4-FFF2-40B4-BE49-F238E27FC236}">
                <a16:creationId xmlns:a16="http://schemas.microsoft.com/office/drawing/2014/main" id="{4601B73C-F9D7-4949-97AB-2917DBB2229A}"/>
              </a:ext>
            </a:extLst>
          </p:cNvPr>
          <p:cNvGraphicFramePr>
            <a:graphicFrameLocks noGrp="1"/>
          </p:cNvGraphicFramePr>
          <p:nvPr>
            <p:extLst>
              <p:ext uri="{D42A27DB-BD31-4B8C-83A1-F6EECF244321}">
                <p14:modId xmlns:p14="http://schemas.microsoft.com/office/powerpoint/2010/main" val="468598291"/>
              </p:ext>
            </p:extLst>
          </p:nvPr>
        </p:nvGraphicFramePr>
        <p:xfrm>
          <a:off x="10031413" y="3283037"/>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287612"/>
                  </a:ext>
                </a:extLst>
              </a:tr>
            </a:tbl>
          </a:graphicData>
        </a:graphic>
      </p:graphicFrame>
      <p:sp>
        <p:nvSpPr>
          <p:cNvPr id="265" name="文本框 264">
            <a:extLst>
              <a:ext uri="{FF2B5EF4-FFF2-40B4-BE49-F238E27FC236}">
                <a16:creationId xmlns:a16="http://schemas.microsoft.com/office/drawing/2014/main" id="{F5168FC3-2527-EF3D-A906-F4A42A43B6C6}"/>
              </a:ext>
            </a:extLst>
          </p:cNvPr>
          <p:cNvSpPr txBox="1"/>
          <p:nvPr/>
        </p:nvSpPr>
        <p:spPr>
          <a:xfrm>
            <a:off x="9268494" y="3255149"/>
            <a:ext cx="755999" cy="307777"/>
          </a:xfrm>
          <a:prstGeom prst="rect">
            <a:avLst/>
          </a:prstGeom>
          <a:noFill/>
        </p:spPr>
        <p:txBody>
          <a:bodyPr wrap="square">
            <a:spAutoFit/>
          </a:bodyPr>
          <a:lstStyle/>
          <a:p>
            <a:pPr algn="r"/>
            <a:r>
              <a:rPr kumimoji="0" lang="zh-CN" altLang="en-US"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kumimoji="0" lang="en-US" altLang="zh-CN"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A</a:t>
            </a:r>
            <a:endParaRPr lang="zh-CN" altLang="en-US" sz="1400" dirty="0"/>
          </a:p>
        </p:txBody>
      </p:sp>
      <p:graphicFrame>
        <p:nvGraphicFramePr>
          <p:cNvPr id="266" name="表格 265">
            <a:extLst>
              <a:ext uri="{FF2B5EF4-FFF2-40B4-BE49-F238E27FC236}">
                <a16:creationId xmlns:a16="http://schemas.microsoft.com/office/drawing/2014/main" id="{5E2666EF-A0FC-643F-B83A-3F2FC03322FB}"/>
              </a:ext>
            </a:extLst>
          </p:cNvPr>
          <p:cNvGraphicFramePr>
            <a:graphicFrameLocks noGrp="1"/>
          </p:cNvGraphicFramePr>
          <p:nvPr>
            <p:extLst>
              <p:ext uri="{D42A27DB-BD31-4B8C-83A1-F6EECF244321}">
                <p14:modId xmlns:p14="http://schemas.microsoft.com/office/powerpoint/2010/main" val="3314535263"/>
              </p:ext>
            </p:extLst>
          </p:nvPr>
        </p:nvGraphicFramePr>
        <p:xfrm>
          <a:off x="10031413" y="3596882"/>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267" name="文本框 266">
            <a:extLst>
              <a:ext uri="{FF2B5EF4-FFF2-40B4-BE49-F238E27FC236}">
                <a16:creationId xmlns:a16="http://schemas.microsoft.com/office/drawing/2014/main" id="{86A5E091-AFA4-6D8F-2102-38AC739EB18F}"/>
              </a:ext>
            </a:extLst>
          </p:cNvPr>
          <p:cNvSpPr txBox="1"/>
          <p:nvPr/>
        </p:nvSpPr>
        <p:spPr>
          <a:xfrm>
            <a:off x="9296152" y="3568994"/>
            <a:ext cx="728341" cy="307777"/>
          </a:xfrm>
          <a:prstGeom prst="rect">
            <a:avLst/>
          </a:prstGeom>
          <a:noFill/>
        </p:spPr>
        <p:txBody>
          <a:bodyPr wrap="square">
            <a:spAutoFit/>
          </a:bodyPr>
          <a:lstStyle/>
          <a:p>
            <a:pPr algn="r"/>
            <a:r>
              <a:rPr kumimoji="0" lang="zh-CN" altLang="en-US"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lang="en-US" altLang="zh-CN" sz="1400" b="1" dirty="0">
                <a:solidFill>
                  <a:srgbClr val="333333"/>
                </a:solidFill>
                <a:latin typeface="Noto Sans SC" panose="020B0200000000000000" pitchFamily="34" charset="-122"/>
                <a:ea typeface="Noto Sans SC" panose="020B0200000000000000" pitchFamily="34" charset="-122"/>
              </a:rPr>
              <a:t>B</a:t>
            </a:r>
            <a:endParaRPr lang="zh-CN" altLang="en-US" sz="1400" dirty="0"/>
          </a:p>
        </p:txBody>
      </p:sp>
      <p:sp>
        <p:nvSpPr>
          <p:cNvPr id="276" name="文本框 275">
            <a:extLst>
              <a:ext uri="{FF2B5EF4-FFF2-40B4-BE49-F238E27FC236}">
                <a16:creationId xmlns:a16="http://schemas.microsoft.com/office/drawing/2014/main" id="{DFE08A17-561C-1CA2-6537-4D6457849431}"/>
              </a:ext>
            </a:extLst>
          </p:cNvPr>
          <p:cNvSpPr txBox="1"/>
          <p:nvPr/>
        </p:nvSpPr>
        <p:spPr>
          <a:xfrm>
            <a:off x="9122638" y="3967810"/>
            <a:ext cx="2626848" cy="307777"/>
          </a:xfrm>
          <a:prstGeom prst="rect">
            <a:avLst/>
          </a:prstGeom>
          <a:noFill/>
        </p:spPr>
        <p:txBody>
          <a:bodyPr wrap="square">
            <a:spAutoFit/>
          </a:bodyPr>
          <a:lstStyle/>
          <a:p>
            <a:pPr marL="144000" indent="-144000">
              <a:buFont typeface="Arial" panose="020B0604020202020204" pitchFamily="34" charset="0"/>
              <a:buChar char="•"/>
            </a:pPr>
            <a:r>
              <a:rPr lang="zh-CN" altLang="en-US" sz="1400" dirty="0">
                <a:latin typeface="Noto Sans SC"/>
                <a:ea typeface="Noto Sans SC"/>
                <a:sym typeface="Noto Sans SC"/>
              </a:rPr>
              <a:t>构造一个掩码</a:t>
            </a:r>
            <a:r>
              <a:rPr lang="zh-CN" altLang="en-US" sz="1400" dirty="0">
                <a:latin typeface="Noto Sans SC"/>
                <a:ea typeface="Noto Sans SC"/>
              </a:rPr>
              <a:t>定位相关参数</a:t>
            </a:r>
            <a:endParaRPr lang="en-US" altLang="zh-CN" sz="1400" dirty="0">
              <a:latin typeface="Noto Sans SC"/>
              <a:ea typeface="Noto Sans SC"/>
            </a:endParaRPr>
          </a:p>
        </p:txBody>
      </p:sp>
      <mc:AlternateContent xmlns:mc="http://schemas.openxmlformats.org/markup-compatibility/2006" xmlns:a14="http://schemas.microsoft.com/office/drawing/2010/main">
        <mc:Choice Requires="a14">
          <p:sp>
            <p:nvSpPr>
              <p:cNvPr id="277" name="文本框 276">
                <a:extLst>
                  <a:ext uri="{FF2B5EF4-FFF2-40B4-BE49-F238E27FC236}">
                    <a16:creationId xmlns:a16="http://schemas.microsoft.com/office/drawing/2014/main" id="{EC2D6A18-E905-74D9-6AE3-965A99A05826}"/>
                  </a:ext>
                </a:extLst>
              </p:cNvPr>
              <p:cNvSpPr txBox="1"/>
              <p:nvPr/>
            </p:nvSpPr>
            <p:spPr>
              <a:xfrm>
                <a:off x="9221237" y="4261385"/>
                <a:ext cx="2370964" cy="3399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𝑚</m:t>
                          </m:r>
                        </m:e>
                        <m:sub>
                          <m:r>
                            <a:rPr lang="en-US" altLang="zh-CN" sz="1400" b="0" i="1" smtClean="0">
                              <a:latin typeface="Cambria Math" panose="02040503050406030204" pitchFamily="18" charset="0"/>
                              <a:ea typeface="Noto Sans SC"/>
                            </a:rPr>
                            <m:t>𝑖</m:t>
                          </m:r>
                        </m:sub>
                      </m:sSub>
                      <m:r>
                        <a:rPr lang="en-US" altLang="zh-CN" sz="1400" b="0" i="1" smtClean="0">
                          <a:latin typeface="Cambria Math" panose="02040503050406030204" pitchFamily="18" charset="0"/>
                          <a:ea typeface="Noto Sans SC"/>
                        </a:rPr>
                        <m:t>=1</m:t>
                      </m:r>
                      <m:d>
                        <m:dPr>
                          <m:begChr m:val="{"/>
                          <m:endChr m:val="}"/>
                          <m:ctrlPr>
                            <a:rPr lang="en-US" altLang="zh-CN" sz="1400" b="0" i="1" smtClean="0">
                              <a:latin typeface="Cambria Math" panose="02040503050406030204" pitchFamily="18" charset="0"/>
                              <a:ea typeface="Noto Sans SC"/>
                            </a:rPr>
                          </m:ctrlPr>
                        </m:dPr>
                        <m:e>
                          <m:d>
                            <m:dPr>
                              <m:begChr m:val="|"/>
                              <m:endChr m:val="|"/>
                              <m:ctrlPr>
                                <a:rPr lang="en-US" altLang="zh-CN" sz="1400" b="0" i="1" smtClean="0">
                                  <a:latin typeface="Cambria Math" panose="02040503050406030204" pitchFamily="18" charset="0"/>
                                  <a:ea typeface="Noto Sans SC"/>
                                </a:rPr>
                              </m:ctrlPr>
                            </m:dPr>
                            <m:e>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𝑝</m:t>
                                  </m:r>
                                </m:e>
                                <m:sub>
                                  <m:r>
                                    <a:rPr lang="en-US" altLang="zh-CN" sz="1400" b="0" i="1" smtClean="0">
                                      <a:latin typeface="Cambria Math" panose="02040503050406030204" pitchFamily="18" charset="0"/>
                                      <a:ea typeface="Noto Sans SC"/>
                                    </a:rPr>
                                    <m:t>𝑖</m:t>
                                  </m:r>
                                </m:sub>
                              </m:sSub>
                            </m:e>
                          </m:d>
                          <m:r>
                            <a:rPr lang="en-US" altLang="zh-CN" sz="1400" b="0" i="1" smtClean="0">
                              <a:latin typeface="Cambria Math" panose="02040503050406030204" pitchFamily="18" charset="0"/>
                              <a:ea typeface="Noto Sans SC"/>
                            </a:rPr>
                            <m:t>≥|</m:t>
                          </m:r>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𝑝</m:t>
                              </m:r>
                            </m:e>
                            <m:sub>
                              <m:r>
                                <a:rPr lang="en-US" altLang="zh-CN" sz="1400" b="0" i="1" smtClean="0">
                                  <a:latin typeface="Cambria Math" panose="02040503050406030204" pitchFamily="18" charset="0"/>
                                  <a:ea typeface="Noto Sans SC"/>
                                </a:rPr>
                                <m:t>𝑓𝑢𝑠𝑖𝑜𝑛</m:t>
                              </m:r>
                            </m:sub>
                          </m:sSub>
                          <m:r>
                            <a:rPr lang="en-US" altLang="zh-CN" sz="1400" b="0" i="1" smtClean="0">
                              <a:latin typeface="Cambria Math" panose="02040503050406030204" pitchFamily="18" charset="0"/>
                              <a:ea typeface="Noto Sans SC"/>
                            </a:rPr>
                            <m:t>−</m:t>
                          </m:r>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𝑝</m:t>
                              </m:r>
                            </m:e>
                            <m:sub>
                              <m:r>
                                <a:rPr lang="en-US" altLang="zh-CN" sz="1400" b="0" i="1" smtClean="0">
                                  <a:latin typeface="Cambria Math" panose="02040503050406030204" pitchFamily="18" charset="0"/>
                                  <a:ea typeface="Noto Sans SC"/>
                                </a:rPr>
                                <m:t>𝑖</m:t>
                              </m:r>
                            </m:sub>
                          </m:sSub>
                          <m:r>
                            <a:rPr lang="en-US" altLang="zh-CN" sz="1400" b="0" i="1" smtClean="0">
                              <a:latin typeface="Cambria Math" panose="02040503050406030204" pitchFamily="18" charset="0"/>
                              <a:ea typeface="Noto Sans SC"/>
                            </a:rPr>
                            <m:t>|</m:t>
                          </m:r>
                        </m:e>
                      </m:d>
                    </m:oMath>
                  </m:oMathPara>
                </a14:m>
                <a:endParaRPr lang="en-US" altLang="zh-CN" sz="1400" dirty="0">
                  <a:latin typeface="Noto Sans SC"/>
                  <a:ea typeface="Noto Sans SC"/>
                </a:endParaRPr>
              </a:p>
            </p:txBody>
          </p:sp>
        </mc:Choice>
        <mc:Fallback xmlns="">
          <p:sp>
            <p:nvSpPr>
              <p:cNvPr id="277" name="文本框 276">
                <a:extLst>
                  <a:ext uri="{FF2B5EF4-FFF2-40B4-BE49-F238E27FC236}">
                    <a16:creationId xmlns:a16="http://schemas.microsoft.com/office/drawing/2014/main" id="{EC2D6A18-E905-74D9-6AE3-965A99A05826}"/>
                  </a:ext>
                </a:extLst>
              </p:cNvPr>
              <p:cNvSpPr txBox="1">
                <a:spLocks noRot="1" noChangeAspect="1" noMove="1" noResize="1" noEditPoints="1" noAdjustHandles="1" noChangeArrowheads="1" noChangeShapeType="1" noTextEdit="1"/>
              </p:cNvSpPr>
              <p:nvPr/>
            </p:nvSpPr>
            <p:spPr>
              <a:xfrm>
                <a:off x="9221237" y="4261385"/>
                <a:ext cx="2370964" cy="339901"/>
              </a:xfrm>
              <a:prstGeom prst="rect">
                <a:avLst/>
              </a:prstGeom>
              <a:blipFill>
                <a:blip r:embed="rId11"/>
                <a:stretch>
                  <a:fillRect r="-2057" b="-12500"/>
                </a:stretch>
              </a:blipFill>
            </p:spPr>
            <p:txBody>
              <a:bodyPr/>
              <a:lstStyle/>
              <a:p>
                <a:r>
                  <a:rPr lang="zh-CN" altLang="en-US">
                    <a:noFill/>
                  </a:rPr>
                  <a:t> </a:t>
                </a:r>
              </a:p>
            </p:txBody>
          </p:sp>
        </mc:Fallback>
      </mc:AlternateContent>
      <p:sp>
        <p:nvSpPr>
          <p:cNvPr id="278" name="文本框 277">
            <a:extLst>
              <a:ext uri="{FF2B5EF4-FFF2-40B4-BE49-F238E27FC236}">
                <a16:creationId xmlns:a16="http://schemas.microsoft.com/office/drawing/2014/main" id="{82973AAA-81AF-024E-1AAF-BEF3529898DE}"/>
              </a:ext>
            </a:extLst>
          </p:cNvPr>
          <p:cNvSpPr txBox="1"/>
          <p:nvPr/>
        </p:nvSpPr>
        <p:spPr>
          <a:xfrm>
            <a:off x="9122638" y="4618247"/>
            <a:ext cx="2518958" cy="461665"/>
          </a:xfrm>
          <a:prstGeom prst="rect">
            <a:avLst/>
          </a:prstGeom>
          <a:noFill/>
        </p:spPr>
        <p:txBody>
          <a:bodyPr wrap="square">
            <a:spAutoFit/>
          </a:bodyPr>
          <a:lstStyle/>
          <a:p>
            <a:r>
              <a:rPr lang="zh-CN" altLang="en-US" sz="1200" dirty="0">
                <a:latin typeface="Noto Sans SC"/>
                <a:ea typeface="Noto Sans SC"/>
                <a:sym typeface="Noto Sans SC"/>
              </a:rPr>
              <a:t>融合参数与任务参数</a:t>
            </a:r>
            <a:r>
              <a:rPr lang="zh-CN" altLang="en-US" sz="1200" b="1" dirty="0">
                <a:solidFill>
                  <a:srgbClr val="FF0000"/>
                </a:solidFill>
                <a:latin typeface="Noto Sans SC"/>
                <a:ea typeface="Noto Sans SC"/>
                <a:sym typeface="Noto Sans SC"/>
              </a:rPr>
              <a:t>差距在一定范围</a:t>
            </a:r>
            <a:r>
              <a:rPr lang="zh-CN" altLang="en-US" sz="1200" dirty="0">
                <a:latin typeface="Noto Sans SC"/>
                <a:ea typeface="Noto Sans SC"/>
                <a:sym typeface="Noto Sans SC"/>
              </a:rPr>
              <a:t>，认为是</a:t>
            </a:r>
            <a:r>
              <a:rPr lang="zh-CN" altLang="en-US" sz="1200" b="1" dirty="0">
                <a:solidFill>
                  <a:srgbClr val="FF0000"/>
                </a:solidFill>
                <a:latin typeface="Noto Sans SC"/>
                <a:ea typeface="Noto Sans SC"/>
                <a:sym typeface="Noto Sans SC"/>
              </a:rPr>
              <a:t>相关的</a:t>
            </a:r>
            <a:endParaRPr lang="en-US" altLang="zh-CN" sz="1200" b="1" dirty="0">
              <a:solidFill>
                <a:srgbClr val="FF0000"/>
              </a:solidFill>
              <a:latin typeface="Noto Sans SC"/>
              <a:ea typeface="Noto Sans SC"/>
            </a:endParaRPr>
          </a:p>
        </p:txBody>
      </p:sp>
      <p:sp>
        <p:nvSpPr>
          <p:cNvPr id="279" name="文本框 278">
            <a:extLst>
              <a:ext uri="{FF2B5EF4-FFF2-40B4-BE49-F238E27FC236}">
                <a16:creationId xmlns:a16="http://schemas.microsoft.com/office/drawing/2014/main" id="{0D2B7FCA-DD2E-79EB-4076-0E38081ED341}"/>
              </a:ext>
            </a:extLst>
          </p:cNvPr>
          <p:cNvSpPr txBox="1"/>
          <p:nvPr/>
        </p:nvSpPr>
        <p:spPr>
          <a:xfrm>
            <a:off x="9103808" y="5096102"/>
            <a:ext cx="1316196" cy="307777"/>
          </a:xfrm>
          <a:prstGeom prst="rect">
            <a:avLst/>
          </a:prstGeom>
          <a:noFill/>
        </p:spPr>
        <p:txBody>
          <a:bodyPr wrap="square">
            <a:spAutoFit/>
          </a:bodyPr>
          <a:lstStyle/>
          <a:p>
            <a:pPr marL="144000" indent="-144000">
              <a:buFont typeface="Arial" panose="020B0604020202020204" pitchFamily="34" charset="0"/>
              <a:buChar char="•"/>
            </a:pPr>
            <a:r>
              <a:rPr lang="zh-CN" altLang="en-US" sz="1400" dirty="0">
                <a:latin typeface="Noto Sans SC"/>
                <a:ea typeface="Noto Sans SC"/>
                <a:sym typeface="Noto Sans SC"/>
              </a:rPr>
              <a:t>推理</a:t>
            </a:r>
            <a:endParaRPr lang="en-US" altLang="zh-CN" sz="1400" dirty="0">
              <a:latin typeface="Noto Sans SC"/>
              <a:ea typeface="Noto Sans SC"/>
            </a:endParaRPr>
          </a:p>
        </p:txBody>
      </p:sp>
      <mc:AlternateContent xmlns:mc="http://schemas.openxmlformats.org/markup-compatibility/2006" xmlns:a14="http://schemas.microsoft.com/office/drawing/2010/main">
        <mc:Choice Requires="a14">
          <p:sp>
            <p:nvSpPr>
              <p:cNvPr id="280" name="文本框 279">
                <a:extLst>
                  <a:ext uri="{FF2B5EF4-FFF2-40B4-BE49-F238E27FC236}">
                    <a16:creationId xmlns:a16="http://schemas.microsoft.com/office/drawing/2014/main" id="{166E68B5-DA52-A9C7-CAC2-3210AD16E66D}"/>
                  </a:ext>
                </a:extLst>
              </p:cNvPr>
              <p:cNvSpPr txBox="1"/>
              <p:nvPr/>
            </p:nvSpPr>
            <p:spPr>
              <a:xfrm>
                <a:off x="9538154" y="5389677"/>
                <a:ext cx="1737130" cy="3250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1400" b="0" i="1" smtClean="0">
                              <a:latin typeface="Cambria Math" panose="02040503050406030204" pitchFamily="18" charset="0"/>
                              <a:ea typeface="Noto Sans SC"/>
                            </a:rPr>
                          </m:ctrlPr>
                        </m:accPr>
                        <m:e>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𝑝</m:t>
                              </m:r>
                            </m:e>
                            <m:sub>
                              <m:r>
                                <a:rPr lang="en-US" altLang="zh-CN" sz="1400" b="0" i="1" smtClean="0">
                                  <a:latin typeface="Cambria Math" panose="02040503050406030204" pitchFamily="18" charset="0"/>
                                  <a:ea typeface="Noto Sans SC"/>
                                </a:rPr>
                                <m:t>𝑖</m:t>
                              </m:r>
                            </m:sub>
                          </m:sSub>
                        </m:e>
                      </m:acc>
                      <m:r>
                        <a:rPr lang="en-US" altLang="zh-CN" sz="1400" b="0" i="1" smtClean="0">
                          <a:latin typeface="Cambria Math" panose="02040503050406030204" pitchFamily="18" charset="0"/>
                          <a:ea typeface="Noto Sans SC"/>
                        </a:rPr>
                        <m:t>=</m:t>
                      </m:r>
                      <m:sSub>
                        <m:sSubPr>
                          <m:ctrlPr>
                            <a:rPr lang="en-US" altLang="zh-CN" sz="1400" b="0" i="1" smtClean="0">
                              <a:latin typeface="Cambria Math" panose="02040503050406030204" pitchFamily="18" charset="0"/>
                              <a:ea typeface="Noto Sans SC"/>
                            </a:rPr>
                          </m:ctrlPr>
                        </m:sSubPr>
                        <m:e>
                          <m:r>
                            <a:rPr lang="en-US" altLang="zh-CN" sz="1400" b="0" i="1" smtClean="0">
                              <a:latin typeface="Cambria Math" panose="02040503050406030204" pitchFamily="18" charset="0"/>
                              <a:ea typeface="Noto Sans SC"/>
                            </a:rPr>
                            <m:t>𝑚</m:t>
                          </m:r>
                        </m:e>
                        <m:sub>
                          <m:r>
                            <a:rPr lang="en-US" altLang="zh-CN" sz="1400" b="0" i="1" smtClean="0">
                              <a:latin typeface="Cambria Math" panose="02040503050406030204" pitchFamily="18" charset="0"/>
                              <a:ea typeface="Noto Sans SC"/>
                            </a:rPr>
                            <m:t>𝑖</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𝑝</m:t>
                          </m:r>
                        </m:e>
                        <m:sub>
                          <m:r>
                            <a:rPr lang="en-US" altLang="zh-CN" sz="1400" b="0" i="1" smtClean="0">
                              <a:latin typeface="Cambria Math" panose="02040503050406030204" pitchFamily="18" charset="0"/>
                              <a:ea typeface="Cambria Math" panose="02040503050406030204" pitchFamily="18" charset="0"/>
                            </a:rPr>
                            <m:t>𝑓𝑢𝑠𝑖𝑜𝑛</m:t>
                          </m:r>
                        </m:sub>
                      </m:sSub>
                    </m:oMath>
                  </m:oMathPara>
                </a14:m>
                <a:endParaRPr lang="en-US" altLang="zh-CN" sz="1400" dirty="0">
                  <a:latin typeface="Noto Sans SC"/>
                  <a:ea typeface="Noto Sans SC"/>
                </a:endParaRPr>
              </a:p>
            </p:txBody>
          </p:sp>
        </mc:Choice>
        <mc:Fallback xmlns="">
          <p:sp>
            <p:nvSpPr>
              <p:cNvPr id="280" name="文本框 279">
                <a:extLst>
                  <a:ext uri="{FF2B5EF4-FFF2-40B4-BE49-F238E27FC236}">
                    <a16:creationId xmlns:a16="http://schemas.microsoft.com/office/drawing/2014/main" id="{166E68B5-DA52-A9C7-CAC2-3210AD16E66D}"/>
                  </a:ext>
                </a:extLst>
              </p:cNvPr>
              <p:cNvSpPr txBox="1">
                <a:spLocks noRot="1" noChangeAspect="1" noMove="1" noResize="1" noEditPoints="1" noAdjustHandles="1" noChangeArrowheads="1" noChangeShapeType="1" noTextEdit="1"/>
              </p:cNvSpPr>
              <p:nvPr/>
            </p:nvSpPr>
            <p:spPr>
              <a:xfrm>
                <a:off x="9538154" y="5389677"/>
                <a:ext cx="1737130" cy="325025"/>
              </a:xfrm>
              <a:prstGeom prst="rect">
                <a:avLst/>
              </a:prstGeom>
              <a:blipFill>
                <a:blip r:embed="rId12"/>
                <a:stretch>
                  <a:fillRect t="-3774" b="-150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0787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A9A3-B7D5-D66C-DF3D-958A1BED726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A57C403-44B7-8C41-D374-302370F20A5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D6138B-3BA3-B2FA-311E-8351BE8EF1F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190DEEB-27EF-0758-FD8D-9159EDC2955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33E8D68-F8E3-0DD6-4417-FD754B353F30}"/>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56CDA99D-4EC5-CB67-07E1-9E6AC16094B5}"/>
              </a:ext>
            </a:extLst>
          </p:cNvPr>
          <p:cNvSpPr>
            <a:spLocks noChangeArrowheads="1"/>
          </p:cNvSpPr>
          <p:nvPr/>
        </p:nvSpPr>
        <p:spPr bwMode="auto">
          <a:xfrm>
            <a:off x="321564" y="843935"/>
            <a:ext cx="41386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100" b="1" dirty="0">
                <a:solidFill>
                  <a:srgbClr val="333333"/>
                </a:solidFill>
                <a:latin typeface="Noto Sans SC" panose="020B0200000000000000" pitchFamily="34" charset="-122"/>
                <a:ea typeface="Noto Sans SC" panose="020B0200000000000000" pitchFamily="34" charset="-122"/>
              </a:rPr>
              <a:t>数据集、评价指标以及研究问题</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AutoShape 10">
            <a:extLst>
              <a:ext uri="{FF2B5EF4-FFF2-40B4-BE49-F238E27FC236}">
                <a16:creationId xmlns:a16="http://schemas.microsoft.com/office/drawing/2014/main" id="{039FB235-D6C4-012E-6DC3-B071ADF91B7F}"/>
              </a:ext>
            </a:extLst>
          </p:cNvPr>
          <p:cNvSpPr/>
          <p:nvPr/>
        </p:nvSpPr>
        <p:spPr>
          <a:xfrm>
            <a:off x="432689" y="1971747"/>
            <a:ext cx="3556000" cy="3768024"/>
          </a:xfrm>
          <a:prstGeom prst="roundRect">
            <a:avLst>
              <a:gd name="adj" fmla="val 2857"/>
            </a:avLst>
          </a:prstGeom>
          <a:solidFill>
            <a:srgbClr val="F9FAFB">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9" name="AutoShape 11">
            <a:extLst>
              <a:ext uri="{FF2B5EF4-FFF2-40B4-BE49-F238E27FC236}">
                <a16:creationId xmlns:a16="http://schemas.microsoft.com/office/drawing/2014/main" id="{F689374F-5CD3-EBFC-FA88-1F3ADA03BDB5}"/>
              </a:ext>
            </a:extLst>
          </p:cNvPr>
          <p:cNvSpPr/>
          <p:nvPr/>
        </p:nvSpPr>
        <p:spPr>
          <a:xfrm>
            <a:off x="432689" y="1971747"/>
            <a:ext cx="3556000" cy="698500"/>
          </a:xfrm>
          <a:prstGeom prst="roundRect">
            <a:avLst>
              <a:gd name="adj" fmla="val 14545"/>
            </a:avLst>
          </a:prstGeom>
          <a:solidFill>
            <a:srgbClr val="3B82F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1" name="AutoShape 12">
            <a:extLst>
              <a:ext uri="{FF2B5EF4-FFF2-40B4-BE49-F238E27FC236}">
                <a16:creationId xmlns:a16="http://schemas.microsoft.com/office/drawing/2014/main" id="{9B272F88-52FC-7903-0E30-353BD9055C16}"/>
              </a:ext>
            </a:extLst>
          </p:cNvPr>
          <p:cNvSpPr/>
          <p:nvPr/>
        </p:nvSpPr>
        <p:spPr>
          <a:xfrm>
            <a:off x="559689" y="2121451"/>
            <a:ext cx="3302000" cy="444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1900" b="1" i="0" u="none" strike="noStrike" dirty="0">
                <a:solidFill>
                  <a:srgbClr val="FFFFFF"/>
                </a:solidFill>
                <a:latin typeface="Noto Sans SC"/>
                <a:ea typeface="Noto Sans SC"/>
                <a:cs typeface="Noto Sans SC"/>
                <a:sym typeface="Noto Sans SC"/>
              </a:rPr>
              <a:t> </a:t>
            </a:r>
            <a:r>
              <a:rPr lang="en-US" sz="1900" b="1" i="0" u="none" strike="noStrike" dirty="0" err="1">
                <a:solidFill>
                  <a:srgbClr val="FFFFFF"/>
                </a:solidFill>
                <a:latin typeface="Noto Sans SC"/>
                <a:ea typeface="Noto Sans SC"/>
                <a:cs typeface="Noto Sans SC"/>
                <a:sym typeface="Noto Sans SC"/>
              </a:rPr>
              <a:t>评价指标</a:t>
            </a:r>
            <a:r>
              <a:rPr lang="en-US" sz="1900" b="1" i="0" u="none" strike="noStrike" dirty="0">
                <a:solidFill>
                  <a:srgbClr val="FFFFFF"/>
                </a:solidFill>
                <a:latin typeface="Noto Sans SC"/>
                <a:ea typeface="Noto Sans SC"/>
                <a:cs typeface="Noto Sans SC"/>
                <a:sym typeface="Noto Sans SC"/>
              </a:rPr>
              <a:t> </a:t>
            </a:r>
            <a:endParaRPr lang="en-US" sz="1100" dirty="0"/>
          </a:p>
        </p:txBody>
      </p:sp>
      <mc:AlternateContent xmlns:mc="http://schemas.openxmlformats.org/markup-compatibility/2006" xmlns:a14="http://schemas.microsoft.com/office/drawing/2010/main">
        <mc:Choice Requires="a14">
          <p:sp>
            <p:nvSpPr>
              <p:cNvPr id="12" name="AutoShape 13">
                <a:extLst>
                  <a:ext uri="{FF2B5EF4-FFF2-40B4-BE49-F238E27FC236}">
                    <a16:creationId xmlns:a16="http://schemas.microsoft.com/office/drawing/2014/main" id="{A5432954-A9ED-7326-7E9A-43C64AAFA383}"/>
                  </a:ext>
                </a:extLst>
              </p:cNvPr>
              <p:cNvSpPr/>
              <p:nvPr/>
            </p:nvSpPr>
            <p:spPr>
              <a:xfrm>
                <a:off x="543814" y="2670247"/>
                <a:ext cx="3334766" cy="286695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08000" indent="-144000" algn="l">
                  <a:lnSpc>
                    <a:spcPct val="108333"/>
                  </a:lnSpc>
                  <a:spcBef>
                    <a:spcPts val="600"/>
                  </a:spcBef>
                  <a:buFont typeface="Arial" panose="020B0604020202020204" pitchFamily="34" charset="0"/>
                  <a:buChar char="•"/>
                  <a:defRPr/>
                </a:pPr>
                <a:r>
                  <a:rPr lang="zh-CN" altLang="en-US" b="1" i="0" u="none" strike="noStrike" dirty="0">
                    <a:solidFill>
                      <a:schemeClr val="tx1"/>
                    </a:solidFill>
                    <a:latin typeface="Noto Sans SC"/>
                    <a:ea typeface="Noto Sans SC"/>
                    <a:cs typeface="Noto Sans SC"/>
                    <a:sym typeface="Noto Sans SC"/>
                  </a:rPr>
                  <a:t>代码搜索</a:t>
                </a:r>
                <a:r>
                  <a:rPr lang="en-US" b="1" i="0" u="none" strike="noStrike" dirty="0">
                    <a:solidFill>
                      <a:schemeClr val="tx1"/>
                    </a:solidFill>
                    <a:latin typeface="Noto Sans SC"/>
                    <a:ea typeface="Noto Sans SC"/>
                    <a:cs typeface="Noto Sans SC"/>
                    <a:sym typeface="Noto Sans SC"/>
                  </a:rPr>
                  <a:t>:</a:t>
                </a:r>
                <a:r>
                  <a:rPr lang="en-US" b="0" i="0" u="none" strike="noStrike" dirty="0">
                    <a:solidFill>
                      <a:schemeClr val="tx1"/>
                    </a:solidFill>
                    <a:latin typeface="Noto Sans SC"/>
                    <a:ea typeface="Noto Sans SC"/>
                    <a:cs typeface="Noto Sans SC"/>
                    <a:sym typeface="Noto Sans SC"/>
                  </a:rPr>
                  <a:t> MRR</a:t>
                </a:r>
                <a:endParaRPr lang="en-US" sz="1200" dirty="0">
                  <a:solidFill>
                    <a:schemeClr val="tx1"/>
                  </a:solidFill>
                </a:endParaRPr>
              </a:p>
              <a:p>
                <a:pPr marL="108000" indent="-144000" algn="l">
                  <a:lnSpc>
                    <a:spcPct val="108333"/>
                  </a:lnSpc>
                  <a:spcBef>
                    <a:spcPts val="600"/>
                  </a:spcBef>
                  <a:buFont typeface="Arial" panose="020B0604020202020204" pitchFamily="34" charset="0"/>
                  <a:buChar char="•"/>
                </a:pPr>
                <a:r>
                  <a:rPr lang="zh-CN" altLang="en-US" b="1" dirty="0">
                    <a:solidFill>
                      <a:schemeClr val="tx1"/>
                    </a:solidFill>
                    <a:latin typeface="Noto Sans SC"/>
                    <a:ea typeface="Noto Sans SC"/>
                    <a:cs typeface="Noto Sans SC"/>
                    <a:sym typeface="Noto Sans SC"/>
                  </a:rPr>
                  <a:t>漏洞检测、克隆检测</a:t>
                </a:r>
                <a:r>
                  <a:rPr lang="en-US" b="1" i="0" u="none" strike="noStrike" dirty="0">
                    <a:solidFill>
                      <a:schemeClr val="tx1"/>
                    </a:solidFill>
                    <a:latin typeface="Noto Sans SC"/>
                    <a:ea typeface="Noto Sans SC"/>
                    <a:cs typeface="Noto Sans SC"/>
                    <a:sym typeface="Noto Sans SC"/>
                  </a:rPr>
                  <a:t>: </a:t>
                </a:r>
                <a:r>
                  <a:rPr lang="en-US" b="0" i="0" u="none" strike="noStrike" dirty="0">
                    <a:solidFill>
                      <a:schemeClr val="tx1"/>
                    </a:solidFill>
                    <a:latin typeface="Noto Sans SC"/>
                    <a:ea typeface="Noto Sans SC"/>
                    <a:cs typeface="Noto Sans SC"/>
                    <a:sym typeface="Noto Sans SC"/>
                  </a:rPr>
                  <a:t>Accuracy, Precision, Recall, F1</a:t>
                </a:r>
              </a:p>
              <a:p>
                <a:pPr marL="108000" indent="-144000" algn="l">
                  <a:lnSpc>
                    <a:spcPct val="108333"/>
                  </a:lnSpc>
                  <a:spcBef>
                    <a:spcPts val="600"/>
                  </a:spcBef>
                  <a:buFont typeface="Arial" panose="020B0604020202020204" pitchFamily="34" charset="0"/>
                  <a:buChar char="•"/>
                </a:pPr>
                <a:r>
                  <a:rPr lang="zh-CN" altLang="en-US" b="1" i="0" u="none" strike="noStrike" dirty="0">
                    <a:solidFill>
                      <a:schemeClr val="tx1"/>
                    </a:solidFill>
                    <a:latin typeface="Noto Sans SC"/>
                    <a:ea typeface="Noto Sans SC"/>
                    <a:cs typeface="Noto Sans SC"/>
                    <a:sym typeface="Noto Sans SC"/>
                  </a:rPr>
                  <a:t>摘要生成</a:t>
                </a:r>
                <a:r>
                  <a:rPr lang="en-US" b="1" i="0" u="none" strike="noStrike" dirty="0">
                    <a:solidFill>
                      <a:schemeClr val="tx1"/>
                    </a:solidFill>
                    <a:latin typeface="Noto Sans SC"/>
                    <a:ea typeface="Noto Sans SC"/>
                    <a:cs typeface="Noto Sans SC"/>
                    <a:sym typeface="Noto Sans SC"/>
                  </a:rPr>
                  <a:t>: </a:t>
                </a:r>
                <a:r>
                  <a:rPr lang="en-US" b="0" i="0" u="none" strike="noStrike" dirty="0">
                    <a:solidFill>
                      <a:schemeClr val="tx1"/>
                    </a:solidFill>
                    <a:latin typeface="Noto Sans SC"/>
                    <a:ea typeface="Noto Sans SC"/>
                    <a:cs typeface="Noto Sans SC"/>
                    <a:sym typeface="Noto Sans SC"/>
                  </a:rPr>
                  <a:t>BLEU-4, </a:t>
                </a:r>
                <a:r>
                  <a:rPr lang="en-US" b="0" i="0" u="none" strike="noStrike" dirty="0" err="1">
                    <a:solidFill>
                      <a:schemeClr val="tx1"/>
                    </a:solidFill>
                    <a:latin typeface="Noto Sans SC"/>
                    <a:ea typeface="Noto Sans SC"/>
                    <a:cs typeface="Noto Sans SC"/>
                    <a:sym typeface="Noto Sans SC"/>
                  </a:rPr>
                  <a:t>BERTScore</a:t>
                </a:r>
                <a:endParaRPr lang="en-US" b="0" i="0" u="none" strike="noStrike" dirty="0">
                  <a:solidFill>
                    <a:schemeClr val="tx1"/>
                  </a:solidFill>
                  <a:latin typeface="Noto Sans SC"/>
                  <a:ea typeface="Noto Sans SC"/>
                  <a:cs typeface="Noto Sans SC"/>
                  <a:sym typeface="Noto Sans SC"/>
                </a:endParaRPr>
              </a:p>
              <a:p>
                <a:pPr marL="108000" indent="-144000" algn="l">
                  <a:lnSpc>
                    <a:spcPct val="108333"/>
                  </a:lnSpc>
                  <a:spcBef>
                    <a:spcPts val="600"/>
                  </a:spcBef>
                  <a:buFont typeface="Arial" panose="020B0604020202020204" pitchFamily="34" charset="0"/>
                  <a:buChar char="•"/>
                </a:pPr>
                <a:r>
                  <a:rPr lang="zh-CN" altLang="en-US" b="1" i="0" u="none" strike="noStrike" dirty="0">
                    <a:solidFill>
                      <a:schemeClr val="tx1"/>
                    </a:solidFill>
                    <a:latin typeface="Noto Sans SC"/>
                    <a:ea typeface="Noto Sans SC"/>
                    <a:cs typeface="Noto Sans SC"/>
                    <a:sym typeface="Noto Sans SC"/>
                  </a:rPr>
                  <a:t>代码生成、代码修复</a:t>
                </a:r>
                <a:r>
                  <a:rPr lang="en-US" b="1" i="0" u="none" strike="noStrike" dirty="0">
                    <a:solidFill>
                      <a:schemeClr val="tx1"/>
                    </a:solidFill>
                    <a:latin typeface="Noto Sans SC"/>
                    <a:ea typeface="Noto Sans SC"/>
                    <a:cs typeface="Noto Sans SC"/>
                    <a:sym typeface="Noto Sans SC"/>
                  </a:rPr>
                  <a:t>: </a:t>
                </a:r>
                <a:r>
                  <a:rPr lang="en-US" b="0" i="0" u="none" strike="noStrike" dirty="0">
                    <a:solidFill>
                      <a:schemeClr val="tx1"/>
                    </a:solidFill>
                    <a:latin typeface="Noto Sans SC"/>
                    <a:ea typeface="Noto Sans SC"/>
                    <a:cs typeface="Noto Sans SC"/>
                    <a:sym typeface="Noto Sans SC"/>
                  </a:rPr>
                  <a:t>pass@</a:t>
                </a:r>
                <a:r>
                  <a:rPr lang="en-US" dirty="0">
                    <a:solidFill>
                      <a:schemeClr val="tx1"/>
                    </a:solidFill>
                    <a:latin typeface="Noto Sans SC"/>
                    <a:ea typeface="Noto Sans SC"/>
                    <a:cs typeface="Noto Sans SC"/>
                    <a:sym typeface="Noto Sans SC"/>
                  </a:rPr>
                  <a:t>5</a:t>
                </a:r>
                <a:endParaRPr lang="en-US" b="0" i="0" u="none" strike="noStrike" dirty="0">
                  <a:solidFill>
                    <a:schemeClr val="tx1"/>
                  </a:solidFill>
                  <a:latin typeface="Noto Sans SC"/>
                  <a:ea typeface="Noto Sans SC"/>
                  <a:cs typeface="Noto Sans SC"/>
                  <a:sym typeface="Noto Sans SC"/>
                </a:endParaRPr>
              </a:p>
              <a:p>
                <a:pPr marL="108000" indent="-144000" algn="l">
                  <a:lnSpc>
                    <a:spcPct val="100000"/>
                  </a:lnSpc>
                  <a:spcBef>
                    <a:spcPts val="600"/>
                  </a:spcBef>
                  <a:buFont typeface="Arial" panose="020B0604020202020204" pitchFamily="34" charset="0"/>
                  <a:buChar char="•"/>
                </a:pPr>
                <a:r>
                  <a:rPr lang="zh-CN" altLang="en-US" b="1" i="0" u="none" strike="noStrike" dirty="0">
                    <a:solidFill>
                      <a:schemeClr val="tx1"/>
                    </a:solidFill>
                    <a:latin typeface="Noto Sans SC"/>
                    <a:ea typeface="Noto Sans SC"/>
                    <a:cs typeface="Noto Sans SC"/>
                    <a:sym typeface="Noto Sans SC"/>
                  </a:rPr>
                  <a:t>模型融合</a:t>
                </a:r>
                <a:r>
                  <a:rPr lang="en-US" b="1" i="0" u="none" strike="noStrike" dirty="0">
                    <a:solidFill>
                      <a:schemeClr val="tx1"/>
                    </a:solidFill>
                    <a:latin typeface="Noto Sans SC"/>
                    <a:ea typeface="Noto Sans SC"/>
                    <a:cs typeface="Noto Sans SC"/>
                    <a:sym typeface="Noto Sans SC"/>
                  </a:rPr>
                  <a:t>: Normalized Accuracy </a:t>
                </a:r>
              </a:p>
              <a:p>
                <a:pPr>
                  <a:spcBef>
                    <a:spcPts val="600"/>
                  </a:spcBef>
                </a:pPr>
                <a14:m>
                  <m:oMathPara xmlns:m="http://schemas.openxmlformats.org/officeDocument/2006/math">
                    <m:oMathParaPr>
                      <m:jc m:val="centerGroup"/>
                    </m:oMathParaPr>
                    <m:oMath xmlns:m="http://schemas.openxmlformats.org/officeDocument/2006/math">
                      <m:r>
                        <a:rPr lang="en-US" sz="1600" b="0" i="1" u="none" strike="noStrike" dirty="0" smtClean="0">
                          <a:solidFill>
                            <a:schemeClr val="tx1"/>
                          </a:solidFill>
                          <a:latin typeface="Cambria Math" panose="02040503050406030204" pitchFamily="18" charset="0"/>
                          <a:ea typeface="Noto Sans SC"/>
                          <a:cs typeface="Noto Sans SC"/>
                          <a:sym typeface="Noto Sans SC"/>
                        </a:rPr>
                        <m:t>𝑁</m:t>
                      </m:r>
                      <m:r>
                        <a:rPr lang="en-US" sz="1600" b="0" i="1" u="none" strike="noStrike" dirty="0" smtClean="0">
                          <a:solidFill>
                            <a:schemeClr val="tx1"/>
                          </a:solidFill>
                          <a:latin typeface="Cambria Math" panose="02040503050406030204" pitchFamily="18" charset="0"/>
                          <a:ea typeface="Noto Sans SC"/>
                          <a:cs typeface="Noto Sans SC"/>
                          <a:sym typeface="Noto Sans SC"/>
                        </a:rPr>
                        <m:t>. </m:t>
                      </m:r>
                      <m:r>
                        <a:rPr lang="en-US" sz="1600" b="0" i="1" u="none" strike="noStrike" dirty="0" smtClean="0">
                          <a:solidFill>
                            <a:schemeClr val="tx1"/>
                          </a:solidFill>
                          <a:latin typeface="Cambria Math" panose="02040503050406030204" pitchFamily="18" charset="0"/>
                          <a:ea typeface="Noto Sans SC"/>
                          <a:cs typeface="Noto Sans SC"/>
                          <a:sym typeface="Noto Sans SC"/>
                        </a:rPr>
                        <m:t>𝐴𝑐𝑐</m:t>
                      </m:r>
                      <m:r>
                        <a:rPr lang="en-US" sz="1600" b="0" i="1" u="none" strike="noStrike" dirty="0" smtClean="0">
                          <a:solidFill>
                            <a:schemeClr val="tx1"/>
                          </a:solidFill>
                          <a:latin typeface="Cambria Math" panose="02040503050406030204" pitchFamily="18" charset="0"/>
                          <a:ea typeface="Noto Sans SC"/>
                          <a:cs typeface="Noto Sans SC"/>
                          <a:sym typeface="Noto Sans SC"/>
                        </a:rPr>
                        <m:t>. =</m:t>
                      </m:r>
                      <m:f>
                        <m:fPr>
                          <m:ctrlPr>
                            <a:rPr lang="en-US" sz="1600" b="0" i="1" u="none" strike="noStrike" dirty="0" smtClean="0">
                              <a:solidFill>
                                <a:schemeClr val="tx1"/>
                              </a:solidFill>
                              <a:latin typeface="Cambria Math" panose="02040503050406030204" pitchFamily="18" charset="0"/>
                              <a:ea typeface="Noto Sans SC"/>
                              <a:cs typeface="Noto Sans SC"/>
                              <a:sym typeface="Noto Sans SC"/>
                            </a:rPr>
                          </m:ctrlPr>
                        </m:fPr>
                        <m:num>
                          <m:sSub>
                            <m:sSubPr>
                              <m:ctrlPr>
                                <a:rPr lang="en-US" sz="1600" b="0" i="1" u="none" strike="noStrike" dirty="0" err="1">
                                  <a:solidFill>
                                    <a:schemeClr val="tx1"/>
                                  </a:solidFill>
                                  <a:latin typeface="Cambria Math" panose="02040503050406030204" pitchFamily="18" charset="0"/>
                                  <a:ea typeface="Noto Sans SC"/>
                                  <a:cs typeface="Noto Sans SC"/>
                                  <a:sym typeface="Noto Sans SC"/>
                                </a:rPr>
                              </m:ctrlPr>
                            </m:sSubPr>
                            <m:e>
                              <m:r>
                                <a:rPr lang="en-US" sz="1600" b="0" i="1" u="none" strike="noStrike" dirty="0" err="1">
                                  <a:solidFill>
                                    <a:schemeClr val="tx1"/>
                                  </a:solidFill>
                                  <a:latin typeface="Cambria Math" panose="02040503050406030204" pitchFamily="18" charset="0"/>
                                  <a:ea typeface="Noto Sans SC"/>
                                  <a:cs typeface="Noto Sans SC"/>
                                  <a:sym typeface="Noto Sans SC"/>
                                </a:rPr>
                                <m:t>𝑆</m:t>
                              </m:r>
                            </m:e>
                            <m:sub>
                              <m:r>
                                <a:rPr lang="en-US" sz="1600" b="0" i="1" u="none" strike="noStrike" dirty="0" err="1">
                                  <a:solidFill>
                                    <a:schemeClr val="tx1"/>
                                  </a:solidFill>
                                  <a:latin typeface="Cambria Math" panose="02040503050406030204" pitchFamily="18" charset="0"/>
                                  <a:ea typeface="Noto Sans SC"/>
                                  <a:cs typeface="Noto Sans SC"/>
                                  <a:sym typeface="Noto Sans SC"/>
                                </a:rPr>
                                <m:t>𝑓𝑢𝑠𝑖𝑜𝑛</m:t>
                              </m:r>
                            </m:sub>
                          </m:sSub>
                        </m:num>
                        <m:den>
                          <m:sSub>
                            <m:sSubPr>
                              <m:ctrlPr>
                                <a:rPr lang="en-US" altLang="zh-CN" sz="1600" i="1" dirty="0">
                                  <a:solidFill>
                                    <a:schemeClr val="tx1"/>
                                  </a:solidFill>
                                  <a:latin typeface="Cambria Math" panose="02040503050406030204" pitchFamily="18" charset="0"/>
                                  <a:ea typeface="Noto Sans SC"/>
                                  <a:sym typeface="Noto Sans SC"/>
                                </a:rPr>
                              </m:ctrlPr>
                            </m:sSubPr>
                            <m:e>
                              <m:r>
                                <a:rPr lang="en-US" altLang="zh-CN" sz="1600" i="1" dirty="0" err="1">
                                  <a:solidFill>
                                    <a:schemeClr val="tx1"/>
                                  </a:solidFill>
                                  <a:latin typeface="Cambria Math" panose="02040503050406030204" pitchFamily="18" charset="0"/>
                                  <a:ea typeface="Noto Sans SC"/>
                                  <a:cs typeface="Noto Sans SC"/>
                                  <a:sym typeface="Noto Sans SC"/>
                                </a:rPr>
                                <m:t>𝑆</m:t>
                              </m:r>
                            </m:e>
                            <m:sub>
                              <m:r>
                                <a:rPr lang="en-US" altLang="zh-CN" sz="1600" i="1" dirty="0" err="1">
                                  <a:solidFill>
                                    <a:schemeClr val="tx1"/>
                                  </a:solidFill>
                                  <a:latin typeface="Cambria Math" panose="02040503050406030204" pitchFamily="18" charset="0"/>
                                  <a:ea typeface="Noto Sans SC"/>
                                  <a:cs typeface="Noto Sans SC"/>
                                  <a:sym typeface="Noto Sans SC"/>
                                </a:rPr>
                                <m:t>𝑓𝑡</m:t>
                              </m:r>
                              <m:r>
                                <a:rPr lang="en-US" altLang="zh-CN" sz="1600" i="1" dirty="0">
                                  <a:solidFill>
                                    <a:schemeClr val="tx1"/>
                                  </a:solidFill>
                                  <a:latin typeface="Cambria Math" panose="02040503050406030204" pitchFamily="18" charset="0"/>
                                  <a:ea typeface="Noto Sans SC"/>
                                  <a:cs typeface="Noto Sans SC"/>
                                  <a:sym typeface="Noto Sans SC"/>
                                </a:rPr>
                                <m:t> </m:t>
                              </m:r>
                            </m:sub>
                          </m:sSub>
                        </m:den>
                      </m:f>
                    </m:oMath>
                  </m:oMathPara>
                </a14:m>
                <a:endParaRPr lang="en-US" b="0" i="1" u="none" strike="noStrike" dirty="0">
                  <a:solidFill>
                    <a:schemeClr val="tx1"/>
                  </a:solidFill>
                  <a:latin typeface="Noto Sans SC"/>
                  <a:ea typeface="Noto Sans SC"/>
                  <a:cs typeface="Noto Sans SC"/>
                  <a:sym typeface="Noto Sans SC"/>
                </a:endParaRPr>
              </a:p>
              <a:p>
                <a:pPr indent="-457200" algn="l">
                  <a:lnSpc>
                    <a:spcPct val="125000"/>
                  </a:lnSpc>
                  <a:spcBef>
                    <a:spcPts val="600"/>
                  </a:spcBef>
                </a:pPr>
                <a:r>
                  <a:rPr lang="en-US" dirty="0">
                    <a:solidFill>
                      <a:schemeClr val="tx1"/>
                    </a:solidFill>
                    <a:latin typeface="Noto Sans SC"/>
                    <a:ea typeface="Noto Sans SC"/>
                    <a:cs typeface="Noto Sans SC"/>
                    <a:sym typeface="Noto Sans SC"/>
                  </a:rPr>
                  <a:t>       </a:t>
                </a:r>
                <a:r>
                  <a:rPr lang="zh-CN" altLang="en-US" b="0" i="0" u="none" strike="noStrike" dirty="0">
                    <a:solidFill>
                      <a:schemeClr val="tx1"/>
                    </a:solidFill>
                    <a:latin typeface="Noto Sans SC"/>
                    <a:ea typeface="Noto Sans SC"/>
                    <a:cs typeface="Noto Sans SC"/>
                    <a:sym typeface="Noto Sans SC"/>
                  </a:rPr>
                  <a:t>评估融合模型保留原始性能的程度</a:t>
                </a:r>
                <a:endParaRPr lang="en-US" b="0" i="0" u="none" strike="noStrike" dirty="0">
                  <a:solidFill>
                    <a:schemeClr val="tx1"/>
                  </a:solidFill>
                  <a:latin typeface="Noto Sans SC"/>
                  <a:ea typeface="Noto Sans SC"/>
                  <a:cs typeface="Noto Sans SC"/>
                  <a:sym typeface="Noto Sans SC"/>
                </a:endParaRPr>
              </a:p>
            </p:txBody>
          </p:sp>
        </mc:Choice>
        <mc:Fallback xmlns="">
          <p:sp>
            <p:nvSpPr>
              <p:cNvPr id="12" name="AutoShape 13">
                <a:extLst>
                  <a:ext uri="{FF2B5EF4-FFF2-40B4-BE49-F238E27FC236}">
                    <a16:creationId xmlns:a16="http://schemas.microsoft.com/office/drawing/2014/main" id="{A5432954-A9ED-7326-7E9A-43C64AAFA383}"/>
                  </a:ext>
                </a:extLst>
              </p:cNvPr>
              <p:cNvSpPr>
                <a:spLocks noRot="1" noChangeAspect="1" noMove="1" noResize="1" noEditPoints="1" noAdjustHandles="1" noChangeArrowheads="1" noChangeShapeType="1" noTextEdit="1"/>
              </p:cNvSpPr>
              <p:nvPr/>
            </p:nvSpPr>
            <p:spPr>
              <a:xfrm>
                <a:off x="543814" y="2670247"/>
                <a:ext cx="3334766" cy="2866953"/>
              </a:xfrm>
              <a:prstGeom prst="rect">
                <a:avLst/>
              </a:prstGeom>
              <a:blipFill>
                <a:blip r:embed="rId3"/>
                <a:stretch>
                  <a:fillRect l="-3291"/>
                </a:stretch>
              </a:blipFill>
              <a:ln w="12700" cap="flat" cmpd="sng">
                <a:noFill/>
                <a:prstDash val="solid"/>
                <a:round/>
              </a:ln>
            </p:spPr>
            <p:txBody>
              <a:bodyPr/>
              <a:lstStyle/>
              <a:p>
                <a:r>
                  <a:rPr lang="zh-CN" altLang="en-US">
                    <a:noFill/>
                  </a:rPr>
                  <a:t> </a:t>
                </a:r>
              </a:p>
            </p:txBody>
          </p:sp>
        </mc:Fallback>
      </mc:AlternateContent>
      <p:sp>
        <p:nvSpPr>
          <p:cNvPr id="13" name="AutoShape 14">
            <a:extLst>
              <a:ext uri="{FF2B5EF4-FFF2-40B4-BE49-F238E27FC236}">
                <a16:creationId xmlns:a16="http://schemas.microsoft.com/office/drawing/2014/main" id="{8B0A2F89-CC4B-255E-E222-480B26B064C6}"/>
              </a:ext>
            </a:extLst>
          </p:cNvPr>
          <p:cNvSpPr/>
          <p:nvPr/>
        </p:nvSpPr>
        <p:spPr>
          <a:xfrm>
            <a:off x="4131564" y="1971747"/>
            <a:ext cx="3365500" cy="3768024"/>
          </a:xfrm>
          <a:prstGeom prst="roundRect">
            <a:avLst>
              <a:gd name="adj" fmla="val 2857"/>
            </a:avLst>
          </a:prstGeom>
          <a:solidFill>
            <a:srgbClr val="F9FAFB">
              <a:alpha val="100000"/>
            </a:srgbClr>
          </a:solidFill>
          <a:ln w="12700" cap="flat" cmpd="sng">
            <a:solidFill>
              <a:srgbClr val="E5E7EB">
                <a:alpha val="100000"/>
              </a:srgbClr>
            </a:solidFill>
            <a:prstDash val="solid"/>
            <a:round/>
          </a:ln>
          <a:effectLst>
            <a:outerShdw blurRad="495300" dist="177800" dir="2400000" sx="98000" sy="98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800"/>
          </a:p>
        </p:txBody>
      </p:sp>
      <p:sp>
        <p:nvSpPr>
          <p:cNvPr id="14" name="AutoShape 15">
            <a:extLst>
              <a:ext uri="{FF2B5EF4-FFF2-40B4-BE49-F238E27FC236}">
                <a16:creationId xmlns:a16="http://schemas.microsoft.com/office/drawing/2014/main" id="{9B7FD60A-5D9C-E75F-EE18-7783D49E4D50}"/>
              </a:ext>
            </a:extLst>
          </p:cNvPr>
          <p:cNvSpPr/>
          <p:nvPr/>
        </p:nvSpPr>
        <p:spPr>
          <a:xfrm>
            <a:off x="4131564" y="1971747"/>
            <a:ext cx="3365500" cy="698500"/>
          </a:xfrm>
          <a:prstGeom prst="roundRect">
            <a:avLst>
              <a:gd name="adj" fmla="val 14545"/>
            </a:avLst>
          </a:prstGeom>
          <a:solidFill>
            <a:srgbClr val="3B82F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5" name="AutoShape 16">
            <a:extLst>
              <a:ext uri="{FF2B5EF4-FFF2-40B4-BE49-F238E27FC236}">
                <a16:creationId xmlns:a16="http://schemas.microsoft.com/office/drawing/2014/main" id="{9EC3F0C2-A37D-5ECB-F398-7ACADA0FAD3F}"/>
              </a:ext>
            </a:extLst>
          </p:cNvPr>
          <p:cNvSpPr/>
          <p:nvPr/>
        </p:nvSpPr>
        <p:spPr>
          <a:xfrm>
            <a:off x="4258564" y="2098747"/>
            <a:ext cx="3302000" cy="444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1900" b="1" i="0" u="none" strike="noStrike" dirty="0" err="1">
                <a:solidFill>
                  <a:srgbClr val="FFFFFF"/>
                </a:solidFill>
                <a:latin typeface="Noto Sans SC"/>
                <a:ea typeface="Noto Sans SC"/>
                <a:cs typeface="Noto Sans SC"/>
                <a:sym typeface="Noto Sans SC"/>
              </a:rPr>
              <a:t>研究问题</a:t>
            </a:r>
            <a:r>
              <a:rPr lang="en-US" sz="1900" b="1" i="0" u="none" strike="noStrike" dirty="0">
                <a:solidFill>
                  <a:srgbClr val="FFFFFF"/>
                </a:solidFill>
                <a:latin typeface="Noto Sans SC"/>
                <a:ea typeface="Noto Sans SC"/>
                <a:cs typeface="Noto Sans SC"/>
                <a:sym typeface="Noto Sans SC"/>
              </a:rPr>
              <a:t> (RQs)</a:t>
            </a:r>
            <a:endParaRPr lang="en-US" sz="1100" dirty="0"/>
          </a:p>
        </p:txBody>
      </p:sp>
      <p:sp>
        <p:nvSpPr>
          <p:cNvPr id="17" name="AutoShape 17">
            <a:extLst>
              <a:ext uri="{FF2B5EF4-FFF2-40B4-BE49-F238E27FC236}">
                <a16:creationId xmlns:a16="http://schemas.microsoft.com/office/drawing/2014/main" id="{5F38F254-BA87-1742-DB98-F72141D5C5D7}"/>
              </a:ext>
            </a:extLst>
          </p:cNvPr>
          <p:cNvSpPr/>
          <p:nvPr/>
        </p:nvSpPr>
        <p:spPr>
          <a:xfrm>
            <a:off x="4180712" y="2745099"/>
            <a:ext cx="3365499" cy="294752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spcBef>
                <a:spcPts val="500"/>
              </a:spcBef>
              <a:spcAft>
                <a:spcPts val="1000"/>
              </a:spcAft>
              <a:defRPr/>
            </a:pPr>
            <a:r>
              <a:rPr lang="en-US" sz="1600" b="1" i="0" u="none" strike="noStrike" dirty="0">
                <a:solidFill>
                  <a:srgbClr val="3B82F6"/>
                </a:solidFill>
                <a:latin typeface="Noto Sans SC"/>
                <a:ea typeface="Noto Sans SC"/>
                <a:cs typeface="Noto Sans SC"/>
                <a:sym typeface="Noto Sans SC"/>
              </a:rPr>
              <a:t>RQ1:</a:t>
            </a:r>
            <a:r>
              <a:rPr lang="zh-CN" altLang="en-US" sz="1600" i="0" u="none" strike="noStrike" dirty="0">
                <a:solidFill>
                  <a:schemeClr val="tx1"/>
                </a:solidFill>
                <a:latin typeface="Noto Sans SC"/>
                <a:ea typeface="Noto Sans SC"/>
                <a:cs typeface="Noto Sans SC"/>
                <a:sym typeface="Noto Sans SC"/>
              </a:rPr>
              <a:t>同一任务中</a:t>
            </a:r>
            <a:r>
              <a:rPr lang="en-US" altLang="zh-CN" sz="1600" i="0" u="none" strike="noStrike" dirty="0">
                <a:solidFill>
                  <a:schemeClr val="tx1"/>
                </a:solidFill>
                <a:latin typeface="Noto Sans SC"/>
                <a:ea typeface="Noto Sans SC"/>
                <a:cs typeface="Noto Sans SC"/>
                <a:sym typeface="Noto Sans SC"/>
              </a:rPr>
              <a:t>,</a:t>
            </a:r>
            <a:r>
              <a:rPr lang="en-US" sz="1600" b="0" i="0" u="none" strike="noStrike" dirty="0" err="1">
                <a:solidFill>
                  <a:srgbClr val="374151"/>
                </a:solidFill>
                <a:latin typeface="Noto Sans SC"/>
                <a:ea typeface="Noto Sans SC"/>
                <a:cs typeface="Noto Sans SC"/>
                <a:sym typeface="Noto Sans SC"/>
              </a:rPr>
              <a:t>多编程语言融合</a:t>
            </a:r>
            <a:r>
              <a:rPr lang="zh-CN" altLang="en-US" sz="1600" dirty="0">
                <a:solidFill>
                  <a:srgbClr val="374151"/>
                </a:solidFill>
                <a:latin typeface="Noto Sans SC"/>
                <a:ea typeface="Noto Sans SC"/>
                <a:cs typeface="Noto Sans SC"/>
                <a:sym typeface="Noto Sans SC"/>
              </a:rPr>
              <a:t>的性能</a:t>
            </a:r>
            <a:r>
              <a:rPr lang="en-US" sz="1600" b="0" i="0" u="none" strike="noStrike" dirty="0" err="1">
                <a:solidFill>
                  <a:srgbClr val="374151"/>
                </a:solidFill>
                <a:latin typeface="Noto Sans SC"/>
                <a:ea typeface="Noto Sans SC"/>
                <a:cs typeface="Noto Sans SC"/>
                <a:sym typeface="Noto Sans SC"/>
              </a:rPr>
              <a:t>如何</a:t>
            </a:r>
            <a:r>
              <a:rPr lang="en-US" sz="1600" b="0" i="0" u="none" strike="noStrike" dirty="0">
                <a:solidFill>
                  <a:srgbClr val="374151"/>
                </a:solidFill>
                <a:latin typeface="Noto Sans SC"/>
                <a:ea typeface="Noto Sans SC"/>
                <a:cs typeface="Noto Sans SC"/>
                <a:sym typeface="Noto Sans SC"/>
              </a:rPr>
              <a:t>？</a:t>
            </a:r>
            <a:endParaRPr lang="en-US" sz="1600" dirty="0"/>
          </a:p>
          <a:p>
            <a:pPr indent="0" algn="l">
              <a:lnSpc>
                <a:spcPct val="108333"/>
              </a:lnSpc>
              <a:spcBef>
                <a:spcPts val="500"/>
              </a:spcBef>
              <a:spcAft>
                <a:spcPts val="1000"/>
              </a:spcAft>
            </a:pPr>
            <a:r>
              <a:rPr lang="en-US" sz="1600" b="1" i="0" u="none" strike="noStrike" dirty="0">
                <a:solidFill>
                  <a:srgbClr val="3B82F6"/>
                </a:solidFill>
                <a:latin typeface="Noto Sans SC"/>
                <a:ea typeface="Noto Sans SC"/>
                <a:cs typeface="Noto Sans SC"/>
                <a:sym typeface="Noto Sans SC"/>
              </a:rPr>
              <a:t>RQ2:</a:t>
            </a:r>
            <a:r>
              <a:rPr lang="en-US" sz="1600" b="0" i="0" u="none" strike="noStrike" dirty="0">
                <a:solidFill>
                  <a:srgbClr val="374151"/>
                </a:solidFill>
                <a:latin typeface="Noto Sans SC"/>
                <a:ea typeface="Noto Sans SC"/>
                <a:cs typeface="Noto Sans SC"/>
                <a:sym typeface="Noto Sans SC"/>
              </a:rPr>
              <a:t>多软工任务融合的</a:t>
            </a:r>
            <a:r>
              <a:rPr lang="zh-CN" altLang="en-US" sz="1600" b="0" i="0" u="none" strike="noStrike" dirty="0">
                <a:solidFill>
                  <a:srgbClr val="374151"/>
                </a:solidFill>
                <a:latin typeface="Noto Sans SC"/>
                <a:ea typeface="Noto Sans SC"/>
                <a:cs typeface="Noto Sans SC"/>
                <a:sym typeface="Noto Sans SC"/>
              </a:rPr>
              <a:t>性能</a:t>
            </a:r>
            <a:r>
              <a:rPr lang="zh-CN" altLang="en-US" sz="1600" dirty="0">
                <a:solidFill>
                  <a:srgbClr val="374151"/>
                </a:solidFill>
                <a:latin typeface="Noto Sans SC"/>
                <a:ea typeface="Noto Sans SC"/>
                <a:cs typeface="Noto Sans SC"/>
                <a:sym typeface="Noto Sans SC"/>
              </a:rPr>
              <a:t>如何</a:t>
            </a:r>
            <a:r>
              <a:rPr lang="en-US" sz="1600" b="0" i="0" u="none" strike="noStrike" dirty="0">
                <a:solidFill>
                  <a:srgbClr val="374151"/>
                </a:solidFill>
                <a:latin typeface="Noto Sans SC"/>
                <a:ea typeface="Noto Sans SC"/>
                <a:cs typeface="Noto Sans SC"/>
                <a:sym typeface="Noto Sans SC"/>
              </a:rPr>
              <a:t>？</a:t>
            </a:r>
          </a:p>
          <a:p>
            <a:pPr indent="0" algn="l">
              <a:lnSpc>
                <a:spcPct val="108333"/>
              </a:lnSpc>
              <a:spcBef>
                <a:spcPts val="500"/>
              </a:spcBef>
              <a:spcAft>
                <a:spcPts val="1000"/>
              </a:spcAft>
            </a:pPr>
            <a:r>
              <a:rPr lang="en-US" sz="1600" b="1" i="0" u="none" strike="noStrike" dirty="0">
                <a:solidFill>
                  <a:srgbClr val="3B82F6"/>
                </a:solidFill>
                <a:latin typeface="Noto Sans SC"/>
                <a:ea typeface="Noto Sans SC"/>
                <a:cs typeface="Noto Sans SC"/>
                <a:sym typeface="Noto Sans SC"/>
              </a:rPr>
              <a:t>RQ3:</a:t>
            </a:r>
            <a:r>
              <a:rPr lang="en-US" sz="1600" b="0" i="0" u="none" strike="noStrike" dirty="0">
                <a:solidFill>
                  <a:srgbClr val="374151"/>
                </a:solidFill>
                <a:latin typeface="Noto Sans SC"/>
                <a:ea typeface="Noto Sans SC"/>
                <a:cs typeface="Noto Sans SC"/>
                <a:sym typeface="Noto Sans SC"/>
              </a:rPr>
              <a:t>多任务多语言融合的性能如何？</a:t>
            </a:r>
          </a:p>
          <a:p>
            <a:pPr indent="0" algn="l">
              <a:lnSpc>
                <a:spcPct val="108333"/>
              </a:lnSpc>
              <a:spcBef>
                <a:spcPts val="500"/>
              </a:spcBef>
            </a:pPr>
            <a:r>
              <a:rPr lang="en-US" sz="1600" b="1" i="0" u="none" strike="noStrike" dirty="0">
                <a:solidFill>
                  <a:srgbClr val="3B82F6"/>
                </a:solidFill>
                <a:latin typeface="Noto Sans SC"/>
                <a:ea typeface="Noto Sans SC"/>
                <a:cs typeface="Noto Sans SC"/>
                <a:sym typeface="Noto Sans SC"/>
              </a:rPr>
              <a:t>RQ4:</a:t>
            </a:r>
            <a:r>
              <a:rPr lang="en-US" sz="1600" b="0" i="0" u="none" strike="noStrike" dirty="0">
                <a:solidFill>
                  <a:srgbClr val="374151"/>
                </a:solidFill>
                <a:latin typeface="Noto Sans SC"/>
                <a:ea typeface="Noto Sans SC"/>
                <a:cs typeface="Noto Sans SC"/>
                <a:sym typeface="Noto Sans SC"/>
              </a:rPr>
              <a:t>如何有效提升模型融合技术的性能？</a:t>
            </a:r>
          </a:p>
        </p:txBody>
      </p:sp>
      <p:sp>
        <p:nvSpPr>
          <p:cNvPr id="18" name="AutoShape 3">
            <a:extLst>
              <a:ext uri="{FF2B5EF4-FFF2-40B4-BE49-F238E27FC236}">
                <a16:creationId xmlns:a16="http://schemas.microsoft.com/office/drawing/2014/main" id="{9F78EDE9-E4AD-CBF7-D58D-40B3B57B5658}"/>
              </a:ext>
            </a:extLst>
          </p:cNvPr>
          <p:cNvSpPr/>
          <p:nvPr/>
        </p:nvSpPr>
        <p:spPr>
          <a:xfrm>
            <a:off x="432689" y="1118229"/>
            <a:ext cx="11176000" cy="7786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600" b="0" i="0" u="none" strike="noStrike" dirty="0">
                <a:solidFill>
                  <a:schemeClr val="tx1"/>
                </a:solidFill>
                <a:latin typeface="Noto Sans SC"/>
                <a:ea typeface="Noto Sans SC"/>
                <a:cs typeface="Noto Sans SC"/>
                <a:sym typeface="Noto Sans SC"/>
              </a:rPr>
              <a:t>本研究主要探究了三种程序理解任务（代码搜索</a:t>
            </a:r>
            <a:r>
              <a:rPr lang="zh-CN" altLang="en-US" sz="1600" dirty="0">
                <a:solidFill>
                  <a:schemeClr val="tx1"/>
                </a:solidFill>
                <a:latin typeface="Noto Sans SC"/>
                <a:ea typeface="Noto Sans SC"/>
                <a:cs typeface="Noto Sans SC"/>
                <a:sym typeface="Noto Sans SC"/>
              </a:rPr>
              <a:t>、漏洞检测以及克隆检测</a:t>
            </a:r>
            <a:r>
              <a:rPr lang="zh-CN" altLang="en-US" sz="1600" b="0" i="0" u="none" strike="noStrike" dirty="0">
                <a:solidFill>
                  <a:schemeClr val="tx1"/>
                </a:solidFill>
                <a:latin typeface="Noto Sans SC"/>
                <a:ea typeface="Noto Sans SC"/>
                <a:cs typeface="Noto Sans SC"/>
                <a:sym typeface="Noto Sans SC"/>
              </a:rPr>
              <a:t>）</a:t>
            </a:r>
            <a:endParaRPr lang="en-US" altLang="zh-CN" sz="1600" b="0" i="0" u="none" strike="noStrike" dirty="0">
              <a:solidFill>
                <a:schemeClr val="tx1"/>
              </a:solidFill>
              <a:latin typeface="Noto Sans SC"/>
              <a:ea typeface="Noto Sans SC"/>
              <a:cs typeface="Noto Sans SC"/>
              <a:sym typeface="Noto Sans SC"/>
            </a:endParaRPr>
          </a:p>
          <a:p>
            <a:pPr indent="0" algn="l">
              <a:lnSpc>
                <a:spcPct val="125000"/>
              </a:lnSpc>
              <a:defRPr/>
            </a:pPr>
            <a:r>
              <a:rPr lang="zh-CN" altLang="en-US" sz="1600" b="0" i="0" u="none" strike="noStrike" dirty="0">
                <a:solidFill>
                  <a:schemeClr val="tx1"/>
                </a:solidFill>
                <a:latin typeface="Noto Sans SC"/>
                <a:ea typeface="Noto Sans SC"/>
                <a:cs typeface="Noto Sans SC"/>
                <a:sym typeface="Noto Sans SC"/>
              </a:rPr>
              <a:t>与三种程序生成任务（代码生成、代码修复以及代码摘要生成）</a:t>
            </a:r>
            <a:endParaRPr lang="en-US" sz="1100" dirty="0">
              <a:solidFill>
                <a:schemeClr val="tx1"/>
              </a:solidFill>
            </a:endParaRPr>
          </a:p>
        </p:txBody>
      </p:sp>
      <p:pic>
        <p:nvPicPr>
          <p:cNvPr id="26" name="图片 25">
            <a:extLst>
              <a:ext uri="{FF2B5EF4-FFF2-40B4-BE49-F238E27FC236}">
                <a16:creationId xmlns:a16="http://schemas.microsoft.com/office/drawing/2014/main" id="{053CAF54-ADE4-5D78-98BE-83E61CE4D91E}"/>
              </a:ext>
            </a:extLst>
          </p:cNvPr>
          <p:cNvPicPr>
            <a:picLocks noChangeAspect="1"/>
          </p:cNvPicPr>
          <p:nvPr/>
        </p:nvPicPr>
        <p:blipFill>
          <a:blip r:embed="rId4"/>
          <a:stretch>
            <a:fillRect/>
          </a:stretch>
        </p:blipFill>
        <p:spPr>
          <a:xfrm>
            <a:off x="7639939" y="2163222"/>
            <a:ext cx="4319016" cy="1826380"/>
          </a:xfrm>
          <a:prstGeom prst="rect">
            <a:avLst/>
          </a:prstGeom>
        </p:spPr>
      </p:pic>
      <p:sp>
        <p:nvSpPr>
          <p:cNvPr id="34" name="文本框 33">
            <a:extLst>
              <a:ext uri="{FF2B5EF4-FFF2-40B4-BE49-F238E27FC236}">
                <a16:creationId xmlns:a16="http://schemas.microsoft.com/office/drawing/2014/main" id="{0ABE4750-0F18-AF90-E247-7FFEA26459C7}"/>
              </a:ext>
            </a:extLst>
          </p:cNvPr>
          <p:cNvSpPr txBox="1"/>
          <p:nvPr/>
        </p:nvSpPr>
        <p:spPr>
          <a:xfrm>
            <a:off x="8114983" y="1950252"/>
            <a:ext cx="3084449" cy="307777"/>
          </a:xfrm>
          <a:prstGeom prst="rect">
            <a:avLst/>
          </a:prstGeom>
          <a:noFill/>
        </p:spPr>
        <p:txBody>
          <a:bodyPr wrap="square">
            <a:spAutoFit/>
          </a:bodyPr>
          <a:lstStyle/>
          <a:p>
            <a:pPr algn="ctr"/>
            <a:r>
              <a:rPr lang="en-US" altLang="zh-CN" sz="1400" i="0" u="none" strike="noStrike" dirty="0">
                <a:solidFill>
                  <a:schemeClr val="tx1"/>
                </a:solidFill>
                <a:latin typeface="Noto Sans SC"/>
                <a:ea typeface="Noto Sans SC"/>
                <a:cs typeface="Noto Sans SC"/>
                <a:sym typeface="Noto Sans SC"/>
              </a:rPr>
              <a:t>RQ1</a:t>
            </a:r>
            <a:r>
              <a:rPr lang="zh-CN" altLang="en-US" sz="1400" i="0" u="none" strike="noStrike" dirty="0">
                <a:solidFill>
                  <a:schemeClr val="tx1"/>
                </a:solidFill>
                <a:latin typeface="Noto Sans SC"/>
                <a:ea typeface="Noto Sans SC"/>
                <a:cs typeface="Noto Sans SC"/>
                <a:sym typeface="Noto Sans SC"/>
              </a:rPr>
              <a:t>使用的数据集详情</a:t>
            </a:r>
            <a:endParaRPr lang="zh-CN" altLang="en-US" sz="1400" dirty="0"/>
          </a:p>
        </p:txBody>
      </p:sp>
      <p:pic>
        <p:nvPicPr>
          <p:cNvPr id="36" name="图片 35">
            <a:extLst>
              <a:ext uri="{FF2B5EF4-FFF2-40B4-BE49-F238E27FC236}">
                <a16:creationId xmlns:a16="http://schemas.microsoft.com/office/drawing/2014/main" id="{E384CEF3-8B16-081D-44D9-4B52706BB3B9}"/>
              </a:ext>
            </a:extLst>
          </p:cNvPr>
          <p:cNvPicPr>
            <a:picLocks noChangeAspect="1"/>
          </p:cNvPicPr>
          <p:nvPr/>
        </p:nvPicPr>
        <p:blipFill>
          <a:blip r:embed="rId5"/>
          <a:stretch>
            <a:fillRect/>
          </a:stretch>
        </p:blipFill>
        <p:spPr>
          <a:xfrm>
            <a:off x="7799197" y="4316590"/>
            <a:ext cx="3968750" cy="1444745"/>
          </a:xfrm>
          <a:prstGeom prst="rect">
            <a:avLst/>
          </a:prstGeom>
        </p:spPr>
      </p:pic>
      <p:sp>
        <p:nvSpPr>
          <p:cNvPr id="37" name="文本框 36">
            <a:extLst>
              <a:ext uri="{FF2B5EF4-FFF2-40B4-BE49-F238E27FC236}">
                <a16:creationId xmlns:a16="http://schemas.microsoft.com/office/drawing/2014/main" id="{4F3F710B-B2AD-E0E9-4A0B-1C0A7EC4EBEA}"/>
              </a:ext>
            </a:extLst>
          </p:cNvPr>
          <p:cNvSpPr txBox="1"/>
          <p:nvPr/>
        </p:nvSpPr>
        <p:spPr>
          <a:xfrm>
            <a:off x="8241347" y="4048683"/>
            <a:ext cx="3084449" cy="307777"/>
          </a:xfrm>
          <a:prstGeom prst="rect">
            <a:avLst/>
          </a:prstGeom>
          <a:noFill/>
        </p:spPr>
        <p:txBody>
          <a:bodyPr wrap="square">
            <a:spAutoFit/>
          </a:bodyPr>
          <a:lstStyle/>
          <a:p>
            <a:pPr algn="ctr"/>
            <a:r>
              <a:rPr lang="en-US" altLang="zh-CN" sz="1400" i="0" u="none" strike="noStrike" dirty="0">
                <a:solidFill>
                  <a:schemeClr val="tx1"/>
                </a:solidFill>
                <a:latin typeface="Noto Sans SC"/>
                <a:ea typeface="Noto Sans SC"/>
                <a:cs typeface="Noto Sans SC"/>
                <a:sym typeface="Noto Sans SC"/>
              </a:rPr>
              <a:t>RQ2</a:t>
            </a:r>
            <a:r>
              <a:rPr lang="zh-CN" altLang="en-US" sz="1400" i="0" u="none" strike="noStrike" dirty="0">
                <a:solidFill>
                  <a:schemeClr val="tx1"/>
                </a:solidFill>
                <a:latin typeface="Noto Sans SC"/>
                <a:ea typeface="Noto Sans SC"/>
                <a:cs typeface="Noto Sans SC"/>
                <a:sym typeface="Noto Sans SC"/>
              </a:rPr>
              <a:t>、</a:t>
            </a:r>
            <a:r>
              <a:rPr lang="en-US" altLang="zh-CN" sz="1400" i="0" u="none" strike="noStrike" dirty="0">
                <a:solidFill>
                  <a:schemeClr val="tx1"/>
                </a:solidFill>
                <a:latin typeface="Noto Sans SC"/>
                <a:ea typeface="Noto Sans SC"/>
                <a:cs typeface="Noto Sans SC"/>
                <a:sym typeface="Noto Sans SC"/>
              </a:rPr>
              <a:t>RQ3</a:t>
            </a:r>
            <a:r>
              <a:rPr lang="zh-CN" altLang="en-US" sz="1400" i="0" u="none" strike="noStrike" dirty="0">
                <a:solidFill>
                  <a:schemeClr val="tx1"/>
                </a:solidFill>
                <a:latin typeface="Noto Sans SC"/>
                <a:ea typeface="Noto Sans SC"/>
                <a:cs typeface="Noto Sans SC"/>
                <a:sym typeface="Noto Sans SC"/>
              </a:rPr>
              <a:t>使用的数据集详情</a:t>
            </a:r>
            <a:endParaRPr lang="zh-CN" altLang="en-US" sz="1400" dirty="0"/>
          </a:p>
        </p:txBody>
      </p:sp>
    </p:spTree>
    <p:extLst>
      <p:ext uri="{BB962C8B-B14F-4D97-AF65-F5344CB8AC3E}">
        <p14:creationId xmlns:p14="http://schemas.microsoft.com/office/powerpoint/2010/main" val="3977913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6586-0C51-D258-68F9-49D36F19B85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E947D9A-6E2F-293A-48A9-22F84454A59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CDCFE68-8FD8-A684-56C0-85BF8A38E26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EF65634-607B-36BD-117C-1DB18076244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4F27A45-9B30-74FE-16F1-579FC222CB3A}"/>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EDA3E753-139A-E9FC-BABB-A811280FB06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42CF7E88-8BB2-7FC1-1589-E93BE51FC61C}"/>
              </a:ext>
            </a:extLst>
          </p:cNvPr>
          <p:cNvPicPr>
            <a:picLocks noChangeAspect="1"/>
          </p:cNvPicPr>
          <p:nvPr/>
        </p:nvPicPr>
        <p:blipFill>
          <a:blip r:embed="rId3"/>
          <a:stretch>
            <a:fillRect/>
          </a:stretch>
        </p:blipFill>
        <p:spPr>
          <a:xfrm>
            <a:off x="135193" y="1483360"/>
            <a:ext cx="11921614" cy="3538994"/>
          </a:xfrm>
          <a:prstGeom prst="rect">
            <a:avLst/>
          </a:prstGeom>
        </p:spPr>
      </p:pic>
      <p:sp>
        <p:nvSpPr>
          <p:cNvPr id="2" name="矩形: 圆角 1">
            <a:extLst>
              <a:ext uri="{FF2B5EF4-FFF2-40B4-BE49-F238E27FC236}">
                <a16:creationId xmlns:a16="http://schemas.microsoft.com/office/drawing/2014/main" id="{0F546C19-20B0-255B-9EDC-F097C181B26B}"/>
              </a:ext>
            </a:extLst>
          </p:cNvPr>
          <p:cNvSpPr/>
          <p:nvPr/>
        </p:nvSpPr>
        <p:spPr>
          <a:xfrm>
            <a:off x="6410960" y="2336800"/>
            <a:ext cx="609600" cy="2590800"/>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FECC0F76-2BC4-05A1-5072-F1A61595AF4D}"/>
              </a:ext>
            </a:extLst>
          </p:cNvPr>
          <p:cNvSpPr/>
          <p:nvPr/>
        </p:nvSpPr>
        <p:spPr>
          <a:xfrm>
            <a:off x="2534534" y="5422324"/>
            <a:ext cx="3942080"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所有方法在代码修复任务上能够保持较好的性能</a:t>
            </a:r>
          </a:p>
        </p:txBody>
      </p:sp>
      <p:sp>
        <p:nvSpPr>
          <p:cNvPr id="8" name="箭头: 下 7">
            <a:extLst>
              <a:ext uri="{FF2B5EF4-FFF2-40B4-BE49-F238E27FC236}">
                <a16:creationId xmlns:a16="http://schemas.microsoft.com/office/drawing/2014/main" id="{57DD8549-A55D-BB06-56F9-6DCE75416902}"/>
              </a:ext>
            </a:extLst>
          </p:cNvPr>
          <p:cNvSpPr/>
          <p:nvPr/>
        </p:nvSpPr>
        <p:spPr>
          <a:xfrm rot="3725590">
            <a:off x="6222578" y="4879337"/>
            <a:ext cx="186576" cy="6618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9" name="矩形: 圆角 8">
            <a:extLst>
              <a:ext uri="{FF2B5EF4-FFF2-40B4-BE49-F238E27FC236}">
                <a16:creationId xmlns:a16="http://schemas.microsoft.com/office/drawing/2014/main" id="{E2731006-FBFB-B829-582C-6CD83918C8DF}"/>
              </a:ext>
            </a:extLst>
          </p:cNvPr>
          <p:cNvSpPr/>
          <p:nvPr/>
        </p:nvSpPr>
        <p:spPr>
          <a:xfrm>
            <a:off x="9233882" y="2336800"/>
            <a:ext cx="702597" cy="2590800"/>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4589C91A-9F3A-4DBF-C7C7-52FD2276BE1A}"/>
              </a:ext>
            </a:extLst>
          </p:cNvPr>
          <p:cNvSpPr/>
          <p:nvPr/>
        </p:nvSpPr>
        <p:spPr>
          <a:xfrm>
            <a:off x="10607040" y="2336800"/>
            <a:ext cx="629920" cy="2590800"/>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37533D42-3425-9FF2-0D3B-B3952E1C5FEB}"/>
              </a:ext>
            </a:extLst>
          </p:cNvPr>
          <p:cNvSpPr/>
          <p:nvPr/>
        </p:nvSpPr>
        <p:spPr>
          <a:xfrm>
            <a:off x="8722360" y="5422324"/>
            <a:ext cx="2971800"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a:t>
            </a:r>
            <a:r>
              <a:rPr lang="en-US" altLang="zh-CN" dirty="0">
                <a:solidFill>
                  <a:schemeClr val="tx1"/>
                </a:solidFill>
                <a:latin typeface="Noto Sans SC" panose="020B0200000000000000" pitchFamily="34" charset="-122"/>
                <a:ea typeface="Noto Sans SC" panose="020B0200000000000000" pitchFamily="34" charset="-122"/>
              </a:rPr>
              <a:t>Go</a:t>
            </a:r>
            <a:r>
              <a:rPr lang="zh-CN" altLang="en-US" dirty="0">
                <a:solidFill>
                  <a:schemeClr val="tx1"/>
                </a:solidFill>
                <a:latin typeface="Noto Sans SC" panose="020B0200000000000000" pitchFamily="34" charset="-122"/>
                <a:ea typeface="Noto Sans SC" panose="020B0200000000000000" pitchFamily="34" charset="-122"/>
              </a:rPr>
              <a:t>语言和</a:t>
            </a:r>
            <a:r>
              <a:rPr lang="en-US" altLang="zh-CN" dirty="0">
                <a:solidFill>
                  <a:schemeClr val="tx1"/>
                </a:solidFill>
                <a:latin typeface="Noto Sans SC" panose="020B0200000000000000" pitchFamily="34" charset="-122"/>
                <a:ea typeface="Noto Sans SC" panose="020B0200000000000000" pitchFamily="34" charset="-122"/>
              </a:rPr>
              <a:t>PHP</a:t>
            </a:r>
            <a:r>
              <a:rPr lang="zh-CN" altLang="en-US" dirty="0">
                <a:solidFill>
                  <a:schemeClr val="tx1"/>
                </a:solidFill>
                <a:latin typeface="Noto Sans SC" panose="020B0200000000000000" pitchFamily="34" charset="-122"/>
                <a:ea typeface="Noto Sans SC" panose="020B0200000000000000" pitchFamily="34" charset="-122"/>
              </a:rPr>
              <a:t>语言上有较大的性能下降</a:t>
            </a:r>
          </a:p>
        </p:txBody>
      </p:sp>
      <p:sp>
        <p:nvSpPr>
          <p:cNvPr id="12" name="箭头: 下 11">
            <a:extLst>
              <a:ext uri="{FF2B5EF4-FFF2-40B4-BE49-F238E27FC236}">
                <a16:creationId xmlns:a16="http://schemas.microsoft.com/office/drawing/2014/main" id="{FDD074C1-EA56-D52F-E1E1-514FE76B91BE}"/>
              </a:ext>
            </a:extLst>
          </p:cNvPr>
          <p:cNvSpPr/>
          <p:nvPr/>
        </p:nvSpPr>
        <p:spPr>
          <a:xfrm rot="19444840">
            <a:off x="9564178" y="4997905"/>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13" name="箭头: 下 12">
            <a:extLst>
              <a:ext uri="{FF2B5EF4-FFF2-40B4-BE49-F238E27FC236}">
                <a16:creationId xmlns:a16="http://schemas.microsoft.com/office/drawing/2014/main" id="{7BD0D923-FD59-4F0F-F9F4-743D28A440F9}"/>
              </a:ext>
            </a:extLst>
          </p:cNvPr>
          <p:cNvSpPr/>
          <p:nvPr/>
        </p:nvSpPr>
        <p:spPr>
          <a:xfrm rot="1960454">
            <a:off x="10633575" y="4974143"/>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Tree>
    <p:extLst>
      <p:ext uri="{BB962C8B-B14F-4D97-AF65-F5344CB8AC3E}">
        <p14:creationId xmlns:p14="http://schemas.microsoft.com/office/powerpoint/2010/main" val="29972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67B6-3C7D-52A1-E3B8-E8D4BA30D22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1BD2B42-2AFA-3797-19FF-AFB08343B59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74941025-E65A-10E1-7DC0-FCF74FF973A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74A3FF0-EE15-D18E-DF17-4BABE1629C4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8A19930-6FEC-C7AB-1A19-A4C2F544CDD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8A3FF129-BBD1-DD5D-032F-465E957EE69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00347E4-897D-8E2A-1E0D-5974B25A7648}"/>
              </a:ext>
            </a:extLst>
          </p:cNvPr>
          <p:cNvPicPr>
            <a:picLocks noChangeAspect="1"/>
          </p:cNvPicPr>
          <p:nvPr/>
        </p:nvPicPr>
        <p:blipFill>
          <a:blip r:embed="rId3"/>
          <a:stretch>
            <a:fillRect/>
          </a:stretch>
        </p:blipFill>
        <p:spPr>
          <a:xfrm>
            <a:off x="862585" y="1538111"/>
            <a:ext cx="5225489" cy="3159990"/>
          </a:xfrm>
          <a:prstGeom prst="rect">
            <a:avLst/>
          </a:prstGeom>
        </p:spPr>
      </p:pic>
      <p:pic>
        <p:nvPicPr>
          <p:cNvPr id="8" name="图片 7">
            <a:extLst>
              <a:ext uri="{FF2B5EF4-FFF2-40B4-BE49-F238E27FC236}">
                <a16:creationId xmlns:a16="http://schemas.microsoft.com/office/drawing/2014/main" id="{C543817F-1A02-C2E7-DDFD-85D8EE6E6BE8}"/>
              </a:ext>
            </a:extLst>
          </p:cNvPr>
          <p:cNvPicPr>
            <a:picLocks noChangeAspect="1"/>
          </p:cNvPicPr>
          <p:nvPr/>
        </p:nvPicPr>
        <p:blipFill>
          <a:blip r:embed="rId4"/>
          <a:stretch>
            <a:fillRect/>
          </a:stretch>
        </p:blipFill>
        <p:spPr>
          <a:xfrm>
            <a:off x="6320327" y="1560526"/>
            <a:ext cx="5326019" cy="3137575"/>
          </a:xfrm>
          <a:prstGeom prst="rect">
            <a:avLst/>
          </a:prstGeom>
        </p:spPr>
      </p:pic>
      <p:sp>
        <p:nvSpPr>
          <p:cNvPr id="10" name="文本框 9">
            <a:extLst>
              <a:ext uri="{FF2B5EF4-FFF2-40B4-BE49-F238E27FC236}">
                <a16:creationId xmlns:a16="http://schemas.microsoft.com/office/drawing/2014/main" id="{B9313473-1660-CFC4-88B7-E3A6FECC8CAB}"/>
              </a:ext>
            </a:extLst>
          </p:cNvPr>
          <p:cNvSpPr txBox="1"/>
          <p:nvPr/>
        </p:nvSpPr>
        <p:spPr>
          <a:xfrm>
            <a:off x="1074345" y="4994631"/>
            <a:ext cx="10749237" cy="1050609"/>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sz="2400" dirty="0">
                <a:latin typeface="Noto Sans SC"/>
                <a:ea typeface="Noto Sans SC"/>
                <a:sym typeface="Arial"/>
              </a:rPr>
              <a:t>在不同编程语言参数分布的差异上，代码搜索任务要比代码修复任务小很多</a:t>
            </a:r>
            <a:endParaRPr lang="en-US" altLang="zh-CN" sz="2400"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sz="2400" dirty="0">
                <a:latin typeface="Noto Sans SC"/>
                <a:ea typeface="Noto Sans SC"/>
                <a:sym typeface="Arial"/>
              </a:rPr>
              <a:t>在代码修复任务中，对于性能的下降，一般发生在参数变化小的任务上</a:t>
            </a:r>
            <a:endParaRPr lang="en-US" altLang="zh-CN" sz="2400" dirty="0">
              <a:latin typeface="Noto Sans SC"/>
              <a:ea typeface="Noto Sans SC"/>
              <a:sym typeface="Arial"/>
            </a:endParaRPr>
          </a:p>
        </p:txBody>
      </p:sp>
      <p:sp>
        <p:nvSpPr>
          <p:cNvPr id="3" name="文本框 2">
            <a:extLst>
              <a:ext uri="{FF2B5EF4-FFF2-40B4-BE49-F238E27FC236}">
                <a16:creationId xmlns:a16="http://schemas.microsoft.com/office/drawing/2014/main" id="{38487216-8C1B-7FC8-30EA-AEE24070BC8C}"/>
              </a:ext>
            </a:extLst>
          </p:cNvPr>
          <p:cNvSpPr txBox="1"/>
          <p:nvPr/>
        </p:nvSpPr>
        <p:spPr>
          <a:xfrm>
            <a:off x="2045309" y="1342985"/>
            <a:ext cx="2860040" cy="369332"/>
          </a:xfrm>
          <a:prstGeom prst="rect">
            <a:avLst/>
          </a:prstGeom>
          <a:noFill/>
        </p:spPr>
        <p:txBody>
          <a:bodyPr wrap="square">
            <a:spAutoFit/>
          </a:bodyPr>
          <a:lstStyle/>
          <a:p>
            <a:pPr algn="ctr"/>
            <a:r>
              <a:rPr lang="zh-CN" altLang="en-US" sz="1800" b="0" i="0" u="none" strike="noStrike" dirty="0">
                <a:solidFill>
                  <a:srgbClr val="000000"/>
                </a:solidFill>
              </a:rPr>
              <a:t>代码搜索</a:t>
            </a:r>
            <a:endParaRPr lang="zh-CN" altLang="en-US" dirty="0"/>
          </a:p>
        </p:txBody>
      </p:sp>
      <p:sp>
        <p:nvSpPr>
          <p:cNvPr id="5" name="文本框 4">
            <a:extLst>
              <a:ext uri="{FF2B5EF4-FFF2-40B4-BE49-F238E27FC236}">
                <a16:creationId xmlns:a16="http://schemas.microsoft.com/office/drawing/2014/main" id="{9334CC60-FF7F-C06E-FA4F-98128973C0AE}"/>
              </a:ext>
            </a:extLst>
          </p:cNvPr>
          <p:cNvSpPr txBox="1"/>
          <p:nvPr/>
        </p:nvSpPr>
        <p:spPr>
          <a:xfrm>
            <a:off x="8151469" y="1334690"/>
            <a:ext cx="2860040" cy="369332"/>
          </a:xfrm>
          <a:prstGeom prst="rect">
            <a:avLst/>
          </a:prstGeom>
          <a:noFill/>
        </p:spPr>
        <p:txBody>
          <a:bodyPr wrap="square">
            <a:spAutoFit/>
          </a:bodyPr>
          <a:lstStyle/>
          <a:p>
            <a:pPr algn="ctr"/>
            <a:r>
              <a:rPr lang="zh-CN" altLang="en-US" sz="1800" b="0" i="0" u="none" strike="noStrike" dirty="0">
                <a:solidFill>
                  <a:srgbClr val="000000"/>
                </a:solidFill>
              </a:rPr>
              <a:t>代码</a:t>
            </a:r>
            <a:r>
              <a:rPr lang="zh-CN" altLang="en-US" dirty="0">
                <a:solidFill>
                  <a:srgbClr val="000000"/>
                </a:solidFill>
              </a:rPr>
              <a:t>修复</a:t>
            </a:r>
            <a:endParaRPr lang="zh-CN" altLang="en-US" dirty="0"/>
          </a:p>
        </p:txBody>
      </p:sp>
    </p:spTree>
    <p:extLst>
      <p:ext uri="{BB962C8B-B14F-4D97-AF65-F5344CB8AC3E}">
        <p14:creationId xmlns:p14="http://schemas.microsoft.com/office/powerpoint/2010/main" val="2067562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AEB0-9C0D-B206-00FD-801E02B2423A}"/>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CA6BF28B-645C-5F03-9914-44089792B94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5165B53F-6590-BFAE-7A04-F69234AD986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FA4DA9-1953-C357-6755-94E68705CB3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AFED542-666B-D534-6AE5-B0C305CA7E1A}"/>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DC12F5F9-FDE8-E767-1D2B-1F20C00B5BA2}"/>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3CEAFC90-7E68-4D79-8BC9-3C2156C96CC8}"/>
              </a:ext>
            </a:extLst>
          </p:cNvPr>
          <p:cNvPicPr>
            <a:picLocks noChangeAspect="1"/>
          </p:cNvPicPr>
          <p:nvPr/>
        </p:nvPicPr>
        <p:blipFill>
          <a:blip r:embed="rId3"/>
          <a:stretch>
            <a:fillRect/>
          </a:stretch>
        </p:blipFill>
        <p:spPr>
          <a:xfrm>
            <a:off x="1491614" y="1495613"/>
            <a:ext cx="9136249" cy="2066599"/>
          </a:xfrm>
          <a:prstGeom prst="rect">
            <a:avLst/>
          </a:prstGeom>
        </p:spPr>
      </p:pic>
      <p:pic>
        <p:nvPicPr>
          <p:cNvPr id="8" name="图片 7">
            <a:extLst>
              <a:ext uri="{FF2B5EF4-FFF2-40B4-BE49-F238E27FC236}">
                <a16:creationId xmlns:a16="http://schemas.microsoft.com/office/drawing/2014/main" id="{83A9CB40-A774-56CF-5465-DD37E3BA4588}"/>
              </a:ext>
            </a:extLst>
          </p:cNvPr>
          <p:cNvPicPr>
            <a:picLocks noChangeAspect="1"/>
          </p:cNvPicPr>
          <p:nvPr/>
        </p:nvPicPr>
        <p:blipFill>
          <a:blip r:embed="rId4"/>
          <a:stretch>
            <a:fillRect/>
          </a:stretch>
        </p:blipFill>
        <p:spPr>
          <a:xfrm>
            <a:off x="2551364" y="4134582"/>
            <a:ext cx="7016749" cy="2089548"/>
          </a:xfrm>
          <a:prstGeom prst="rect">
            <a:avLst/>
          </a:prstGeom>
        </p:spPr>
      </p:pic>
      <p:sp>
        <p:nvSpPr>
          <p:cNvPr id="12" name="文本框 11">
            <a:extLst>
              <a:ext uri="{FF2B5EF4-FFF2-40B4-BE49-F238E27FC236}">
                <a16:creationId xmlns:a16="http://schemas.microsoft.com/office/drawing/2014/main" id="{3531B5B2-6126-9A5F-7B6E-A0824A9425BC}"/>
              </a:ext>
            </a:extLst>
          </p:cNvPr>
          <p:cNvSpPr txBox="1"/>
          <p:nvPr/>
        </p:nvSpPr>
        <p:spPr>
          <a:xfrm>
            <a:off x="3006658" y="109245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程序理解任务融合性能</a:t>
            </a:r>
            <a:r>
              <a:rPr lang="en-US" altLang="zh-CN" sz="1600" b="0" i="0" u="none" strike="noStrike" dirty="0">
                <a:solidFill>
                  <a:schemeClr val="tx1"/>
                </a:solidFill>
                <a:latin typeface="Noto Sans SC"/>
                <a:ea typeface="Noto Sans SC"/>
                <a:cs typeface="Noto Sans SC"/>
                <a:sym typeface="Noto Sans SC"/>
              </a:rPr>
              <a:t>(Java</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
        <p:nvSpPr>
          <p:cNvPr id="13" name="文本框 12">
            <a:extLst>
              <a:ext uri="{FF2B5EF4-FFF2-40B4-BE49-F238E27FC236}">
                <a16:creationId xmlns:a16="http://schemas.microsoft.com/office/drawing/2014/main" id="{8A534E22-F13E-0BC0-4A39-C78C5AEBE435}"/>
              </a:ext>
            </a:extLst>
          </p:cNvPr>
          <p:cNvSpPr txBox="1"/>
          <p:nvPr/>
        </p:nvSpPr>
        <p:spPr>
          <a:xfrm>
            <a:off x="3006658" y="373142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程序生成任务融合性能</a:t>
            </a:r>
            <a:r>
              <a:rPr lang="en-US" altLang="zh-CN" sz="1600" b="0" i="0" u="none" strike="noStrike" dirty="0">
                <a:solidFill>
                  <a:schemeClr val="tx1"/>
                </a:solidFill>
                <a:latin typeface="Noto Sans SC"/>
                <a:ea typeface="Noto Sans SC"/>
                <a:cs typeface="Noto Sans SC"/>
                <a:sym typeface="Noto Sans SC"/>
              </a:rPr>
              <a:t>(Py</a:t>
            </a:r>
            <a:r>
              <a:rPr lang="en-US" altLang="zh-CN" sz="1600" dirty="0">
                <a:latin typeface="Noto Sans SC"/>
                <a:ea typeface="Noto Sans SC"/>
                <a:cs typeface="Noto Sans SC"/>
                <a:sym typeface="Noto Sans SC"/>
              </a:rPr>
              <a:t>thon</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
        <p:nvSpPr>
          <p:cNvPr id="2" name="矩形: 圆角 1">
            <a:extLst>
              <a:ext uri="{FF2B5EF4-FFF2-40B4-BE49-F238E27FC236}">
                <a16:creationId xmlns:a16="http://schemas.microsoft.com/office/drawing/2014/main" id="{E74498A1-BD86-3BD3-BD91-234A6EEF282F}"/>
              </a:ext>
            </a:extLst>
          </p:cNvPr>
          <p:cNvSpPr/>
          <p:nvPr/>
        </p:nvSpPr>
        <p:spPr>
          <a:xfrm>
            <a:off x="6461760"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3D917F1E-F674-1445-3687-8BF83F6B9043}"/>
              </a:ext>
            </a:extLst>
          </p:cNvPr>
          <p:cNvSpPr/>
          <p:nvPr/>
        </p:nvSpPr>
        <p:spPr>
          <a:xfrm>
            <a:off x="4779578" y="4107614"/>
            <a:ext cx="1164022" cy="2116515"/>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5983F141-8753-1273-9700-3E8422EE6CE7}"/>
              </a:ext>
            </a:extLst>
          </p:cNvPr>
          <p:cNvSpPr/>
          <p:nvPr/>
        </p:nvSpPr>
        <p:spPr>
          <a:xfrm>
            <a:off x="152588" y="4587561"/>
            <a:ext cx="2471299"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除了</a:t>
            </a:r>
            <a:r>
              <a:rPr lang="en-US" altLang="zh-CN" dirty="0">
                <a:solidFill>
                  <a:schemeClr val="tx1"/>
                </a:solidFill>
                <a:latin typeface="Noto Sans SC" panose="020B0200000000000000" pitchFamily="34" charset="-122"/>
                <a:ea typeface="Noto Sans SC" panose="020B0200000000000000" pitchFamily="34" charset="-122"/>
              </a:rPr>
              <a:t>TALL-Masks</a:t>
            </a:r>
            <a:r>
              <a:rPr lang="zh-CN" altLang="en-US" dirty="0">
                <a:solidFill>
                  <a:schemeClr val="tx1"/>
                </a:solidFill>
                <a:latin typeface="Noto Sans SC" panose="020B0200000000000000" pitchFamily="34" charset="-122"/>
                <a:ea typeface="Noto Sans SC" panose="020B0200000000000000" pitchFamily="34" charset="-122"/>
              </a:rPr>
              <a:t>，其他方法在某些任务上都有</a:t>
            </a:r>
            <a:r>
              <a:rPr lang="zh-CN" altLang="en-US" b="1" dirty="0">
                <a:solidFill>
                  <a:srgbClr val="FF0000"/>
                </a:solidFill>
                <a:latin typeface="Noto Sans SC" panose="020B0200000000000000" pitchFamily="34" charset="-122"/>
                <a:ea typeface="Noto Sans SC" panose="020B0200000000000000" pitchFamily="34" charset="-122"/>
              </a:rPr>
              <a:t>较大的性能损失</a:t>
            </a:r>
          </a:p>
        </p:txBody>
      </p:sp>
      <p:sp>
        <p:nvSpPr>
          <p:cNvPr id="11" name="任意多边形: 形状 10">
            <a:extLst>
              <a:ext uri="{FF2B5EF4-FFF2-40B4-BE49-F238E27FC236}">
                <a16:creationId xmlns:a16="http://schemas.microsoft.com/office/drawing/2014/main" id="{5115CAA5-69E6-33D4-37D3-A371C7724951}"/>
              </a:ext>
            </a:extLst>
          </p:cNvPr>
          <p:cNvSpPr/>
          <p:nvPr/>
        </p:nvSpPr>
        <p:spPr>
          <a:xfrm>
            <a:off x="792481" y="3505202"/>
            <a:ext cx="5933440" cy="95504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5935625 w 5935625"/>
              <a:gd name="connsiteY0" fmla="*/ 689437 h 1644477"/>
              <a:gd name="connsiteX1" fmla="*/ 2185 w 5935625"/>
              <a:gd name="connsiteY1" fmla="*/ 1644477 h 1644477"/>
              <a:gd name="connsiteX0" fmla="*/ 5933452 w 5933452"/>
              <a:gd name="connsiteY0" fmla="*/ 327380 h 1282420"/>
              <a:gd name="connsiteX1" fmla="*/ 12 w 5933452"/>
              <a:gd name="connsiteY1" fmla="*/ 1282420 h 1282420"/>
              <a:gd name="connsiteX0" fmla="*/ 5933440 w 5933440"/>
              <a:gd name="connsiteY0" fmla="*/ 0 h 955040"/>
              <a:gd name="connsiteX1" fmla="*/ 0 w 5933440"/>
              <a:gd name="connsiteY1" fmla="*/ 955040 h 955040"/>
            </a:gdLst>
            <a:ahLst/>
            <a:cxnLst>
              <a:cxn ang="0">
                <a:pos x="connsiteX0" y="connsiteY0"/>
              </a:cxn>
              <a:cxn ang="0">
                <a:pos x="connsiteX1" y="connsiteY1"/>
              </a:cxn>
            </a:cxnLst>
            <a:rect l="l" t="t" r="r" b="b"/>
            <a:pathLst>
              <a:path w="5933440" h="955040">
                <a:moveTo>
                  <a:pt x="5933440" y="0"/>
                </a:moveTo>
                <a:cubicBezTo>
                  <a:pt x="3034453" y="342053"/>
                  <a:pt x="958427" y="84667"/>
                  <a:pt x="0" y="95504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任意多边形: 形状 13">
            <a:extLst>
              <a:ext uri="{FF2B5EF4-FFF2-40B4-BE49-F238E27FC236}">
                <a16:creationId xmlns:a16="http://schemas.microsoft.com/office/drawing/2014/main" id="{2CFA9A6C-F3D7-8964-522B-4F69BE58AA2C}"/>
              </a:ext>
            </a:extLst>
          </p:cNvPr>
          <p:cNvSpPr/>
          <p:nvPr/>
        </p:nvSpPr>
        <p:spPr>
          <a:xfrm>
            <a:off x="1272825" y="5938504"/>
            <a:ext cx="4132772" cy="456176"/>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Lst>
            <a:ahLst/>
            <a:cxnLst>
              <a:cxn ang="0">
                <a:pos x="connsiteX0" y="connsiteY0"/>
              </a:cxn>
              <a:cxn ang="0">
                <a:pos x="connsiteX1" y="connsiteY1"/>
              </a:cxn>
            </a:cxnLst>
            <a:rect l="l" t="t" r="r" b="b"/>
            <a:pathLst>
              <a:path w="4132772" h="456176">
                <a:moveTo>
                  <a:pt x="4132772" y="345440"/>
                </a:moveTo>
                <a:cubicBezTo>
                  <a:pt x="2788265" y="555413"/>
                  <a:pt x="-171681" y="480907"/>
                  <a:pt x="7812"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5" name="矩形: 圆角 14">
            <a:extLst>
              <a:ext uri="{FF2B5EF4-FFF2-40B4-BE49-F238E27FC236}">
                <a16:creationId xmlns:a16="http://schemas.microsoft.com/office/drawing/2014/main" id="{10E8E8EC-F33C-98A4-B02C-AB9161DEEDEC}"/>
              </a:ext>
            </a:extLst>
          </p:cNvPr>
          <p:cNvSpPr/>
          <p:nvPr/>
        </p:nvSpPr>
        <p:spPr>
          <a:xfrm>
            <a:off x="9347703"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08566600-1CCE-5187-0B9C-CAE983BEEEE1}"/>
              </a:ext>
            </a:extLst>
          </p:cNvPr>
          <p:cNvSpPr/>
          <p:nvPr/>
        </p:nvSpPr>
        <p:spPr>
          <a:xfrm>
            <a:off x="6004560" y="4134581"/>
            <a:ext cx="2307336" cy="2089548"/>
          </a:xfrm>
          <a:prstGeom prst="roundRect">
            <a:avLst>
              <a:gd name="adj" fmla="val 170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B8E817D2-C911-84A5-2F5D-E23177177D25}"/>
              </a:ext>
            </a:extLst>
          </p:cNvPr>
          <p:cNvSpPr/>
          <p:nvPr/>
        </p:nvSpPr>
        <p:spPr>
          <a:xfrm>
            <a:off x="9768806" y="4587561"/>
            <a:ext cx="2155691"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所有方法在某些任务上都能</a:t>
            </a:r>
            <a:r>
              <a:rPr lang="zh-CN" altLang="en-US" b="1" dirty="0">
                <a:solidFill>
                  <a:srgbClr val="FF0000"/>
                </a:solidFill>
                <a:latin typeface="Noto Sans SC" panose="020B0200000000000000" pitchFamily="34" charset="-122"/>
                <a:ea typeface="Noto Sans SC" panose="020B0200000000000000" pitchFamily="34" charset="-122"/>
              </a:rPr>
              <a:t>保持比较好的性能</a:t>
            </a:r>
          </a:p>
        </p:txBody>
      </p:sp>
      <p:sp>
        <p:nvSpPr>
          <p:cNvPr id="18" name="任意多边形: 形状 17">
            <a:extLst>
              <a:ext uri="{FF2B5EF4-FFF2-40B4-BE49-F238E27FC236}">
                <a16:creationId xmlns:a16="http://schemas.microsoft.com/office/drawing/2014/main" id="{4CD5C274-8D5A-4E85-6FE2-AE6930E4C707}"/>
              </a:ext>
            </a:extLst>
          </p:cNvPr>
          <p:cNvSpPr/>
          <p:nvPr/>
        </p:nvSpPr>
        <p:spPr>
          <a:xfrm>
            <a:off x="7486855" y="5928344"/>
            <a:ext cx="3312160" cy="486184"/>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Lst>
            <a:ahLst/>
            <a:cxnLst>
              <a:cxn ang="0">
                <a:pos x="connsiteX0" y="connsiteY0"/>
              </a:cxn>
              <a:cxn ang="0">
                <a:pos x="connsiteX1" y="connsiteY1"/>
              </a:cxn>
            </a:cxnLst>
            <a:rect l="l" t="t" r="r" b="b"/>
            <a:pathLst>
              <a:path w="3312160" h="486184">
                <a:moveTo>
                  <a:pt x="0" y="355600"/>
                </a:moveTo>
                <a:cubicBezTo>
                  <a:pt x="880533" y="616373"/>
                  <a:pt x="3132667" y="480907"/>
                  <a:pt x="3312160"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2" name="任意多边形: 形状 21">
            <a:extLst>
              <a:ext uri="{FF2B5EF4-FFF2-40B4-BE49-F238E27FC236}">
                <a16:creationId xmlns:a16="http://schemas.microsoft.com/office/drawing/2014/main" id="{C744128B-A985-00AB-C75C-FE5DCCAA9C0D}"/>
              </a:ext>
            </a:extLst>
          </p:cNvPr>
          <p:cNvSpPr/>
          <p:nvPr/>
        </p:nvSpPr>
        <p:spPr>
          <a:xfrm>
            <a:off x="10260535" y="3530584"/>
            <a:ext cx="609600" cy="98552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 name="connsiteX0" fmla="*/ 0 w 731520"/>
              <a:gd name="connsiteY0" fmla="*/ 0 h 2506394"/>
              <a:gd name="connsiteX1" fmla="*/ 731520 w 731520"/>
              <a:gd name="connsiteY1" fmla="*/ 2448560 h 2506394"/>
              <a:gd name="connsiteX0" fmla="*/ 0 w 670560"/>
              <a:gd name="connsiteY0" fmla="*/ 0 h 957269"/>
              <a:gd name="connsiteX1" fmla="*/ 670560 w 670560"/>
              <a:gd name="connsiteY1" fmla="*/ 833120 h 957269"/>
              <a:gd name="connsiteX0" fmla="*/ 0 w 650240"/>
              <a:gd name="connsiteY0" fmla="*/ 0 h 1003791"/>
              <a:gd name="connsiteX1" fmla="*/ 650240 w 650240"/>
              <a:gd name="connsiteY1" fmla="*/ 883920 h 1003791"/>
              <a:gd name="connsiteX0" fmla="*/ 0 w 640080"/>
              <a:gd name="connsiteY0" fmla="*/ 0 h 975842"/>
              <a:gd name="connsiteX1" fmla="*/ 640080 w 640080"/>
              <a:gd name="connsiteY1" fmla="*/ 853440 h 975842"/>
              <a:gd name="connsiteX0" fmla="*/ 0 w 640080"/>
              <a:gd name="connsiteY0" fmla="*/ 0 h 984364"/>
              <a:gd name="connsiteX1" fmla="*/ 640080 w 640080"/>
              <a:gd name="connsiteY1" fmla="*/ 853440 h 984364"/>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09600"/>
              <a:gd name="connsiteY0" fmla="*/ 0 h 985520"/>
              <a:gd name="connsiteX1" fmla="*/ 609600 w 609600"/>
              <a:gd name="connsiteY1" fmla="*/ 985520 h 985520"/>
            </a:gdLst>
            <a:ahLst/>
            <a:cxnLst>
              <a:cxn ang="0">
                <a:pos x="connsiteX0" y="connsiteY0"/>
              </a:cxn>
              <a:cxn ang="0">
                <a:pos x="connsiteX1" y="connsiteY1"/>
              </a:cxn>
            </a:cxnLst>
            <a:rect l="l" t="t" r="r" b="b"/>
            <a:pathLst>
              <a:path w="609600" h="985520">
                <a:moveTo>
                  <a:pt x="0" y="0"/>
                </a:moveTo>
                <a:cubicBezTo>
                  <a:pt x="331893" y="230293"/>
                  <a:pt x="491067" y="643467"/>
                  <a:pt x="609600" y="98552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01945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CDCB-7CF3-736D-059C-7C3165FB79B5}"/>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2693DA25-1A35-5B17-D810-4177CB660C1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71DD30B-5C7C-ED4A-A349-4A1E21FCE6A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7EF5240-41C8-C7EE-5EA8-7E8E63AB66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9FE11413-7F77-69EE-AFCD-FD6FB85156C6}"/>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27AFB6CC-4B05-B0C0-DAE3-2A921CFDFC7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BB2FEBD2-02F7-5FD1-3A46-1ABE6AE21F26}"/>
              </a:ext>
            </a:extLst>
          </p:cNvPr>
          <p:cNvPicPr>
            <a:picLocks noChangeAspect="1"/>
          </p:cNvPicPr>
          <p:nvPr/>
        </p:nvPicPr>
        <p:blipFill>
          <a:blip r:embed="rId3"/>
          <a:stretch>
            <a:fillRect/>
          </a:stretch>
        </p:blipFill>
        <p:spPr>
          <a:xfrm>
            <a:off x="321566" y="1494991"/>
            <a:ext cx="5519444" cy="3252329"/>
          </a:xfrm>
          <a:prstGeom prst="rect">
            <a:avLst/>
          </a:prstGeom>
        </p:spPr>
      </p:pic>
      <p:pic>
        <p:nvPicPr>
          <p:cNvPr id="7" name="图片 6">
            <a:extLst>
              <a:ext uri="{FF2B5EF4-FFF2-40B4-BE49-F238E27FC236}">
                <a16:creationId xmlns:a16="http://schemas.microsoft.com/office/drawing/2014/main" id="{A6BA44DB-9BAE-D1A2-A1FD-84AF72567CB4}"/>
              </a:ext>
            </a:extLst>
          </p:cNvPr>
          <p:cNvPicPr>
            <a:picLocks noChangeAspect="1"/>
          </p:cNvPicPr>
          <p:nvPr/>
        </p:nvPicPr>
        <p:blipFill>
          <a:blip r:embed="rId4"/>
          <a:stretch>
            <a:fillRect/>
          </a:stretch>
        </p:blipFill>
        <p:spPr>
          <a:xfrm>
            <a:off x="6194187" y="1494991"/>
            <a:ext cx="5453543" cy="3252329"/>
          </a:xfrm>
          <a:prstGeom prst="rect">
            <a:avLst/>
          </a:prstGeom>
        </p:spPr>
      </p:pic>
      <p:sp>
        <p:nvSpPr>
          <p:cNvPr id="9" name="文本框 8">
            <a:extLst>
              <a:ext uri="{FF2B5EF4-FFF2-40B4-BE49-F238E27FC236}">
                <a16:creationId xmlns:a16="http://schemas.microsoft.com/office/drawing/2014/main" id="{B44D9638-A80F-43B9-72B5-2E0711AB3823}"/>
              </a:ext>
            </a:extLst>
          </p:cNvPr>
          <p:cNvSpPr txBox="1"/>
          <p:nvPr/>
        </p:nvSpPr>
        <p:spPr>
          <a:xfrm>
            <a:off x="2209991" y="4996002"/>
            <a:ext cx="2774567"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不同任务之间的</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参数变化分布差异大</a:t>
            </a:r>
            <a:endParaRPr lang="en-US" altLang="zh-CN" sz="2000" b="1" dirty="0">
              <a:solidFill>
                <a:srgbClr val="FF0000"/>
              </a:solidFill>
              <a:latin typeface="Noto Sans SC"/>
              <a:ea typeface="Noto Sans SC"/>
              <a:sym typeface="Arial"/>
            </a:endParaRPr>
          </a:p>
        </p:txBody>
      </p:sp>
      <p:sp>
        <p:nvSpPr>
          <p:cNvPr id="4" name="文本框 3">
            <a:extLst>
              <a:ext uri="{FF2B5EF4-FFF2-40B4-BE49-F238E27FC236}">
                <a16:creationId xmlns:a16="http://schemas.microsoft.com/office/drawing/2014/main" id="{DEB338BA-5AC7-892A-18DE-1877266BE7B3}"/>
              </a:ext>
            </a:extLst>
          </p:cNvPr>
          <p:cNvSpPr txBox="1"/>
          <p:nvPr/>
        </p:nvSpPr>
        <p:spPr>
          <a:xfrm>
            <a:off x="7525298" y="5069483"/>
            <a:ext cx="3589742" cy="753348"/>
          </a:xfrm>
          <a:prstGeom prst="rect">
            <a:avLst/>
          </a:prstGeom>
          <a:noFill/>
        </p:spPr>
        <p:txBody>
          <a:bodyPr wrap="square">
            <a:spAutoFit/>
          </a:bodyPr>
          <a:lstStyle/>
          <a:p>
            <a:pPr algn="ctr">
              <a:lnSpc>
                <a:spcPct val="125000"/>
              </a:lnSpc>
              <a:buClr>
                <a:srgbClr val="000000"/>
              </a:buClr>
              <a:defRPr/>
            </a:pPr>
            <a:r>
              <a:rPr lang="zh-CN" altLang="en-US" sz="1800" dirty="0">
                <a:latin typeface="Noto Sans SC"/>
                <a:ea typeface="Noto Sans SC"/>
                <a:sym typeface="Arial"/>
              </a:rPr>
              <a:t>融合模型的行为</a:t>
            </a:r>
            <a:r>
              <a:rPr lang="zh-CN" altLang="en-US" sz="1800" b="1" dirty="0">
                <a:solidFill>
                  <a:srgbClr val="FF0000"/>
                </a:solidFill>
                <a:latin typeface="Noto Sans SC"/>
                <a:ea typeface="Noto Sans SC"/>
                <a:sym typeface="Arial"/>
              </a:rPr>
              <a:t>更接近强特征任务</a:t>
            </a:r>
            <a:r>
              <a:rPr lang="en-US" altLang="zh-CN" sz="1800" b="1" dirty="0">
                <a:solidFill>
                  <a:srgbClr val="FF0000"/>
                </a:solidFill>
                <a:latin typeface="Noto Sans SC"/>
                <a:ea typeface="Noto Sans SC"/>
                <a:sym typeface="Arial"/>
              </a:rPr>
              <a:t>(</a:t>
            </a:r>
            <a:r>
              <a:rPr lang="zh-CN" altLang="en-US" sz="1800" b="1" dirty="0">
                <a:solidFill>
                  <a:srgbClr val="FF0000"/>
                </a:solidFill>
                <a:latin typeface="Noto Sans SC"/>
                <a:ea typeface="Noto Sans SC"/>
                <a:sym typeface="Arial"/>
              </a:rPr>
              <a:t>参数变化大</a:t>
            </a:r>
            <a:r>
              <a:rPr lang="en-US" altLang="zh-CN" sz="1800" b="1" dirty="0">
                <a:solidFill>
                  <a:srgbClr val="FF0000"/>
                </a:solidFill>
                <a:latin typeface="Noto Sans SC"/>
                <a:ea typeface="Noto Sans SC"/>
                <a:sym typeface="Arial"/>
              </a:rPr>
              <a:t>)</a:t>
            </a:r>
            <a:r>
              <a:rPr lang="zh-CN" altLang="en-US" sz="1800" dirty="0">
                <a:latin typeface="Noto Sans SC"/>
                <a:ea typeface="Noto Sans SC"/>
                <a:sym typeface="Arial"/>
              </a:rPr>
              <a:t>微调模型行为</a:t>
            </a:r>
            <a:endParaRPr lang="en-US" altLang="zh-CN" sz="1800" dirty="0">
              <a:latin typeface="Noto Sans SC"/>
              <a:ea typeface="Noto Sans SC"/>
              <a:sym typeface="Arial"/>
            </a:endParaRPr>
          </a:p>
        </p:txBody>
      </p:sp>
      <p:sp>
        <p:nvSpPr>
          <p:cNvPr id="5" name="矩形 4">
            <a:extLst>
              <a:ext uri="{FF2B5EF4-FFF2-40B4-BE49-F238E27FC236}">
                <a16:creationId xmlns:a16="http://schemas.microsoft.com/office/drawing/2014/main" id="{0B9B2534-B4B8-A15A-5926-E1B9C84D4F14}"/>
              </a:ext>
            </a:extLst>
          </p:cNvPr>
          <p:cNvSpPr/>
          <p:nvPr/>
        </p:nvSpPr>
        <p:spPr>
          <a:xfrm>
            <a:off x="2448560" y="1889760"/>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0A23C34-C55F-5B18-8505-246F1567DF17}"/>
              </a:ext>
            </a:extLst>
          </p:cNvPr>
          <p:cNvSpPr/>
          <p:nvPr/>
        </p:nvSpPr>
        <p:spPr>
          <a:xfrm>
            <a:off x="2448560" y="2853489"/>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982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6B72-4BC6-7E4F-5ADD-E9C4BF7F9D7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898F3254-BE44-70B6-C910-B91AAA5DC828}"/>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27D73C68-609E-150C-9DF8-AD7FDEBCA46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52FA728-BF09-E49B-8742-30987C296ED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591D7FA-EED7-0A41-AB46-4D889B5D6F02}"/>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18ED7F5-AF25-A3B5-EFCA-BAC37CB4A517}"/>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1077A83-2E2F-6EA3-16AC-989DFA3F01A8}"/>
              </a:ext>
            </a:extLst>
          </p:cNvPr>
          <p:cNvPicPr>
            <a:picLocks noChangeAspect="1"/>
          </p:cNvPicPr>
          <p:nvPr/>
        </p:nvPicPr>
        <p:blipFill>
          <a:blip r:embed="rId3"/>
          <a:stretch>
            <a:fillRect/>
          </a:stretch>
        </p:blipFill>
        <p:spPr>
          <a:xfrm>
            <a:off x="0" y="1394644"/>
            <a:ext cx="12192000" cy="3198633"/>
          </a:xfrm>
          <a:prstGeom prst="rect">
            <a:avLst/>
          </a:prstGeom>
        </p:spPr>
      </p:pic>
      <p:sp>
        <p:nvSpPr>
          <p:cNvPr id="8" name="文本框 7">
            <a:extLst>
              <a:ext uri="{FF2B5EF4-FFF2-40B4-BE49-F238E27FC236}">
                <a16:creationId xmlns:a16="http://schemas.microsoft.com/office/drawing/2014/main" id="{59456227-FA04-7A80-5E04-ABA762CDCAB4}"/>
              </a:ext>
            </a:extLst>
          </p:cNvPr>
          <p:cNvSpPr txBox="1"/>
          <p:nvPr/>
        </p:nvSpPr>
        <p:spPr>
          <a:xfrm>
            <a:off x="1192911" y="4805829"/>
            <a:ext cx="9806178" cy="1216615"/>
          </a:xfrm>
          <a:prstGeom prst="rect">
            <a:avLst/>
          </a:prstGeom>
          <a:noFill/>
        </p:spPr>
        <p:txBody>
          <a:bodyPr wrap="square">
            <a:spAutoFit/>
          </a:bodyPr>
          <a:lstStyle/>
          <a:p>
            <a:pPr>
              <a:lnSpc>
                <a:spcPct val="125000"/>
              </a:lnSpc>
              <a:spcBef>
                <a:spcPts val="600"/>
              </a:spcBef>
              <a:buClr>
                <a:srgbClr val="000000"/>
              </a:buClr>
              <a:defRPr/>
            </a:pPr>
            <a:r>
              <a:rPr lang="zh-CN" altLang="en-US" sz="2000" dirty="0">
                <a:latin typeface="Noto Sans SC"/>
                <a:ea typeface="Noto Sans SC"/>
                <a:sym typeface="Arial"/>
              </a:rPr>
              <a:t>在多软工任务多编程语言融合场景下，几乎所有融合方法都会在某些任务上出现显著的性能下降。对于 </a:t>
            </a:r>
            <a:r>
              <a:rPr lang="en-US" altLang="zh-CN" sz="2000" dirty="0">
                <a:latin typeface="Noto Sans SC"/>
                <a:ea typeface="Noto Sans SC"/>
                <a:sym typeface="Arial"/>
              </a:rPr>
              <a:t>TALL-Masks</a:t>
            </a:r>
            <a:r>
              <a:rPr lang="zh-CN" altLang="en-US" sz="2000" dirty="0">
                <a:latin typeface="Noto Sans SC"/>
                <a:ea typeface="Noto Sans SC"/>
                <a:sym typeface="Arial"/>
              </a:rPr>
              <a:t>，除了漏洞检测任务之外，在其他所有任务上都能够保持接近单任务微调模型 </a:t>
            </a:r>
            <a:r>
              <a:rPr lang="en-US" altLang="zh-CN" sz="2000" dirty="0">
                <a:latin typeface="Noto Sans SC"/>
                <a:ea typeface="Noto Sans SC"/>
                <a:sym typeface="Arial"/>
              </a:rPr>
              <a:t>100% </a:t>
            </a:r>
            <a:r>
              <a:rPr lang="zh-CN" altLang="en-US" sz="2000" dirty="0">
                <a:latin typeface="Noto Sans SC"/>
                <a:ea typeface="Noto Sans SC"/>
                <a:sym typeface="Arial"/>
              </a:rPr>
              <a:t>的能力。</a:t>
            </a:r>
            <a:endParaRPr lang="zh-CN" altLang="en-US" sz="2000" dirty="0"/>
          </a:p>
        </p:txBody>
      </p:sp>
    </p:spTree>
    <p:extLst>
      <p:ext uri="{BB962C8B-B14F-4D97-AF65-F5344CB8AC3E}">
        <p14:creationId xmlns:p14="http://schemas.microsoft.com/office/powerpoint/2010/main" val="357046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A9AB-D16A-3CD1-8203-E4B3139ACCC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05890554-20D5-0AF4-C6DC-BB5D7CFC0F0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D823052-FAD4-478F-5B58-627E157A3DB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1F5A4D8-A5CD-5B57-5340-200AC51453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E079B1E-8B36-DC11-44CE-A55378C0F8B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41BAE0D-43BA-655B-123A-D3D5ED384414}"/>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749F31EC-0EC4-61DD-F0E4-E98B0FE7F8D9}"/>
              </a:ext>
            </a:extLst>
          </p:cNvPr>
          <p:cNvPicPr>
            <a:picLocks noChangeAspect="1"/>
          </p:cNvPicPr>
          <p:nvPr/>
        </p:nvPicPr>
        <p:blipFill>
          <a:blip r:embed="rId3"/>
          <a:stretch>
            <a:fillRect/>
          </a:stretch>
        </p:blipFill>
        <p:spPr>
          <a:xfrm>
            <a:off x="6435557" y="2495811"/>
            <a:ext cx="4613444" cy="3197437"/>
          </a:xfrm>
          <a:prstGeom prst="rect">
            <a:avLst/>
          </a:prstGeom>
        </p:spPr>
      </p:pic>
      <p:pic>
        <p:nvPicPr>
          <p:cNvPr id="7" name="图片 6">
            <a:extLst>
              <a:ext uri="{FF2B5EF4-FFF2-40B4-BE49-F238E27FC236}">
                <a16:creationId xmlns:a16="http://schemas.microsoft.com/office/drawing/2014/main" id="{CB072417-32DD-7751-09DE-8DAB717D1DCA}"/>
              </a:ext>
            </a:extLst>
          </p:cNvPr>
          <p:cNvPicPr>
            <a:picLocks noChangeAspect="1"/>
          </p:cNvPicPr>
          <p:nvPr/>
        </p:nvPicPr>
        <p:blipFill>
          <a:blip r:embed="rId4"/>
          <a:stretch>
            <a:fillRect/>
          </a:stretch>
        </p:blipFill>
        <p:spPr>
          <a:xfrm>
            <a:off x="529908" y="2452197"/>
            <a:ext cx="4996468" cy="3145232"/>
          </a:xfrm>
          <a:prstGeom prst="rect">
            <a:avLst/>
          </a:prstGeom>
        </p:spPr>
      </p:pic>
      <p:sp>
        <p:nvSpPr>
          <p:cNvPr id="9" name="文本框 8">
            <a:extLst>
              <a:ext uri="{FF2B5EF4-FFF2-40B4-BE49-F238E27FC236}">
                <a16:creationId xmlns:a16="http://schemas.microsoft.com/office/drawing/2014/main" id="{6DBE9040-A9E7-CBE0-C64D-AD6564878EB2}"/>
              </a:ext>
            </a:extLst>
          </p:cNvPr>
          <p:cNvSpPr txBox="1"/>
          <p:nvPr/>
        </p:nvSpPr>
        <p:spPr>
          <a:xfrm>
            <a:off x="529908" y="5597429"/>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代码修复任务多编程语言融合</a:t>
            </a:r>
          </a:p>
        </p:txBody>
      </p:sp>
      <p:sp>
        <p:nvSpPr>
          <p:cNvPr id="10" name="文本框 9">
            <a:extLst>
              <a:ext uri="{FF2B5EF4-FFF2-40B4-BE49-F238E27FC236}">
                <a16:creationId xmlns:a16="http://schemas.microsoft.com/office/drawing/2014/main" id="{37CC34C2-7E11-7989-C203-B5E31734A5C6}"/>
              </a:ext>
            </a:extLst>
          </p:cNvPr>
          <p:cNvSpPr txBox="1"/>
          <p:nvPr/>
        </p:nvSpPr>
        <p:spPr>
          <a:xfrm>
            <a:off x="6096000" y="5693248"/>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多软工任务多编程语言融合</a:t>
            </a:r>
          </a:p>
        </p:txBody>
      </p:sp>
      <p:sp>
        <p:nvSpPr>
          <p:cNvPr id="11" name="文本框 10">
            <a:extLst>
              <a:ext uri="{FF2B5EF4-FFF2-40B4-BE49-F238E27FC236}">
                <a16:creationId xmlns:a16="http://schemas.microsoft.com/office/drawing/2014/main" id="{3AA95126-6721-FA8B-761A-EC37433AB7CE}"/>
              </a:ext>
            </a:extLst>
          </p:cNvPr>
          <p:cNvSpPr txBox="1"/>
          <p:nvPr/>
        </p:nvSpPr>
        <p:spPr>
          <a:xfrm>
            <a:off x="1496886" y="5998540"/>
            <a:ext cx="10091401" cy="441852"/>
          </a:xfrm>
          <a:prstGeom prst="rect">
            <a:avLst/>
          </a:prstGeom>
          <a:noFill/>
        </p:spPr>
        <p:txBody>
          <a:bodyPr wrap="square">
            <a:spAutoFit/>
          </a:bodyPr>
          <a:lstStyle/>
          <a:p>
            <a:pPr>
              <a:lnSpc>
                <a:spcPct val="125000"/>
              </a:lnSpc>
              <a:spcBef>
                <a:spcPts val="600"/>
              </a:spcBef>
              <a:buClr>
                <a:srgbClr val="000000"/>
              </a:buClr>
              <a:defRPr/>
            </a:pPr>
            <a:r>
              <a:rPr lang="zh-CN" altLang="en-US" sz="2000" dirty="0">
                <a:latin typeface="Times New Roman" panose="02020603050405020304" pitchFamily="18" charset="0"/>
                <a:ea typeface="Noto Sans SC"/>
                <a:sym typeface="Arial"/>
              </a:rPr>
              <a:t>对于 </a:t>
            </a:r>
            <a:r>
              <a:rPr lang="en-US" altLang="zh-CN" sz="2000" dirty="0">
                <a:latin typeface="Times New Roman" panose="02020603050405020304" pitchFamily="18" charset="0"/>
                <a:ea typeface="Noto Sans SC"/>
                <a:sym typeface="Arial"/>
              </a:rPr>
              <a:t>TALL-Masks </a:t>
            </a:r>
            <a:r>
              <a:rPr lang="zh-CN" altLang="en-US" sz="2000" dirty="0">
                <a:latin typeface="Times New Roman" panose="02020603050405020304" pitchFamily="18" charset="0"/>
                <a:ea typeface="Noto Sans SC"/>
                <a:sym typeface="Arial"/>
              </a:rPr>
              <a:t>而言，对于</a:t>
            </a:r>
            <a:r>
              <a:rPr lang="zh-CN" altLang="en-US" sz="2000" b="1" dirty="0">
                <a:solidFill>
                  <a:srgbClr val="FF0000"/>
                </a:solidFill>
                <a:latin typeface="Times New Roman" panose="02020603050405020304" pitchFamily="18" charset="0"/>
                <a:ea typeface="Noto Sans SC"/>
                <a:sym typeface="Arial"/>
              </a:rPr>
              <a:t>弱特征任务</a:t>
            </a:r>
            <a:r>
              <a:rPr lang="zh-CN" altLang="en-US" sz="2000" dirty="0">
                <a:latin typeface="Times New Roman" panose="02020603050405020304" pitchFamily="18" charset="0"/>
                <a:ea typeface="Noto Sans SC"/>
                <a:sym typeface="Arial"/>
              </a:rPr>
              <a:t>，构建出的掩码</a:t>
            </a:r>
            <a:r>
              <a:rPr lang="zh-CN" altLang="en-US" sz="2000" b="1" dirty="0">
                <a:solidFill>
                  <a:srgbClr val="FF0000"/>
                </a:solidFill>
                <a:latin typeface="Times New Roman" panose="02020603050405020304" pitchFamily="18" charset="0"/>
                <a:ea typeface="Noto Sans SC"/>
                <a:sym typeface="Arial"/>
              </a:rPr>
              <a:t>无法有效保留重要参数</a:t>
            </a:r>
            <a:r>
              <a:rPr lang="zh-CN" altLang="en-US" sz="2000" dirty="0">
                <a:latin typeface="Times New Roman" panose="02020603050405020304" pitchFamily="18" charset="0"/>
                <a:ea typeface="Noto Sans SC"/>
                <a:sym typeface="Arial"/>
              </a:rPr>
              <a:t>。</a:t>
            </a:r>
            <a:endParaRPr lang="zh-CN" altLang="en-US" sz="2000" dirty="0">
              <a:latin typeface="Times New Roman" panose="02020603050405020304" pitchFamily="18" charset="0"/>
            </a:endParaRPr>
          </a:p>
        </p:txBody>
      </p:sp>
      <p:grpSp>
        <p:nvGrpSpPr>
          <p:cNvPr id="29" name="组合 28">
            <a:extLst>
              <a:ext uri="{FF2B5EF4-FFF2-40B4-BE49-F238E27FC236}">
                <a16:creationId xmlns:a16="http://schemas.microsoft.com/office/drawing/2014/main" id="{B6ADA507-E52C-80B7-AC94-D04134982133}"/>
              </a:ext>
            </a:extLst>
          </p:cNvPr>
          <p:cNvGrpSpPr/>
          <p:nvPr/>
        </p:nvGrpSpPr>
        <p:grpSpPr>
          <a:xfrm>
            <a:off x="2469363" y="1252373"/>
            <a:ext cx="1948144" cy="1055027"/>
            <a:chOff x="6441947" y="2278912"/>
            <a:chExt cx="1948144" cy="1055027"/>
          </a:xfrm>
        </p:grpSpPr>
        <p:pic>
          <p:nvPicPr>
            <p:cNvPr id="30" name="图片 29">
              <a:extLst>
                <a:ext uri="{FF2B5EF4-FFF2-40B4-BE49-F238E27FC236}">
                  <a16:creationId xmlns:a16="http://schemas.microsoft.com/office/drawing/2014/main" id="{53B8BDC1-F30C-D730-7747-18CFAB146F10}"/>
                </a:ext>
              </a:extLst>
            </p:cNvPr>
            <p:cNvPicPr>
              <a:picLocks noChangeAspect="1"/>
            </p:cNvPicPr>
            <p:nvPr/>
          </p:nvPicPr>
          <p:blipFill>
            <a:blip r:embed="rId5"/>
            <a:stretch>
              <a:fillRect/>
            </a:stretch>
          </p:blipFill>
          <p:spPr>
            <a:xfrm>
              <a:off x="6441947" y="2278912"/>
              <a:ext cx="1948144" cy="1055027"/>
            </a:xfrm>
            <a:prstGeom prst="rect">
              <a:avLst/>
            </a:prstGeom>
          </p:spPr>
        </p:pic>
        <p:grpSp>
          <p:nvGrpSpPr>
            <p:cNvPr id="31" name="组合 30">
              <a:extLst>
                <a:ext uri="{FF2B5EF4-FFF2-40B4-BE49-F238E27FC236}">
                  <a16:creationId xmlns:a16="http://schemas.microsoft.com/office/drawing/2014/main" id="{C9C48D07-CD45-CB5B-C514-208FA2CF6A69}"/>
                </a:ext>
              </a:extLst>
            </p:cNvPr>
            <p:cNvGrpSpPr/>
            <p:nvPr/>
          </p:nvGrpSpPr>
          <p:grpSpPr>
            <a:xfrm>
              <a:off x="6664179" y="2468253"/>
              <a:ext cx="1503680" cy="701034"/>
              <a:chOff x="6588165" y="2362913"/>
              <a:chExt cx="1503680" cy="701034"/>
            </a:xfrm>
          </p:grpSpPr>
          <p:cxnSp>
            <p:nvCxnSpPr>
              <p:cNvPr id="32" name="直接箭头连接符 31">
                <a:extLst>
                  <a:ext uri="{FF2B5EF4-FFF2-40B4-BE49-F238E27FC236}">
                    <a16:creationId xmlns:a16="http://schemas.microsoft.com/office/drawing/2014/main" id="{A635703A-F4BF-C1B7-6770-DD8D20185FFA}"/>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95D1DA7E-7A07-FCD3-DC62-F4BC8E1E5B9E}"/>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FAC99424-D98A-A882-BF55-B6E69C7B964F}"/>
                  </a:ext>
                </a:extLst>
              </p:cNvPr>
              <p:cNvCxnSpPr>
                <a:cxnSpLocks/>
              </p:cNvCxnSpPr>
              <p:nvPr/>
            </p:nvCxnSpPr>
            <p:spPr>
              <a:xfrm flipV="1">
                <a:off x="7958650" y="2701084"/>
                <a:ext cx="0" cy="33479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67311C46-7AEA-7A52-7916-2F591724F21A}"/>
                  </a:ext>
                </a:extLst>
              </p:cNvPr>
              <p:cNvCxnSpPr>
                <a:cxnSpLocks/>
              </p:cNvCxnSpPr>
              <p:nvPr/>
            </p:nvCxnSpPr>
            <p:spPr>
              <a:xfrm flipV="1">
                <a:off x="7638215" y="2565035"/>
                <a:ext cx="0" cy="48250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7804686B-F7A6-A058-E329-EA5CA310B413}"/>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49F0032-8D45-1A28-C0E4-CAD9461BC37F}"/>
                  </a:ext>
                </a:extLst>
              </p:cNvPr>
              <p:cNvCxnSpPr>
                <a:cxnSpLocks/>
              </p:cNvCxnSpPr>
              <p:nvPr/>
            </p:nvCxnSpPr>
            <p:spPr>
              <a:xfrm flipV="1">
                <a:off x="6997345" y="2533971"/>
                <a:ext cx="0" cy="52997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sp>
        <p:nvSpPr>
          <p:cNvPr id="41" name="箭头: 下 40">
            <a:extLst>
              <a:ext uri="{FF2B5EF4-FFF2-40B4-BE49-F238E27FC236}">
                <a16:creationId xmlns:a16="http://schemas.microsoft.com/office/drawing/2014/main" id="{9CDC0E85-33FE-8EFA-04FA-17AE4FD80188}"/>
              </a:ext>
            </a:extLst>
          </p:cNvPr>
          <p:cNvSpPr/>
          <p:nvPr/>
        </p:nvSpPr>
        <p:spPr>
          <a:xfrm rot="16200000">
            <a:off x="5188332" y="1480283"/>
            <a:ext cx="186576" cy="864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42" name="组合 41">
            <a:extLst>
              <a:ext uri="{FF2B5EF4-FFF2-40B4-BE49-F238E27FC236}">
                <a16:creationId xmlns:a16="http://schemas.microsoft.com/office/drawing/2014/main" id="{E76A76FB-3BE2-A8D3-59A2-1498F2A881E9}"/>
              </a:ext>
            </a:extLst>
          </p:cNvPr>
          <p:cNvGrpSpPr/>
          <p:nvPr/>
        </p:nvGrpSpPr>
        <p:grpSpPr>
          <a:xfrm>
            <a:off x="6145733" y="1252372"/>
            <a:ext cx="1948144" cy="1055027"/>
            <a:chOff x="6441947" y="2278912"/>
            <a:chExt cx="1948144" cy="1055027"/>
          </a:xfrm>
        </p:grpSpPr>
        <p:pic>
          <p:nvPicPr>
            <p:cNvPr id="43" name="图片 42">
              <a:extLst>
                <a:ext uri="{FF2B5EF4-FFF2-40B4-BE49-F238E27FC236}">
                  <a16:creationId xmlns:a16="http://schemas.microsoft.com/office/drawing/2014/main" id="{AD00985B-276F-2E0D-384F-75F2097D5953}"/>
                </a:ext>
              </a:extLst>
            </p:cNvPr>
            <p:cNvPicPr>
              <a:picLocks noChangeAspect="1"/>
            </p:cNvPicPr>
            <p:nvPr/>
          </p:nvPicPr>
          <p:blipFill>
            <a:blip r:embed="rId5"/>
            <a:stretch>
              <a:fillRect/>
            </a:stretch>
          </p:blipFill>
          <p:spPr>
            <a:xfrm>
              <a:off x="6441947" y="2278912"/>
              <a:ext cx="1948144" cy="1055027"/>
            </a:xfrm>
            <a:prstGeom prst="rect">
              <a:avLst/>
            </a:prstGeom>
          </p:spPr>
        </p:pic>
        <p:grpSp>
          <p:nvGrpSpPr>
            <p:cNvPr id="44" name="组合 43">
              <a:extLst>
                <a:ext uri="{FF2B5EF4-FFF2-40B4-BE49-F238E27FC236}">
                  <a16:creationId xmlns:a16="http://schemas.microsoft.com/office/drawing/2014/main" id="{8A5BDECC-A606-B9DB-6EAD-7BC6616DE2DF}"/>
                </a:ext>
              </a:extLst>
            </p:cNvPr>
            <p:cNvGrpSpPr/>
            <p:nvPr/>
          </p:nvGrpSpPr>
          <p:grpSpPr>
            <a:xfrm>
              <a:off x="6664179" y="2468253"/>
              <a:ext cx="1503680" cy="701034"/>
              <a:chOff x="6588165" y="2362913"/>
              <a:chExt cx="1503680" cy="701034"/>
            </a:xfrm>
          </p:grpSpPr>
          <p:cxnSp>
            <p:nvCxnSpPr>
              <p:cNvPr id="45" name="直接箭头连接符 44">
                <a:extLst>
                  <a:ext uri="{FF2B5EF4-FFF2-40B4-BE49-F238E27FC236}">
                    <a16:creationId xmlns:a16="http://schemas.microsoft.com/office/drawing/2014/main" id="{0C867227-BB07-8FCC-2EF5-42D4A45B2FE1}"/>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10263ED-D0B9-70F9-3F32-F7518E6BA67B}"/>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A2456235-B17E-0F14-B25B-B2E2C39B6E0F}"/>
                  </a:ext>
                </a:extLst>
              </p:cNvPr>
              <p:cNvCxnSpPr>
                <a:cxnSpLocks/>
              </p:cNvCxnSpPr>
              <p:nvPr/>
            </p:nvCxnSpPr>
            <p:spPr>
              <a:xfrm flipV="1">
                <a:off x="7958650" y="2740195"/>
                <a:ext cx="0" cy="29568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7E91CEFD-37AC-9712-B36E-CA15B6976C78}"/>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aphicFrame>
        <p:nvGraphicFramePr>
          <p:cNvPr id="51" name="表格 50">
            <a:extLst>
              <a:ext uri="{FF2B5EF4-FFF2-40B4-BE49-F238E27FC236}">
                <a16:creationId xmlns:a16="http://schemas.microsoft.com/office/drawing/2014/main" id="{B1CEBD65-2221-E996-47E9-1A1C15F50C91}"/>
              </a:ext>
            </a:extLst>
          </p:cNvPr>
          <p:cNvGraphicFramePr>
            <a:graphicFrameLocks noGrp="1"/>
          </p:cNvGraphicFramePr>
          <p:nvPr>
            <p:extLst>
              <p:ext uri="{D42A27DB-BD31-4B8C-83A1-F6EECF244321}">
                <p14:modId xmlns:p14="http://schemas.microsoft.com/office/powerpoint/2010/main" val="2042802192"/>
              </p:ext>
            </p:extLst>
          </p:nvPr>
        </p:nvGraphicFramePr>
        <p:xfrm>
          <a:off x="4654708" y="1439145"/>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Tree>
    <p:extLst>
      <p:ext uri="{BB962C8B-B14F-4D97-AF65-F5344CB8AC3E}">
        <p14:creationId xmlns:p14="http://schemas.microsoft.com/office/powerpoint/2010/main" val="3199919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B246-CF76-EBEB-8FBB-533360FD75D7}"/>
            </a:ext>
          </a:extLst>
        </p:cNvPr>
        <p:cNvGrpSpPr/>
        <p:nvPr/>
      </p:nvGrpSpPr>
      <p:grpSpPr>
        <a:xfrm>
          <a:off x="0" y="0"/>
          <a:ext cx="0" cy="0"/>
          <a:chOff x="0" y="0"/>
          <a:chExt cx="0" cy="0"/>
        </a:xfrm>
      </p:grpSpPr>
      <p:sp>
        <p:nvSpPr>
          <p:cNvPr id="42" name="AutoShape 4">
            <a:extLst>
              <a:ext uri="{FF2B5EF4-FFF2-40B4-BE49-F238E27FC236}">
                <a16:creationId xmlns:a16="http://schemas.microsoft.com/office/drawing/2014/main" id="{C2965392-E50F-37D0-A10E-F40B0C40EC5E}"/>
              </a:ext>
            </a:extLst>
          </p:cNvPr>
          <p:cNvSpPr/>
          <p:nvPr/>
        </p:nvSpPr>
        <p:spPr>
          <a:xfrm>
            <a:off x="430616" y="1498599"/>
            <a:ext cx="3542716" cy="1908246"/>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a:p>
        </p:txBody>
      </p:sp>
      <p:grpSp>
        <p:nvGrpSpPr>
          <p:cNvPr id="19" name="组合 18">
            <a:extLst>
              <a:ext uri="{FF2B5EF4-FFF2-40B4-BE49-F238E27FC236}">
                <a16:creationId xmlns:a16="http://schemas.microsoft.com/office/drawing/2014/main" id="{53C74DE5-F57B-534D-4943-2436293F4FA7}"/>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FB6BB0A-56B6-341D-DF47-FF5C44CA60D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3498DD87-02A6-2AF3-9AFF-7759C95F841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3BD197BB-E4E0-2BA2-12E7-A45894BB5472}"/>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AED58BE3-74C4-C1A8-0466-785D50D68F04}"/>
              </a:ext>
            </a:extLst>
          </p:cNvPr>
          <p:cNvSpPr>
            <a:spLocks noChangeArrowheads="1"/>
          </p:cNvSpPr>
          <p:nvPr/>
        </p:nvSpPr>
        <p:spPr bwMode="auto">
          <a:xfrm>
            <a:off x="321565" y="812760"/>
            <a:ext cx="46608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 </a:t>
            </a:r>
            <a:r>
              <a:rPr lang="en-US" altLang="zh-CN" b="1" i="1" dirty="0">
                <a:solidFill>
                  <a:srgbClr val="333333"/>
                </a:solidFill>
                <a:latin typeface="Times New Roman" panose="02020603050405020304" pitchFamily="18" charset="0"/>
                <a:ea typeface="Noto Sans SC" panose="020B0200000000000000" pitchFamily="34" charset="-122"/>
                <a:cs typeface="Times New Roman" panose="02020603050405020304" pitchFamily="18" charset="0"/>
              </a:rPr>
              <a:t>Scaling-Masks</a:t>
            </a:r>
            <a:endParaRPr kumimoji="0" lang="zh-CN" altLang="zh-CN"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AutoShape 4">
            <a:extLst>
              <a:ext uri="{FF2B5EF4-FFF2-40B4-BE49-F238E27FC236}">
                <a16:creationId xmlns:a16="http://schemas.microsoft.com/office/drawing/2014/main" id="{CBB74646-70B7-D468-4963-F51979F0AFA9}"/>
              </a:ext>
            </a:extLst>
          </p:cNvPr>
          <p:cNvSpPr/>
          <p:nvPr/>
        </p:nvSpPr>
        <p:spPr>
          <a:xfrm>
            <a:off x="417332" y="1476445"/>
            <a:ext cx="3556000" cy="1952556"/>
          </a:xfrm>
          <a:prstGeom prst="roundRect">
            <a:avLst>
              <a:gd name="adj" fmla="val 428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9" name="AutoShape 6">
            <a:extLst>
              <a:ext uri="{FF2B5EF4-FFF2-40B4-BE49-F238E27FC236}">
                <a16:creationId xmlns:a16="http://schemas.microsoft.com/office/drawing/2014/main" id="{63AEEBCF-3DA5-0B6C-3D29-1D0B78C43EF9}"/>
              </a:ext>
            </a:extLst>
          </p:cNvPr>
          <p:cNvSpPr/>
          <p:nvPr/>
        </p:nvSpPr>
        <p:spPr>
          <a:xfrm>
            <a:off x="988832" y="1476445"/>
            <a:ext cx="2413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zh-CN" altLang="en-US" sz="2000" b="1" i="0" u="none" strike="noStrike" dirty="0">
                <a:solidFill>
                  <a:srgbClr val="333333"/>
                </a:solidFill>
                <a:latin typeface="Noto Sans SC"/>
                <a:ea typeface="Noto Sans SC"/>
                <a:cs typeface="Noto Sans SC"/>
                <a:sym typeface="Noto Sans SC"/>
              </a:rPr>
              <a:t>观察</a:t>
            </a:r>
            <a:endParaRPr lang="en-US" sz="1100" dirty="0"/>
          </a:p>
        </p:txBody>
      </p:sp>
      <p:sp>
        <p:nvSpPr>
          <p:cNvPr id="10" name="AutoShape 7">
            <a:extLst>
              <a:ext uri="{FF2B5EF4-FFF2-40B4-BE49-F238E27FC236}">
                <a16:creationId xmlns:a16="http://schemas.microsoft.com/office/drawing/2014/main" id="{156CB06F-1073-9C74-22BA-F4077A8ED6D3}"/>
              </a:ext>
            </a:extLst>
          </p:cNvPr>
          <p:cNvSpPr/>
          <p:nvPr/>
        </p:nvSpPr>
        <p:spPr>
          <a:xfrm>
            <a:off x="671332" y="2136845"/>
            <a:ext cx="304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1" name="AutoShape 8">
            <a:extLst>
              <a:ext uri="{FF2B5EF4-FFF2-40B4-BE49-F238E27FC236}">
                <a16:creationId xmlns:a16="http://schemas.microsoft.com/office/drawing/2014/main" id="{B46543BD-75F5-6E64-A1DD-244A5ADD7205}"/>
              </a:ext>
            </a:extLst>
          </p:cNvPr>
          <p:cNvSpPr/>
          <p:nvPr/>
        </p:nvSpPr>
        <p:spPr>
          <a:xfrm>
            <a:off x="671332" y="2517845"/>
            <a:ext cx="3048000" cy="546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800" i="0" u="none" strike="noStrike" dirty="0">
                <a:solidFill>
                  <a:schemeClr val="tx1"/>
                </a:solidFill>
                <a:latin typeface="Noto Sans SC"/>
                <a:ea typeface="Noto Sans SC"/>
                <a:cs typeface="Noto Sans SC"/>
                <a:sym typeface="Noto Sans SC"/>
              </a:rPr>
              <a:t>“弱特征”易于被强特征掩盖，导致相关任务掩码不能很好保留相关参数</a:t>
            </a:r>
            <a:endParaRPr lang="en-US" sz="1600" i="0" u="none" strike="noStrike" dirty="0">
              <a:solidFill>
                <a:schemeClr val="tx1"/>
              </a:solidFill>
              <a:latin typeface="Noto Sans SC"/>
              <a:ea typeface="Noto Sans SC"/>
              <a:cs typeface="Noto Sans SC"/>
              <a:sym typeface="Noto Sans SC"/>
            </a:endParaRPr>
          </a:p>
        </p:txBody>
      </p:sp>
      <p:sp>
        <p:nvSpPr>
          <p:cNvPr id="12" name="AutoShape 4">
            <a:extLst>
              <a:ext uri="{FF2B5EF4-FFF2-40B4-BE49-F238E27FC236}">
                <a16:creationId xmlns:a16="http://schemas.microsoft.com/office/drawing/2014/main" id="{17BB6080-0DC2-F540-6590-D6508FC55A9D}"/>
              </a:ext>
            </a:extLst>
          </p:cNvPr>
          <p:cNvSpPr/>
          <p:nvPr/>
        </p:nvSpPr>
        <p:spPr>
          <a:xfrm>
            <a:off x="417332" y="3771901"/>
            <a:ext cx="3556000" cy="1952556"/>
          </a:xfrm>
          <a:prstGeom prst="roundRect">
            <a:avLst>
              <a:gd name="adj" fmla="val 428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3" name="AutoShape 6">
            <a:extLst>
              <a:ext uri="{FF2B5EF4-FFF2-40B4-BE49-F238E27FC236}">
                <a16:creationId xmlns:a16="http://schemas.microsoft.com/office/drawing/2014/main" id="{DA51926C-949A-95E1-9635-623FA7EDAC87}"/>
              </a:ext>
            </a:extLst>
          </p:cNvPr>
          <p:cNvSpPr/>
          <p:nvPr/>
        </p:nvSpPr>
        <p:spPr>
          <a:xfrm>
            <a:off x="988832" y="3771901"/>
            <a:ext cx="2413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zh-CN" altLang="en-US" sz="2000" b="1" dirty="0">
                <a:solidFill>
                  <a:srgbClr val="333333"/>
                </a:solidFill>
                <a:latin typeface="Noto Sans SC"/>
                <a:ea typeface="Noto Sans SC"/>
                <a:sym typeface="Noto Sans SC"/>
              </a:rPr>
              <a:t>思路</a:t>
            </a:r>
            <a:endParaRPr lang="en-US" sz="1100" dirty="0"/>
          </a:p>
        </p:txBody>
      </p:sp>
      <p:sp>
        <p:nvSpPr>
          <p:cNvPr id="14" name="AutoShape 7">
            <a:extLst>
              <a:ext uri="{FF2B5EF4-FFF2-40B4-BE49-F238E27FC236}">
                <a16:creationId xmlns:a16="http://schemas.microsoft.com/office/drawing/2014/main" id="{30349049-0918-9607-293A-22D11E055588}"/>
              </a:ext>
            </a:extLst>
          </p:cNvPr>
          <p:cNvSpPr/>
          <p:nvPr/>
        </p:nvSpPr>
        <p:spPr>
          <a:xfrm>
            <a:off x="671332" y="4432301"/>
            <a:ext cx="304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5" name="AutoShape 8">
            <a:extLst>
              <a:ext uri="{FF2B5EF4-FFF2-40B4-BE49-F238E27FC236}">
                <a16:creationId xmlns:a16="http://schemas.microsoft.com/office/drawing/2014/main" id="{D6853AB9-B547-5E7A-CB33-36DDF3EC6CFE}"/>
              </a:ext>
            </a:extLst>
          </p:cNvPr>
          <p:cNvSpPr/>
          <p:nvPr/>
        </p:nvSpPr>
        <p:spPr>
          <a:xfrm>
            <a:off x="671332" y="4813301"/>
            <a:ext cx="3048000" cy="546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800" i="0" u="none" strike="noStrike" dirty="0">
                <a:solidFill>
                  <a:schemeClr val="tx1"/>
                </a:solidFill>
                <a:latin typeface="Noto Sans SC"/>
                <a:ea typeface="Noto Sans SC"/>
                <a:cs typeface="Noto Sans SC"/>
                <a:sym typeface="Noto Sans SC"/>
              </a:rPr>
              <a:t>将不同范围的参数映射到同一范围，增强弱特征额重要性，让其在融合参数中能够保留</a:t>
            </a:r>
            <a:endParaRPr lang="en-US" sz="1600" i="0" u="none" strike="noStrike" dirty="0">
              <a:solidFill>
                <a:schemeClr val="tx1"/>
              </a:solidFill>
              <a:latin typeface="Noto Sans SC"/>
              <a:ea typeface="Noto Sans SC"/>
              <a:cs typeface="Noto Sans SC"/>
              <a:sym typeface="Noto Sans SC"/>
            </a:endParaRPr>
          </a:p>
        </p:txBody>
      </p:sp>
      <p:pic>
        <p:nvPicPr>
          <p:cNvPr id="16" name="图形 15">
            <a:extLst>
              <a:ext uri="{FF2B5EF4-FFF2-40B4-BE49-F238E27FC236}">
                <a16:creationId xmlns:a16="http://schemas.microsoft.com/office/drawing/2014/main" id="{DFFC3FED-9C47-AACC-72EA-562D2F9890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79984" y="1233957"/>
            <a:ext cx="890274" cy="866448"/>
          </a:xfrm>
          <a:prstGeom prst="rect">
            <a:avLst/>
          </a:prstGeom>
        </p:spPr>
      </p:pic>
      <p:pic>
        <p:nvPicPr>
          <p:cNvPr id="17" name="图形 16">
            <a:extLst>
              <a:ext uri="{FF2B5EF4-FFF2-40B4-BE49-F238E27FC236}">
                <a16:creationId xmlns:a16="http://schemas.microsoft.com/office/drawing/2014/main" id="{B6B17032-F572-F9A2-20E7-8E838E83F5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8089" y="1233957"/>
            <a:ext cx="878002" cy="866448"/>
          </a:xfrm>
          <a:prstGeom prst="rect">
            <a:avLst/>
          </a:prstGeom>
        </p:spPr>
      </p:pic>
      <p:grpSp>
        <p:nvGrpSpPr>
          <p:cNvPr id="94" name="组合 93">
            <a:extLst>
              <a:ext uri="{FF2B5EF4-FFF2-40B4-BE49-F238E27FC236}">
                <a16:creationId xmlns:a16="http://schemas.microsoft.com/office/drawing/2014/main" id="{CA87B1E6-8760-A0E1-917A-70B631C8D140}"/>
              </a:ext>
            </a:extLst>
          </p:cNvPr>
          <p:cNvGrpSpPr/>
          <p:nvPr/>
        </p:nvGrpSpPr>
        <p:grpSpPr>
          <a:xfrm>
            <a:off x="4351049" y="2278914"/>
            <a:ext cx="1948144" cy="1055027"/>
            <a:chOff x="4351049" y="2278914"/>
            <a:chExt cx="1948144" cy="1055027"/>
          </a:xfrm>
        </p:grpSpPr>
        <p:pic>
          <p:nvPicPr>
            <p:cNvPr id="61" name="图片 60">
              <a:extLst>
                <a:ext uri="{FF2B5EF4-FFF2-40B4-BE49-F238E27FC236}">
                  <a16:creationId xmlns:a16="http://schemas.microsoft.com/office/drawing/2014/main" id="{C2468CA7-5CED-7865-BFD3-848E825DC9FB}"/>
                </a:ext>
              </a:extLst>
            </p:cNvPr>
            <p:cNvPicPr>
              <a:picLocks noChangeAspect="1"/>
            </p:cNvPicPr>
            <p:nvPr/>
          </p:nvPicPr>
          <p:blipFill>
            <a:blip r:embed="rId7"/>
            <a:stretch>
              <a:fillRect/>
            </a:stretch>
          </p:blipFill>
          <p:spPr>
            <a:xfrm>
              <a:off x="4351049" y="2278914"/>
              <a:ext cx="1948144" cy="1055027"/>
            </a:xfrm>
            <a:prstGeom prst="rect">
              <a:avLst/>
            </a:prstGeom>
          </p:spPr>
        </p:pic>
        <p:grpSp>
          <p:nvGrpSpPr>
            <p:cNvPr id="62" name="组合 61">
              <a:extLst>
                <a:ext uri="{FF2B5EF4-FFF2-40B4-BE49-F238E27FC236}">
                  <a16:creationId xmlns:a16="http://schemas.microsoft.com/office/drawing/2014/main" id="{25DDF735-7AB7-2181-FA1F-98E3F7A974E1}"/>
                </a:ext>
              </a:extLst>
            </p:cNvPr>
            <p:cNvGrpSpPr/>
            <p:nvPr/>
          </p:nvGrpSpPr>
          <p:grpSpPr>
            <a:xfrm>
              <a:off x="4573281" y="2442972"/>
              <a:ext cx="1503680" cy="726910"/>
              <a:chOff x="4592320" y="2337037"/>
              <a:chExt cx="1503680" cy="726910"/>
            </a:xfrm>
          </p:grpSpPr>
          <p:cxnSp>
            <p:nvCxnSpPr>
              <p:cNvPr id="40" name="直接箭头连接符 39">
                <a:extLst>
                  <a:ext uri="{FF2B5EF4-FFF2-40B4-BE49-F238E27FC236}">
                    <a16:creationId xmlns:a16="http://schemas.microsoft.com/office/drawing/2014/main" id="{3E06AFD1-B8FB-771D-AFFB-213DBBE5037F}"/>
                  </a:ext>
                </a:extLst>
              </p:cNvPr>
              <p:cNvCxnSpPr>
                <a:cxnSpLocks/>
              </p:cNvCxnSpPr>
              <p:nvPr/>
            </p:nvCxnSpPr>
            <p:spPr>
              <a:xfrm flipV="1">
                <a:off x="5321935" y="2548909"/>
                <a:ext cx="0" cy="51503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6F602258-01B7-E4D2-F7E1-3683858E5687}"/>
                  </a:ext>
                </a:extLst>
              </p:cNvPr>
              <p:cNvCxnSpPr>
                <a:cxnSpLocks/>
              </p:cNvCxnSpPr>
              <p:nvPr/>
            </p:nvCxnSpPr>
            <p:spPr>
              <a:xfrm flipV="1">
                <a:off x="4681065" y="2337037"/>
                <a:ext cx="0" cy="72690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9D5D8857-224E-A4D6-0CCD-8AB82EF760EE}"/>
                  </a:ext>
                </a:extLst>
              </p:cNvPr>
              <p:cNvCxnSpPr>
                <a:cxnSpLocks/>
              </p:cNvCxnSpPr>
              <p:nvPr/>
            </p:nvCxnSpPr>
            <p:spPr>
              <a:xfrm flipV="1">
                <a:off x="5962805" y="2834497"/>
                <a:ext cx="0" cy="20138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E575D3F6-AB06-CDAB-DDAB-DFC974616ECD}"/>
                  </a:ext>
                </a:extLst>
              </p:cNvPr>
              <p:cNvCxnSpPr>
                <a:cxnSpLocks/>
              </p:cNvCxnSpPr>
              <p:nvPr/>
            </p:nvCxnSpPr>
            <p:spPr>
              <a:xfrm flipV="1">
                <a:off x="5642370" y="2548911"/>
                <a:ext cx="0" cy="49862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3D318F2B-EBF1-6114-E271-FC30E7C3C56D}"/>
                  </a:ext>
                </a:extLst>
              </p:cNvPr>
              <p:cNvCxnSpPr>
                <a:cxnSpLocks/>
              </p:cNvCxnSpPr>
              <p:nvPr/>
            </p:nvCxnSpPr>
            <p:spPr>
              <a:xfrm>
                <a:off x="4592320" y="3063945"/>
                <a:ext cx="15036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8A500AC3-D181-24DA-9AFB-02E688228799}"/>
                  </a:ext>
                </a:extLst>
              </p:cNvPr>
              <p:cNvCxnSpPr>
                <a:cxnSpLocks/>
              </p:cNvCxnSpPr>
              <p:nvPr/>
            </p:nvCxnSpPr>
            <p:spPr>
              <a:xfrm flipV="1">
                <a:off x="5001500" y="2517845"/>
                <a:ext cx="0" cy="54610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grpSp>
        <p:nvGrpSpPr>
          <p:cNvPr id="76" name="组合 75">
            <a:extLst>
              <a:ext uri="{FF2B5EF4-FFF2-40B4-BE49-F238E27FC236}">
                <a16:creationId xmlns:a16="http://schemas.microsoft.com/office/drawing/2014/main" id="{3680757B-20EC-993F-7FB6-37B1F73B066E}"/>
              </a:ext>
            </a:extLst>
          </p:cNvPr>
          <p:cNvGrpSpPr/>
          <p:nvPr/>
        </p:nvGrpSpPr>
        <p:grpSpPr>
          <a:xfrm>
            <a:off x="6723018" y="2278912"/>
            <a:ext cx="1948144" cy="1055027"/>
            <a:chOff x="6441947" y="2278912"/>
            <a:chExt cx="1948144" cy="1055027"/>
          </a:xfrm>
        </p:grpSpPr>
        <p:pic>
          <p:nvPicPr>
            <p:cNvPr id="73" name="图片 72">
              <a:extLst>
                <a:ext uri="{FF2B5EF4-FFF2-40B4-BE49-F238E27FC236}">
                  <a16:creationId xmlns:a16="http://schemas.microsoft.com/office/drawing/2014/main" id="{48AA3436-6C0F-CA09-D825-582F84C4A3B4}"/>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74" name="组合 73">
              <a:extLst>
                <a:ext uri="{FF2B5EF4-FFF2-40B4-BE49-F238E27FC236}">
                  <a16:creationId xmlns:a16="http://schemas.microsoft.com/office/drawing/2014/main" id="{BDA0AE71-2079-2BEF-B006-6D200E766673}"/>
                </a:ext>
              </a:extLst>
            </p:cNvPr>
            <p:cNvGrpSpPr/>
            <p:nvPr/>
          </p:nvGrpSpPr>
          <p:grpSpPr>
            <a:xfrm>
              <a:off x="6664179" y="2896235"/>
              <a:ext cx="1503680" cy="273052"/>
              <a:chOff x="6588165" y="2790895"/>
              <a:chExt cx="1503680" cy="273052"/>
            </a:xfrm>
          </p:grpSpPr>
          <p:cxnSp>
            <p:nvCxnSpPr>
              <p:cNvPr id="49" name="直接箭头连接符 48">
                <a:extLst>
                  <a:ext uri="{FF2B5EF4-FFF2-40B4-BE49-F238E27FC236}">
                    <a16:creationId xmlns:a16="http://schemas.microsoft.com/office/drawing/2014/main" id="{F49A5F77-97D8-7553-19B5-A6EB2BF64FE8}"/>
                  </a:ext>
                </a:extLst>
              </p:cNvPr>
              <p:cNvCxnSpPr>
                <a:cxnSpLocks/>
              </p:cNvCxnSpPr>
              <p:nvPr/>
            </p:nvCxnSpPr>
            <p:spPr>
              <a:xfrm flipV="1">
                <a:off x="7317780" y="2834497"/>
                <a:ext cx="0" cy="2294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B770329F-CCB8-F254-F79C-1903A0D6C11A}"/>
                  </a:ext>
                </a:extLst>
              </p:cNvPr>
              <p:cNvCxnSpPr>
                <a:cxnSpLocks/>
              </p:cNvCxnSpPr>
              <p:nvPr/>
            </p:nvCxnSpPr>
            <p:spPr>
              <a:xfrm flipV="1">
                <a:off x="6676910" y="2790895"/>
                <a:ext cx="0" cy="2730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46BEC50C-94DF-FE0B-BE61-BFA205893D51}"/>
                  </a:ext>
                </a:extLst>
              </p:cNvPr>
              <p:cNvCxnSpPr>
                <a:cxnSpLocks/>
              </p:cNvCxnSpPr>
              <p:nvPr/>
            </p:nvCxnSpPr>
            <p:spPr>
              <a:xfrm flipV="1">
                <a:off x="7958650" y="2834497"/>
                <a:ext cx="0" cy="20138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2126545A-A5A9-BE1D-8B6A-C7FA0401863D}"/>
                  </a:ext>
                </a:extLst>
              </p:cNvPr>
              <p:cNvCxnSpPr>
                <a:cxnSpLocks/>
              </p:cNvCxnSpPr>
              <p:nvPr/>
            </p:nvCxnSpPr>
            <p:spPr>
              <a:xfrm flipV="1">
                <a:off x="7638215" y="2927420"/>
                <a:ext cx="0" cy="120115"/>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8A8452E8-BB3B-CF3C-E2B3-62C2D2B1589C}"/>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C236FD40-4B09-023F-876D-1FD2AB784618}"/>
                  </a:ext>
                </a:extLst>
              </p:cNvPr>
              <p:cNvCxnSpPr>
                <a:cxnSpLocks/>
              </p:cNvCxnSpPr>
              <p:nvPr/>
            </p:nvCxnSpPr>
            <p:spPr>
              <a:xfrm flipV="1">
                <a:off x="6997345" y="2935187"/>
                <a:ext cx="0" cy="12876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grpSp>
      </p:grpSp>
      <p:sp>
        <p:nvSpPr>
          <p:cNvPr id="77" name="箭头: 下 76">
            <a:extLst>
              <a:ext uri="{FF2B5EF4-FFF2-40B4-BE49-F238E27FC236}">
                <a16:creationId xmlns:a16="http://schemas.microsoft.com/office/drawing/2014/main" id="{C81DD41D-774E-EE41-9B38-7F5D53AD5E90}"/>
              </a:ext>
            </a:extLst>
          </p:cNvPr>
          <p:cNvSpPr/>
          <p:nvPr/>
        </p:nvSpPr>
        <p:spPr>
          <a:xfrm rot="16200000">
            <a:off x="9066939" y="2522326"/>
            <a:ext cx="186576" cy="46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78" name="表格 77">
            <a:extLst>
              <a:ext uri="{FF2B5EF4-FFF2-40B4-BE49-F238E27FC236}">
                <a16:creationId xmlns:a16="http://schemas.microsoft.com/office/drawing/2014/main" id="{34595CDA-1B5F-09FA-3965-925657831181}"/>
              </a:ext>
            </a:extLst>
          </p:cNvPr>
          <p:cNvGraphicFramePr>
            <a:graphicFrameLocks noGrp="1"/>
          </p:cNvGraphicFramePr>
          <p:nvPr>
            <p:extLst>
              <p:ext uri="{D42A27DB-BD31-4B8C-83A1-F6EECF244321}">
                <p14:modId xmlns:p14="http://schemas.microsoft.com/office/powerpoint/2010/main" val="2402599676"/>
              </p:ext>
            </p:extLst>
          </p:nvPr>
        </p:nvGraphicFramePr>
        <p:xfrm>
          <a:off x="10314881" y="1354068"/>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gridCol w="252000">
                  <a:extLst>
                    <a:ext uri="{9D8B030D-6E8A-4147-A177-3AD203B41FA5}">
                      <a16:colId xmlns:a16="http://schemas.microsoft.com/office/drawing/2014/main" val="1519181048"/>
                    </a:ext>
                  </a:extLst>
                </a:gridCol>
                <a:gridCol w="252000">
                  <a:extLst>
                    <a:ext uri="{9D8B030D-6E8A-4147-A177-3AD203B41FA5}">
                      <a16:colId xmlns:a16="http://schemas.microsoft.com/office/drawing/2014/main" val="2552053040"/>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79" name="文本框 78">
            <a:extLst>
              <a:ext uri="{FF2B5EF4-FFF2-40B4-BE49-F238E27FC236}">
                <a16:creationId xmlns:a16="http://schemas.microsoft.com/office/drawing/2014/main" id="{28A13B90-1DA7-565C-5558-ABBBD833B3C4}"/>
              </a:ext>
            </a:extLst>
          </p:cNvPr>
          <p:cNvSpPr txBox="1"/>
          <p:nvPr/>
        </p:nvSpPr>
        <p:spPr>
          <a:xfrm>
            <a:off x="9156932" y="1317675"/>
            <a:ext cx="1151030" cy="338554"/>
          </a:xfrm>
          <a:prstGeom prst="rect">
            <a:avLst/>
          </a:prstGeom>
          <a:noFill/>
        </p:spPr>
        <p:txBody>
          <a:bodyPr wrap="square">
            <a:spAutoFit/>
          </a:bodyPr>
          <a:lstStyle/>
          <a:p>
            <a:pPr algn="r"/>
            <a:r>
              <a:rPr lang="en-US" altLang="zh-CN" sz="1600" dirty="0">
                <a:latin typeface="Times New Roman" panose="02020603050405020304" pitchFamily="18" charset="0"/>
                <a:cs typeface="Times New Roman" panose="02020603050405020304" pitchFamily="18" charset="0"/>
              </a:rPr>
              <a:t>Mask 1</a:t>
            </a:r>
            <a:endParaRPr lang="zh-CN" altLang="en-US" sz="1600" dirty="0">
              <a:latin typeface="Times New Roman" panose="02020603050405020304" pitchFamily="18" charset="0"/>
              <a:cs typeface="Times New Roman" panose="02020603050405020304" pitchFamily="18" charset="0"/>
            </a:endParaRPr>
          </a:p>
        </p:txBody>
      </p:sp>
      <p:graphicFrame>
        <p:nvGraphicFramePr>
          <p:cNvPr id="80" name="表格 79">
            <a:extLst>
              <a:ext uri="{FF2B5EF4-FFF2-40B4-BE49-F238E27FC236}">
                <a16:creationId xmlns:a16="http://schemas.microsoft.com/office/drawing/2014/main" id="{2F7F8AA5-5998-9C15-6B57-816D1B5BFAD9}"/>
              </a:ext>
            </a:extLst>
          </p:cNvPr>
          <p:cNvGraphicFramePr>
            <a:graphicFrameLocks noGrp="1"/>
          </p:cNvGraphicFramePr>
          <p:nvPr>
            <p:extLst>
              <p:ext uri="{D42A27DB-BD31-4B8C-83A1-F6EECF244321}">
                <p14:modId xmlns:p14="http://schemas.microsoft.com/office/powerpoint/2010/main" val="560703814"/>
              </p:ext>
            </p:extLst>
          </p:nvPr>
        </p:nvGraphicFramePr>
        <p:xfrm>
          <a:off x="10314881" y="1810153"/>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81" name="文本框 80">
            <a:extLst>
              <a:ext uri="{FF2B5EF4-FFF2-40B4-BE49-F238E27FC236}">
                <a16:creationId xmlns:a16="http://schemas.microsoft.com/office/drawing/2014/main" id="{B93C4060-94D0-9609-A369-898317016DA4}"/>
              </a:ext>
            </a:extLst>
          </p:cNvPr>
          <p:cNvSpPr txBox="1"/>
          <p:nvPr/>
        </p:nvSpPr>
        <p:spPr>
          <a:xfrm>
            <a:off x="9156932" y="1773760"/>
            <a:ext cx="1151030" cy="338554"/>
          </a:xfrm>
          <a:prstGeom prst="rect">
            <a:avLst/>
          </a:prstGeom>
          <a:noFill/>
        </p:spPr>
        <p:txBody>
          <a:bodyPr wrap="square">
            <a:spAutoFit/>
          </a:bodyPr>
          <a:lstStyle/>
          <a:p>
            <a:pPr algn="r"/>
            <a:r>
              <a:rPr kumimoji="0" lang="en-US" altLang="zh-CN" sz="1600"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Mask 2</a:t>
            </a:r>
            <a:endParaRPr lang="zh-CN" altLang="en-US" sz="1600" dirty="0">
              <a:latin typeface="Times New Roman" panose="02020603050405020304" pitchFamily="18" charset="0"/>
              <a:cs typeface="Times New Roman" panose="02020603050405020304" pitchFamily="18" charset="0"/>
            </a:endParaRPr>
          </a:p>
        </p:txBody>
      </p:sp>
      <p:sp>
        <p:nvSpPr>
          <p:cNvPr id="82" name="箭头: 下 81">
            <a:extLst>
              <a:ext uri="{FF2B5EF4-FFF2-40B4-BE49-F238E27FC236}">
                <a16:creationId xmlns:a16="http://schemas.microsoft.com/office/drawing/2014/main" id="{3ED86216-B028-A342-F8B0-B1025C7DE2CA}"/>
              </a:ext>
            </a:extLst>
          </p:cNvPr>
          <p:cNvSpPr/>
          <p:nvPr/>
        </p:nvSpPr>
        <p:spPr>
          <a:xfrm>
            <a:off x="6429598" y="3533847"/>
            <a:ext cx="186576" cy="576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B2D3583-3024-0D33-735F-37A6B93E5DC5}"/>
                  </a:ext>
                </a:extLst>
              </p:cNvPr>
              <p:cNvSpPr txBox="1"/>
              <p:nvPr/>
            </p:nvSpPr>
            <p:spPr>
              <a:xfrm>
                <a:off x="6616173" y="3606989"/>
                <a:ext cx="2809735" cy="369332"/>
              </a:xfrm>
              <a:prstGeom prst="rect">
                <a:avLst/>
              </a:prstGeom>
              <a:noFill/>
            </p:spPr>
            <p:txBody>
              <a:bodyPr wrap="square">
                <a:spAutoFit/>
              </a:bodyPr>
              <a:lstStyle/>
              <a:p>
                <a:r>
                  <a:rPr kumimoji="0" lang="en-US" altLang="zh-CN" b="1" i="1"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Scale by </a:t>
                </a:r>
                <a14:m>
                  <m:oMath xmlns:m="http://schemas.openxmlformats.org/officeDocument/2006/math">
                    <m:nary>
                      <m:naryPr>
                        <m:chr m:val="∑"/>
                        <m:subHide m:val="on"/>
                        <m:supHide m:val="on"/>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naryPr>
                      <m:sub/>
                      <m:sup/>
                      <m:e>
                        <m:sSub>
                          <m:sSubPr>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sSubPr>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𝒑</m:t>
                            </m:r>
                          </m:e>
                          <m: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𝟏</m:t>
                            </m:r>
                          </m:sub>
                        </m:s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e>
                    </m:nary>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nary>
                      <m:naryPr>
                        <m:chr m:val="∑"/>
                        <m:subHide m:val="on"/>
                        <m:supHide m:val="on"/>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naryPr>
                      <m:sub/>
                      <m:sup/>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sSub>
                          <m:sSubPr>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sSubPr>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𝒑</m:t>
                            </m:r>
                          </m:e>
                          <m: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𝟐</m:t>
                            </m:r>
                          </m:sub>
                        </m:s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e>
                    </m:nary>
                  </m:oMath>
                </a14:m>
                <a:endParaRPr lang="zh-CN" altLang="en-US" b="1" i="1" dirty="0">
                  <a:latin typeface="Times New Roman" panose="02020603050405020304" pitchFamily="18" charset="0"/>
                  <a:cs typeface="Times New Roman" panose="02020603050405020304" pitchFamily="18" charset="0"/>
                </a:endParaRPr>
              </a:p>
            </p:txBody>
          </p:sp>
        </mc:Choice>
        <mc:Fallback xmlns="">
          <p:sp>
            <p:nvSpPr>
              <p:cNvPr id="83" name="文本框 82">
                <a:extLst>
                  <a:ext uri="{FF2B5EF4-FFF2-40B4-BE49-F238E27FC236}">
                    <a16:creationId xmlns:a16="http://schemas.microsoft.com/office/drawing/2014/main" id="{AB2D3583-3024-0D33-735F-37A6B93E5DC5}"/>
                  </a:ext>
                </a:extLst>
              </p:cNvPr>
              <p:cNvSpPr txBox="1">
                <a:spLocks noRot="1" noChangeAspect="1" noMove="1" noResize="1" noEditPoints="1" noAdjustHandles="1" noChangeArrowheads="1" noChangeShapeType="1" noTextEdit="1"/>
              </p:cNvSpPr>
              <p:nvPr/>
            </p:nvSpPr>
            <p:spPr>
              <a:xfrm>
                <a:off x="6616173" y="3606989"/>
                <a:ext cx="2809735" cy="369332"/>
              </a:xfrm>
              <a:prstGeom prst="rect">
                <a:avLst/>
              </a:prstGeom>
              <a:blipFill>
                <a:blip r:embed="rId8"/>
                <a:stretch>
                  <a:fillRect l="-1735" t="-120000" b="-190000"/>
                </a:stretch>
              </a:blipFill>
            </p:spPr>
            <p:txBody>
              <a:bodyPr/>
              <a:lstStyle/>
              <a:p>
                <a:r>
                  <a:rPr lang="zh-CN" altLang="en-US">
                    <a:noFill/>
                  </a:rPr>
                  <a:t> </a:t>
                </a:r>
              </a:p>
            </p:txBody>
          </p:sp>
        </mc:Fallback>
      </mc:AlternateContent>
      <p:grpSp>
        <p:nvGrpSpPr>
          <p:cNvPr id="95" name="组合 94">
            <a:extLst>
              <a:ext uri="{FF2B5EF4-FFF2-40B4-BE49-F238E27FC236}">
                <a16:creationId xmlns:a16="http://schemas.microsoft.com/office/drawing/2014/main" id="{267337A9-3552-6076-BFB9-8B8E0FE6A541}"/>
              </a:ext>
            </a:extLst>
          </p:cNvPr>
          <p:cNvGrpSpPr/>
          <p:nvPr/>
        </p:nvGrpSpPr>
        <p:grpSpPr>
          <a:xfrm>
            <a:off x="4351049" y="4249373"/>
            <a:ext cx="1948144" cy="1055027"/>
            <a:chOff x="4351049" y="2278914"/>
            <a:chExt cx="1948144" cy="1055027"/>
          </a:xfrm>
        </p:grpSpPr>
        <p:pic>
          <p:nvPicPr>
            <p:cNvPr id="96" name="图片 95">
              <a:extLst>
                <a:ext uri="{FF2B5EF4-FFF2-40B4-BE49-F238E27FC236}">
                  <a16:creationId xmlns:a16="http://schemas.microsoft.com/office/drawing/2014/main" id="{74C17488-9E77-C1CE-9E99-C3FA810979E6}"/>
                </a:ext>
              </a:extLst>
            </p:cNvPr>
            <p:cNvPicPr>
              <a:picLocks noChangeAspect="1"/>
            </p:cNvPicPr>
            <p:nvPr/>
          </p:nvPicPr>
          <p:blipFill>
            <a:blip r:embed="rId7"/>
            <a:stretch>
              <a:fillRect/>
            </a:stretch>
          </p:blipFill>
          <p:spPr>
            <a:xfrm>
              <a:off x="4351049" y="2278914"/>
              <a:ext cx="1948144" cy="1055027"/>
            </a:xfrm>
            <a:prstGeom prst="rect">
              <a:avLst/>
            </a:prstGeom>
          </p:spPr>
        </p:pic>
        <p:grpSp>
          <p:nvGrpSpPr>
            <p:cNvPr id="97" name="组合 96">
              <a:extLst>
                <a:ext uri="{FF2B5EF4-FFF2-40B4-BE49-F238E27FC236}">
                  <a16:creationId xmlns:a16="http://schemas.microsoft.com/office/drawing/2014/main" id="{EA656B77-8B03-AE92-15CF-68418FDDCC06}"/>
                </a:ext>
              </a:extLst>
            </p:cNvPr>
            <p:cNvGrpSpPr/>
            <p:nvPr/>
          </p:nvGrpSpPr>
          <p:grpSpPr>
            <a:xfrm>
              <a:off x="4573281" y="2442972"/>
              <a:ext cx="1503680" cy="726910"/>
              <a:chOff x="4592320" y="2337037"/>
              <a:chExt cx="1503680" cy="726910"/>
            </a:xfrm>
          </p:grpSpPr>
          <p:cxnSp>
            <p:nvCxnSpPr>
              <p:cNvPr id="98" name="直接箭头连接符 97">
                <a:extLst>
                  <a:ext uri="{FF2B5EF4-FFF2-40B4-BE49-F238E27FC236}">
                    <a16:creationId xmlns:a16="http://schemas.microsoft.com/office/drawing/2014/main" id="{39415F65-D016-6D67-6D1E-3F486BEF4BC8}"/>
                  </a:ext>
                </a:extLst>
              </p:cNvPr>
              <p:cNvCxnSpPr>
                <a:cxnSpLocks/>
              </p:cNvCxnSpPr>
              <p:nvPr/>
            </p:nvCxnSpPr>
            <p:spPr>
              <a:xfrm flipV="1">
                <a:off x="5321935" y="2548909"/>
                <a:ext cx="0" cy="51503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D18ACD89-2F8D-6443-E4E7-6B41A772104F}"/>
                  </a:ext>
                </a:extLst>
              </p:cNvPr>
              <p:cNvCxnSpPr>
                <a:cxnSpLocks/>
              </p:cNvCxnSpPr>
              <p:nvPr/>
            </p:nvCxnSpPr>
            <p:spPr>
              <a:xfrm flipV="1">
                <a:off x="4681065" y="2337037"/>
                <a:ext cx="0" cy="72690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0" name="直接箭头连接符 99">
                <a:extLst>
                  <a:ext uri="{FF2B5EF4-FFF2-40B4-BE49-F238E27FC236}">
                    <a16:creationId xmlns:a16="http://schemas.microsoft.com/office/drawing/2014/main" id="{BA7ED3C0-7575-FACF-AAF6-0F2757FCB7B2}"/>
                  </a:ext>
                </a:extLst>
              </p:cNvPr>
              <p:cNvCxnSpPr>
                <a:cxnSpLocks/>
              </p:cNvCxnSpPr>
              <p:nvPr/>
            </p:nvCxnSpPr>
            <p:spPr>
              <a:xfrm flipV="1">
                <a:off x="5962805" y="2834497"/>
                <a:ext cx="0" cy="20138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1" name="直接箭头连接符 100">
                <a:extLst>
                  <a:ext uri="{FF2B5EF4-FFF2-40B4-BE49-F238E27FC236}">
                    <a16:creationId xmlns:a16="http://schemas.microsoft.com/office/drawing/2014/main" id="{F88E3686-4822-207D-FD55-D17AFC423211}"/>
                  </a:ext>
                </a:extLst>
              </p:cNvPr>
              <p:cNvCxnSpPr>
                <a:cxnSpLocks/>
              </p:cNvCxnSpPr>
              <p:nvPr/>
            </p:nvCxnSpPr>
            <p:spPr>
              <a:xfrm flipV="1">
                <a:off x="5642370" y="2548911"/>
                <a:ext cx="0" cy="49862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28FA9D84-55EB-98E2-68E9-4D78645DAEA9}"/>
                  </a:ext>
                </a:extLst>
              </p:cNvPr>
              <p:cNvCxnSpPr>
                <a:cxnSpLocks/>
              </p:cNvCxnSpPr>
              <p:nvPr/>
            </p:nvCxnSpPr>
            <p:spPr>
              <a:xfrm>
                <a:off x="4592320" y="3063945"/>
                <a:ext cx="15036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936C6C23-655A-8EA4-48D0-55E44BBBE06E}"/>
                  </a:ext>
                </a:extLst>
              </p:cNvPr>
              <p:cNvCxnSpPr>
                <a:cxnSpLocks/>
              </p:cNvCxnSpPr>
              <p:nvPr/>
            </p:nvCxnSpPr>
            <p:spPr>
              <a:xfrm flipV="1">
                <a:off x="5001500" y="2517845"/>
                <a:ext cx="0" cy="54610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grpSp>
        <p:nvGrpSpPr>
          <p:cNvPr id="104" name="组合 103">
            <a:extLst>
              <a:ext uri="{FF2B5EF4-FFF2-40B4-BE49-F238E27FC236}">
                <a16:creationId xmlns:a16="http://schemas.microsoft.com/office/drawing/2014/main" id="{22A32575-398E-93FC-D7FC-CB5BCC2439CC}"/>
              </a:ext>
            </a:extLst>
          </p:cNvPr>
          <p:cNvGrpSpPr/>
          <p:nvPr/>
        </p:nvGrpSpPr>
        <p:grpSpPr>
          <a:xfrm>
            <a:off x="6723018" y="4249371"/>
            <a:ext cx="1948144" cy="1055027"/>
            <a:chOff x="6441947" y="2278912"/>
            <a:chExt cx="1948144" cy="1055027"/>
          </a:xfrm>
        </p:grpSpPr>
        <p:pic>
          <p:nvPicPr>
            <p:cNvPr id="105" name="图片 104">
              <a:extLst>
                <a:ext uri="{FF2B5EF4-FFF2-40B4-BE49-F238E27FC236}">
                  <a16:creationId xmlns:a16="http://schemas.microsoft.com/office/drawing/2014/main" id="{1A3B08BC-E9B4-CD02-7BE1-44721A303AD8}"/>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06" name="组合 105">
              <a:extLst>
                <a:ext uri="{FF2B5EF4-FFF2-40B4-BE49-F238E27FC236}">
                  <a16:creationId xmlns:a16="http://schemas.microsoft.com/office/drawing/2014/main" id="{952BF038-6444-012F-9AA6-DAA635293A34}"/>
                </a:ext>
              </a:extLst>
            </p:cNvPr>
            <p:cNvGrpSpPr/>
            <p:nvPr/>
          </p:nvGrpSpPr>
          <p:grpSpPr>
            <a:xfrm>
              <a:off x="6664179" y="2654844"/>
              <a:ext cx="1503680" cy="514443"/>
              <a:chOff x="6588165" y="2549504"/>
              <a:chExt cx="1503680" cy="514443"/>
            </a:xfrm>
          </p:grpSpPr>
          <p:cxnSp>
            <p:nvCxnSpPr>
              <p:cNvPr id="107" name="直接箭头连接符 106">
                <a:extLst>
                  <a:ext uri="{FF2B5EF4-FFF2-40B4-BE49-F238E27FC236}">
                    <a16:creationId xmlns:a16="http://schemas.microsoft.com/office/drawing/2014/main" id="{B3BB15E8-0954-D55A-AF9E-B42F6EC4DD2B}"/>
                  </a:ext>
                </a:extLst>
              </p:cNvPr>
              <p:cNvCxnSpPr>
                <a:cxnSpLocks/>
              </p:cNvCxnSpPr>
              <p:nvPr/>
            </p:nvCxnSpPr>
            <p:spPr>
              <a:xfrm flipV="1">
                <a:off x="7317780" y="2648601"/>
                <a:ext cx="0" cy="415346"/>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8" name="直接箭头连接符 107">
                <a:extLst>
                  <a:ext uri="{FF2B5EF4-FFF2-40B4-BE49-F238E27FC236}">
                    <a16:creationId xmlns:a16="http://schemas.microsoft.com/office/drawing/2014/main" id="{0882F2F3-EB66-0931-9DF0-4346025F5E50}"/>
                  </a:ext>
                </a:extLst>
              </p:cNvPr>
              <p:cNvCxnSpPr>
                <a:cxnSpLocks/>
              </p:cNvCxnSpPr>
              <p:nvPr/>
            </p:nvCxnSpPr>
            <p:spPr>
              <a:xfrm flipV="1">
                <a:off x="6676910" y="2549504"/>
                <a:ext cx="0" cy="514441"/>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9" name="直接箭头连接符 108">
                <a:extLst>
                  <a:ext uri="{FF2B5EF4-FFF2-40B4-BE49-F238E27FC236}">
                    <a16:creationId xmlns:a16="http://schemas.microsoft.com/office/drawing/2014/main" id="{6BC1101B-3F05-4223-6D7B-7A432A7D7437}"/>
                  </a:ext>
                </a:extLst>
              </p:cNvPr>
              <p:cNvCxnSpPr>
                <a:cxnSpLocks/>
              </p:cNvCxnSpPr>
              <p:nvPr/>
            </p:nvCxnSpPr>
            <p:spPr>
              <a:xfrm flipV="1">
                <a:off x="7958650" y="2549504"/>
                <a:ext cx="0" cy="486373"/>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10" name="直接箭头连接符 109">
                <a:extLst>
                  <a:ext uri="{FF2B5EF4-FFF2-40B4-BE49-F238E27FC236}">
                    <a16:creationId xmlns:a16="http://schemas.microsoft.com/office/drawing/2014/main" id="{57C066E9-90BE-914E-921C-9A8AEE8794E5}"/>
                  </a:ext>
                </a:extLst>
              </p:cNvPr>
              <p:cNvCxnSpPr>
                <a:cxnSpLocks/>
              </p:cNvCxnSpPr>
              <p:nvPr/>
            </p:nvCxnSpPr>
            <p:spPr>
              <a:xfrm flipV="1">
                <a:off x="7638215" y="2834497"/>
                <a:ext cx="0" cy="213038"/>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2C1DFADF-84F7-3374-89AB-EEB35C8C1C8D}"/>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E8E94BD4-8BEA-388C-28E9-A89F3996DF5C}"/>
                  </a:ext>
                </a:extLst>
              </p:cNvPr>
              <p:cNvCxnSpPr>
                <a:cxnSpLocks/>
              </p:cNvCxnSpPr>
              <p:nvPr/>
            </p:nvCxnSpPr>
            <p:spPr>
              <a:xfrm flipV="1">
                <a:off x="6997345" y="2834497"/>
                <a:ext cx="0" cy="2294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grpSp>
      </p:grpSp>
      <p:sp>
        <p:nvSpPr>
          <p:cNvPr id="119" name="箭头: 下 118">
            <a:extLst>
              <a:ext uri="{FF2B5EF4-FFF2-40B4-BE49-F238E27FC236}">
                <a16:creationId xmlns:a16="http://schemas.microsoft.com/office/drawing/2014/main" id="{55B3AF68-BC2E-0CE0-7094-EC6A0555E1C9}"/>
              </a:ext>
            </a:extLst>
          </p:cNvPr>
          <p:cNvSpPr/>
          <p:nvPr/>
        </p:nvSpPr>
        <p:spPr>
          <a:xfrm rot="16200000">
            <a:off x="9063644" y="4560296"/>
            <a:ext cx="186576" cy="46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120" name="表格 119">
            <a:extLst>
              <a:ext uri="{FF2B5EF4-FFF2-40B4-BE49-F238E27FC236}">
                <a16:creationId xmlns:a16="http://schemas.microsoft.com/office/drawing/2014/main" id="{51E580DB-D996-18D4-4B6A-0797DD6FA9D4}"/>
              </a:ext>
            </a:extLst>
          </p:cNvPr>
          <p:cNvGraphicFramePr>
            <a:graphicFrameLocks noGrp="1"/>
          </p:cNvGraphicFramePr>
          <p:nvPr>
            <p:extLst>
              <p:ext uri="{D42A27DB-BD31-4B8C-83A1-F6EECF244321}">
                <p14:modId xmlns:p14="http://schemas.microsoft.com/office/powerpoint/2010/main" val="2067353893"/>
              </p:ext>
            </p:extLst>
          </p:nvPr>
        </p:nvGraphicFramePr>
        <p:xfrm>
          <a:off x="10314881" y="5469157"/>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gridCol w="252000">
                  <a:extLst>
                    <a:ext uri="{9D8B030D-6E8A-4147-A177-3AD203B41FA5}">
                      <a16:colId xmlns:a16="http://schemas.microsoft.com/office/drawing/2014/main" val="1519181048"/>
                    </a:ext>
                  </a:extLst>
                </a:gridCol>
                <a:gridCol w="252000">
                  <a:extLst>
                    <a:ext uri="{9D8B030D-6E8A-4147-A177-3AD203B41FA5}">
                      <a16:colId xmlns:a16="http://schemas.microsoft.com/office/drawing/2014/main" val="2552053040"/>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87612"/>
                  </a:ext>
                </a:extLst>
              </a:tr>
            </a:tbl>
          </a:graphicData>
        </a:graphic>
      </p:graphicFrame>
      <p:sp>
        <p:nvSpPr>
          <p:cNvPr id="121" name="文本框 120">
            <a:extLst>
              <a:ext uri="{FF2B5EF4-FFF2-40B4-BE49-F238E27FC236}">
                <a16:creationId xmlns:a16="http://schemas.microsoft.com/office/drawing/2014/main" id="{293840CE-CD76-B8E9-ADAD-260FFED465B3}"/>
              </a:ext>
            </a:extLst>
          </p:cNvPr>
          <p:cNvSpPr txBox="1"/>
          <p:nvPr/>
        </p:nvSpPr>
        <p:spPr>
          <a:xfrm>
            <a:off x="9156932" y="5432764"/>
            <a:ext cx="1151030" cy="338554"/>
          </a:xfrm>
          <a:prstGeom prst="rect">
            <a:avLst/>
          </a:prstGeom>
          <a:noFill/>
        </p:spPr>
        <p:txBody>
          <a:bodyPr wrap="square">
            <a:spAutoFit/>
          </a:bodyPr>
          <a:lstStyle/>
          <a:p>
            <a:pPr algn="r"/>
            <a:r>
              <a:rPr lang="en-US" altLang="zh-CN" sz="1600" dirty="0">
                <a:latin typeface="Times New Roman" panose="02020603050405020304" pitchFamily="18" charset="0"/>
                <a:cs typeface="Times New Roman" panose="02020603050405020304" pitchFamily="18" charset="0"/>
              </a:rPr>
              <a:t>Mask 1</a:t>
            </a:r>
            <a:endParaRPr lang="zh-CN" altLang="en-US" sz="1600" dirty="0">
              <a:latin typeface="Times New Roman" panose="02020603050405020304" pitchFamily="18" charset="0"/>
              <a:cs typeface="Times New Roman" panose="02020603050405020304" pitchFamily="18" charset="0"/>
            </a:endParaRPr>
          </a:p>
        </p:txBody>
      </p:sp>
      <p:graphicFrame>
        <p:nvGraphicFramePr>
          <p:cNvPr id="122" name="表格 121">
            <a:extLst>
              <a:ext uri="{FF2B5EF4-FFF2-40B4-BE49-F238E27FC236}">
                <a16:creationId xmlns:a16="http://schemas.microsoft.com/office/drawing/2014/main" id="{8DC72912-918B-11D0-20CE-1C0510B66C58}"/>
              </a:ext>
            </a:extLst>
          </p:cNvPr>
          <p:cNvGraphicFramePr>
            <a:graphicFrameLocks noGrp="1"/>
          </p:cNvGraphicFramePr>
          <p:nvPr>
            <p:extLst>
              <p:ext uri="{D42A27DB-BD31-4B8C-83A1-F6EECF244321}">
                <p14:modId xmlns:p14="http://schemas.microsoft.com/office/powerpoint/2010/main" val="456209547"/>
              </p:ext>
            </p:extLst>
          </p:nvPr>
        </p:nvGraphicFramePr>
        <p:xfrm>
          <a:off x="10314881" y="5925242"/>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123" name="文本框 122">
            <a:extLst>
              <a:ext uri="{FF2B5EF4-FFF2-40B4-BE49-F238E27FC236}">
                <a16:creationId xmlns:a16="http://schemas.microsoft.com/office/drawing/2014/main" id="{4E2F6080-395E-EC71-8F00-434349A66779}"/>
              </a:ext>
            </a:extLst>
          </p:cNvPr>
          <p:cNvSpPr txBox="1"/>
          <p:nvPr/>
        </p:nvSpPr>
        <p:spPr>
          <a:xfrm>
            <a:off x="9156932" y="5888849"/>
            <a:ext cx="1151030" cy="338554"/>
          </a:xfrm>
          <a:prstGeom prst="rect">
            <a:avLst/>
          </a:prstGeom>
          <a:noFill/>
        </p:spPr>
        <p:txBody>
          <a:bodyPr wrap="square">
            <a:spAutoFit/>
          </a:bodyPr>
          <a:lstStyle/>
          <a:p>
            <a:pPr algn="r"/>
            <a:r>
              <a:rPr kumimoji="0" lang="en-US" altLang="zh-CN" sz="1600"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Mask 2</a:t>
            </a:r>
            <a:endParaRPr lang="zh-CN" altLang="en-US" sz="1600" dirty="0">
              <a:latin typeface="Times New Roman" panose="02020603050405020304" pitchFamily="18" charset="0"/>
              <a:cs typeface="Times New Roman" panose="02020603050405020304" pitchFamily="18" charset="0"/>
            </a:endParaRPr>
          </a:p>
        </p:txBody>
      </p:sp>
      <p:grpSp>
        <p:nvGrpSpPr>
          <p:cNvPr id="124" name="组合 123">
            <a:extLst>
              <a:ext uri="{FF2B5EF4-FFF2-40B4-BE49-F238E27FC236}">
                <a16:creationId xmlns:a16="http://schemas.microsoft.com/office/drawing/2014/main" id="{85C8FC96-68B6-A24A-4335-0AA30C159F12}"/>
              </a:ext>
            </a:extLst>
          </p:cNvPr>
          <p:cNvGrpSpPr/>
          <p:nvPr/>
        </p:nvGrpSpPr>
        <p:grpSpPr>
          <a:xfrm>
            <a:off x="9672599" y="2263381"/>
            <a:ext cx="1948144" cy="1055027"/>
            <a:chOff x="6441947" y="2278912"/>
            <a:chExt cx="1948144" cy="1055027"/>
          </a:xfrm>
        </p:grpSpPr>
        <p:pic>
          <p:nvPicPr>
            <p:cNvPr id="125" name="图片 124">
              <a:extLst>
                <a:ext uri="{FF2B5EF4-FFF2-40B4-BE49-F238E27FC236}">
                  <a16:creationId xmlns:a16="http://schemas.microsoft.com/office/drawing/2014/main" id="{7822BD67-1A5E-64A5-C450-5BF8A6037075}"/>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26" name="组合 125">
              <a:extLst>
                <a:ext uri="{FF2B5EF4-FFF2-40B4-BE49-F238E27FC236}">
                  <a16:creationId xmlns:a16="http://schemas.microsoft.com/office/drawing/2014/main" id="{388B8010-2EBD-2AD0-E531-FFFD36E63F2D}"/>
                </a:ext>
              </a:extLst>
            </p:cNvPr>
            <p:cNvGrpSpPr/>
            <p:nvPr/>
          </p:nvGrpSpPr>
          <p:grpSpPr>
            <a:xfrm>
              <a:off x="6664179" y="2468253"/>
              <a:ext cx="1503680" cy="701034"/>
              <a:chOff x="6588165" y="2362913"/>
              <a:chExt cx="1503680" cy="701034"/>
            </a:xfrm>
          </p:grpSpPr>
          <p:cxnSp>
            <p:nvCxnSpPr>
              <p:cNvPr id="127" name="直接箭头连接符 126">
                <a:extLst>
                  <a:ext uri="{FF2B5EF4-FFF2-40B4-BE49-F238E27FC236}">
                    <a16:creationId xmlns:a16="http://schemas.microsoft.com/office/drawing/2014/main" id="{D172E620-5415-F339-59B8-428873A043A2}"/>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28" name="直接箭头连接符 127">
                <a:extLst>
                  <a:ext uri="{FF2B5EF4-FFF2-40B4-BE49-F238E27FC236}">
                    <a16:creationId xmlns:a16="http://schemas.microsoft.com/office/drawing/2014/main" id="{4B1096AA-A46C-E81F-CE62-15796F88A9FC}"/>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29" name="直接箭头连接符 128">
                <a:extLst>
                  <a:ext uri="{FF2B5EF4-FFF2-40B4-BE49-F238E27FC236}">
                    <a16:creationId xmlns:a16="http://schemas.microsoft.com/office/drawing/2014/main" id="{593E3EED-93DE-B939-9B1A-073B233BE113}"/>
                  </a:ext>
                </a:extLst>
              </p:cNvPr>
              <p:cNvCxnSpPr>
                <a:cxnSpLocks/>
              </p:cNvCxnSpPr>
              <p:nvPr/>
            </p:nvCxnSpPr>
            <p:spPr>
              <a:xfrm flipV="1">
                <a:off x="7958650" y="2834497"/>
                <a:ext cx="0" cy="20138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0" name="直接箭头连接符 129">
                <a:extLst>
                  <a:ext uri="{FF2B5EF4-FFF2-40B4-BE49-F238E27FC236}">
                    <a16:creationId xmlns:a16="http://schemas.microsoft.com/office/drawing/2014/main" id="{0423A635-D79E-A0B0-10FA-0E2753DA232E}"/>
                  </a:ext>
                </a:extLst>
              </p:cNvPr>
              <p:cNvCxnSpPr>
                <a:cxnSpLocks/>
              </p:cNvCxnSpPr>
              <p:nvPr/>
            </p:nvCxnSpPr>
            <p:spPr>
              <a:xfrm flipV="1">
                <a:off x="7638215" y="2565035"/>
                <a:ext cx="0" cy="48250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28FB1F7F-D400-F8BE-19A8-D3DEEA565D24}"/>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B9A543F2-3A90-1347-DE3A-9B5F24658D11}"/>
                  </a:ext>
                </a:extLst>
              </p:cNvPr>
              <p:cNvCxnSpPr>
                <a:cxnSpLocks/>
              </p:cNvCxnSpPr>
              <p:nvPr/>
            </p:nvCxnSpPr>
            <p:spPr>
              <a:xfrm flipV="1">
                <a:off x="6997345" y="2533971"/>
                <a:ext cx="0" cy="52997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grpSp>
        <p:nvGrpSpPr>
          <p:cNvPr id="137" name="组合 136">
            <a:extLst>
              <a:ext uri="{FF2B5EF4-FFF2-40B4-BE49-F238E27FC236}">
                <a16:creationId xmlns:a16="http://schemas.microsoft.com/office/drawing/2014/main" id="{A58ECB34-C3C5-7839-CEB3-77594DFDB621}"/>
              </a:ext>
            </a:extLst>
          </p:cNvPr>
          <p:cNvGrpSpPr/>
          <p:nvPr/>
        </p:nvGrpSpPr>
        <p:grpSpPr>
          <a:xfrm>
            <a:off x="9672599" y="4250786"/>
            <a:ext cx="1948144" cy="1055027"/>
            <a:chOff x="6441947" y="2278912"/>
            <a:chExt cx="1948144" cy="1055027"/>
          </a:xfrm>
        </p:grpSpPr>
        <p:pic>
          <p:nvPicPr>
            <p:cNvPr id="138" name="图片 137">
              <a:extLst>
                <a:ext uri="{FF2B5EF4-FFF2-40B4-BE49-F238E27FC236}">
                  <a16:creationId xmlns:a16="http://schemas.microsoft.com/office/drawing/2014/main" id="{05D875D4-76AC-5F91-7EA7-E3E9955CFEE6}"/>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39" name="组合 138">
              <a:extLst>
                <a:ext uri="{FF2B5EF4-FFF2-40B4-BE49-F238E27FC236}">
                  <a16:creationId xmlns:a16="http://schemas.microsoft.com/office/drawing/2014/main" id="{CE3BE4F6-45D8-68B9-92A2-C7F205EC4EE1}"/>
                </a:ext>
              </a:extLst>
            </p:cNvPr>
            <p:cNvGrpSpPr/>
            <p:nvPr/>
          </p:nvGrpSpPr>
          <p:grpSpPr>
            <a:xfrm>
              <a:off x="6664179" y="2479477"/>
              <a:ext cx="1503680" cy="689810"/>
              <a:chOff x="6588165" y="2374137"/>
              <a:chExt cx="1503680" cy="689810"/>
            </a:xfrm>
          </p:grpSpPr>
          <p:cxnSp>
            <p:nvCxnSpPr>
              <p:cNvPr id="140" name="直接箭头连接符 139">
                <a:extLst>
                  <a:ext uri="{FF2B5EF4-FFF2-40B4-BE49-F238E27FC236}">
                    <a16:creationId xmlns:a16="http://schemas.microsoft.com/office/drawing/2014/main" id="{9F32FF23-9452-ADEB-9BA9-7C04E7E2F78E}"/>
                  </a:ext>
                </a:extLst>
              </p:cNvPr>
              <p:cNvCxnSpPr>
                <a:cxnSpLocks/>
              </p:cNvCxnSpPr>
              <p:nvPr/>
            </p:nvCxnSpPr>
            <p:spPr>
              <a:xfrm flipV="1">
                <a:off x="7317780" y="2548089"/>
                <a:ext cx="0" cy="51585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1" name="直接箭头连接符 140">
                <a:extLst>
                  <a:ext uri="{FF2B5EF4-FFF2-40B4-BE49-F238E27FC236}">
                    <a16:creationId xmlns:a16="http://schemas.microsoft.com/office/drawing/2014/main" id="{CEA2AACB-CCD0-1939-21C2-5163957A980B}"/>
                  </a:ext>
                </a:extLst>
              </p:cNvPr>
              <p:cNvCxnSpPr>
                <a:cxnSpLocks/>
              </p:cNvCxnSpPr>
              <p:nvPr/>
            </p:nvCxnSpPr>
            <p:spPr>
              <a:xfrm flipV="1">
                <a:off x="6676910" y="2374137"/>
                <a:ext cx="0" cy="68980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2" name="直接箭头连接符 141">
                <a:extLst>
                  <a:ext uri="{FF2B5EF4-FFF2-40B4-BE49-F238E27FC236}">
                    <a16:creationId xmlns:a16="http://schemas.microsoft.com/office/drawing/2014/main" id="{AEAC64AC-FB1B-2BF3-F38D-517E5B939637}"/>
                  </a:ext>
                </a:extLst>
              </p:cNvPr>
              <p:cNvCxnSpPr>
                <a:cxnSpLocks/>
              </p:cNvCxnSpPr>
              <p:nvPr/>
            </p:nvCxnSpPr>
            <p:spPr>
              <a:xfrm flipV="1">
                <a:off x="7958650" y="2549504"/>
                <a:ext cx="0" cy="48637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3" name="直接箭头连接符 142">
                <a:extLst>
                  <a:ext uri="{FF2B5EF4-FFF2-40B4-BE49-F238E27FC236}">
                    <a16:creationId xmlns:a16="http://schemas.microsoft.com/office/drawing/2014/main" id="{2E86FF7E-83AA-F4D0-B85A-22D4F215EB7D}"/>
                  </a:ext>
                </a:extLst>
              </p:cNvPr>
              <p:cNvCxnSpPr>
                <a:cxnSpLocks/>
              </p:cNvCxnSpPr>
              <p:nvPr/>
            </p:nvCxnSpPr>
            <p:spPr>
              <a:xfrm flipV="1">
                <a:off x="7638215" y="2548089"/>
                <a:ext cx="0" cy="49944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4" name="直接连接符 143">
                <a:extLst>
                  <a:ext uri="{FF2B5EF4-FFF2-40B4-BE49-F238E27FC236}">
                    <a16:creationId xmlns:a16="http://schemas.microsoft.com/office/drawing/2014/main" id="{BC52E566-1A7F-3655-FC78-8FECD8B77ED2}"/>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3150C3E1-BCCD-B3E6-7755-8AFBB3B33CFB}"/>
                  </a:ext>
                </a:extLst>
              </p:cNvPr>
              <p:cNvCxnSpPr>
                <a:cxnSpLocks/>
              </p:cNvCxnSpPr>
              <p:nvPr/>
            </p:nvCxnSpPr>
            <p:spPr>
              <a:xfrm flipV="1">
                <a:off x="6997345" y="2489826"/>
                <a:ext cx="0" cy="574121"/>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sp>
        <p:nvSpPr>
          <p:cNvPr id="147" name="文本框 146">
            <a:extLst>
              <a:ext uri="{FF2B5EF4-FFF2-40B4-BE49-F238E27FC236}">
                <a16:creationId xmlns:a16="http://schemas.microsoft.com/office/drawing/2014/main" id="{4BEFCC50-0C7A-0154-5D7C-3FE1D9EA6A7C}"/>
              </a:ext>
            </a:extLst>
          </p:cNvPr>
          <p:cNvSpPr txBox="1"/>
          <p:nvPr/>
        </p:nvSpPr>
        <p:spPr>
          <a:xfrm>
            <a:off x="8823981" y="2380916"/>
            <a:ext cx="666252" cy="369332"/>
          </a:xfrm>
          <a:prstGeom prst="rect">
            <a:avLst/>
          </a:prstGeom>
          <a:noFill/>
        </p:spPr>
        <p:txBody>
          <a:bodyPr wrap="square">
            <a:spAutoFit/>
          </a:bodyPr>
          <a:lstStyle/>
          <a:p>
            <a:r>
              <a:rPr lang="zh-CN" altLang="en-US" b="1" dirty="0">
                <a:solidFill>
                  <a:srgbClr val="333333"/>
                </a:solidFill>
                <a:latin typeface="Noto Sans SC" panose="020B0200000000000000" pitchFamily="34" charset="-122"/>
                <a:ea typeface="Noto Sans SC" panose="020B0200000000000000" pitchFamily="34" charset="-122"/>
              </a:rPr>
              <a:t>融合</a:t>
            </a:r>
            <a:endParaRPr lang="zh-CN" altLang="en-US" dirty="0"/>
          </a:p>
        </p:txBody>
      </p:sp>
      <p:sp>
        <p:nvSpPr>
          <p:cNvPr id="149" name="文本框 148">
            <a:extLst>
              <a:ext uri="{FF2B5EF4-FFF2-40B4-BE49-F238E27FC236}">
                <a16:creationId xmlns:a16="http://schemas.microsoft.com/office/drawing/2014/main" id="{B42B28C0-35D4-E0D8-D841-7F26C75E54CE}"/>
              </a:ext>
            </a:extLst>
          </p:cNvPr>
          <p:cNvSpPr txBox="1"/>
          <p:nvPr/>
        </p:nvSpPr>
        <p:spPr>
          <a:xfrm>
            <a:off x="8855096" y="4382374"/>
            <a:ext cx="666252" cy="369332"/>
          </a:xfrm>
          <a:prstGeom prst="rect">
            <a:avLst/>
          </a:prstGeom>
          <a:noFill/>
        </p:spPr>
        <p:txBody>
          <a:bodyPr wrap="square">
            <a:spAutoFit/>
          </a:bodyPr>
          <a:lstStyle/>
          <a:p>
            <a:r>
              <a:rPr lang="zh-CN" altLang="en-US" b="1" dirty="0">
                <a:solidFill>
                  <a:srgbClr val="333333"/>
                </a:solidFill>
                <a:latin typeface="Noto Sans SC" panose="020B0200000000000000" pitchFamily="34" charset="-122"/>
                <a:ea typeface="Noto Sans SC" panose="020B0200000000000000" pitchFamily="34" charset="-122"/>
              </a:rPr>
              <a:t>融合</a:t>
            </a:r>
            <a:endParaRPr lang="zh-CN" altLang="en-US" dirty="0"/>
          </a:p>
        </p:txBody>
      </p:sp>
      <p:grpSp>
        <p:nvGrpSpPr>
          <p:cNvPr id="48" name="组合 47">
            <a:extLst>
              <a:ext uri="{FF2B5EF4-FFF2-40B4-BE49-F238E27FC236}">
                <a16:creationId xmlns:a16="http://schemas.microsoft.com/office/drawing/2014/main" id="{04607DB8-5FF8-6D90-8A7A-FFC9357251A4}"/>
              </a:ext>
            </a:extLst>
          </p:cNvPr>
          <p:cNvGrpSpPr/>
          <p:nvPr/>
        </p:nvGrpSpPr>
        <p:grpSpPr>
          <a:xfrm>
            <a:off x="5309945" y="5515676"/>
            <a:ext cx="1948144" cy="1055027"/>
            <a:chOff x="6441947" y="2278912"/>
            <a:chExt cx="1948144" cy="1055027"/>
          </a:xfrm>
        </p:grpSpPr>
        <p:pic>
          <p:nvPicPr>
            <p:cNvPr id="55" name="图片 54">
              <a:extLst>
                <a:ext uri="{FF2B5EF4-FFF2-40B4-BE49-F238E27FC236}">
                  <a16:creationId xmlns:a16="http://schemas.microsoft.com/office/drawing/2014/main" id="{61D0A661-1E55-8937-525B-43EDFB6471F1}"/>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56" name="组合 55">
              <a:extLst>
                <a:ext uri="{FF2B5EF4-FFF2-40B4-BE49-F238E27FC236}">
                  <a16:creationId xmlns:a16="http://schemas.microsoft.com/office/drawing/2014/main" id="{1FF0ACE4-A359-449F-38B4-71B74D756631}"/>
                </a:ext>
              </a:extLst>
            </p:cNvPr>
            <p:cNvGrpSpPr/>
            <p:nvPr/>
          </p:nvGrpSpPr>
          <p:grpSpPr>
            <a:xfrm>
              <a:off x="6664179" y="2479477"/>
              <a:ext cx="1503680" cy="689810"/>
              <a:chOff x="6588165" y="2374137"/>
              <a:chExt cx="1503680" cy="689810"/>
            </a:xfrm>
          </p:grpSpPr>
          <p:cxnSp>
            <p:nvCxnSpPr>
              <p:cNvPr id="57" name="直接箭头连接符 56">
                <a:extLst>
                  <a:ext uri="{FF2B5EF4-FFF2-40B4-BE49-F238E27FC236}">
                    <a16:creationId xmlns:a16="http://schemas.microsoft.com/office/drawing/2014/main" id="{00B0FE8C-BF0B-0D4B-3432-B1C4A7337927}"/>
                  </a:ext>
                </a:extLst>
              </p:cNvPr>
              <p:cNvCxnSpPr>
                <a:cxnSpLocks/>
              </p:cNvCxnSpPr>
              <p:nvPr/>
            </p:nvCxnSpPr>
            <p:spPr>
              <a:xfrm flipV="1">
                <a:off x="7317780" y="2548089"/>
                <a:ext cx="0" cy="515858"/>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8" name="直接箭头连接符 57">
                <a:extLst>
                  <a:ext uri="{FF2B5EF4-FFF2-40B4-BE49-F238E27FC236}">
                    <a16:creationId xmlns:a16="http://schemas.microsoft.com/office/drawing/2014/main" id="{7792F49D-5C47-4128-5C6D-7D6AA2647E37}"/>
                  </a:ext>
                </a:extLst>
              </p:cNvPr>
              <p:cNvCxnSpPr>
                <a:cxnSpLocks/>
              </p:cNvCxnSpPr>
              <p:nvPr/>
            </p:nvCxnSpPr>
            <p:spPr>
              <a:xfrm flipV="1">
                <a:off x="6676910" y="2374137"/>
                <a:ext cx="0" cy="689808"/>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D0926D6F-5054-8015-92E0-1F892EE562BB}"/>
                  </a:ext>
                </a:extLst>
              </p:cNvPr>
              <p:cNvCxnSpPr>
                <a:cxnSpLocks/>
              </p:cNvCxnSpPr>
              <p:nvPr/>
            </p:nvCxnSpPr>
            <p:spPr>
              <a:xfrm flipV="1">
                <a:off x="7958650" y="2549504"/>
                <a:ext cx="0" cy="486373"/>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E065E2FD-1B7D-7B54-B470-86616648CB4A}"/>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65" name="组合 64">
            <a:extLst>
              <a:ext uri="{FF2B5EF4-FFF2-40B4-BE49-F238E27FC236}">
                <a16:creationId xmlns:a16="http://schemas.microsoft.com/office/drawing/2014/main" id="{6CD8A22D-3481-F00C-1C3B-F81C9255526F}"/>
              </a:ext>
            </a:extLst>
          </p:cNvPr>
          <p:cNvGrpSpPr/>
          <p:nvPr/>
        </p:nvGrpSpPr>
        <p:grpSpPr>
          <a:xfrm>
            <a:off x="7678198" y="4827707"/>
            <a:ext cx="1948144" cy="1055027"/>
            <a:chOff x="6441947" y="2278912"/>
            <a:chExt cx="1948144" cy="1055027"/>
          </a:xfrm>
        </p:grpSpPr>
        <p:pic>
          <p:nvPicPr>
            <p:cNvPr id="66" name="图片 65">
              <a:extLst>
                <a:ext uri="{FF2B5EF4-FFF2-40B4-BE49-F238E27FC236}">
                  <a16:creationId xmlns:a16="http://schemas.microsoft.com/office/drawing/2014/main" id="{45EB17A5-26FB-A204-3219-7AA07AF61336}"/>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67" name="组合 66">
              <a:extLst>
                <a:ext uri="{FF2B5EF4-FFF2-40B4-BE49-F238E27FC236}">
                  <a16:creationId xmlns:a16="http://schemas.microsoft.com/office/drawing/2014/main" id="{D68E70DC-8F69-CDC1-4C26-C933023337B0}"/>
                </a:ext>
              </a:extLst>
            </p:cNvPr>
            <p:cNvGrpSpPr/>
            <p:nvPr/>
          </p:nvGrpSpPr>
          <p:grpSpPr>
            <a:xfrm>
              <a:off x="6664179" y="2869472"/>
              <a:ext cx="1503680" cy="299815"/>
              <a:chOff x="6588165" y="2764132"/>
              <a:chExt cx="1503680" cy="299815"/>
            </a:xfrm>
          </p:grpSpPr>
          <p:cxnSp>
            <p:nvCxnSpPr>
              <p:cNvPr id="68" name="直接箭头连接符 67">
                <a:extLst>
                  <a:ext uri="{FF2B5EF4-FFF2-40B4-BE49-F238E27FC236}">
                    <a16:creationId xmlns:a16="http://schemas.microsoft.com/office/drawing/2014/main" id="{39C62CF8-F4B1-7D9A-17F0-34681F249D01}"/>
                  </a:ext>
                </a:extLst>
              </p:cNvPr>
              <p:cNvCxnSpPr>
                <a:cxnSpLocks/>
              </p:cNvCxnSpPr>
              <p:nvPr/>
            </p:nvCxnSpPr>
            <p:spPr>
              <a:xfrm flipV="1">
                <a:off x="7317780" y="2816741"/>
                <a:ext cx="0" cy="247206"/>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EE6E61CE-740A-9C03-29A7-83F47BCDF0A5}"/>
                  </a:ext>
                </a:extLst>
              </p:cNvPr>
              <p:cNvCxnSpPr>
                <a:cxnSpLocks/>
              </p:cNvCxnSpPr>
              <p:nvPr/>
            </p:nvCxnSpPr>
            <p:spPr>
              <a:xfrm flipV="1">
                <a:off x="6676910" y="2764132"/>
                <a:ext cx="0" cy="299813"/>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B3BB8FC1-2D3B-6FD4-D5D5-E82676F425D4}"/>
                  </a:ext>
                </a:extLst>
              </p:cNvPr>
              <p:cNvCxnSpPr>
                <a:cxnSpLocks/>
              </p:cNvCxnSpPr>
              <p:nvPr/>
            </p:nvCxnSpPr>
            <p:spPr>
              <a:xfrm flipV="1">
                <a:off x="7958650" y="2809872"/>
                <a:ext cx="0" cy="226005"/>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1E0C7780-5931-6FE0-C7CF-34276AC571DE}"/>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pic>
        <p:nvPicPr>
          <p:cNvPr id="92" name="图片 91">
            <a:extLst>
              <a:ext uri="{FF2B5EF4-FFF2-40B4-BE49-F238E27FC236}">
                <a16:creationId xmlns:a16="http://schemas.microsoft.com/office/drawing/2014/main" id="{EF6B0134-52F7-9B07-DF63-DD9E686F568E}"/>
              </a:ext>
            </a:extLst>
          </p:cNvPr>
          <p:cNvPicPr>
            <a:picLocks noChangeAspect="1"/>
          </p:cNvPicPr>
          <p:nvPr/>
        </p:nvPicPr>
        <p:blipFill>
          <a:blip r:embed="rId9"/>
          <a:stretch>
            <a:fillRect/>
          </a:stretch>
        </p:blipFill>
        <p:spPr>
          <a:xfrm>
            <a:off x="5120555" y="2901650"/>
            <a:ext cx="1950889" cy="1054699"/>
          </a:xfrm>
          <a:prstGeom prst="rect">
            <a:avLst/>
          </a:prstGeom>
        </p:spPr>
      </p:pic>
      <p:pic>
        <p:nvPicPr>
          <p:cNvPr id="133" name="图片 132">
            <a:extLst>
              <a:ext uri="{FF2B5EF4-FFF2-40B4-BE49-F238E27FC236}">
                <a16:creationId xmlns:a16="http://schemas.microsoft.com/office/drawing/2014/main" id="{D108B873-97DF-92A2-5597-B8C9337C5FFC}"/>
              </a:ext>
            </a:extLst>
          </p:cNvPr>
          <p:cNvPicPr>
            <a:picLocks noChangeAspect="1"/>
          </p:cNvPicPr>
          <p:nvPr/>
        </p:nvPicPr>
        <p:blipFill>
          <a:blip r:embed="rId10"/>
          <a:stretch>
            <a:fillRect/>
          </a:stretch>
        </p:blipFill>
        <p:spPr>
          <a:xfrm>
            <a:off x="7346738" y="3095302"/>
            <a:ext cx="1944793" cy="1054699"/>
          </a:xfrm>
          <a:prstGeom prst="rect">
            <a:avLst/>
          </a:prstGeom>
        </p:spPr>
      </p:pic>
    </p:spTree>
    <p:extLst>
      <p:ext uri="{BB962C8B-B14F-4D97-AF65-F5344CB8AC3E}">
        <p14:creationId xmlns:p14="http://schemas.microsoft.com/office/powerpoint/2010/main" val="1744957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CCF8-9543-1540-4574-2420A6DE2C0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D5E9799-247F-A40E-8A14-F06C7A56094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A0E94AA-E012-74D9-F86C-589BCCDC53F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C719D3C8-3665-D25C-73E6-CB7DB3597FF3}"/>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0454751-FFA4-24EF-0A16-E0CC3A9267FE}"/>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424638B-98EA-F6FE-F4CB-577069F9390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192D7521-A578-46BA-518F-A6C2F85710B3}"/>
              </a:ext>
            </a:extLst>
          </p:cNvPr>
          <p:cNvPicPr>
            <a:picLocks noChangeAspect="1"/>
          </p:cNvPicPr>
          <p:nvPr/>
        </p:nvPicPr>
        <p:blipFill>
          <a:blip r:embed="rId3"/>
          <a:stretch>
            <a:fillRect/>
          </a:stretch>
        </p:blipFill>
        <p:spPr>
          <a:xfrm>
            <a:off x="132080" y="1258412"/>
            <a:ext cx="11684000" cy="1791980"/>
          </a:xfrm>
          <a:prstGeom prst="rect">
            <a:avLst/>
          </a:prstGeom>
        </p:spPr>
      </p:pic>
      <p:pic>
        <p:nvPicPr>
          <p:cNvPr id="7" name="图片 6">
            <a:extLst>
              <a:ext uri="{FF2B5EF4-FFF2-40B4-BE49-F238E27FC236}">
                <a16:creationId xmlns:a16="http://schemas.microsoft.com/office/drawing/2014/main" id="{F31287F6-8C85-187A-E0ED-2BE5785D8A34}"/>
              </a:ext>
            </a:extLst>
          </p:cNvPr>
          <p:cNvPicPr>
            <a:picLocks noChangeAspect="1"/>
          </p:cNvPicPr>
          <p:nvPr/>
        </p:nvPicPr>
        <p:blipFill>
          <a:blip r:embed="rId4"/>
          <a:stretch>
            <a:fillRect/>
          </a:stretch>
        </p:blipFill>
        <p:spPr>
          <a:xfrm>
            <a:off x="132080" y="3289976"/>
            <a:ext cx="11684000" cy="1994652"/>
          </a:xfrm>
          <a:prstGeom prst="rect">
            <a:avLst/>
          </a:prstGeom>
        </p:spPr>
      </p:pic>
      <p:sp>
        <p:nvSpPr>
          <p:cNvPr id="10" name="文本框 9">
            <a:extLst>
              <a:ext uri="{FF2B5EF4-FFF2-40B4-BE49-F238E27FC236}">
                <a16:creationId xmlns:a16="http://schemas.microsoft.com/office/drawing/2014/main" id="{AF64474C-A37E-F03E-067D-13ABFFD49799}"/>
              </a:ext>
            </a:extLst>
          </p:cNvPr>
          <p:cNvSpPr txBox="1"/>
          <p:nvPr/>
        </p:nvSpPr>
        <p:spPr>
          <a:xfrm>
            <a:off x="2921000" y="3038715"/>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多软工任务多编程语言融合性能</a:t>
            </a:r>
            <a:endParaRPr lang="zh-CN" altLang="en-US" sz="1600" dirty="0"/>
          </a:p>
        </p:txBody>
      </p:sp>
      <p:sp>
        <p:nvSpPr>
          <p:cNvPr id="12" name="文本框 11">
            <a:extLst>
              <a:ext uri="{FF2B5EF4-FFF2-40B4-BE49-F238E27FC236}">
                <a16:creationId xmlns:a16="http://schemas.microsoft.com/office/drawing/2014/main" id="{03C8E2BE-EEB4-4803-3ACA-8ECD0633B257}"/>
              </a:ext>
            </a:extLst>
          </p:cNvPr>
          <p:cNvSpPr txBox="1"/>
          <p:nvPr/>
        </p:nvSpPr>
        <p:spPr>
          <a:xfrm>
            <a:off x="2921000" y="1018394"/>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多编程语言融合性能</a:t>
            </a:r>
            <a:endParaRPr lang="zh-CN" altLang="en-US" sz="1600" dirty="0"/>
          </a:p>
        </p:txBody>
      </p:sp>
      <p:sp>
        <p:nvSpPr>
          <p:cNvPr id="2" name="文本框 1">
            <a:extLst>
              <a:ext uri="{FF2B5EF4-FFF2-40B4-BE49-F238E27FC236}">
                <a16:creationId xmlns:a16="http://schemas.microsoft.com/office/drawing/2014/main" id="{9568BEAE-8395-1CE6-56C6-14A5AEEDFFF3}"/>
              </a:ext>
            </a:extLst>
          </p:cNvPr>
          <p:cNvSpPr txBox="1"/>
          <p:nvPr/>
        </p:nvSpPr>
        <p:spPr>
          <a:xfrm>
            <a:off x="1441006" y="5313175"/>
            <a:ext cx="9309989" cy="447174"/>
          </a:xfrm>
          <a:prstGeom prst="rect">
            <a:avLst/>
          </a:prstGeom>
          <a:noFill/>
        </p:spPr>
        <p:txBody>
          <a:bodyPr wrap="square">
            <a:spAutoFit/>
          </a:bodyPr>
          <a:lstStyle/>
          <a:p>
            <a:pPr algn="ctr">
              <a:lnSpc>
                <a:spcPct val="125000"/>
              </a:lnSpc>
              <a:spcBef>
                <a:spcPts val="600"/>
              </a:spcBef>
              <a:buClr>
                <a:srgbClr val="000000"/>
              </a:buClr>
              <a:defRPr/>
            </a:pPr>
            <a:r>
              <a:rPr lang="en-US" altLang="zh-CN" sz="2000" dirty="0">
                <a:latin typeface="Times New Roman" panose="02020603050405020304" pitchFamily="18" charset="0"/>
                <a:ea typeface="Noto Sans SC"/>
                <a:sym typeface="Arial"/>
              </a:rPr>
              <a:t>Scaling-Masks</a:t>
            </a:r>
            <a:r>
              <a:rPr lang="zh-CN" altLang="en-US" sz="2000" dirty="0">
                <a:latin typeface="Times New Roman" panose="02020603050405020304" pitchFamily="18" charset="0"/>
                <a:ea typeface="Noto Sans SC"/>
                <a:sym typeface="Arial"/>
              </a:rPr>
              <a:t>在</a:t>
            </a:r>
            <a:r>
              <a:rPr lang="zh-CN" altLang="en-US" sz="2000" b="1" dirty="0">
                <a:solidFill>
                  <a:srgbClr val="FF0000"/>
                </a:solidFill>
                <a:latin typeface="Times New Roman" panose="02020603050405020304" pitchFamily="18" charset="0"/>
                <a:ea typeface="Noto Sans SC"/>
                <a:sym typeface="Arial"/>
              </a:rPr>
              <a:t>所有任务上</a:t>
            </a:r>
            <a:r>
              <a:rPr lang="zh-CN" altLang="en-US" sz="2000" dirty="0">
                <a:latin typeface="Times New Roman" panose="02020603050405020304" pitchFamily="18" charset="0"/>
                <a:ea typeface="Noto Sans SC"/>
                <a:sym typeface="Arial"/>
              </a:rPr>
              <a:t>都保留了原始微调模型</a:t>
            </a:r>
            <a:r>
              <a:rPr lang="en-US" altLang="zh-CN" sz="2000" b="1" dirty="0">
                <a:solidFill>
                  <a:srgbClr val="FF0000"/>
                </a:solidFill>
                <a:latin typeface="Times New Roman" panose="02020603050405020304" pitchFamily="18" charset="0"/>
                <a:ea typeface="Noto Sans SC"/>
                <a:sym typeface="Arial"/>
              </a:rPr>
              <a:t>100%</a:t>
            </a:r>
            <a:r>
              <a:rPr lang="zh-CN" altLang="en-US" sz="2000" b="1" dirty="0">
                <a:solidFill>
                  <a:srgbClr val="FF0000"/>
                </a:solidFill>
                <a:latin typeface="Times New Roman" panose="02020603050405020304" pitchFamily="18" charset="0"/>
                <a:ea typeface="Noto Sans SC"/>
                <a:sym typeface="Arial"/>
              </a:rPr>
              <a:t>的性能</a:t>
            </a:r>
            <a:endParaRPr lang="zh-CN" altLang="en-US" sz="2000" b="1" dirty="0">
              <a:solidFill>
                <a:srgbClr val="FF0000"/>
              </a:solidFill>
              <a:latin typeface="Times New Roman" panose="02020603050405020304" pitchFamily="18" charset="0"/>
            </a:endParaRPr>
          </a:p>
        </p:txBody>
      </p:sp>
      <p:grpSp>
        <p:nvGrpSpPr>
          <p:cNvPr id="14" name="组合 13">
            <a:extLst>
              <a:ext uri="{FF2B5EF4-FFF2-40B4-BE49-F238E27FC236}">
                <a16:creationId xmlns:a16="http://schemas.microsoft.com/office/drawing/2014/main" id="{7A40D350-389B-9221-1919-6295F68E543C}"/>
              </a:ext>
            </a:extLst>
          </p:cNvPr>
          <p:cNvGrpSpPr/>
          <p:nvPr/>
        </p:nvGrpSpPr>
        <p:grpSpPr>
          <a:xfrm>
            <a:off x="3867661" y="5702744"/>
            <a:ext cx="4456679" cy="901334"/>
            <a:chOff x="2703748" y="5702744"/>
            <a:chExt cx="4456679" cy="901334"/>
          </a:xfrm>
        </p:grpSpPr>
        <p:sp>
          <p:nvSpPr>
            <p:cNvPr id="4" name="文本框 3">
              <a:extLst>
                <a:ext uri="{FF2B5EF4-FFF2-40B4-BE49-F238E27FC236}">
                  <a16:creationId xmlns:a16="http://schemas.microsoft.com/office/drawing/2014/main" id="{39B02743-97D2-8670-A10C-2F8F810207D3}"/>
                </a:ext>
              </a:extLst>
            </p:cNvPr>
            <p:cNvSpPr txBox="1"/>
            <p:nvPr/>
          </p:nvSpPr>
          <p:spPr>
            <a:xfrm>
              <a:off x="3052093" y="5707526"/>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24.0%</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5" name="文本框 4">
              <a:extLst>
                <a:ext uri="{FF2B5EF4-FFF2-40B4-BE49-F238E27FC236}">
                  <a16:creationId xmlns:a16="http://schemas.microsoft.com/office/drawing/2014/main" id="{21462BAE-CCB4-4222-C5CC-1249485EC72D}"/>
                </a:ext>
              </a:extLst>
            </p:cNvPr>
            <p:cNvSpPr txBox="1"/>
            <p:nvPr/>
          </p:nvSpPr>
          <p:spPr>
            <a:xfrm>
              <a:off x="2703749" y="6142413"/>
              <a:ext cx="1326582"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PHP</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箭头: 上 7">
              <a:extLst>
                <a:ext uri="{FF2B5EF4-FFF2-40B4-BE49-F238E27FC236}">
                  <a16:creationId xmlns:a16="http://schemas.microsoft.com/office/drawing/2014/main" id="{F22E1C6D-97BE-3FD5-1C62-968195F0FC70}"/>
                </a:ext>
              </a:extLst>
            </p:cNvPr>
            <p:cNvSpPr>
              <a:spLocks noChangeAspect="1"/>
            </p:cNvSpPr>
            <p:nvPr/>
          </p:nvSpPr>
          <p:spPr>
            <a:xfrm>
              <a:off x="2703748" y="5705135"/>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0F28C43-A69C-184E-D462-9A0F2FBBEB95}"/>
                </a:ext>
              </a:extLst>
            </p:cNvPr>
            <p:cNvSpPr txBox="1"/>
            <p:nvPr/>
          </p:nvSpPr>
          <p:spPr>
            <a:xfrm>
              <a:off x="6070064" y="5705135"/>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63.4%</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B8F96D4C-4F68-133B-78E6-13936845343B}"/>
                </a:ext>
              </a:extLst>
            </p:cNvPr>
            <p:cNvSpPr txBox="1"/>
            <p:nvPr/>
          </p:nvSpPr>
          <p:spPr>
            <a:xfrm>
              <a:off x="5697335" y="6140022"/>
              <a:ext cx="1438707"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漏洞检测</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箭头: 上 12">
              <a:extLst>
                <a:ext uri="{FF2B5EF4-FFF2-40B4-BE49-F238E27FC236}">
                  <a16:creationId xmlns:a16="http://schemas.microsoft.com/office/drawing/2014/main" id="{3F2F1095-8A91-C3C1-786E-A2A9BDFB07B7}"/>
                </a:ext>
              </a:extLst>
            </p:cNvPr>
            <p:cNvSpPr>
              <a:spLocks noChangeAspect="1"/>
            </p:cNvSpPr>
            <p:nvPr/>
          </p:nvSpPr>
          <p:spPr>
            <a:xfrm>
              <a:off x="5721719" y="5702744"/>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1208042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AB7-8DE2-7979-DC9D-C898A32959F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11F9CD2B-4A8D-024E-A800-10A354E1207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DF6F52DC-6996-A99D-90BF-28A4F3C3AD7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0984DC-A1D9-07A8-8CAA-8B6F8F523FD7}"/>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4B899A2-D060-A615-172B-451EB2AA8E6F}"/>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54137F6-C8AE-5A18-643E-7D55BACCE2AF}"/>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03FFF9E0-CF41-68AA-2AEE-B22D63999C5B}"/>
              </a:ext>
            </a:extLst>
          </p:cNvPr>
          <p:cNvPicPr>
            <a:picLocks noChangeAspect="1"/>
          </p:cNvPicPr>
          <p:nvPr/>
        </p:nvPicPr>
        <p:blipFill>
          <a:blip r:embed="rId3"/>
          <a:stretch>
            <a:fillRect/>
          </a:stretch>
        </p:blipFill>
        <p:spPr>
          <a:xfrm>
            <a:off x="60958" y="1698942"/>
            <a:ext cx="5943600" cy="3523568"/>
          </a:xfrm>
          <a:prstGeom prst="rect">
            <a:avLst/>
          </a:prstGeom>
        </p:spPr>
      </p:pic>
      <p:pic>
        <p:nvPicPr>
          <p:cNvPr id="8" name="图片 7">
            <a:extLst>
              <a:ext uri="{FF2B5EF4-FFF2-40B4-BE49-F238E27FC236}">
                <a16:creationId xmlns:a16="http://schemas.microsoft.com/office/drawing/2014/main" id="{6B284AED-D564-3F4E-A606-CF0C7E6ABDCF}"/>
              </a:ext>
            </a:extLst>
          </p:cNvPr>
          <p:cNvPicPr>
            <a:picLocks noChangeAspect="1"/>
          </p:cNvPicPr>
          <p:nvPr/>
        </p:nvPicPr>
        <p:blipFill>
          <a:blip r:embed="rId4"/>
          <a:stretch>
            <a:fillRect/>
          </a:stretch>
        </p:blipFill>
        <p:spPr>
          <a:xfrm>
            <a:off x="6187443" y="1247844"/>
            <a:ext cx="5567678" cy="3795677"/>
          </a:xfrm>
          <a:prstGeom prst="rect">
            <a:avLst/>
          </a:prstGeom>
        </p:spPr>
      </p:pic>
      <p:sp>
        <p:nvSpPr>
          <p:cNvPr id="2" name="文本框 1">
            <a:extLst>
              <a:ext uri="{FF2B5EF4-FFF2-40B4-BE49-F238E27FC236}">
                <a16:creationId xmlns:a16="http://schemas.microsoft.com/office/drawing/2014/main" id="{E25556EA-5F8D-8F6E-A706-BCEE78C1BA6F}"/>
              </a:ext>
            </a:extLst>
          </p:cNvPr>
          <p:cNvSpPr txBox="1"/>
          <p:nvPr/>
        </p:nvSpPr>
        <p:spPr>
          <a:xfrm>
            <a:off x="2312690" y="5218411"/>
            <a:ext cx="2157710"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归一化后的</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参数分布更相似</a:t>
            </a:r>
            <a:endParaRPr lang="en-US" altLang="zh-CN" sz="2000" b="1" dirty="0">
              <a:solidFill>
                <a:srgbClr val="FF0000"/>
              </a:solidFill>
              <a:latin typeface="Noto Sans SC"/>
              <a:ea typeface="Noto Sans SC"/>
              <a:sym typeface="Arial"/>
            </a:endParaRPr>
          </a:p>
        </p:txBody>
      </p:sp>
      <p:sp>
        <p:nvSpPr>
          <p:cNvPr id="3" name="文本框 2">
            <a:extLst>
              <a:ext uri="{FF2B5EF4-FFF2-40B4-BE49-F238E27FC236}">
                <a16:creationId xmlns:a16="http://schemas.microsoft.com/office/drawing/2014/main" id="{1985CF8B-BF90-0F2C-BC82-2A6D3AB04956}"/>
              </a:ext>
            </a:extLst>
          </p:cNvPr>
          <p:cNvSpPr txBox="1"/>
          <p:nvPr/>
        </p:nvSpPr>
        <p:spPr>
          <a:xfrm>
            <a:off x="8256290" y="5218411"/>
            <a:ext cx="2157710"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关键参数</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保留率显著提升</a:t>
            </a:r>
            <a:endParaRPr lang="en-US" altLang="zh-CN" sz="2000" b="1" dirty="0">
              <a:solidFill>
                <a:srgbClr val="FF0000"/>
              </a:solidFill>
              <a:latin typeface="Noto Sans SC"/>
              <a:ea typeface="Noto Sans SC"/>
              <a:sym typeface="Arial"/>
            </a:endParaRPr>
          </a:p>
        </p:txBody>
      </p:sp>
    </p:spTree>
    <p:extLst>
      <p:ext uri="{BB962C8B-B14F-4D97-AF65-F5344CB8AC3E}">
        <p14:creationId xmlns:p14="http://schemas.microsoft.com/office/powerpoint/2010/main" val="1330655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975304" y="496202"/>
            <a:ext cx="10314417" cy="2383925"/>
          </a:xfrm>
        </p:spPr>
        <p:txBody>
          <a:bodyPr/>
          <a:lstStyle/>
          <a:p>
            <a:pPr algn="ctr"/>
            <a:r>
              <a:rPr lang="en-US" altLang="zh-CN" dirty="0">
                <a:solidFill>
                  <a:schemeClr val="accent4">
                    <a:lumMod val="60000"/>
                    <a:lumOff val="40000"/>
                  </a:schemeClr>
                </a:solidFill>
              </a:rPr>
              <a:t>Q &amp; A</a:t>
            </a:r>
            <a:endParaRPr lang="zh-CN" altLang="en-US" dirty="0">
              <a:solidFill>
                <a:schemeClr val="accent4">
                  <a:lumMod val="60000"/>
                  <a:lumOff val="40000"/>
                </a:schemeClr>
              </a:solidFill>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
        <p:nvSpPr>
          <p:cNvPr id="7" name="文本框 6">
            <a:extLst>
              <a:ext uri="{FF2B5EF4-FFF2-40B4-BE49-F238E27FC236}">
                <a16:creationId xmlns:a16="http://schemas.microsoft.com/office/drawing/2014/main" id="{D483D23E-1FA5-8F42-46F0-BCE7717D47FC}"/>
              </a:ext>
            </a:extLst>
          </p:cNvPr>
          <p:cNvSpPr txBox="1"/>
          <p:nvPr/>
        </p:nvSpPr>
        <p:spPr>
          <a:xfrm>
            <a:off x="2910840" y="4084623"/>
            <a:ext cx="6370320" cy="83099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source code of </a:t>
            </a:r>
            <a:r>
              <a:rPr lang="en-US" altLang="zh-CN" sz="2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this work</a:t>
            </a: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is available at </a:t>
            </a:r>
            <a:r>
              <a:rPr lang="en-US" altLang="zh-CN" sz="2400" dirty="0">
                <a:solidFill>
                  <a:schemeClr val="accent4">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https://doi.org/10.5281/zenodo.19491719</a:t>
            </a:r>
            <a:endParaRPr kumimoji="0" lang="zh-CN" altLang="en-US" sz="2000" b="0" i="0" u="none" strike="noStrike" kern="1200" cap="none" spc="0" normalizeH="0" baseline="0" noProof="0" dirty="0">
              <a:ln>
                <a:noFill/>
              </a:ln>
              <a:solidFill>
                <a:schemeClr val="accent4">
                  <a:lumMod val="60000"/>
                  <a:lumOff val="40000"/>
                </a:scheme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8E129730-E939-EB3B-E280-D2E21BD4FDBF}"/>
              </a:ext>
            </a:extLst>
          </p:cNvPr>
          <p:cNvSpPr txBox="1"/>
          <p:nvPr/>
        </p:nvSpPr>
        <p:spPr>
          <a:xfrm>
            <a:off x="1025705" y="1982450"/>
            <a:ext cx="10190991" cy="1446550"/>
          </a:xfrm>
          <a:prstGeom prst="rect">
            <a:avLst/>
          </a:prstGeom>
          <a:noFill/>
        </p:spPr>
        <p:txBody>
          <a:bodyPr wrap="square">
            <a:spAutoFit/>
          </a:bodyPr>
          <a:lstStyle/>
          <a:p>
            <a:pPr algn="ctr"/>
            <a:r>
              <a:rPr lang="en-US" altLang="zh-CN" sz="4400" dirty="0">
                <a:solidFill>
                  <a:schemeClr val="bg1"/>
                </a:solidFill>
                <a:latin typeface="微软雅黑" panose="020B0503020204020204" pitchFamily="34" charset="-122"/>
                <a:ea typeface="微软雅黑" panose="020B0503020204020204" pitchFamily="34" charset="-122"/>
              </a:rPr>
              <a:t>Please email </a:t>
            </a:r>
            <a:r>
              <a:rPr lang="en-US" altLang="zh-CN" sz="4400" b="1" u="sng" dirty="0">
                <a:solidFill>
                  <a:schemeClr val="accent4">
                    <a:lumMod val="60000"/>
                    <a:lumOff val="40000"/>
                  </a:schemeClr>
                </a:solidFill>
                <a:latin typeface="微软雅黑" panose="020B0503020204020204" pitchFamily="34" charset="-122"/>
                <a:ea typeface="微软雅黑" panose="020B0503020204020204" pitchFamily="34" charset="-122"/>
              </a:rPr>
              <a:t>qyg@nudt.edu.cn </a:t>
            </a:r>
            <a:r>
              <a:rPr lang="en-US" altLang="zh-CN" sz="4400" dirty="0">
                <a:solidFill>
                  <a:schemeClr val="bg1"/>
                </a:solidFill>
                <a:latin typeface="微软雅黑" panose="020B0503020204020204" pitchFamily="34" charset="-122"/>
                <a:ea typeface="微软雅黑" panose="020B0503020204020204" pitchFamily="34" charset="-122"/>
              </a:rPr>
              <a:t>with your questions</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RhODgwMGNjMzY5NTBlMzdlOTU5MGI3ZWZkNWUyYjIifQ=="/>
  <p:tag name="KSO_WPP_MARK_KEY" val="a5d287d2-1b8e-43e9-a27b-099d676412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2747</TotalTime>
  <Words>2620</Words>
  <Application>Microsoft Office PowerPoint</Application>
  <PresentationFormat>宽屏</PresentationFormat>
  <Paragraphs>254</Paragraphs>
  <Slides>15</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Adobe Devanagari</vt:lpstr>
      <vt:lpstr>Noto Sans SC</vt:lpstr>
      <vt:lpstr>微软雅黑</vt:lpstr>
      <vt:lpstr>Arial</vt:lpstr>
      <vt:lpstr>Calibri</vt:lpstr>
      <vt:lpstr>Calibri Light</vt:lpstr>
      <vt:lpstr>Cambria Math</vt:lpstr>
      <vt:lpstr>Times New Roman</vt:lpstr>
      <vt:lpstr>Office 主题</vt:lpstr>
      <vt:lpstr>One Size Does Fit All: Exploring Model Fusion for Software Engineering Tasks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dc:creator>
  <cp:lastModifiedBy>盈钢 邱</cp:lastModifiedBy>
  <cp:revision>384</cp:revision>
  <dcterms:created xsi:type="dcterms:W3CDTF">2022-06-24T11:23:00Z</dcterms:created>
  <dcterms:modified xsi:type="dcterms:W3CDTF">2026-07-08T09:10:37Z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46EFE42EC40D4905AF667EC2CD5F8DF7</vt:lpwstr>
  </property>
  <property fmtid="{D5CDD505-2E9C-101B-9397-08002B2CF9AE}" pid="3" name="KSOProductBuildVer">
    <vt:lpwstr>2052-11.1.0.12970</vt:lpwstr>
  </property>
</Properties>
</file>