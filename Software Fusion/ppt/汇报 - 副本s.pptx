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75" r:id="rId2"/>
    <p:sldId id="304" r:id="rId3"/>
    <p:sldId id="273" r:id="rId4"/>
    <p:sldId id="307" r:id="rId5"/>
    <p:sldId id="286" r:id="rId6"/>
    <p:sldId id="287"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5" r:id="rId23"/>
    <p:sldId id="285"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7AAC"/>
    <a:srgbClr val="F9FAFB"/>
    <a:srgbClr val="065543"/>
    <a:srgbClr val="016DB2"/>
    <a:srgbClr val="20936A"/>
    <a:srgbClr val="10345A"/>
    <a:srgbClr val="DA0E2C"/>
    <a:srgbClr val="006DB2"/>
    <a:srgbClr val="ECD37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6" autoAdjust="0"/>
    <p:restoredTop sz="93325" autoAdjust="0"/>
  </p:normalViewPr>
  <p:slideViewPr>
    <p:cSldViewPr snapToGrid="0">
      <p:cViewPr varScale="1">
        <p:scale>
          <a:sx n="77" d="100"/>
          <a:sy n="77" d="100"/>
        </p:scale>
        <p:origin x="864" y="58"/>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Good afternoon, everyone. I’m sorry that the authors was unable to attend due to some unforeseen circumstances. I will be presenting on their behalf.</a:t>
            </a:r>
          </a:p>
          <a:p>
            <a:endParaRPr lang="en-US" altLang="zh-CN" dirty="0"/>
          </a:p>
          <a:p>
            <a:r>
              <a:rPr lang="en-US" altLang="zh-CN" dirty="0"/>
              <a:t>The title of this presentation is "Let the Code Speak: Incorporating Program Dynamic State for Better Method-Level Fault Localization." The author team is from the College of Computer Science and Technology, the National University of Defense Technology.</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30923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effectLst/>
                  </a:rPr>
                  <a:t>大家好，今天我们来探讨一个在大语言模型应用于软件工程领域时非常关键的问题：为什么我们需要模型融合？</a:t>
                </a:r>
              </a:p>
              <a:p>
                <a:r>
                  <a:rPr lang="zh-CN" altLang="en-US" dirty="0">
                    <a:effectLst/>
                  </a:rPr>
                  <a:t>首先，我们看到大语言模型在代码搜索、漏洞检测等任务中表现出色。但传统的做法是，为每一个任务、每一种编程语言都单独训练一个模型。这就像为每个工具都准备一个独立的工具箱，很快我们就会被大量的模型所淹没，带来了存储成本高、部署维护复杂等一系列问题。</a:t>
                </a:r>
              </a:p>
              <a:p>
                <a:r>
                  <a:rPr lang="zh-CN" altLang="en-US" dirty="0">
                    <a:effectLst/>
                  </a:rPr>
                  <a:t>同时，另一种思路</a:t>
                </a:r>
                <a:r>
                  <a:rPr lang="en-US" altLang="zh-CN" dirty="0">
                    <a:effectLst/>
                  </a:rPr>
                  <a:t>——</a:t>
                </a:r>
                <a:r>
                  <a:rPr lang="zh-CN" altLang="en-US" dirty="0">
                    <a:effectLst/>
                  </a:rPr>
                  <a:t>多任务学习，虽然能把多个任务放在一个模型里，但也存在数据不均衡、任务间相互干扰等问题。</a:t>
                </a:r>
              </a:p>
              <a:p>
                <a:r>
                  <a:rPr lang="zh-CN" altLang="en-US" dirty="0">
                    <a:effectLst/>
                  </a:rPr>
                  <a:t>那么，我们能否找到一种更好的方式？这正是我们研究的出发点：我们能否通过模型融合技术，将这些分散的、针对特定任务的模型整合起来，形成一个能够同时处理多种任务和语言的统一大模型？这不仅能极大地简化模型管理，还能提升效率和性能。接下来的内容，我们将围绕这个核心问题展开。</a:t>
                </a: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283547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4DBBB-B829-7CA9-6E51-2B9E35F5BA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6C0F86-58C4-6B1B-1A2A-58660B04BA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AB51BF06-FDB8-5A96-7148-43C0727CAA16}"/>
                  </a:ext>
                </a:extLst>
              </p:cNvPr>
              <p:cNvSpPr>
                <a:spLocks noGrp="1"/>
              </p:cNvSpPr>
              <p:nvPr>
                <p:ph type="body" idx="1"/>
              </p:nvPr>
            </p:nvSpPr>
            <p:spPr/>
            <p:txBody>
              <a:bodyPr/>
              <a:lstStyle/>
              <a:p>
                <a:r>
                  <a:rPr lang="zh-CN" altLang="en-US" dirty="0">
                    <a:effectLst/>
                  </a:rPr>
                  <a:t>多任务学习，可以使得一个模型处理多个任务，它通常首先收集所有任务的数据集，然后再将他们混合给大模型训练，但是，其存在几个问题，首先是不同任务的数据可能不均衡，这会导致数据量少的任务性能不理想，其次是不同任务的梯度，特征可能冲突，导致性能下降。并且，在某些场景下例如联邦学习，其还面临数据隐私的问题。</a:t>
                </a:r>
                <a:endParaRPr lang="en-US" altLang="zh-CN" dirty="0">
                  <a:effectLst/>
                </a:endParaRPr>
              </a:p>
              <a:p>
                <a:r>
                  <a:rPr lang="zh-CN" altLang="en-US" dirty="0">
                    <a:effectLst/>
                  </a:rPr>
                  <a:t>如右图所示，多任务学习的性能在所有任务上性能都弱于微调模型，这进一步表明了他的一些缺点</a:t>
                </a: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0C245CA6-C6D0-C484-0907-4A17671A1BF0}"/>
              </a:ext>
            </a:extLst>
          </p:cNvPr>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21220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28C3-1412-1F5A-3850-E6BA66B2CB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3D6BC4-DB0C-1AAE-9FED-6DEEC478775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7E604DD6-1B85-D90D-CF35-B53F7E2F217D}"/>
                  </a:ext>
                </a:extLst>
              </p:cNvPr>
              <p:cNvSpPr>
                <a:spLocks noGrp="1"/>
              </p:cNvSpPr>
              <p:nvPr>
                <p:ph type="body" idx="1"/>
              </p:nvPr>
            </p:nvSpPr>
            <p:spPr/>
            <p:txBody>
              <a:bodyPr/>
              <a:lstStyle/>
              <a:p>
                <a:pPr indent="0" algn="l">
                  <a:lnSpc>
                    <a:spcPct val="100000"/>
                  </a:lnSpc>
                </a:pPr>
                <a:r>
                  <a:rPr lang="en-US" altLang="zh-CN" sz="1200" b="0" i="0" u="none" strike="noStrike" dirty="0" err="1">
                    <a:solidFill>
                      <a:srgbClr val="000000"/>
                    </a:solidFill>
                  </a:rPr>
                  <a:t>这一页我们来正式定义一下什么是模型融合</a:t>
                </a:r>
                <a:r>
                  <a:rPr lang="en-US" altLang="zh-CN" sz="1200" b="0" i="0" u="none" strike="noStrike" dirty="0">
                    <a:solidFill>
                      <a:srgbClr val="000000"/>
                    </a:solidFill>
                  </a:rPr>
                  <a:t>。</a:t>
                </a:r>
              </a:p>
              <a:p>
                <a:pPr indent="0" algn="l">
                  <a:lnSpc>
                    <a:spcPct val="100000"/>
                  </a:lnSpc>
                </a:pPr>
                <a:r>
                  <a:rPr lang="en-US" altLang="zh-CN" sz="1200" b="0" i="0" u="none" strike="noStrike" dirty="0">
                    <a:solidFill>
                      <a:srgbClr val="000000"/>
                    </a:solidFill>
                  </a:rPr>
                  <a:t>首先，我们假设有N个不同的软件工程任务。我们从同一个预训练好的基础模型出发，比如CodeLlama。然后，我们针对每一个任务，比如代码搜索、漏洞检测等，进行独立的微调。微调后，每个任务都会得到一组自己独有的、任务特定的参数。</a:t>
                </a:r>
              </a:p>
              <a:p>
                <a:pPr indent="0" algn="l">
                  <a:lnSpc>
                    <a:spcPct val="100000"/>
                  </a:lnSpc>
                </a:pPr>
                <a:r>
                  <a:rPr lang="en-US" altLang="zh-CN" sz="1200" b="0" i="0" u="none" strike="noStrike" dirty="0" err="1">
                    <a:solidFill>
                      <a:srgbClr val="000000"/>
                    </a:solidFill>
                  </a:rPr>
                  <a:t>模型融合的目标，就是把这些来自不同任务的参数集合，通过一个</a:t>
                </a:r>
                <a:r>
                  <a:rPr lang="zh-CN" altLang="en-US" sz="1200" b="0" i="0" u="none" strike="noStrike" dirty="0">
                    <a:solidFill>
                      <a:srgbClr val="000000"/>
                    </a:solidFill>
                  </a:rPr>
                  <a:t>具体</a:t>
                </a:r>
                <a:r>
                  <a:rPr lang="en-US" altLang="zh-CN" sz="1200" b="0" i="0" u="none" strike="noStrike" dirty="0">
                    <a:solidFill>
                      <a:srgbClr val="000000"/>
                    </a:solidFill>
                  </a:rPr>
                  <a:t>的</a:t>
                </a:r>
                <a:r>
                  <a:rPr lang="zh-CN" altLang="en-US" sz="1200" b="0" i="0" u="none" strike="noStrike" dirty="0">
                    <a:solidFill>
                      <a:srgbClr val="000000"/>
                    </a:solidFill>
                  </a:rPr>
                  <a:t>融合操作</a:t>
                </a:r>
                <a:r>
                  <a:rPr lang="en-US" altLang="zh-CN" sz="1200" b="0" i="0" u="none" strike="noStrike" dirty="0">
                    <a:solidFill>
                      <a:srgbClr val="000000"/>
                    </a:solidFill>
                  </a:rPr>
                  <a:t>，</a:t>
                </a:r>
                <a:r>
                  <a:rPr lang="en-US" altLang="zh-CN" sz="1200" b="0" i="0" u="none" strike="noStrike" dirty="0" err="1">
                    <a:solidFill>
                      <a:srgbClr val="000000"/>
                    </a:solidFill>
                  </a:rPr>
                  <a:t>合并成一个统一的参数集合，也就是我们最终的统一模型</a:t>
                </a:r>
                <a:endParaRPr lang="en-US" altLang="zh-CN" sz="1200" b="0" i="0" u="none" strike="noStrike" dirty="0">
                  <a:solidFill>
                    <a:srgbClr val="000000"/>
                  </a:solidFill>
                </a:endParaRPr>
              </a:p>
              <a:p>
                <a:pPr indent="0" algn="l">
                  <a:lnSpc>
                    <a:spcPct val="100000"/>
                  </a:lnSpc>
                </a:pPr>
                <a:r>
                  <a:rPr lang="en-US" altLang="zh-CN" sz="1200" b="0" i="0" u="none" strike="noStrike" dirty="0" err="1">
                    <a:solidFill>
                      <a:srgbClr val="000000"/>
                    </a:solidFill>
                  </a:rPr>
                  <a:t>这个统一模型的最终目标，是能够同时在所有这些任务上都表现出色，性能要尽可能接近每个任务单独微调时的水平</a:t>
                </a:r>
                <a:r>
                  <a:rPr lang="en-US" altLang="zh-CN" sz="1200" b="0" i="0" u="none" strike="noStrike" dirty="0">
                    <a:solidFill>
                      <a:srgbClr val="000000"/>
                    </a:solidFill>
                  </a:rPr>
                  <a:t>。</a:t>
                </a:r>
              </a:p>
              <a:p>
                <a:pPr indent="0" algn="l">
                  <a:lnSpc>
                    <a:spcPct val="100000"/>
                  </a:lnSpc>
                </a:pPr>
                <a:r>
                  <a:rPr lang="en-US" altLang="zh-CN" sz="1200" b="0" i="0" u="none" strike="noStrike" dirty="0">
                    <a:solidFill>
                      <a:srgbClr val="000000"/>
                    </a:solidFill>
                  </a:rPr>
                  <a:t>值得一提的是，为了提高效率，我们采用了LoRA这种高效微调方法。它的核心思想是冻结住预训练模型的大部分权重，只去学习两个很小的低秩矩阵，用它们来近似表示微调带来的参数变化。这样做不仅大大降低了训练成本，也使得模型融合变得更加容易。</a:t>
                </a:r>
              </a:p>
              <a:p>
                <a:pPr indent="0" algn="l">
                  <a:lnSpc>
                    <a:spcPct val="100000"/>
                  </a:lnSpc>
                </a:pPr>
                <a:r>
                  <a:rPr lang="en-US" altLang="zh-CN" sz="1200" b="0" i="0" u="none" strike="noStrike" dirty="0" err="1">
                    <a:solidFill>
                      <a:srgbClr val="000000"/>
                    </a:solidFill>
                  </a:rPr>
                  <a:t>总而言之，本页的核心就是理解模型融合的对象和目标：把为多个任务分别训练好的参数，高效地合并成一个能够处理所有任务的统一模型</a:t>
                </a:r>
                <a:r>
                  <a:rPr lang="en-US" altLang="zh-CN" sz="1200" b="0" i="0" u="none" strike="noStrike" dirty="0">
                    <a:solidFill>
                      <a:srgbClr val="000000"/>
                    </a:solidFill>
                  </a:rPr>
                  <a:t>。</a:t>
                </a: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447AA51-3944-FB6B-42A0-1541FF832B53}"/>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361467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FC4F-26E9-6796-1272-26E63AE3EF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3584A5-4EE6-A822-5E2A-156A9FD430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4C53F0-08DA-2072-AF2E-C30A8355A6BF}"/>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4FA3F535-2F77-4197-D586-0ED8E3DDF02A}"/>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722160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81F63-A95C-AF59-5EBE-EBACA984ED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3B0981-D1BC-C862-92DA-98A551C3A0F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72CF1DED-1271-4A55-11DF-539C729BB9F7}"/>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B8E72BE6-6FB7-5EAF-FE4A-93516523DBEA}"/>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027757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892A-31CA-E4FF-27B2-859448D7C5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A9F464-C16D-2A35-11AA-879E98F240C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28E857B1-1C01-7A8D-BF8D-2E3FA98AE763}"/>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6930517-1CC7-7D93-B1BD-EC313033204F}"/>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211238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667F-6CD0-0BDF-F3AB-1C1A1F3384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A012A2-8A9C-162B-ABE3-8638484DA40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F4450BD-E6FD-78EE-B826-B06BD4155063}"/>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37544117-8B5B-AA1A-31FF-1575233C203E}"/>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790365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CFED-8863-137C-1513-BDCF1C7EB1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DDA035-B8FC-F5D3-A47B-A0EC8EF665C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4279E8CF-0A32-CA39-0717-72FD630ACD3C}"/>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B5E79680-BC24-FE21-FDAC-3DE239B38738}"/>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63076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72BE-77C9-6C68-E4B9-7FBED92278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D54B72-6219-3344-1EC1-7B6AA67484A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ACE0CAE0-591B-876D-00DD-F1B2B9F77FDA}"/>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C2D585DE-9CB7-09EF-AAB8-89C6E3B917F8}"/>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754343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85B2-4387-0D30-39CC-0307A1021D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B5BE45-E9B5-6AB0-3FE6-B8E6CCB13C8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674141-923E-E67F-D40F-DCD94F93E4C2}"/>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2E93011-9202-988F-62A0-A28E118C7F8D}"/>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878763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A7EAB-2061-BC40-33F9-DFCCF8379A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80D8AD-ADC1-DACC-450D-212A9111090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1116A2BC-66FE-1029-E367-FC0A2D50C157}"/>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FC5222CC-5A8D-98F8-2FCD-3134EC57FBF1}"/>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795695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10F24-B386-531F-AFBF-CEC7940A11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0DBA09-84B4-10BA-7713-5D6270AE6F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8A49603-1384-3928-0536-FB8EF475EC63}"/>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D59C0610-D0A5-B46A-9886-B8D54451BF4F}"/>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667609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E6DF-4721-D7F2-518A-743318D68A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4E2F1-29CD-E613-5EFF-4390E1580C8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00DFC2F-C3D2-707C-488C-8436E9430930}"/>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58F3948E-F17D-4269-E73B-164CEF4313DA}"/>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37130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2104-7A70-BA7D-EFC3-0ACCC34262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566F86-D82C-39A1-C61E-6C48E589592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FFFC3AC-DB78-EDD1-F8AE-670DFFC0B16D}"/>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F05213B2-A9DE-58B2-88EB-2B0E8277B7AC}"/>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794326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8438-7BCA-7AC2-372E-1835D43712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C29C51-E4E6-23C9-387E-AC393BD9095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5C8D6BE-92EC-57D2-417D-088AEDD56D99}"/>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0D16A2BD-856D-4D82-93EE-21457AFF7FB1}"/>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2096094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49E4-C1DD-6348-A3F9-644B741B22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5F7AE5-222D-2986-D0AA-4383CB969BB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4578805C-1DCB-3F78-0C54-1227DA0EEEE6}"/>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7B00434E-C5AF-976B-BD1D-BFC51AA177B5}"/>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2552810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21C2-FC30-E47D-B03D-D82071671B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3ED33-85DF-6FAC-1BE1-6CB1A443618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509D9360-C537-8257-5AD2-8EE6C5C92BDA}"/>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33C5354A-BF9C-10D0-4BE7-122B760332A6}"/>
              </a:ext>
            </a:extLst>
          </p:cNvPr>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1739362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0344-DA62-3B88-DDD0-7AE18ADE7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813C8B-4D02-109E-4F16-964F4682CFE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87BF293-2028-B191-157F-B8B8D8DDBBEE}"/>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A695EAD3-A141-7BAA-8FDF-0E5CE8568099}"/>
              </a:ext>
            </a:extLst>
          </p:cNvPr>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1279313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23F81-A661-CAC7-6DC0-6B68EB90D9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A91A28-861A-2F61-2E5E-232DCF38522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206433F-F93F-C6D6-B5C6-95895D35779D}"/>
                  </a:ext>
                </a:extLst>
              </p:cNvPr>
              <p:cNvSpPr>
                <a:spLocks noGrp="1"/>
              </p:cNvSpPr>
              <p:nvPr>
                <p:ph type="body" idx="1"/>
              </p:nvPr>
            </p:nvSpPr>
            <p:spPr/>
            <p:txBody>
              <a:bodyPr/>
              <a:lstStyle/>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63B427B-A421-81B1-7FA7-1796B3F177B5}"/>
              </a:ext>
            </a:extLst>
          </p:cNvPr>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1221165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 Thank you for listening.</a:t>
            </a:r>
          </a:p>
          <a:p>
            <a:endParaRPr lang="en-US" altLang="zh-CN" dirty="0"/>
          </a:p>
          <a:p>
            <a:r>
              <a:rPr lang="en-US" altLang="zh-CN" dirty="0"/>
              <a:t>Please email the author to ask any questions about their work.</a:t>
            </a:r>
          </a:p>
        </p:txBody>
      </p:sp>
      <p:sp>
        <p:nvSpPr>
          <p:cNvPr id="4" name="灯片编号占位符 3"/>
          <p:cNvSpPr>
            <a:spLocks noGrp="1"/>
          </p:cNvSpPr>
          <p:nvPr>
            <p:ph type="sldNum" sz="quarter" idx="5"/>
          </p:nvPr>
        </p:nvSpPr>
        <p:spPr/>
        <p:txBody>
          <a:bodyPr/>
          <a:lstStyle/>
          <a:p>
            <a:fld id="{A423D23B-4C80-4E3C-A7A0-481D37E73F16}" type="slidenum">
              <a:rPr lang="zh-CN" altLang="en-US" smtClean="0"/>
              <a:t>22</a:t>
            </a:fld>
            <a:endParaRPr lang="zh-CN" altLang="en-US"/>
          </a:p>
        </p:txBody>
      </p:sp>
    </p:spTree>
    <p:extLst>
      <p:ext uri="{BB962C8B-B14F-4D97-AF65-F5344CB8AC3E}">
        <p14:creationId xmlns:p14="http://schemas.microsoft.com/office/powerpoint/2010/main" val="2988428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无图使用）">
    <p:spTree>
      <p:nvGrpSpPr>
        <p:cNvPr id="1" name=""/>
        <p:cNvGrpSpPr/>
        <p:nvPr/>
      </p:nvGrpSpPr>
      <p:grpSpPr>
        <a:xfrm>
          <a:off x="0" y="0"/>
          <a:ext cx="0" cy="0"/>
          <a:chOff x="0" y="0"/>
          <a:chExt cx="0" cy="0"/>
        </a:xfrm>
      </p:grpSpPr>
      <p:pic>
        <p:nvPicPr>
          <p:cNvPr id="3" name="图片 2"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10" name="标题 1"/>
          <p:cNvSpPr>
            <a:spLocks noGrp="1"/>
          </p:cNvSpPr>
          <p:nvPr>
            <p:ph type="ctrTitle" hasCustomPrompt="1"/>
          </p:nvPr>
        </p:nvSpPr>
        <p:spPr>
          <a:xfrm>
            <a:off x="531273" y="1514898"/>
            <a:ext cx="7224995" cy="712054"/>
          </a:xfrm>
        </p:spPr>
        <p:txBody>
          <a:bodyPr anchor="b">
            <a:noAutofit/>
          </a:bodyPr>
          <a:lstStyle>
            <a:lvl1pPr algn="l">
              <a:defRPr sz="4600" b="1">
                <a:solidFill>
                  <a:srgbClr val="005744"/>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11"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12"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4" name="图片 3" descr="未标题-4-13"/>
          <p:cNvPicPr>
            <a:picLocks noChangeAspect="1"/>
          </p:cNvPicPr>
          <p:nvPr userDrawn="1"/>
        </p:nvPicPr>
        <p:blipFill>
          <a:blip r:embed="rId3"/>
          <a:stretch>
            <a:fillRect/>
          </a:stretch>
        </p:blipFill>
        <p:spPr>
          <a:xfrm>
            <a:off x="656590" y="2212340"/>
            <a:ext cx="6365240" cy="882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首页（有图使用）">
    <p:spTree>
      <p:nvGrpSpPr>
        <p:cNvPr id="1" name=""/>
        <p:cNvGrpSpPr/>
        <p:nvPr/>
      </p:nvGrpSpPr>
      <p:grpSpPr>
        <a:xfrm>
          <a:off x="0" y="0"/>
          <a:ext cx="0" cy="0"/>
          <a:chOff x="0" y="0"/>
          <a:chExt cx="0" cy="0"/>
        </a:xfrm>
      </p:grpSpPr>
      <p:pic>
        <p:nvPicPr>
          <p:cNvPr id="2" name="图片 1" descr="未标题-4-14"/>
          <p:cNvPicPr>
            <a:picLocks noChangeAspect="1"/>
          </p:cNvPicPr>
          <p:nvPr userDrawn="1"/>
        </p:nvPicPr>
        <p:blipFill>
          <a:blip r:embed="rId2"/>
          <a:stretch>
            <a:fillRect/>
          </a:stretch>
        </p:blipFill>
        <p:spPr>
          <a:xfrm>
            <a:off x="-98425" y="-52070"/>
            <a:ext cx="12389485" cy="6962140"/>
          </a:xfrm>
          <a:prstGeom prst="rect">
            <a:avLst/>
          </a:prstGeom>
        </p:spPr>
      </p:pic>
      <p:sp>
        <p:nvSpPr>
          <p:cNvPr id="6"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7" name="标题 1"/>
          <p:cNvSpPr>
            <a:spLocks noGrp="1"/>
          </p:cNvSpPr>
          <p:nvPr>
            <p:ph type="ctrTitle" hasCustomPrompt="1"/>
          </p:nvPr>
        </p:nvSpPr>
        <p:spPr>
          <a:xfrm>
            <a:off x="531273" y="1514898"/>
            <a:ext cx="7224995" cy="712054"/>
          </a:xfrm>
        </p:spPr>
        <p:txBody>
          <a:bodyPr anchor="b">
            <a:noAutofit/>
          </a:bodyPr>
          <a:lstStyle>
            <a:lvl1pPr algn="l">
              <a:defRPr sz="4600" b="1">
                <a:solidFill>
                  <a:schemeClr val="bg1"/>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8"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1" name="图片 20" descr="未标题-4-15"/>
          <p:cNvPicPr>
            <a:picLocks noChangeAspect="1"/>
          </p:cNvPicPr>
          <p:nvPr userDrawn="1"/>
        </p:nvPicPr>
        <p:blipFill>
          <a:blip r:embed="rId2"/>
          <a:stretch>
            <a:fillRect/>
          </a:stretch>
        </p:blipFill>
        <p:spPr>
          <a:xfrm>
            <a:off x="0" y="7620"/>
            <a:ext cx="12192000" cy="6850380"/>
          </a:xfrm>
          <a:prstGeom prst="rect">
            <a:avLst/>
          </a:prstGeom>
        </p:spPr>
      </p:pic>
      <p:sp>
        <p:nvSpPr>
          <p:cNvPr id="4" name="文本占位符 14"/>
          <p:cNvSpPr>
            <a:spLocks noGrp="1"/>
          </p:cNvSpPr>
          <p:nvPr>
            <p:ph type="body" sz="quarter" idx="11" hasCustomPrompt="1"/>
          </p:nvPr>
        </p:nvSpPr>
        <p:spPr>
          <a:xfrm>
            <a:off x="5392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01</a:t>
            </a:r>
            <a:endParaRPr lang="zh-CN" altLang="en-US" dirty="0"/>
          </a:p>
        </p:txBody>
      </p:sp>
      <p:sp>
        <p:nvSpPr>
          <p:cNvPr id="5" name="文本占位符 16"/>
          <p:cNvSpPr>
            <a:spLocks noGrp="1"/>
          </p:cNvSpPr>
          <p:nvPr>
            <p:ph type="body" sz="quarter" idx="12" hasCustomPrompt="1"/>
          </p:nvPr>
        </p:nvSpPr>
        <p:spPr>
          <a:xfrm>
            <a:off x="5392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6" name="文本占位符 18"/>
          <p:cNvSpPr>
            <a:spLocks noGrp="1"/>
          </p:cNvSpPr>
          <p:nvPr>
            <p:ph type="body" sz="quarter" idx="13" hasCustomPrompt="1"/>
          </p:nvPr>
        </p:nvSpPr>
        <p:spPr>
          <a:xfrm>
            <a:off x="5392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1-01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1-02</a:t>
            </a:r>
            <a:endParaRPr lang="zh-CN" altLang="en-US" dirty="0"/>
          </a:p>
          <a:p>
            <a:pPr lvl="0"/>
            <a:endParaRPr lang="zh-CN" altLang="en-US" dirty="0"/>
          </a:p>
        </p:txBody>
      </p:sp>
      <p:sp>
        <p:nvSpPr>
          <p:cNvPr id="12" name="文本占位符 14"/>
          <p:cNvSpPr>
            <a:spLocks noGrp="1"/>
          </p:cNvSpPr>
          <p:nvPr>
            <p:ph type="body" sz="quarter" idx="14" hasCustomPrompt="1"/>
          </p:nvPr>
        </p:nvSpPr>
        <p:spPr>
          <a:xfrm>
            <a:off x="34920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02</a:t>
            </a:r>
            <a:endParaRPr lang="zh-CN" altLang="en-US" dirty="0"/>
          </a:p>
        </p:txBody>
      </p:sp>
      <p:sp>
        <p:nvSpPr>
          <p:cNvPr id="13" name="文本占位符 16"/>
          <p:cNvSpPr>
            <a:spLocks noGrp="1"/>
          </p:cNvSpPr>
          <p:nvPr>
            <p:ph type="body" sz="quarter" idx="15" hasCustomPrompt="1"/>
          </p:nvPr>
        </p:nvSpPr>
        <p:spPr>
          <a:xfrm>
            <a:off x="34920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4" name="文本占位符 18"/>
          <p:cNvSpPr>
            <a:spLocks noGrp="1"/>
          </p:cNvSpPr>
          <p:nvPr>
            <p:ph type="body" sz="quarter" idx="16" hasCustomPrompt="1"/>
          </p:nvPr>
        </p:nvSpPr>
        <p:spPr>
          <a:xfrm>
            <a:off x="34920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2-01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2-02</a:t>
            </a:r>
            <a:endParaRPr lang="zh-CN" altLang="en-US" dirty="0"/>
          </a:p>
          <a:p>
            <a:pPr lvl="0"/>
            <a:endParaRPr lang="zh-CN" altLang="en-US" dirty="0"/>
          </a:p>
        </p:txBody>
      </p:sp>
      <p:sp>
        <p:nvSpPr>
          <p:cNvPr id="15" name="文本占位符 14"/>
          <p:cNvSpPr>
            <a:spLocks noGrp="1"/>
          </p:cNvSpPr>
          <p:nvPr>
            <p:ph type="body" sz="quarter" idx="17" hasCustomPrompt="1"/>
          </p:nvPr>
        </p:nvSpPr>
        <p:spPr>
          <a:xfrm>
            <a:off x="64447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03</a:t>
            </a:r>
            <a:endParaRPr lang="zh-CN" altLang="en-US" dirty="0"/>
          </a:p>
        </p:txBody>
      </p:sp>
      <p:sp>
        <p:nvSpPr>
          <p:cNvPr id="16" name="文本占位符 16"/>
          <p:cNvSpPr>
            <a:spLocks noGrp="1"/>
          </p:cNvSpPr>
          <p:nvPr>
            <p:ph type="body" sz="quarter" idx="18" hasCustomPrompt="1"/>
          </p:nvPr>
        </p:nvSpPr>
        <p:spPr>
          <a:xfrm>
            <a:off x="64447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7" name="文本占位符 18"/>
          <p:cNvSpPr>
            <a:spLocks noGrp="1"/>
          </p:cNvSpPr>
          <p:nvPr>
            <p:ph type="body" sz="quarter" idx="19" hasCustomPrompt="1"/>
          </p:nvPr>
        </p:nvSpPr>
        <p:spPr>
          <a:xfrm>
            <a:off x="64447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3-01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3-02</a:t>
            </a:r>
            <a:endParaRPr lang="zh-CN" altLang="en-US" dirty="0"/>
          </a:p>
          <a:p>
            <a:pPr lvl="0"/>
            <a:endParaRPr lang="zh-CN" altLang="en-US" dirty="0"/>
          </a:p>
        </p:txBody>
      </p:sp>
      <p:sp>
        <p:nvSpPr>
          <p:cNvPr id="18" name="文本占位符 14"/>
          <p:cNvSpPr>
            <a:spLocks noGrp="1"/>
          </p:cNvSpPr>
          <p:nvPr>
            <p:ph type="body" sz="quarter" idx="20" hasCustomPrompt="1"/>
          </p:nvPr>
        </p:nvSpPr>
        <p:spPr>
          <a:xfrm>
            <a:off x="93975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04</a:t>
            </a:r>
            <a:endParaRPr lang="zh-CN" altLang="en-US" dirty="0"/>
          </a:p>
        </p:txBody>
      </p:sp>
      <p:sp>
        <p:nvSpPr>
          <p:cNvPr id="19" name="文本占位符 16"/>
          <p:cNvSpPr>
            <a:spLocks noGrp="1"/>
          </p:cNvSpPr>
          <p:nvPr>
            <p:ph type="body" sz="quarter" idx="21" hasCustomPrompt="1"/>
          </p:nvPr>
        </p:nvSpPr>
        <p:spPr>
          <a:xfrm>
            <a:off x="93975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20" name="文本占位符 18"/>
          <p:cNvSpPr>
            <a:spLocks noGrp="1"/>
          </p:cNvSpPr>
          <p:nvPr>
            <p:ph type="body" sz="quarter" idx="22" hasCustomPrompt="1"/>
          </p:nvPr>
        </p:nvSpPr>
        <p:spPr>
          <a:xfrm>
            <a:off x="93975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4-01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4-02</a:t>
            </a:r>
            <a:endParaRPr lang="zh-CN" altLang="en-US" dirty="0"/>
          </a:p>
          <a:p>
            <a:pPr lvl="0"/>
            <a:endParaRPr lang="zh-CN" altLang="en-US" dirty="0"/>
          </a:p>
        </p:txBody>
      </p:sp>
      <p:pic>
        <p:nvPicPr>
          <p:cNvPr id="24" name="图片 23" descr="未标题-4-13"/>
          <p:cNvPicPr>
            <a:picLocks noChangeAspect="1"/>
          </p:cNvPicPr>
          <p:nvPr userDrawn="1"/>
        </p:nvPicPr>
        <p:blipFill>
          <a:blip r:embed="rId3"/>
          <a:stretch>
            <a:fillRect/>
          </a:stretch>
        </p:blipFill>
        <p:spPr>
          <a:xfrm flipV="1">
            <a:off x="636270" y="3477895"/>
            <a:ext cx="2253615" cy="76200"/>
          </a:xfrm>
          <a:prstGeom prst="rect">
            <a:avLst/>
          </a:prstGeom>
        </p:spPr>
      </p:pic>
      <p:pic>
        <p:nvPicPr>
          <p:cNvPr id="25" name="图片 24" descr="未标题-4-13"/>
          <p:cNvPicPr>
            <a:picLocks noChangeAspect="1"/>
          </p:cNvPicPr>
          <p:nvPr userDrawn="1"/>
        </p:nvPicPr>
        <p:blipFill>
          <a:blip r:embed="rId3"/>
          <a:stretch>
            <a:fillRect/>
          </a:stretch>
        </p:blipFill>
        <p:spPr>
          <a:xfrm flipV="1">
            <a:off x="3575685" y="3449320"/>
            <a:ext cx="2253615" cy="76200"/>
          </a:xfrm>
          <a:prstGeom prst="rect">
            <a:avLst/>
          </a:prstGeom>
        </p:spPr>
      </p:pic>
      <p:pic>
        <p:nvPicPr>
          <p:cNvPr id="26" name="图片 25" descr="未标题-4-13"/>
          <p:cNvPicPr>
            <a:picLocks noChangeAspect="1"/>
          </p:cNvPicPr>
          <p:nvPr userDrawn="1"/>
        </p:nvPicPr>
        <p:blipFill>
          <a:blip r:embed="rId3"/>
          <a:stretch>
            <a:fillRect/>
          </a:stretch>
        </p:blipFill>
        <p:spPr>
          <a:xfrm flipV="1">
            <a:off x="6527800" y="3429000"/>
            <a:ext cx="2253615" cy="76200"/>
          </a:xfrm>
          <a:prstGeom prst="rect">
            <a:avLst/>
          </a:prstGeom>
        </p:spPr>
      </p:pic>
      <p:pic>
        <p:nvPicPr>
          <p:cNvPr id="27" name="图片 26" descr="未标题-4-13"/>
          <p:cNvPicPr>
            <a:picLocks noChangeAspect="1"/>
          </p:cNvPicPr>
          <p:nvPr userDrawn="1"/>
        </p:nvPicPr>
        <p:blipFill>
          <a:blip r:embed="rId3"/>
          <a:stretch>
            <a:fillRect/>
          </a:stretch>
        </p:blipFill>
        <p:spPr>
          <a:xfrm flipV="1">
            <a:off x="9479915" y="3429000"/>
            <a:ext cx="2253615" cy="76200"/>
          </a:xfrm>
          <a:prstGeom prst="rect">
            <a:avLst/>
          </a:prstGeom>
        </p:spPr>
      </p:pic>
      <p:sp>
        <p:nvSpPr>
          <p:cNvPr id="28" name="文本占位符 10"/>
          <p:cNvSpPr>
            <a:spLocks noGrp="1"/>
          </p:cNvSpPr>
          <p:nvPr>
            <p:ph type="body" sz="quarter" idx="10" hasCustomPrompt="1"/>
          </p:nvPr>
        </p:nvSpPr>
        <p:spPr>
          <a:xfrm>
            <a:off x="539115" y="360680"/>
            <a:ext cx="4130675" cy="1268095"/>
          </a:xfrm>
        </p:spPr>
        <p:txBody>
          <a:bodyPr>
            <a:normAutofit/>
          </a:bodyPr>
          <a:lstStyle>
            <a:lvl1pPr marL="0" indent="0">
              <a:buNone/>
              <a:defRPr sz="3800" b="1">
                <a:solidFill>
                  <a:srgbClr val="005744"/>
                </a:solidFill>
                <a:latin typeface="微软雅黑" panose="020B0503020204020204" pitchFamily="34" charset="-122"/>
                <a:ea typeface="微软雅黑" panose="020B0503020204020204" pitchFamily="34" charset="-122"/>
              </a:defRPr>
            </a:lvl1pPr>
          </a:lstStyle>
          <a:p>
            <a:pPr lvl="0"/>
            <a:r>
              <a:rPr lang="zh-CN" altLang="en-US" dirty="0"/>
              <a:t>目录</a:t>
            </a:r>
          </a:p>
          <a:p>
            <a:pPr lvl="0"/>
            <a:r>
              <a:rPr lang="en-US" altLang="zh-CN" dirty="0"/>
              <a:t>CONTENTS</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 name="标题 1"/>
          <p:cNvSpPr>
            <a:spLocks noGrp="1"/>
          </p:cNvSpPr>
          <p:nvPr>
            <p:ph type="ctrTitle" hasCustomPrompt="1"/>
          </p:nvPr>
        </p:nvSpPr>
        <p:spPr>
          <a:xfrm>
            <a:off x="522911" y="3148369"/>
            <a:ext cx="4555274" cy="712054"/>
          </a:xfrm>
        </p:spPr>
        <p:txBody>
          <a:bodyPr anchor="b">
            <a:noAutofit/>
          </a:bodyPr>
          <a:lstStyle>
            <a:lvl1pPr algn="l">
              <a:defRPr sz="3800" b="1">
                <a:solidFill>
                  <a:srgbClr val="005744"/>
                </a:solidFill>
                <a:latin typeface="微软雅黑" panose="020B0503020204020204" pitchFamily="34" charset="-122"/>
                <a:ea typeface="微软雅黑" panose="020B0503020204020204" pitchFamily="34" charset="-122"/>
              </a:defRPr>
            </a:lvl1pPr>
          </a:lstStyle>
          <a:p>
            <a:r>
              <a:rPr lang="zh-CN" altLang="en-US" dirty="0"/>
              <a:t>大标题编辑区域位置</a:t>
            </a:r>
          </a:p>
        </p:txBody>
      </p:sp>
      <p:sp>
        <p:nvSpPr>
          <p:cNvPr id="7" name="副标题 2"/>
          <p:cNvSpPr>
            <a:spLocks noGrp="1"/>
          </p:cNvSpPr>
          <p:nvPr>
            <p:ph type="subTitle" idx="1" hasCustomPrompt="1"/>
          </p:nvPr>
        </p:nvSpPr>
        <p:spPr>
          <a:xfrm>
            <a:off x="522911" y="3877375"/>
            <a:ext cx="4049089" cy="664469"/>
          </a:xfrm>
        </p:spPr>
        <p:txBody>
          <a:bodyPr>
            <a:normAutofit/>
          </a:bodyPr>
          <a:lstStyle>
            <a:lvl1pPr marL="0" indent="0" algn="l">
              <a:buNone/>
              <a:defRPr sz="27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9" name="文本占位符 10"/>
          <p:cNvSpPr>
            <a:spLocks noGrp="1"/>
          </p:cNvSpPr>
          <p:nvPr>
            <p:ph type="body" sz="quarter" idx="10" hasCustomPrompt="1"/>
          </p:nvPr>
        </p:nvSpPr>
        <p:spPr>
          <a:xfrm>
            <a:off x="522911" y="2190683"/>
            <a:ext cx="3314247" cy="699474"/>
          </a:xfrm>
        </p:spPr>
        <p:txBody>
          <a:bodyPr>
            <a:noAutofit/>
          </a:bodyPr>
          <a:lstStyle>
            <a:lvl1pPr marL="0" indent="0">
              <a:buNone/>
              <a:defRPr sz="48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PART 01</a:t>
            </a:r>
            <a:endParaRPr lang="zh-CN" altLang="en-US" dirty="0"/>
          </a:p>
        </p:txBody>
      </p:sp>
      <p:pic>
        <p:nvPicPr>
          <p:cNvPr id="4" name="图片 3" descr="未标题-4-13"/>
          <p:cNvPicPr>
            <a:picLocks noChangeAspect="1"/>
          </p:cNvPicPr>
          <p:nvPr userDrawn="1"/>
        </p:nvPicPr>
        <p:blipFill>
          <a:blip r:embed="rId2"/>
          <a:stretch>
            <a:fillRect/>
          </a:stretch>
        </p:blipFill>
        <p:spPr>
          <a:xfrm>
            <a:off x="656590" y="2964180"/>
            <a:ext cx="4262120" cy="88265"/>
          </a:xfrm>
          <a:prstGeom prst="rect">
            <a:avLst/>
          </a:prstGeom>
        </p:spPr>
      </p:pic>
      <p:pic>
        <p:nvPicPr>
          <p:cNvPr id="3" name="图片 2" descr="插画_画板 1"/>
          <p:cNvPicPr>
            <a:picLocks noChangeAspect="1"/>
          </p:cNvPicPr>
          <p:nvPr userDrawn="1"/>
        </p:nvPicPr>
        <p:blipFill>
          <a:blip r:embed="rId3">
            <a:alphaModFix amt="50000"/>
          </a:blip>
          <a:stretch>
            <a:fillRect/>
          </a:stretch>
        </p:blipFill>
        <p:spPr>
          <a:xfrm>
            <a:off x="0" y="5725160"/>
            <a:ext cx="12192000" cy="117729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单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17" name="图片占位符 16"/>
          <p:cNvSpPr>
            <a:spLocks noGrp="1"/>
          </p:cNvSpPr>
          <p:nvPr>
            <p:ph type="pic" sz="quarter" idx="10"/>
          </p:nvPr>
        </p:nvSpPr>
        <p:spPr>
          <a:xfrm>
            <a:off x="0" y="0"/>
            <a:ext cx="12192000" cy="3976007"/>
          </a:xfrm>
        </p:spPr>
        <p:txBody>
          <a:bodyPr/>
          <a:lstStyle/>
          <a:p>
            <a:endParaRPr lang="zh-CN" altLang="en-US"/>
          </a:p>
        </p:txBody>
      </p:sp>
      <p:sp>
        <p:nvSpPr>
          <p:cNvPr id="18" name="文本占位符 13"/>
          <p:cNvSpPr>
            <a:spLocks noGrp="1"/>
          </p:cNvSpPr>
          <p:nvPr>
            <p:ph type="body" sz="quarter" idx="11" hasCustomPrompt="1"/>
          </p:nvPr>
        </p:nvSpPr>
        <p:spPr>
          <a:xfrm>
            <a:off x="278355" y="4401606"/>
            <a:ext cx="2632236" cy="835414"/>
          </a:xfrm>
        </p:spPr>
        <p:txBody>
          <a:bodyPr/>
          <a:lstStyle>
            <a:lvl1pPr marL="0" indent="0">
              <a:lnSpc>
                <a:spcPts val="2500"/>
              </a:lnSpc>
              <a:buNone/>
              <a:defRPr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大标题编辑</a:t>
            </a:r>
            <a:endParaRPr lang="en-US" altLang="zh-CN" dirty="0"/>
          </a:p>
          <a:p>
            <a:pPr lvl="0"/>
            <a:r>
              <a:rPr lang="zh-CN" altLang="en-US" dirty="0"/>
              <a:t>区域位置</a:t>
            </a:r>
          </a:p>
        </p:txBody>
      </p:sp>
      <p:sp>
        <p:nvSpPr>
          <p:cNvPr id="19" name="文本占位符 15"/>
          <p:cNvSpPr>
            <a:spLocks noGrp="1"/>
          </p:cNvSpPr>
          <p:nvPr>
            <p:ph type="body" sz="quarter" idx="12" hasCustomPrompt="1"/>
          </p:nvPr>
        </p:nvSpPr>
        <p:spPr>
          <a:xfrm>
            <a:off x="278355" y="5277290"/>
            <a:ext cx="2881224" cy="361008"/>
          </a:xfrm>
        </p:spPr>
        <p:txBody>
          <a:bodyPr>
            <a:normAutofit/>
          </a:bodyPr>
          <a:lstStyle>
            <a:lvl1pPr marL="0" indent="0">
              <a:buNone/>
              <a:defRPr sz="1900">
                <a:solidFill>
                  <a:srgbClr val="3D3D3D"/>
                </a:solidFill>
                <a:latin typeface="微软雅黑" panose="020B0503020204020204" pitchFamily="34" charset="-122"/>
                <a:ea typeface="微软雅黑" panose="020B0503020204020204" pitchFamily="34" charset="-122"/>
              </a:defRPr>
            </a:lvl1pPr>
          </a:lstStyle>
          <a:p>
            <a:pPr lvl="0"/>
            <a:r>
              <a:rPr lang="zh-CN" altLang="en-US" dirty="0"/>
              <a:t>正文副标题标题文字区域</a:t>
            </a:r>
          </a:p>
        </p:txBody>
      </p:sp>
      <p:sp>
        <p:nvSpPr>
          <p:cNvPr id="20" name="文本占位符 17"/>
          <p:cNvSpPr>
            <a:spLocks noGrp="1"/>
          </p:cNvSpPr>
          <p:nvPr>
            <p:ph type="body" sz="quarter" idx="13" hasCustomPrompt="1"/>
          </p:nvPr>
        </p:nvSpPr>
        <p:spPr>
          <a:xfrm>
            <a:off x="3714155" y="4352287"/>
            <a:ext cx="3659233"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1" name="文本占位符 17"/>
          <p:cNvSpPr>
            <a:spLocks noGrp="1"/>
          </p:cNvSpPr>
          <p:nvPr>
            <p:ph type="body" sz="quarter" idx="14" hasCustomPrompt="1"/>
          </p:nvPr>
        </p:nvSpPr>
        <p:spPr>
          <a:xfrm>
            <a:off x="7770444" y="4352287"/>
            <a:ext cx="3617992"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23"/>
          <p:cNvSpPr>
            <a:spLocks noGrp="1"/>
          </p:cNvSpPr>
          <p:nvPr>
            <p:ph type="body" sz="quarter" idx="15"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3" name="图片 2"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多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图片占位符 3"/>
          <p:cNvSpPr>
            <a:spLocks noGrp="1"/>
          </p:cNvSpPr>
          <p:nvPr>
            <p:ph type="pic" sz="quarter" idx="10"/>
          </p:nvPr>
        </p:nvSpPr>
        <p:spPr>
          <a:xfrm>
            <a:off x="359683" y="1828799"/>
            <a:ext cx="3600450" cy="2212975"/>
          </a:xfrm>
        </p:spPr>
        <p:txBody>
          <a:bodyPr/>
          <a:lstStyle/>
          <a:p>
            <a:endParaRPr lang="zh-CN" altLang="en-US" dirty="0"/>
          </a:p>
        </p:txBody>
      </p:sp>
      <p:sp>
        <p:nvSpPr>
          <p:cNvPr id="5" name="图片占位符 7"/>
          <p:cNvSpPr>
            <a:spLocks noGrp="1"/>
          </p:cNvSpPr>
          <p:nvPr>
            <p:ph type="pic" sz="quarter" idx="11"/>
          </p:nvPr>
        </p:nvSpPr>
        <p:spPr>
          <a:xfrm>
            <a:off x="4250985" y="1828798"/>
            <a:ext cx="3600450" cy="2212975"/>
          </a:xfrm>
        </p:spPr>
        <p:txBody>
          <a:bodyPr/>
          <a:lstStyle/>
          <a:p>
            <a:endParaRPr lang="zh-CN" altLang="en-US" dirty="0"/>
          </a:p>
        </p:txBody>
      </p:sp>
      <p:sp>
        <p:nvSpPr>
          <p:cNvPr id="6" name="图片占位符 7"/>
          <p:cNvSpPr>
            <a:spLocks noGrp="1"/>
          </p:cNvSpPr>
          <p:nvPr>
            <p:ph type="pic" sz="quarter" idx="12"/>
          </p:nvPr>
        </p:nvSpPr>
        <p:spPr>
          <a:xfrm>
            <a:off x="8142287" y="1828797"/>
            <a:ext cx="3600450" cy="2212975"/>
          </a:xfrm>
        </p:spPr>
        <p:txBody>
          <a:bodyPr/>
          <a:lstStyle/>
          <a:p>
            <a:endParaRPr lang="zh-CN" altLang="en-US" dirty="0"/>
          </a:p>
        </p:txBody>
      </p:sp>
      <p:sp>
        <p:nvSpPr>
          <p:cNvPr id="7"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13"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14" name="文本占位符 13"/>
          <p:cNvSpPr>
            <a:spLocks noGrp="1"/>
          </p:cNvSpPr>
          <p:nvPr>
            <p:ph type="body" sz="quarter" idx="13" hasCustomPrompt="1"/>
          </p:nvPr>
        </p:nvSpPr>
        <p:spPr>
          <a:xfrm>
            <a:off x="359683" y="434408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5" name="文本占位符 17"/>
          <p:cNvSpPr>
            <a:spLocks noGrp="1"/>
          </p:cNvSpPr>
          <p:nvPr>
            <p:ph type="body" sz="quarter" idx="14" hasCustomPrompt="1"/>
          </p:nvPr>
        </p:nvSpPr>
        <p:spPr>
          <a:xfrm>
            <a:off x="359683" y="4752296"/>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5" hasCustomPrompt="1"/>
          </p:nvPr>
        </p:nvSpPr>
        <p:spPr>
          <a:xfrm>
            <a:off x="4250985"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16" hasCustomPrompt="1"/>
          </p:nvPr>
        </p:nvSpPr>
        <p:spPr>
          <a:xfrm>
            <a:off x="4250985"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6" name="文本占位符 15"/>
          <p:cNvSpPr>
            <a:spLocks noGrp="1"/>
          </p:cNvSpPr>
          <p:nvPr>
            <p:ph type="body" sz="quarter" idx="17" hasCustomPrompt="1"/>
          </p:nvPr>
        </p:nvSpPr>
        <p:spPr>
          <a:xfrm>
            <a:off x="8142287"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7" name="文本占位符 17"/>
          <p:cNvSpPr>
            <a:spLocks noGrp="1"/>
          </p:cNvSpPr>
          <p:nvPr>
            <p:ph type="body" sz="quarter" idx="18" hasCustomPrompt="1"/>
          </p:nvPr>
        </p:nvSpPr>
        <p:spPr>
          <a:xfrm>
            <a:off x="8142287"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图表）">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4"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5" name="文本占位符 15"/>
          <p:cNvSpPr>
            <a:spLocks noGrp="1"/>
          </p:cNvSpPr>
          <p:nvPr>
            <p:ph type="body" sz="quarter" idx="13" hasCustomPrompt="1"/>
          </p:nvPr>
        </p:nvSpPr>
        <p:spPr>
          <a:xfrm>
            <a:off x="5837918" y="2402550"/>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6" name="文本占位符 17"/>
          <p:cNvSpPr>
            <a:spLocks noGrp="1"/>
          </p:cNvSpPr>
          <p:nvPr>
            <p:ph type="body" sz="quarter" idx="14" hasCustomPrompt="1"/>
          </p:nvPr>
        </p:nvSpPr>
        <p:spPr>
          <a:xfrm>
            <a:off x="5837918" y="2821102"/>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3" name="文本占位符 15"/>
          <p:cNvSpPr>
            <a:spLocks noGrp="1"/>
          </p:cNvSpPr>
          <p:nvPr>
            <p:ph type="body" sz="quarter" idx="15" hasCustomPrompt="1"/>
          </p:nvPr>
        </p:nvSpPr>
        <p:spPr>
          <a:xfrm>
            <a:off x="5837918" y="4214417"/>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7" name="文本占位符 17"/>
          <p:cNvSpPr>
            <a:spLocks noGrp="1"/>
          </p:cNvSpPr>
          <p:nvPr>
            <p:ph type="body" sz="quarter" idx="16" hasCustomPrompt="1"/>
          </p:nvPr>
        </p:nvSpPr>
        <p:spPr>
          <a:xfrm>
            <a:off x="5837918" y="4632969"/>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8" name="图表占位符 17"/>
          <p:cNvSpPr>
            <a:spLocks noGrp="1"/>
          </p:cNvSpPr>
          <p:nvPr>
            <p:ph type="chart" sz="quarter" idx="17"/>
          </p:nvPr>
        </p:nvSpPr>
        <p:spPr>
          <a:xfrm>
            <a:off x="359683" y="1938338"/>
            <a:ext cx="5033055" cy="3894099"/>
          </a:xfrm>
        </p:spPr>
        <p:txBody>
          <a:bodyPr/>
          <a:lstStyle/>
          <a:p>
            <a:endParaRPr lang="zh-CN" altLang="en-US"/>
          </a:p>
        </p:txBody>
      </p:sp>
      <p:sp>
        <p:nvSpPr>
          <p:cNvPr id="19"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无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21"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5"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6" name="文本占位符 15"/>
          <p:cNvSpPr>
            <a:spLocks noGrp="1"/>
          </p:cNvSpPr>
          <p:nvPr>
            <p:ph type="body" sz="quarter" idx="13" hasCustomPrompt="1"/>
          </p:nvPr>
        </p:nvSpPr>
        <p:spPr>
          <a:xfrm>
            <a:off x="359683"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9" name="文本占位符 17"/>
          <p:cNvSpPr>
            <a:spLocks noGrp="1"/>
          </p:cNvSpPr>
          <p:nvPr>
            <p:ph type="body" sz="quarter" idx="14" hasCustomPrompt="1"/>
          </p:nvPr>
        </p:nvSpPr>
        <p:spPr>
          <a:xfrm>
            <a:off x="359683"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0" name="文本占位符 15"/>
          <p:cNvSpPr>
            <a:spLocks noGrp="1"/>
          </p:cNvSpPr>
          <p:nvPr>
            <p:ph type="body" sz="quarter" idx="15" hasCustomPrompt="1"/>
          </p:nvPr>
        </p:nvSpPr>
        <p:spPr>
          <a:xfrm>
            <a:off x="6275841"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1" name="文本占位符 17"/>
          <p:cNvSpPr>
            <a:spLocks noGrp="1"/>
          </p:cNvSpPr>
          <p:nvPr>
            <p:ph type="body" sz="quarter" idx="16" hasCustomPrompt="1"/>
          </p:nvPr>
        </p:nvSpPr>
        <p:spPr>
          <a:xfrm>
            <a:off x="6275841"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15"/>
          <p:cNvSpPr>
            <a:spLocks noGrp="1"/>
          </p:cNvSpPr>
          <p:nvPr>
            <p:ph type="body" sz="quarter" idx="17" hasCustomPrompt="1"/>
          </p:nvPr>
        </p:nvSpPr>
        <p:spPr>
          <a:xfrm>
            <a:off x="359683" y="4443216"/>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3" name="文本占位符 17"/>
          <p:cNvSpPr>
            <a:spLocks noGrp="1"/>
          </p:cNvSpPr>
          <p:nvPr>
            <p:ph type="body" sz="quarter" idx="18" hasCustomPrompt="1"/>
          </p:nvPr>
        </p:nvSpPr>
        <p:spPr>
          <a:xfrm>
            <a:off x="359683" y="4861768"/>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9" hasCustomPrompt="1"/>
          </p:nvPr>
        </p:nvSpPr>
        <p:spPr>
          <a:xfrm>
            <a:off x="6275841" y="442141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20" hasCustomPrompt="1"/>
          </p:nvPr>
        </p:nvSpPr>
        <p:spPr>
          <a:xfrm>
            <a:off x="6275841" y="4839964"/>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图片 3"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12"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5" name="图片 4" descr="未标题-4-13"/>
          <p:cNvPicPr>
            <a:picLocks noChangeAspect="1"/>
          </p:cNvPicPr>
          <p:nvPr userDrawn="1"/>
        </p:nvPicPr>
        <p:blipFill>
          <a:blip r:embed="rId3"/>
          <a:stretch>
            <a:fillRect/>
          </a:stretch>
        </p:blipFill>
        <p:spPr>
          <a:xfrm>
            <a:off x="656590" y="3160395"/>
            <a:ext cx="4088130" cy="8826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结束页">
    <p:spTree>
      <p:nvGrpSpPr>
        <p:cNvPr id="1" name=""/>
        <p:cNvGrpSpPr/>
        <p:nvPr/>
      </p:nvGrpSpPr>
      <p:grpSpPr>
        <a:xfrm>
          <a:off x="0" y="0"/>
          <a:ext cx="0" cy="0"/>
          <a:chOff x="0" y="0"/>
          <a:chExt cx="0" cy="0"/>
        </a:xfrm>
      </p:grpSpPr>
      <p:pic>
        <p:nvPicPr>
          <p:cNvPr id="8" name="图片 7" descr="未标题-4-14"/>
          <p:cNvPicPr>
            <a:picLocks noChangeAspect="1"/>
          </p:cNvPicPr>
          <p:nvPr userDrawn="1"/>
        </p:nvPicPr>
        <p:blipFill>
          <a:blip r:embed="rId2"/>
          <a:stretch>
            <a:fillRect/>
          </a:stretch>
        </p:blipFill>
        <p:spPr>
          <a:xfrm>
            <a:off x="-99060" y="-52070"/>
            <a:ext cx="12389485" cy="696214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6"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BCC935-6F5E-4028-9633-399AFADFAEE4}" type="datetimeFigureOut">
              <a:rPr lang="zh-CN" altLang="en-US" smtClean="0"/>
              <a:t>2026/5/15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219E26F-9C0F-4D6E-84B1-C9DCC899A0B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CF135-FC0C-49BA-A035-6C77D031818C}" type="datetimeFigureOut">
              <a:rPr lang="zh-CN" altLang="en-US" smtClean="0"/>
              <a:t>2026/5/15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8F6CF6-FCBD-49FC-96E5-C6C77BCF249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sv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1.svg"/><Relationship Id="rId3" Type="http://schemas.openxmlformats.org/officeDocument/2006/relationships/image" Target="../media/image17.png"/><Relationship Id="rId7" Type="http://schemas.openxmlformats.org/officeDocument/2006/relationships/image" Target="../media/image120.png"/><Relationship Id="rId12" Type="http://schemas.openxmlformats.org/officeDocument/2006/relationships/image" Target="../media/image23.sv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1.png"/><Relationship Id="rId11" Type="http://schemas.openxmlformats.org/officeDocument/2006/relationships/image" Target="../media/image22.png"/><Relationship Id="rId5" Type="http://schemas.openxmlformats.org/officeDocument/2006/relationships/image" Target="../media/image100.png"/><Relationship Id="rId10" Type="http://schemas.openxmlformats.org/officeDocument/2006/relationships/image" Target="../media/image21.svg"/><Relationship Id="rId4" Type="http://schemas.openxmlformats.org/officeDocument/2006/relationships/image" Target="../media/image18.svg"/><Relationship Id="rId9" Type="http://schemas.openxmlformats.org/officeDocument/2006/relationships/image" Target="../media/image20.png"/><Relationship Id="rId1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0.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51.sv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66285" y="1288752"/>
            <a:ext cx="8428620" cy="938946"/>
          </a:xfrm>
        </p:spPr>
        <p:txBody>
          <a:bodyPr/>
          <a:lstStyle/>
          <a:p>
            <a:r>
              <a:rPr lang="en-US" altLang="zh-CN" sz="2800" dirty="0"/>
              <a:t>One Size Does Fit All: Exploring Model Fusion for Software Engineering Tasks</a:t>
            </a:r>
            <a:endParaRPr lang="zh-CN" altLang="en-US" sz="2800" dirty="0"/>
          </a:p>
        </p:txBody>
      </p:sp>
      <p:sp>
        <p:nvSpPr>
          <p:cNvPr id="4" name="文本占位符 3"/>
          <p:cNvSpPr>
            <a:spLocks noGrp="1"/>
          </p:cNvSpPr>
          <p:nvPr>
            <p:ph type="body" sz="quarter" idx="10"/>
          </p:nvPr>
        </p:nvSpPr>
        <p:spPr>
          <a:xfrm>
            <a:off x="531273" y="570584"/>
            <a:ext cx="2681484" cy="331459"/>
          </a:xfrm>
        </p:spPr>
        <p:txBody>
          <a:bodyPr>
            <a:normAutofit fontScale="80000" lnSpcReduction="10000"/>
          </a:bodyPr>
          <a:lstStyle/>
          <a:p>
            <a:r>
              <a:rPr lang="zh-CN" altLang="en-US" dirty="0">
                <a:solidFill>
                  <a:schemeClr val="tx1">
                    <a:lumMod val="65000"/>
                    <a:lumOff val="35000"/>
                  </a:schemeClr>
                </a:solidFill>
                <a:sym typeface="+mn-ea"/>
              </a:rPr>
              <a:t>汇报人：邱盈钢</a:t>
            </a:r>
            <a:r>
              <a:rPr lang="en-US" altLang="zh-CN" dirty="0">
                <a:solidFill>
                  <a:schemeClr val="tx1">
                    <a:lumMod val="65000"/>
                    <a:lumOff val="35000"/>
                  </a:schemeClr>
                </a:solidFill>
                <a:sym typeface="+mn-ea"/>
              </a:rPr>
              <a:t>    </a:t>
            </a:r>
            <a:r>
              <a:rPr lang="zh-CN" altLang="en-US" dirty="0">
                <a:solidFill>
                  <a:schemeClr val="tx1">
                    <a:lumMod val="65000"/>
                    <a:lumOff val="35000"/>
                  </a:schemeClr>
                </a:solidFill>
                <a:sym typeface="+mn-ea"/>
              </a:rPr>
              <a:t>日期：</a:t>
            </a:r>
            <a:r>
              <a:rPr lang="en-US" altLang="zh-CN" dirty="0">
                <a:solidFill>
                  <a:schemeClr val="tx1">
                    <a:lumMod val="65000"/>
                    <a:lumOff val="35000"/>
                  </a:schemeClr>
                </a:solidFill>
                <a:sym typeface="+mn-ea"/>
              </a:rPr>
              <a:t>2026-5-16</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3CAD795-D6B1-BB31-CBCE-4C6DB6216C7F}"/>
              </a:ext>
            </a:extLst>
          </p:cNvPr>
          <p:cNvSpPr/>
          <p:nvPr/>
        </p:nvSpPr>
        <p:spPr>
          <a:xfrm>
            <a:off x="0" y="0"/>
            <a:ext cx="12192000" cy="1745111"/>
          </a:xfrm>
          <a:prstGeom prst="rect">
            <a:avLst/>
          </a:prstGeom>
          <a:solidFill>
            <a:srgbClr val="065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标题 1"/>
          <p:cNvSpPr>
            <a:spLocks noGrp="1"/>
          </p:cNvSpPr>
          <p:nvPr>
            <p:ph type="ctrTitle"/>
          </p:nvPr>
        </p:nvSpPr>
        <p:spPr>
          <a:xfrm>
            <a:off x="1582138" y="48067"/>
            <a:ext cx="10609862" cy="1508194"/>
          </a:xfrm>
          <a:noFill/>
        </p:spPr>
        <p:txBody>
          <a:bodyPr/>
          <a:lstStyle/>
          <a:p>
            <a:r>
              <a:rPr lang="en-US" altLang="zh-CN" sz="3600" dirty="0">
                <a:solidFill>
                  <a:schemeClr val="bg1"/>
                </a:solidFill>
              </a:rPr>
              <a:t>One Size Does Fit All: Exploring Model Fusion for Software Engineering Tasks</a:t>
            </a:r>
            <a:endParaRPr lang="zh-CN" altLang="en-US" sz="3600" dirty="0">
              <a:solidFill>
                <a:schemeClr val="bg1"/>
              </a:solidFill>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01964"/>
            <a:ext cx="1699260" cy="1354297"/>
          </a:xfrm>
          <a:prstGeom prst="rect">
            <a:avLst/>
          </a:prstGeom>
        </p:spPr>
      </p:pic>
      <p:sp>
        <p:nvSpPr>
          <p:cNvPr id="3" name="文本框 2">
            <a:extLst>
              <a:ext uri="{FF2B5EF4-FFF2-40B4-BE49-F238E27FC236}">
                <a16:creationId xmlns:a16="http://schemas.microsoft.com/office/drawing/2014/main" id="{3C5AB562-5DA2-AF05-55A0-2D7F710197DC}"/>
              </a:ext>
            </a:extLst>
          </p:cNvPr>
          <p:cNvSpPr txBox="1"/>
          <p:nvPr/>
        </p:nvSpPr>
        <p:spPr>
          <a:xfrm>
            <a:off x="1458542" y="2784301"/>
            <a:ext cx="9486900" cy="461665"/>
          </a:xfrm>
          <a:prstGeom prst="rect">
            <a:avLst/>
          </a:prstGeom>
          <a:noFill/>
        </p:spPr>
        <p:txBody>
          <a:bodyPr wrap="square" rtlCol="0">
            <a:spAutoFit/>
          </a:bodyPr>
          <a:lstStyle/>
          <a:p>
            <a:pPr lvl="0" algn="ctr">
              <a:defRPr/>
            </a:pP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邱盈钢</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秦意浩</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耿铭阳</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王尚文</a:t>
            </a:r>
            <a:r>
              <a:rPr lang="en-US" altLang="zh-CN" sz="2400" baseline="30000" dirty="0">
                <a:latin typeface="微软雅黑" panose="020B0503020204020204" pitchFamily="34" charset="-122"/>
                <a:ea typeface="微软雅黑" panose="020B0503020204020204" pitchFamily="34" charset="-122"/>
                <a:sym typeface="Wingdings" panose="05000000000000000000" pitchFamily="2" charset="2"/>
              </a:rPr>
              <a:t></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董德尊</a:t>
            </a:r>
            <a:r>
              <a:rPr lang="en-US" altLang="zh-CN" sz="2400" baseline="30000" dirty="0">
                <a:latin typeface="微软雅黑" panose="020B0503020204020204" pitchFamily="34" charset="-122"/>
                <a:ea typeface="微软雅黑" panose="020B0503020204020204" pitchFamily="34" charset="-122"/>
                <a:sym typeface="Wingdings" panose="05000000000000000000" pitchFamily="2" charset="2"/>
              </a:rPr>
              <a:t></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6" name="文本占位符 5">
            <a:extLst>
              <a:ext uri="{FF2B5EF4-FFF2-40B4-BE49-F238E27FC236}">
                <a16:creationId xmlns:a16="http://schemas.microsoft.com/office/drawing/2014/main" id="{A1120647-E880-63FA-D1B5-0FDABABDBD8A}"/>
              </a:ext>
            </a:extLst>
          </p:cNvPr>
          <p:cNvSpPr>
            <a:spLocks noGrp="1"/>
          </p:cNvSpPr>
          <p:nvPr>
            <p:ph type="body" sz="quarter" idx="10"/>
          </p:nvPr>
        </p:nvSpPr>
        <p:spPr/>
        <p:txBody>
          <a:bodyPr/>
          <a:lstStyle/>
          <a:p>
            <a:endParaRPr lang="zh-CN" altLang="en-US" dirty="0"/>
          </a:p>
        </p:txBody>
      </p:sp>
      <p:sp>
        <p:nvSpPr>
          <p:cNvPr id="5" name="文本框 4">
            <a:extLst>
              <a:ext uri="{FF2B5EF4-FFF2-40B4-BE49-F238E27FC236}">
                <a16:creationId xmlns:a16="http://schemas.microsoft.com/office/drawing/2014/main" id="{B87052F1-0D12-333B-2C7A-08CB0AFC9943}"/>
              </a:ext>
            </a:extLst>
          </p:cNvPr>
          <p:cNvSpPr txBox="1"/>
          <p:nvPr/>
        </p:nvSpPr>
        <p:spPr>
          <a:xfrm>
            <a:off x="2567222" y="3294848"/>
            <a:ext cx="7057555" cy="400110"/>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tabLst/>
              <a:defRPr kumimoji="0" sz="2400" b="0" i="0" u="none" strike="noStrike" cap="none" spc="0" normalizeH="0" baseline="0">
                <a:ln>
                  <a:noFill/>
                </a:ln>
                <a:effectLst/>
                <a:uLnTx/>
                <a:uFillTx/>
                <a:latin typeface="微软雅黑" panose="020B0503020204020204" pitchFamily="34" charset="-122"/>
                <a:ea typeface="微软雅黑" panose="020B0503020204020204" pitchFamily="34" charset="-122"/>
              </a:defRPr>
            </a:lvl1pPr>
          </a:lstStyle>
          <a:p>
            <a:r>
              <a:rPr lang="zh-CN" altLang="en-US" sz="2000" dirty="0">
                <a:latin typeface="Times New Roman" panose="02020603050405020304" pitchFamily="18" charset="0"/>
                <a:cs typeface="Times New Roman" panose="02020603050405020304" pitchFamily="18" charset="0"/>
              </a:rPr>
              <a:t>国防科技大学计算机学院</a:t>
            </a:r>
          </a:p>
        </p:txBody>
      </p:sp>
      <p:sp>
        <p:nvSpPr>
          <p:cNvPr id="10" name="文本框 9">
            <a:extLst>
              <a:ext uri="{FF2B5EF4-FFF2-40B4-BE49-F238E27FC236}">
                <a16:creationId xmlns:a16="http://schemas.microsoft.com/office/drawing/2014/main" id="{97EB1A34-19A2-967A-153F-A4B0FC336F68}"/>
              </a:ext>
            </a:extLst>
          </p:cNvPr>
          <p:cNvSpPr txBox="1"/>
          <p:nvPr/>
        </p:nvSpPr>
        <p:spPr>
          <a:xfrm>
            <a:off x="3368936" y="4063694"/>
            <a:ext cx="5454126" cy="369332"/>
          </a:xfrm>
          <a:prstGeom prst="rect">
            <a:avLst/>
          </a:prstGeom>
          <a:noFill/>
        </p:spPr>
        <p:txBody>
          <a:bodyPr wrap="square" rtlCol="0">
            <a:spAutoFit/>
          </a:bodyPr>
          <a:lstStyle/>
          <a:p>
            <a:pPr algn="ctr"/>
            <a:r>
              <a:rPr lang="en-US" altLang="zh-CN" b="1" dirty="0">
                <a:solidFill>
                  <a:srgbClr val="C00000"/>
                </a:solidFill>
                <a:latin typeface="Adobe Devanagari" panose="02040503050201020203" pitchFamily="18" charset="0"/>
                <a:cs typeface="Adobe Devanagari" panose="02040503050201020203" pitchFamily="18" charset="0"/>
              </a:rPr>
              <a:t>2026-5-16, </a:t>
            </a:r>
            <a:r>
              <a:rPr lang="zh-CN" altLang="en-US" b="1" dirty="0">
                <a:solidFill>
                  <a:srgbClr val="C00000"/>
                </a:solidFill>
                <a:latin typeface="Adobe Devanagari" panose="02040503050201020203" pitchFamily="18" charset="0"/>
                <a:cs typeface="Adobe Devanagari" panose="02040503050201020203" pitchFamily="18" charset="0"/>
              </a:rPr>
              <a:t>星期六</a:t>
            </a:r>
            <a:endParaRPr lang="en-US" altLang="zh-CN" b="1" dirty="0">
              <a:solidFill>
                <a:srgbClr val="C00000"/>
              </a:solidFill>
              <a:latin typeface="Adobe Devanagari" panose="02040503050201020203" pitchFamily="18" charset="0"/>
              <a:cs typeface="Adobe Devanagari" panose="020405030502010202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1.</a:t>
            </a:r>
            <a:r>
              <a:rPr lang="zh-CN" altLang="en-US" sz="2800" b="1" dirty="0">
                <a:solidFill>
                  <a:srgbClr val="005744"/>
                </a:solidFill>
                <a:latin typeface="微软雅黑" panose="020B0503020204020204" pitchFamily="34" charset="-122"/>
                <a:ea typeface="微软雅黑" panose="020B0503020204020204" pitchFamily="34" charset="-122"/>
              </a:rPr>
              <a:t>介绍</a:t>
            </a:r>
          </a:p>
        </p:txBody>
      </p:sp>
      <p:sp>
        <p:nvSpPr>
          <p:cNvPr id="16" name="AutoShape 2">
            <a:extLst>
              <a:ext uri="{FF2B5EF4-FFF2-40B4-BE49-F238E27FC236}">
                <a16:creationId xmlns:a16="http://schemas.microsoft.com/office/drawing/2014/main" id="{0CE6C7A3-BFD3-E945-165B-D7E45E58405F}"/>
              </a:ext>
            </a:extLst>
          </p:cNvPr>
          <p:cNvSpPr/>
          <p:nvPr/>
        </p:nvSpPr>
        <p:spPr>
          <a:xfrm>
            <a:off x="508000" y="813266"/>
            <a:ext cx="1117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333333"/>
                </a:solidFill>
                <a:latin typeface="Noto Sans SC"/>
                <a:ea typeface="Noto Sans SC"/>
                <a:cs typeface="Noto Sans SC"/>
                <a:sym typeface="Noto Sans SC"/>
              </a:rPr>
              <a:t>为什么需要模型融合</a:t>
            </a:r>
            <a:r>
              <a:rPr lang="en-US" sz="2400" b="1" i="0" u="none" strike="noStrike" dirty="0">
                <a:solidFill>
                  <a:srgbClr val="333333"/>
                </a:solidFill>
                <a:latin typeface="Noto Sans SC"/>
                <a:ea typeface="Noto Sans SC"/>
                <a:cs typeface="Noto Sans SC"/>
                <a:sym typeface="Noto Sans SC"/>
              </a:rPr>
              <a:t>?</a:t>
            </a:r>
            <a:endParaRPr lang="en-US" sz="1050" dirty="0"/>
          </a:p>
        </p:txBody>
      </p:sp>
      <p:sp>
        <p:nvSpPr>
          <p:cNvPr id="17" name="AutoShape 3">
            <a:extLst>
              <a:ext uri="{FF2B5EF4-FFF2-40B4-BE49-F238E27FC236}">
                <a16:creationId xmlns:a16="http://schemas.microsoft.com/office/drawing/2014/main" id="{63B37D55-ABD6-29D0-CAED-F43B5DF2B3D0}"/>
              </a:ext>
            </a:extLst>
          </p:cNvPr>
          <p:cNvSpPr/>
          <p:nvPr/>
        </p:nvSpPr>
        <p:spPr>
          <a:xfrm>
            <a:off x="508000" y="1358863"/>
            <a:ext cx="11176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F97316"/>
                </a:solidFill>
                <a:latin typeface="Noto Sans SC"/>
                <a:ea typeface="Noto Sans SC"/>
                <a:cs typeface="Noto Sans SC"/>
                <a:sym typeface="Noto Sans SC"/>
              </a:rPr>
              <a:t>基于大语言模型的软件工程多任务挑战</a:t>
            </a:r>
            <a:endParaRPr lang="en-US" sz="1100" dirty="0"/>
          </a:p>
        </p:txBody>
      </p:sp>
      <p:sp>
        <p:nvSpPr>
          <p:cNvPr id="18" name="AutoShape 4">
            <a:extLst>
              <a:ext uri="{FF2B5EF4-FFF2-40B4-BE49-F238E27FC236}">
                <a16:creationId xmlns:a16="http://schemas.microsoft.com/office/drawing/2014/main" id="{B50808E6-FFF1-9EFF-3355-271136614C7E}"/>
              </a:ext>
            </a:extLst>
          </p:cNvPr>
          <p:cNvSpPr/>
          <p:nvPr/>
        </p:nvSpPr>
        <p:spPr>
          <a:xfrm>
            <a:off x="508000" y="1749322"/>
            <a:ext cx="5461000" cy="4572000"/>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a:p>
        </p:txBody>
      </p:sp>
      <p:sp>
        <p:nvSpPr>
          <p:cNvPr id="22" name="AutoShape 5">
            <a:extLst>
              <a:ext uri="{FF2B5EF4-FFF2-40B4-BE49-F238E27FC236}">
                <a16:creationId xmlns:a16="http://schemas.microsoft.com/office/drawing/2014/main" id="{765D7606-A9E0-B84F-55E1-518F5042BD90}"/>
              </a:ext>
            </a:extLst>
          </p:cNvPr>
          <p:cNvSpPr/>
          <p:nvPr/>
        </p:nvSpPr>
        <p:spPr>
          <a:xfrm>
            <a:off x="762000" y="1866863"/>
            <a:ext cx="495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a:solidFill>
                  <a:srgbClr val="F97316"/>
                </a:solidFill>
                <a:latin typeface="Noto Sans SC"/>
                <a:ea typeface="Noto Sans SC"/>
                <a:cs typeface="Noto Sans SC"/>
                <a:sym typeface="Noto Sans SC"/>
              </a:rPr>
              <a:t>01 /</a:t>
            </a:r>
            <a:r>
              <a:rPr lang="en-US" sz="1700" b="1" i="0" u="none" strike="noStrike" dirty="0" err="1">
                <a:solidFill>
                  <a:srgbClr val="333333"/>
                </a:solidFill>
                <a:latin typeface="Noto Sans SC"/>
                <a:ea typeface="Noto Sans SC"/>
                <a:cs typeface="Noto Sans SC"/>
                <a:sym typeface="Noto Sans SC"/>
              </a:rPr>
              <a:t>现状：广泛应用与传统方法</a:t>
            </a:r>
            <a:endParaRPr lang="en-US" sz="1100" dirty="0"/>
          </a:p>
        </p:txBody>
      </p:sp>
      <p:sp>
        <p:nvSpPr>
          <p:cNvPr id="23" name="AutoShape 6">
            <a:extLst>
              <a:ext uri="{FF2B5EF4-FFF2-40B4-BE49-F238E27FC236}">
                <a16:creationId xmlns:a16="http://schemas.microsoft.com/office/drawing/2014/main" id="{B53ADACE-3F46-309A-BBD8-A06B1E68F831}"/>
              </a:ext>
            </a:extLst>
          </p:cNvPr>
          <p:cNvSpPr/>
          <p:nvPr/>
        </p:nvSpPr>
        <p:spPr>
          <a:xfrm>
            <a:off x="762000" y="2255431"/>
            <a:ext cx="4953000" cy="681507"/>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dirty="0" err="1">
                <a:solidFill>
                  <a:srgbClr val="4B5563"/>
                </a:solidFill>
                <a:latin typeface="Noto Sans SC"/>
                <a:ea typeface="Noto Sans SC"/>
                <a:cs typeface="Noto Sans SC"/>
                <a:sym typeface="Noto Sans SC"/>
              </a:rPr>
              <a:t>大语言模型</a:t>
            </a:r>
            <a:r>
              <a:rPr lang="en-US" sz="1400" b="0" i="0" u="none" strike="noStrike" dirty="0">
                <a:solidFill>
                  <a:srgbClr val="4B5563"/>
                </a:solidFill>
                <a:latin typeface="Noto Sans SC"/>
                <a:ea typeface="Noto Sans SC"/>
                <a:cs typeface="Noto Sans SC"/>
                <a:sym typeface="Noto Sans SC"/>
              </a:rPr>
              <a:t> (LLMs) </a:t>
            </a:r>
            <a:r>
              <a:rPr lang="en-US" sz="1400" b="0" i="0" u="none" strike="noStrike" dirty="0" err="1">
                <a:solidFill>
                  <a:srgbClr val="4B5563"/>
                </a:solidFill>
                <a:latin typeface="Noto Sans SC"/>
                <a:ea typeface="Noto Sans SC"/>
                <a:cs typeface="Noto Sans SC"/>
                <a:sym typeface="Noto Sans SC"/>
              </a:rPr>
              <a:t>已渗透至代码搜索、漏洞检测、代码修复与摘要等关键软件工程</a:t>
            </a:r>
            <a:r>
              <a:rPr lang="en-US" sz="1400" b="0" i="0" u="none" strike="noStrike" dirty="0">
                <a:solidFill>
                  <a:srgbClr val="4B5563"/>
                </a:solidFill>
                <a:latin typeface="Noto Sans SC"/>
                <a:ea typeface="Noto Sans SC"/>
                <a:cs typeface="Noto Sans SC"/>
                <a:sym typeface="Noto Sans SC"/>
              </a:rPr>
              <a:t>(SE)</a:t>
            </a:r>
            <a:r>
              <a:rPr lang="en-US" sz="1400" b="0" i="0" u="none" strike="noStrike" dirty="0" err="1">
                <a:solidFill>
                  <a:srgbClr val="4B5563"/>
                </a:solidFill>
                <a:latin typeface="Noto Sans SC"/>
                <a:ea typeface="Noto Sans SC"/>
                <a:cs typeface="Noto Sans SC"/>
                <a:sym typeface="Noto Sans SC"/>
              </a:rPr>
              <a:t>任务。目前主流做法是：针对不同任务与编程语言，分别进行微调并维护为</a:t>
            </a:r>
            <a:r>
              <a:rPr lang="en-US" sz="1400" b="1" i="0" u="none" strike="noStrike" dirty="0" err="1">
                <a:solidFill>
                  <a:srgbClr val="F97316"/>
                </a:solidFill>
                <a:latin typeface="Noto Sans SC"/>
                <a:ea typeface="Noto Sans SC"/>
                <a:cs typeface="Noto Sans SC"/>
                <a:sym typeface="Noto Sans SC"/>
              </a:rPr>
              <a:t>相互独立的模型</a:t>
            </a:r>
            <a:r>
              <a:rPr lang="en-US" sz="1400" b="0" i="0" u="none" strike="noStrike" dirty="0">
                <a:solidFill>
                  <a:srgbClr val="4B5563"/>
                </a:solidFill>
                <a:latin typeface="Noto Sans SC"/>
                <a:ea typeface="Noto Sans SC"/>
                <a:cs typeface="Noto Sans SC"/>
                <a:sym typeface="Noto Sans SC"/>
              </a:rPr>
              <a:t>。</a:t>
            </a:r>
            <a:endParaRPr lang="en-US" sz="1200" dirty="0"/>
          </a:p>
        </p:txBody>
      </p:sp>
      <p:sp>
        <p:nvSpPr>
          <p:cNvPr id="24" name="AutoShape 7">
            <a:extLst>
              <a:ext uri="{FF2B5EF4-FFF2-40B4-BE49-F238E27FC236}">
                <a16:creationId xmlns:a16="http://schemas.microsoft.com/office/drawing/2014/main" id="{9794A6E6-1886-2672-2614-E8FA791129A1}"/>
              </a:ext>
            </a:extLst>
          </p:cNvPr>
          <p:cNvSpPr/>
          <p:nvPr/>
        </p:nvSpPr>
        <p:spPr>
          <a:xfrm>
            <a:off x="762000" y="3020706"/>
            <a:ext cx="495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a:solidFill>
                  <a:srgbClr val="F97316"/>
                </a:solidFill>
                <a:latin typeface="Noto Sans SC"/>
                <a:ea typeface="Noto Sans SC"/>
                <a:cs typeface="Noto Sans SC"/>
                <a:sym typeface="Noto Sans SC"/>
              </a:rPr>
              <a:t>02 /</a:t>
            </a:r>
            <a:r>
              <a:rPr lang="en-US" sz="1700" b="1" i="0" u="none" strike="noStrike" dirty="0" err="1">
                <a:solidFill>
                  <a:srgbClr val="333333"/>
                </a:solidFill>
                <a:latin typeface="Noto Sans SC"/>
                <a:ea typeface="Noto Sans SC"/>
                <a:cs typeface="Noto Sans SC"/>
                <a:sym typeface="Noto Sans SC"/>
              </a:rPr>
              <a:t>问题：传统方法与MTL的局限</a:t>
            </a:r>
            <a:endParaRPr lang="en-US" sz="1100" dirty="0"/>
          </a:p>
        </p:txBody>
      </p:sp>
      <p:sp>
        <p:nvSpPr>
          <p:cNvPr id="26" name="AutoShape 8">
            <a:extLst>
              <a:ext uri="{FF2B5EF4-FFF2-40B4-BE49-F238E27FC236}">
                <a16:creationId xmlns:a16="http://schemas.microsoft.com/office/drawing/2014/main" id="{017D3619-1043-04E4-9612-B73465AA7A9A}"/>
              </a:ext>
            </a:extLst>
          </p:cNvPr>
          <p:cNvSpPr/>
          <p:nvPr/>
        </p:nvSpPr>
        <p:spPr>
          <a:xfrm>
            <a:off x="761999" y="3409274"/>
            <a:ext cx="5048865" cy="924253"/>
          </a:xfrm>
          <a:prstGeom prst="rect">
            <a:avLst/>
          </a:prstGeom>
          <a:noFill/>
          <a:ln w="12700" cap="flat" cmpd="sng">
            <a:noFill/>
            <a:prstDash val="solid"/>
            <a:round/>
          </a:ln>
        </p:spPr>
        <p:txBody>
          <a:bodyPr vert="horz" wrap="square" lIns="0" tIns="0" rIns="0" bIns="0" rtlCol="0" anchor="ctr" anchorCtr="0"/>
          <a:lstStyle/>
          <a:p>
            <a:pPr indent="0" algn="l">
              <a:lnSpc>
                <a:spcPct val="108333"/>
              </a:lnSpc>
              <a:spcBef>
                <a:spcPts val="600"/>
              </a:spcBef>
              <a:defRPr/>
            </a:pPr>
            <a:r>
              <a:rPr lang="en-US" sz="1400" b="0" i="0" u="none" strike="noStrike" dirty="0">
                <a:solidFill>
                  <a:srgbClr val="4B5563"/>
                </a:solidFill>
                <a:latin typeface="Noto Sans SC"/>
                <a:ea typeface="Noto Sans SC"/>
                <a:cs typeface="Noto Sans SC"/>
                <a:sym typeface="Noto Sans SC"/>
              </a:rPr>
              <a:t>•</a:t>
            </a:r>
            <a:r>
              <a:rPr lang="en-US" sz="1400" b="1" i="0" u="none" strike="noStrike" dirty="0" err="1">
                <a:solidFill>
                  <a:srgbClr val="333333"/>
                </a:solidFill>
                <a:latin typeface="Noto Sans SC"/>
                <a:ea typeface="Noto Sans SC"/>
                <a:cs typeface="Noto Sans SC"/>
                <a:sym typeface="Noto Sans SC"/>
              </a:rPr>
              <a:t>独立微调弊端：</a:t>
            </a:r>
            <a:r>
              <a:rPr lang="en-US" sz="1400" b="0" i="0" u="none" strike="noStrike" dirty="0" err="1">
                <a:solidFill>
                  <a:srgbClr val="4B5563"/>
                </a:solidFill>
                <a:latin typeface="Noto Sans SC"/>
                <a:ea typeface="Noto Sans SC"/>
                <a:cs typeface="Noto Sans SC"/>
                <a:sym typeface="Noto Sans SC"/>
              </a:rPr>
              <a:t>模型数量呈指数级爆炸，导致存储成本高昂，且部署与维护极为繁琐，缺乏统一的管理平台</a:t>
            </a:r>
            <a:r>
              <a:rPr lang="en-US" sz="1400" b="0" i="0" u="none" strike="noStrike" dirty="0">
                <a:solidFill>
                  <a:srgbClr val="4B5563"/>
                </a:solidFill>
                <a:latin typeface="Noto Sans SC"/>
                <a:ea typeface="Noto Sans SC"/>
                <a:cs typeface="Noto Sans SC"/>
                <a:sym typeface="Noto Sans SC"/>
              </a:rPr>
              <a:t>。</a:t>
            </a:r>
            <a:endParaRPr lang="en-US" sz="1400" dirty="0"/>
          </a:p>
          <a:p>
            <a:pPr indent="0" algn="l">
              <a:lnSpc>
                <a:spcPct val="108333"/>
              </a:lnSpc>
              <a:spcBef>
                <a:spcPts val="600"/>
              </a:spcBef>
            </a:pPr>
            <a:r>
              <a:rPr lang="en-US" sz="1400" b="0" i="0" u="none" strike="noStrike" dirty="0">
                <a:solidFill>
                  <a:srgbClr val="4B5563"/>
                </a:solidFill>
                <a:latin typeface="Noto Sans SC"/>
                <a:ea typeface="Noto Sans SC"/>
                <a:cs typeface="Noto Sans SC"/>
                <a:sym typeface="Noto Sans SC"/>
              </a:rPr>
              <a:t>•</a:t>
            </a:r>
            <a:r>
              <a:rPr lang="en-US" sz="1400" b="1" i="0" u="none" strike="noStrike" dirty="0" err="1">
                <a:solidFill>
                  <a:srgbClr val="333333"/>
                </a:solidFill>
                <a:latin typeface="Noto Sans SC"/>
                <a:ea typeface="Noto Sans SC"/>
                <a:cs typeface="Noto Sans SC"/>
                <a:sym typeface="Noto Sans SC"/>
              </a:rPr>
              <a:t>多任务学习</a:t>
            </a:r>
            <a:r>
              <a:rPr lang="en-US" sz="1400" b="1" i="0" u="none" strike="noStrike" dirty="0">
                <a:solidFill>
                  <a:srgbClr val="333333"/>
                </a:solidFill>
                <a:latin typeface="Noto Sans SC"/>
                <a:ea typeface="Noto Sans SC"/>
                <a:cs typeface="Noto Sans SC"/>
                <a:sym typeface="Noto Sans SC"/>
              </a:rPr>
              <a:t>(MTL)</a:t>
            </a:r>
            <a:r>
              <a:rPr lang="en-US" sz="1400" b="1" i="0" u="none" strike="noStrike" dirty="0" err="1">
                <a:solidFill>
                  <a:srgbClr val="333333"/>
                </a:solidFill>
                <a:latin typeface="Noto Sans SC"/>
                <a:ea typeface="Noto Sans SC"/>
                <a:cs typeface="Noto Sans SC"/>
                <a:sym typeface="Noto Sans SC"/>
              </a:rPr>
              <a:t>瓶颈：</a:t>
            </a:r>
            <a:r>
              <a:rPr lang="en-US" sz="1400" b="0" i="0" u="none" strike="noStrike" dirty="0" err="1">
                <a:solidFill>
                  <a:srgbClr val="4B5563"/>
                </a:solidFill>
                <a:latin typeface="Noto Sans SC"/>
                <a:ea typeface="Noto Sans SC"/>
                <a:cs typeface="Noto Sans SC"/>
                <a:sym typeface="Noto Sans SC"/>
              </a:rPr>
              <a:t>存在严重的数据分布不均衡与任务间特征干扰，且在联邦学习场景下受限于数据隐私无法聚合</a:t>
            </a:r>
            <a:r>
              <a:rPr lang="en-US" sz="1400" b="0" i="0" u="none" strike="noStrike" dirty="0">
                <a:solidFill>
                  <a:srgbClr val="4B5563"/>
                </a:solidFill>
                <a:latin typeface="Noto Sans SC"/>
                <a:ea typeface="Noto Sans SC"/>
                <a:cs typeface="Noto Sans SC"/>
                <a:sym typeface="Noto Sans SC"/>
              </a:rPr>
              <a:t>。</a:t>
            </a:r>
          </a:p>
        </p:txBody>
      </p:sp>
      <p:grpSp>
        <p:nvGrpSpPr>
          <p:cNvPr id="51" name="组合 50">
            <a:extLst>
              <a:ext uri="{FF2B5EF4-FFF2-40B4-BE49-F238E27FC236}">
                <a16:creationId xmlns:a16="http://schemas.microsoft.com/office/drawing/2014/main" id="{16F5503B-B20E-D9E7-2865-6A3F1FA19B3F}"/>
              </a:ext>
            </a:extLst>
          </p:cNvPr>
          <p:cNvGrpSpPr/>
          <p:nvPr/>
        </p:nvGrpSpPr>
        <p:grpSpPr>
          <a:xfrm>
            <a:off x="762000" y="5350111"/>
            <a:ext cx="4953000" cy="889000"/>
            <a:chOff x="762000" y="5461000"/>
            <a:chExt cx="4953000" cy="889000"/>
          </a:xfrm>
        </p:grpSpPr>
        <p:sp>
          <p:nvSpPr>
            <p:cNvPr id="27" name="AutoShape 9">
              <a:extLst>
                <a:ext uri="{FF2B5EF4-FFF2-40B4-BE49-F238E27FC236}">
                  <a16:creationId xmlns:a16="http://schemas.microsoft.com/office/drawing/2014/main" id="{34F848D2-66B3-D4B9-0960-9DC4189CA5E9}"/>
                </a:ext>
              </a:extLst>
            </p:cNvPr>
            <p:cNvSpPr/>
            <p:nvPr/>
          </p:nvSpPr>
          <p:spPr>
            <a:xfrm>
              <a:off x="762000" y="5461000"/>
              <a:ext cx="4953000" cy="889000"/>
            </a:xfrm>
            <a:prstGeom prst="roundRect">
              <a:avLst>
                <a:gd name="adj" fmla="val 11428"/>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endParaRPr/>
            </a:p>
          </p:txBody>
        </p:sp>
        <p:sp>
          <p:nvSpPr>
            <p:cNvPr id="28" name="AutoShape 10">
              <a:extLst>
                <a:ext uri="{FF2B5EF4-FFF2-40B4-BE49-F238E27FC236}">
                  <a16:creationId xmlns:a16="http://schemas.microsoft.com/office/drawing/2014/main" id="{59F3BE53-9333-8746-D0C7-1D8C24BF54BB}"/>
                </a:ext>
              </a:extLst>
            </p:cNvPr>
            <p:cNvSpPr/>
            <p:nvPr/>
          </p:nvSpPr>
          <p:spPr>
            <a:xfrm>
              <a:off x="889000" y="5613400"/>
              <a:ext cx="4699000" cy="6096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300" b="1" i="0" u="none" strike="noStrike" dirty="0" err="1">
                  <a:solidFill>
                    <a:srgbClr val="333333"/>
                  </a:solidFill>
                  <a:latin typeface="Noto Sans SC"/>
                  <a:ea typeface="Noto Sans SC"/>
                  <a:cs typeface="Noto Sans SC"/>
                  <a:sym typeface="Noto Sans SC"/>
                </a:rPr>
                <a:t>能否通过模型融合技术，让一个统一的模型</a:t>
              </a:r>
              <a:br>
                <a:rPr lang="en-US" sz="1300" b="1" i="0" u="none" strike="noStrike" dirty="0">
                  <a:solidFill>
                    <a:srgbClr val="333333"/>
                  </a:solidFill>
                  <a:latin typeface="Noto Sans SC"/>
                  <a:ea typeface="Noto Sans SC"/>
                  <a:cs typeface="Noto Sans SC"/>
                  <a:sym typeface="Noto Sans SC"/>
                </a:rPr>
              </a:br>
              <a:r>
                <a:rPr lang="en-US" sz="1300" b="1" i="0" u="none" strike="noStrike" dirty="0" err="1">
                  <a:solidFill>
                    <a:srgbClr val="333333"/>
                  </a:solidFill>
                  <a:latin typeface="Noto Sans SC"/>
                  <a:ea typeface="Noto Sans SC"/>
                  <a:cs typeface="Noto Sans SC"/>
                  <a:sym typeface="Noto Sans SC"/>
                </a:rPr>
                <a:t>同时高效适配多个软件工程任务和多种编程语言</a:t>
              </a:r>
              <a:r>
                <a:rPr lang="en-US" sz="1300" b="1" i="0" u="none" strike="noStrike" dirty="0">
                  <a:solidFill>
                    <a:srgbClr val="333333"/>
                  </a:solidFill>
                  <a:latin typeface="Noto Sans SC"/>
                  <a:ea typeface="Noto Sans SC"/>
                  <a:cs typeface="Noto Sans SC"/>
                  <a:sym typeface="Noto Sans SC"/>
                </a:rPr>
                <a:t>？</a:t>
              </a:r>
              <a:endParaRPr lang="en-US" sz="1100" dirty="0"/>
            </a:p>
          </p:txBody>
        </p:sp>
      </p:grpSp>
      <p:sp>
        <p:nvSpPr>
          <p:cNvPr id="29" name="AutoShape 11">
            <a:extLst>
              <a:ext uri="{FF2B5EF4-FFF2-40B4-BE49-F238E27FC236}">
                <a16:creationId xmlns:a16="http://schemas.microsoft.com/office/drawing/2014/main" id="{76F23E3C-663A-2F2F-306F-6F0975ACC35A}"/>
              </a:ext>
            </a:extLst>
          </p:cNvPr>
          <p:cNvSpPr/>
          <p:nvPr/>
        </p:nvSpPr>
        <p:spPr>
          <a:xfrm>
            <a:off x="6223000" y="1749322"/>
            <a:ext cx="5461000" cy="1980000"/>
          </a:xfrm>
          <a:prstGeom prst="roundRect">
            <a:avLst>
              <a:gd name="adj" fmla="val 5263"/>
            </a:avLst>
          </a:prstGeom>
          <a:solidFill>
            <a:srgbClr val="FFFFFF">
              <a:alpha val="100000"/>
            </a:srgbClr>
          </a:solidFill>
          <a:ln w="25400" cap="flat" cmpd="sng">
            <a:solidFill>
              <a:srgbClr val="EF4444">
                <a:alpha val="100000"/>
              </a:srgbClr>
            </a:solidFill>
            <a:prstDash val="dash"/>
            <a:round/>
          </a:ln>
          <a:effectLst/>
        </p:spPr>
        <p:txBody>
          <a:bodyPr vert="horz" wrap="square" lIns="63500" tIns="63500" rIns="63500" bIns="63500" rtlCol="0" anchor="ctr"/>
          <a:lstStyle/>
          <a:p>
            <a:pPr algn="ctr">
              <a:defRPr/>
            </a:pPr>
            <a:endParaRPr/>
          </a:p>
        </p:txBody>
      </p:sp>
      <p:sp>
        <p:nvSpPr>
          <p:cNvPr id="30" name="AutoShape 12">
            <a:extLst>
              <a:ext uri="{FF2B5EF4-FFF2-40B4-BE49-F238E27FC236}">
                <a16:creationId xmlns:a16="http://schemas.microsoft.com/office/drawing/2014/main" id="{AA4FCD6E-8DCF-3B12-6C0D-8FF0DC2355C9}"/>
              </a:ext>
            </a:extLst>
          </p:cNvPr>
          <p:cNvSpPr/>
          <p:nvPr/>
        </p:nvSpPr>
        <p:spPr>
          <a:xfrm>
            <a:off x="6350000" y="1876322"/>
            <a:ext cx="5207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DC2626"/>
                </a:solidFill>
                <a:latin typeface="Noto Sans SC"/>
                <a:ea typeface="Noto Sans SC"/>
                <a:cs typeface="Noto Sans SC"/>
                <a:sym typeface="Noto Sans SC"/>
              </a:rPr>
              <a:t>传统方法</a:t>
            </a:r>
            <a:r>
              <a:rPr lang="en-US" sz="1600" b="1" i="0" u="none" strike="noStrike" dirty="0">
                <a:solidFill>
                  <a:srgbClr val="DC2626"/>
                </a:solidFill>
                <a:latin typeface="Noto Sans SC"/>
                <a:ea typeface="Noto Sans SC"/>
                <a:cs typeface="Noto Sans SC"/>
                <a:sym typeface="Noto Sans SC"/>
              </a:rPr>
              <a:t>：</a:t>
            </a:r>
            <a:r>
              <a:rPr lang="zh-CN" altLang="en-US" sz="1600" b="1" dirty="0">
                <a:solidFill>
                  <a:srgbClr val="DC2626"/>
                </a:solidFill>
                <a:latin typeface="Noto Sans SC"/>
                <a:ea typeface="Noto Sans SC"/>
                <a:cs typeface="Noto Sans SC"/>
                <a:sym typeface="Noto Sans SC"/>
              </a:rPr>
              <a:t>管理困难、存储开销大</a:t>
            </a:r>
            <a:endParaRPr lang="en-US" sz="1100" dirty="0"/>
          </a:p>
        </p:txBody>
      </p:sp>
      <p:sp>
        <p:nvSpPr>
          <p:cNvPr id="31" name="AutoShape 13">
            <a:extLst>
              <a:ext uri="{FF2B5EF4-FFF2-40B4-BE49-F238E27FC236}">
                <a16:creationId xmlns:a16="http://schemas.microsoft.com/office/drawing/2014/main" id="{E36EB107-D784-6622-866F-3F40F0474ED2}"/>
              </a:ext>
            </a:extLst>
          </p:cNvPr>
          <p:cNvSpPr/>
          <p:nvPr/>
        </p:nvSpPr>
        <p:spPr>
          <a:xfrm>
            <a:off x="6477000" y="2511322"/>
            <a:ext cx="1016000" cy="7620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14">
            <a:extLst>
              <a:ext uri="{FF2B5EF4-FFF2-40B4-BE49-F238E27FC236}">
                <a16:creationId xmlns:a16="http://schemas.microsoft.com/office/drawing/2014/main" id="{4E62F2B9-A77F-E127-2C9D-6C9C079D8255}"/>
              </a:ext>
            </a:extLst>
          </p:cNvPr>
          <p:cNvSpPr/>
          <p:nvPr/>
        </p:nvSpPr>
        <p:spPr>
          <a:xfrm>
            <a:off x="6477000" y="2701822"/>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100" b="0" i="0" u="none" strike="noStrike" dirty="0">
                <a:solidFill>
                  <a:srgbClr val="4B5563"/>
                </a:solidFill>
                <a:latin typeface="Noto Sans SC"/>
                <a:ea typeface="Noto Sans SC"/>
                <a:cs typeface="Noto Sans SC"/>
                <a:sym typeface="Noto Sans SC"/>
              </a:rPr>
              <a:t>代码生成</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(Python)</a:t>
            </a:r>
            <a:endParaRPr lang="en-US" sz="1100" dirty="0"/>
          </a:p>
        </p:txBody>
      </p:sp>
      <p:sp>
        <p:nvSpPr>
          <p:cNvPr id="33" name="AutoShape 15">
            <a:extLst>
              <a:ext uri="{FF2B5EF4-FFF2-40B4-BE49-F238E27FC236}">
                <a16:creationId xmlns:a16="http://schemas.microsoft.com/office/drawing/2014/main" id="{807595A1-0C97-C8D0-7FDB-B6B904A5C858}"/>
              </a:ext>
            </a:extLst>
          </p:cNvPr>
          <p:cNvSpPr/>
          <p:nvPr/>
        </p:nvSpPr>
        <p:spPr>
          <a:xfrm>
            <a:off x="7620000" y="2511322"/>
            <a:ext cx="1016000" cy="7620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16">
            <a:extLst>
              <a:ext uri="{FF2B5EF4-FFF2-40B4-BE49-F238E27FC236}">
                <a16:creationId xmlns:a16="http://schemas.microsoft.com/office/drawing/2014/main" id="{B79D5639-CF8B-9608-3C79-BC9BB07D83C0}"/>
              </a:ext>
            </a:extLst>
          </p:cNvPr>
          <p:cNvSpPr/>
          <p:nvPr/>
        </p:nvSpPr>
        <p:spPr>
          <a:xfrm>
            <a:off x="7620000" y="2701822"/>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100" dirty="0">
                <a:solidFill>
                  <a:srgbClr val="4B5563"/>
                </a:solidFill>
                <a:latin typeface="Noto Sans SC"/>
                <a:ea typeface="Noto Sans SC"/>
                <a:cs typeface="Noto Sans SC"/>
                <a:sym typeface="Noto Sans SC"/>
              </a:rPr>
              <a:t>代码修复</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(Java)</a:t>
            </a:r>
            <a:endParaRPr lang="en-US" sz="1100" dirty="0"/>
          </a:p>
        </p:txBody>
      </p:sp>
      <p:sp>
        <p:nvSpPr>
          <p:cNvPr id="35" name="AutoShape 17">
            <a:extLst>
              <a:ext uri="{FF2B5EF4-FFF2-40B4-BE49-F238E27FC236}">
                <a16:creationId xmlns:a16="http://schemas.microsoft.com/office/drawing/2014/main" id="{E5A7F3DD-4565-2B13-694F-5ABCA1948CCC}"/>
              </a:ext>
            </a:extLst>
          </p:cNvPr>
          <p:cNvSpPr/>
          <p:nvPr/>
        </p:nvSpPr>
        <p:spPr>
          <a:xfrm>
            <a:off x="8763000" y="2511322"/>
            <a:ext cx="1016000" cy="7620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18">
            <a:extLst>
              <a:ext uri="{FF2B5EF4-FFF2-40B4-BE49-F238E27FC236}">
                <a16:creationId xmlns:a16="http://schemas.microsoft.com/office/drawing/2014/main" id="{DACF57BD-9390-73B4-2F37-2C91BFD18C37}"/>
              </a:ext>
            </a:extLst>
          </p:cNvPr>
          <p:cNvSpPr/>
          <p:nvPr/>
        </p:nvSpPr>
        <p:spPr>
          <a:xfrm>
            <a:off x="8763000" y="2701822"/>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100" dirty="0">
                <a:solidFill>
                  <a:srgbClr val="4B5563"/>
                </a:solidFill>
                <a:latin typeface="Noto Sans SC"/>
                <a:ea typeface="Noto Sans SC"/>
                <a:cs typeface="Noto Sans SC"/>
                <a:sym typeface="Noto Sans SC"/>
              </a:rPr>
              <a:t>代码搜索</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(JS)</a:t>
            </a:r>
            <a:endParaRPr lang="en-US" sz="1100" dirty="0"/>
          </a:p>
        </p:txBody>
      </p:sp>
      <p:sp>
        <p:nvSpPr>
          <p:cNvPr id="37" name="AutoShape 19">
            <a:extLst>
              <a:ext uri="{FF2B5EF4-FFF2-40B4-BE49-F238E27FC236}">
                <a16:creationId xmlns:a16="http://schemas.microsoft.com/office/drawing/2014/main" id="{37737DA2-C426-3F8C-0C1B-AC7A7F23BA61}"/>
              </a:ext>
            </a:extLst>
          </p:cNvPr>
          <p:cNvSpPr/>
          <p:nvPr/>
        </p:nvSpPr>
        <p:spPr>
          <a:xfrm>
            <a:off x="9906000" y="2511322"/>
            <a:ext cx="1016000" cy="7620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20">
            <a:extLst>
              <a:ext uri="{FF2B5EF4-FFF2-40B4-BE49-F238E27FC236}">
                <a16:creationId xmlns:a16="http://schemas.microsoft.com/office/drawing/2014/main" id="{988D98A9-6597-63FB-67DD-17DD46B9E55C}"/>
              </a:ext>
            </a:extLst>
          </p:cNvPr>
          <p:cNvSpPr/>
          <p:nvPr/>
        </p:nvSpPr>
        <p:spPr>
          <a:xfrm>
            <a:off x="9906000" y="2701822"/>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100" dirty="0">
                <a:solidFill>
                  <a:srgbClr val="4B5563"/>
                </a:solidFill>
                <a:latin typeface="Noto Sans SC"/>
                <a:ea typeface="Noto Sans SC"/>
                <a:cs typeface="Noto Sans SC"/>
                <a:sym typeface="Noto Sans SC"/>
              </a:rPr>
              <a:t>漏洞检测</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(G</a:t>
            </a:r>
            <a:r>
              <a:rPr lang="en-US" altLang="zh-CN" sz="1100" b="0" i="0" u="none" strike="noStrike" dirty="0">
                <a:solidFill>
                  <a:srgbClr val="4B5563"/>
                </a:solidFill>
                <a:latin typeface="Noto Sans SC"/>
                <a:ea typeface="Noto Sans SC"/>
                <a:cs typeface="Noto Sans SC"/>
                <a:sym typeface="Noto Sans SC"/>
              </a:rPr>
              <a:t>o</a:t>
            </a:r>
            <a:r>
              <a:rPr lang="en-US" sz="1100" b="0" i="0" u="none" strike="noStrike" dirty="0">
                <a:solidFill>
                  <a:srgbClr val="4B5563"/>
                </a:solidFill>
                <a:latin typeface="Noto Sans SC"/>
                <a:ea typeface="Noto Sans SC"/>
                <a:cs typeface="Noto Sans SC"/>
                <a:sym typeface="Noto Sans SC"/>
              </a:rPr>
              <a:t>)</a:t>
            </a:r>
            <a:endParaRPr lang="en-US" sz="1100" dirty="0"/>
          </a:p>
        </p:txBody>
      </p:sp>
      <p:sp>
        <p:nvSpPr>
          <p:cNvPr id="39" name="AutoShape 21">
            <a:extLst>
              <a:ext uri="{FF2B5EF4-FFF2-40B4-BE49-F238E27FC236}">
                <a16:creationId xmlns:a16="http://schemas.microsoft.com/office/drawing/2014/main" id="{8CBD8EAD-0BCC-E11D-DED2-24A196F73106}"/>
              </a:ext>
            </a:extLst>
          </p:cNvPr>
          <p:cNvSpPr/>
          <p:nvPr/>
        </p:nvSpPr>
        <p:spPr>
          <a:xfrm>
            <a:off x="6477000" y="3857072"/>
            <a:ext cx="520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dirty="0">
                <a:solidFill>
                  <a:srgbClr val="6B7280"/>
                </a:solidFill>
                <a:latin typeface="Noto Sans SC"/>
                <a:ea typeface="Noto Sans SC"/>
                <a:cs typeface="Noto Sans SC"/>
                <a:sym typeface="Noto Sans SC"/>
              </a:rPr>
              <a:t>↓ </a:t>
            </a:r>
            <a:r>
              <a:rPr lang="en-US" sz="1200" b="0" i="0" u="none" strike="noStrike" dirty="0" err="1">
                <a:solidFill>
                  <a:srgbClr val="6B7280"/>
                </a:solidFill>
                <a:latin typeface="Noto Sans SC"/>
                <a:ea typeface="Noto Sans SC"/>
                <a:cs typeface="Noto Sans SC"/>
                <a:sym typeface="Noto Sans SC"/>
              </a:rPr>
              <a:t>各自独立微调</a:t>
            </a:r>
            <a:r>
              <a:rPr lang="en-US" sz="1200" b="0" i="0" u="none" strike="noStrike" dirty="0">
                <a:solidFill>
                  <a:srgbClr val="6B7280"/>
                </a:solidFill>
                <a:latin typeface="Noto Sans SC"/>
                <a:ea typeface="Noto Sans SC"/>
                <a:cs typeface="Noto Sans SC"/>
                <a:sym typeface="Noto Sans SC"/>
              </a:rPr>
              <a:t> → </a:t>
            </a:r>
            <a:r>
              <a:rPr lang="en-US" sz="1200" b="0" i="0" u="none" strike="noStrike" dirty="0" err="1">
                <a:solidFill>
                  <a:srgbClr val="6B7280"/>
                </a:solidFill>
                <a:latin typeface="Noto Sans SC"/>
                <a:ea typeface="Noto Sans SC"/>
                <a:cs typeface="Noto Sans SC"/>
                <a:sym typeface="Noto Sans SC"/>
              </a:rPr>
              <a:t>模型A</a:t>
            </a:r>
            <a:r>
              <a:rPr lang="en-US" sz="1200" b="0" i="0" u="none" strike="noStrike" dirty="0">
                <a:solidFill>
                  <a:srgbClr val="6B7280"/>
                </a:solidFill>
                <a:latin typeface="Noto Sans SC"/>
                <a:ea typeface="Noto Sans SC"/>
                <a:cs typeface="Noto Sans SC"/>
                <a:sym typeface="Noto Sans SC"/>
              </a:rPr>
              <a:t> | </a:t>
            </a:r>
            <a:r>
              <a:rPr lang="en-US" sz="1200" b="0" i="0" u="none" strike="noStrike" dirty="0" err="1">
                <a:solidFill>
                  <a:srgbClr val="6B7280"/>
                </a:solidFill>
                <a:latin typeface="Noto Sans SC"/>
                <a:ea typeface="Noto Sans SC"/>
                <a:cs typeface="Noto Sans SC"/>
                <a:sym typeface="Noto Sans SC"/>
              </a:rPr>
              <a:t>模型B</a:t>
            </a:r>
            <a:r>
              <a:rPr lang="en-US" sz="1200" b="0" i="0" u="none" strike="noStrike" dirty="0">
                <a:solidFill>
                  <a:srgbClr val="6B7280"/>
                </a:solidFill>
                <a:latin typeface="Noto Sans SC"/>
                <a:ea typeface="Noto Sans SC"/>
                <a:cs typeface="Noto Sans SC"/>
                <a:sym typeface="Noto Sans SC"/>
              </a:rPr>
              <a:t> | </a:t>
            </a:r>
            <a:r>
              <a:rPr lang="en-US" sz="1200" b="0" i="0" u="none" strike="noStrike" dirty="0" err="1">
                <a:solidFill>
                  <a:srgbClr val="6B7280"/>
                </a:solidFill>
                <a:latin typeface="Noto Sans SC"/>
                <a:ea typeface="Noto Sans SC"/>
                <a:cs typeface="Noto Sans SC"/>
                <a:sym typeface="Noto Sans SC"/>
              </a:rPr>
              <a:t>模型C</a:t>
            </a:r>
            <a:r>
              <a:rPr lang="en-US" sz="1200" b="0" i="0" u="none" strike="noStrike" dirty="0">
                <a:solidFill>
                  <a:srgbClr val="6B7280"/>
                </a:solidFill>
                <a:latin typeface="Noto Sans SC"/>
                <a:ea typeface="Noto Sans SC"/>
                <a:cs typeface="Noto Sans SC"/>
                <a:sym typeface="Noto Sans SC"/>
              </a:rPr>
              <a:t> | </a:t>
            </a:r>
            <a:r>
              <a:rPr lang="en-US" sz="1200" b="0" i="0" u="none" strike="noStrike" dirty="0" err="1">
                <a:solidFill>
                  <a:srgbClr val="6B7280"/>
                </a:solidFill>
                <a:latin typeface="Noto Sans SC"/>
                <a:ea typeface="Noto Sans SC"/>
                <a:cs typeface="Noto Sans SC"/>
                <a:sym typeface="Noto Sans SC"/>
              </a:rPr>
              <a:t>模型D</a:t>
            </a:r>
            <a:endParaRPr lang="en-US" sz="1200" dirty="0"/>
          </a:p>
        </p:txBody>
      </p:sp>
      <p:sp>
        <p:nvSpPr>
          <p:cNvPr id="40" name="AutoShape 22">
            <a:extLst>
              <a:ext uri="{FF2B5EF4-FFF2-40B4-BE49-F238E27FC236}">
                <a16:creationId xmlns:a16="http://schemas.microsoft.com/office/drawing/2014/main" id="{43ADFE41-2729-7B1E-7459-8EDE124FCBFC}"/>
              </a:ext>
            </a:extLst>
          </p:cNvPr>
          <p:cNvSpPr/>
          <p:nvPr/>
        </p:nvSpPr>
        <p:spPr>
          <a:xfrm>
            <a:off x="6223000" y="4333322"/>
            <a:ext cx="5461000" cy="1944000"/>
          </a:xfrm>
          <a:prstGeom prst="roundRect">
            <a:avLst>
              <a:gd name="adj" fmla="val 5263"/>
            </a:avLst>
          </a:prstGeom>
          <a:solidFill>
            <a:srgbClr val="FFFFFF">
              <a:alpha val="100000"/>
            </a:srgbClr>
          </a:solidFill>
          <a:ln w="25400" cap="flat" cmpd="sng">
            <a:solidFill>
              <a:srgbClr val="10B981">
                <a:alpha val="100000"/>
              </a:srgbClr>
            </a:solidFill>
            <a:prstDash val="dash"/>
            <a:round/>
          </a:ln>
          <a:effectLst/>
        </p:spPr>
        <p:txBody>
          <a:bodyPr vert="horz" wrap="square" lIns="63500" tIns="63500" rIns="63500" bIns="63500" rtlCol="0" anchor="ctr"/>
          <a:lstStyle/>
          <a:p>
            <a:pPr algn="ctr">
              <a:defRPr/>
            </a:pPr>
            <a:endParaRPr/>
          </a:p>
        </p:txBody>
      </p:sp>
      <p:sp>
        <p:nvSpPr>
          <p:cNvPr id="41" name="AutoShape 23">
            <a:extLst>
              <a:ext uri="{FF2B5EF4-FFF2-40B4-BE49-F238E27FC236}">
                <a16:creationId xmlns:a16="http://schemas.microsoft.com/office/drawing/2014/main" id="{ACF4B73E-494F-C971-775B-FF67C485E369}"/>
              </a:ext>
            </a:extLst>
          </p:cNvPr>
          <p:cNvSpPr/>
          <p:nvPr/>
        </p:nvSpPr>
        <p:spPr>
          <a:xfrm>
            <a:off x="6350000" y="4460322"/>
            <a:ext cx="5207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59669"/>
                </a:solidFill>
                <a:latin typeface="Noto Sans SC"/>
                <a:ea typeface="Noto Sans SC"/>
                <a:cs typeface="Noto Sans SC"/>
                <a:sym typeface="Noto Sans SC"/>
              </a:rPr>
              <a:t>目标：统一模型 (Unified &amp; Efficient)</a:t>
            </a:r>
            <a:endParaRPr lang="en-US" sz="1100"/>
          </a:p>
        </p:txBody>
      </p:sp>
      <p:sp>
        <p:nvSpPr>
          <p:cNvPr id="42" name="AutoShape 24">
            <a:extLst>
              <a:ext uri="{FF2B5EF4-FFF2-40B4-BE49-F238E27FC236}">
                <a16:creationId xmlns:a16="http://schemas.microsoft.com/office/drawing/2014/main" id="{B227B28A-DE4D-CBB1-1FAA-845C81A56324}"/>
              </a:ext>
            </a:extLst>
          </p:cNvPr>
          <p:cNvSpPr/>
          <p:nvPr/>
        </p:nvSpPr>
        <p:spPr>
          <a:xfrm>
            <a:off x="6477000" y="5158822"/>
            <a:ext cx="1270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25">
            <a:extLst>
              <a:ext uri="{FF2B5EF4-FFF2-40B4-BE49-F238E27FC236}">
                <a16:creationId xmlns:a16="http://schemas.microsoft.com/office/drawing/2014/main" id="{F977BDFA-E4F8-A2CC-C304-0CD98D9421BE}"/>
              </a:ext>
            </a:extLst>
          </p:cNvPr>
          <p:cNvSpPr/>
          <p:nvPr/>
        </p:nvSpPr>
        <p:spPr>
          <a:xfrm>
            <a:off x="6604000" y="5349322"/>
            <a:ext cx="101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dirty="0" err="1">
                <a:solidFill>
                  <a:srgbClr val="4B5563"/>
                </a:solidFill>
                <a:latin typeface="Noto Sans SC"/>
                <a:ea typeface="Noto Sans SC"/>
                <a:cs typeface="Noto Sans SC"/>
                <a:sym typeface="Noto Sans SC"/>
              </a:rPr>
              <a:t>分散的微调模型</a:t>
            </a:r>
            <a:r>
              <a:rPr lang="zh-CN" altLang="en-US" sz="1100" b="0" i="0" u="none" strike="noStrike" dirty="0">
                <a:solidFill>
                  <a:srgbClr val="4B5563"/>
                </a:solidFill>
                <a:latin typeface="Noto Sans SC"/>
                <a:ea typeface="Noto Sans SC"/>
                <a:cs typeface="Noto Sans SC"/>
                <a:sym typeface="Noto Sans SC"/>
              </a:rPr>
              <a:t>检查点</a:t>
            </a:r>
            <a:endParaRPr lang="en-US" sz="1100" dirty="0"/>
          </a:p>
        </p:txBody>
      </p:sp>
      <p:sp>
        <p:nvSpPr>
          <p:cNvPr id="44" name="AutoShape 26">
            <a:extLst>
              <a:ext uri="{FF2B5EF4-FFF2-40B4-BE49-F238E27FC236}">
                <a16:creationId xmlns:a16="http://schemas.microsoft.com/office/drawing/2014/main" id="{35BF3571-AA77-9B4A-85B9-C0C899AFB32C}"/>
              </a:ext>
            </a:extLst>
          </p:cNvPr>
          <p:cNvSpPr/>
          <p:nvPr/>
        </p:nvSpPr>
        <p:spPr>
          <a:xfrm>
            <a:off x="7874000" y="5349322"/>
            <a:ext cx="508000" cy="508000"/>
          </a:xfrm>
          <a:prstGeom prst="rightArrow">
            <a:avLst/>
          </a:prstGeom>
          <a:solidFill>
            <a:srgbClr val="D1D5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27">
            <a:extLst>
              <a:ext uri="{FF2B5EF4-FFF2-40B4-BE49-F238E27FC236}">
                <a16:creationId xmlns:a16="http://schemas.microsoft.com/office/drawing/2014/main" id="{2607DAE2-4DFF-DE02-E14A-6F894C8934A0}"/>
              </a:ext>
            </a:extLst>
          </p:cNvPr>
          <p:cNvSpPr/>
          <p:nvPr/>
        </p:nvSpPr>
        <p:spPr>
          <a:xfrm>
            <a:off x="8509000" y="5095322"/>
            <a:ext cx="1016000" cy="1016000"/>
          </a:xfrm>
          <a:prstGeom prst="ellipse">
            <a:avLst/>
          </a:prstGeom>
          <a:solidFill>
            <a:srgbClr val="FFEDD5">
              <a:alpha val="100000"/>
            </a:srgbClr>
          </a:solidFill>
          <a:ln w="25400" cap="flat" cmpd="sng">
            <a:solidFill>
              <a:srgbClr val="F97316">
                <a:alpha val="100000"/>
              </a:srgbClr>
            </a:solidFill>
            <a:prstDash val="solid"/>
            <a:round/>
          </a:ln>
        </p:spPr>
        <p:txBody>
          <a:bodyPr vert="horz" wrap="square" lIns="63500" tIns="63500" rIns="63500" bIns="63500" rtlCol="0" anchor="ctr"/>
          <a:lstStyle/>
          <a:p>
            <a:pPr algn="ctr">
              <a:defRPr/>
            </a:pPr>
            <a:endParaRPr/>
          </a:p>
        </p:txBody>
      </p:sp>
      <p:sp>
        <p:nvSpPr>
          <p:cNvPr id="46" name="AutoShape 28">
            <a:extLst>
              <a:ext uri="{FF2B5EF4-FFF2-40B4-BE49-F238E27FC236}">
                <a16:creationId xmlns:a16="http://schemas.microsoft.com/office/drawing/2014/main" id="{D7850230-EEB0-9AE4-5E9F-7D19593F2746}"/>
              </a:ext>
            </a:extLst>
          </p:cNvPr>
          <p:cNvSpPr/>
          <p:nvPr/>
        </p:nvSpPr>
        <p:spPr>
          <a:xfrm>
            <a:off x="8509000" y="5387422"/>
            <a:ext cx="1016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1" i="0" u="none" strike="noStrike">
                <a:solidFill>
                  <a:srgbClr val="EA580C"/>
                </a:solidFill>
                <a:latin typeface="Noto Sans SC"/>
                <a:ea typeface="Noto Sans SC"/>
                <a:cs typeface="Noto Sans SC"/>
                <a:sym typeface="Noto Sans SC"/>
              </a:rPr>
              <a:t>模型融合</a:t>
            </a:r>
            <a:br>
              <a:rPr lang="en-US" sz="1100" b="1" i="0" u="none" strike="noStrike">
                <a:solidFill>
                  <a:srgbClr val="EA580C"/>
                </a:solidFill>
                <a:latin typeface="Noto Sans SC"/>
                <a:ea typeface="Noto Sans SC"/>
                <a:cs typeface="Noto Sans SC"/>
                <a:sym typeface="Noto Sans SC"/>
              </a:rPr>
            </a:br>
            <a:r>
              <a:rPr lang="en-US" sz="1100" b="1" i="0" u="none" strike="noStrike">
                <a:solidFill>
                  <a:srgbClr val="EA580C"/>
                </a:solidFill>
                <a:latin typeface="Noto Sans SC"/>
                <a:ea typeface="Noto Sans SC"/>
                <a:cs typeface="Noto Sans SC"/>
                <a:sym typeface="Noto Sans SC"/>
              </a:rPr>
              <a:t>(Fusion)</a:t>
            </a:r>
            <a:endParaRPr lang="en-US" sz="1100"/>
          </a:p>
        </p:txBody>
      </p:sp>
      <p:sp>
        <p:nvSpPr>
          <p:cNvPr id="47" name="AutoShape 29">
            <a:extLst>
              <a:ext uri="{FF2B5EF4-FFF2-40B4-BE49-F238E27FC236}">
                <a16:creationId xmlns:a16="http://schemas.microsoft.com/office/drawing/2014/main" id="{FED30CA7-745D-DA03-E228-06E2265FFB94}"/>
              </a:ext>
            </a:extLst>
          </p:cNvPr>
          <p:cNvSpPr/>
          <p:nvPr/>
        </p:nvSpPr>
        <p:spPr>
          <a:xfrm>
            <a:off x="9652000" y="5349322"/>
            <a:ext cx="508000" cy="508000"/>
          </a:xfrm>
          <a:prstGeom prst="rightArrow">
            <a:avLst/>
          </a:prstGeom>
          <a:solidFill>
            <a:srgbClr val="D1D5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AutoShape 30">
            <a:extLst>
              <a:ext uri="{FF2B5EF4-FFF2-40B4-BE49-F238E27FC236}">
                <a16:creationId xmlns:a16="http://schemas.microsoft.com/office/drawing/2014/main" id="{2E10B557-D20A-A397-CB9A-03F15A49AB7B}"/>
              </a:ext>
            </a:extLst>
          </p:cNvPr>
          <p:cNvSpPr/>
          <p:nvPr/>
        </p:nvSpPr>
        <p:spPr>
          <a:xfrm>
            <a:off x="10287000" y="5095322"/>
            <a:ext cx="1143000" cy="1016000"/>
          </a:xfrm>
          <a:prstGeom prst="roundRect">
            <a:avLst>
              <a:gd name="adj" fmla="val 10000"/>
            </a:avLst>
          </a:prstGeom>
          <a:solidFill>
            <a:srgbClr val="DCFCE7">
              <a:alpha val="100000"/>
            </a:srgbClr>
          </a:solidFill>
          <a:ln w="25400" cap="flat" cmpd="sng">
            <a:solidFill>
              <a:srgbClr val="10B981">
                <a:alpha val="100000"/>
              </a:srgbClr>
            </a:solidFill>
            <a:prstDash val="solid"/>
            <a:round/>
          </a:ln>
        </p:spPr>
        <p:txBody>
          <a:bodyPr vert="horz" wrap="square" lIns="63500" tIns="63500" rIns="63500" bIns="63500" rtlCol="0" anchor="ctr"/>
          <a:lstStyle/>
          <a:p>
            <a:pPr algn="ctr">
              <a:defRPr/>
            </a:pPr>
            <a:endParaRPr/>
          </a:p>
        </p:txBody>
      </p:sp>
      <p:sp>
        <p:nvSpPr>
          <p:cNvPr id="49" name="AutoShape 31">
            <a:extLst>
              <a:ext uri="{FF2B5EF4-FFF2-40B4-BE49-F238E27FC236}">
                <a16:creationId xmlns:a16="http://schemas.microsoft.com/office/drawing/2014/main" id="{1298FEE0-D3EF-8C08-A11F-49A715114AF5}"/>
              </a:ext>
            </a:extLst>
          </p:cNvPr>
          <p:cNvSpPr/>
          <p:nvPr/>
        </p:nvSpPr>
        <p:spPr>
          <a:xfrm>
            <a:off x="10287000" y="5387422"/>
            <a:ext cx="1143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dirty="0" err="1">
                <a:solidFill>
                  <a:srgbClr val="15803D"/>
                </a:solidFill>
                <a:latin typeface="Noto Sans SC"/>
                <a:ea typeface="Noto Sans SC"/>
                <a:cs typeface="Noto Sans SC"/>
                <a:sym typeface="Noto Sans SC"/>
              </a:rPr>
              <a:t>统一模型</a:t>
            </a:r>
            <a:br>
              <a:rPr lang="en-US" sz="1200" b="1" i="0" u="none" strike="noStrike" dirty="0">
                <a:solidFill>
                  <a:srgbClr val="15803D"/>
                </a:solidFill>
                <a:latin typeface="Noto Sans SC"/>
                <a:ea typeface="Noto Sans SC"/>
                <a:cs typeface="Noto Sans SC"/>
                <a:sym typeface="Noto Sans SC"/>
              </a:rPr>
            </a:br>
            <a:r>
              <a:rPr lang="en-US" sz="1200" b="1" i="0" u="none" strike="noStrike" dirty="0">
                <a:solidFill>
                  <a:srgbClr val="15803D"/>
                </a:solidFill>
                <a:latin typeface="Noto Sans SC"/>
                <a:ea typeface="Noto Sans SC"/>
                <a:cs typeface="Noto Sans SC"/>
                <a:sym typeface="Noto Sans SC"/>
              </a:rPr>
              <a:t>(Unified)</a:t>
            </a:r>
            <a:endParaRPr lang="en-US" sz="1100" dirty="0"/>
          </a:p>
        </p:txBody>
      </p:sp>
      <p:sp>
        <p:nvSpPr>
          <p:cNvPr id="52" name="AutoShape 7">
            <a:extLst>
              <a:ext uri="{FF2B5EF4-FFF2-40B4-BE49-F238E27FC236}">
                <a16:creationId xmlns:a16="http://schemas.microsoft.com/office/drawing/2014/main" id="{DF899B2C-F12D-B4B1-1964-200FA68747DC}"/>
              </a:ext>
            </a:extLst>
          </p:cNvPr>
          <p:cNvSpPr/>
          <p:nvPr/>
        </p:nvSpPr>
        <p:spPr>
          <a:xfrm>
            <a:off x="762000" y="4417295"/>
            <a:ext cx="495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dirty="0">
                <a:solidFill>
                  <a:srgbClr val="F97316"/>
                </a:solidFill>
                <a:latin typeface="Noto Sans SC"/>
                <a:ea typeface="Noto Sans SC"/>
                <a:cs typeface="Noto Sans SC"/>
                <a:sym typeface="Noto Sans SC"/>
              </a:rPr>
              <a:t>03 /</a:t>
            </a:r>
            <a:r>
              <a:rPr lang="zh-CN" altLang="en-US" sz="1700" b="1" dirty="0">
                <a:solidFill>
                  <a:srgbClr val="333333"/>
                </a:solidFill>
                <a:latin typeface="Noto Sans SC"/>
                <a:ea typeface="Noto Sans SC"/>
                <a:cs typeface="Noto Sans SC"/>
                <a:sym typeface="Noto Sans SC"/>
              </a:rPr>
              <a:t>模型融合</a:t>
            </a:r>
            <a:r>
              <a:rPr lang="en-US" sz="1700" b="1" i="0" u="none" strike="noStrike" dirty="0">
                <a:solidFill>
                  <a:srgbClr val="333333"/>
                </a:solidFill>
                <a:latin typeface="Noto Sans SC"/>
                <a:ea typeface="Noto Sans SC"/>
                <a:cs typeface="Noto Sans SC"/>
                <a:sym typeface="Noto Sans SC"/>
              </a:rPr>
              <a:t>：</a:t>
            </a:r>
            <a:r>
              <a:rPr lang="zh-CN" altLang="en-US" sz="1700" b="1" i="0" u="none" strike="noStrike" dirty="0">
                <a:solidFill>
                  <a:srgbClr val="333333"/>
                </a:solidFill>
                <a:latin typeface="Noto Sans SC"/>
                <a:ea typeface="Noto Sans SC"/>
                <a:cs typeface="Noto Sans SC"/>
                <a:sym typeface="Noto Sans SC"/>
              </a:rPr>
              <a:t>新范式</a:t>
            </a:r>
            <a:endParaRPr lang="en-US" sz="1100" dirty="0"/>
          </a:p>
        </p:txBody>
      </p:sp>
      <p:sp>
        <p:nvSpPr>
          <p:cNvPr id="53" name="AutoShape 8">
            <a:extLst>
              <a:ext uri="{FF2B5EF4-FFF2-40B4-BE49-F238E27FC236}">
                <a16:creationId xmlns:a16="http://schemas.microsoft.com/office/drawing/2014/main" id="{1F747317-7B6E-56D6-FDF0-10EABD9E1D9F}"/>
              </a:ext>
            </a:extLst>
          </p:cNvPr>
          <p:cNvSpPr/>
          <p:nvPr/>
        </p:nvSpPr>
        <p:spPr>
          <a:xfrm>
            <a:off x="762000" y="4805863"/>
            <a:ext cx="4953000" cy="460478"/>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400" b="0" i="0" u="none" strike="noStrike" dirty="0">
                <a:solidFill>
                  <a:srgbClr val="4B5563"/>
                </a:solidFill>
                <a:latin typeface="Noto Sans SC"/>
                <a:ea typeface="Noto Sans SC"/>
                <a:cs typeface="Noto Sans SC"/>
                <a:sym typeface="Noto Sans SC"/>
              </a:rPr>
              <a:t>将多任务微调模型通过参数整合为统一大模型。</a:t>
            </a:r>
          </a:p>
          <a:p>
            <a:pPr indent="0" algn="l">
              <a:lnSpc>
                <a:spcPct val="108333"/>
              </a:lnSpc>
              <a:defRPr/>
            </a:pPr>
            <a:r>
              <a:rPr lang="en-US" altLang="zh-CN" sz="1400" b="0" i="0" u="none" strike="noStrike" dirty="0">
                <a:solidFill>
                  <a:srgbClr val="4B5563"/>
                </a:solidFill>
                <a:latin typeface="Noto Sans SC"/>
                <a:ea typeface="Noto Sans SC"/>
                <a:cs typeface="Noto Sans SC"/>
                <a:sym typeface="Noto Sans SC"/>
              </a:rPr>
              <a:t>• </a:t>
            </a:r>
            <a:r>
              <a:rPr lang="zh-CN" altLang="en-US" sz="1400" b="0" i="0" u="none" strike="noStrike" dirty="0">
                <a:solidFill>
                  <a:srgbClr val="4B5563"/>
                </a:solidFill>
                <a:latin typeface="Noto Sans SC"/>
                <a:ea typeface="Noto Sans SC"/>
                <a:cs typeface="Noto Sans SC"/>
                <a:sym typeface="Noto Sans SC"/>
              </a:rPr>
              <a:t>核心：保留专家模型知识； </a:t>
            </a:r>
            <a:r>
              <a:rPr lang="en-US" altLang="zh-CN" sz="1400" b="0" i="0" u="none" strike="noStrike" dirty="0">
                <a:solidFill>
                  <a:srgbClr val="4B5563"/>
                </a:solidFill>
                <a:latin typeface="Noto Sans SC"/>
                <a:ea typeface="Noto Sans SC"/>
                <a:cs typeface="Noto Sans SC"/>
                <a:sym typeface="Noto Sans SC"/>
              </a:rPr>
              <a:t>• </a:t>
            </a:r>
            <a:r>
              <a:rPr lang="zh-CN" altLang="en-US" sz="1400" b="0" i="0" u="none" strike="noStrike" dirty="0">
                <a:solidFill>
                  <a:srgbClr val="4B5563"/>
                </a:solidFill>
                <a:latin typeface="Noto Sans SC"/>
                <a:ea typeface="Noto Sans SC"/>
                <a:cs typeface="Noto Sans SC"/>
                <a:sym typeface="Noto Sans SC"/>
              </a:rPr>
              <a:t>目标：兼顾性能与统一管理。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8CC7F-4BE7-BC70-4612-FCA16DB3EAD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3D5ED15-A7B8-3FC8-066A-99C70E3C920B}"/>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13465FB-ECC4-90D6-C230-026514349AE0}"/>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7AD7E0D4-0ED5-EB09-BB17-757D62A0DA16}"/>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D374358C-26E3-54C5-9E12-D0405B6B9EE3}"/>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1.</a:t>
            </a:r>
            <a:r>
              <a:rPr lang="zh-CN" altLang="en-US" sz="2800" b="1" dirty="0">
                <a:solidFill>
                  <a:srgbClr val="005744"/>
                </a:solidFill>
                <a:latin typeface="微软雅黑" panose="020B0503020204020204" pitchFamily="34" charset="-122"/>
                <a:ea typeface="微软雅黑" panose="020B0503020204020204" pitchFamily="34" charset="-122"/>
              </a:rPr>
              <a:t>背景</a:t>
            </a:r>
          </a:p>
        </p:txBody>
      </p:sp>
      <p:sp>
        <p:nvSpPr>
          <p:cNvPr id="90" name="文本框 89">
            <a:extLst>
              <a:ext uri="{FF2B5EF4-FFF2-40B4-BE49-F238E27FC236}">
                <a16:creationId xmlns:a16="http://schemas.microsoft.com/office/drawing/2014/main" id="{4343A4D9-5E48-B081-C92F-22FDF5E3B39D}"/>
              </a:ext>
            </a:extLst>
          </p:cNvPr>
          <p:cNvSpPr txBox="1"/>
          <p:nvPr/>
        </p:nvSpPr>
        <p:spPr>
          <a:xfrm>
            <a:off x="453377" y="912251"/>
            <a:ext cx="1639584" cy="400110"/>
          </a:xfrm>
          <a:prstGeom prst="rect">
            <a:avLst/>
          </a:prstGeom>
          <a:noFill/>
        </p:spPr>
        <p:txBody>
          <a:bodyPr wrap="square">
            <a:spAutoFit/>
          </a:bodyPr>
          <a:lstStyle/>
          <a:p>
            <a:r>
              <a:rPr lang="zh-CN" altLang="en-US" sz="2000" b="1" i="0" u="none" strike="noStrike" dirty="0">
                <a:latin typeface="Noto Sans SC"/>
                <a:ea typeface="Noto Sans SC"/>
                <a:cs typeface="Noto Sans SC"/>
                <a:sym typeface="Noto Sans SC"/>
              </a:rPr>
              <a:t>多任务学习</a:t>
            </a:r>
            <a:endParaRPr lang="zh-CN" altLang="en-US" sz="2000" dirty="0"/>
          </a:p>
        </p:txBody>
      </p:sp>
      <p:sp>
        <p:nvSpPr>
          <p:cNvPr id="9" name="文本框 8">
            <a:extLst>
              <a:ext uri="{FF2B5EF4-FFF2-40B4-BE49-F238E27FC236}">
                <a16:creationId xmlns:a16="http://schemas.microsoft.com/office/drawing/2014/main" id="{01AF5D56-5B6D-D252-3C31-605794D053CB}"/>
              </a:ext>
            </a:extLst>
          </p:cNvPr>
          <p:cNvSpPr txBox="1"/>
          <p:nvPr/>
        </p:nvSpPr>
        <p:spPr>
          <a:xfrm>
            <a:off x="7862129" y="2154647"/>
            <a:ext cx="4279071"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为每个软工任务每个编程语言微调一个检测点</a:t>
            </a:r>
          </a:p>
        </p:txBody>
      </p:sp>
      <p:sp>
        <p:nvSpPr>
          <p:cNvPr id="70" name="文本框 69">
            <a:extLst>
              <a:ext uri="{FF2B5EF4-FFF2-40B4-BE49-F238E27FC236}">
                <a16:creationId xmlns:a16="http://schemas.microsoft.com/office/drawing/2014/main" id="{1DE4B0CF-C91A-2606-7A12-CEACA9EBA0F0}"/>
              </a:ext>
            </a:extLst>
          </p:cNvPr>
          <p:cNvSpPr txBox="1"/>
          <p:nvPr/>
        </p:nvSpPr>
        <p:spPr>
          <a:xfrm>
            <a:off x="2642494" y="2502594"/>
            <a:ext cx="1251547"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漏洞检测</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pic>
        <p:nvPicPr>
          <p:cNvPr id="74" name="图形 73">
            <a:extLst>
              <a:ext uri="{FF2B5EF4-FFF2-40B4-BE49-F238E27FC236}">
                <a16:creationId xmlns:a16="http://schemas.microsoft.com/office/drawing/2014/main" id="{DC0AFB5E-14DB-E097-3B6A-F90B0A7C06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67679" y="1699865"/>
            <a:ext cx="878002" cy="866448"/>
          </a:xfrm>
          <a:prstGeom prst="rect">
            <a:avLst/>
          </a:prstGeom>
        </p:spPr>
      </p:pic>
      <p:pic>
        <p:nvPicPr>
          <p:cNvPr id="3" name="图形 2">
            <a:extLst>
              <a:ext uri="{FF2B5EF4-FFF2-40B4-BE49-F238E27FC236}">
                <a16:creationId xmlns:a16="http://schemas.microsoft.com/office/drawing/2014/main" id="{6E07877D-228C-01D9-3FA4-0A411A79C1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54184" y="1699865"/>
            <a:ext cx="890274" cy="866448"/>
          </a:xfrm>
          <a:prstGeom prst="rect">
            <a:avLst/>
          </a:prstGeom>
        </p:spPr>
      </p:pic>
      <p:pic>
        <p:nvPicPr>
          <p:cNvPr id="4" name="图片 3">
            <a:extLst>
              <a:ext uri="{FF2B5EF4-FFF2-40B4-BE49-F238E27FC236}">
                <a16:creationId xmlns:a16="http://schemas.microsoft.com/office/drawing/2014/main" id="{CE4ACBF1-530E-FC72-D5BB-0C581FB823AF}"/>
              </a:ext>
            </a:extLst>
          </p:cNvPr>
          <p:cNvPicPr>
            <a:picLocks noChangeAspect="1"/>
          </p:cNvPicPr>
          <p:nvPr/>
        </p:nvPicPr>
        <p:blipFill>
          <a:blip r:embed="rId7"/>
          <a:stretch>
            <a:fillRect/>
          </a:stretch>
        </p:blipFill>
        <p:spPr>
          <a:xfrm>
            <a:off x="2890236" y="1780017"/>
            <a:ext cx="780611" cy="706145"/>
          </a:xfrm>
          <a:prstGeom prst="rect">
            <a:avLst/>
          </a:prstGeom>
        </p:spPr>
      </p:pic>
      <p:pic>
        <p:nvPicPr>
          <p:cNvPr id="6" name="图形 5">
            <a:extLst>
              <a:ext uri="{FF2B5EF4-FFF2-40B4-BE49-F238E27FC236}">
                <a16:creationId xmlns:a16="http://schemas.microsoft.com/office/drawing/2014/main" id="{080A921D-6E18-B091-6A13-A78F15FAE5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131" y="1699865"/>
            <a:ext cx="890274" cy="866448"/>
          </a:xfrm>
          <a:prstGeom prst="rect">
            <a:avLst/>
          </a:prstGeom>
        </p:spPr>
      </p:pic>
      <p:pic>
        <p:nvPicPr>
          <p:cNvPr id="7" name="图形 6">
            <a:extLst>
              <a:ext uri="{FF2B5EF4-FFF2-40B4-BE49-F238E27FC236}">
                <a16:creationId xmlns:a16="http://schemas.microsoft.com/office/drawing/2014/main" id="{AC4AD6D2-9FD2-82FF-8763-4167ED498BB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16625" y="1699865"/>
            <a:ext cx="878002" cy="866448"/>
          </a:xfrm>
          <a:prstGeom prst="rect">
            <a:avLst/>
          </a:prstGeom>
        </p:spPr>
      </p:pic>
      <p:sp>
        <p:nvSpPr>
          <p:cNvPr id="8" name="文本框 7">
            <a:extLst>
              <a:ext uri="{FF2B5EF4-FFF2-40B4-BE49-F238E27FC236}">
                <a16:creationId xmlns:a16="http://schemas.microsoft.com/office/drawing/2014/main" id="{200E83D9-30C3-5BFB-095B-C75E0D7FA89C}"/>
              </a:ext>
            </a:extLst>
          </p:cNvPr>
          <p:cNvSpPr txBox="1"/>
          <p:nvPr/>
        </p:nvSpPr>
        <p:spPr>
          <a:xfrm>
            <a:off x="3597568" y="1855227"/>
            <a:ext cx="555157" cy="492006"/>
          </a:xfrm>
          <a:prstGeom prst="rect">
            <a:avLst/>
          </a:prstGeom>
          <a:noFill/>
        </p:spPr>
        <p:txBody>
          <a:bodyPr wrap="square" rtlCol="0" anchor="ctr">
            <a:spAutoFit/>
          </a:bodyPr>
          <a:lstStyle/>
          <a:p>
            <a:pPr algn="l">
              <a:lnSpc>
                <a:spcPct val="120000"/>
              </a:lnSpc>
            </a:pPr>
            <a:r>
              <a:rPr lang="zh-CN" altLang="en-US" sz="1400" b="1" dirty="0">
                <a:latin typeface="Arial" panose="020B0604020202020204"/>
                <a:cs typeface="Arial" panose="020B0604020202020204"/>
                <a:sym typeface="Arial" panose="020B0604020202020204"/>
                <a:rtl val="0"/>
              </a:rPr>
              <a:t>…</a:t>
            </a:r>
          </a:p>
        </p:txBody>
      </p:sp>
      <p:sp>
        <p:nvSpPr>
          <p:cNvPr id="68" name="文本框 67">
            <a:extLst>
              <a:ext uri="{FF2B5EF4-FFF2-40B4-BE49-F238E27FC236}">
                <a16:creationId xmlns:a16="http://schemas.microsoft.com/office/drawing/2014/main" id="{F9EC2447-70B1-12FE-C68A-1F981EF17A2D}"/>
              </a:ext>
            </a:extLst>
          </p:cNvPr>
          <p:cNvSpPr txBox="1"/>
          <p:nvPr/>
        </p:nvSpPr>
        <p:spPr>
          <a:xfrm>
            <a:off x="453377" y="2486162"/>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69" name="文本框 68">
            <a:extLst>
              <a:ext uri="{FF2B5EF4-FFF2-40B4-BE49-F238E27FC236}">
                <a16:creationId xmlns:a16="http://schemas.microsoft.com/office/drawing/2014/main" id="{1643D8A4-4F15-CFA7-C539-E0E38C0C99F1}"/>
              </a:ext>
            </a:extLst>
          </p:cNvPr>
          <p:cNvSpPr txBox="1"/>
          <p:nvPr/>
        </p:nvSpPr>
        <p:spPr>
          <a:xfrm>
            <a:off x="1555878" y="2508255"/>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71" name="文本框 70">
            <a:extLst>
              <a:ext uri="{FF2B5EF4-FFF2-40B4-BE49-F238E27FC236}">
                <a16:creationId xmlns:a16="http://schemas.microsoft.com/office/drawing/2014/main" id="{ABD54BD1-B5DB-3F9F-75A8-0FDC5B2F7E21}"/>
              </a:ext>
            </a:extLst>
          </p:cNvPr>
          <p:cNvSpPr txBox="1"/>
          <p:nvPr/>
        </p:nvSpPr>
        <p:spPr>
          <a:xfrm>
            <a:off x="3763947" y="2502594"/>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摘要生成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72" name="文本框 71">
            <a:extLst>
              <a:ext uri="{FF2B5EF4-FFF2-40B4-BE49-F238E27FC236}">
                <a16:creationId xmlns:a16="http://schemas.microsoft.com/office/drawing/2014/main" id="{3EE10039-468F-8A53-CAC1-776E8999B29F}"/>
              </a:ext>
            </a:extLst>
          </p:cNvPr>
          <p:cNvSpPr txBox="1"/>
          <p:nvPr/>
        </p:nvSpPr>
        <p:spPr>
          <a:xfrm>
            <a:off x="4863379" y="2502594"/>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pic>
        <p:nvPicPr>
          <p:cNvPr id="12" name="图形 11">
            <a:extLst>
              <a:ext uri="{FF2B5EF4-FFF2-40B4-BE49-F238E27FC236}">
                <a16:creationId xmlns:a16="http://schemas.microsoft.com/office/drawing/2014/main" id="{5ED1F22D-9DBF-11CF-01D4-1BA6A953C7D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90118" y="4106166"/>
            <a:ext cx="1098867" cy="1098868"/>
          </a:xfrm>
          <a:prstGeom prst="rect">
            <a:avLst/>
          </a:prstGeom>
        </p:spPr>
      </p:pic>
      <p:cxnSp>
        <p:nvCxnSpPr>
          <p:cNvPr id="13" name="直接箭头连接符 12">
            <a:extLst>
              <a:ext uri="{FF2B5EF4-FFF2-40B4-BE49-F238E27FC236}">
                <a16:creationId xmlns:a16="http://schemas.microsoft.com/office/drawing/2014/main" id="{4C7EB331-E465-1A73-0EAA-FBEE0E0C0CB7}"/>
              </a:ext>
            </a:extLst>
          </p:cNvPr>
          <p:cNvCxnSpPr>
            <a:cxnSpLocks/>
          </p:cNvCxnSpPr>
          <p:nvPr/>
        </p:nvCxnSpPr>
        <p:spPr>
          <a:xfrm>
            <a:off x="1102517" y="3127442"/>
            <a:ext cx="990444" cy="9566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22B097E-CE27-F1F0-69F1-02F9BBC16824}"/>
              </a:ext>
            </a:extLst>
          </p:cNvPr>
          <p:cNvCxnSpPr>
            <a:cxnSpLocks/>
            <a:stCxn id="69" idx="2"/>
          </p:cNvCxnSpPr>
          <p:nvPr/>
        </p:nvCxnSpPr>
        <p:spPr>
          <a:xfrm>
            <a:off x="2165769" y="3149535"/>
            <a:ext cx="120231" cy="9345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2BDB47C3-444E-15B1-650F-0A6091DF464C}"/>
              </a:ext>
            </a:extLst>
          </p:cNvPr>
          <p:cNvCxnSpPr>
            <a:cxnSpLocks/>
            <a:stCxn id="70" idx="2"/>
            <a:endCxn id="12" idx="0"/>
          </p:cNvCxnSpPr>
          <p:nvPr/>
        </p:nvCxnSpPr>
        <p:spPr>
          <a:xfrm flipH="1">
            <a:off x="2439552" y="3143874"/>
            <a:ext cx="828716" cy="9622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FFE9A9E-7B4C-0FEA-AC39-52D3EF8F3DF4}"/>
              </a:ext>
            </a:extLst>
          </p:cNvPr>
          <p:cNvCxnSpPr>
            <a:cxnSpLocks/>
            <a:stCxn id="71" idx="2"/>
          </p:cNvCxnSpPr>
          <p:nvPr/>
        </p:nvCxnSpPr>
        <p:spPr>
          <a:xfrm flipH="1">
            <a:off x="2775659" y="3143874"/>
            <a:ext cx="1598179" cy="9401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63FB9695-5A97-E222-705F-33D111301A08}"/>
              </a:ext>
            </a:extLst>
          </p:cNvPr>
          <p:cNvCxnSpPr>
            <a:cxnSpLocks/>
            <a:stCxn id="72" idx="2"/>
          </p:cNvCxnSpPr>
          <p:nvPr/>
        </p:nvCxnSpPr>
        <p:spPr>
          <a:xfrm flipH="1">
            <a:off x="2890236" y="3143874"/>
            <a:ext cx="2583034" cy="10187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C2EDACF0-5CA8-26C1-9334-702C2E109B20}"/>
              </a:ext>
            </a:extLst>
          </p:cNvPr>
          <p:cNvSpPr txBox="1"/>
          <p:nvPr/>
        </p:nvSpPr>
        <p:spPr>
          <a:xfrm>
            <a:off x="1965621" y="3288891"/>
            <a:ext cx="1713173" cy="369332"/>
          </a:xfrm>
          <a:prstGeom prst="rect">
            <a:avLst/>
          </a:prstGeom>
          <a:solidFill>
            <a:schemeClr val="bg1"/>
          </a:solidFill>
        </p:spPr>
        <p:txBody>
          <a:bodyPr wrap="square" rtlCol="0">
            <a:spAutoFit/>
          </a:bodyPr>
          <a:lstStyle/>
          <a:p>
            <a:pPr algn="ctr"/>
            <a:r>
              <a:rPr lang="zh-CN" altLang="en-US" b="1" dirty="0">
                <a:latin typeface="Noto Sans SC" panose="020B0200000000000000" pitchFamily="34" charset="-122"/>
                <a:ea typeface="Noto Sans SC" panose="020B0200000000000000" pitchFamily="34" charset="-122"/>
              </a:rPr>
              <a:t>收集数据集</a:t>
            </a:r>
          </a:p>
        </p:txBody>
      </p:sp>
      <p:pic>
        <p:nvPicPr>
          <p:cNvPr id="67" name="图形 66">
            <a:extLst>
              <a:ext uri="{FF2B5EF4-FFF2-40B4-BE49-F238E27FC236}">
                <a16:creationId xmlns:a16="http://schemas.microsoft.com/office/drawing/2014/main" id="{3A97C023-0D29-DA4E-30B4-1DCFA0EA554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152725" y="4198412"/>
            <a:ext cx="926568" cy="914375"/>
          </a:xfrm>
          <a:prstGeom prst="rect">
            <a:avLst/>
          </a:prstGeom>
        </p:spPr>
      </p:pic>
      <p:sp>
        <p:nvSpPr>
          <p:cNvPr id="73" name="文本框 72">
            <a:extLst>
              <a:ext uri="{FF2B5EF4-FFF2-40B4-BE49-F238E27FC236}">
                <a16:creationId xmlns:a16="http://schemas.microsoft.com/office/drawing/2014/main" id="{F8D61A06-BF1E-8A12-8B8F-9D3AB18975C5}"/>
              </a:ext>
            </a:extLst>
          </p:cNvPr>
          <p:cNvSpPr txBox="1"/>
          <p:nvPr/>
        </p:nvSpPr>
        <p:spPr>
          <a:xfrm>
            <a:off x="3211849" y="4268782"/>
            <a:ext cx="771437" cy="414946"/>
          </a:xfrm>
          <a:prstGeom prst="rect">
            <a:avLst/>
          </a:prstGeom>
          <a:noFill/>
        </p:spPr>
        <p:txBody>
          <a:bodyPr wrap="square">
            <a:spAutoFit/>
          </a:bodyPr>
          <a:lstStyle/>
          <a:p>
            <a:r>
              <a:rPr lang="zh-CN" altLang="en-US" sz="1600" b="1" dirty="0">
                <a:latin typeface="Noto Sans SC" panose="020B0200000000000000" pitchFamily="34" charset="-122"/>
                <a:ea typeface="Noto Sans SC" panose="020B0200000000000000" pitchFamily="34" charset="-122"/>
              </a:rPr>
              <a:t>训练</a:t>
            </a:r>
          </a:p>
        </p:txBody>
      </p:sp>
      <p:sp>
        <p:nvSpPr>
          <p:cNvPr id="75" name="箭头: 下 74">
            <a:extLst>
              <a:ext uri="{FF2B5EF4-FFF2-40B4-BE49-F238E27FC236}">
                <a16:creationId xmlns:a16="http://schemas.microsoft.com/office/drawing/2014/main" id="{08D28D6C-0DEF-CD9B-5DBC-BA17C6B0EEA7}"/>
              </a:ext>
            </a:extLst>
          </p:cNvPr>
          <p:cNvSpPr/>
          <p:nvPr/>
        </p:nvSpPr>
        <p:spPr>
          <a:xfrm rot="16200000">
            <a:off x="3492414" y="4334784"/>
            <a:ext cx="186576" cy="66184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pic>
        <p:nvPicPr>
          <p:cNvPr id="83" name="图片 82">
            <a:extLst>
              <a:ext uri="{FF2B5EF4-FFF2-40B4-BE49-F238E27FC236}">
                <a16:creationId xmlns:a16="http://schemas.microsoft.com/office/drawing/2014/main" id="{FBE7757E-A0B3-F552-863D-59C7284CAA67}"/>
              </a:ext>
            </a:extLst>
          </p:cNvPr>
          <p:cNvPicPr>
            <a:picLocks noChangeAspect="1"/>
          </p:cNvPicPr>
          <p:nvPr/>
        </p:nvPicPr>
        <p:blipFill>
          <a:blip r:embed="rId14"/>
          <a:stretch>
            <a:fillRect/>
          </a:stretch>
        </p:blipFill>
        <p:spPr>
          <a:xfrm>
            <a:off x="6029632" y="1650647"/>
            <a:ext cx="5825627" cy="3185513"/>
          </a:xfrm>
          <a:prstGeom prst="rect">
            <a:avLst/>
          </a:prstGeom>
        </p:spPr>
      </p:pic>
      <p:sp>
        <p:nvSpPr>
          <p:cNvPr id="85" name="文本框 84">
            <a:extLst>
              <a:ext uri="{FF2B5EF4-FFF2-40B4-BE49-F238E27FC236}">
                <a16:creationId xmlns:a16="http://schemas.microsoft.com/office/drawing/2014/main" id="{91509CB9-7F65-1352-319E-A16AF14F2AC6}"/>
              </a:ext>
            </a:extLst>
          </p:cNvPr>
          <p:cNvSpPr txBox="1"/>
          <p:nvPr/>
        </p:nvSpPr>
        <p:spPr>
          <a:xfrm>
            <a:off x="1965621" y="5252867"/>
            <a:ext cx="1605991" cy="400110"/>
          </a:xfrm>
          <a:prstGeom prst="rect">
            <a:avLst/>
          </a:prstGeom>
          <a:noFill/>
        </p:spPr>
        <p:txBody>
          <a:bodyPr wrap="square">
            <a:spAutoFit/>
          </a:bodyPr>
          <a:lstStyle/>
          <a:p>
            <a:r>
              <a:rPr lang="zh-CN" altLang="en-US" sz="2000" b="1" i="0" u="none" strike="noStrike" dirty="0">
                <a:solidFill>
                  <a:srgbClr val="F97316"/>
                </a:solidFill>
                <a:latin typeface="Noto Sans SC"/>
                <a:ea typeface="Noto Sans SC"/>
                <a:cs typeface="Noto Sans SC"/>
                <a:sym typeface="Noto Sans SC"/>
              </a:rPr>
              <a:t>数据不平衡</a:t>
            </a:r>
            <a:endParaRPr lang="zh-CN" altLang="en-US" dirty="0"/>
          </a:p>
        </p:txBody>
      </p:sp>
      <p:sp>
        <p:nvSpPr>
          <p:cNvPr id="86" name="文本框 85">
            <a:extLst>
              <a:ext uri="{FF2B5EF4-FFF2-40B4-BE49-F238E27FC236}">
                <a16:creationId xmlns:a16="http://schemas.microsoft.com/office/drawing/2014/main" id="{AF168439-0C7B-2CC5-4086-EAA24CD1ADF8}"/>
              </a:ext>
            </a:extLst>
          </p:cNvPr>
          <p:cNvSpPr txBox="1"/>
          <p:nvPr/>
        </p:nvSpPr>
        <p:spPr>
          <a:xfrm>
            <a:off x="1965621" y="5664843"/>
            <a:ext cx="1323884" cy="400110"/>
          </a:xfrm>
          <a:prstGeom prst="rect">
            <a:avLst/>
          </a:prstGeom>
          <a:noFill/>
        </p:spPr>
        <p:txBody>
          <a:bodyPr wrap="square">
            <a:spAutoFit/>
          </a:bodyPr>
          <a:lstStyle/>
          <a:p>
            <a:r>
              <a:rPr lang="zh-CN" altLang="en-US" sz="2000" b="1" i="0" u="none" strike="noStrike" dirty="0">
                <a:solidFill>
                  <a:srgbClr val="F97316"/>
                </a:solidFill>
                <a:latin typeface="Noto Sans SC"/>
                <a:ea typeface="Noto Sans SC"/>
                <a:cs typeface="Noto Sans SC"/>
                <a:sym typeface="Noto Sans SC"/>
              </a:rPr>
              <a:t>负迁移</a:t>
            </a:r>
            <a:endParaRPr lang="zh-CN" altLang="en-US" dirty="0"/>
          </a:p>
        </p:txBody>
      </p:sp>
      <p:sp>
        <p:nvSpPr>
          <p:cNvPr id="88" name="文本框 87">
            <a:extLst>
              <a:ext uri="{FF2B5EF4-FFF2-40B4-BE49-F238E27FC236}">
                <a16:creationId xmlns:a16="http://schemas.microsoft.com/office/drawing/2014/main" id="{61624FD5-8D4E-6C69-E677-2F08523C3B51}"/>
              </a:ext>
            </a:extLst>
          </p:cNvPr>
          <p:cNvSpPr txBox="1"/>
          <p:nvPr/>
        </p:nvSpPr>
        <p:spPr>
          <a:xfrm>
            <a:off x="1962128" y="6095731"/>
            <a:ext cx="1323884" cy="400110"/>
          </a:xfrm>
          <a:prstGeom prst="rect">
            <a:avLst/>
          </a:prstGeom>
          <a:noFill/>
        </p:spPr>
        <p:txBody>
          <a:bodyPr wrap="square">
            <a:spAutoFit/>
          </a:bodyPr>
          <a:lstStyle/>
          <a:p>
            <a:r>
              <a:rPr lang="zh-CN" altLang="en-US" sz="2000" b="1" i="0" u="none" strike="noStrike" dirty="0">
                <a:solidFill>
                  <a:srgbClr val="F97316"/>
                </a:solidFill>
                <a:latin typeface="Noto Sans SC"/>
                <a:ea typeface="Noto Sans SC"/>
                <a:cs typeface="Noto Sans SC"/>
                <a:sym typeface="Noto Sans SC"/>
              </a:rPr>
              <a:t>数据隐私</a:t>
            </a:r>
            <a:endParaRPr lang="zh-CN" altLang="en-US" dirty="0"/>
          </a:p>
        </p:txBody>
      </p:sp>
      <p:sp>
        <p:nvSpPr>
          <p:cNvPr id="97" name="文本框 96">
            <a:extLst>
              <a:ext uri="{FF2B5EF4-FFF2-40B4-BE49-F238E27FC236}">
                <a16:creationId xmlns:a16="http://schemas.microsoft.com/office/drawing/2014/main" id="{CD52E9EA-19C2-2387-C163-C16B22755ABC}"/>
              </a:ext>
            </a:extLst>
          </p:cNvPr>
          <p:cNvSpPr txBox="1"/>
          <p:nvPr/>
        </p:nvSpPr>
        <p:spPr>
          <a:xfrm>
            <a:off x="1548577" y="5222090"/>
            <a:ext cx="519946" cy="461665"/>
          </a:xfrm>
          <a:prstGeom prst="rect">
            <a:avLst/>
          </a:prstGeom>
          <a:noFill/>
        </p:spPr>
        <p:txBody>
          <a:bodyPr wrap="square">
            <a:spAutoFit/>
          </a:bodyPr>
          <a:lstStyle/>
          <a:p>
            <a:pPr algn="ctr"/>
            <a:r>
              <a:rPr lang="zh-CN" altLang="en-US" sz="2400" dirty="0"/>
              <a:t>⚖️</a:t>
            </a:r>
          </a:p>
        </p:txBody>
      </p:sp>
      <p:sp>
        <p:nvSpPr>
          <p:cNvPr id="99" name="文本框 98">
            <a:extLst>
              <a:ext uri="{FF2B5EF4-FFF2-40B4-BE49-F238E27FC236}">
                <a16:creationId xmlns:a16="http://schemas.microsoft.com/office/drawing/2014/main" id="{AAE06364-FF50-4CF2-9CFA-2AFEC026A091}"/>
              </a:ext>
            </a:extLst>
          </p:cNvPr>
          <p:cNvSpPr txBox="1"/>
          <p:nvPr/>
        </p:nvSpPr>
        <p:spPr>
          <a:xfrm>
            <a:off x="1507043" y="5634066"/>
            <a:ext cx="561480" cy="461665"/>
          </a:xfrm>
          <a:prstGeom prst="rect">
            <a:avLst/>
          </a:prstGeom>
          <a:noFill/>
        </p:spPr>
        <p:txBody>
          <a:bodyPr wrap="square">
            <a:spAutoFit/>
          </a:bodyPr>
          <a:lstStyle/>
          <a:p>
            <a:pPr algn="r"/>
            <a:r>
              <a:rPr lang="zh-CN" altLang="en-US" sz="2400" dirty="0"/>
              <a:t>🔄</a:t>
            </a:r>
          </a:p>
        </p:txBody>
      </p:sp>
      <p:sp>
        <p:nvSpPr>
          <p:cNvPr id="101" name="文本框 100">
            <a:extLst>
              <a:ext uri="{FF2B5EF4-FFF2-40B4-BE49-F238E27FC236}">
                <a16:creationId xmlns:a16="http://schemas.microsoft.com/office/drawing/2014/main" id="{5443F7E3-D342-8B76-FB36-CA5F62ACFE95}"/>
              </a:ext>
            </a:extLst>
          </p:cNvPr>
          <p:cNvSpPr txBox="1"/>
          <p:nvPr/>
        </p:nvSpPr>
        <p:spPr>
          <a:xfrm>
            <a:off x="1507043" y="6064954"/>
            <a:ext cx="561480" cy="461665"/>
          </a:xfrm>
          <a:prstGeom prst="rect">
            <a:avLst/>
          </a:prstGeom>
          <a:noFill/>
        </p:spPr>
        <p:txBody>
          <a:bodyPr wrap="square">
            <a:spAutoFit/>
          </a:bodyPr>
          <a:lstStyle/>
          <a:p>
            <a:pPr algn="r"/>
            <a:r>
              <a:rPr lang="zh-CN" altLang="en-US" sz="2400" dirty="0"/>
              <a:t>🔒</a:t>
            </a:r>
          </a:p>
        </p:txBody>
      </p:sp>
      <p:sp>
        <p:nvSpPr>
          <p:cNvPr id="102" name="矩形: 圆角 101">
            <a:extLst>
              <a:ext uri="{FF2B5EF4-FFF2-40B4-BE49-F238E27FC236}">
                <a16:creationId xmlns:a16="http://schemas.microsoft.com/office/drawing/2014/main" id="{50B9F190-571E-B2CA-9079-4DCE6AE506D9}"/>
              </a:ext>
            </a:extLst>
          </p:cNvPr>
          <p:cNvSpPr/>
          <p:nvPr/>
        </p:nvSpPr>
        <p:spPr>
          <a:xfrm>
            <a:off x="7228454" y="5144059"/>
            <a:ext cx="3942080" cy="107939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Noto Sans SC" panose="020B0200000000000000" pitchFamily="34" charset="-122"/>
                <a:ea typeface="Noto Sans SC" panose="020B0200000000000000" pitchFamily="34" charset="-122"/>
              </a:rPr>
              <a:t>漏洞检测任务性能下降较大！</a:t>
            </a:r>
          </a:p>
        </p:txBody>
      </p:sp>
    </p:spTree>
    <p:extLst>
      <p:ext uri="{BB962C8B-B14F-4D97-AF65-F5344CB8AC3E}">
        <p14:creationId xmlns:p14="http://schemas.microsoft.com/office/powerpoint/2010/main" val="250817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09C4-0622-9CB7-007C-F427388200B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6F1F1C05-754F-3CF4-26A4-A43CEEE7EE8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14410C1-86B6-8C5A-E545-DADD4E403F4E}"/>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8AB490F-B56C-1531-57F8-E5039237953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24AA0DAD-23AE-F57D-A837-DB42576BE8E0}"/>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2" name="Rectangle 1">
            <a:extLst>
              <a:ext uri="{FF2B5EF4-FFF2-40B4-BE49-F238E27FC236}">
                <a16:creationId xmlns:a16="http://schemas.microsoft.com/office/drawing/2014/main" id="{0BF3E369-BC27-A556-EFF2-BFAA0899B93B}"/>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的目标</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196" name="组合 195">
            <a:extLst>
              <a:ext uri="{FF2B5EF4-FFF2-40B4-BE49-F238E27FC236}">
                <a16:creationId xmlns:a16="http://schemas.microsoft.com/office/drawing/2014/main" id="{3F60459C-C5CC-E49C-521F-8D575DE2EF4F}"/>
              </a:ext>
            </a:extLst>
          </p:cNvPr>
          <p:cNvGrpSpPr/>
          <p:nvPr/>
        </p:nvGrpSpPr>
        <p:grpSpPr>
          <a:xfrm>
            <a:off x="689219" y="1500157"/>
            <a:ext cx="3678320" cy="4847303"/>
            <a:chOff x="355389" y="1500157"/>
            <a:chExt cx="3678320" cy="4847303"/>
          </a:xfrm>
        </p:grpSpPr>
        <p:sp>
          <p:nvSpPr>
            <p:cNvPr id="124" name="AutoShape 4">
              <a:extLst>
                <a:ext uri="{FF2B5EF4-FFF2-40B4-BE49-F238E27FC236}">
                  <a16:creationId xmlns:a16="http://schemas.microsoft.com/office/drawing/2014/main" id="{CD98A200-E397-E1BF-D2F2-A5E0B234C1FF}"/>
                </a:ext>
              </a:extLst>
            </p:cNvPr>
            <p:cNvSpPr/>
            <p:nvPr/>
          </p:nvSpPr>
          <p:spPr>
            <a:xfrm>
              <a:off x="355389" y="1500157"/>
              <a:ext cx="3632026" cy="4847303"/>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pic>
          <p:nvPicPr>
            <p:cNvPr id="3" name="图形 2">
              <a:extLst>
                <a:ext uri="{FF2B5EF4-FFF2-40B4-BE49-F238E27FC236}">
                  <a16:creationId xmlns:a16="http://schemas.microsoft.com/office/drawing/2014/main" id="{BE6C5800-AF76-7C29-1947-B135310FC5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3765" y="1583533"/>
              <a:ext cx="828264" cy="828264"/>
            </a:xfrm>
            <a:prstGeom prst="rect">
              <a:avLst/>
            </a:prstGeom>
          </p:spPr>
        </p:pic>
        <p:cxnSp>
          <p:nvCxnSpPr>
            <p:cNvPr id="13" name="连接符: 肘形 12">
              <a:extLst>
                <a:ext uri="{FF2B5EF4-FFF2-40B4-BE49-F238E27FC236}">
                  <a16:creationId xmlns:a16="http://schemas.microsoft.com/office/drawing/2014/main" id="{87ED7CAF-8075-BE97-AE70-FD3A3F86A79C}"/>
                </a:ext>
              </a:extLst>
            </p:cNvPr>
            <p:cNvCxnSpPr>
              <a:cxnSpLocks/>
              <a:stCxn id="3" idx="2"/>
              <a:endCxn id="5" idx="0"/>
            </p:cNvCxnSpPr>
            <p:nvPr/>
          </p:nvCxnSpPr>
          <p:spPr>
            <a:xfrm rot="5400000">
              <a:off x="1342004" y="1946120"/>
              <a:ext cx="330216" cy="126157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0ADE2A00-AF82-E42D-A80B-3E6FAC29C6ED}"/>
                </a:ext>
              </a:extLst>
            </p:cNvPr>
            <p:cNvCxnSpPr>
              <a:cxnSpLocks/>
              <a:stCxn id="3" idx="2"/>
              <a:endCxn id="10" idx="0"/>
            </p:cNvCxnSpPr>
            <p:nvPr/>
          </p:nvCxnSpPr>
          <p:spPr>
            <a:xfrm rot="16200000" flipH="1">
              <a:off x="2605588" y="1944106"/>
              <a:ext cx="330216" cy="1265598"/>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FB555B86-4ECA-CA36-96C7-9CCC8557FBAF}"/>
                    </a:ext>
                  </a:extLst>
                </p:cNvPr>
                <p:cNvSpPr txBox="1"/>
                <p:nvPr/>
              </p:nvSpPr>
              <p:spPr>
                <a:xfrm>
                  <a:off x="401683" y="3322991"/>
                  <a:ext cx="100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m:oMathPara>
                  </a14:m>
                  <a:endParaRPr lang="zh-CN" altLang="en-US" dirty="0"/>
                </a:p>
              </p:txBody>
            </p:sp>
          </mc:Choice>
          <mc:Fallback xmlns="">
            <p:sp>
              <p:nvSpPr>
                <p:cNvPr id="66" name="文本框 65">
                  <a:extLst>
                    <a:ext uri="{FF2B5EF4-FFF2-40B4-BE49-F238E27FC236}">
                      <a16:creationId xmlns:a16="http://schemas.microsoft.com/office/drawing/2014/main" id="{FB555B86-4ECA-CA36-96C7-9CCC8557FBAF}"/>
                    </a:ext>
                  </a:extLst>
                </p:cNvPr>
                <p:cNvSpPr txBox="1">
                  <a:spLocks noRot="1" noChangeAspect="1" noMove="1" noResize="1" noEditPoints="1" noAdjustHandles="1" noChangeArrowheads="1" noChangeShapeType="1" noTextEdit="1"/>
                </p:cNvSpPr>
                <p:nvPr/>
              </p:nvSpPr>
              <p:spPr>
                <a:xfrm>
                  <a:off x="401683" y="3322991"/>
                  <a:ext cx="1008546" cy="369332"/>
                </a:xfrm>
                <a:prstGeom prst="rect">
                  <a:avLst/>
                </a:prstGeom>
                <a:blipFill>
                  <a:blip r:embed="rId5"/>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23201BF4-EFF8-75D8-F843-7193306D61D4}"/>
                    </a:ext>
                  </a:extLst>
                </p:cNvPr>
                <p:cNvSpPr txBox="1"/>
                <p:nvPr/>
              </p:nvSpPr>
              <p:spPr>
                <a:xfrm>
                  <a:off x="1615677" y="3329191"/>
                  <a:ext cx="10191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m:oMathPara>
                  </a14:m>
                  <a:endParaRPr lang="zh-CN" altLang="en-US" dirty="0"/>
                </a:p>
              </p:txBody>
            </p:sp>
          </mc:Choice>
          <mc:Fallback xmlns="">
            <p:sp>
              <p:nvSpPr>
                <p:cNvPr id="67" name="文本框 66">
                  <a:extLst>
                    <a:ext uri="{FF2B5EF4-FFF2-40B4-BE49-F238E27FC236}">
                      <a16:creationId xmlns:a16="http://schemas.microsoft.com/office/drawing/2014/main" id="{23201BF4-EFF8-75D8-F843-7193306D61D4}"/>
                    </a:ext>
                  </a:extLst>
                </p:cNvPr>
                <p:cNvSpPr txBox="1">
                  <a:spLocks noRot="1" noChangeAspect="1" noMove="1" noResize="1" noEditPoints="1" noAdjustHandles="1" noChangeArrowheads="1" noChangeShapeType="1" noTextEdit="1"/>
                </p:cNvSpPr>
                <p:nvPr/>
              </p:nvSpPr>
              <p:spPr>
                <a:xfrm>
                  <a:off x="1615677" y="3329191"/>
                  <a:ext cx="1019189" cy="369332"/>
                </a:xfrm>
                <a:prstGeom prst="rect">
                  <a:avLst/>
                </a:prstGeom>
                <a:blipFill>
                  <a:blip r:embed="rId6"/>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24DC5945-E5B4-DBE5-0721-0CCB8579BB4A}"/>
                    </a:ext>
                  </a:extLst>
                </p:cNvPr>
                <p:cNvSpPr txBox="1"/>
                <p:nvPr/>
              </p:nvSpPr>
              <p:spPr>
                <a:xfrm>
                  <a:off x="2932574" y="3322991"/>
                  <a:ext cx="11011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oMath>
                    </m:oMathPara>
                  </a14:m>
                  <a:endParaRPr lang="zh-CN" altLang="en-US" dirty="0"/>
                </a:p>
              </p:txBody>
            </p:sp>
          </mc:Choice>
          <mc:Fallback xmlns="">
            <p:sp>
              <p:nvSpPr>
                <p:cNvPr id="68" name="文本框 67">
                  <a:extLst>
                    <a:ext uri="{FF2B5EF4-FFF2-40B4-BE49-F238E27FC236}">
                      <a16:creationId xmlns:a16="http://schemas.microsoft.com/office/drawing/2014/main" id="{24DC5945-E5B4-DBE5-0721-0CCB8579BB4A}"/>
                    </a:ext>
                  </a:extLst>
                </p:cNvPr>
                <p:cNvSpPr txBox="1">
                  <a:spLocks noRot="1" noChangeAspect="1" noMove="1" noResize="1" noEditPoints="1" noAdjustHandles="1" noChangeArrowheads="1" noChangeShapeType="1" noTextEdit="1"/>
                </p:cNvSpPr>
                <p:nvPr/>
              </p:nvSpPr>
              <p:spPr>
                <a:xfrm>
                  <a:off x="2932574" y="3322991"/>
                  <a:ext cx="1101135" cy="369332"/>
                </a:xfrm>
                <a:prstGeom prst="rect">
                  <a:avLst/>
                </a:prstGeom>
                <a:blipFill>
                  <a:blip r:embed="rId7"/>
                  <a:stretch>
                    <a:fillRect b="-13115"/>
                  </a:stretch>
                </a:blipFill>
              </p:spPr>
              <p:txBody>
                <a:bodyPr/>
                <a:lstStyle/>
                <a:p>
                  <a:r>
                    <a:rPr lang="zh-CN" altLang="en-US">
                      <a:noFill/>
                    </a:rPr>
                    <a:t> </a:t>
                  </a:r>
                </a:p>
              </p:txBody>
            </p:sp>
          </mc:Fallback>
        </mc:AlternateContent>
        <p:cxnSp>
          <p:nvCxnSpPr>
            <p:cNvPr id="69" name="连接符: 肘形 68">
              <a:extLst>
                <a:ext uri="{FF2B5EF4-FFF2-40B4-BE49-F238E27FC236}">
                  <a16:creationId xmlns:a16="http://schemas.microsoft.com/office/drawing/2014/main" id="{F6362B6D-0D90-F16E-3F47-AC4D39DCB8C3}"/>
                </a:ext>
              </a:extLst>
            </p:cNvPr>
            <p:cNvCxnSpPr>
              <a:cxnSpLocks/>
              <a:stCxn id="67" idx="2"/>
              <a:endCxn id="89" idx="0"/>
            </p:cNvCxnSpPr>
            <p:nvPr/>
          </p:nvCxnSpPr>
          <p:spPr>
            <a:xfrm rot="5400000">
              <a:off x="1966463" y="3857330"/>
              <a:ext cx="317616" cy="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036DF3BA-6B3E-B0AC-86D7-9DFA6ADAA9B5}"/>
                </a:ext>
              </a:extLst>
            </p:cNvPr>
            <p:cNvCxnSpPr>
              <a:cxnSpLocks/>
              <a:stCxn id="66" idx="2"/>
              <a:endCxn id="89" idx="0"/>
            </p:cNvCxnSpPr>
            <p:nvPr/>
          </p:nvCxnSpPr>
          <p:spPr>
            <a:xfrm rot="16200000" flipH="1">
              <a:off x="1353704" y="3244574"/>
              <a:ext cx="323816" cy="121931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连接符: 肘形 79">
              <a:extLst>
                <a:ext uri="{FF2B5EF4-FFF2-40B4-BE49-F238E27FC236}">
                  <a16:creationId xmlns:a16="http://schemas.microsoft.com/office/drawing/2014/main" id="{97B164FA-F8E2-FCE4-43F2-5FBBF93DC98F}"/>
                </a:ext>
              </a:extLst>
            </p:cNvPr>
            <p:cNvCxnSpPr>
              <a:cxnSpLocks/>
              <a:stCxn id="68" idx="2"/>
              <a:endCxn id="89" idx="0"/>
            </p:cNvCxnSpPr>
            <p:nvPr/>
          </p:nvCxnSpPr>
          <p:spPr>
            <a:xfrm rot="5400000">
              <a:off x="2642298" y="3175295"/>
              <a:ext cx="323816" cy="135787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3E2AF276-93FB-4322-5411-888EDA2B2ED6}"/>
                    </a:ext>
                  </a:extLst>
                </p:cNvPr>
                <p:cNvSpPr txBox="1"/>
                <p:nvPr/>
              </p:nvSpPr>
              <p:spPr>
                <a:xfrm>
                  <a:off x="1716292" y="4896249"/>
                  <a:ext cx="823110" cy="378758"/>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m:t>
                        </m:r>
                      </m:oMath>
                    </m:oMathPara>
                  </a14:m>
                  <a:endParaRPr lang="zh-CN" altLang="en-US" dirty="0"/>
                </a:p>
              </p:txBody>
            </p:sp>
          </mc:Choice>
          <mc:Fallback xmlns="">
            <p:sp>
              <p:nvSpPr>
                <p:cNvPr id="87" name="文本框 86">
                  <a:extLst>
                    <a:ext uri="{FF2B5EF4-FFF2-40B4-BE49-F238E27FC236}">
                      <a16:creationId xmlns:a16="http://schemas.microsoft.com/office/drawing/2014/main" id="{3E2AF276-93FB-4322-5411-888EDA2B2ED6}"/>
                    </a:ext>
                  </a:extLst>
                </p:cNvPr>
                <p:cNvSpPr txBox="1">
                  <a:spLocks noRot="1" noChangeAspect="1" noMove="1" noResize="1" noEditPoints="1" noAdjustHandles="1" noChangeArrowheads="1" noChangeShapeType="1" noTextEdit="1"/>
                </p:cNvSpPr>
                <p:nvPr/>
              </p:nvSpPr>
              <p:spPr>
                <a:xfrm>
                  <a:off x="1716292" y="4896249"/>
                  <a:ext cx="823110" cy="378758"/>
                </a:xfrm>
                <a:prstGeom prst="rect">
                  <a:avLst/>
                </a:prstGeom>
                <a:blipFill>
                  <a:blip r:embed="rId8"/>
                  <a:stretch>
                    <a:fillRect t="-8065" r="-14815" b="-14516"/>
                  </a:stretch>
                </a:blipFill>
              </p:spPr>
              <p:txBody>
                <a:bodyPr/>
                <a:lstStyle/>
                <a:p>
                  <a:r>
                    <a:rPr lang="zh-CN" altLang="en-US">
                      <a:noFill/>
                    </a:rPr>
                    <a:t> </a:t>
                  </a:r>
                </a:p>
              </p:txBody>
            </p:sp>
          </mc:Fallback>
        </mc:AlternateContent>
        <p:grpSp>
          <p:nvGrpSpPr>
            <p:cNvPr id="88" name="组合 87">
              <a:extLst>
                <a:ext uri="{FF2B5EF4-FFF2-40B4-BE49-F238E27FC236}">
                  <a16:creationId xmlns:a16="http://schemas.microsoft.com/office/drawing/2014/main" id="{FED62E27-CB73-4C03-572F-7C84B4C977D4}"/>
                </a:ext>
              </a:extLst>
            </p:cNvPr>
            <p:cNvGrpSpPr/>
            <p:nvPr/>
          </p:nvGrpSpPr>
          <p:grpSpPr>
            <a:xfrm>
              <a:off x="1685214" y="4016139"/>
              <a:ext cx="880110" cy="880110"/>
              <a:chOff x="4085" y="4063"/>
              <a:chExt cx="1386" cy="1386"/>
            </a:xfrm>
          </p:grpSpPr>
          <p:pic>
            <p:nvPicPr>
              <p:cNvPr id="89" name="图形 397">
                <a:extLst>
                  <a:ext uri="{FF2B5EF4-FFF2-40B4-BE49-F238E27FC236}">
                    <a16:creationId xmlns:a16="http://schemas.microsoft.com/office/drawing/2014/main" id="{C751B42E-CCC0-97FE-8F6E-AF606A8D2F3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85" y="4063"/>
                <a:ext cx="1386" cy="1386"/>
              </a:xfrm>
              <a:prstGeom prst="rect">
                <a:avLst/>
              </a:prstGeom>
            </p:spPr>
          </p:pic>
          <p:pic>
            <p:nvPicPr>
              <p:cNvPr id="91" name="图片 31" descr="领带_fill">
                <a:extLst>
                  <a:ext uri="{FF2B5EF4-FFF2-40B4-BE49-F238E27FC236}">
                    <a16:creationId xmlns:a16="http://schemas.microsoft.com/office/drawing/2014/main" id="{2B166B9F-84E4-301C-6DB5-8B7EC517263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70" y="5000"/>
                <a:ext cx="417" cy="417"/>
              </a:xfrm>
              <a:prstGeom prst="rect">
                <a:avLst/>
              </a:prstGeom>
            </p:spPr>
          </p:pic>
        </p:grpSp>
        <p:pic>
          <p:nvPicPr>
            <p:cNvPr id="5" name="图形 4">
              <a:extLst>
                <a:ext uri="{FF2B5EF4-FFF2-40B4-BE49-F238E27FC236}">
                  <a16:creationId xmlns:a16="http://schemas.microsoft.com/office/drawing/2014/main" id="{3C4DDC08-E04D-EE36-5DB0-3BBFA28F84A5}"/>
                </a:ext>
              </a:extLst>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584300" y="2742013"/>
              <a:ext cx="584051" cy="576000"/>
            </a:xfrm>
            <a:prstGeom prst="rect">
              <a:avLst/>
            </a:prstGeom>
          </p:spPr>
        </p:pic>
        <p:pic>
          <p:nvPicPr>
            <p:cNvPr id="10" name="图形 9">
              <a:extLst>
                <a:ext uri="{FF2B5EF4-FFF2-40B4-BE49-F238E27FC236}">
                  <a16:creationId xmlns:a16="http://schemas.microsoft.com/office/drawing/2014/main" id="{81EA0FEB-7D96-48D0-64C7-0A0BD15B65B1}"/>
                </a:ext>
              </a:extLst>
            </p:cNvPr>
            <p:cNvPicPr>
              <a:picLocks noChangeAspect="1"/>
            </p:cNvPicPr>
            <p:nvPr/>
          </p:nvPicPr>
          <p:blipFill>
            <a:blip r:embed="rId8">
              <a:extLst>
                <a:ext uri="{96DAC541-7B7A-43D3-8B79-37D633B846F1}">
                  <asvg:svgBlip xmlns:asvg="http://schemas.microsoft.com/office/drawing/2016/SVG/main" r:embed="rId14"/>
                </a:ext>
              </a:extLst>
            </a:blip>
            <a:stretch>
              <a:fillRect/>
            </a:stretch>
          </p:blipFill>
          <p:spPr>
            <a:xfrm>
              <a:off x="3115495" y="2742013"/>
              <a:ext cx="576000" cy="576000"/>
            </a:xfrm>
            <a:prstGeom prst="rect">
              <a:avLst/>
            </a:prstGeom>
          </p:spPr>
        </p:pic>
        <p:sp>
          <p:nvSpPr>
            <p:cNvPr id="11" name="文本框 10">
              <a:extLst>
                <a:ext uri="{FF2B5EF4-FFF2-40B4-BE49-F238E27FC236}">
                  <a16:creationId xmlns:a16="http://schemas.microsoft.com/office/drawing/2014/main" id="{CBF1DD04-70F3-DFE9-0698-D9E946B56D57}"/>
                </a:ext>
              </a:extLst>
            </p:cNvPr>
            <p:cNvSpPr txBox="1"/>
            <p:nvPr/>
          </p:nvSpPr>
          <p:spPr>
            <a:xfrm>
              <a:off x="2615000" y="2866475"/>
              <a:ext cx="364202" cy="327077"/>
            </a:xfrm>
            <a:prstGeom prst="rect">
              <a:avLst/>
            </a:prstGeom>
            <a:noFill/>
          </p:spPr>
          <p:txBody>
            <a:bodyPr wrap="none" rtlCol="0" anchor="ctr">
              <a:spAutoFit/>
            </a:bodyPr>
            <a:lstStyle/>
            <a:p>
              <a:pPr algn="l">
                <a:lnSpc>
                  <a:spcPct val="120000"/>
                </a:lnSpc>
              </a:pPr>
              <a:r>
                <a:rPr lang="zh-CN" altLang="en-US" sz="1400" b="1" dirty="0">
                  <a:latin typeface="Arial" panose="020B0604020202020204"/>
                  <a:cs typeface="Arial" panose="020B0604020202020204"/>
                  <a:sym typeface="Arial" panose="020B0604020202020204"/>
                  <a:rtl val="0"/>
                </a:rPr>
                <a:t>…</a:t>
              </a:r>
            </a:p>
          </p:txBody>
        </p:sp>
        <p:pic>
          <p:nvPicPr>
            <p:cNvPr id="140" name="图片 139">
              <a:extLst>
                <a:ext uri="{FF2B5EF4-FFF2-40B4-BE49-F238E27FC236}">
                  <a16:creationId xmlns:a16="http://schemas.microsoft.com/office/drawing/2014/main" id="{E68C5FE2-FB3A-9E2A-DB61-A91E0A1CFCC1}"/>
                </a:ext>
              </a:extLst>
            </p:cNvPr>
            <p:cNvPicPr>
              <a:picLocks noChangeAspect="1"/>
            </p:cNvPicPr>
            <p:nvPr/>
          </p:nvPicPr>
          <p:blipFill>
            <a:blip r:embed="rId7"/>
            <a:stretch>
              <a:fillRect/>
            </a:stretch>
          </p:blipFill>
          <p:spPr>
            <a:xfrm>
              <a:off x="1885869" y="2772075"/>
              <a:ext cx="512108" cy="469433"/>
            </a:xfrm>
            <a:prstGeom prst="rect">
              <a:avLst/>
            </a:prstGeom>
          </p:spPr>
        </p:pic>
        <p:cxnSp>
          <p:nvCxnSpPr>
            <p:cNvPr id="158" name="直接箭头连接符 157">
              <a:extLst>
                <a:ext uri="{FF2B5EF4-FFF2-40B4-BE49-F238E27FC236}">
                  <a16:creationId xmlns:a16="http://schemas.microsoft.com/office/drawing/2014/main" id="{8A0906B4-5826-72AD-920B-2C805AE48F9A}"/>
                </a:ext>
              </a:extLst>
            </p:cNvPr>
            <p:cNvCxnSpPr>
              <a:cxnSpLocks/>
              <a:stCxn id="3" idx="2"/>
              <a:endCxn id="140" idx="0"/>
            </p:cNvCxnSpPr>
            <p:nvPr/>
          </p:nvCxnSpPr>
          <p:spPr>
            <a:xfrm>
              <a:off x="2137897" y="2411797"/>
              <a:ext cx="4026" cy="3602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0" name="图形 159">
              <a:extLst>
                <a:ext uri="{FF2B5EF4-FFF2-40B4-BE49-F238E27FC236}">
                  <a16:creationId xmlns:a16="http://schemas.microsoft.com/office/drawing/2014/main" id="{611267B7-671B-CA7B-F481-1666380750F8}"/>
                </a:ext>
              </a:extLst>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628469" y="5615888"/>
              <a:ext cx="584051" cy="576000"/>
            </a:xfrm>
            <a:prstGeom prst="rect">
              <a:avLst/>
            </a:prstGeom>
          </p:spPr>
        </p:pic>
        <p:pic>
          <p:nvPicPr>
            <p:cNvPr id="161" name="图形 160">
              <a:extLst>
                <a:ext uri="{FF2B5EF4-FFF2-40B4-BE49-F238E27FC236}">
                  <a16:creationId xmlns:a16="http://schemas.microsoft.com/office/drawing/2014/main" id="{3509AE22-CCDF-C74E-AF3C-08930604D82F}"/>
                </a:ext>
              </a:extLst>
            </p:cNvPr>
            <p:cNvPicPr>
              <a:picLocks noChangeAspect="1"/>
            </p:cNvPicPr>
            <p:nvPr/>
          </p:nvPicPr>
          <p:blipFill>
            <a:blip r:embed="rId8">
              <a:extLst>
                <a:ext uri="{96DAC541-7B7A-43D3-8B79-37D633B846F1}">
                  <asvg:svgBlip xmlns:asvg="http://schemas.microsoft.com/office/drawing/2016/SVG/main" r:embed="rId14"/>
                </a:ext>
              </a:extLst>
            </a:blip>
            <a:stretch>
              <a:fillRect/>
            </a:stretch>
          </p:blipFill>
          <p:spPr>
            <a:xfrm>
              <a:off x="3131219" y="5615888"/>
              <a:ext cx="576000" cy="576000"/>
            </a:xfrm>
            <a:prstGeom prst="rect">
              <a:avLst/>
            </a:prstGeom>
          </p:spPr>
        </p:pic>
        <p:pic>
          <p:nvPicPr>
            <p:cNvPr id="162" name="图片 161">
              <a:extLst>
                <a:ext uri="{FF2B5EF4-FFF2-40B4-BE49-F238E27FC236}">
                  <a16:creationId xmlns:a16="http://schemas.microsoft.com/office/drawing/2014/main" id="{B85A921F-6E9B-8D2A-C72F-C2348A61AD24}"/>
                </a:ext>
              </a:extLst>
            </p:cNvPr>
            <p:cNvPicPr>
              <a:picLocks noChangeAspect="1"/>
            </p:cNvPicPr>
            <p:nvPr/>
          </p:nvPicPr>
          <p:blipFill>
            <a:blip r:embed="rId7"/>
            <a:stretch>
              <a:fillRect/>
            </a:stretch>
          </p:blipFill>
          <p:spPr>
            <a:xfrm>
              <a:off x="1869215" y="5669171"/>
              <a:ext cx="512108" cy="469433"/>
            </a:xfrm>
            <a:prstGeom prst="rect">
              <a:avLst/>
            </a:prstGeom>
          </p:spPr>
        </p:pic>
        <p:cxnSp>
          <p:nvCxnSpPr>
            <p:cNvPr id="163" name="连接符: 肘形 162">
              <a:extLst>
                <a:ext uri="{FF2B5EF4-FFF2-40B4-BE49-F238E27FC236}">
                  <a16:creationId xmlns:a16="http://schemas.microsoft.com/office/drawing/2014/main" id="{432A4AF1-47B8-0261-B2CA-2722C59F113C}"/>
                </a:ext>
              </a:extLst>
            </p:cNvPr>
            <p:cNvCxnSpPr>
              <a:cxnSpLocks/>
              <a:stCxn id="87" idx="2"/>
              <a:endCxn id="160" idx="0"/>
            </p:cNvCxnSpPr>
            <p:nvPr/>
          </p:nvCxnSpPr>
          <p:spPr>
            <a:xfrm rot="5400000">
              <a:off x="1353731" y="4841771"/>
              <a:ext cx="340881" cy="1207352"/>
            </a:xfrm>
            <a:prstGeom prst="bentConnector3">
              <a:avLst>
                <a:gd name="adj1" fmla="val 6730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连接符: 肘形 168">
              <a:extLst>
                <a:ext uri="{FF2B5EF4-FFF2-40B4-BE49-F238E27FC236}">
                  <a16:creationId xmlns:a16="http://schemas.microsoft.com/office/drawing/2014/main" id="{03A311B4-AB29-7364-843D-23EA4565EF61}"/>
                </a:ext>
              </a:extLst>
            </p:cNvPr>
            <p:cNvCxnSpPr>
              <a:cxnSpLocks/>
              <a:stCxn id="87" idx="2"/>
              <a:endCxn id="161" idx="0"/>
            </p:cNvCxnSpPr>
            <p:nvPr/>
          </p:nvCxnSpPr>
          <p:spPr>
            <a:xfrm rot="16200000" flipH="1">
              <a:off x="2603093" y="4799761"/>
              <a:ext cx="340881" cy="1291372"/>
            </a:xfrm>
            <a:prstGeom prst="bentConnector3">
              <a:avLst>
                <a:gd name="adj1" fmla="val 6730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19F8AC38-E2FB-B32B-6C49-C2CE2D0513D0}"/>
                </a:ext>
              </a:extLst>
            </p:cNvPr>
            <p:cNvCxnSpPr>
              <a:cxnSpLocks/>
              <a:stCxn id="87" idx="2"/>
              <a:endCxn id="162" idx="0"/>
            </p:cNvCxnSpPr>
            <p:nvPr/>
          </p:nvCxnSpPr>
          <p:spPr>
            <a:xfrm flipH="1">
              <a:off x="2125269" y="5275007"/>
              <a:ext cx="2578" cy="3941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文本框 186">
              <a:extLst>
                <a:ext uri="{FF2B5EF4-FFF2-40B4-BE49-F238E27FC236}">
                  <a16:creationId xmlns:a16="http://schemas.microsoft.com/office/drawing/2014/main" id="{A57322AE-74E6-FDA7-78C7-FCF88BE9B96A}"/>
                </a:ext>
              </a:extLst>
            </p:cNvPr>
            <p:cNvSpPr txBox="1"/>
            <p:nvPr/>
          </p:nvSpPr>
          <p:spPr>
            <a:xfrm>
              <a:off x="2115083" y="5171193"/>
              <a:ext cx="1065805" cy="369332"/>
            </a:xfrm>
            <a:prstGeom prst="rect">
              <a:avLst/>
            </a:prstGeom>
            <a:noFill/>
          </p:spPr>
          <p:txBody>
            <a:bodyPr wrap="none" rtlCol="0">
              <a:spAutoFit/>
            </a:bodyPr>
            <a:lstStyle/>
            <a:p>
              <a:r>
                <a:rPr lang="en-US" altLang="zh-CN" i="1" dirty="0"/>
                <a:t>inference</a:t>
              </a:r>
              <a:endParaRPr lang="zh-CN" altLang="en-US" i="1" dirty="0"/>
            </a:p>
          </p:txBody>
        </p:sp>
      </p:grpSp>
      <p:grpSp>
        <p:nvGrpSpPr>
          <p:cNvPr id="197" name="组合 196">
            <a:extLst>
              <a:ext uri="{FF2B5EF4-FFF2-40B4-BE49-F238E27FC236}">
                <a16:creationId xmlns:a16="http://schemas.microsoft.com/office/drawing/2014/main" id="{884BD571-845C-86D2-3540-6D88627CFF20}"/>
              </a:ext>
            </a:extLst>
          </p:cNvPr>
          <p:cNvGrpSpPr/>
          <p:nvPr/>
        </p:nvGrpSpPr>
        <p:grpSpPr>
          <a:xfrm>
            <a:off x="4820067" y="2018808"/>
            <a:ext cx="7168733" cy="3810000"/>
            <a:chOff x="4718467" y="1649796"/>
            <a:chExt cx="7168733" cy="3810000"/>
          </a:xfrm>
        </p:grpSpPr>
        <p:sp>
          <p:nvSpPr>
            <p:cNvPr id="189" name="AutoShape 6">
              <a:extLst>
                <a:ext uri="{FF2B5EF4-FFF2-40B4-BE49-F238E27FC236}">
                  <a16:creationId xmlns:a16="http://schemas.microsoft.com/office/drawing/2014/main" id="{A594B977-677E-F419-EF54-E47032BA8EF0}"/>
                </a:ext>
              </a:extLst>
            </p:cNvPr>
            <p:cNvSpPr/>
            <p:nvPr/>
          </p:nvSpPr>
          <p:spPr>
            <a:xfrm>
              <a:off x="4718467" y="1649796"/>
              <a:ext cx="687965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1. </a:t>
              </a:r>
              <a:r>
                <a:rPr lang="en-US" sz="2000" b="1" i="0" u="none" strike="noStrike" dirty="0" err="1">
                  <a:solidFill>
                    <a:schemeClr val="tx1"/>
                  </a:solidFill>
                  <a:latin typeface="Noto Sans SC"/>
                  <a:ea typeface="Noto Sans SC"/>
                  <a:cs typeface="Noto Sans SC"/>
                  <a:sym typeface="Noto Sans SC"/>
                </a:rPr>
                <a:t>预训练模型</a:t>
              </a:r>
              <a:r>
                <a:rPr lang="en-US" sz="2000" b="1" i="0" u="none" strike="noStrike" dirty="0">
                  <a:solidFill>
                    <a:schemeClr val="tx1"/>
                  </a:solidFill>
                  <a:latin typeface="Noto Sans SC"/>
                  <a:ea typeface="Noto Sans SC"/>
                  <a:cs typeface="Noto Sans SC"/>
                  <a:sym typeface="Noto Sans SC"/>
                </a:rPr>
                <a:t> (Pre-trained Model)</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a:solidFill>
                    <a:schemeClr val="tx1"/>
                  </a:solidFill>
                  <a:latin typeface="Noto Sans SC"/>
                  <a:ea typeface="Noto Sans SC"/>
                  <a:cs typeface="Noto Sans SC"/>
                  <a:sym typeface="Noto Sans SC"/>
                </a:rPr>
                <a:t>以 CodeLlama</a:t>
              </a:r>
              <a:r>
                <a:rPr lang="en-US" sz="1800" dirty="0">
                  <a:solidFill>
                    <a:schemeClr val="tx1"/>
                  </a:solidFill>
                  <a:latin typeface="Noto Sans SC"/>
                  <a:ea typeface="Noto Sans SC"/>
                  <a:cs typeface="Noto Sans SC"/>
                  <a:sym typeface="Noto Sans SC"/>
                </a:rPr>
                <a:t>-7B</a:t>
              </a:r>
              <a:r>
                <a:rPr lang="en-US" sz="1800" b="0" i="0" u="none" strike="noStrike" dirty="0">
                  <a:solidFill>
                    <a:schemeClr val="tx1"/>
                  </a:solidFill>
                  <a:latin typeface="Noto Sans SC"/>
                  <a:ea typeface="Noto Sans SC"/>
                  <a:cs typeface="Noto Sans SC"/>
                  <a:sym typeface="Noto Sans SC"/>
                </a:rPr>
                <a:t>基座，作为所有任务微调的共享起点。</a:t>
              </a:r>
            </a:p>
          </p:txBody>
        </p:sp>
        <p:sp>
          <p:nvSpPr>
            <p:cNvPr id="191" name="AutoShape 8">
              <a:extLst>
                <a:ext uri="{FF2B5EF4-FFF2-40B4-BE49-F238E27FC236}">
                  <a16:creationId xmlns:a16="http://schemas.microsoft.com/office/drawing/2014/main" id="{50DB75F4-788A-1345-6C3B-3210D934BF90}"/>
                </a:ext>
              </a:extLst>
            </p:cNvPr>
            <p:cNvSpPr/>
            <p:nvPr/>
          </p:nvSpPr>
          <p:spPr>
            <a:xfrm>
              <a:off x="4718468" y="2665796"/>
              <a:ext cx="7168732"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2. </a:t>
              </a:r>
              <a:r>
                <a:rPr lang="en-US" sz="2000" b="1" i="0" u="none" strike="noStrike" dirty="0" err="1">
                  <a:solidFill>
                    <a:schemeClr val="tx1"/>
                  </a:solidFill>
                  <a:latin typeface="Noto Sans SC"/>
                  <a:ea typeface="Noto Sans SC"/>
                  <a:cs typeface="Noto Sans SC"/>
                  <a:sym typeface="Noto Sans SC"/>
                </a:rPr>
                <a:t>任务特定微调</a:t>
              </a:r>
              <a:r>
                <a:rPr lang="en-US" sz="2000" b="1" i="0" u="none" strike="noStrike" dirty="0">
                  <a:solidFill>
                    <a:schemeClr val="tx1"/>
                  </a:solidFill>
                  <a:latin typeface="Noto Sans SC"/>
                  <a:ea typeface="Noto Sans SC"/>
                  <a:cs typeface="Noto Sans SC"/>
                  <a:sym typeface="Noto Sans SC"/>
                </a:rPr>
                <a:t> (Fine-tuning)</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针对代码搜索、漏洞检测等任务，训练得到独立的</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LoRA</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低秩参数</a:t>
              </a:r>
              <a:r>
                <a:rPr lang="en-US" sz="1800" b="0" i="0" u="none" strike="noStrike" dirty="0">
                  <a:solidFill>
                    <a:schemeClr val="tx1"/>
                  </a:solidFill>
                  <a:latin typeface="Noto Sans SC"/>
                  <a:ea typeface="Noto Sans SC"/>
                  <a:cs typeface="Noto Sans SC"/>
                  <a:sym typeface="Noto Sans SC"/>
                </a:rPr>
                <a:t>。</a:t>
              </a:r>
            </a:p>
          </p:txBody>
        </p:sp>
        <p:sp>
          <p:nvSpPr>
            <p:cNvPr id="193" name="AutoShape 10">
              <a:extLst>
                <a:ext uri="{FF2B5EF4-FFF2-40B4-BE49-F238E27FC236}">
                  <a16:creationId xmlns:a16="http://schemas.microsoft.com/office/drawing/2014/main" id="{7F1350EC-7F0F-2855-FA9D-0E6DBE99D0D1}"/>
                </a:ext>
              </a:extLst>
            </p:cNvPr>
            <p:cNvSpPr/>
            <p:nvPr/>
          </p:nvSpPr>
          <p:spPr>
            <a:xfrm>
              <a:off x="4718468" y="3681796"/>
              <a:ext cx="687965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3. </a:t>
              </a:r>
              <a:r>
                <a:rPr lang="en-US" sz="2000" b="1" i="0" u="none" strike="noStrike" dirty="0" err="1">
                  <a:solidFill>
                    <a:schemeClr val="tx1"/>
                  </a:solidFill>
                  <a:latin typeface="Noto Sans SC"/>
                  <a:ea typeface="Noto Sans SC"/>
                  <a:cs typeface="Noto Sans SC"/>
                  <a:sym typeface="Noto Sans SC"/>
                </a:rPr>
                <a:t>模型融合</a:t>
              </a:r>
              <a:r>
                <a:rPr lang="en-US" sz="2000" b="1" i="0" u="none" strike="noStrike" dirty="0">
                  <a:solidFill>
                    <a:schemeClr val="tx1"/>
                  </a:solidFill>
                  <a:latin typeface="Noto Sans SC"/>
                  <a:ea typeface="Noto Sans SC"/>
                  <a:cs typeface="Noto Sans SC"/>
                  <a:sym typeface="Noto Sans SC"/>
                </a:rPr>
                <a:t> (Model Fusion)</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将多个任务的</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LoRA</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参数集合，通过融合算法合并为统一参数</a:t>
              </a:r>
              <a:r>
                <a:rPr lang="en-US" sz="1800" b="0" i="0" u="none" strike="noStrike" dirty="0">
                  <a:solidFill>
                    <a:schemeClr val="tx1"/>
                  </a:solidFill>
                  <a:latin typeface="Noto Sans SC"/>
                  <a:ea typeface="Noto Sans SC"/>
                  <a:cs typeface="Noto Sans SC"/>
                  <a:sym typeface="Noto Sans SC"/>
                </a:rPr>
                <a:t>。</a:t>
              </a:r>
            </a:p>
          </p:txBody>
        </p:sp>
        <p:sp>
          <p:nvSpPr>
            <p:cNvPr id="195" name="AutoShape 12">
              <a:extLst>
                <a:ext uri="{FF2B5EF4-FFF2-40B4-BE49-F238E27FC236}">
                  <a16:creationId xmlns:a16="http://schemas.microsoft.com/office/drawing/2014/main" id="{90BF7C56-0EB2-14B3-7ED2-26D464C83D72}"/>
                </a:ext>
              </a:extLst>
            </p:cNvPr>
            <p:cNvSpPr/>
            <p:nvPr/>
          </p:nvSpPr>
          <p:spPr>
            <a:xfrm>
              <a:off x="4718467" y="4697796"/>
              <a:ext cx="7168732"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4. </a:t>
              </a:r>
              <a:r>
                <a:rPr lang="en-US" sz="2000" b="1" i="0" u="none" strike="noStrike" dirty="0" err="1">
                  <a:solidFill>
                    <a:schemeClr val="tx1"/>
                  </a:solidFill>
                  <a:latin typeface="Noto Sans SC"/>
                  <a:ea typeface="Noto Sans SC"/>
                  <a:cs typeface="Noto Sans SC"/>
                  <a:sym typeface="Noto Sans SC"/>
                </a:rPr>
                <a:t>模型</a:t>
              </a:r>
              <a:r>
                <a:rPr lang="zh-CN" altLang="en-US" sz="2000" b="1" dirty="0">
                  <a:solidFill>
                    <a:schemeClr val="tx1"/>
                  </a:solidFill>
                  <a:latin typeface="Noto Sans SC"/>
                  <a:ea typeface="Noto Sans SC"/>
                  <a:cs typeface="Noto Sans SC"/>
                  <a:sym typeface="Noto Sans SC"/>
                </a:rPr>
                <a:t>推理</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融合后的参数加载回基座，得到可同时服务所有任务的统一模型</a:t>
              </a:r>
              <a:r>
                <a:rPr lang="en-US" sz="1800" b="0" i="0" u="none" strike="noStrike" dirty="0">
                  <a:solidFill>
                    <a:schemeClr val="tx1"/>
                  </a:solidFill>
                  <a:latin typeface="Noto Sans SC"/>
                  <a:ea typeface="Noto Sans SC"/>
                  <a:cs typeface="Noto Sans SC"/>
                  <a:sym typeface="Noto Sans SC"/>
                </a:rPr>
                <a:t>。</a:t>
              </a:r>
            </a:p>
          </p:txBody>
        </p:sp>
      </p:grpSp>
    </p:spTree>
    <p:extLst>
      <p:ext uri="{BB962C8B-B14F-4D97-AF65-F5344CB8AC3E}">
        <p14:creationId xmlns:p14="http://schemas.microsoft.com/office/powerpoint/2010/main" val="184240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42176-62B0-4CE0-E168-59EE709E2E30}"/>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5AB5F773-337D-54C9-03BE-B39201F8FF0F}"/>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F6F8577E-663B-2059-DCFB-B33D7EA93043}"/>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8A1C33AC-052A-3D80-05F1-34CA5B147CC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19B946DA-DCB1-5019-F24A-CF45507C667C}"/>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pic>
        <p:nvPicPr>
          <p:cNvPr id="5" name="图片 4">
            <a:extLst>
              <a:ext uri="{FF2B5EF4-FFF2-40B4-BE49-F238E27FC236}">
                <a16:creationId xmlns:a16="http://schemas.microsoft.com/office/drawing/2014/main" id="{080C4C95-F861-7BBB-A3F4-9378F3D30FEC}"/>
              </a:ext>
            </a:extLst>
          </p:cNvPr>
          <p:cNvPicPr>
            <a:picLocks noChangeAspect="1"/>
          </p:cNvPicPr>
          <p:nvPr/>
        </p:nvPicPr>
        <p:blipFill>
          <a:blip r:embed="rId3"/>
          <a:stretch>
            <a:fillRect/>
          </a:stretch>
        </p:blipFill>
        <p:spPr>
          <a:xfrm>
            <a:off x="727573" y="1157833"/>
            <a:ext cx="10736853" cy="1353138"/>
          </a:xfrm>
          <a:prstGeom prst="rect">
            <a:avLst/>
          </a:prstGeom>
        </p:spPr>
      </p:pic>
      <p:sp>
        <p:nvSpPr>
          <p:cNvPr id="6" name="Rectangle 1">
            <a:extLst>
              <a:ext uri="{FF2B5EF4-FFF2-40B4-BE49-F238E27FC236}">
                <a16:creationId xmlns:a16="http://schemas.microsoft.com/office/drawing/2014/main" id="{E2B95EAC-7A48-F6F2-9256-CEACF83F2798}"/>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7" name="组合 6">
            <a:extLst>
              <a:ext uri="{FF2B5EF4-FFF2-40B4-BE49-F238E27FC236}">
                <a16:creationId xmlns:a16="http://schemas.microsoft.com/office/drawing/2014/main" id="{72FAA3C7-ECA4-A9BC-8194-0CF41ECA2160}"/>
              </a:ext>
            </a:extLst>
          </p:cNvPr>
          <p:cNvGrpSpPr/>
          <p:nvPr/>
        </p:nvGrpSpPr>
        <p:grpSpPr>
          <a:xfrm>
            <a:off x="974432" y="3312566"/>
            <a:ext cx="2723196" cy="2387601"/>
            <a:chOff x="772482" y="1545527"/>
            <a:chExt cx="2292053" cy="1884366"/>
          </a:xfrm>
        </p:grpSpPr>
        <p:cxnSp>
          <p:nvCxnSpPr>
            <p:cNvPr id="8" name="直接箭头连接符 7">
              <a:extLst>
                <a:ext uri="{FF2B5EF4-FFF2-40B4-BE49-F238E27FC236}">
                  <a16:creationId xmlns:a16="http://schemas.microsoft.com/office/drawing/2014/main" id="{92EEB830-D779-BC80-579A-ECF151D09224}"/>
                </a:ext>
              </a:extLst>
            </p:cNvPr>
            <p:cNvCxnSpPr>
              <a:cxnSpLocks/>
            </p:cNvCxnSpPr>
            <p:nvPr/>
          </p:nvCxnSpPr>
          <p:spPr>
            <a:xfrm flipV="1">
              <a:off x="1274974" y="1545527"/>
              <a:ext cx="643534" cy="846601"/>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16B0B4B5-8448-4C57-B8A5-DF6AF68762EF}"/>
                </a:ext>
              </a:extLst>
            </p:cNvPr>
            <p:cNvCxnSpPr>
              <a:cxnSpLocks/>
            </p:cNvCxnSpPr>
            <p:nvPr/>
          </p:nvCxnSpPr>
          <p:spPr>
            <a:xfrm>
              <a:off x="1274974" y="2392128"/>
              <a:ext cx="1094596" cy="179267"/>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sp>
          <p:nvSpPr>
            <p:cNvPr id="11" name="椭圆 10">
              <a:extLst>
                <a:ext uri="{FF2B5EF4-FFF2-40B4-BE49-F238E27FC236}">
                  <a16:creationId xmlns:a16="http://schemas.microsoft.com/office/drawing/2014/main" id="{8C9FB764-F213-8FB0-25BB-D587D6BB0544}"/>
                </a:ext>
              </a:extLst>
            </p:cNvPr>
            <p:cNvSpPr/>
            <p:nvPr/>
          </p:nvSpPr>
          <p:spPr>
            <a:xfrm rot="1274678">
              <a:off x="1016474" y="2311593"/>
              <a:ext cx="270000" cy="269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0EE2E1D-0A55-7911-B99B-D4085C5C3951}"/>
                    </a:ext>
                  </a:extLst>
                </p:cNvPr>
                <p:cNvSpPr txBox="1"/>
                <p:nvPr/>
              </p:nvSpPr>
              <p:spPr>
                <a:xfrm>
                  <a:off x="973735" y="1609674"/>
                  <a:ext cx="701740" cy="26719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12" name="文本框 11">
                  <a:extLst>
                    <a:ext uri="{FF2B5EF4-FFF2-40B4-BE49-F238E27FC236}">
                      <a16:creationId xmlns:a16="http://schemas.microsoft.com/office/drawing/2014/main" id="{C0EE2E1D-0A55-7911-B99B-D4085C5C3951}"/>
                    </a:ext>
                  </a:extLst>
                </p:cNvPr>
                <p:cNvSpPr txBox="1">
                  <a:spLocks noRot="1" noChangeAspect="1" noMove="1" noResize="1" noEditPoints="1" noAdjustHandles="1" noChangeArrowheads="1" noChangeShapeType="1" noTextEdit="1"/>
                </p:cNvSpPr>
                <p:nvPr/>
              </p:nvSpPr>
              <p:spPr>
                <a:xfrm>
                  <a:off x="973735" y="1609674"/>
                  <a:ext cx="701740" cy="267197"/>
                </a:xfrm>
                <a:prstGeom prst="rect">
                  <a:avLst/>
                </a:prstGeom>
                <a:blipFill>
                  <a:blip r:embed="rId4"/>
                  <a:stretch>
                    <a:fillRect r="-3650" b="-10909"/>
                  </a:stretch>
                </a:blipFill>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636F9B57-30D3-57FD-DECA-5F6836CBAE5C}"/>
                </a:ext>
              </a:extLst>
            </p:cNvPr>
            <p:cNvCxnSpPr>
              <a:cxnSpLocks/>
              <a:stCxn id="11" idx="7"/>
            </p:cNvCxnSpPr>
            <p:nvPr/>
          </p:nvCxnSpPr>
          <p:spPr>
            <a:xfrm flipV="1">
              <a:off x="1274974" y="1752522"/>
              <a:ext cx="1718414" cy="639606"/>
            </a:xfrm>
            <a:prstGeom prst="straightConnector1">
              <a:avLst/>
            </a:prstGeom>
            <a:ln w="38100">
              <a:solidFill>
                <a:srgbClr val="1AE43C">
                  <a:alpha val="40000"/>
                </a:srgbClr>
              </a:solidFill>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A443316-DD55-E402-C13A-8F2DE5DE1125}"/>
                    </a:ext>
                  </a:extLst>
                </p:cNvPr>
                <p:cNvSpPr txBox="1"/>
                <p:nvPr/>
              </p:nvSpPr>
              <p:spPr>
                <a:xfrm>
                  <a:off x="772482" y="2790138"/>
                  <a:ext cx="2292053" cy="63975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𝐴</m:t>
                            </m:r>
                          </m:e>
                        </m:acc>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𝛼</m:t>
                        </m:r>
                        <m:nary>
                          <m:naryPr>
                            <m:chr m:val="∑"/>
                            <m:ctrlPr>
                              <a:rPr lang="en-US" altLang="zh-CN" sz="1600" b="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=0</m:t>
                            </m:r>
                          </m:sub>
                          <m:sup>
                            <m:r>
                              <a:rPr lang="en-US" altLang="zh-CN" sz="1600" b="0" i="1" smtClean="0">
                                <a:latin typeface="Cambria Math" panose="02040503050406030204" pitchFamily="18" charset="0"/>
                              </a:rPr>
                              <m:t>𝑁</m:t>
                            </m:r>
                          </m:sup>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𝑖</m:t>
                                </m:r>
                              </m:sub>
                            </m:sSub>
                          </m:e>
                        </m:nary>
                        <m:r>
                          <a:rPr lang="en-US" altLang="zh-CN" sz="1600" b="0" i="1" smtClean="0">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b="0" i="1" smtClean="0">
                                <a:latin typeface="Cambria Math" panose="02040503050406030204" pitchFamily="18" charset="0"/>
                              </a:rPr>
                              <m:t>𝐵</m:t>
                            </m:r>
                          </m:e>
                        </m:acc>
                        <m:r>
                          <a:rPr lang="en-US" altLang="zh-CN" sz="1600" i="1">
                            <a:latin typeface="Cambria Math" panose="02040503050406030204" pitchFamily="18" charset="0"/>
                          </a:rPr>
                          <m:t>=</m:t>
                        </m:r>
                        <m:r>
                          <a:rPr lang="en-US" altLang="zh-CN" sz="1600" i="1">
                            <a:latin typeface="Cambria Math" panose="02040503050406030204" pitchFamily="18" charset="0"/>
                          </a:rPr>
                          <m:t>𝛼</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𝑖</m:t>
                            </m:r>
                            <m:r>
                              <a:rPr lang="en-US" altLang="zh-CN" sz="1600" i="1">
                                <a:latin typeface="Cambria Math" panose="02040503050406030204" pitchFamily="18" charset="0"/>
                              </a:rPr>
                              <m:t>=0</m:t>
                            </m:r>
                          </m:sub>
                          <m:sup>
                            <m:r>
                              <a:rPr lang="en-US" altLang="zh-CN" sz="1600" i="1">
                                <a:latin typeface="Cambria Math" panose="02040503050406030204" pitchFamily="18" charset="0"/>
                              </a:rPr>
                              <m:t>𝑁</m:t>
                            </m:r>
                          </m:sup>
                          <m:e>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i="1">
                                    <a:latin typeface="Cambria Math" panose="02040503050406030204" pitchFamily="18" charset="0"/>
                                  </a:rPr>
                                  <m:t>𝑖</m:t>
                                </m:r>
                              </m:sub>
                            </m:sSub>
                          </m:e>
                        </m:nary>
                      </m:oMath>
                    </m:oMathPara>
                  </a14:m>
                  <a:endParaRPr lang="zh-CN" altLang="en-US" sz="1600" dirty="0"/>
                </a:p>
              </p:txBody>
            </p:sp>
          </mc:Choice>
          <mc:Fallback xmlns="">
            <p:sp>
              <p:nvSpPr>
                <p:cNvPr id="15" name="文本框 14">
                  <a:extLst>
                    <a:ext uri="{FF2B5EF4-FFF2-40B4-BE49-F238E27FC236}">
                      <a16:creationId xmlns:a16="http://schemas.microsoft.com/office/drawing/2014/main" id="{7A443316-DD55-E402-C13A-8F2DE5DE1125}"/>
                    </a:ext>
                  </a:extLst>
                </p:cNvPr>
                <p:cNvSpPr txBox="1">
                  <a:spLocks noRot="1" noChangeAspect="1" noMove="1" noResize="1" noEditPoints="1" noAdjustHandles="1" noChangeArrowheads="1" noChangeShapeType="1" noTextEdit="1"/>
                </p:cNvSpPr>
                <p:nvPr/>
              </p:nvSpPr>
              <p:spPr>
                <a:xfrm>
                  <a:off x="772482" y="2790138"/>
                  <a:ext cx="2292053" cy="639755"/>
                </a:xfrm>
                <a:prstGeom prst="rect">
                  <a:avLst/>
                </a:prstGeom>
                <a:blipFill>
                  <a:blip r:embed="rId5"/>
                  <a:stretch>
                    <a:fillRect/>
                  </a:stretch>
                </a:blipFill>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7BF61BFF-B1B3-4CC1-7133-49C657F66FD9}"/>
                </a:ext>
              </a:extLst>
            </p:cNvPr>
            <p:cNvCxnSpPr>
              <a:cxnSpLocks/>
            </p:cNvCxnSpPr>
            <p:nvPr/>
          </p:nvCxnSpPr>
          <p:spPr>
            <a:xfrm>
              <a:off x="1904352" y="1573255"/>
              <a:ext cx="1094596" cy="179267"/>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17" name="直接箭头连接符 16">
              <a:extLst>
                <a:ext uri="{FF2B5EF4-FFF2-40B4-BE49-F238E27FC236}">
                  <a16:creationId xmlns:a16="http://schemas.microsoft.com/office/drawing/2014/main" id="{60797471-7717-9682-3952-91CDDD3FE539}"/>
                </a:ext>
              </a:extLst>
            </p:cNvPr>
            <p:cNvCxnSpPr>
              <a:cxnSpLocks/>
            </p:cNvCxnSpPr>
            <p:nvPr/>
          </p:nvCxnSpPr>
          <p:spPr>
            <a:xfrm flipV="1">
              <a:off x="2349854" y="1757294"/>
              <a:ext cx="643534" cy="846601"/>
            </a:xfrm>
            <a:prstGeom prst="straightConnector1">
              <a:avLst/>
            </a:prstGeom>
            <a:ln w="38100">
              <a:solidFill>
                <a:srgbClr val="00B0F0">
                  <a:alpha val="45098"/>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279D06C5-99E9-F6AD-3387-66155CCE54A2}"/>
                </a:ext>
              </a:extLst>
            </p:cNvPr>
            <p:cNvCxnSpPr>
              <a:cxnSpLocks/>
              <a:stCxn id="11" idx="7"/>
            </p:cNvCxnSpPr>
            <p:nvPr/>
          </p:nvCxnSpPr>
          <p:spPr>
            <a:xfrm flipV="1">
              <a:off x="1274974" y="1973835"/>
              <a:ext cx="1094596" cy="418293"/>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3598264-0995-2ECB-BB5D-56303C112D82}"/>
                  </a:ext>
                </a:extLst>
              </p:cNvPr>
              <p:cNvSpPr txBox="1"/>
              <p:nvPr/>
            </p:nvSpPr>
            <p:spPr>
              <a:xfrm>
                <a:off x="1731692" y="4527427"/>
                <a:ext cx="833740" cy="338554"/>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22" name="文本框 21">
                <a:extLst>
                  <a:ext uri="{FF2B5EF4-FFF2-40B4-BE49-F238E27FC236}">
                    <a16:creationId xmlns:a16="http://schemas.microsoft.com/office/drawing/2014/main" id="{D3598264-0995-2ECB-BB5D-56303C112D82}"/>
                  </a:ext>
                </a:extLst>
              </p:cNvPr>
              <p:cNvSpPr txBox="1">
                <a:spLocks noRot="1" noChangeAspect="1" noMove="1" noResize="1" noEditPoints="1" noAdjustHandles="1" noChangeArrowheads="1" noChangeShapeType="1" noTextEdit="1"/>
              </p:cNvSpPr>
              <p:nvPr/>
            </p:nvSpPr>
            <p:spPr>
              <a:xfrm>
                <a:off x="1731692" y="4527427"/>
                <a:ext cx="833740" cy="338554"/>
              </a:xfrm>
              <a:prstGeom prst="rect">
                <a:avLst/>
              </a:prstGeom>
              <a:blipFill>
                <a:blip r:embed="rId6"/>
                <a:stretch>
                  <a:fillRect r="-5109" b="-10909"/>
                </a:stretch>
              </a:blipFill>
            </p:spPr>
            <p:txBody>
              <a:bodyPr/>
              <a:lstStyle/>
              <a:p>
                <a:r>
                  <a:rPr lang="zh-CN" altLang="en-US">
                    <a:noFill/>
                  </a:rPr>
                  <a:t> </a:t>
                </a:r>
              </a:p>
            </p:txBody>
          </p:sp>
        </mc:Fallback>
      </mc:AlternateContent>
      <p:sp>
        <p:nvSpPr>
          <p:cNvPr id="23" name="Rectangle 1">
            <a:extLst>
              <a:ext uri="{FF2B5EF4-FFF2-40B4-BE49-F238E27FC236}">
                <a16:creationId xmlns:a16="http://schemas.microsoft.com/office/drawing/2014/main" id="{C5D649EB-F3F9-7B38-91ED-F38E89ECE9D8}"/>
              </a:ext>
            </a:extLst>
          </p:cNvPr>
          <p:cNvSpPr>
            <a:spLocks noChangeArrowheads="1"/>
          </p:cNvSpPr>
          <p:nvPr/>
        </p:nvSpPr>
        <p:spPr bwMode="auto">
          <a:xfrm>
            <a:off x="321565" y="2517604"/>
            <a:ext cx="32757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Task Arithmetic</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206D99B9-0366-DA5A-3F4C-7060F7D046EC}"/>
              </a:ext>
            </a:extLst>
          </p:cNvPr>
          <p:cNvSpPr txBox="1"/>
          <p:nvPr/>
        </p:nvSpPr>
        <p:spPr>
          <a:xfrm>
            <a:off x="4084371" y="3865707"/>
            <a:ext cx="6501055" cy="661720"/>
          </a:xfrm>
          <a:prstGeom prst="rect">
            <a:avLst/>
          </a:prstGeom>
          <a:noFill/>
        </p:spPr>
        <p:txBody>
          <a:bodyPr wrap="square">
            <a:spAutoFit/>
          </a:bodyPr>
          <a:lstStyle/>
          <a:p>
            <a:pPr marL="285750" indent="-285750">
              <a:buFont typeface="Arial" panose="020B0604020202020204" pitchFamily="34" charset="0"/>
              <a:buChar char="•"/>
            </a:pPr>
            <a:r>
              <a:rPr lang="zh-CN" altLang="en-US" sz="1600" dirty="0">
                <a:latin typeface="Noto Sans SC"/>
                <a:ea typeface="Noto Sans SC"/>
                <a:sym typeface="Noto Sans SC"/>
              </a:rPr>
              <a:t>将</a:t>
            </a:r>
            <a:r>
              <a:rPr lang="en-US" altLang="zh-CN" sz="1600" dirty="0">
                <a:latin typeface="Noto Sans SC"/>
                <a:ea typeface="Noto Sans SC"/>
                <a:sym typeface="Noto Sans SC"/>
              </a:rPr>
              <a:t>Lora</a:t>
            </a:r>
            <a:r>
              <a:rPr lang="zh-CN" altLang="en-US" sz="1600" dirty="0">
                <a:latin typeface="Noto Sans SC"/>
                <a:ea typeface="Noto Sans SC"/>
                <a:sym typeface="Noto Sans SC"/>
              </a:rPr>
              <a:t>参数视为任务向量</a:t>
            </a:r>
            <a:endParaRPr lang="en-US" altLang="zh-CN" sz="1600" dirty="0">
              <a:latin typeface="Noto Sans SC"/>
              <a:ea typeface="Noto Sans SC"/>
              <a:sym typeface="Noto Sans SC"/>
            </a:endParaRPr>
          </a:p>
          <a:p>
            <a:pPr marL="285750" indent="-285750">
              <a:spcBef>
                <a:spcPts val="600"/>
              </a:spcBef>
              <a:buFont typeface="Arial" panose="020B0604020202020204" pitchFamily="34" charset="0"/>
              <a:buChar char="•"/>
            </a:pPr>
            <a:r>
              <a:rPr lang="zh-CN" altLang="en-US" sz="1600" dirty="0">
                <a:latin typeface="Noto Sans SC"/>
                <a:ea typeface="Noto Sans SC"/>
              </a:rPr>
              <a:t>将不同任务的任务向量相加并与一个融合系数相乘得到融合参数</a:t>
            </a:r>
          </a:p>
        </p:txBody>
      </p:sp>
    </p:spTree>
    <p:extLst>
      <p:ext uri="{BB962C8B-B14F-4D97-AF65-F5344CB8AC3E}">
        <p14:creationId xmlns:p14="http://schemas.microsoft.com/office/powerpoint/2010/main" val="298078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442CD-57F7-40BC-C1D1-C773890ECAD3}"/>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A7793557-2060-4BEE-1631-DA68786B4D8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F172440D-804A-1E2E-1144-E822CBD8F0F7}"/>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B8735488-39A1-8D13-07E6-118C31B6A00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0712FC2-94A8-CB4E-DEB0-73CF499CBB72}"/>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pic>
        <p:nvPicPr>
          <p:cNvPr id="5" name="图片 4">
            <a:extLst>
              <a:ext uri="{FF2B5EF4-FFF2-40B4-BE49-F238E27FC236}">
                <a16:creationId xmlns:a16="http://schemas.microsoft.com/office/drawing/2014/main" id="{080AB6D4-BAD1-1CCC-CC0B-07D8E4368326}"/>
              </a:ext>
            </a:extLst>
          </p:cNvPr>
          <p:cNvPicPr>
            <a:picLocks noChangeAspect="1"/>
          </p:cNvPicPr>
          <p:nvPr/>
        </p:nvPicPr>
        <p:blipFill>
          <a:blip r:embed="rId3"/>
          <a:stretch>
            <a:fillRect/>
          </a:stretch>
        </p:blipFill>
        <p:spPr>
          <a:xfrm>
            <a:off x="727573" y="1157833"/>
            <a:ext cx="10736853" cy="1353138"/>
          </a:xfrm>
          <a:prstGeom prst="rect">
            <a:avLst/>
          </a:prstGeom>
        </p:spPr>
      </p:pic>
      <p:sp>
        <p:nvSpPr>
          <p:cNvPr id="6" name="Rectangle 1">
            <a:extLst>
              <a:ext uri="{FF2B5EF4-FFF2-40B4-BE49-F238E27FC236}">
                <a16:creationId xmlns:a16="http://schemas.microsoft.com/office/drawing/2014/main" id="{BC7107D0-F035-5828-2C18-AABB55DB7C27}"/>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
            <a:extLst>
              <a:ext uri="{FF2B5EF4-FFF2-40B4-BE49-F238E27FC236}">
                <a16:creationId xmlns:a16="http://schemas.microsoft.com/office/drawing/2014/main" id="{A55A90EB-799F-99F0-294C-98C3E97A7EF5}"/>
              </a:ext>
            </a:extLst>
          </p:cNvPr>
          <p:cNvSpPr>
            <a:spLocks noChangeArrowheads="1"/>
          </p:cNvSpPr>
          <p:nvPr/>
        </p:nvSpPr>
        <p:spPr bwMode="auto">
          <a:xfrm>
            <a:off x="321565" y="2517604"/>
            <a:ext cx="32757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Ties-Merging</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nvGrpSpPr>
          <p:cNvPr id="2" name="组合 1">
            <a:extLst>
              <a:ext uri="{FF2B5EF4-FFF2-40B4-BE49-F238E27FC236}">
                <a16:creationId xmlns:a16="http://schemas.microsoft.com/office/drawing/2014/main" id="{F76AB143-E3C9-0C22-D793-C5C0D2C488CB}"/>
              </a:ext>
            </a:extLst>
          </p:cNvPr>
          <p:cNvGrpSpPr/>
          <p:nvPr/>
        </p:nvGrpSpPr>
        <p:grpSpPr>
          <a:xfrm>
            <a:off x="1540373" y="3071415"/>
            <a:ext cx="3822775" cy="1888618"/>
            <a:chOff x="4782312" y="5403183"/>
            <a:chExt cx="3306071" cy="1098618"/>
          </a:xfrm>
        </p:grpSpPr>
        <p:sp>
          <p:nvSpPr>
            <p:cNvPr id="3" name="文本框 2">
              <a:extLst>
                <a:ext uri="{FF2B5EF4-FFF2-40B4-BE49-F238E27FC236}">
                  <a16:creationId xmlns:a16="http://schemas.microsoft.com/office/drawing/2014/main" id="{2A903F5F-2E2E-5EC0-F96D-35A39932DB41}"/>
                </a:ext>
              </a:extLst>
            </p:cNvPr>
            <p:cNvSpPr txBox="1"/>
            <p:nvPr/>
          </p:nvSpPr>
          <p:spPr>
            <a:xfrm>
              <a:off x="4782312" y="6302199"/>
              <a:ext cx="765300" cy="199602"/>
            </a:xfrm>
            <a:prstGeom prst="rect">
              <a:avLst/>
            </a:prstGeom>
            <a:noFill/>
          </p:spPr>
          <p:txBody>
            <a:bodyPr wrap="square">
              <a:spAutoFit/>
            </a:bodyPr>
            <a:lstStyle/>
            <a:p>
              <a:pPr algn="ctr"/>
              <a:r>
                <a:rPr lang="zh-CN" altLang="en-US" sz="1200" b="1" dirty="0">
                  <a:latin typeface="+mn-ea"/>
                </a:rPr>
                <a:t>正常</a:t>
              </a:r>
              <a:endParaRPr lang="zh-CN" altLang="en-US" sz="1200" b="1" dirty="0"/>
            </a:p>
          </p:txBody>
        </p:sp>
        <p:grpSp>
          <p:nvGrpSpPr>
            <p:cNvPr id="4" name="组合 3">
              <a:extLst>
                <a:ext uri="{FF2B5EF4-FFF2-40B4-BE49-F238E27FC236}">
                  <a16:creationId xmlns:a16="http://schemas.microsoft.com/office/drawing/2014/main" id="{26A3DF13-F00C-0C7D-AAAA-A18F2EF9376F}"/>
                </a:ext>
              </a:extLst>
            </p:cNvPr>
            <p:cNvGrpSpPr/>
            <p:nvPr/>
          </p:nvGrpSpPr>
          <p:grpSpPr>
            <a:xfrm>
              <a:off x="5765328" y="5645780"/>
              <a:ext cx="945453" cy="656419"/>
              <a:chOff x="5919300" y="5447201"/>
              <a:chExt cx="945453" cy="656419"/>
            </a:xfrm>
          </p:grpSpPr>
          <p:cxnSp>
            <p:nvCxnSpPr>
              <p:cNvPr id="41" name="直接箭头连接符 40">
                <a:extLst>
                  <a:ext uri="{FF2B5EF4-FFF2-40B4-BE49-F238E27FC236}">
                    <a16:creationId xmlns:a16="http://schemas.microsoft.com/office/drawing/2014/main" id="{E8BD6D0A-6CEA-8DAF-E83D-8C17F3E1AFE3}"/>
                  </a:ext>
                </a:extLst>
              </p:cNvPr>
              <p:cNvCxnSpPr>
                <a:cxnSpLocks/>
              </p:cNvCxnSpPr>
              <p:nvPr/>
            </p:nvCxnSpPr>
            <p:spPr>
              <a:xfrm>
                <a:off x="6864753" y="5784099"/>
                <a:ext cx="0" cy="104279"/>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a:extLst>
                  <a:ext uri="{FF2B5EF4-FFF2-40B4-BE49-F238E27FC236}">
                    <a16:creationId xmlns:a16="http://schemas.microsoft.com/office/drawing/2014/main" id="{5BBDD2AD-59D2-CC06-FBD5-69F7E2464BBB}"/>
                  </a:ext>
                </a:extLst>
              </p:cNvPr>
              <p:cNvCxnSpPr>
                <a:cxnSpLocks/>
              </p:cNvCxnSpPr>
              <p:nvPr/>
            </p:nvCxnSpPr>
            <p:spPr>
              <a:xfrm flipV="1">
                <a:off x="5919300" y="5447201"/>
                <a:ext cx="0" cy="336897"/>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77E8F07B-6E9C-7AFB-8100-2A6DD7C451CD}"/>
                  </a:ext>
                </a:extLst>
              </p:cNvPr>
              <p:cNvCxnSpPr>
                <a:cxnSpLocks/>
              </p:cNvCxnSpPr>
              <p:nvPr/>
            </p:nvCxnSpPr>
            <p:spPr>
              <a:xfrm>
                <a:off x="6743998" y="5784098"/>
                <a:ext cx="0" cy="31952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nvGrpSpPr>
            <p:cNvPr id="10" name="组合 9">
              <a:extLst>
                <a:ext uri="{FF2B5EF4-FFF2-40B4-BE49-F238E27FC236}">
                  <a16:creationId xmlns:a16="http://schemas.microsoft.com/office/drawing/2014/main" id="{C2C5EE63-6D13-2504-7009-C96221184F12}"/>
                </a:ext>
              </a:extLst>
            </p:cNvPr>
            <p:cNvGrpSpPr/>
            <p:nvPr/>
          </p:nvGrpSpPr>
          <p:grpSpPr>
            <a:xfrm>
              <a:off x="5061455" y="5559831"/>
              <a:ext cx="263353" cy="422846"/>
              <a:chOff x="5223047" y="5361252"/>
              <a:chExt cx="263353" cy="422846"/>
            </a:xfrm>
          </p:grpSpPr>
          <p:cxnSp>
            <p:nvCxnSpPr>
              <p:cNvPr id="38" name="直接箭头连接符 37">
                <a:extLst>
                  <a:ext uri="{FF2B5EF4-FFF2-40B4-BE49-F238E27FC236}">
                    <a16:creationId xmlns:a16="http://schemas.microsoft.com/office/drawing/2014/main" id="{53AA919C-A338-E622-755A-F08EF4B652B5}"/>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a:extLst>
                  <a:ext uri="{FF2B5EF4-FFF2-40B4-BE49-F238E27FC236}">
                    <a16:creationId xmlns:a16="http://schemas.microsoft.com/office/drawing/2014/main" id="{65FB7B0B-FAB3-3A1E-52B7-AA73AD7A407B}"/>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14A3AE66-CFDC-4C4C-414C-F6BEA3CF1D6F}"/>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13" name="组合 12">
              <a:extLst>
                <a:ext uri="{FF2B5EF4-FFF2-40B4-BE49-F238E27FC236}">
                  <a16:creationId xmlns:a16="http://schemas.microsoft.com/office/drawing/2014/main" id="{7CBDBBB7-6B39-D5D8-EC18-B548E48B3C37}"/>
                </a:ext>
              </a:extLst>
            </p:cNvPr>
            <p:cNvGrpSpPr/>
            <p:nvPr/>
          </p:nvGrpSpPr>
          <p:grpSpPr>
            <a:xfrm>
              <a:off x="5927005" y="5683078"/>
              <a:ext cx="524123" cy="299599"/>
              <a:chOff x="6088597" y="5484499"/>
              <a:chExt cx="524123" cy="299599"/>
            </a:xfrm>
          </p:grpSpPr>
          <p:cxnSp>
            <p:nvCxnSpPr>
              <p:cNvPr id="35" name="直接箭头连接符 34">
                <a:extLst>
                  <a:ext uri="{FF2B5EF4-FFF2-40B4-BE49-F238E27FC236}">
                    <a16:creationId xmlns:a16="http://schemas.microsoft.com/office/drawing/2014/main" id="{7B2EE9EE-0E72-EDB4-09F3-06BDF3BE89CC}"/>
                  </a:ext>
                </a:extLst>
              </p:cNvPr>
              <p:cNvCxnSpPr>
                <a:cxnSpLocks/>
              </p:cNvCxnSpPr>
              <p:nvPr/>
            </p:nvCxnSpPr>
            <p:spPr>
              <a:xfrm flipV="1">
                <a:off x="6612720" y="5484499"/>
                <a:ext cx="0" cy="283271"/>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F1BFA7AF-466C-0B20-1DF0-7294EC2DE0C6}"/>
                  </a:ext>
                </a:extLst>
              </p:cNvPr>
              <p:cNvCxnSpPr>
                <a:cxnSpLocks/>
              </p:cNvCxnSpPr>
              <p:nvPr/>
            </p:nvCxnSpPr>
            <p:spPr>
              <a:xfrm flipV="1">
                <a:off x="6088597" y="5686551"/>
                <a:ext cx="0" cy="97547"/>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a:extLst>
                  <a:ext uri="{FF2B5EF4-FFF2-40B4-BE49-F238E27FC236}">
                    <a16:creationId xmlns:a16="http://schemas.microsoft.com/office/drawing/2014/main" id="{58BF6642-F8BB-2D25-297B-29E2E97C4615}"/>
                  </a:ext>
                </a:extLst>
              </p:cNvPr>
              <p:cNvCxnSpPr>
                <a:cxnSpLocks/>
              </p:cNvCxnSpPr>
              <p:nvPr/>
            </p:nvCxnSpPr>
            <p:spPr>
              <a:xfrm flipV="1">
                <a:off x="6240595" y="5579455"/>
                <a:ext cx="0" cy="195096"/>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24" name="直接连接符 23">
              <a:extLst>
                <a:ext uri="{FF2B5EF4-FFF2-40B4-BE49-F238E27FC236}">
                  <a16:creationId xmlns:a16="http://schemas.microsoft.com/office/drawing/2014/main" id="{7D7AC7CE-9306-A1C7-5547-E0BFA9CB1F75}"/>
                </a:ext>
              </a:extLst>
            </p:cNvPr>
            <p:cNvCxnSpPr>
              <a:cxnSpLocks/>
            </p:cNvCxnSpPr>
            <p:nvPr/>
          </p:nvCxnSpPr>
          <p:spPr>
            <a:xfrm>
              <a:off x="4794456" y="5982677"/>
              <a:ext cx="2057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70592D5D-5F32-EF7F-AAC5-376A9CCE3B65}"/>
                </a:ext>
              </a:extLst>
            </p:cNvPr>
            <p:cNvSpPr txBox="1"/>
            <p:nvPr/>
          </p:nvSpPr>
          <p:spPr>
            <a:xfrm>
              <a:off x="5402880" y="6302199"/>
              <a:ext cx="1048248" cy="161132"/>
            </a:xfrm>
            <a:prstGeom prst="rect">
              <a:avLst/>
            </a:prstGeom>
            <a:noFill/>
          </p:spPr>
          <p:txBody>
            <a:bodyPr wrap="square">
              <a:spAutoFit/>
            </a:bodyPr>
            <a:lstStyle/>
            <a:p>
              <a:pPr algn="ctr"/>
              <a:r>
                <a:rPr lang="zh-CN" altLang="en-US" sz="1200" b="1" dirty="0">
                  <a:latin typeface="+mn-ea"/>
                </a:rPr>
                <a:t>参数冗余</a:t>
              </a:r>
              <a:endParaRPr lang="zh-CN" altLang="en-US" sz="1200" b="1" dirty="0"/>
            </a:p>
          </p:txBody>
        </p:sp>
        <p:sp>
          <p:nvSpPr>
            <p:cNvPr id="28" name="文本框 27">
              <a:extLst>
                <a:ext uri="{FF2B5EF4-FFF2-40B4-BE49-F238E27FC236}">
                  <a16:creationId xmlns:a16="http://schemas.microsoft.com/office/drawing/2014/main" id="{10211055-0C8E-1C8B-6638-05DE2F59BFD8}"/>
                </a:ext>
              </a:extLst>
            </p:cNvPr>
            <p:cNvSpPr txBox="1"/>
            <p:nvPr/>
          </p:nvSpPr>
          <p:spPr>
            <a:xfrm>
              <a:off x="6125639" y="6302199"/>
              <a:ext cx="1048248" cy="161132"/>
            </a:xfrm>
            <a:prstGeom prst="rect">
              <a:avLst/>
            </a:prstGeom>
            <a:noFill/>
          </p:spPr>
          <p:txBody>
            <a:bodyPr wrap="square">
              <a:spAutoFit/>
            </a:bodyPr>
            <a:lstStyle/>
            <a:p>
              <a:pPr algn="ctr"/>
              <a:r>
                <a:rPr lang="zh-CN" altLang="en-US" sz="1200" b="1" dirty="0">
                  <a:latin typeface="+mn-ea"/>
                </a:rPr>
                <a:t>符号冲突</a:t>
              </a:r>
              <a:endParaRPr lang="zh-CN" altLang="en-US" sz="1200" b="1" dirty="0"/>
            </a:p>
          </p:txBody>
        </p:sp>
        <p:cxnSp>
          <p:nvCxnSpPr>
            <p:cNvPr id="29" name="直接箭头连接符 28">
              <a:extLst>
                <a:ext uri="{FF2B5EF4-FFF2-40B4-BE49-F238E27FC236}">
                  <a16:creationId xmlns:a16="http://schemas.microsoft.com/office/drawing/2014/main" id="{5FD5C07E-EF66-F9C8-9534-CA7623D460C0}"/>
                </a:ext>
              </a:extLst>
            </p:cNvPr>
            <p:cNvCxnSpPr>
              <a:cxnSpLocks/>
            </p:cNvCxnSpPr>
            <p:nvPr/>
          </p:nvCxnSpPr>
          <p:spPr>
            <a:xfrm>
              <a:off x="7111660" y="5521264"/>
              <a:ext cx="39019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E7C6AFC6-108E-D1AA-98CA-54D358EE65AC}"/>
                </a:ext>
              </a:extLst>
            </p:cNvPr>
            <p:cNvCxnSpPr>
              <a:cxnSpLocks/>
            </p:cNvCxnSpPr>
            <p:nvPr/>
          </p:nvCxnSpPr>
          <p:spPr>
            <a:xfrm flipV="1">
              <a:off x="7127988" y="5683078"/>
              <a:ext cx="390190" cy="431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645B037D-C0F5-5E22-7894-FCF6EBD3DBBB}"/>
                </a:ext>
              </a:extLst>
            </p:cNvPr>
            <p:cNvCxnSpPr>
              <a:cxnSpLocks/>
            </p:cNvCxnSpPr>
            <p:nvPr/>
          </p:nvCxnSpPr>
          <p:spPr>
            <a:xfrm rot="5400000" flipV="1">
              <a:off x="7323083" y="5654110"/>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1C573800-884F-0C39-2031-8C2038FAA648}"/>
                </a:ext>
              </a:extLst>
            </p:cNvPr>
            <p:cNvSpPr txBox="1"/>
            <p:nvPr/>
          </p:nvSpPr>
          <p:spPr>
            <a:xfrm>
              <a:off x="7323083" y="5403183"/>
              <a:ext cx="765300" cy="182968"/>
            </a:xfrm>
            <a:prstGeom prst="rect">
              <a:avLst/>
            </a:prstGeom>
            <a:noFill/>
          </p:spPr>
          <p:txBody>
            <a:bodyPr wrap="square">
              <a:spAutoFit/>
            </a:bodyPr>
            <a:lstStyle/>
            <a:p>
              <a:pPr algn="ctr"/>
              <a:r>
                <a:rPr lang="zh-CN" altLang="en-US" sz="1050" b="1" dirty="0">
                  <a:latin typeface="+mn-ea"/>
                </a:rPr>
                <a:t>任务</a:t>
              </a:r>
              <a:r>
                <a:rPr lang="en-US" altLang="zh-CN" sz="1050" b="1" dirty="0">
                  <a:latin typeface="+mn-ea"/>
                </a:rPr>
                <a:t>A</a:t>
              </a:r>
              <a:endParaRPr lang="zh-CN" altLang="en-US" sz="1050" b="1" dirty="0"/>
            </a:p>
          </p:txBody>
        </p:sp>
        <p:sp>
          <p:nvSpPr>
            <p:cNvPr id="33" name="文本框 32">
              <a:extLst>
                <a:ext uri="{FF2B5EF4-FFF2-40B4-BE49-F238E27FC236}">
                  <a16:creationId xmlns:a16="http://schemas.microsoft.com/office/drawing/2014/main" id="{978384E6-2351-3292-543E-70B0A0DD0A37}"/>
                </a:ext>
              </a:extLst>
            </p:cNvPr>
            <p:cNvSpPr txBox="1"/>
            <p:nvPr/>
          </p:nvSpPr>
          <p:spPr>
            <a:xfrm>
              <a:off x="7323083" y="5567153"/>
              <a:ext cx="765300" cy="182968"/>
            </a:xfrm>
            <a:prstGeom prst="rect">
              <a:avLst/>
            </a:prstGeom>
            <a:noFill/>
          </p:spPr>
          <p:txBody>
            <a:bodyPr wrap="square">
              <a:spAutoFit/>
            </a:bodyPr>
            <a:lstStyle/>
            <a:p>
              <a:pPr algn="ctr"/>
              <a:r>
                <a:rPr lang="zh-CN" altLang="en-US" sz="1050" b="1" dirty="0">
                  <a:latin typeface="+mn-ea"/>
                </a:rPr>
                <a:t>任务</a:t>
              </a:r>
              <a:r>
                <a:rPr lang="en-US" altLang="zh-CN" sz="1050" b="1" dirty="0">
                  <a:latin typeface="+mn-ea"/>
                </a:rPr>
                <a:t>B</a:t>
              </a:r>
              <a:endParaRPr lang="zh-CN" altLang="en-US" sz="1050" b="1" dirty="0"/>
            </a:p>
          </p:txBody>
        </p:sp>
        <p:sp>
          <p:nvSpPr>
            <p:cNvPr id="34" name="文本框 33">
              <a:extLst>
                <a:ext uri="{FF2B5EF4-FFF2-40B4-BE49-F238E27FC236}">
                  <a16:creationId xmlns:a16="http://schemas.microsoft.com/office/drawing/2014/main" id="{15B0A9A6-3A21-0F53-C4AD-BA469F734C24}"/>
                </a:ext>
              </a:extLst>
            </p:cNvPr>
            <p:cNvSpPr txBox="1"/>
            <p:nvPr/>
          </p:nvSpPr>
          <p:spPr>
            <a:xfrm>
              <a:off x="7323083" y="5735517"/>
              <a:ext cx="765300" cy="182968"/>
            </a:xfrm>
            <a:prstGeom prst="rect">
              <a:avLst/>
            </a:prstGeom>
            <a:noFill/>
          </p:spPr>
          <p:txBody>
            <a:bodyPr wrap="square">
              <a:spAutoFit/>
            </a:bodyPr>
            <a:lstStyle/>
            <a:p>
              <a:pPr algn="ctr"/>
              <a:r>
                <a:rPr lang="zh-CN" altLang="en-US" sz="1050" b="1" dirty="0">
                  <a:latin typeface="+mn-ea"/>
                </a:rPr>
                <a:t>融合</a:t>
              </a:r>
              <a:endParaRPr lang="zh-CN" altLang="en-US" sz="1050" b="1" dirty="0"/>
            </a:p>
          </p:txBody>
        </p:sp>
      </p:grpSp>
      <p:sp>
        <p:nvSpPr>
          <p:cNvPr id="44" name="文本框 43">
            <a:extLst>
              <a:ext uri="{FF2B5EF4-FFF2-40B4-BE49-F238E27FC236}">
                <a16:creationId xmlns:a16="http://schemas.microsoft.com/office/drawing/2014/main" id="{08368362-907A-BF8E-6A3A-DAF61382199E}"/>
              </a:ext>
            </a:extLst>
          </p:cNvPr>
          <p:cNvSpPr txBox="1"/>
          <p:nvPr/>
        </p:nvSpPr>
        <p:spPr>
          <a:xfrm>
            <a:off x="727573" y="5052179"/>
            <a:ext cx="4789307" cy="1154162"/>
          </a:xfrm>
          <a:prstGeom prst="rect">
            <a:avLst/>
          </a:prstGeom>
          <a:noFill/>
        </p:spPr>
        <p:txBody>
          <a:bodyPr wrap="square">
            <a:spAutoFit/>
          </a:bodyPr>
          <a:lstStyle/>
          <a:p>
            <a:pPr marL="285750" indent="-285750">
              <a:spcBef>
                <a:spcPts val="600"/>
              </a:spcBef>
              <a:buFont typeface="Arial" panose="020B0604020202020204" pitchFamily="34" charset="0"/>
              <a:buChar char="•"/>
            </a:pPr>
            <a:r>
              <a:rPr lang="zh-CN" altLang="en-US" sz="1600" dirty="0">
                <a:latin typeface="Noto Sans SC"/>
                <a:ea typeface="Noto Sans SC"/>
                <a:sym typeface="Noto Sans SC"/>
              </a:rPr>
              <a:t>参数冗余：一些任务的冗余参数 </a:t>
            </a:r>
            <a:r>
              <a:rPr lang="en-US" altLang="zh-CN" sz="1600" dirty="0">
                <a:latin typeface="Noto Sans SC"/>
                <a:ea typeface="Noto Sans SC"/>
                <a:sym typeface="Noto Sans SC"/>
              </a:rPr>
              <a:t>(</a:t>
            </a:r>
            <a:r>
              <a:rPr lang="zh-CN" altLang="en-US" sz="1600" dirty="0">
                <a:latin typeface="Noto Sans SC"/>
                <a:ea typeface="Noto Sans SC"/>
                <a:sym typeface="Noto Sans SC"/>
              </a:rPr>
              <a:t>接近</a:t>
            </a:r>
            <a:r>
              <a:rPr lang="en-US" altLang="zh-CN" sz="1600" dirty="0">
                <a:latin typeface="Noto Sans SC"/>
                <a:ea typeface="Noto Sans SC"/>
                <a:sym typeface="Noto Sans SC"/>
              </a:rPr>
              <a:t>0) </a:t>
            </a:r>
            <a:r>
              <a:rPr lang="zh-CN" altLang="en-US" sz="1600" dirty="0">
                <a:latin typeface="Noto Sans SC"/>
                <a:ea typeface="Noto Sans SC"/>
                <a:sym typeface="Noto Sans SC"/>
              </a:rPr>
              <a:t>会影响融合性能</a:t>
            </a:r>
            <a:endParaRPr lang="en-US" altLang="zh-CN" sz="1600" dirty="0">
              <a:latin typeface="Noto Sans SC"/>
              <a:ea typeface="Noto Sans SC"/>
              <a:sym typeface="Noto Sans SC"/>
            </a:endParaRPr>
          </a:p>
          <a:p>
            <a:pPr marL="285750" indent="-285750">
              <a:spcBef>
                <a:spcPts val="600"/>
              </a:spcBef>
              <a:buFont typeface="Arial" panose="020B0604020202020204" pitchFamily="34" charset="0"/>
              <a:buChar char="•"/>
            </a:pPr>
            <a:r>
              <a:rPr lang="zh-CN" altLang="en-US" sz="1600" dirty="0">
                <a:latin typeface="Noto Sans SC"/>
                <a:ea typeface="Noto Sans SC"/>
                <a:sym typeface="Noto Sans SC"/>
              </a:rPr>
              <a:t>符号冲突：</a:t>
            </a:r>
            <a:r>
              <a:rPr lang="zh-CN" altLang="en-US" sz="1600" dirty="0">
                <a:latin typeface="Noto Sans SC"/>
                <a:ea typeface="Noto Sans SC"/>
              </a:rPr>
              <a:t>不同任务的参数在某个维度上的方向相反会影响融合性能</a:t>
            </a:r>
          </a:p>
        </p:txBody>
      </p:sp>
      <p:grpSp>
        <p:nvGrpSpPr>
          <p:cNvPr id="45" name="组合 44">
            <a:extLst>
              <a:ext uri="{FF2B5EF4-FFF2-40B4-BE49-F238E27FC236}">
                <a16:creationId xmlns:a16="http://schemas.microsoft.com/office/drawing/2014/main" id="{B688D10A-0141-3D60-5B4A-BA46D938436D}"/>
              </a:ext>
            </a:extLst>
          </p:cNvPr>
          <p:cNvGrpSpPr/>
          <p:nvPr/>
        </p:nvGrpSpPr>
        <p:grpSpPr>
          <a:xfrm>
            <a:off x="6934864" y="3106892"/>
            <a:ext cx="3808733" cy="1545485"/>
            <a:chOff x="4794456" y="5403183"/>
            <a:chExt cx="3293927" cy="899016"/>
          </a:xfrm>
        </p:grpSpPr>
        <p:grpSp>
          <p:nvGrpSpPr>
            <p:cNvPr id="47" name="组合 46">
              <a:extLst>
                <a:ext uri="{FF2B5EF4-FFF2-40B4-BE49-F238E27FC236}">
                  <a16:creationId xmlns:a16="http://schemas.microsoft.com/office/drawing/2014/main" id="{21E9F008-B46D-BC32-A3BB-B86D2AF02C95}"/>
                </a:ext>
              </a:extLst>
            </p:cNvPr>
            <p:cNvGrpSpPr/>
            <p:nvPr/>
          </p:nvGrpSpPr>
          <p:grpSpPr>
            <a:xfrm>
              <a:off x="5765328" y="5592487"/>
              <a:ext cx="945453" cy="709712"/>
              <a:chOff x="5919300" y="5393908"/>
              <a:chExt cx="945453" cy="709712"/>
            </a:xfrm>
          </p:grpSpPr>
          <p:cxnSp>
            <p:nvCxnSpPr>
              <p:cNvPr id="65" name="直接箭头连接符 64">
                <a:extLst>
                  <a:ext uri="{FF2B5EF4-FFF2-40B4-BE49-F238E27FC236}">
                    <a16:creationId xmlns:a16="http://schemas.microsoft.com/office/drawing/2014/main" id="{226E009A-7C55-5E73-A8C8-7557CF4B1770}"/>
                  </a:ext>
                </a:extLst>
              </p:cNvPr>
              <p:cNvCxnSpPr>
                <a:cxnSpLocks/>
              </p:cNvCxnSpPr>
              <p:nvPr/>
            </p:nvCxnSpPr>
            <p:spPr>
              <a:xfrm>
                <a:off x="6864753" y="5784099"/>
                <a:ext cx="0" cy="319521"/>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66" name="直接箭头连接符 65">
                <a:extLst>
                  <a:ext uri="{FF2B5EF4-FFF2-40B4-BE49-F238E27FC236}">
                    <a16:creationId xmlns:a16="http://schemas.microsoft.com/office/drawing/2014/main" id="{EBB5E495-DB20-8B25-B707-8F1451BB5675}"/>
                  </a:ext>
                </a:extLst>
              </p:cNvPr>
              <p:cNvCxnSpPr>
                <a:cxnSpLocks/>
              </p:cNvCxnSpPr>
              <p:nvPr/>
            </p:nvCxnSpPr>
            <p:spPr>
              <a:xfrm flipV="1">
                <a:off x="5919300" y="5393908"/>
                <a:ext cx="0" cy="39019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E63571F6-CA84-E589-5147-E13EE0F7C4E7}"/>
                  </a:ext>
                </a:extLst>
              </p:cNvPr>
              <p:cNvCxnSpPr>
                <a:cxnSpLocks/>
              </p:cNvCxnSpPr>
              <p:nvPr/>
            </p:nvCxnSpPr>
            <p:spPr>
              <a:xfrm>
                <a:off x="6743998" y="5784098"/>
                <a:ext cx="0" cy="31952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nvGrpSpPr>
            <p:cNvPr id="48" name="组合 47">
              <a:extLst>
                <a:ext uri="{FF2B5EF4-FFF2-40B4-BE49-F238E27FC236}">
                  <a16:creationId xmlns:a16="http://schemas.microsoft.com/office/drawing/2014/main" id="{788B88E0-E3C2-97AC-F9EB-25BCD0AC7A0D}"/>
                </a:ext>
              </a:extLst>
            </p:cNvPr>
            <p:cNvGrpSpPr/>
            <p:nvPr/>
          </p:nvGrpSpPr>
          <p:grpSpPr>
            <a:xfrm>
              <a:off x="5061455" y="5559831"/>
              <a:ext cx="263353" cy="422846"/>
              <a:chOff x="5223047" y="5361252"/>
              <a:chExt cx="263353" cy="422846"/>
            </a:xfrm>
          </p:grpSpPr>
          <p:cxnSp>
            <p:nvCxnSpPr>
              <p:cNvPr id="62" name="直接箭头连接符 61">
                <a:extLst>
                  <a:ext uri="{FF2B5EF4-FFF2-40B4-BE49-F238E27FC236}">
                    <a16:creationId xmlns:a16="http://schemas.microsoft.com/office/drawing/2014/main" id="{31D13ECB-AFAD-A515-ECE1-C8D911D64E6B}"/>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63" name="直接箭头连接符 62">
                <a:extLst>
                  <a:ext uri="{FF2B5EF4-FFF2-40B4-BE49-F238E27FC236}">
                    <a16:creationId xmlns:a16="http://schemas.microsoft.com/office/drawing/2014/main" id="{BB45940D-326D-C80E-3E62-9E7435339F9F}"/>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4" name="直接箭头连接符 63">
                <a:extLst>
                  <a:ext uri="{FF2B5EF4-FFF2-40B4-BE49-F238E27FC236}">
                    <a16:creationId xmlns:a16="http://schemas.microsoft.com/office/drawing/2014/main" id="{52E1F4E0-42D7-11AF-88D0-ED89A7303F88}"/>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61" name="直接箭头连接符 60">
              <a:extLst>
                <a:ext uri="{FF2B5EF4-FFF2-40B4-BE49-F238E27FC236}">
                  <a16:creationId xmlns:a16="http://schemas.microsoft.com/office/drawing/2014/main" id="{D2813D6E-8180-D1E7-7990-CEEC7B34A62E}"/>
                </a:ext>
              </a:extLst>
            </p:cNvPr>
            <p:cNvCxnSpPr>
              <a:cxnSpLocks/>
            </p:cNvCxnSpPr>
            <p:nvPr/>
          </p:nvCxnSpPr>
          <p:spPr>
            <a:xfrm flipV="1">
              <a:off x="6079003" y="5590554"/>
              <a:ext cx="0" cy="382576"/>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D24ECCB2-C15E-B8B6-8693-8F326D3208AB}"/>
                </a:ext>
              </a:extLst>
            </p:cNvPr>
            <p:cNvCxnSpPr>
              <a:cxnSpLocks/>
            </p:cNvCxnSpPr>
            <p:nvPr/>
          </p:nvCxnSpPr>
          <p:spPr>
            <a:xfrm>
              <a:off x="4794456" y="5982677"/>
              <a:ext cx="2057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F6710FC2-F61E-D36B-D470-C7092DF5EABB}"/>
                </a:ext>
              </a:extLst>
            </p:cNvPr>
            <p:cNvCxnSpPr>
              <a:cxnSpLocks/>
            </p:cNvCxnSpPr>
            <p:nvPr/>
          </p:nvCxnSpPr>
          <p:spPr>
            <a:xfrm>
              <a:off x="7111660" y="5521264"/>
              <a:ext cx="39019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54" name="直接箭头连接符 53">
              <a:extLst>
                <a:ext uri="{FF2B5EF4-FFF2-40B4-BE49-F238E27FC236}">
                  <a16:creationId xmlns:a16="http://schemas.microsoft.com/office/drawing/2014/main" id="{F9007167-4A5A-46B8-AF0B-F8D731E8A528}"/>
                </a:ext>
              </a:extLst>
            </p:cNvPr>
            <p:cNvCxnSpPr>
              <a:cxnSpLocks/>
            </p:cNvCxnSpPr>
            <p:nvPr/>
          </p:nvCxnSpPr>
          <p:spPr>
            <a:xfrm flipV="1">
              <a:off x="7127988" y="5683078"/>
              <a:ext cx="390190" cy="431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a:extLst>
                <a:ext uri="{FF2B5EF4-FFF2-40B4-BE49-F238E27FC236}">
                  <a16:creationId xmlns:a16="http://schemas.microsoft.com/office/drawing/2014/main" id="{DEEA99D4-17E6-A2D9-DE67-F0ADEFBA873D}"/>
                </a:ext>
              </a:extLst>
            </p:cNvPr>
            <p:cNvCxnSpPr>
              <a:cxnSpLocks/>
            </p:cNvCxnSpPr>
            <p:nvPr/>
          </p:nvCxnSpPr>
          <p:spPr>
            <a:xfrm rot="5400000" flipV="1">
              <a:off x="7323083" y="5654110"/>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56" name="文本框 55">
              <a:extLst>
                <a:ext uri="{FF2B5EF4-FFF2-40B4-BE49-F238E27FC236}">
                  <a16:creationId xmlns:a16="http://schemas.microsoft.com/office/drawing/2014/main" id="{525BEEA9-66CF-0FD6-ECC5-5F2BC6AC2DE5}"/>
                </a:ext>
              </a:extLst>
            </p:cNvPr>
            <p:cNvSpPr txBox="1"/>
            <p:nvPr/>
          </p:nvSpPr>
          <p:spPr>
            <a:xfrm>
              <a:off x="7323083" y="5403183"/>
              <a:ext cx="765300" cy="182968"/>
            </a:xfrm>
            <a:prstGeom prst="rect">
              <a:avLst/>
            </a:prstGeom>
            <a:noFill/>
          </p:spPr>
          <p:txBody>
            <a:bodyPr wrap="square">
              <a:spAutoFit/>
            </a:bodyPr>
            <a:lstStyle/>
            <a:p>
              <a:pPr algn="ctr"/>
              <a:r>
                <a:rPr lang="zh-CN" altLang="en-US" sz="1050" b="1" dirty="0">
                  <a:latin typeface="+mn-ea"/>
                </a:rPr>
                <a:t>任务</a:t>
              </a:r>
              <a:r>
                <a:rPr lang="en-US" altLang="zh-CN" sz="1050" b="1" dirty="0">
                  <a:latin typeface="+mn-ea"/>
                </a:rPr>
                <a:t>A</a:t>
              </a:r>
              <a:endParaRPr lang="zh-CN" altLang="en-US" sz="1050" b="1" dirty="0"/>
            </a:p>
          </p:txBody>
        </p:sp>
        <p:sp>
          <p:nvSpPr>
            <p:cNvPr id="57" name="文本框 56">
              <a:extLst>
                <a:ext uri="{FF2B5EF4-FFF2-40B4-BE49-F238E27FC236}">
                  <a16:creationId xmlns:a16="http://schemas.microsoft.com/office/drawing/2014/main" id="{5252CB45-A8B6-FEF5-24B5-325BF020F555}"/>
                </a:ext>
              </a:extLst>
            </p:cNvPr>
            <p:cNvSpPr txBox="1"/>
            <p:nvPr/>
          </p:nvSpPr>
          <p:spPr>
            <a:xfrm>
              <a:off x="7323083" y="5567153"/>
              <a:ext cx="765300" cy="182968"/>
            </a:xfrm>
            <a:prstGeom prst="rect">
              <a:avLst/>
            </a:prstGeom>
            <a:noFill/>
          </p:spPr>
          <p:txBody>
            <a:bodyPr wrap="square">
              <a:spAutoFit/>
            </a:bodyPr>
            <a:lstStyle/>
            <a:p>
              <a:pPr algn="ctr"/>
              <a:r>
                <a:rPr lang="zh-CN" altLang="en-US" sz="1050" b="1" dirty="0">
                  <a:latin typeface="+mn-ea"/>
                </a:rPr>
                <a:t>任务</a:t>
              </a:r>
              <a:r>
                <a:rPr lang="en-US" altLang="zh-CN" sz="1050" b="1" dirty="0">
                  <a:latin typeface="+mn-ea"/>
                </a:rPr>
                <a:t>B</a:t>
              </a:r>
              <a:endParaRPr lang="zh-CN" altLang="en-US" sz="1050" b="1" dirty="0"/>
            </a:p>
          </p:txBody>
        </p:sp>
        <p:sp>
          <p:nvSpPr>
            <p:cNvPr id="58" name="文本框 57">
              <a:extLst>
                <a:ext uri="{FF2B5EF4-FFF2-40B4-BE49-F238E27FC236}">
                  <a16:creationId xmlns:a16="http://schemas.microsoft.com/office/drawing/2014/main" id="{3193592A-6C18-E638-2289-902657C46653}"/>
                </a:ext>
              </a:extLst>
            </p:cNvPr>
            <p:cNvSpPr txBox="1"/>
            <p:nvPr/>
          </p:nvSpPr>
          <p:spPr>
            <a:xfrm>
              <a:off x="7323083" y="5735517"/>
              <a:ext cx="765300" cy="182968"/>
            </a:xfrm>
            <a:prstGeom prst="rect">
              <a:avLst/>
            </a:prstGeom>
            <a:noFill/>
          </p:spPr>
          <p:txBody>
            <a:bodyPr wrap="square">
              <a:spAutoFit/>
            </a:bodyPr>
            <a:lstStyle/>
            <a:p>
              <a:pPr algn="ctr"/>
              <a:r>
                <a:rPr lang="zh-CN" altLang="en-US" sz="1050" b="1" dirty="0">
                  <a:latin typeface="+mn-ea"/>
                </a:rPr>
                <a:t>融合</a:t>
              </a:r>
              <a:endParaRPr lang="zh-CN" altLang="en-US" sz="1050" b="1" dirty="0"/>
            </a:p>
          </p:txBody>
        </p:sp>
      </p:gr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DBBA2EAB-8659-1C59-024C-474416C78B0E}"/>
                  </a:ext>
                </a:extLst>
              </p:cNvPr>
              <p:cNvSpPr txBox="1"/>
              <p:nvPr/>
            </p:nvSpPr>
            <p:spPr>
              <a:xfrm>
                <a:off x="6095999" y="5052179"/>
                <a:ext cx="5933441" cy="984885"/>
              </a:xfrm>
              <a:prstGeom prst="rect">
                <a:avLst/>
              </a:prstGeom>
              <a:noFill/>
            </p:spPr>
            <p:txBody>
              <a:bodyPr wrap="square">
                <a:spAutoFit/>
              </a:bodyPr>
              <a:lstStyle/>
              <a:p>
                <a:pPr marL="285750" indent="-285750">
                  <a:spcBef>
                    <a:spcPts val="600"/>
                  </a:spcBef>
                  <a:buFont typeface="Arial" panose="020B0604020202020204" pitchFamily="34" charset="0"/>
                  <a:buChar char="•"/>
                </a:pPr>
                <a:r>
                  <a:rPr lang="zh-CN" altLang="en-US" sz="1600" dirty="0">
                    <a:latin typeface="Noto Sans SC"/>
                    <a:ea typeface="Noto Sans SC"/>
                    <a:sym typeface="Noto Sans SC"/>
                  </a:rPr>
                  <a:t>去除冗余参数：对于每个任务向量，只保留</a:t>
                </a:r>
                <a:r>
                  <a:rPr lang="en-US" altLang="zh-CN" sz="1600" dirty="0">
                    <a:latin typeface="Noto Sans SC"/>
                    <a:ea typeface="Noto Sans SC"/>
                    <a:sym typeface="Noto Sans SC"/>
                  </a:rPr>
                  <a:t>top</a:t>
                </a:r>
                <a14:m>
                  <m:oMath xmlns:m="http://schemas.openxmlformats.org/officeDocument/2006/math">
                    <m:r>
                      <a:rPr lang="en-US" altLang="zh-CN" sz="1600" b="0" i="1" smtClean="0">
                        <a:latin typeface="Cambria Math" panose="02040503050406030204" pitchFamily="18" charset="0"/>
                        <a:ea typeface="Noto Sans SC"/>
                        <a:sym typeface="Noto Sans SC"/>
                      </a:rPr>
                      <m:t>𝑘</m:t>
                    </m:r>
                    <m:r>
                      <a:rPr lang="en-US" altLang="zh-CN" sz="1600" b="0" i="1" smtClean="0">
                        <a:latin typeface="Cambria Math" panose="02040503050406030204" pitchFamily="18" charset="0"/>
                        <a:ea typeface="Noto Sans SC"/>
                        <a:sym typeface="Noto Sans SC"/>
                      </a:rPr>
                      <m:t>%</m:t>
                    </m:r>
                  </m:oMath>
                </a14:m>
                <a:r>
                  <a:rPr lang="zh-CN" altLang="en-US" sz="1600" dirty="0">
                    <a:latin typeface="Noto Sans SC"/>
                    <a:ea typeface="Noto Sans SC"/>
                    <a:sym typeface="Noto Sans SC"/>
                  </a:rPr>
                  <a:t>大的参数</a:t>
                </a:r>
                <a:r>
                  <a:rPr lang="en-US" altLang="zh-CN" sz="1600" dirty="0">
                    <a:latin typeface="Noto Sans SC"/>
                    <a:ea typeface="Noto Sans SC"/>
                    <a:sym typeface="Noto Sans SC"/>
                  </a:rPr>
                  <a:t> </a:t>
                </a:r>
              </a:p>
              <a:p>
                <a:pPr marL="285750" indent="-285750">
                  <a:spcBef>
                    <a:spcPts val="600"/>
                  </a:spcBef>
                  <a:buFont typeface="Arial" panose="020B0604020202020204" pitchFamily="34" charset="0"/>
                  <a:buChar char="•"/>
                </a:pPr>
                <a:r>
                  <a:rPr lang="zh-CN" altLang="en-US" sz="1600" dirty="0">
                    <a:latin typeface="Noto Sans SC"/>
                    <a:ea typeface="Noto Sans SC"/>
                    <a:sym typeface="Noto Sans SC"/>
                  </a:rPr>
                  <a:t>消除符号冲突：对于每个参数维度，只保留主流方向的参数</a:t>
                </a:r>
                <a:endParaRPr lang="en-US" altLang="zh-CN" sz="1600" dirty="0">
                  <a:latin typeface="Noto Sans SC"/>
                  <a:ea typeface="Noto Sans SC"/>
                  <a:sym typeface="Noto Sans SC"/>
                </a:endParaRPr>
              </a:p>
              <a:p>
                <a:pPr marL="285750" indent="-285750">
                  <a:spcBef>
                    <a:spcPts val="600"/>
                  </a:spcBef>
                  <a:buFont typeface="Arial" panose="020B0604020202020204" pitchFamily="34" charset="0"/>
                  <a:buChar char="•"/>
                </a:pPr>
                <a:r>
                  <a:rPr lang="zh-CN" altLang="en-US" sz="1600" dirty="0">
                    <a:latin typeface="Noto Sans SC"/>
                    <a:ea typeface="Noto Sans SC"/>
                  </a:rPr>
                  <a:t>平均：只对不为零的参数进行平均</a:t>
                </a:r>
              </a:p>
            </p:txBody>
          </p:sp>
        </mc:Choice>
        <mc:Fallback xmlns="">
          <p:sp>
            <p:nvSpPr>
              <p:cNvPr id="72" name="文本框 71">
                <a:extLst>
                  <a:ext uri="{FF2B5EF4-FFF2-40B4-BE49-F238E27FC236}">
                    <a16:creationId xmlns:a16="http://schemas.microsoft.com/office/drawing/2014/main" id="{DBBA2EAB-8659-1C59-024C-474416C78B0E}"/>
                  </a:ext>
                </a:extLst>
              </p:cNvPr>
              <p:cNvSpPr txBox="1">
                <a:spLocks noRot="1" noChangeAspect="1" noMove="1" noResize="1" noEditPoints="1" noAdjustHandles="1" noChangeArrowheads="1" noChangeShapeType="1" noTextEdit="1"/>
              </p:cNvSpPr>
              <p:nvPr/>
            </p:nvSpPr>
            <p:spPr>
              <a:xfrm>
                <a:off x="6095999" y="5052179"/>
                <a:ext cx="5933441" cy="984885"/>
              </a:xfrm>
              <a:prstGeom prst="rect">
                <a:avLst/>
              </a:prstGeom>
              <a:blipFill>
                <a:blip r:embed="rId4"/>
                <a:stretch>
                  <a:fillRect l="-411" t="-1863" b="-74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18772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89663-D289-D34D-FAAE-5B3D47B9434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DDF55ECF-07C3-199F-F9B9-6C7AC2E6020E}"/>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75BF1597-C2C3-6219-A26A-48EF971AB888}"/>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0A2DAB-6A6E-150A-76AF-7AAF8447CB8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19A51320-7114-F578-C8E0-FFFD066767E8}"/>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pic>
        <p:nvPicPr>
          <p:cNvPr id="5" name="图片 4">
            <a:extLst>
              <a:ext uri="{FF2B5EF4-FFF2-40B4-BE49-F238E27FC236}">
                <a16:creationId xmlns:a16="http://schemas.microsoft.com/office/drawing/2014/main" id="{9694BBEC-2FC1-F046-84CD-525E6BDD7A20}"/>
              </a:ext>
            </a:extLst>
          </p:cNvPr>
          <p:cNvPicPr>
            <a:picLocks noChangeAspect="1"/>
          </p:cNvPicPr>
          <p:nvPr/>
        </p:nvPicPr>
        <p:blipFill>
          <a:blip r:embed="rId3"/>
          <a:stretch>
            <a:fillRect/>
          </a:stretch>
        </p:blipFill>
        <p:spPr>
          <a:xfrm>
            <a:off x="727573" y="1157833"/>
            <a:ext cx="10736853" cy="1353138"/>
          </a:xfrm>
          <a:prstGeom prst="rect">
            <a:avLst/>
          </a:prstGeom>
        </p:spPr>
      </p:pic>
      <p:sp>
        <p:nvSpPr>
          <p:cNvPr id="6" name="Rectangle 1">
            <a:extLst>
              <a:ext uri="{FF2B5EF4-FFF2-40B4-BE49-F238E27FC236}">
                <a16:creationId xmlns:a16="http://schemas.microsoft.com/office/drawing/2014/main" id="{E37B5BB1-5A25-9EC6-26C6-8C6860CD1E85}"/>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
            <a:extLst>
              <a:ext uri="{FF2B5EF4-FFF2-40B4-BE49-F238E27FC236}">
                <a16:creationId xmlns:a16="http://schemas.microsoft.com/office/drawing/2014/main" id="{E3690BA9-5A2F-5089-EF8C-A395D575C702}"/>
              </a:ext>
            </a:extLst>
          </p:cNvPr>
          <p:cNvSpPr>
            <a:spLocks noChangeArrowheads="1"/>
          </p:cNvSpPr>
          <p:nvPr/>
        </p:nvSpPr>
        <p:spPr bwMode="auto">
          <a:xfrm>
            <a:off x="321565" y="2517604"/>
            <a:ext cx="32757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TALL-Masks</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nvGrpSpPr>
          <p:cNvPr id="7" name="组合 6">
            <a:extLst>
              <a:ext uri="{FF2B5EF4-FFF2-40B4-BE49-F238E27FC236}">
                <a16:creationId xmlns:a16="http://schemas.microsoft.com/office/drawing/2014/main" id="{86347461-AF40-96DE-B3AD-8F8DC8395F9D}"/>
              </a:ext>
            </a:extLst>
          </p:cNvPr>
          <p:cNvGrpSpPr/>
          <p:nvPr/>
        </p:nvGrpSpPr>
        <p:grpSpPr>
          <a:xfrm>
            <a:off x="876628" y="3213654"/>
            <a:ext cx="3595361" cy="1545485"/>
            <a:chOff x="4794456" y="5403183"/>
            <a:chExt cx="3109394" cy="899016"/>
          </a:xfrm>
        </p:grpSpPr>
        <p:grpSp>
          <p:nvGrpSpPr>
            <p:cNvPr id="9" name="组合 8">
              <a:extLst>
                <a:ext uri="{FF2B5EF4-FFF2-40B4-BE49-F238E27FC236}">
                  <a16:creationId xmlns:a16="http://schemas.microsoft.com/office/drawing/2014/main" id="{5C1AFEE7-0CAC-096E-9BE8-298F5337B7C2}"/>
                </a:ext>
              </a:extLst>
            </p:cNvPr>
            <p:cNvGrpSpPr/>
            <p:nvPr/>
          </p:nvGrpSpPr>
          <p:grpSpPr>
            <a:xfrm>
              <a:off x="5765328" y="5683078"/>
              <a:ext cx="945453" cy="619121"/>
              <a:chOff x="5919300" y="5484499"/>
              <a:chExt cx="945453" cy="619121"/>
            </a:xfrm>
          </p:grpSpPr>
          <p:cxnSp>
            <p:nvCxnSpPr>
              <p:cNvPr id="70" name="直接箭头连接符 69">
                <a:extLst>
                  <a:ext uri="{FF2B5EF4-FFF2-40B4-BE49-F238E27FC236}">
                    <a16:creationId xmlns:a16="http://schemas.microsoft.com/office/drawing/2014/main" id="{39948E0B-D728-563C-7293-859F5F1C6AA8}"/>
                  </a:ext>
                </a:extLst>
              </p:cNvPr>
              <p:cNvCxnSpPr>
                <a:cxnSpLocks/>
              </p:cNvCxnSpPr>
              <p:nvPr/>
            </p:nvCxnSpPr>
            <p:spPr>
              <a:xfrm>
                <a:off x="6864753" y="5784099"/>
                <a:ext cx="0" cy="319521"/>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D39105DA-2E91-1C76-D86A-EC6C880A5B49}"/>
                  </a:ext>
                </a:extLst>
              </p:cNvPr>
              <p:cNvCxnSpPr>
                <a:cxnSpLocks/>
              </p:cNvCxnSpPr>
              <p:nvPr/>
            </p:nvCxnSpPr>
            <p:spPr>
              <a:xfrm flipV="1">
                <a:off x="5919300" y="5484499"/>
                <a:ext cx="0" cy="29960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FC0E3E1D-DCD6-D4F6-B163-302361F5F167}"/>
                  </a:ext>
                </a:extLst>
              </p:cNvPr>
              <p:cNvCxnSpPr>
                <a:cxnSpLocks/>
              </p:cNvCxnSpPr>
              <p:nvPr/>
            </p:nvCxnSpPr>
            <p:spPr>
              <a:xfrm>
                <a:off x="6743998" y="5784098"/>
                <a:ext cx="0" cy="31952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nvGrpSpPr>
            <p:cNvPr id="11" name="组合 10">
              <a:extLst>
                <a:ext uri="{FF2B5EF4-FFF2-40B4-BE49-F238E27FC236}">
                  <a16:creationId xmlns:a16="http://schemas.microsoft.com/office/drawing/2014/main" id="{11042C07-4DA4-5089-5E21-457C2EA2F330}"/>
                </a:ext>
              </a:extLst>
            </p:cNvPr>
            <p:cNvGrpSpPr/>
            <p:nvPr/>
          </p:nvGrpSpPr>
          <p:grpSpPr>
            <a:xfrm>
              <a:off x="5061455" y="5559831"/>
              <a:ext cx="263353" cy="422846"/>
              <a:chOff x="5223047" y="5361252"/>
              <a:chExt cx="263353" cy="422846"/>
            </a:xfrm>
          </p:grpSpPr>
          <p:cxnSp>
            <p:nvCxnSpPr>
              <p:cNvPr id="60" name="直接箭头连接符 59">
                <a:extLst>
                  <a:ext uri="{FF2B5EF4-FFF2-40B4-BE49-F238E27FC236}">
                    <a16:creationId xmlns:a16="http://schemas.microsoft.com/office/drawing/2014/main" id="{C26F0698-1293-B5B5-D07C-393E65E3C46E}"/>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68" name="直接箭头连接符 67">
                <a:extLst>
                  <a:ext uri="{FF2B5EF4-FFF2-40B4-BE49-F238E27FC236}">
                    <a16:creationId xmlns:a16="http://schemas.microsoft.com/office/drawing/2014/main" id="{9B9DB89C-0000-ABFB-23A0-5A74D7DCF76A}"/>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F9C1EEBF-5B75-71EB-DC1F-2096BA239F8C}"/>
                  </a:ext>
                </a:extLst>
              </p:cNvPr>
              <p:cNvCxnSpPr>
                <a:cxnSpLocks/>
              </p:cNvCxnSpPr>
              <p:nvPr/>
            </p:nvCxnSpPr>
            <p:spPr>
              <a:xfrm flipV="1">
                <a:off x="5486400" y="5377580"/>
                <a:ext cx="0" cy="4065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12" name="组合 11">
              <a:extLst>
                <a:ext uri="{FF2B5EF4-FFF2-40B4-BE49-F238E27FC236}">
                  <a16:creationId xmlns:a16="http://schemas.microsoft.com/office/drawing/2014/main" id="{D8D079CB-2F8C-D159-B63E-025E199AB3CE}"/>
                </a:ext>
              </a:extLst>
            </p:cNvPr>
            <p:cNvGrpSpPr/>
            <p:nvPr/>
          </p:nvGrpSpPr>
          <p:grpSpPr>
            <a:xfrm>
              <a:off x="5927005" y="5683078"/>
              <a:ext cx="524123" cy="299599"/>
              <a:chOff x="6088597" y="5484499"/>
              <a:chExt cx="524123" cy="299599"/>
            </a:xfrm>
          </p:grpSpPr>
          <p:cxnSp>
            <p:nvCxnSpPr>
              <p:cNvPr id="51" name="直接箭头连接符 50">
                <a:extLst>
                  <a:ext uri="{FF2B5EF4-FFF2-40B4-BE49-F238E27FC236}">
                    <a16:creationId xmlns:a16="http://schemas.microsoft.com/office/drawing/2014/main" id="{60EA0F7E-CD68-1370-1AF8-2F321C92477C}"/>
                  </a:ext>
                </a:extLst>
              </p:cNvPr>
              <p:cNvCxnSpPr>
                <a:cxnSpLocks/>
              </p:cNvCxnSpPr>
              <p:nvPr/>
            </p:nvCxnSpPr>
            <p:spPr>
              <a:xfrm flipV="1">
                <a:off x="6612720" y="5650626"/>
                <a:ext cx="0" cy="11714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BB214AF2-0D28-BEE7-C95B-8D879CE54CE7}"/>
                  </a:ext>
                </a:extLst>
              </p:cNvPr>
              <p:cNvCxnSpPr>
                <a:cxnSpLocks/>
              </p:cNvCxnSpPr>
              <p:nvPr/>
            </p:nvCxnSpPr>
            <p:spPr>
              <a:xfrm flipV="1">
                <a:off x="6088597" y="5686551"/>
                <a:ext cx="0" cy="97547"/>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31C792DF-B165-0EC9-8155-19188ADD3273}"/>
                  </a:ext>
                </a:extLst>
              </p:cNvPr>
              <p:cNvCxnSpPr>
                <a:cxnSpLocks/>
              </p:cNvCxnSpPr>
              <p:nvPr/>
            </p:nvCxnSpPr>
            <p:spPr>
              <a:xfrm flipV="1">
                <a:off x="6240595" y="5484499"/>
                <a:ext cx="0" cy="29005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14" name="直接连接符 13">
              <a:extLst>
                <a:ext uri="{FF2B5EF4-FFF2-40B4-BE49-F238E27FC236}">
                  <a16:creationId xmlns:a16="http://schemas.microsoft.com/office/drawing/2014/main" id="{AC50F8C9-2B73-EBC7-A8B6-17FA41598C04}"/>
                </a:ext>
              </a:extLst>
            </p:cNvPr>
            <p:cNvCxnSpPr>
              <a:cxnSpLocks/>
            </p:cNvCxnSpPr>
            <p:nvPr/>
          </p:nvCxnSpPr>
          <p:spPr>
            <a:xfrm>
              <a:off x="4794456" y="5982677"/>
              <a:ext cx="2057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DF569DB8-E192-963E-0E2D-CA51469DA2F6}"/>
                </a:ext>
              </a:extLst>
            </p:cNvPr>
            <p:cNvCxnSpPr>
              <a:cxnSpLocks/>
            </p:cNvCxnSpPr>
            <p:nvPr/>
          </p:nvCxnSpPr>
          <p:spPr>
            <a:xfrm>
              <a:off x="6927135" y="5521264"/>
              <a:ext cx="39019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4BCB37D5-05C3-DBF3-FD00-0AA4E5E703EB}"/>
                </a:ext>
              </a:extLst>
            </p:cNvPr>
            <p:cNvCxnSpPr>
              <a:cxnSpLocks/>
            </p:cNvCxnSpPr>
            <p:nvPr/>
          </p:nvCxnSpPr>
          <p:spPr>
            <a:xfrm flipV="1">
              <a:off x="6943458" y="5683078"/>
              <a:ext cx="390190" cy="431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61D06A39-F0E9-BF43-0D6E-C32DB33DC5B9}"/>
                </a:ext>
              </a:extLst>
            </p:cNvPr>
            <p:cNvCxnSpPr>
              <a:cxnSpLocks/>
            </p:cNvCxnSpPr>
            <p:nvPr/>
          </p:nvCxnSpPr>
          <p:spPr>
            <a:xfrm rot="5400000" flipV="1">
              <a:off x="7138550" y="5654110"/>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26" name="文本框 25">
              <a:extLst>
                <a:ext uri="{FF2B5EF4-FFF2-40B4-BE49-F238E27FC236}">
                  <a16:creationId xmlns:a16="http://schemas.microsoft.com/office/drawing/2014/main" id="{6C4F1446-CD87-A49E-07D9-047F685FB513}"/>
                </a:ext>
              </a:extLst>
            </p:cNvPr>
            <p:cNvSpPr txBox="1"/>
            <p:nvPr/>
          </p:nvSpPr>
          <p:spPr>
            <a:xfrm>
              <a:off x="7138550" y="5403183"/>
              <a:ext cx="765300" cy="182968"/>
            </a:xfrm>
            <a:prstGeom prst="rect">
              <a:avLst/>
            </a:prstGeom>
            <a:noFill/>
          </p:spPr>
          <p:txBody>
            <a:bodyPr wrap="square">
              <a:spAutoFit/>
            </a:bodyPr>
            <a:lstStyle/>
            <a:p>
              <a:pPr algn="ctr"/>
              <a:r>
                <a:rPr lang="zh-CN" altLang="en-US" sz="1050" b="1" dirty="0">
                  <a:latin typeface="+mn-ea"/>
                </a:rPr>
                <a:t>任务</a:t>
              </a:r>
              <a:r>
                <a:rPr lang="en-US" altLang="zh-CN" sz="1050" b="1" dirty="0">
                  <a:latin typeface="+mn-ea"/>
                </a:rPr>
                <a:t>A</a:t>
              </a:r>
              <a:endParaRPr lang="zh-CN" altLang="en-US" sz="1050" b="1" dirty="0"/>
            </a:p>
          </p:txBody>
        </p:sp>
        <p:sp>
          <p:nvSpPr>
            <p:cNvPr id="46" name="文本框 45">
              <a:extLst>
                <a:ext uri="{FF2B5EF4-FFF2-40B4-BE49-F238E27FC236}">
                  <a16:creationId xmlns:a16="http://schemas.microsoft.com/office/drawing/2014/main" id="{CC70A645-9D79-FBA2-EFF7-E64BAC664861}"/>
                </a:ext>
              </a:extLst>
            </p:cNvPr>
            <p:cNvSpPr txBox="1"/>
            <p:nvPr/>
          </p:nvSpPr>
          <p:spPr>
            <a:xfrm>
              <a:off x="7138550" y="5567153"/>
              <a:ext cx="765300" cy="182968"/>
            </a:xfrm>
            <a:prstGeom prst="rect">
              <a:avLst/>
            </a:prstGeom>
            <a:noFill/>
          </p:spPr>
          <p:txBody>
            <a:bodyPr wrap="square">
              <a:spAutoFit/>
            </a:bodyPr>
            <a:lstStyle/>
            <a:p>
              <a:pPr algn="ctr"/>
              <a:r>
                <a:rPr lang="zh-CN" altLang="en-US" sz="1050" b="1" dirty="0">
                  <a:latin typeface="+mn-ea"/>
                </a:rPr>
                <a:t>任务</a:t>
              </a:r>
              <a:r>
                <a:rPr lang="en-US" altLang="zh-CN" sz="1050" b="1" dirty="0">
                  <a:latin typeface="+mn-ea"/>
                </a:rPr>
                <a:t>B</a:t>
              </a:r>
              <a:endParaRPr lang="zh-CN" altLang="en-US" sz="1050" b="1" dirty="0"/>
            </a:p>
          </p:txBody>
        </p:sp>
        <p:sp>
          <p:nvSpPr>
            <p:cNvPr id="49" name="文本框 48">
              <a:extLst>
                <a:ext uri="{FF2B5EF4-FFF2-40B4-BE49-F238E27FC236}">
                  <a16:creationId xmlns:a16="http://schemas.microsoft.com/office/drawing/2014/main" id="{92701182-12C5-F4D6-67BA-A295CC216DC6}"/>
                </a:ext>
              </a:extLst>
            </p:cNvPr>
            <p:cNvSpPr txBox="1"/>
            <p:nvPr/>
          </p:nvSpPr>
          <p:spPr>
            <a:xfrm>
              <a:off x="7138550" y="5735517"/>
              <a:ext cx="765300" cy="182968"/>
            </a:xfrm>
            <a:prstGeom prst="rect">
              <a:avLst/>
            </a:prstGeom>
            <a:noFill/>
          </p:spPr>
          <p:txBody>
            <a:bodyPr wrap="square">
              <a:spAutoFit/>
            </a:bodyPr>
            <a:lstStyle/>
            <a:p>
              <a:pPr algn="ctr"/>
              <a:r>
                <a:rPr lang="zh-CN" altLang="en-US" sz="1050" b="1" dirty="0">
                  <a:latin typeface="+mn-ea"/>
                </a:rPr>
                <a:t>融合</a:t>
              </a:r>
              <a:endParaRPr lang="zh-CN" altLang="en-US" sz="1050" b="1" dirty="0"/>
            </a:p>
          </p:txBody>
        </p:sp>
      </p:grpSp>
      <p:graphicFrame>
        <p:nvGraphicFramePr>
          <p:cNvPr id="83" name="表格 82">
            <a:extLst>
              <a:ext uri="{FF2B5EF4-FFF2-40B4-BE49-F238E27FC236}">
                <a16:creationId xmlns:a16="http://schemas.microsoft.com/office/drawing/2014/main" id="{E0168A26-6457-F6DD-E2D6-502A5052166D}"/>
              </a:ext>
            </a:extLst>
          </p:cNvPr>
          <p:cNvGraphicFramePr>
            <a:graphicFrameLocks noGrp="1"/>
          </p:cNvGraphicFramePr>
          <p:nvPr>
            <p:extLst>
              <p:ext uri="{D42A27DB-BD31-4B8C-83A1-F6EECF244321}">
                <p14:modId xmlns:p14="http://schemas.microsoft.com/office/powerpoint/2010/main" val="3069968740"/>
              </p:ext>
            </p:extLst>
          </p:nvPr>
        </p:nvGraphicFramePr>
        <p:xfrm>
          <a:off x="1836503" y="5020745"/>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287612"/>
                  </a:ext>
                </a:extLst>
              </a:tr>
            </a:tbl>
          </a:graphicData>
        </a:graphic>
      </p:graphicFrame>
      <p:sp>
        <p:nvSpPr>
          <p:cNvPr id="85" name="文本框 84">
            <a:extLst>
              <a:ext uri="{FF2B5EF4-FFF2-40B4-BE49-F238E27FC236}">
                <a16:creationId xmlns:a16="http://schemas.microsoft.com/office/drawing/2014/main" id="{93EFC3AD-2290-2BEA-543D-FD3879BC7975}"/>
              </a:ext>
            </a:extLst>
          </p:cNvPr>
          <p:cNvSpPr txBox="1"/>
          <p:nvPr/>
        </p:nvSpPr>
        <p:spPr>
          <a:xfrm>
            <a:off x="678554" y="4984352"/>
            <a:ext cx="1151030" cy="338554"/>
          </a:xfrm>
          <a:prstGeom prst="rect">
            <a:avLst/>
          </a:prstGeom>
          <a:noFill/>
        </p:spPr>
        <p:txBody>
          <a:bodyPr wrap="square">
            <a:spAutoFit/>
          </a:bodyPr>
          <a:lstStyle/>
          <a:p>
            <a:pPr algn="r"/>
            <a:r>
              <a:rPr kumimoji="0" lang="zh-CN" altLang="en-US" sz="16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任务</a:t>
            </a:r>
            <a:r>
              <a:rPr kumimoji="0" lang="en-US" altLang="zh-CN" sz="16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A</a:t>
            </a:r>
            <a:endParaRPr lang="zh-CN" altLang="en-US" sz="1600" dirty="0"/>
          </a:p>
        </p:txBody>
      </p:sp>
      <p:graphicFrame>
        <p:nvGraphicFramePr>
          <p:cNvPr id="86" name="表格 85">
            <a:extLst>
              <a:ext uri="{FF2B5EF4-FFF2-40B4-BE49-F238E27FC236}">
                <a16:creationId xmlns:a16="http://schemas.microsoft.com/office/drawing/2014/main" id="{39C53CB8-DE70-ABE7-0016-052913E6B86B}"/>
              </a:ext>
            </a:extLst>
          </p:cNvPr>
          <p:cNvGraphicFramePr>
            <a:graphicFrameLocks noGrp="1"/>
          </p:cNvGraphicFramePr>
          <p:nvPr>
            <p:extLst>
              <p:ext uri="{D42A27DB-BD31-4B8C-83A1-F6EECF244321}">
                <p14:modId xmlns:p14="http://schemas.microsoft.com/office/powerpoint/2010/main" val="2141817401"/>
              </p:ext>
            </p:extLst>
          </p:nvPr>
        </p:nvGraphicFramePr>
        <p:xfrm>
          <a:off x="1836503" y="5476830"/>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87" name="文本框 86">
            <a:extLst>
              <a:ext uri="{FF2B5EF4-FFF2-40B4-BE49-F238E27FC236}">
                <a16:creationId xmlns:a16="http://schemas.microsoft.com/office/drawing/2014/main" id="{3BD53CDE-8EA9-648B-F10D-248E739D6DE7}"/>
              </a:ext>
            </a:extLst>
          </p:cNvPr>
          <p:cNvSpPr txBox="1"/>
          <p:nvPr/>
        </p:nvSpPr>
        <p:spPr>
          <a:xfrm>
            <a:off x="678554" y="5440437"/>
            <a:ext cx="1151030" cy="338554"/>
          </a:xfrm>
          <a:prstGeom prst="rect">
            <a:avLst/>
          </a:prstGeom>
          <a:noFill/>
        </p:spPr>
        <p:txBody>
          <a:bodyPr wrap="square">
            <a:spAutoFit/>
          </a:bodyPr>
          <a:lstStyle/>
          <a:p>
            <a:pPr algn="r"/>
            <a:r>
              <a:rPr kumimoji="0" lang="zh-CN" altLang="en-US" sz="16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任务</a:t>
            </a:r>
            <a:r>
              <a:rPr lang="en-US" altLang="zh-CN" sz="1600" b="1" dirty="0">
                <a:solidFill>
                  <a:srgbClr val="333333"/>
                </a:solidFill>
                <a:latin typeface="Noto Sans SC" panose="020B0200000000000000" pitchFamily="34" charset="-122"/>
                <a:ea typeface="Noto Sans SC" panose="020B0200000000000000" pitchFamily="34" charset="-122"/>
              </a:rPr>
              <a:t>B</a:t>
            </a:r>
            <a:endParaRPr lang="zh-CN" altLang="en-US" sz="1600" dirty="0"/>
          </a:p>
        </p:txBody>
      </p:sp>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14295767-8ED1-5776-5AD3-893BEEABDE86}"/>
                  </a:ext>
                </a:extLst>
              </p:cNvPr>
              <p:cNvSpPr txBox="1"/>
              <p:nvPr/>
            </p:nvSpPr>
            <p:spPr>
              <a:xfrm>
                <a:off x="4607526" y="3532956"/>
                <a:ext cx="6501055" cy="338554"/>
              </a:xfrm>
              <a:prstGeom prst="rect">
                <a:avLst/>
              </a:prstGeom>
              <a:noFill/>
            </p:spPr>
            <p:txBody>
              <a:bodyPr wrap="square">
                <a:spAutoFit/>
              </a:bodyPr>
              <a:lstStyle/>
              <a:p>
                <a:pPr marL="285750" indent="-285750">
                  <a:buFont typeface="Arial" panose="020B0604020202020204" pitchFamily="34" charset="0"/>
                  <a:buChar char="•"/>
                </a:pPr>
                <a:r>
                  <a:rPr lang="zh-CN" altLang="en-US" sz="1600" dirty="0">
                    <a:latin typeface="Noto Sans SC"/>
                    <a:ea typeface="Noto Sans SC"/>
                    <a:sym typeface="Noto Sans SC"/>
                  </a:rPr>
                  <a:t>为每个任务构造一个掩码</a:t>
                </a:r>
                <a14:m>
                  <m:oMath xmlns:m="http://schemas.openxmlformats.org/officeDocument/2006/math">
                    <m:sSub>
                      <m:sSubPr>
                        <m:ctrlPr>
                          <a:rPr lang="en-US" altLang="zh-CN" sz="1600" b="0" i="1" smtClean="0">
                            <a:latin typeface="Cambria Math" panose="02040503050406030204" pitchFamily="18" charset="0"/>
                            <a:ea typeface="Noto Sans SC"/>
                            <a:sym typeface="Noto Sans SC"/>
                          </a:rPr>
                        </m:ctrlPr>
                      </m:sSubPr>
                      <m:e>
                        <m:r>
                          <a:rPr lang="en-US" altLang="zh-CN" sz="1600" b="0" i="1" smtClean="0">
                            <a:latin typeface="Cambria Math" panose="02040503050406030204" pitchFamily="18" charset="0"/>
                            <a:ea typeface="Noto Sans SC"/>
                            <a:sym typeface="Noto Sans SC"/>
                          </a:rPr>
                          <m:t>𝑚</m:t>
                        </m:r>
                      </m:e>
                      <m:sub>
                        <m:r>
                          <a:rPr lang="en-US" altLang="zh-CN" sz="1600" b="0" i="1" smtClean="0">
                            <a:latin typeface="Cambria Math" panose="02040503050406030204" pitchFamily="18" charset="0"/>
                            <a:ea typeface="Noto Sans SC"/>
                            <a:sym typeface="Noto Sans SC"/>
                          </a:rPr>
                          <m:t>𝑖</m:t>
                        </m:r>
                      </m:sub>
                    </m:sSub>
                  </m:oMath>
                </a14:m>
                <a:r>
                  <a:rPr lang="zh-CN" altLang="en-US" sz="1600" dirty="0">
                    <a:latin typeface="Noto Sans SC"/>
                    <a:ea typeface="Noto Sans SC"/>
                  </a:rPr>
                  <a:t>来定位相关参数</a:t>
                </a:r>
                <a:endParaRPr lang="en-US" altLang="zh-CN" sz="1600" dirty="0">
                  <a:latin typeface="Noto Sans SC"/>
                  <a:ea typeface="Noto Sans SC"/>
                </a:endParaRPr>
              </a:p>
            </p:txBody>
          </p:sp>
        </mc:Choice>
        <mc:Fallback xmlns="">
          <p:sp>
            <p:nvSpPr>
              <p:cNvPr id="88" name="文本框 87">
                <a:extLst>
                  <a:ext uri="{FF2B5EF4-FFF2-40B4-BE49-F238E27FC236}">
                    <a16:creationId xmlns:a16="http://schemas.microsoft.com/office/drawing/2014/main" id="{14295767-8ED1-5776-5AD3-893BEEABDE86}"/>
                  </a:ext>
                </a:extLst>
              </p:cNvPr>
              <p:cNvSpPr txBox="1">
                <a:spLocks noRot="1" noChangeAspect="1" noMove="1" noResize="1" noEditPoints="1" noAdjustHandles="1" noChangeArrowheads="1" noChangeShapeType="1" noTextEdit="1"/>
              </p:cNvSpPr>
              <p:nvPr/>
            </p:nvSpPr>
            <p:spPr>
              <a:xfrm>
                <a:off x="4607526" y="3532956"/>
                <a:ext cx="6501055" cy="338554"/>
              </a:xfrm>
              <a:prstGeom prst="rect">
                <a:avLst/>
              </a:prstGeom>
              <a:blipFill>
                <a:blip r:embed="rId4"/>
                <a:stretch>
                  <a:fillRect l="-375" t="-5455" b="-2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4746C84A-F1B6-062D-9EFD-6368D7212A51}"/>
                  </a:ext>
                </a:extLst>
              </p:cNvPr>
              <p:cNvSpPr txBox="1"/>
              <p:nvPr/>
            </p:nvSpPr>
            <p:spPr>
              <a:xfrm>
                <a:off x="4918654" y="3896474"/>
                <a:ext cx="4479150" cy="3752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ea typeface="Noto Sans SC"/>
                            </a:rPr>
                          </m:ctrlPr>
                        </m:sSubPr>
                        <m:e>
                          <m:r>
                            <a:rPr lang="en-US" altLang="zh-CN" sz="1600" b="0" i="1" smtClean="0">
                              <a:latin typeface="Cambria Math" panose="02040503050406030204" pitchFamily="18" charset="0"/>
                              <a:ea typeface="Noto Sans SC"/>
                            </a:rPr>
                            <m:t>𝑚</m:t>
                          </m:r>
                        </m:e>
                        <m:sub>
                          <m:r>
                            <a:rPr lang="en-US" altLang="zh-CN" sz="1600" b="0" i="1" smtClean="0">
                              <a:latin typeface="Cambria Math" panose="02040503050406030204" pitchFamily="18" charset="0"/>
                              <a:ea typeface="Noto Sans SC"/>
                            </a:rPr>
                            <m:t>𝑖</m:t>
                          </m:r>
                        </m:sub>
                      </m:sSub>
                      <m:r>
                        <a:rPr lang="en-US" altLang="zh-CN" sz="1600" b="0" i="1" smtClean="0">
                          <a:latin typeface="Cambria Math" panose="02040503050406030204" pitchFamily="18" charset="0"/>
                          <a:ea typeface="Noto Sans SC"/>
                        </a:rPr>
                        <m:t>=1</m:t>
                      </m:r>
                      <m:d>
                        <m:dPr>
                          <m:begChr m:val="{"/>
                          <m:endChr m:val="}"/>
                          <m:ctrlPr>
                            <a:rPr lang="en-US" altLang="zh-CN" sz="1600" b="0" i="1" smtClean="0">
                              <a:latin typeface="Cambria Math" panose="02040503050406030204" pitchFamily="18" charset="0"/>
                              <a:ea typeface="Noto Sans SC"/>
                            </a:rPr>
                          </m:ctrlPr>
                        </m:dPr>
                        <m:e>
                          <m:d>
                            <m:dPr>
                              <m:begChr m:val="|"/>
                              <m:endChr m:val="|"/>
                              <m:ctrlPr>
                                <a:rPr lang="en-US" altLang="zh-CN" sz="1600" b="0" i="1" smtClean="0">
                                  <a:latin typeface="Cambria Math" panose="02040503050406030204" pitchFamily="18" charset="0"/>
                                  <a:ea typeface="Noto Sans SC"/>
                                </a:rPr>
                              </m:ctrlPr>
                            </m:dPr>
                            <m:e>
                              <m:sSub>
                                <m:sSubPr>
                                  <m:ctrlPr>
                                    <a:rPr lang="en-US" altLang="zh-CN" sz="1600" b="0" i="1" smtClean="0">
                                      <a:latin typeface="Cambria Math" panose="02040503050406030204" pitchFamily="18" charset="0"/>
                                      <a:ea typeface="Noto Sans SC"/>
                                    </a:rPr>
                                  </m:ctrlPr>
                                </m:sSubPr>
                                <m:e>
                                  <m:r>
                                    <a:rPr lang="en-US" altLang="zh-CN" sz="1600" b="0" i="1" smtClean="0">
                                      <a:latin typeface="Cambria Math" panose="02040503050406030204" pitchFamily="18" charset="0"/>
                                      <a:ea typeface="Noto Sans SC"/>
                                    </a:rPr>
                                    <m:t>𝑝</m:t>
                                  </m:r>
                                </m:e>
                                <m:sub>
                                  <m:r>
                                    <a:rPr lang="en-US" altLang="zh-CN" sz="1600" b="0" i="1" smtClean="0">
                                      <a:latin typeface="Cambria Math" panose="02040503050406030204" pitchFamily="18" charset="0"/>
                                      <a:ea typeface="Noto Sans SC"/>
                                    </a:rPr>
                                    <m:t>𝑖</m:t>
                                  </m:r>
                                </m:sub>
                              </m:sSub>
                            </m:e>
                          </m:d>
                          <m:r>
                            <a:rPr lang="en-US" altLang="zh-CN" sz="1600" b="0" i="1" smtClean="0">
                              <a:latin typeface="Cambria Math" panose="02040503050406030204" pitchFamily="18" charset="0"/>
                              <a:ea typeface="Noto Sans SC"/>
                            </a:rPr>
                            <m:t>≥|</m:t>
                          </m:r>
                          <m:sSub>
                            <m:sSubPr>
                              <m:ctrlPr>
                                <a:rPr lang="en-US" altLang="zh-CN" sz="1600" b="0" i="1" smtClean="0">
                                  <a:latin typeface="Cambria Math" panose="02040503050406030204" pitchFamily="18" charset="0"/>
                                  <a:ea typeface="Noto Sans SC"/>
                                </a:rPr>
                              </m:ctrlPr>
                            </m:sSubPr>
                            <m:e>
                              <m:r>
                                <a:rPr lang="en-US" altLang="zh-CN" sz="1600" b="0" i="1" smtClean="0">
                                  <a:latin typeface="Cambria Math" panose="02040503050406030204" pitchFamily="18" charset="0"/>
                                  <a:ea typeface="Noto Sans SC"/>
                                </a:rPr>
                                <m:t>𝑝</m:t>
                              </m:r>
                            </m:e>
                            <m:sub>
                              <m:r>
                                <a:rPr lang="en-US" altLang="zh-CN" sz="1600" b="0" i="1" smtClean="0">
                                  <a:latin typeface="Cambria Math" panose="02040503050406030204" pitchFamily="18" charset="0"/>
                                  <a:ea typeface="Noto Sans SC"/>
                                </a:rPr>
                                <m:t>𝑓𝑢𝑠𝑖𝑜𝑛</m:t>
                              </m:r>
                            </m:sub>
                          </m:sSub>
                          <m:r>
                            <a:rPr lang="en-US" altLang="zh-CN" sz="1600" b="0" i="1" smtClean="0">
                              <a:latin typeface="Cambria Math" panose="02040503050406030204" pitchFamily="18" charset="0"/>
                              <a:ea typeface="Noto Sans SC"/>
                            </a:rPr>
                            <m:t>−</m:t>
                          </m:r>
                          <m:sSub>
                            <m:sSubPr>
                              <m:ctrlPr>
                                <a:rPr lang="en-US" altLang="zh-CN" sz="1600" b="0" i="1" smtClean="0">
                                  <a:latin typeface="Cambria Math" panose="02040503050406030204" pitchFamily="18" charset="0"/>
                                  <a:ea typeface="Noto Sans SC"/>
                                </a:rPr>
                              </m:ctrlPr>
                            </m:sSubPr>
                            <m:e>
                              <m:r>
                                <a:rPr lang="en-US" altLang="zh-CN" sz="1600" b="0" i="1" smtClean="0">
                                  <a:latin typeface="Cambria Math" panose="02040503050406030204" pitchFamily="18" charset="0"/>
                                  <a:ea typeface="Noto Sans SC"/>
                                </a:rPr>
                                <m:t>𝑝</m:t>
                              </m:r>
                            </m:e>
                            <m:sub>
                              <m:r>
                                <a:rPr lang="en-US" altLang="zh-CN" sz="1600" b="0" i="1" smtClean="0">
                                  <a:latin typeface="Cambria Math" panose="02040503050406030204" pitchFamily="18" charset="0"/>
                                  <a:ea typeface="Noto Sans SC"/>
                                </a:rPr>
                                <m:t>𝑖</m:t>
                              </m:r>
                            </m:sub>
                          </m:sSub>
                          <m:r>
                            <a:rPr lang="en-US" altLang="zh-CN" sz="1600" b="0" i="1" smtClean="0">
                              <a:latin typeface="Cambria Math" panose="02040503050406030204" pitchFamily="18" charset="0"/>
                              <a:ea typeface="Noto Sans SC"/>
                            </a:rPr>
                            <m:t>|</m:t>
                          </m:r>
                        </m:e>
                      </m:d>
                    </m:oMath>
                  </m:oMathPara>
                </a14:m>
                <a:endParaRPr lang="en-US" altLang="zh-CN" sz="1600" dirty="0">
                  <a:latin typeface="Noto Sans SC"/>
                  <a:ea typeface="Noto Sans SC"/>
                </a:endParaRPr>
              </a:p>
            </p:txBody>
          </p:sp>
        </mc:Choice>
        <mc:Fallback xmlns="">
          <p:sp>
            <p:nvSpPr>
              <p:cNvPr id="89" name="文本框 88">
                <a:extLst>
                  <a:ext uri="{FF2B5EF4-FFF2-40B4-BE49-F238E27FC236}">
                    <a16:creationId xmlns:a16="http://schemas.microsoft.com/office/drawing/2014/main" id="{4746C84A-F1B6-062D-9EFD-6368D7212A51}"/>
                  </a:ext>
                </a:extLst>
              </p:cNvPr>
              <p:cNvSpPr txBox="1">
                <a:spLocks noRot="1" noChangeAspect="1" noMove="1" noResize="1" noEditPoints="1" noAdjustHandles="1" noChangeArrowheads="1" noChangeShapeType="1" noTextEdit="1"/>
              </p:cNvSpPr>
              <p:nvPr/>
            </p:nvSpPr>
            <p:spPr>
              <a:xfrm>
                <a:off x="4918654" y="3896474"/>
                <a:ext cx="4479150" cy="375296"/>
              </a:xfrm>
              <a:prstGeom prst="rect">
                <a:avLst/>
              </a:prstGeom>
              <a:blipFill>
                <a:blip r:embed="rId5"/>
                <a:stretch>
                  <a:fillRect t="-1613" b="-12903"/>
                </a:stretch>
              </a:blipFill>
            </p:spPr>
            <p:txBody>
              <a:bodyPr/>
              <a:lstStyle/>
              <a:p>
                <a:r>
                  <a:rPr lang="zh-CN" altLang="en-US">
                    <a:noFill/>
                  </a:rPr>
                  <a:t> </a:t>
                </a:r>
              </a:p>
            </p:txBody>
          </p:sp>
        </mc:Fallback>
      </mc:AlternateContent>
      <p:sp>
        <p:nvSpPr>
          <p:cNvPr id="90" name="文本框 89">
            <a:extLst>
              <a:ext uri="{FF2B5EF4-FFF2-40B4-BE49-F238E27FC236}">
                <a16:creationId xmlns:a16="http://schemas.microsoft.com/office/drawing/2014/main" id="{BBF4F840-61A8-E825-08C9-48F897534548}"/>
              </a:ext>
            </a:extLst>
          </p:cNvPr>
          <p:cNvSpPr txBox="1"/>
          <p:nvPr/>
        </p:nvSpPr>
        <p:spPr>
          <a:xfrm>
            <a:off x="4626405" y="4254314"/>
            <a:ext cx="6501055" cy="338554"/>
          </a:xfrm>
          <a:prstGeom prst="rect">
            <a:avLst/>
          </a:prstGeom>
          <a:noFill/>
        </p:spPr>
        <p:txBody>
          <a:bodyPr wrap="square">
            <a:spAutoFit/>
          </a:bodyPr>
          <a:lstStyle/>
          <a:p>
            <a:pPr marL="285750" indent="-285750">
              <a:buFont typeface="Arial" panose="020B0604020202020204" pitchFamily="34" charset="0"/>
              <a:buChar char="•"/>
            </a:pPr>
            <a:r>
              <a:rPr lang="zh-CN" altLang="en-US" sz="1600" dirty="0">
                <a:latin typeface="Noto Sans SC"/>
                <a:ea typeface="Noto Sans SC"/>
                <a:sym typeface="Noto Sans SC"/>
              </a:rPr>
              <a:t>当融合参数与任务参数差距在一定范围时，认为是相关的</a:t>
            </a:r>
            <a:endParaRPr lang="en-US" altLang="zh-CN" sz="1600" dirty="0">
              <a:latin typeface="Noto Sans SC"/>
              <a:ea typeface="Noto Sans SC"/>
            </a:endParaRPr>
          </a:p>
        </p:txBody>
      </p:sp>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53BD532A-D909-5B0F-AF2A-06BBDFA0D616}"/>
                  </a:ext>
                </a:extLst>
              </p:cNvPr>
              <p:cNvSpPr txBox="1"/>
              <p:nvPr/>
            </p:nvSpPr>
            <p:spPr>
              <a:xfrm>
                <a:off x="4607525" y="4596622"/>
                <a:ext cx="6501055" cy="338554"/>
              </a:xfrm>
              <a:prstGeom prst="rect">
                <a:avLst/>
              </a:prstGeom>
              <a:noFill/>
            </p:spPr>
            <p:txBody>
              <a:bodyPr wrap="square">
                <a:spAutoFit/>
              </a:bodyPr>
              <a:lstStyle/>
              <a:p>
                <a:pPr marL="285750" indent="-285750">
                  <a:buFont typeface="Arial" panose="020B0604020202020204" pitchFamily="34" charset="0"/>
                  <a:buChar char="•"/>
                </a:pPr>
                <a:r>
                  <a:rPr lang="zh-CN" altLang="en-US" sz="1600" dirty="0">
                    <a:latin typeface="Noto Sans SC"/>
                    <a:ea typeface="Noto Sans SC"/>
                    <a:sym typeface="Noto Sans SC"/>
                  </a:rPr>
                  <a:t>推理时，对于任务</a:t>
                </a:r>
                <a14:m>
                  <m:oMath xmlns:m="http://schemas.openxmlformats.org/officeDocument/2006/math">
                    <m:r>
                      <a:rPr lang="en-US" altLang="zh-CN" sz="1600" b="0" i="1" smtClean="0">
                        <a:latin typeface="Cambria Math" panose="02040503050406030204" pitchFamily="18" charset="0"/>
                        <a:ea typeface="Noto Sans SC"/>
                        <a:sym typeface="Noto Sans SC"/>
                      </a:rPr>
                      <m:t>𝑖</m:t>
                    </m:r>
                    <m:r>
                      <a:rPr lang="zh-CN" altLang="en-US" sz="1600" i="1">
                        <a:latin typeface="Cambria Math" panose="02040503050406030204" pitchFamily="18" charset="0"/>
                        <a:ea typeface="Noto Sans SC"/>
                        <a:sym typeface="Noto Sans SC"/>
                      </a:rPr>
                      <m:t>，</m:t>
                    </m:r>
                  </m:oMath>
                </a14:m>
                <a:r>
                  <a:rPr lang="zh-CN" altLang="en-US" sz="1600" dirty="0">
                    <a:latin typeface="Noto Sans SC"/>
                    <a:ea typeface="Noto Sans SC"/>
                  </a:rPr>
                  <a:t>推理参数为相应掩码与融合参数相乘</a:t>
                </a:r>
                <a:endParaRPr lang="en-US" altLang="zh-CN" sz="1600" dirty="0">
                  <a:latin typeface="Noto Sans SC"/>
                  <a:ea typeface="Noto Sans SC"/>
                </a:endParaRPr>
              </a:p>
            </p:txBody>
          </p:sp>
        </mc:Choice>
        <mc:Fallback xmlns="">
          <p:sp>
            <p:nvSpPr>
              <p:cNvPr id="91" name="文本框 90">
                <a:extLst>
                  <a:ext uri="{FF2B5EF4-FFF2-40B4-BE49-F238E27FC236}">
                    <a16:creationId xmlns:a16="http://schemas.microsoft.com/office/drawing/2014/main" id="{53BD532A-D909-5B0F-AF2A-06BBDFA0D616}"/>
                  </a:ext>
                </a:extLst>
              </p:cNvPr>
              <p:cNvSpPr txBox="1">
                <a:spLocks noRot="1" noChangeAspect="1" noMove="1" noResize="1" noEditPoints="1" noAdjustHandles="1" noChangeArrowheads="1" noChangeShapeType="1" noTextEdit="1"/>
              </p:cNvSpPr>
              <p:nvPr/>
            </p:nvSpPr>
            <p:spPr>
              <a:xfrm>
                <a:off x="4607525" y="4596622"/>
                <a:ext cx="6501055" cy="338554"/>
              </a:xfrm>
              <a:prstGeom prst="rect">
                <a:avLst/>
              </a:prstGeom>
              <a:blipFill>
                <a:blip r:embed="rId6"/>
                <a:stretch>
                  <a:fillRect l="-375"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0B4AD422-3259-3A21-4FDA-2E9EEF392D8A}"/>
                  </a:ext>
                </a:extLst>
              </p:cNvPr>
              <p:cNvSpPr txBox="1"/>
              <p:nvPr/>
            </p:nvSpPr>
            <p:spPr>
              <a:xfrm>
                <a:off x="5573974" y="4977023"/>
                <a:ext cx="3168510" cy="3583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600" b="0" i="1" smtClean="0">
                              <a:latin typeface="Cambria Math" panose="02040503050406030204" pitchFamily="18" charset="0"/>
                              <a:ea typeface="Noto Sans SC"/>
                            </a:rPr>
                          </m:ctrlPr>
                        </m:accPr>
                        <m:e>
                          <m:sSub>
                            <m:sSubPr>
                              <m:ctrlPr>
                                <a:rPr lang="en-US" altLang="zh-CN" sz="1600" b="0" i="1" smtClean="0">
                                  <a:latin typeface="Cambria Math" panose="02040503050406030204" pitchFamily="18" charset="0"/>
                                  <a:ea typeface="Noto Sans SC"/>
                                </a:rPr>
                              </m:ctrlPr>
                            </m:sSubPr>
                            <m:e>
                              <m:r>
                                <a:rPr lang="en-US" altLang="zh-CN" sz="1600" b="0" i="1" smtClean="0">
                                  <a:latin typeface="Cambria Math" panose="02040503050406030204" pitchFamily="18" charset="0"/>
                                  <a:ea typeface="Noto Sans SC"/>
                                </a:rPr>
                                <m:t>𝑝</m:t>
                              </m:r>
                            </m:e>
                            <m:sub>
                              <m:r>
                                <a:rPr lang="en-US" altLang="zh-CN" sz="1600" b="0" i="1" smtClean="0">
                                  <a:latin typeface="Cambria Math" panose="02040503050406030204" pitchFamily="18" charset="0"/>
                                  <a:ea typeface="Noto Sans SC"/>
                                </a:rPr>
                                <m:t>𝑖</m:t>
                              </m:r>
                            </m:sub>
                          </m:sSub>
                        </m:e>
                      </m:acc>
                      <m:r>
                        <a:rPr lang="en-US" altLang="zh-CN" sz="1600" b="0" i="1" smtClean="0">
                          <a:latin typeface="Cambria Math" panose="02040503050406030204" pitchFamily="18" charset="0"/>
                          <a:ea typeface="Noto Sans SC"/>
                        </a:rPr>
                        <m:t>=</m:t>
                      </m:r>
                      <m:sSub>
                        <m:sSubPr>
                          <m:ctrlPr>
                            <a:rPr lang="en-US" altLang="zh-CN" sz="1600" b="0" i="1" smtClean="0">
                              <a:latin typeface="Cambria Math" panose="02040503050406030204" pitchFamily="18" charset="0"/>
                              <a:ea typeface="Noto Sans SC"/>
                            </a:rPr>
                          </m:ctrlPr>
                        </m:sSubPr>
                        <m:e>
                          <m:r>
                            <a:rPr lang="en-US" altLang="zh-CN" sz="1600" b="0" i="1" smtClean="0">
                              <a:latin typeface="Cambria Math" panose="02040503050406030204" pitchFamily="18" charset="0"/>
                              <a:ea typeface="Noto Sans SC"/>
                            </a:rPr>
                            <m:t>𝑚</m:t>
                          </m:r>
                        </m:e>
                        <m:sub>
                          <m:r>
                            <a:rPr lang="en-US" altLang="zh-CN" sz="1600" b="0" i="1" smtClean="0">
                              <a:latin typeface="Cambria Math" panose="02040503050406030204" pitchFamily="18" charset="0"/>
                              <a:ea typeface="Noto Sans SC"/>
                            </a:rPr>
                            <m:t>𝑖</m:t>
                          </m:r>
                        </m:sub>
                      </m:sSub>
                      <m:r>
                        <a:rPr lang="en-US" altLang="zh-CN" sz="1600" b="0" i="1" smtClean="0">
                          <a:latin typeface="Cambria Math" panose="02040503050406030204" pitchFamily="18" charset="0"/>
                          <a:ea typeface="Cambria Math" panose="02040503050406030204" pitchFamily="18" charset="0"/>
                        </a:rPr>
                        <m:t>⊙</m:t>
                      </m:r>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𝑝</m:t>
                          </m:r>
                        </m:e>
                        <m:sub>
                          <m:r>
                            <a:rPr lang="en-US" altLang="zh-CN" sz="1600" b="0" i="1" smtClean="0">
                              <a:latin typeface="Cambria Math" panose="02040503050406030204" pitchFamily="18" charset="0"/>
                              <a:ea typeface="Cambria Math" panose="02040503050406030204" pitchFamily="18" charset="0"/>
                            </a:rPr>
                            <m:t>𝑓𝑢𝑠𝑖𝑜𝑛</m:t>
                          </m:r>
                        </m:sub>
                      </m:sSub>
                    </m:oMath>
                  </m:oMathPara>
                </a14:m>
                <a:endParaRPr lang="en-US" altLang="zh-CN" sz="1600" dirty="0">
                  <a:latin typeface="Noto Sans SC"/>
                  <a:ea typeface="Noto Sans SC"/>
                </a:endParaRPr>
              </a:p>
            </p:txBody>
          </p:sp>
        </mc:Choice>
        <mc:Fallback xmlns="">
          <p:sp>
            <p:nvSpPr>
              <p:cNvPr id="92" name="文本框 91">
                <a:extLst>
                  <a:ext uri="{FF2B5EF4-FFF2-40B4-BE49-F238E27FC236}">
                    <a16:creationId xmlns:a16="http://schemas.microsoft.com/office/drawing/2014/main" id="{0B4AD422-3259-3A21-4FDA-2E9EEF392D8A}"/>
                  </a:ext>
                </a:extLst>
              </p:cNvPr>
              <p:cNvSpPr txBox="1">
                <a:spLocks noRot="1" noChangeAspect="1" noMove="1" noResize="1" noEditPoints="1" noAdjustHandles="1" noChangeArrowheads="1" noChangeShapeType="1" noTextEdit="1"/>
              </p:cNvSpPr>
              <p:nvPr/>
            </p:nvSpPr>
            <p:spPr>
              <a:xfrm>
                <a:off x="5573974" y="4977023"/>
                <a:ext cx="3168510" cy="358303"/>
              </a:xfrm>
              <a:prstGeom prst="rect">
                <a:avLst/>
              </a:prstGeom>
              <a:blipFill>
                <a:blip r:embed="rId7"/>
                <a:stretch>
                  <a:fillRect t="-5085" b="-152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0046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CF2CE-5A0D-5CC3-9430-793A151B4DC7}"/>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66CF8E6D-E0E9-AE52-C449-07B5D2D84E4E}"/>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347FDBD-B2FD-DB19-122D-59C480299F78}"/>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A0377EB-1C0C-89AC-241D-88519394479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E4F14D0-7781-7933-F98E-034BC89632FC}"/>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pic>
        <p:nvPicPr>
          <p:cNvPr id="5" name="图片 4">
            <a:extLst>
              <a:ext uri="{FF2B5EF4-FFF2-40B4-BE49-F238E27FC236}">
                <a16:creationId xmlns:a16="http://schemas.microsoft.com/office/drawing/2014/main" id="{5BA53487-CD3B-7C10-9CCD-B00F5C5D0A31}"/>
              </a:ext>
            </a:extLst>
          </p:cNvPr>
          <p:cNvPicPr>
            <a:picLocks noChangeAspect="1"/>
          </p:cNvPicPr>
          <p:nvPr/>
        </p:nvPicPr>
        <p:blipFill>
          <a:blip r:embed="rId3"/>
          <a:stretch>
            <a:fillRect/>
          </a:stretch>
        </p:blipFill>
        <p:spPr>
          <a:xfrm>
            <a:off x="727573" y="1157833"/>
            <a:ext cx="10736853" cy="1353138"/>
          </a:xfrm>
          <a:prstGeom prst="rect">
            <a:avLst/>
          </a:prstGeom>
        </p:spPr>
      </p:pic>
      <p:sp>
        <p:nvSpPr>
          <p:cNvPr id="6" name="Rectangle 1">
            <a:extLst>
              <a:ext uri="{FF2B5EF4-FFF2-40B4-BE49-F238E27FC236}">
                <a16:creationId xmlns:a16="http://schemas.microsoft.com/office/drawing/2014/main" id="{D569CDE4-E167-6B33-0618-D50AF194DA66}"/>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
            <a:extLst>
              <a:ext uri="{FF2B5EF4-FFF2-40B4-BE49-F238E27FC236}">
                <a16:creationId xmlns:a16="http://schemas.microsoft.com/office/drawing/2014/main" id="{1F9603A0-C0CD-EEDA-AC7B-45D66F6AF7A1}"/>
              </a:ext>
            </a:extLst>
          </p:cNvPr>
          <p:cNvSpPr>
            <a:spLocks noChangeArrowheads="1"/>
          </p:cNvSpPr>
          <p:nvPr/>
        </p:nvSpPr>
        <p:spPr bwMode="auto">
          <a:xfrm>
            <a:off x="321564" y="2517604"/>
            <a:ext cx="4285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Learnable Fusion Coefficients</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pSp>
        <p:nvGrpSpPr>
          <p:cNvPr id="30" name="组合 29">
            <a:extLst>
              <a:ext uri="{FF2B5EF4-FFF2-40B4-BE49-F238E27FC236}">
                <a16:creationId xmlns:a16="http://schemas.microsoft.com/office/drawing/2014/main" id="{C6872DC7-840F-3671-46C6-0D020B4FB8D5}"/>
              </a:ext>
            </a:extLst>
          </p:cNvPr>
          <p:cNvGrpSpPr/>
          <p:nvPr/>
        </p:nvGrpSpPr>
        <p:grpSpPr>
          <a:xfrm>
            <a:off x="1598117" y="3225880"/>
            <a:ext cx="2798573" cy="1960181"/>
            <a:chOff x="676147" y="4321392"/>
            <a:chExt cx="1751004" cy="1191548"/>
          </a:xfrm>
        </p:grpSpPr>
        <p:cxnSp>
          <p:nvCxnSpPr>
            <p:cNvPr id="2" name="直接箭头连接符 1">
              <a:extLst>
                <a:ext uri="{FF2B5EF4-FFF2-40B4-BE49-F238E27FC236}">
                  <a16:creationId xmlns:a16="http://schemas.microsoft.com/office/drawing/2014/main" id="{FBD73619-6330-C9FB-8989-020ACFB9BBF7}"/>
                </a:ext>
              </a:extLst>
            </p:cNvPr>
            <p:cNvCxnSpPr>
              <a:cxnSpLocks/>
            </p:cNvCxnSpPr>
            <p:nvPr/>
          </p:nvCxnSpPr>
          <p:spPr>
            <a:xfrm flipV="1">
              <a:off x="1165739" y="4321392"/>
              <a:ext cx="643534" cy="846601"/>
            </a:xfrm>
            <a:prstGeom prst="straightConnector1">
              <a:avLst/>
            </a:prstGeom>
            <a:ln w="38100">
              <a:solidFill>
                <a:srgbClr val="00B0F0">
                  <a:alpha val="50196"/>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3" name="直接箭头连接符 2">
              <a:extLst>
                <a:ext uri="{FF2B5EF4-FFF2-40B4-BE49-F238E27FC236}">
                  <a16:creationId xmlns:a16="http://schemas.microsoft.com/office/drawing/2014/main" id="{0D3A858B-9661-D8A7-244A-AFE591B14631}"/>
                </a:ext>
              </a:extLst>
            </p:cNvPr>
            <p:cNvCxnSpPr>
              <a:cxnSpLocks/>
            </p:cNvCxnSpPr>
            <p:nvPr/>
          </p:nvCxnSpPr>
          <p:spPr>
            <a:xfrm>
              <a:off x="1165739" y="5167993"/>
              <a:ext cx="1094596" cy="179267"/>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4674021-14AD-1021-DFC1-0160F5AE41F2}"/>
                    </a:ext>
                  </a:extLst>
                </p:cNvPr>
                <p:cNvSpPr txBox="1"/>
                <p:nvPr/>
              </p:nvSpPr>
              <p:spPr>
                <a:xfrm>
                  <a:off x="1102104" y="5307141"/>
                  <a:ext cx="82339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𝛼</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4" name="文本框 3">
                  <a:extLst>
                    <a:ext uri="{FF2B5EF4-FFF2-40B4-BE49-F238E27FC236}">
                      <a16:creationId xmlns:a16="http://schemas.microsoft.com/office/drawing/2014/main" id="{E4674021-14AD-1021-DFC1-0160F5AE41F2}"/>
                    </a:ext>
                  </a:extLst>
                </p:cNvPr>
                <p:cNvSpPr txBox="1">
                  <a:spLocks noRot="1" noChangeAspect="1" noMove="1" noResize="1" noEditPoints="1" noAdjustHandles="1" noChangeArrowheads="1" noChangeShapeType="1" noTextEdit="1"/>
                </p:cNvSpPr>
                <p:nvPr/>
              </p:nvSpPr>
              <p:spPr>
                <a:xfrm>
                  <a:off x="1102104" y="5307141"/>
                  <a:ext cx="823390" cy="205799"/>
                </a:xfrm>
                <a:prstGeom prst="rect">
                  <a:avLst/>
                </a:prstGeom>
                <a:blipFill>
                  <a:blip r:embed="rId4"/>
                  <a:stretch>
                    <a:fillRect b="-8929"/>
                  </a:stretch>
                </a:blipFill>
              </p:spPr>
              <p:txBody>
                <a:bodyPr/>
                <a:lstStyle/>
                <a:p>
                  <a:r>
                    <a:rPr lang="zh-CN" altLang="en-US">
                      <a:noFill/>
                    </a:rPr>
                    <a:t> </a:t>
                  </a:r>
                </a:p>
              </p:txBody>
            </p:sp>
          </mc:Fallback>
        </mc:AlternateContent>
        <p:sp>
          <p:nvSpPr>
            <p:cNvPr id="8" name="椭圆 7">
              <a:extLst>
                <a:ext uri="{FF2B5EF4-FFF2-40B4-BE49-F238E27FC236}">
                  <a16:creationId xmlns:a16="http://schemas.microsoft.com/office/drawing/2014/main" id="{A425E715-E21D-6429-0DF6-CD35C3BA0E56}"/>
                </a:ext>
              </a:extLst>
            </p:cNvPr>
            <p:cNvSpPr/>
            <p:nvPr/>
          </p:nvSpPr>
          <p:spPr>
            <a:xfrm rot="1274678">
              <a:off x="907239" y="5087458"/>
              <a:ext cx="270000" cy="269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C5B8F58-3F76-1300-87D1-8C25FAFCF56A}"/>
                    </a:ext>
                  </a:extLst>
                </p:cNvPr>
                <p:cNvSpPr txBox="1"/>
                <p:nvPr/>
              </p:nvSpPr>
              <p:spPr>
                <a:xfrm>
                  <a:off x="676147" y="4563439"/>
                  <a:ext cx="70174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i="1" smtClean="0">
                                <a:latin typeface="Cambria Math" panose="02040503050406030204" pitchFamily="18" charset="0"/>
                              </a:rPr>
                              <m:t>𝛼</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10" name="文本框 9">
                  <a:extLst>
                    <a:ext uri="{FF2B5EF4-FFF2-40B4-BE49-F238E27FC236}">
                      <a16:creationId xmlns:a16="http://schemas.microsoft.com/office/drawing/2014/main" id="{3C5B8F58-3F76-1300-87D1-8C25FAFCF56A}"/>
                    </a:ext>
                  </a:extLst>
                </p:cNvPr>
                <p:cNvSpPr txBox="1">
                  <a:spLocks noRot="1" noChangeAspect="1" noMove="1" noResize="1" noEditPoints="1" noAdjustHandles="1" noChangeArrowheads="1" noChangeShapeType="1" noTextEdit="1"/>
                </p:cNvSpPr>
                <p:nvPr/>
              </p:nvSpPr>
              <p:spPr>
                <a:xfrm>
                  <a:off x="676147" y="4563439"/>
                  <a:ext cx="701740" cy="205799"/>
                </a:xfrm>
                <a:prstGeom prst="rect">
                  <a:avLst/>
                </a:prstGeom>
                <a:blipFill>
                  <a:blip r:embed="rId5"/>
                  <a:stretch>
                    <a:fillRect r="-2717" b="-8929"/>
                  </a:stretch>
                </a:blipFill>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59CCE59F-E607-1B32-72A1-DA6E56176C53}"/>
                </a:ext>
              </a:extLst>
            </p:cNvPr>
            <p:cNvCxnSpPr>
              <a:cxnSpLocks/>
              <a:stCxn id="8" idx="7"/>
            </p:cNvCxnSpPr>
            <p:nvPr/>
          </p:nvCxnSpPr>
          <p:spPr>
            <a:xfrm flipV="1">
              <a:off x="1165739" y="4787927"/>
              <a:ext cx="1176676" cy="380066"/>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A69294A6-B33C-C9F1-F6EE-52A4D25C260A}"/>
                </a:ext>
              </a:extLst>
            </p:cNvPr>
            <p:cNvCxnSpPr>
              <a:cxnSpLocks/>
              <a:stCxn id="8" idx="7"/>
            </p:cNvCxnSpPr>
            <p:nvPr/>
          </p:nvCxnSpPr>
          <p:spPr>
            <a:xfrm flipV="1">
              <a:off x="1165739" y="4632054"/>
              <a:ext cx="407765" cy="535939"/>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ADB1E1D5-0390-261A-20DD-0DB307FE39DC}"/>
                </a:ext>
              </a:extLst>
            </p:cNvPr>
            <p:cNvCxnSpPr>
              <a:cxnSpLocks/>
              <a:stCxn id="8" idx="7"/>
            </p:cNvCxnSpPr>
            <p:nvPr/>
          </p:nvCxnSpPr>
          <p:spPr>
            <a:xfrm>
              <a:off x="1165739" y="5167993"/>
              <a:ext cx="853647" cy="145705"/>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cxnSp>
          <p:nvCxnSpPr>
            <p:cNvPr id="28" name="直接箭头连接符 27">
              <a:extLst>
                <a:ext uri="{FF2B5EF4-FFF2-40B4-BE49-F238E27FC236}">
                  <a16:creationId xmlns:a16="http://schemas.microsoft.com/office/drawing/2014/main" id="{D24E1F57-B1C0-DF7D-5382-DD5FFD6D4101}"/>
                </a:ext>
              </a:extLst>
            </p:cNvPr>
            <p:cNvCxnSpPr>
              <a:cxnSpLocks/>
            </p:cNvCxnSpPr>
            <p:nvPr/>
          </p:nvCxnSpPr>
          <p:spPr>
            <a:xfrm>
              <a:off x="1552571" y="4620717"/>
              <a:ext cx="853647" cy="145705"/>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9" name="直接箭头连接符 28">
              <a:extLst>
                <a:ext uri="{FF2B5EF4-FFF2-40B4-BE49-F238E27FC236}">
                  <a16:creationId xmlns:a16="http://schemas.microsoft.com/office/drawing/2014/main" id="{171E74E4-5DF7-65EB-4CBC-B03B35CC232F}"/>
                </a:ext>
              </a:extLst>
            </p:cNvPr>
            <p:cNvCxnSpPr>
              <a:cxnSpLocks/>
            </p:cNvCxnSpPr>
            <p:nvPr/>
          </p:nvCxnSpPr>
          <p:spPr>
            <a:xfrm flipV="1">
              <a:off x="2019386" y="4766422"/>
              <a:ext cx="407765" cy="535939"/>
            </a:xfrm>
            <a:prstGeom prst="straightConnector1">
              <a:avLst/>
            </a:prstGeom>
            <a:ln w="38100">
              <a:solidFill>
                <a:srgbClr val="00B0F0">
                  <a:alpha val="40000"/>
                </a:srgbClr>
              </a:solidFill>
              <a:prstDash val="dash"/>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29F112F7-57AE-A1ED-3FC3-B99B4DEC313B}"/>
                  </a:ext>
                </a:extLst>
              </p:cNvPr>
              <p:cNvSpPr txBox="1"/>
              <p:nvPr/>
            </p:nvSpPr>
            <p:spPr>
              <a:xfrm>
                <a:off x="1847803" y="5236587"/>
                <a:ext cx="3122705" cy="78489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𝐴</m:t>
                          </m:r>
                        </m:e>
                      </m:acc>
                      <m:r>
                        <a:rPr lang="en-US" altLang="zh-CN" sz="1600" b="0" i="1" smtClean="0">
                          <a:latin typeface="Cambria Math" panose="02040503050406030204" pitchFamily="18" charset="0"/>
                        </a:rPr>
                        <m:t>=</m:t>
                      </m:r>
                      <m:nary>
                        <m:naryPr>
                          <m:chr m:val="∑"/>
                          <m:ctrlPr>
                            <a:rPr lang="en-US" altLang="zh-CN" sz="1600" b="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=0</m:t>
                          </m:r>
                        </m:sub>
                        <m:sup>
                          <m:r>
                            <a:rPr lang="en-US" altLang="zh-CN" sz="1600" b="0" i="1" smtClean="0">
                              <a:latin typeface="Cambria Math" panose="02040503050406030204" pitchFamily="18" charset="0"/>
                            </a:rPr>
                            <m:t>𝑁</m:t>
                          </m:r>
                        </m:sup>
                        <m:e>
                          <m:sSub>
                            <m:sSubPr>
                              <m:ctrlPr>
                                <a:rPr lang="en-US" altLang="zh-CN" sz="1600" b="0" i="1" smtClean="0">
                                  <a:latin typeface="Cambria Math" panose="02040503050406030204" pitchFamily="18" charset="0"/>
                                </a:rPr>
                              </m:ctrlPr>
                            </m:sSub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𝛼</m:t>
                                  </m:r>
                                </m:e>
                                <m:sub>
                                  <m:r>
                                    <a:rPr lang="en-US" altLang="zh-CN" sz="1600" b="0" i="1" smtClean="0">
                                      <a:latin typeface="Cambria Math" panose="02040503050406030204" pitchFamily="18" charset="0"/>
                                    </a:rPr>
                                    <m:t>𝑖</m:t>
                                  </m:r>
                                </m:sub>
                              </m:sSub>
                              <m:r>
                                <a:rPr lang="en-US" altLang="zh-CN" sz="1600" i="1">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𝑖</m:t>
                              </m:r>
                            </m:sub>
                          </m:sSub>
                        </m:e>
                      </m:nary>
                      <m:r>
                        <a:rPr lang="en-US" altLang="zh-CN" sz="1600" b="0" i="1" smtClean="0">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b="0" i="1" smtClean="0">
                              <a:latin typeface="Cambria Math" panose="02040503050406030204" pitchFamily="18" charset="0"/>
                            </a:rPr>
                            <m:t>𝐵</m:t>
                          </m:r>
                        </m:e>
                      </m:acc>
                      <m:r>
                        <a:rPr lang="en-US" altLang="zh-CN" sz="1600"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𝑖</m:t>
                          </m:r>
                          <m:r>
                            <a:rPr lang="en-US" altLang="zh-CN" sz="1600" i="1">
                              <a:latin typeface="Cambria Math" panose="02040503050406030204" pitchFamily="18" charset="0"/>
                            </a:rPr>
                            <m:t>=0</m:t>
                          </m:r>
                        </m:sub>
                        <m:sup>
                          <m:r>
                            <a:rPr lang="en-US" altLang="zh-CN" sz="1600" i="1">
                              <a:latin typeface="Cambria Math" panose="02040503050406030204" pitchFamily="18" charset="0"/>
                            </a:rPr>
                            <m:t>𝑁</m:t>
                          </m:r>
                        </m:sup>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𝛽</m:t>
                              </m:r>
                            </m:e>
                            <m:sub>
                              <m:r>
                                <a:rPr lang="en-US" altLang="zh-CN" sz="1600" b="0" i="1" smtClean="0">
                                  <a:latin typeface="Cambria Math" panose="02040503050406030204" pitchFamily="18" charset="0"/>
                                </a:rPr>
                                <m:t>𝑖</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i="1">
                                  <a:latin typeface="Cambria Math" panose="02040503050406030204" pitchFamily="18" charset="0"/>
                                </a:rPr>
                                <m:t>𝑖</m:t>
                              </m:r>
                            </m:sub>
                          </m:sSub>
                        </m:e>
                      </m:nary>
                    </m:oMath>
                  </m:oMathPara>
                </a14:m>
                <a:endParaRPr lang="zh-CN" altLang="en-US" sz="1600" dirty="0"/>
              </a:p>
            </p:txBody>
          </p:sp>
        </mc:Choice>
        <mc:Fallback xmlns="">
          <p:sp>
            <p:nvSpPr>
              <p:cNvPr id="31" name="文本框 30">
                <a:extLst>
                  <a:ext uri="{FF2B5EF4-FFF2-40B4-BE49-F238E27FC236}">
                    <a16:creationId xmlns:a16="http://schemas.microsoft.com/office/drawing/2014/main" id="{29F112F7-57AE-A1ED-3FC3-B99B4DEC313B}"/>
                  </a:ext>
                </a:extLst>
              </p:cNvPr>
              <p:cNvSpPr txBox="1">
                <a:spLocks noRot="1" noChangeAspect="1" noMove="1" noResize="1" noEditPoints="1" noAdjustHandles="1" noChangeArrowheads="1" noChangeShapeType="1" noTextEdit="1"/>
              </p:cNvSpPr>
              <p:nvPr/>
            </p:nvSpPr>
            <p:spPr>
              <a:xfrm>
                <a:off x="1847803" y="5236587"/>
                <a:ext cx="3122705" cy="784895"/>
              </a:xfrm>
              <a:prstGeom prst="rect">
                <a:avLst/>
              </a:prstGeom>
              <a:blipFill>
                <a:blip r:embed="rId6"/>
                <a:stretch>
                  <a:fillRect/>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B1F2E8B0-0D02-2F97-9904-F5D214D84C97}"/>
              </a:ext>
            </a:extLst>
          </p:cNvPr>
          <p:cNvSpPr txBox="1"/>
          <p:nvPr/>
        </p:nvSpPr>
        <p:spPr>
          <a:xfrm>
            <a:off x="4963371" y="4016170"/>
            <a:ext cx="6501055" cy="661720"/>
          </a:xfrm>
          <a:prstGeom prst="rect">
            <a:avLst/>
          </a:prstGeom>
          <a:noFill/>
        </p:spPr>
        <p:txBody>
          <a:bodyPr wrap="square">
            <a:spAutoFit/>
          </a:bodyPr>
          <a:lstStyle/>
          <a:p>
            <a:pPr marL="285750" indent="-285750">
              <a:spcBef>
                <a:spcPts val="600"/>
              </a:spcBef>
              <a:buFont typeface="Arial" panose="020B0604020202020204" pitchFamily="34" charset="0"/>
              <a:buChar char="•"/>
            </a:pPr>
            <a:r>
              <a:rPr lang="zh-CN" altLang="en-US" sz="1600" dirty="0">
                <a:latin typeface="Noto Sans SC"/>
                <a:ea typeface="Noto Sans SC"/>
                <a:sym typeface="Noto Sans SC"/>
              </a:rPr>
              <a:t>为不同任务向量分配不同的融合系数</a:t>
            </a:r>
            <a:endParaRPr lang="en-US" altLang="zh-CN" sz="1600" dirty="0">
              <a:latin typeface="Noto Sans SC"/>
              <a:ea typeface="Noto Sans SC"/>
              <a:sym typeface="Noto Sans SC"/>
            </a:endParaRPr>
          </a:p>
          <a:p>
            <a:pPr marL="285750" indent="-285750">
              <a:spcBef>
                <a:spcPts val="600"/>
              </a:spcBef>
              <a:buFont typeface="Arial" panose="020B0604020202020204" pitchFamily="34" charset="0"/>
              <a:buChar char="•"/>
            </a:pPr>
            <a:r>
              <a:rPr lang="zh-CN" altLang="en-US" sz="1600" dirty="0">
                <a:latin typeface="Noto Sans SC"/>
                <a:ea typeface="Noto Sans SC"/>
              </a:rPr>
              <a:t>通过梯度下降得到最优的融合系数组合</a:t>
            </a:r>
          </a:p>
        </p:txBody>
      </p:sp>
    </p:spTree>
    <p:extLst>
      <p:ext uri="{BB962C8B-B14F-4D97-AF65-F5344CB8AC3E}">
        <p14:creationId xmlns:p14="http://schemas.microsoft.com/office/powerpoint/2010/main" val="3287406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A9A3-B7D5-D66C-DF3D-958A1BED726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A57C403-44B7-8C41-D374-302370F20A5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D6138B-3BA3-B2FA-311E-8351BE8EF1F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F190DEEB-27EF-0758-FD8D-9159EDC2955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33E8D68-F8E3-0DD6-4417-FD754B353F30}"/>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6" name="Rectangle 1">
            <a:extLst>
              <a:ext uri="{FF2B5EF4-FFF2-40B4-BE49-F238E27FC236}">
                <a16:creationId xmlns:a16="http://schemas.microsoft.com/office/drawing/2014/main" id="{56CDA99D-4EC5-CB67-07E1-9E6AC16094B5}"/>
              </a:ext>
            </a:extLst>
          </p:cNvPr>
          <p:cNvSpPr>
            <a:spLocks noChangeArrowheads="1"/>
          </p:cNvSpPr>
          <p:nvPr/>
        </p:nvSpPr>
        <p:spPr bwMode="auto">
          <a:xfrm>
            <a:off x="321564" y="843935"/>
            <a:ext cx="413867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100" b="1" dirty="0">
                <a:solidFill>
                  <a:srgbClr val="333333"/>
                </a:solidFill>
                <a:latin typeface="Noto Sans SC" panose="020B0200000000000000" pitchFamily="34" charset="-122"/>
                <a:ea typeface="Noto Sans SC" panose="020B0200000000000000" pitchFamily="34" charset="-122"/>
              </a:rPr>
              <a:t>数据集、评价指标以及研究问题</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AutoShape 10">
            <a:extLst>
              <a:ext uri="{FF2B5EF4-FFF2-40B4-BE49-F238E27FC236}">
                <a16:creationId xmlns:a16="http://schemas.microsoft.com/office/drawing/2014/main" id="{039FB235-D6C4-012E-6DC3-B071ADF91B7F}"/>
              </a:ext>
            </a:extLst>
          </p:cNvPr>
          <p:cNvSpPr/>
          <p:nvPr/>
        </p:nvSpPr>
        <p:spPr>
          <a:xfrm>
            <a:off x="432689" y="1971747"/>
            <a:ext cx="3556000" cy="4023268"/>
          </a:xfrm>
          <a:prstGeom prst="roundRect">
            <a:avLst>
              <a:gd name="adj" fmla="val 2857"/>
            </a:avLst>
          </a:prstGeom>
          <a:solidFill>
            <a:srgbClr val="F9FAFB">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9" name="AutoShape 11">
            <a:extLst>
              <a:ext uri="{FF2B5EF4-FFF2-40B4-BE49-F238E27FC236}">
                <a16:creationId xmlns:a16="http://schemas.microsoft.com/office/drawing/2014/main" id="{F689374F-5CD3-EBFC-FA88-1F3ADA03BDB5}"/>
              </a:ext>
            </a:extLst>
          </p:cNvPr>
          <p:cNvSpPr/>
          <p:nvPr/>
        </p:nvSpPr>
        <p:spPr>
          <a:xfrm>
            <a:off x="432689" y="1971747"/>
            <a:ext cx="3556000" cy="698500"/>
          </a:xfrm>
          <a:prstGeom prst="roundRect">
            <a:avLst>
              <a:gd name="adj" fmla="val 14545"/>
            </a:avLst>
          </a:prstGeom>
          <a:solidFill>
            <a:srgbClr val="3B82F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1" name="AutoShape 12">
            <a:extLst>
              <a:ext uri="{FF2B5EF4-FFF2-40B4-BE49-F238E27FC236}">
                <a16:creationId xmlns:a16="http://schemas.microsoft.com/office/drawing/2014/main" id="{9B272F88-52FC-7903-0E30-353BD9055C16}"/>
              </a:ext>
            </a:extLst>
          </p:cNvPr>
          <p:cNvSpPr/>
          <p:nvPr/>
        </p:nvSpPr>
        <p:spPr>
          <a:xfrm>
            <a:off x="559689" y="2121451"/>
            <a:ext cx="3302000" cy="444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1900" b="1" i="0" u="none" strike="noStrike" dirty="0">
                <a:solidFill>
                  <a:srgbClr val="FFFFFF"/>
                </a:solidFill>
                <a:latin typeface="Noto Sans SC"/>
                <a:ea typeface="Noto Sans SC"/>
                <a:cs typeface="Noto Sans SC"/>
                <a:sym typeface="Noto Sans SC"/>
              </a:rPr>
              <a:t> </a:t>
            </a:r>
            <a:r>
              <a:rPr lang="en-US" sz="1900" b="1" i="0" u="none" strike="noStrike" dirty="0" err="1">
                <a:solidFill>
                  <a:srgbClr val="FFFFFF"/>
                </a:solidFill>
                <a:latin typeface="Noto Sans SC"/>
                <a:ea typeface="Noto Sans SC"/>
                <a:cs typeface="Noto Sans SC"/>
                <a:sym typeface="Noto Sans SC"/>
              </a:rPr>
              <a:t>评价指标</a:t>
            </a:r>
            <a:r>
              <a:rPr lang="en-US" sz="1900" b="1" i="0" u="none" strike="noStrike" dirty="0">
                <a:solidFill>
                  <a:srgbClr val="FFFFFF"/>
                </a:solidFill>
                <a:latin typeface="Noto Sans SC"/>
                <a:ea typeface="Noto Sans SC"/>
                <a:cs typeface="Noto Sans SC"/>
                <a:sym typeface="Noto Sans SC"/>
              </a:rPr>
              <a:t> </a:t>
            </a:r>
            <a:endParaRPr lang="en-US" sz="1100" dirty="0"/>
          </a:p>
        </p:txBody>
      </p:sp>
      <mc:AlternateContent xmlns:mc="http://schemas.openxmlformats.org/markup-compatibility/2006" xmlns:a14="http://schemas.microsoft.com/office/drawing/2010/main">
        <mc:Choice Requires="a14">
          <p:sp>
            <p:nvSpPr>
              <p:cNvPr id="12" name="AutoShape 13">
                <a:extLst>
                  <a:ext uri="{FF2B5EF4-FFF2-40B4-BE49-F238E27FC236}">
                    <a16:creationId xmlns:a16="http://schemas.microsoft.com/office/drawing/2014/main" id="{A5432954-A9ED-7326-7E9A-43C64AAFA383}"/>
                  </a:ext>
                </a:extLst>
              </p:cNvPr>
              <p:cNvSpPr/>
              <p:nvPr/>
            </p:nvSpPr>
            <p:spPr>
              <a:xfrm>
                <a:off x="543814" y="2761531"/>
                <a:ext cx="3333750" cy="3233484"/>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08000" indent="-144000" algn="l">
                  <a:lnSpc>
                    <a:spcPct val="108333"/>
                  </a:lnSpc>
                  <a:spcBef>
                    <a:spcPts val="1200"/>
                  </a:spcBef>
                  <a:buFont typeface="Arial" panose="020B0604020202020204" pitchFamily="34" charset="0"/>
                  <a:buChar char="•"/>
                  <a:defRPr/>
                </a:pPr>
                <a:r>
                  <a:rPr lang="zh-CN" altLang="en-US" sz="1300" b="1" i="0" u="none" strike="noStrike" dirty="0">
                    <a:solidFill>
                      <a:schemeClr val="tx1"/>
                    </a:solidFill>
                    <a:latin typeface="Noto Sans SC"/>
                    <a:ea typeface="Noto Sans SC"/>
                    <a:cs typeface="Noto Sans SC"/>
                    <a:sym typeface="Noto Sans SC"/>
                  </a:rPr>
                  <a:t>代码搜索</a:t>
                </a:r>
                <a:r>
                  <a:rPr lang="en-US" sz="1300" b="1" i="0" u="none" strike="noStrike" dirty="0">
                    <a:solidFill>
                      <a:schemeClr val="tx1"/>
                    </a:solidFill>
                    <a:latin typeface="Noto Sans SC"/>
                    <a:ea typeface="Noto Sans SC"/>
                    <a:cs typeface="Noto Sans SC"/>
                    <a:sym typeface="Noto Sans SC"/>
                  </a:rPr>
                  <a:t>:</a:t>
                </a:r>
                <a:r>
                  <a:rPr lang="en-US" sz="1300" b="0" i="0" u="none" strike="noStrike" dirty="0">
                    <a:solidFill>
                      <a:schemeClr val="tx1"/>
                    </a:solidFill>
                    <a:latin typeface="Noto Sans SC"/>
                    <a:ea typeface="Noto Sans SC"/>
                    <a:cs typeface="Noto Sans SC"/>
                    <a:sym typeface="Noto Sans SC"/>
                  </a:rPr>
                  <a:t> MRR</a:t>
                </a:r>
                <a:endParaRPr lang="en-US" sz="1100" dirty="0">
                  <a:solidFill>
                    <a:schemeClr val="tx1"/>
                  </a:solidFill>
                </a:endParaRPr>
              </a:p>
              <a:p>
                <a:pPr marL="108000" indent="-144000" algn="l">
                  <a:lnSpc>
                    <a:spcPct val="108333"/>
                  </a:lnSpc>
                  <a:spcBef>
                    <a:spcPts val="1200"/>
                  </a:spcBef>
                  <a:buFont typeface="Arial" panose="020B0604020202020204" pitchFamily="34" charset="0"/>
                  <a:buChar char="•"/>
                </a:pPr>
                <a:r>
                  <a:rPr lang="zh-CN" altLang="en-US" sz="1300" b="1" dirty="0">
                    <a:solidFill>
                      <a:schemeClr val="tx1"/>
                    </a:solidFill>
                    <a:latin typeface="Noto Sans SC"/>
                    <a:ea typeface="Noto Sans SC"/>
                    <a:cs typeface="Noto Sans SC"/>
                    <a:sym typeface="Noto Sans SC"/>
                  </a:rPr>
                  <a:t>漏洞检测、克隆检测</a:t>
                </a:r>
                <a:r>
                  <a:rPr lang="en-US" sz="1300" b="1" i="0" u="none" strike="noStrike" dirty="0">
                    <a:solidFill>
                      <a:schemeClr val="tx1"/>
                    </a:solidFill>
                    <a:latin typeface="Noto Sans SC"/>
                    <a:ea typeface="Noto Sans SC"/>
                    <a:cs typeface="Noto Sans SC"/>
                    <a:sym typeface="Noto Sans SC"/>
                  </a:rPr>
                  <a:t>: </a:t>
                </a:r>
                <a:r>
                  <a:rPr lang="en-US" sz="1300" b="0" i="0" u="none" strike="noStrike" dirty="0">
                    <a:solidFill>
                      <a:schemeClr val="tx1"/>
                    </a:solidFill>
                    <a:latin typeface="Noto Sans SC"/>
                    <a:ea typeface="Noto Sans SC"/>
                    <a:cs typeface="Noto Sans SC"/>
                    <a:sym typeface="Noto Sans SC"/>
                  </a:rPr>
                  <a:t>Accuracy, Precision, Recall, F1</a:t>
                </a:r>
              </a:p>
              <a:p>
                <a:pPr marL="108000" indent="-144000" algn="l">
                  <a:lnSpc>
                    <a:spcPct val="108333"/>
                  </a:lnSpc>
                  <a:spcBef>
                    <a:spcPts val="1200"/>
                  </a:spcBef>
                  <a:buFont typeface="Arial" panose="020B0604020202020204" pitchFamily="34" charset="0"/>
                  <a:buChar char="•"/>
                </a:pPr>
                <a:r>
                  <a:rPr lang="zh-CN" altLang="en-US" sz="1300" b="1" i="0" u="none" strike="noStrike" dirty="0">
                    <a:solidFill>
                      <a:schemeClr val="tx1"/>
                    </a:solidFill>
                    <a:latin typeface="Noto Sans SC"/>
                    <a:ea typeface="Noto Sans SC"/>
                    <a:cs typeface="Noto Sans SC"/>
                    <a:sym typeface="Noto Sans SC"/>
                  </a:rPr>
                  <a:t>摘要生成</a:t>
                </a:r>
                <a:r>
                  <a:rPr lang="en-US" sz="1300" b="1" i="0" u="none" strike="noStrike" dirty="0">
                    <a:solidFill>
                      <a:schemeClr val="tx1"/>
                    </a:solidFill>
                    <a:latin typeface="Noto Sans SC"/>
                    <a:ea typeface="Noto Sans SC"/>
                    <a:cs typeface="Noto Sans SC"/>
                    <a:sym typeface="Noto Sans SC"/>
                  </a:rPr>
                  <a:t>: </a:t>
                </a:r>
                <a:r>
                  <a:rPr lang="en-US" sz="1300" b="0" i="0" u="none" strike="noStrike" dirty="0">
                    <a:solidFill>
                      <a:schemeClr val="tx1"/>
                    </a:solidFill>
                    <a:latin typeface="Noto Sans SC"/>
                    <a:ea typeface="Noto Sans SC"/>
                    <a:cs typeface="Noto Sans SC"/>
                    <a:sym typeface="Noto Sans SC"/>
                  </a:rPr>
                  <a:t>BLEU-4, </a:t>
                </a:r>
                <a:r>
                  <a:rPr lang="en-US" sz="1300" b="0" i="0" u="none" strike="noStrike" dirty="0" err="1">
                    <a:solidFill>
                      <a:schemeClr val="tx1"/>
                    </a:solidFill>
                    <a:latin typeface="Noto Sans SC"/>
                    <a:ea typeface="Noto Sans SC"/>
                    <a:cs typeface="Noto Sans SC"/>
                    <a:sym typeface="Noto Sans SC"/>
                  </a:rPr>
                  <a:t>BERTScore</a:t>
                </a:r>
                <a:endParaRPr lang="en-US" sz="1300" b="0" i="0" u="none" strike="noStrike" dirty="0">
                  <a:solidFill>
                    <a:schemeClr val="tx1"/>
                  </a:solidFill>
                  <a:latin typeface="Noto Sans SC"/>
                  <a:ea typeface="Noto Sans SC"/>
                  <a:cs typeface="Noto Sans SC"/>
                  <a:sym typeface="Noto Sans SC"/>
                </a:endParaRPr>
              </a:p>
              <a:p>
                <a:pPr marL="108000" indent="-144000" algn="l">
                  <a:lnSpc>
                    <a:spcPct val="108333"/>
                  </a:lnSpc>
                  <a:spcBef>
                    <a:spcPts val="1200"/>
                  </a:spcBef>
                  <a:buFont typeface="Arial" panose="020B0604020202020204" pitchFamily="34" charset="0"/>
                  <a:buChar char="•"/>
                </a:pPr>
                <a:r>
                  <a:rPr lang="zh-CN" altLang="en-US" sz="1300" b="1" i="0" u="none" strike="noStrike" dirty="0">
                    <a:solidFill>
                      <a:schemeClr val="tx1"/>
                    </a:solidFill>
                    <a:latin typeface="Noto Sans SC"/>
                    <a:ea typeface="Noto Sans SC"/>
                    <a:cs typeface="Noto Sans SC"/>
                    <a:sym typeface="Noto Sans SC"/>
                  </a:rPr>
                  <a:t>代码生成、代码修复</a:t>
                </a:r>
                <a:r>
                  <a:rPr lang="en-US" sz="1300" b="1" i="0" u="none" strike="noStrike" dirty="0">
                    <a:solidFill>
                      <a:schemeClr val="tx1"/>
                    </a:solidFill>
                    <a:latin typeface="Noto Sans SC"/>
                    <a:ea typeface="Noto Sans SC"/>
                    <a:cs typeface="Noto Sans SC"/>
                    <a:sym typeface="Noto Sans SC"/>
                  </a:rPr>
                  <a:t>: </a:t>
                </a:r>
                <a:r>
                  <a:rPr lang="en-US" sz="1300" b="0" i="0" u="none" strike="noStrike" dirty="0">
                    <a:solidFill>
                      <a:schemeClr val="tx1"/>
                    </a:solidFill>
                    <a:latin typeface="Noto Sans SC"/>
                    <a:ea typeface="Noto Sans SC"/>
                    <a:cs typeface="Noto Sans SC"/>
                    <a:sym typeface="Noto Sans SC"/>
                  </a:rPr>
                  <a:t>pass@</a:t>
                </a:r>
                <a:r>
                  <a:rPr lang="en-US" sz="1300" dirty="0">
                    <a:solidFill>
                      <a:schemeClr val="tx1"/>
                    </a:solidFill>
                    <a:latin typeface="Noto Sans SC"/>
                    <a:ea typeface="Noto Sans SC"/>
                    <a:cs typeface="Noto Sans SC"/>
                    <a:sym typeface="Noto Sans SC"/>
                  </a:rPr>
                  <a:t>5</a:t>
                </a:r>
                <a:endParaRPr lang="en-US" sz="1300" b="0" i="0" u="none" strike="noStrike" dirty="0">
                  <a:solidFill>
                    <a:schemeClr val="tx1"/>
                  </a:solidFill>
                  <a:latin typeface="Noto Sans SC"/>
                  <a:ea typeface="Noto Sans SC"/>
                  <a:cs typeface="Noto Sans SC"/>
                  <a:sym typeface="Noto Sans SC"/>
                </a:endParaRPr>
              </a:p>
              <a:p>
                <a:pPr marL="108000" indent="-144000" algn="l">
                  <a:lnSpc>
                    <a:spcPct val="100000"/>
                  </a:lnSpc>
                  <a:spcBef>
                    <a:spcPts val="1200"/>
                  </a:spcBef>
                  <a:buFont typeface="Arial" panose="020B0604020202020204" pitchFamily="34" charset="0"/>
                  <a:buChar char="•"/>
                </a:pPr>
                <a:r>
                  <a:rPr lang="zh-CN" altLang="en-US" sz="1300" b="1" i="0" u="none" strike="noStrike" dirty="0">
                    <a:solidFill>
                      <a:schemeClr val="tx1"/>
                    </a:solidFill>
                    <a:latin typeface="Noto Sans SC"/>
                    <a:ea typeface="Noto Sans SC"/>
                    <a:cs typeface="Noto Sans SC"/>
                    <a:sym typeface="Noto Sans SC"/>
                  </a:rPr>
                  <a:t>模型融合</a:t>
                </a:r>
                <a:r>
                  <a:rPr lang="en-US" sz="1300" b="1" i="0" u="none" strike="noStrike" dirty="0">
                    <a:solidFill>
                      <a:schemeClr val="tx1"/>
                    </a:solidFill>
                    <a:latin typeface="Noto Sans SC"/>
                    <a:ea typeface="Noto Sans SC"/>
                    <a:cs typeface="Noto Sans SC"/>
                    <a:sym typeface="Noto Sans SC"/>
                  </a:rPr>
                  <a:t>: Normalized Accuracy (N. Acc.)</a:t>
                </a:r>
              </a:p>
              <a:p>
                <a:pPr>
                  <a:spcBef>
                    <a:spcPts val="1200"/>
                  </a:spcBef>
                </a:pPr>
                <a14:m>
                  <m:oMathPara xmlns:m="http://schemas.openxmlformats.org/officeDocument/2006/math">
                    <m:oMathParaPr>
                      <m:jc m:val="centerGroup"/>
                    </m:oMathParaPr>
                    <m:oMath xmlns:m="http://schemas.openxmlformats.org/officeDocument/2006/math">
                      <m:r>
                        <a:rPr lang="en-US" b="0" i="1" u="none" strike="noStrike" dirty="0" smtClean="0">
                          <a:solidFill>
                            <a:schemeClr val="tx1"/>
                          </a:solidFill>
                          <a:latin typeface="Cambria Math" panose="02040503050406030204" pitchFamily="18" charset="0"/>
                          <a:ea typeface="Noto Sans SC"/>
                          <a:cs typeface="Noto Sans SC"/>
                          <a:sym typeface="Noto Sans SC"/>
                        </a:rPr>
                        <m:t>𝑁</m:t>
                      </m:r>
                      <m:r>
                        <a:rPr lang="en-US" b="0" i="1" u="none" strike="noStrike" dirty="0" smtClean="0">
                          <a:solidFill>
                            <a:schemeClr val="tx1"/>
                          </a:solidFill>
                          <a:latin typeface="Cambria Math" panose="02040503050406030204" pitchFamily="18" charset="0"/>
                          <a:ea typeface="Noto Sans SC"/>
                          <a:cs typeface="Noto Sans SC"/>
                          <a:sym typeface="Noto Sans SC"/>
                        </a:rPr>
                        <m:t>. </m:t>
                      </m:r>
                      <m:r>
                        <a:rPr lang="en-US" b="0" i="1" u="none" strike="noStrike" dirty="0" smtClean="0">
                          <a:solidFill>
                            <a:schemeClr val="tx1"/>
                          </a:solidFill>
                          <a:latin typeface="Cambria Math" panose="02040503050406030204" pitchFamily="18" charset="0"/>
                          <a:ea typeface="Noto Sans SC"/>
                          <a:cs typeface="Noto Sans SC"/>
                          <a:sym typeface="Noto Sans SC"/>
                        </a:rPr>
                        <m:t>𝐴𝑐𝑐</m:t>
                      </m:r>
                      <m:r>
                        <a:rPr lang="en-US" b="0" i="1" u="none" strike="noStrike" dirty="0" smtClean="0">
                          <a:solidFill>
                            <a:schemeClr val="tx1"/>
                          </a:solidFill>
                          <a:latin typeface="Cambria Math" panose="02040503050406030204" pitchFamily="18" charset="0"/>
                          <a:ea typeface="Noto Sans SC"/>
                          <a:cs typeface="Noto Sans SC"/>
                          <a:sym typeface="Noto Sans SC"/>
                        </a:rPr>
                        <m:t>. =</m:t>
                      </m:r>
                      <m:f>
                        <m:fPr>
                          <m:ctrlPr>
                            <a:rPr lang="en-US" b="0" i="1" u="none" strike="noStrike" dirty="0" smtClean="0">
                              <a:solidFill>
                                <a:schemeClr val="tx1"/>
                              </a:solidFill>
                              <a:latin typeface="Cambria Math" panose="02040503050406030204" pitchFamily="18" charset="0"/>
                              <a:ea typeface="Noto Sans SC"/>
                              <a:cs typeface="Noto Sans SC"/>
                              <a:sym typeface="Noto Sans SC"/>
                            </a:rPr>
                          </m:ctrlPr>
                        </m:fPr>
                        <m:num>
                          <m:sSub>
                            <m:sSubPr>
                              <m:ctrlPr>
                                <a:rPr lang="en-US" b="0" i="1" u="none" strike="noStrike" dirty="0" err="1">
                                  <a:solidFill>
                                    <a:schemeClr val="tx1"/>
                                  </a:solidFill>
                                  <a:latin typeface="Cambria Math" panose="02040503050406030204" pitchFamily="18" charset="0"/>
                                  <a:ea typeface="Noto Sans SC"/>
                                  <a:cs typeface="Noto Sans SC"/>
                                  <a:sym typeface="Noto Sans SC"/>
                                </a:rPr>
                              </m:ctrlPr>
                            </m:sSubPr>
                            <m:e>
                              <m:r>
                                <a:rPr lang="en-US" b="0" i="1" u="none" strike="noStrike" dirty="0" err="1">
                                  <a:solidFill>
                                    <a:schemeClr val="tx1"/>
                                  </a:solidFill>
                                  <a:latin typeface="Cambria Math" panose="02040503050406030204" pitchFamily="18" charset="0"/>
                                  <a:ea typeface="Noto Sans SC"/>
                                  <a:cs typeface="Noto Sans SC"/>
                                  <a:sym typeface="Noto Sans SC"/>
                                </a:rPr>
                                <m:t>𝑆</m:t>
                              </m:r>
                            </m:e>
                            <m:sub>
                              <m:r>
                                <a:rPr lang="en-US" b="0" i="1" u="none" strike="noStrike" dirty="0" err="1">
                                  <a:solidFill>
                                    <a:schemeClr val="tx1"/>
                                  </a:solidFill>
                                  <a:latin typeface="Cambria Math" panose="02040503050406030204" pitchFamily="18" charset="0"/>
                                  <a:ea typeface="Noto Sans SC"/>
                                  <a:cs typeface="Noto Sans SC"/>
                                  <a:sym typeface="Noto Sans SC"/>
                                </a:rPr>
                                <m:t>𝑓𝑢𝑠𝑖𝑜𝑛</m:t>
                              </m:r>
                            </m:sub>
                          </m:sSub>
                        </m:num>
                        <m:den>
                          <m:sSub>
                            <m:sSubPr>
                              <m:ctrlPr>
                                <a:rPr lang="en-US" altLang="zh-CN" i="1" dirty="0">
                                  <a:solidFill>
                                    <a:schemeClr val="tx1"/>
                                  </a:solidFill>
                                  <a:latin typeface="Cambria Math" panose="02040503050406030204" pitchFamily="18" charset="0"/>
                                  <a:ea typeface="Noto Sans SC"/>
                                  <a:sym typeface="Noto Sans SC"/>
                                </a:rPr>
                              </m:ctrlPr>
                            </m:sSubPr>
                            <m:e>
                              <m:r>
                                <a:rPr lang="en-US" altLang="zh-CN" i="1" dirty="0" err="1">
                                  <a:solidFill>
                                    <a:schemeClr val="tx1"/>
                                  </a:solidFill>
                                  <a:latin typeface="Cambria Math" panose="02040503050406030204" pitchFamily="18" charset="0"/>
                                  <a:ea typeface="Noto Sans SC"/>
                                  <a:cs typeface="Noto Sans SC"/>
                                  <a:sym typeface="Noto Sans SC"/>
                                </a:rPr>
                                <m:t>𝑆</m:t>
                              </m:r>
                            </m:e>
                            <m:sub>
                              <m:r>
                                <a:rPr lang="en-US" altLang="zh-CN" i="1" dirty="0" err="1">
                                  <a:solidFill>
                                    <a:schemeClr val="tx1"/>
                                  </a:solidFill>
                                  <a:latin typeface="Cambria Math" panose="02040503050406030204" pitchFamily="18" charset="0"/>
                                  <a:ea typeface="Noto Sans SC"/>
                                  <a:cs typeface="Noto Sans SC"/>
                                  <a:sym typeface="Noto Sans SC"/>
                                </a:rPr>
                                <m:t>𝑓𝑡</m:t>
                              </m:r>
                              <m:r>
                                <a:rPr lang="en-US" altLang="zh-CN" i="1" dirty="0">
                                  <a:solidFill>
                                    <a:schemeClr val="tx1"/>
                                  </a:solidFill>
                                  <a:latin typeface="Cambria Math" panose="02040503050406030204" pitchFamily="18" charset="0"/>
                                  <a:ea typeface="Noto Sans SC"/>
                                  <a:cs typeface="Noto Sans SC"/>
                                  <a:sym typeface="Noto Sans SC"/>
                                </a:rPr>
                                <m:t> </m:t>
                              </m:r>
                            </m:sub>
                          </m:sSub>
                        </m:den>
                      </m:f>
                    </m:oMath>
                  </m:oMathPara>
                </a14:m>
                <a:endParaRPr lang="en-US" sz="1200" b="0" i="1" u="none" strike="noStrike" dirty="0">
                  <a:solidFill>
                    <a:schemeClr val="tx1"/>
                  </a:solidFill>
                  <a:latin typeface="Noto Sans SC"/>
                  <a:ea typeface="Noto Sans SC"/>
                  <a:cs typeface="Noto Sans SC"/>
                  <a:sym typeface="Noto Sans SC"/>
                </a:endParaRPr>
              </a:p>
              <a:p>
                <a:pPr indent="-457200" algn="l">
                  <a:lnSpc>
                    <a:spcPct val="125000"/>
                  </a:lnSpc>
                  <a:spcBef>
                    <a:spcPts val="1200"/>
                  </a:spcBef>
                </a:pPr>
                <a:r>
                  <a:rPr lang="en-US" sz="1200" dirty="0">
                    <a:solidFill>
                      <a:schemeClr val="tx1"/>
                    </a:solidFill>
                    <a:latin typeface="Noto Sans SC"/>
                    <a:ea typeface="Noto Sans SC"/>
                    <a:cs typeface="Noto Sans SC"/>
                    <a:sym typeface="Noto Sans SC"/>
                  </a:rPr>
                  <a:t>       </a:t>
                </a:r>
                <a:r>
                  <a:rPr lang="en-US" sz="1200" b="0" i="0" u="none" strike="noStrike" dirty="0" err="1">
                    <a:solidFill>
                      <a:schemeClr val="tx1"/>
                    </a:solidFill>
                    <a:latin typeface="Noto Sans SC"/>
                    <a:ea typeface="Noto Sans SC"/>
                    <a:cs typeface="Noto Sans SC"/>
                    <a:sym typeface="Noto Sans SC"/>
                  </a:rPr>
                  <a:t>衡量融合模型性能保留程度的关键指标，评估模型在多任务下的综合表现</a:t>
                </a:r>
                <a:r>
                  <a:rPr lang="en-US" sz="1200" b="0" i="0" u="none" strike="noStrike" dirty="0">
                    <a:solidFill>
                      <a:schemeClr val="tx1"/>
                    </a:solidFill>
                    <a:latin typeface="Noto Sans SC"/>
                    <a:ea typeface="Noto Sans SC"/>
                    <a:cs typeface="Noto Sans SC"/>
                    <a:sym typeface="Noto Sans SC"/>
                  </a:rPr>
                  <a:t>。</a:t>
                </a:r>
              </a:p>
            </p:txBody>
          </p:sp>
        </mc:Choice>
        <mc:Fallback xmlns="">
          <p:sp>
            <p:nvSpPr>
              <p:cNvPr id="12" name="AutoShape 13">
                <a:extLst>
                  <a:ext uri="{FF2B5EF4-FFF2-40B4-BE49-F238E27FC236}">
                    <a16:creationId xmlns:a16="http://schemas.microsoft.com/office/drawing/2014/main" id="{A5432954-A9ED-7326-7E9A-43C64AAFA383}"/>
                  </a:ext>
                </a:extLst>
              </p:cNvPr>
              <p:cNvSpPr>
                <a:spLocks noRot="1" noChangeAspect="1" noMove="1" noResize="1" noEditPoints="1" noAdjustHandles="1" noChangeArrowheads="1" noChangeShapeType="1" noTextEdit="1"/>
              </p:cNvSpPr>
              <p:nvPr/>
            </p:nvSpPr>
            <p:spPr>
              <a:xfrm>
                <a:off x="543814" y="2761531"/>
                <a:ext cx="3333750" cy="3233484"/>
              </a:xfrm>
              <a:prstGeom prst="rect">
                <a:avLst/>
              </a:prstGeom>
              <a:blipFill>
                <a:blip r:embed="rId3"/>
                <a:stretch>
                  <a:fillRect l="-2742" r="-3291"/>
                </a:stretch>
              </a:blipFill>
              <a:ln w="12700" cap="flat" cmpd="sng">
                <a:noFill/>
                <a:prstDash val="solid"/>
                <a:round/>
              </a:ln>
            </p:spPr>
            <p:txBody>
              <a:bodyPr/>
              <a:lstStyle/>
              <a:p>
                <a:r>
                  <a:rPr lang="zh-CN" altLang="en-US">
                    <a:noFill/>
                  </a:rPr>
                  <a:t> </a:t>
                </a:r>
              </a:p>
            </p:txBody>
          </p:sp>
        </mc:Fallback>
      </mc:AlternateContent>
      <p:sp>
        <p:nvSpPr>
          <p:cNvPr id="13" name="AutoShape 14">
            <a:extLst>
              <a:ext uri="{FF2B5EF4-FFF2-40B4-BE49-F238E27FC236}">
                <a16:creationId xmlns:a16="http://schemas.microsoft.com/office/drawing/2014/main" id="{8B0A2F89-CC4B-255E-E222-480B26B064C6}"/>
              </a:ext>
            </a:extLst>
          </p:cNvPr>
          <p:cNvSpPr/>
          <p:nvPr/>
        </p:nvSpPr>
        <p:spPr>
          <a:xfrm>
            <a:off x="4131564" y="1971747"/>
            <a:ext cx="3365500" cy="4023268"/>
          </a:xfrm>
          <a:prstGeom prst="roundRect">
            <a:avLst>
              <a:gd name="adj" fmla="val 2857"/>
            </a:avLst>
          </a:prstGeom>
          <a:solidFill>
            <a:srgbClr val="F9FAFB">
              <a:alpha val="100000"/>
            </a:srgbClr>
          </a:solidFill>
          <a:ln w="12700" cap="flat" cmpd="sng">
            <a:solidFill>
              <a:srgbClr val="E5E7EB">
                <a:alpha val="100000"/>
              </a:srgbClr>
            </a:solidFill>
            <a:prstDash val="solid"/>
            <a:round/>
          </a:ln>
          <a:effectLst>
            <a:outerShdw blurRad="495300" dist="177800" dir="2400000" sx="98000" sy="98000" algn="tl" rotWithShape="0">
              <a:srgbClr val="000000">
                <a:alpha val="25000"/>
              </a:srgbClr>
            </a:outerShdw>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4" name="AutoShape 15">
            <a:extLst>
              <a:ext uri="{FF2B5EF4-FFF2-40B4-BE49-F238E27FC236}">
                <a16:creationId xmlns:a16="http://schemas.microsoft.com/office/drawing/2014/main" id="{9B7FD60A-5D9C-E75F-EE18-7783D49E4D50}"/>
              </a:ext>
            </a:extLst>
          </p:cNvPr>
          <p:cNvSpPr/>
          <p:nvPr/>
        </p:nvSpPr>
        <p:spPr>
          <a:xfrm>
            <a:off x="4131564" y="1971747"/>
            <a:ext cx="3365500" cy="698500"/>
          </a:xfrm>
          <a:prstGeom prst="roundRect">
            <a:avLst>
              <a:gd name="adj" fmla="val 14545"/>
            </a:avLst>
          </a:prstGeom>
          <a:solidFill>
            <a:srgbClr val="3B82F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5" name="AutoShape 16">
            <a:extLst>
              <a:ext uri="{FF2B5EF4-FFF2-40B4-BE49-F238E27FC236}">
                <a16:creationId xmlns:a16="http://schemas.microsoft.com/office/drawing/2014/main" id="{9EC3F0C2-A37D-5ECB-F398-7ACADA0FAD3F}"/>
              </a:ext>
            </a:extLst>
          </p:cNvPr>
          <p:cNvSpPr/>
          <p:nvPr/>
        </p:nvSpPr>
        <p:spPr>
          <a:xfrm>
            <a:off x="4258564" y="2098747"/>
            <a:ext cx="3302000" cy="444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1900" b="1" i="0" u="none" strike="noStrike" dirty="0" err="1">
                <a:solidFill>
                  <a:srgbClr val="FFFFFF"/>
                </a:solidFill>
                <a:latin typeface="Noto Sans SC"/>
                <a:ea typeface="Noto Sans SC"/>
                <a:cs typeface="Noto Sans SC"/>
                <a:sym typeface="Noto Sans SC"/>
              </a:rPr>
              <a:t>研究问题</a:t>
            </a:r>
            <a:r>
              <a:rPr lang="en-US" sz="1900" b="1" i="0" u="none" strike="noStrike" dirty="0">
                <a:solidFill>
                  <a:srgbClr val="FFFFFF"/>
                </a:solidFill>
                <a:latin typeface="Noto Sans SC"/>
                <a:ea typeface="Noto Sans SC"/>
                <a:cs typeface="Noto Sans SC"/>
                <a:sym typeface="Noto Sans SC"/>
              </a:rPr>
              <a:t> (RQs)</a:t>
            </a:r>
            <a:endParaRPr lang="en-US" sz="1100" dirty="0"/>
          </a:p>
        </p:txBody>
      </p:sp>
      <p:sp>
        <p:nvSpPr>
          <p:cNvPr id="17" name="AutoShape 17">
            <a:extLst>
              <a:ext uri="{FF2B5EF4-FFF2-40B4-BE49-F238E27FC236}">
                <a16:creationId xmlns:a16="http://schemas.microsoft.com/office/drawing/2014/main" id="{5F38F254-BA87-1742-DB98-F72141D5C5D7}"/>
              </a:ext>
            </a:extLst>
          </p:cNvPr>
          <p:cNvSpPr/>
          <p:nvPr/>
        </p:nvSpPr>
        <p:spPr>
          <a:xfrm>
            <a:off x="4322064" y="2738827"/>
            <a:ext cx="2922016" cy="294752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spcBef>
                <a:spcPts val="500"/>
              </a:spcBef>
              <a:spcAft>
                <a:spcPts val="1000"/>
              </a:spcAft>
              <a:defRPr/>
            </a:pPr>
            <a:r>
              <a:rPr lang="en-US" sz="1300" b="1" i="0" u="none" strike="noStrike" dirty="0">
                <a:solidFill>
                  <a:srgbClr val="3B82F6"/>
                </a:solidFill>
                <a:latin typeface="Noto Sans SC"/>
                <a:ea typeface="Noto Sans SC"/>
                <a:cs typeface="Noto Sans SC"/>
                <a:sym typeface="Noto Sans SC"/>
              </a:rPr>
              <a:t>RQ1:</a:t>
            </a:r>
            <a:r>
              <a:rPr lang="zh-CN" altLang="en-US" sz="1300" i="0" u="none" strike="noStrike" dirty="0">
                <a:solidFill>
                  <a:schemeClr val="tx1"/>
                </a:solidFill>
                <a:latin typeface="Noto Sans SC"/>
                <a:ea typeface="Noto Sans SC"/>
                <a:cs typeface="Noto Sans SC"/>
                <a:sym typeface="Noto Sans SC"/>
              </a:rPr>
              <a:t>同一任务中</a:t>
            </a:r>
            <a:r>
              <a:rPr lang="en-US" sz="1300" b="0" i="0" u="none" strike="noStrike" dirty="0" err="1">
                <a:solidFill>
                  <a:srgbClr val="374151"/>
                </a:solidFill>
                <a:latin typeface="Noto Sans SC"/>
                <a:ea typeface="Noto Sans SC"/>
                <a:cs typeface="Noto Sans SC"/>
                <a:sym typeface="Noto Sans SC"/>
              </a:rPr>
              <a:t>多编程语言融合</a:t>
            </a:r>
            <a:r>
              <a:rPr lang="en-US" sz="1300" b="0" i="0" u="none" strike="noStrike" dirty="0">
                <a:solidFill>
                  <a:srgbClr val="374151"/>
                </a:solidFill>
                <a:latin typeface="Noto Sans SC"/>
                <a:ea typeface="Noto Sans SC"/>
                <a:cs typeface="Noto Sans SC"/>
                <a:sym typeface="Noto Sans SC"/>
              </a:rPr>
              <a:t> (MPLF) </a:t>
            </a:r>
            <a:r>
              <a:rPr lang="zh-CN" altLang="en-US" sz="1300" dirty="0">
                <a:solidFill>
                  <a:srgbClr val="374151"/>
                </a:solidFill>
                <a:latin typeface="Noto Sans SC"/>
                <a:ea typeface="Noto Sans SC"/>
                <a:cs typeface="Noto Sans SC"/>
                <a:sym typeface="Noto Sans SC"/>
              </a:rPr>
              <a:t>的性能</a:t>
            </a:r>
            <a:r>
              <a:rPr lang="en-US" sz="1300" b="0" i="0" u="none" strike="noStrike" dirty="0" err="1">
                <a:solidFill>
                  <a:srgbClr val="374151"/>
                </a:solidFill>
                <a:latin typeface="Noto Sans SC"/>
                <a:ea typeface="Noto Sans SC"/>
                <a:cs typeface="Noto Sans SC"/>
                <a:sym typeface="Noto Sans SC"/>
              </a:rPr>
              <a:t>如何</a:t>
            </a:r>
            <a:r>
              <a:rPr lang="en-US" sz="1300" b="0" i="0" u="none" strike="noStrike" dirty="0">
                <a:solidFill>
                  <a:srgbClr val="374151"/>
                </a:solidFill>
                <a:latin typeface="Noto Sans SC"/>
                <a:ea typeface="Noto Sans SC"/>
                <a:cs typeface="Noto Sans SC"/>
                <a:sym typeface="Noto Sans SC"/>
              </a:rPr>
              <a:t>？</a:t>
            </a:r>
            <a:endParaRPr lang="en-US" sz="1300" dirty="0"/>
          </a:p>
          <a:p>
            <a:pPr indent="0" algn="l">
              <a:lnSpc>
                <a:spcPct val="108333"/>
              </a:lnSpc>
              <a:spcBef>
                <a:spcPts val="500"/>
              </a:spcBef>
              <a:spcAft>
                <a:spcPts val="1000"/>
              </a:spcAft>
            </a:pPr>
            <a:r>
              <a:rPr lang="en-US" sz="1300" b="1" i="0" u="none" strike="noStrike" dirty="0">
                <a:solidFill>
                  <a:srgbClr val="3B82F6"/>
                </a:solidFill>
                <a:latin typeface="Noto Sans SC"/>
                <a:ea typeface="Noto Sans SC"/>
                <a:cs typeface="Noto Sans SC"/>
                <a:sym typeface="Noto Sans SC"/>
              </a:rPr>
              <a:t>RQ2:</a:t>
            </a:r>
            <a:r>
              <a:rPr lang="en-US" sz="1300" b="0" i="0" u="none" strike="noStrike" dirty="0">
                <a:solidFill>
                  <a:srgbClr val="374151"/>
                </a:solidFill>
                <a:latin typeface="Noto Sans SC"/>
                <a:ea typeface="Noto Sans SC"/>
                <a:cs typeface="Noto Sans SC"/>
                <a:sym typeface="Noto Sans SC"/>
              </a:rPr>
              <a:t>多软件工程任务融合 (MSETF) 的</a:t>
            </a:r>
            <a:r>
              <a:rPr lang="zh-CN" altLang="en-US" sz="1300" b="0" i="0" u="none" strike="noStrike" dirty="0">
                <a:solidFill>
                  <a:srgbClr val="374151"/>
                </a:solidFill>
                <a:latin typeface="Noto Sans SC"/>
                <a:ea typeface="Noto Sans SC"/>
                <a:cs typeface="Noto Sans SC"/>
                <a:sym typeface="Noto Sans SC"/>
              </a:rPr>
              <a:t>性能</a:t>
            </a:r>
            <a:r>
              <a:rPr lang="zh-CN" altLang="en-US" sz="1300" dirty="0">
                <a:solidFill>
                  <a:srgbClr val="374151"/>
                </a:solidFill>
                <a:latin typeface="Noto Sans SC"/>
                <a:ea typeface="Noto Sans SC"/>
                <a:cs typeface="Noto Sans SC"/>
                <a:sym typeface="Noto Sans SC"/>
              </a:rPr>
              <a:t>如何</a:t>
            </a:r>
            <a:r>
              <a:rPr lang="en-US" sz="1300" b="0" i="0" u="none" strike="noStrike" dirty="0">
                <a:solidFill>
                  <a:srgbClr val="374151"/>
                </a:solidFill>
                <a:latin typeface="Noto Sans SC"/>
                <a:ea typeface="Noto Sans SC"/>
                <a:cs typeface="Noto Sans SC"/>
                <a:sym typeface="Noto Sans SC"/>
              </a:rPr>
              <a:t>？</a:t>
            </a:r>
          </a:p>
          <a:p>
            <a:pPr indent="0" algn="l">
              <a:lnSpc>
                <a:spcPct val="108333"/>
              </a:lnSpc>
              <a:spcBef>
                <a:spcPts val="500"/>
              </a:spcBef>
              <a:spcAft>
                <a:spcPts val="1000"/>
              </a:spcAft>
            </a:pPr>
            <a:r>
              <a:rPr lang="en-US" sz="1300" b="1" i="0" u="none" strike="noStrike" dirty="0">
                <a:solidFill>
                  <a:srgbClr val="3B82F6"/>
                </a:solidFill>
                <a:latin typeface="Noto Sans SC"/>
                <a:ea typeface="Noto Sans SC"/>
                <a:cs typeface="Noto Sans SC"/>
                <a:sym typeface="Noto Sans SC"/>
              </a:rPr>
              <a:t>RQ3:</a:t>
            </a:r>
            <a:r>
              <a:rPr lang="en-US" sz="1300" b="0" i="0" u="none" strike="noStrike" dirty="0">
                <a:solidFill>
                  <a:srgbClr val="374151"/>
                </a:solidFill>
                <a:latin typeface="Noto Sans SC"/>
                <a:ea typeface="Noto Sans SC"/>
                <a:cs typeface="Noto Sans SC"/>
                <a:sym typeface="Noto Sans SC"/>
              </a:rPr>
              <a:t>多任务多语言融合 (MSETMPLF) </a:t>
            </a:r>
            <a:r>
              <a:rPr lang="en-US" sz="1300" b="0" i="0" u="none" strike="noStrike" dirty="0" err="1">
                <a:solidFill>
                  <a:srgbClr val="374151"/>
                </a:solidFill>
                <a:latin typeface="Noto Sans SC"/>
                <a:ea typeface="Noto Sans SC"/>
                <a:cs typeface="Noto Sans SC"/>
                <a:sym typeface="Noto Sans SC"/>
              </a:rPr>
              <a:t>的综合性能如何</a:t>
            </a:r>
            <a:r>
              <a:rPr lang="en-US" sz="1300" b="0" i="0" u="none" strike="noStrike" dirty="0">
                <a:solidFill>
                  <a:srgbClr val="374151"/>
                </a:solidFill>
                <a:latin typeface="Noto Sans SC"/>
                <a:ea typeface="Noto Sans SC"/>
                <a:cs typeface="Noto Sans SC"/>
                <a:sym typeface="Noto Sans SC"/>
              </a:rPr>
              <a:t>？</a:t>
            </a:r>
          </a:p>
          <a:p>
            <a:pPr indent="0" algn="l">
              <a:lnSpc>
                <a:spcPct val="108333"/>
              </a:lnSpc>
              <a:spcBef>
                <a:spcPts val="500"/>
              </a:spcBef>
            </a:pPr>
            <a:r>
              <a:rPr lang="en-US" sz="1300" b="1" i="0" u="none" strike="noStrike" dirty="0">
                <a:solidFill>
                  <a:srgbClr val="3B82F6"/>
                </a:solidFill>
                <a:latin typeface="Noto Sans SC"/>
                <a:ea typeface="Noto Sans SC"/>
                <a:cs typeface="Noto Sans SC"/>
                <a:sym typeface="Noto Sans SC"/>
              </a:rPr>
              <a:t>RQ4:</a:t>
            </a:r>
            <a:r>
              <a:rPr lang="en-US" sz="1300" b="0" i="0" u="none" strike="noStrike" dirty="0">
                <a:solidFill>
                  <a:srgbClr val="374151"/>
                </a:solidFill>
                <a:latin typeface="Noto Sans SC"/>
                <a:ea typeface="Noto Sans SC"/>
                <a:cs typeface="Noto Sans SC"/>
                <a:sym typeface="Noto Sans SC"/>
              </a:rPr>
              <a:t>在不同的SE任务中，如何有效提升模型融合技术的性能？</a:t>
            </a:r>
          </a:p>
        </p:txBody>
      </p:sp>
      <p:sp>
        <p:nvSpPr>
          <p:cNvPr id="18" name="AutoShape 3">
            <a:extLst>
              <a:ext uri="{FF2B5EF4-FFF2-40B4-BE49-F238E27FC236}">
                <a16:creationId xmlns:a16="http://schemas.microsoft.com/office/drawing/2014/main" id="{9F78EDE9-E4AD-CBF7-D58D-40B3B57B5658}"/>
              </a:ext>
            </a:extLst>
          </p:cNvPr>
          <p:cNvSpPr/>
          <p:nvPr/>
        </p:nvSpPr>
        <p:spPr>
          <a:xfrm>
            <a:off x="432689" y="1118229"/>
            <a:ext cx="11176000" cy="7786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600" b="0" i="0" u="none" strike="noStrike" dirty="0">
                <a:solidFill>
                  <a:schemeClr val="tx1"/>
                </a:solidFill>
                <a:latin typeface="Noto Sans SC"/>
                <a:ea typeface="Noto Sans SC"/>
                <a:cs typeface="Noto Sans SC"/>
                <a:sym typeface="Noto Sans SC"/>
              </a:rPr>
              <a:t>本研究主要探究了三种程序理解任务（代码搜索</a:t>
            </a:r>
            <a:r>
              <a:rPr lang="zh-CN" altLang="en-US" sz="1600" dirty="0">
                <a:solidFill>
                  <a:schemeClr val="tx1"/>
                </a:solidFill>
                <a:latin typeface="Noto Sans SC"/>
                <a:ea typeface="Noto Sans SC"/>
                <a:cs typeface="Noto Sans SC"/>
                <a:sym typeface="Noto Sans SC"/>
              </a:rPr>
              <a:t>、漏洞检测以及克隆检测</a:t>
            </a:r>
            <a:r>
              <a:rPr lang="zh-CN" altLang="en-US" sz="1600" b="0" i="0" u="none" strike="noStrike" dirty="0">
                <a:solidFill>
                  <a:schemeClr val="tx1"/>
                </a:solidFill>
                <a:latin typeface="Noto Sans SC"/>
                <a:ea typeface="Noto Sans SC"/>
                <a:cs typeface="Noto Sans SC"/>
                <a:sym typeface="Noto Sans SC"/>
              </a:rPr>
              <a:t>）</a:t>
            </a:r>
            <a:endParaRPr lang="en-US" altLang="zh-CN" sz="1600" b="0" i="0" u="none" strike="noStrike" dirty="0">
              <a:solidFill>
                <a:schemeClr val="tx1"/>
              </a:solidFill>
              <a:latin typeface="Noto Sans SC"/>
              <a:ea typeface="Noto Sans SC"/>
              <a:cs typeface="Noto Sans SC"/>
              <a:sym typeface="Noto Sans SC"/>
            </a:endParaRPr>
          </a:p>
          <a:p>
            <a:pPr indent="0" algn="l">
              <a:lnSpc>
                <a:spcPct val="125000"/>
              </a:lnSpc>
              <a:defRPr/>
            </a:pPr>
            <a:r>
              <a:rPr lang="zh-CN" altLang="en-US" sz="1600" b="0" i="0" u="none" strike="noStrike" dirty="0">
                <a:solidFill>
                  <a:schemeClr val="tx1"/>
                </a:solidFill>
                <a:latin typeface="Noto Sans SC"/>
                <a:ea typeface="Noto Sans SC"/>
                <a:cs typeface="Noto Sans SC"/>
                <a:sym typeface="Noto Sans SC"/>
              </a:rPr>
              <a:t>与三种程序生成任务（代码生成、代码修复以及代码摘要生成）</a:t>
            </a:r>
            <a:endParaRPr lang="en-US" sz="1100" dirty="0">
              <a:solidFill>
                <a:schemeClr val="tx1"/>
              </a:solidFill>
            </a:endParaRPr>
          </a:p>
        </p:txBody>
      </p:sp>
      <p:pic>
        <p:nvPicPr>
          <p:cNvPr id="26" name="图片 25">
            <a:extLst>
              <a:ext uri="{FF2B5EF4-FFF2-40B4-BE49-F238E27FC236}">
                <a16:creationId xmlns:a16="http://schemas.microsoft.com/office/drawing/2014/main" id="{053CAF54-ADE4-5D78-98BE-83E61CE4D91E}"/>
              </a:ext>
            </a:extLst>
          </p:cNvPr>
          <p:cNvPicPr>
            <a:picLocks noChangeAspect="1"/>
          </p:cNvPicPr>
          <p:nvPr/>
        </p:nvPicPr>
        <p:blipFill>
          <a:blip r:embed="rId4"/>
          <a:stretch>
            <a:fillRect/>
          </a:stretch>
        </p:blipFill>
        <p:spPr>
          <a:xfrm>
            <a:off x="7624064" y="1971747"/>
            <a:ext cx="4319016" cy="1826380"/>
          </a:xfrm>
          <a:prstGeom prst="rect">
            <a:avLst/>
          </a:prstGeom>
        </p:spPr>
      </p:pic>
      <p:sp>
        <p:nvSpPr>
          <p:cNvPr id="34" name="文本框 33">
            <a:extLst>
              <a:ext uri="{FF2B5EF4-FFF2-40B4-BE49-F238E27FC236}">
                <a16:creationId xmlns:a16="http://schemas.microsoft.com/office/drawing/2014/main" id="{0ABE4750-0F18-AF90-E247-7FFEA26459C7}"/>
              </a:ext>
            </a:extLst>
          </p:cNvPr>
          <p:cNvSpPr txBox="1"/>
          <p:nvPr/>
        </p:nvSpPr>
        <p:spPr>
          <a:xfrm>
            <a:off x="8241348" y="3809871"/>
            <a:ext cx="3084449" cy="307777"/>
          </a:xfrm>
          <a:prstGeom prst="rect">
            <a:avLst/>
          </a:prstGeom>
          <a:noFill/>
        </p:spPr>
        <p:txBody>
          <a:bodyPr wrap="square">
            <a:spAutoFit/>
          </a:bodyPr>
          <a:lstStyle/>
          <a:p>
            <a:pPr algn="ctr"/>
            <a:r>
              <a:rPr lang="en-US" altLang="zh-CN" sz="1400" i="0" u="none" strike="noStrike" dirty="0">
                <a:solidFill>
                  <a:schemeClr val="tx1"/>
                </a:solidFill>
                <a:latin typeface="Noto Sans SC"/>
                <a:ea typeface="Noto Sans SC"/>
                <a:cs typeface="Noto Sans SC"/>
                <a:sym typeface="Noto Sans SC"/>
              </a:rPr>
              <a:t>RQ1</a:t>
            </a:r>
            <a:r>
              <a:rPr lang="zh-CN" altLang="en-US" sz="1400" i="0" u="none" strike="noStrike" dirty="0">
                <a:solidFill>
                  <a:schemeClr val="tx1"/>
                </a:solidFill>
                <a:latin typeface="Noto Sans SC"/>
                <a:ea typeface="Noto Sans SC"/>
                <a:cs typeface="Noto Sans SC"/>
                <a:sym typeface="Noto Sans SC"/>
              </a:rPr>
              <a:t>使用的数据集详情</a:t>
            </a:r>
            <a:endParaRPr lang="zh-CN" altLang="en-US" sz="1400" dirty="0"/>
          </a:p>
        </p:txBody>
      </p:sp>
      <p:pic>
        <p:nvPicPr>
          <p:cNvPr id="36" name="图片 35">
            <a:extLst>
              <a:ext uri="{FF2B5EF4-FFF2-40B4-BE49-F238E27FC236}">
                <a16:creationId xmlns:a16="http://schemas.microsoft.com/office/drawing/2014/main" id="{E384CEF3-8B16-081D-44D9-4B52706BB3B9}"/>
              </a:ext>
            </a:extLst>
          </p:cNvPr>
          <p:cNvPicPr>
            <a:picLocks noChangeAspect="1"/>
          </p:cNvPicPr>
          <p:nvPr/>
        </p:nvPicPr>
        <p:blipFill>
          <a:blip r:embed="rId5"/>
          <a:stretch>
            <a:fillRect/>
          </a:stretch>
        </p:blipFill>
        <p:spPr>
          <a:xfrm>
            <a:off x="7799197" y="4129392"/>
            <a:ext cx="3968750" cy="1444745"/>
          </a:xfrm>
          <a:prstGeom prst="rect">
            <a:avLst/>
          </a:prstGeom>
        </p:spPr>
      </p:pic>
      <p:sp>
        <p:nvSpPr>
          <p:cNvPr id="37" name="文本框 36">
            <a:extLst>
              <a:ext uri="{FF2B5EF4-FFF2-40B4-BE49-F238E27FC236}">
                <a16:creationId xmlns:a16="http://schemas.microsoft.com/office/drawing/2014/main" id="{4F3F710B-B2AD-E0E9-4A0B-1C0A7EC4EBEA}"/>
              </a:ext>
            </a:extLst>
          </p:cNvPr>
          <p:cNvSpPr txBox="1"/>
          <p:nvPr/>
        </p:nvSpPr>
        <p:spPr>
          <a:xfrm>
            <a:off x="8241348" y="5585882"/>
            <a:ext cx="3084449" cy="307777"/>
          </a:xfrm>
          <a:prstGeom prst="rect">
            <a:avLst/>
          </a:prstGeom>
          <a:noFill/>
        </p:spPr>
        <p:txBody>
          <a:bodyPr wrap="square">
            <a:spAutoFit/>
          </a:bodyPr>
          <a:lstStyle/>
          <a:p>
            <a:pPr algn="ctr"/>
            <a:r>
              <a:rPr lang="en-US" altLang="zh-CN" sz="1400" i="0" u="none" strike="noStrike" dirty="0">
                <a:solidFill>
                  <a:schemeClr val="tx1"/>
                </a:solidFill>
                <a:latin typeface="Noto Sans SC"/>
                <a:ea typeface="Noto Sans SC"/>
                <a:cs typeface="Noto Sans SC"/>
                <a:sym typeface="Noto Sans SC"/>
              </a:rPr>
              <a:t>RQ2</a:t>
            </a:r>
            <a:r>
              <a:rPr lang="zh-CN" altLang="en-US" sz="1400" i="0" u="none" strike="noStrike" dirty="0">
                <a:solidFill>
                  <a:schemeClr val="tx1"/>
                </a:solidFill>
                <a:latin typeface="Noto Sans SC"/>
                <a:ea typeface="Noto Sans SC"/>
                <a:cs typeface="Noto Sans SC"/>
                <a:sym typeface="Noto Sans SC"/>
              </a:rPr>
              <a:t>、</a:t>
            </a:r>
            <a:r>
              <a:rPr lang="en-US" altLang="zh-CN" sz="1400" i="0" u="none" strike="noStrike" dirty="0">
                <a:solidFill>
                  <a:schemeClr val="tx1"/>
                </a:solidFill>
                <a:latin typeface="Noto Sans SC"/>
                <a:ea typeface="Noto Sans SC"/>
                <a:cs typeface="Noto Sans SC"/>
                <a:sym typeface="Noto Sans SC"/>
              </a:rPr>
              <a:t>RQ3</a:t>
            </a:r>
            <a:r>
              <a:rPr lang="zh-CN" altLang="en-US" sz="1400" i="0" u="none" strike="noStrike" dirty="0">
                <a:solidFill>
                  <a:schemeClr val="tx1"/>
                </a:solidFill>
                <a:latin typeface="Noto Sans SC"/>
                <a:ea typeface="Noto Sans SC"/>
                <a:cs typeface="Noto Sans SC"/>
                <a:sym typeface="Noto Sans SC"/>
              </a:rPr>
              <a:t>使用的数据集详情</a:t>
            </a:r>
            <a:endParaRPr lang="zh-CN" altLang="en-US" sz="1400" dirty="0"/>
          </a:p>
        </p:txBody>
      </p:sp>
    </p:spTree>
    <p:extLst>
      <p:ext uri="{BB962C8B-B14F-4D97-AF65-F5344CB8AC3E}">
        <p14:creationId xmlns:p14="http://schemas.microsoft.com/office/powerpoint/2010/main" val="3977913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46586-0C51-D258-68F9-49D36F19B85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E947D9A-6E2F-293A-48A9-22F84454A59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CDCFE68-8FD8-A684-56C0-85BF8A38E26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5EF65634-607B-36BD-117C-1DB18076244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04F27A45-9B30-74FE-16F1-579FC222CB3A}"/>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EDA3E753-139A-E9FC-BABB-A811280FB06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42CF7E88-8BB2-7FC1-1589-E93BE51FC61C}"/>
              </a:ext>
            </a:extLst>
          </p:cNvPr>
          <p:cNvPicPr>
            <a:picLocks noChangeAspect="1"/>
          </p:cNvPicPr>
          <p:nvPr/>
        </p:nvPicPr>
        <p:blipFill>
          <a:blip r:embed="rId3"/>
          <a:stretch>
            <a:fillRect/>
          </a:stretch>
        </p:blipFill>
        <p:spPr>
          <a:xfrm>
            <a:off x="321565" y="1247844"/>
            <a:ext cx="11556298" cy="3430548"/>
          </a:xfrm>
          <a:prstGeom prst="rect">
            <a:avLst/>
          </a:prstGeom>
        </p:spPr>
      </p:pic>
      <p:sp>
        <p:nvSpPr>
          <p:cNvPr id="5" name="文本框 4">
            <a:extLst>
              <a:ext uri="{FF2B5EF4-FFF2-40B4-BE49-F238E27FC236}">
                <a16:creationId xmlns:a16="http://schemas.microsoft.com/office/drawing/2014/main" id="{D15074B4-215A-A0F3-178D-159177C5D5AE}"/>
              </a:ext>
            </a:extLst>
          </p:cNvPr>
          <p:cNvSpPr txBox="1"/>
          <p:nvPr/>
        </p:nvSpPr>
        <p:spPr>
          <a:xfrm>
            <a:off x="665480" y="4775581"/>
            <a:ext cx="10861040" cy="1064587"/>
          </a:xfrm>
          <a:prstGeom prst="rect">
            <a:avLst/>
          </a:prstGeom>
          <a:noFill/>
        </p:spPr>
        <p:txBody>
          <a:bodyPr wrap="square" rtlCol="0">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sz="1600" dirty="0">
                <a:latin typeface="Noto Sans SC"/>
                <a:ea typeface="Noto Sans SC"/>
                <a:sym typeface="Arial"/>
              </a:rPr>
              <a:t>发现 </a:t>
            </a:r>
            <a:r>
              <a:rPr lang="en-US" altLang="zh-CN" sz="1600" dirty="0">
                <a:latin typeface="Noto Sans SC"/>
                <a:ea typeface="Noto Sans SC"/>
                <a:sym typeface="Arial"/>
              </a:rPr>
              <a:t>1</a:t>
            </a:r>
            <a:r>
              <a:rPr lang="zh-CN" altLang="en-US" sz="1600" dirty="0">
                <a:latin typeface="Noto Sans SC"/>
                <a:ea typeface="Noto Sans SC"/>
                <a:sym typeface="Arial"/>
              </a:rPr>
              <a:t>：在多编程语言融合场景下，几乎所有模型融合方法都能在代码搜索任务中取得较好的性能；然而，在代码修复任务中，不同融合方法在某些编程语言上会出现性能下降。</a:t>
            </a:r>
            <a:endParaRPr lang="en-US" altLang="zh-CN" sz="1600" dirty="0">
              <a:latin typeface="Noto Sans SC"/>
              <a:ea typeface="Noto Sans SC"/>
              <a:sym typeface="Arial"/>
            </a:endParaRPr>
          </a:p>
          <a:p>
            <a:pPr marL="285750" indent="-285750">
              <a:lnSpc>
                <a:spcPct val="125000"/>
              </a:lnSpc>
              <a:spcBef>
                <a:spcPts val="600"/>
              </a:spcBef>
              <a:buClr>
                <a:srgbClr val="000000"/>
              </a:buClr>
              <a:buFont typeface="Arial" panose="020B0604020202020204" pitchFamily="34" charset="0"/>
              <a:buChar char="•"/>
              <a:defRPr/>
            </a:pPr>
            <a:r>
              <a:rPr lang="zh-CN" altLang="en-US" sz="1600" dirty="0">
                <a:latin typeface="Noto Sans SC"/>
                <a:ea typeface="Noto Sans SC"/>
                <a:sym typeface="Arial"/>
              </a:rPr>
              <a:t>发现</a:t>
            </a:r>
            <a:r>
              <a:rPr lang="en-US" altLang="zh-CN" sz="1600" dirty="0">
                <a:latin typeface="Noto Sans SC"/>
                <a:ea typeface="Noto Sans SC"/>
                <a:sym typeface="Arial"/>
              </a:rPr>
              <a:t>2</a:t>
            </a:r>
            <a:r>
              <a:rPr lang="zh-CN" altLang="en-US" sz="1600" dirty="0">
                <a:latin typeface="Noto Sans SC"/>
                <a:ea typeface="Noto Sans SC"/>
                <a:sym typeface="Arial"/>
              </a:rPr>
              <a:t>：</a:t>
            </a:r>
            <a:r>
              <a:rPr lang="en-US" altLang="zh-CN" sz="1600" dirty="0">
                <a:latin typeface="Noto Sans SC"/>
                <a:ea typeface="Noto Sans SC"/>
                <a:sym typeface="Arial"/>
              </a:rPr>
              <a:t>Ties </a:t>
            </a:r>
            <a:r>
              <a:rPr lang="zh-CN" altLang="en-US" sz="1600" dirty="0">
                <a:latin typeface="Noto Sans SC"/>
                <a:ea typeface="Noto Sans SC"/>
                <a:sym typeface="Arial"/>
              </a:rPr>
              <a:t>和 </a:t>
            </a:r>
            <a:r>
              <a:rPr lang="en-US" altLang="zh-CN" sz="1600" dirty="0">
                <a:latin typeface="Noto Sans SC"/>
                <a:ea typeface="Noto Sans SC"/>
                <a:sym typeface="Arial"/>
              </a:rPr>
              <a:t>Learnable Fusion Coefficients </a:t>
            </a:r>
            <a:r>
              <a:rPr lang="zh-CN" altLang="en-US" sz="1600" dirty="0">
                <a:latin typeface="Noto Sans SC"/>
                <a:ea typeface="Noto Sans SC"/>
                <a:sym typeface="Arial"/>
              </a:rPr>
              <a:t>通常没有像它们在 </a:t>
            </a:r>
            <a:r>
              <a:rPr lang="en-US" altLang="zh-CN" sz="1600" dirty="0">
                <a:latin typeface="Noto Sans SC"/>
                <a:ea typeface="Noto Sans SC"/>
                <a:sym typeface="Arial"/>
              </a:rPr>
              <a:t>NLP </a:t>
            </a:r>
            <a:r>
              <a:rPr lang="zh-CN" altLang="en-US" sz="1600" dirty="0">
                <a:latin typeface="Noto Sans SC"/>
                <a:ea typeface="Noto Sans SC"/>
                <a:sym typeface="Arial"/>
              </a:rPr>
              <a:t>和 </a:t>
            </a:r>
            <a:r>
              <a:rPr lang="en-US" altLang="zh-CN" sz="1600" dirty="0">
                <a:latin typeface="Noto Sans SC"/>
                <a:ea typeface="Noto Sans SC"/>
                <a:sym typeface="Arial"/>
              </a:rPr>
              <a:t>CV </a:t>
            </a:r>
            <a:r>
              <a:rPr lang="zh-CN" altLang="en-US" sz="1600" dirty="0">
                <a:latin typeface="Noto Sans SC"/>
                <a:ea typeface="Noto Sans SC"/>
                <a:sym typeface="Arial"/>
              </a:rPr>
              <a:t>任务中那样提升融合性能。</a:t>
            </a:r>
            <a:endParaRPr lang="en-US" altLang="zh-CN" sz="1600" dirty="0">
              <a:latin typeface="Noto Sans SC"/>
              <a:ea typeface="Noto Sans SC"/>
              <a:sym typeface="Arial"/>
            </a:endParaRPr>
          </a:p>
        </p:txBody>
      </p:sp>
    </p:spTree>
    <p:extLst>
      <p:ext uri="{BB962C8B-B14F-4D97-AF65-F5344CB8AC3E}">
        <p14:creationId xmlns:p14="http://schemas.microsoft.com/office/powerpoint/2010/main" val="299729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67B6-3C7D-52A1-E3B8-E8D4BA30D22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1BD2B42-2AFA-3797-19FF-AFB08343B59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74941025-E65A-10E1-7DC0-FCF74FF973A9}"/>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74A3FF0-EE15-D18E-DF17-4BABE1629C4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8A19930-6FEC-C7AB-1A19-A4C2F544CDD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8A3FF129-BBD1-DD5D-032F-465E957EE69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C00347E4-897D-8E2A-1E0D-5974B25A7648}"/>
              </a:ext>
            </a:extLst>
          </p:cNvPr>
          <p:cNvPicPr>
            <a:picLocks noChangeAspect="1"/>
          </p:cNvPicPr>
          <p:nvPr/>
        </p:nvPicPr>
        <p:blipFill>
          <a:blip r:embed="rId3"/>
          <a:stretch>
            <a:fillRect/>
          </a:stretch>
        </p:blipFill>
        <p:spPr>
          <a:xfrm>
            <a:off x="862585" y="1538111"/>
            <a:ext cx="5225489" cy="3159990"/>
          </a:xfrm>
          <a:prstGeom prst="rect">
            <a:avLst/>
          </a:prstGeom>
        </p:spPr>
      </p:pic>
      <p:pic>
        <p:nvPicPr>
          <p:cNvPr id="8" name="图片 7">
            <a:extLst>
              <a:ext uri="{FF2B5EF4-FFF2-40B4-BE49-F238E27FC236}">
                <a16:creationId xmlns:a16="http://schemas.microsoft.com/office/drawing/2014/main" id="{C543817F-1A02-C2E7-DDFD-85D8EE6E6BE8}"/>
              </a:ext>
            </a:extLst>
          </p:cNvPr>
          <p:cNvPicPr>
            <a:picLocks noChangeAspect="1"/>
          </p:cNvPicPr>
          <p:nvPr/>
        </p:nvPicPr>
        <p:blipFill>
          <a:blip r:embed="rId4"/>
          <a:stretch>
            <a:fillRect/>
          </a:stretch>
        </p:blipFill>
        <p:spPr>
          <a:xfrm>
            <a:off x="6320327" y="1560526"/>
            <a:ext cx="5326019" cy="3137575"/>
          </a:xfrm>
          <a:prstGeom prst="rect">
            <a:avLst/>
          </a:prstGeom>
        </p:spPr>
      </p:pic>
      <p:sp>
        <p:nvSpPr>
          <p:cNvPr id="10" name="文本框 9">
            <a:extLst>
              <a:ext uri="{FF2B5EF4-FFF2-40B4-BE49-F238E27FC236}">
                <a16:creationId xmlns:a16="http://schemas.microsoft.com/office/drawing/2014/main" id="{B9313473-1660-CFC4-88B7-E3A6FECC8CAB}"/>
              </a:ext>
            </a:extLst>
          </p:cNvPr>
          <p:cNvSpPr txBox="1"/>
          <p:nvPr/>
        </p:nvSpPr>
        <p:spPr>
          <a:xfrm>
            <a:off x="1757723" y="4853395"/>
            <a:ext cx="8935720" cy="830292"/>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dirty="0">
                <a:latin typeface="Noto Sans SC"/>
                <a:ea typeface="Noto Sans SC"/>
                <a:sym typeface="Arial"/>
              </a:rPr>
              <a:t>在不同</a:t>
            </a:r>
            <a:r>
              <a:rPr lang="zh-CN" altLang="en-US" sz="1800" dirty="0">
                <a:latin typeface="Noto Sans SC"/>
                <a:ea typeface="Noto Sans SC"/>
                <a:sym typeface="Arial"/>
              </a:rPr>
              <a:t>编程语言参数分布的差异上，代码搜索任务要比代码修复任务小很多</a:t>
            </a:r>
            <a:endParaRPr lang="en-US" altLang="zh-CN" sz="1800" dirty="0">
              <a:latin typeface="Noto Sans SC"/>
              <a:ea typeface="Noto Sans SC"/>
              <a:sym typeface="Arial"/>
            </a:endParaRPr>
          </a:p>
          <a:p>
            <a:pPr marL="285750" indent="-285750">
              <a:lnSpc>
                <a:spcPct val="125000"/>
              </a:lnSpc>
              <a:spcBef>
                <a:spcPts val="600"/>
              </a:spcBef>
              <a:buClr>
                <a:srgbClr val="000000"/>
              </a:buClr>
              <a:buFont typeface="Arial" panose="020B0604020202020204" pitchFamily="34" charset="0"/>
              <a:buChar char="•"/>
              <a:defRPr/>
            </a:pPr>
            <a:r>
              <a:rPr lang="zh-CN" altLang="en-US" dirty="0">
                <a:latin typeface="Noto Sans SC"/>
                <a:ea typeface="Noto Sans SC"/>
                <a:sym typeface="Arial"/>
              </a:rPr>
              <a:t>在代码修复任务中，对于性能的下降，一般发送在参数变化小的任务上</a:t>
            </a:r>
            <a:endParaRPr lang="en-US" altLang="zh-CN" sz="1800" dirty="0">
              <a:latin typeface="Noto Sans SC"/>
              <a:ea typeface="Noto Sans SC"/>
              <a:sym typeface="Arial"/>
            </a:endParaRPr>
          </a:p>
        </p:txBody>
      </p:sp>
    </p:spTree>
    <p:extLst>
      <p:ext uri="{BB962C8B-B14F-4D97-AF65-F5344CB8AC3E}">
        <p14:creationId xmlns:p14="http://schemas.microsoft.com/office/powerpoint/2010/main" val="2067562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C52A5-77AC-1255-FF2F-596975E05F84}"/>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887F6EC-3354-B638-83A2-BA7A48A7B07A}"/>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263805E-4A23-FFB1-EB96-92BC780668A0}"/>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B8C51BC9-CFCE-C925-189B-7717C80587A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0E26A70A-7A56-331A-BD99-E283CF8769A5}"/>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C491FE0-F2FC-D699-1823-891B8522BC1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713B83B2-6216-AB52-CF96-904C2489C286}"/>
              </a:ext>
            </a:extLst>
          </p:cNvPr>
          <p:cNvPicPr>
            <a:picLocks noChangeAspect="1"/>
          </p:cNvPicPr>
          <p:nvPr/>
        </p:nvPicPr>
        <p:blipFill>
          <a:blip r:embed="rId3"/>
          <a:stretch>
            <a:fillRect/>
          </a:stretch>
        </p:blipFill>
        <p:spPr>
          <a:xfrm>
            <a:off x="657151" y="1698942"/>
            <a:ext cx="10261600" cy="3136759"/>
          </a:xfrm>
          <a:prstGeom prst="rect">
            <a:avLst/>
          </a:prstGeom>
        </p:spPr>
      </p:pic>
      <p:sp>
        <p:nvSpPr>
          <p:cNvPr id="7" name="文本框 6">
            <a:extLst>
              <a:ext uri="{FF2B5EF4-FFF2-40B4-BE49-F238E27FC236}">
                <a16:creationId xmlns:a16="http://schemas.microsoft.com/office/drawing/2014/main" id="{DA1ED268-7F9E-D69E-9C86-8851D67BD69E}"/>
              </a:ext>
            </a:extLst>
          </p:cNvPr>
          <p:cNvSpPr txBox="1"/>
          <p:nvPr/>
        </p:nvSpPr>
        <p:spPr>
          <a:xfrm>
            <a:off x="1074345" y="4980461"/>
            <a:ext cx="10261600" cy="754694"/>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sz="1800" dirty="0">
                <a:latin typeface="Noto Sans SC"/>
                <a:ea typeface="Noto Sans SC"/>
                <a:sym typeface="Arial"/>
              </a:rPr>
              <a:t>发现 </a:t>
            </a:r>
            <a:r>
              <a:rPr lang="en-US" altLang="zh-CN" sz="1800" dirty="0">
                <a:latin typeface="Noto Sans SC"/>
                <a:ea typeface="Noto Sans SC"/>
                <a:sym typeface="Arial"/>
              </a:rPr>
              <a:t>3</a:t>
            </a:r>
            <a:r>
              <a:rPr lang="zh-CN" altLang="en-US" sz="1800" dirty="0">
                <a:latin typeface="Noto Sans SC"/>
                <a:ea typeface="Noto Sans SC"/>
                <a:sym typeface="Arial"/>
              </a:rPr>
              <a:t>：</a:t>
            </a:r>
            <a:r>
              <a:rPr lang="zh-CN" altLang="en-US" dirty="0"/>
              <a:t>在多编程语言融合场景下，如果某些数据量少的编程语言与其他语言共享相似特征，那么这些语言在模型融合过程中，其性能可以被保持，甚至进一步提升。</a:t>
            </a:r>
          </a:p>
        </p:txBody>
      </p:sp>
      <p:sp>
        <p:nvSpPr>
          <p:cNvPr id="11" name="文本框 10">
            <a:extLst>
              <a:ext uri="{FF2B5EF4-FFF2-40B4-BE49-F238E27FC236}">
                <a16:creationId xmlns:a16="http://schemas.microsoft.com/office/drawing/2014/main" id="{82E97602-6769-0A37-549B-3DA595E37BB4}"/>
              </a:ext>
            </a:extLst>
          </p:cNvPr>
          <p:cNvSpPr txBox="1"/>
          <p:nvPr/>
        </p:nvSpPr>
        <p:spPr>
          <a:xfrm>
            <a:off x="657151" y="1182092"/>
            <a:ext cx="6895845" cy="372090"/>
          </a:xfrm>
          <a:prstGeom prst="rect">
            <a:avLst/>
          </a:prstGeom>
          <a:noFill/>
        </p:spPr>
        <p:txBody>
          <a:bodyPr wrap="square">
            <a:spAutoFit/>
          </a:bodyPr>
          <a:lstStyle/>
          <a:p>
            <a:pPr>
              <a:lnSpc>
                <a:spcPct val="125000"/>
              </a:lnSpc>
              <a:spcBef>
                <a:spcPts val="600"/>
              </a:spcBef>
              <a:buClr>
                <a:srgbClr val="000000"/>
              </a:buClr>
              <a:defRPr/>
            </a:pPr>
            <a:r>
              <a:rPr lang="zh-CN" altLang="en-US" sz="1600" dirty="0">
                <a:latin typeface="Noto Sans SC"/>
                <a:ea typeface="Noto Sans SC"/>
                <a:sym typeface="Arial"/>
              </a:rPr>
              <a:t>在一些数据量较少的编程语言上，其融合后的性能会上升</a:t>
            </a:r>
            <a:endParaRPr lang="en-US" altLang="zh-CN" sz="1600" dirty="0">
              <a:latin typeface="Noto Sans SC"/>
              <a:ea typeface="Noto Sans SC"/>
              <a:sym typeface="Arial"/>
            </a:endParaRPr>
          </a:p>
        </p:txBody>
      </p:sp>
    </p:spTree>
    <p:extLst>
      <p:ext uri="{BB962C8B-B14F-4D97-AF65-F5344CB8AC3E}">
        <p14:creationId xmlns:p14="http://schemas.microsoft.com/office/powerpoint/2010/main" val="220487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AEB0-9C0D-B206-00FD-801E02B2423A}"/>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CA6BF28B-645C-5F03-9914-44089792B94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5165B53F-6590-BFAE-7A04-F69234AD9868}"/>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FA4DA9-1953-C357-6755-94E68705CB3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AFED542-666B-D534-6AE5-B0C305CA7E1A}"/>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DC12F5F9-FDE8-E767-1D2B-1F20C00B5BA2}"/>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RQ2</a:t>
            </a:r>
            <a:r>
              <a:rPr lang="zh-CN" altLang="en-US" b="1" dirty="0">
                <a:solidFill>
                  <a:srgbClr val="333333"/>
                </a:solidFill>
                <a:latin typeface="Noto Sans SC" panose="020B0200000000000000" pitchFamily="34" charset="-122"/>
                <a:ea typeface="Noto Sans SC" panose="020B0200000000000000" pitchFamily="34" charset="-122"/>
              </a:rPr>
              <a:t>：多软工任务融合性能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3CEAFC90-7E68-4D79-8BC9-3C2156C96CC8}"/>
              </a:ext>
            </a:extLst>
          </p:cNvPr>
          <p:cNvPicPr>
            <a:picLocks noChangeAspect="1"/>
          </p:cNvPicPr>
          <p:nvPr/>
        </p:nvPicPr>
        <p:blipFill>
          <a:blip r:embed="rId3"/>
          <a:stretch>
            <a:fillRect/>
          </a:stretch>
        </p:blipFill>
        <p:spPr>
          <a:xfrm>
            <a:off x="1491614" y="1637853"/>
            <a:ext cx="9136249" cy="2066599"/>
          </a:xfrm>
          <a:prstGeom prst="rect">
            <a:avLst/>
          </a:prstGeom>
        </p:spPr>
      </p:pic>
      <p:pic>
        <p:nvPicPr>
          <p:cNvPr id="8" name="图片 7">
            <a:extLst>
              <a:ext uri="{FF2B5EF4-FFF2-40B4-BE49-F238E27FC236}">
                <a16:creationId xmlns:a16="http://schemas.microsoft.com/office/drawing/2014/main" id="{83A9CB40-A774-56CF-5465-DD37E3BA4588}"/>
              </a:ext>
            </a:extLst>
          </p:cNvPr>
          <p:cNvPicPr>
            <a:picLocks noChangeAspect="1"/>
          </p:cNvPicPr>
          <p:nvPr/>
        </p:nvPicPr>
        <p:blipFill>
          <a:blip r:embed="rId4"/>
          <a:stretch>
            <a:fillRect/>
          </a:stretch>
        </p:blipFill>
        <p:spPr>
          <a:xfrm>
            <a:off x="2551364" y="4134582"/>
            <a:ext cx="7016749" cy="2089548"/>
          </a:xfrm>
          <a:prstGeom prst="rect">
            <a:avLst/>
          </a:prstGeom>
        </p:spPr>
      </p:pic>
      <p:sp>
        <p:nvSpPr>
          <p:cNvPr id="12" name="文本框 11">
            <a:extLst>
              <a:ext uri="{FF2B5EF4-FFF2-40B4-BE49-F238E27FC236}">
                <a16:creationId xmlns:a16="http://schemas.microsoft.com/office/drawing/2014/main" id="{3531B5B2-6126-9A5F-7B6E-A0824A9425BC}"/>
              </a:ext>
            </a:extLst>
          </p:cNvPr>
          <p:cNvSpPr txBox="1"/>
          <p:nvPr/>
        </p:nvSpPr>
        <p:spPr>
          <a:xfrm>
            <a:off x="3006658" y="1234691"/>
            <a:ext cx="6106160" cy="376193"/>
          </a:xfrm>
          <a:prstGeom prst="rect">
            <a:avLst/>
          </a:prstGeom>
          <a:noFill/>
        </p:spPr>
        <p:txBody>
          <a:bodyPr wrap="square">
            <a:spAutoFit/>
          </a:bodyPr>
          <a:lstStyle/>
          <a:p>
            <a:pPr indent="0" algn="ctr">
              <a:lnSpc>
                <a:spcPct val="125000"/>
              </a:lnSpc>
              <a:defRPr/>
            </a:pPr>
            <a:r>
              <a:rPr lang="zh-CN" altLang="en-US" sz="1600" b="0" i="0" u="none" strike="noStrike" dirty="0">
                <a:solidFill>
                  <a:schemeClr val="tx1"/>
                </a:solidFill>
                <a:latin typeface="Noto Sans SC"/>
                <a:ea typeface="Noto Sans SC"/>
                <a:cs typeface="Noto Sans SC"/>
                <a:sym typeface="Noto Sans SC"/>
              </a:rPr>
              <a:t>程序理解任务融合性能</a:t>
            </a:r>
            <a:r>
              <a:rPr lang="en-US" altLang="zh-CN" sz="1600" b="0" i="0" u="none" strike="noStrike" dirty="0">
                <a:solidFill>
                  <a:schemeClr val="tx1"/>
                </a:solidFill>
                <a:latin typeface="Noto Sans SC"/>
                <a:ea typeface="Noto Sans SC"/>
                <a:cs typeface="Noto Sans SC"/>
                <a:sym typeface="Noto Sans SC"/>
              </a:rPr>
              <a:t>(Java</a:t>
            </a:r>
            <a:r>
              <a:rPr lang="zh-CN" altLang="en-US" sz="1600" b="0" i="0" u="none" strike="noStrike" dirty="0">
                <a:solidFill>
                  <a:schemeClr val="tx1"/>
                </a:solidFill>
                <a:latin typeface="Noto Sans SC"/>
                <a:ea typeface="Noto Sans SC"/>
                <a:cs typeface="Noto Sans SC"/>
                <a:sym typeface="Noto Sans SC"/>
              </a:rPr>
              <a:t>语言</a:t>
            </a:r>
            <a:r>
              <a:rPr lang="en-US" altLang="zh-CN" sz="1600" b="0" i="0" u="none" strike="noStrike" dirty="0">
                <a:solidFill>
                  <a:schemeClr val="tx1"/>
                </a:solidFill>
                <a:latin typeface="Noto Sans SC"/>
                <a:ea typeface="Noto Sans SC"/>
                <a:cs typeface="Noto Sans SC"/>
                <a:sym typeface="Noto Sans SC"/>
              </a:rPr>
              <a:t>)</a:t>
            </a:r>
            <a:endParaRPr lang="en-US" altLang="zh-CN" sz="1100" dirty="0">
              <a:solidFill>
                <a:schemeClr val="tx1"/>
              </a:solidFill>
            </a:endParaRPr>
          </a:p>
        </p:txBody>
      </p:sp>
      <p:sp>
        <p:nvSpPr>
          <p:cNvPr id="13" name="文本框 12">
            <a:extLst>
              <a:ext uri="{FF2B5EF4-FFF2-40B4-BE49-F238E27FC236}">
                <a16:creationId xmlns:a16="http://schemas.microsoft.com/office/drawing/2014/main" id="{8A534E22-F13E-0BC0-4A39-C78C5AEBE435}"/>
              </a:ext>
            </a:extLst>
          </p:cNvPr>
          <p:cNvSpPr txBox="1"/>
          <p:nvPr/>
        </p:nvSpPr>
        <p:spPr>
          <a:xfrm>
            <a:off x="3006658" y="3731421"/>
            <a:ext cx="6106160" cy="376193"/>
          </a:xfrm>
          <a:prstGeom prst="rect">
            <a:avLst/>
          </a:prstGeom>
          <a:noFill/>
        </p:spPr>
        <p:txBody>
          <a:bodyPr wrap="square">
            <a:spAutoFit/>
          </a:bodyPr>
          <a:lstStyle/>
          <a:p>
            <a:pPr indent="0" algn="ctr">
              <a:lnSpc>
                <a:spcPct val="125000"/>
              </a:lnSpc>
              <a:defRPr/>
            </a:pPr>
            <a:r>
              <a:rPr lang="zh-CN" altLang="en-US" sz="1600" b="0" i="0" u="none" strike="noStrike" dirty="0">
                <a:solidFill>
                  <a:schemeClr val="tx1"/>
                </a:solidFill>
                <a:latin typeface="Noto Sans SC"/>
                <a:ea typeface="Noto Sans SC"/>
                <a:cs typeface="Noto Sans SC"/>
                <a:sym typeface="Noto Sans SC"/>
              </a:rPr>
              <a:t>程序生成任务融合性能</a:t>
            </a:r>
            <a:r>
              <a:rPr lang="en-US" altLang="zh-CN" sz="1600" b="0" i="0" u="none" strike="noStrike" dirty="0">
                <a:solidFill>
                  <a:schemeClr val="tx1"/>
                </a:solidFill>
                <a:latin typeface="Noto Sans SC"/>
                <a:ea typeface="Noto Sans SC"/>
                <a:cs typeface="Noto Sans SC"/>
                <a:sym typeface="Noto Sans SC"/>
              </a:rPr>
              <a:t>(Py</a:t>
            </a:r>
            <a:r>
              <a:rPr lang="en-US" altLang="zh-CN" sz="1600" dirty="0">
                <a:latin typeface="Noto Sans SC"/>
                <a:ea typeface="Noto Sans SC"/>
                <a:cs typeface="Noto Sans SC"/>
                <a:sym typeface="Noto Sans SC"/>
              </a:rPr>
              <a:t>thon</a:t>
            </a:r>
            <a:r>
              <a:rPr lang="zh-CN" altLang="en-US" sz="1600" b="0" i="0" u="none" strike="noStrike" dirty="0">
                <a:solidFill>
                  <a:schemeClr val="tx1"/>
                </a:solidFill>
                <a:latin typeface="Noto Sans SC"/>
                <a:ea typeface="Noto Sans SC"/>
                <a:cs typeface="Noto Sans SC"/>
                <a:sym typeface="Noto Sans SC"/>
              </a:rPr>
              <a:t>语言</a:t>
            </a:r>
            <a:r>
              <a:rPr lang="en-US" altLang="zh-CN" sz="1600" b="0" i="0" u="none" strike="noStrike" dirty="0">
                <a:solidFill>
                  <a:schemeClr val="tx1"/>
                </a:solidFill>
                <a:latin typeface="Noto Sans SC"/>
                <a:ea typeface="Noto Sans SC"/>
                <a:cs typeface="Noto Sans SC"/>
                <a:sym typeface="Noto Sans SC"/>
              </a:rPr>
              <a:t>)</a:t>
            </a:r>
            <a:endParaRPr lang="en-US" altLang="zh-CN" sz="1100" dirty="0">
              <a:solidFill>
                <a:schemeClr val="tx1"/>
              </a:solidFill>
            </a:endParaRPr>
          </a:p>
        </p:txBody>
      </p:sp>
    </p:spTree>
    <p:extLst>
      <p:ext uri="{BB962C8B-B14F-4D97-AF65-F5344CB8AC3E}">
        <p14:creationId xmlns:p14="http://schemas.microsoft.com/office/powerpoint/2010/main" val="1019454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CDCB-7CF3-736D-059C-7C3165FB79B5}"/>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2693DA25-1A35-5B17-D810-4177CB660C1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71DD30B-5C7C-ED4A-A349-4A1E21FCE6A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7EF5240-41C8-C7EE-5EA8-7E8E63AB66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9FE11413-7F77-69EE-AFCD-FD6FB85156C6}"/>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27AFB6CC-4B05-B0C0-DAE3-2A921CFDFC7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RQ2</a:t>
            </a:r>
            <a:r>
              <a:rPr lang="zh-CN" altLang="en-US" b="1" dirty="0">
                <a:solidFill>
                  <a:srgbClr val="333333"/>
                </a:solidFill>
                <a:latin typeface="Noto Sans SC" panose="020B0200000000000000" pitchFamily="34" charset="-122"/>
                <a:ea typeface="Noto Sans SC" panose="020B0200000000000000" pitchFamily="34" charset="-122"/>
              </a:rPr>
              <a:t>：多软工任务融合性能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BB2FEBD2-02F7-5FD1-3A46-1ABE6AE21F26}"/>
              </a:ext>
            </a:extLst>
          </p:cNvPr>
          <p:cNvPicPr>
            <a:picLocks noChangeAspect="1"/>
          </p:cNvPicPr>
          <p:nvPr/>
        </p:nvPicPr>
        <p:blipFill>
          <a:blip r:embed="rId3"/>
          <a:stretch>
            <a:fillRect/>
          </a:stretch>
        </p:blipFill>
        <p:spPr>
          <a:xfrm>
            <a:off x="480266" y="1494991"/>
            <a:ext cx="5360743" cy="3158815"/>
          </a:xfrm>
          <a:prstGeom prst="rect">
            <a:avLst/>
          </a:prstGeom>
        </p:spPr>
      </p:pic>
      <p:pic>
        <p:nvPicPr>
          <p:cNvPr id="7" name="图片 6">
            <a:extLst>
              <a:ext uri="{FF2B5EF4-FFF2-40B4-BE49-F238E27FC236}">
                <a16:creationId xmlns:a16="http://schemas.microsoft.com/office/drawing/2014/main" id="{A6BA44DB-9BAE-D1A2-A1FD-84AF72567CB4}"/>
              </a:ext>
            </a:extLst>
          </p:cNvPr>
          <p:cNvPicPr>
            <a:picLocks noChangeAspect="1"/>
          </p:cNvPicPr>
          <p:nvPr/>
        </p:nvPicPr>
        <p:blipFill>
          <a:blip r:embed="rId4"/>
          <a:stretch>
            <a:fillRect/>
          </a:stretch>
        </p:blipFill>
        <p:spPr>
          <a:xfrm>
            <a:off x="6350992" y="1494991"/>
            <a:ext cx="5296738" cy="3158815"/>
          </a:xfrm>
          <a:prstGeom prst="rect">
            <a:avLst/>
          </a:prstGeom>
        </p:spPr>
      </p:pic>
      <p:sp>
        <p:nvSpPr>
          <p:cNvPr id="9" name="文本框 8">
            <a:extLst>
              <a:ext uri="{FF2B5EF4-FFF2-40B4-BE49-F238E27FC236}">
                <a16:creationId xmlns:a16="http://schemas.microsoft.com/office/drawing/2014/main" id="{B44D9638-A80F-43B9-72B5-2E0711AB3823}"/>
              </a:ext>
            </a:extLst>
          </p:cNvPr>
          <p:cNvSpPr txBox="1"/>
          <p:nvPr/>
        </p:nvSpPr>
        <p:spPr>
          <a:xfrm>
            <a:off x="862585" y="4767101"/>
            <a:ext cx="11046535" cy="1604285"/>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sz="1800" dirty="0">
                <a:latin typeface="Noto Sans SC"/>
                <a:ea typeface="Noto Sans SC"/>
                <a:sym typeface="Arial"/>
              </a:rPr>
              <a:t>不同任务之间的参数分布差异巨大</a:t>
            </a:r>
            <a:endParaRPr lang="en-US" altLang="zh-CN" sz="1800" dirty="0">
              <a:latin typeface="Noto Sans SC"/>
              <a:ea typeface="Noto Sans SC"/>
              <a:sym typeface="Arial"/>
            </a:endParaRPr>
          </a:p>
          <a:p>
            <a:pPr marL="285750" indent="-285750">
              <a:lnSpc>
                <a:spcPct val="125000"/>
              </a:lnSpc>
              <a:spcBef>
                <a:spcPts val="600"/>
              </a:spcBef>
              <a:buClr>
                <a:srgbClr val="000000"/>
              </a:buClr>
              <a:buFont typeface="Arial" panose="020B0604020202020204" pitchFamily="34" charset="0"/>
              <a:buChar char="•"/>
              <a:defRPr/>
            </a:pPr>
            <a:r>
              <a:rPr lang="zh-CN" altLang="en-US" dirty="0">
                <a:latin typeface="Noto Sans SC"/>
                <a:ea typeface="Noto Sans SC"/>
                <a:sym typeface="Arial"/>
              </a:rPr>
              <a:t>融合模型的行为更接近强特征任务微调模型行为</a:t>
            </a:r>
            <a:endParaRPr lang="en-US" altLang="zh-CN" dirty="0">
              <a:latin typeface="Noto Sans SC"/>
              <a:ea typeface="Noto Sans SC"/>
              <a:sym typeface="Arial"/>
            </a:endParaRPr>
          </a:p>
          <a:p>
            <a:pPr marL="285750" indent="-285750">
              <a:lnSpc>
                <a:spcPct val="125000"/>
              </a:lnSpc>
              <a:spcBef>
                <a:spcPts val="600"/>
              </a:spcBef>
              <a:buClr>
                <a:srgbClr val="000000"/>
              </a:buClr>
              <a:buFont typeface="Arial" panose="020B0604020202020204" pitchFamily="34" charset="0"/>
              <a:buChar char="•"/>
              <a:defRPr/>
            </a:pPr>
            <a:r>
              <a:rPr lang="zh-CN" altLang="en-US" dirty="0">
                <a:latin typeface="Noto Sans SC"/>
                <a:ea typeface="Noto Sans SC"/>
                <a:sym typeface="Arial"/>
              </a:rPr>
              <a:t>发现</a:t>
            </a:r>
            <a:r>
              <a:rPr lang="en-US" altLang="zh-CN" dirty="0">
                <a:latin typeface="Noto Sans SC"/>
                <a:ea typeface="Noto Sans SC"/>
                <a:sym typeface="Arial"/>
              </a:rPr>
              <a:t>4</a:t>
            </a:r>
            <a:r>
              <a:rPr lang="zh-CN" altLang="en-US" dirty="0">
                <a:latin typeface="Noto Sans SC"/>
                <a:ea typeface="Noto Sans SC"/>
                <a:sym typeface="Arial"/>
              </a:rPr>
              <a:t>：在多软件工程任务融合场景下，除了 </a:t>
            </a:r>
            <a:r>
              <a:rPr lang="en-US" altLang="zh-CN" dirty="0">
                <a:latin typeface="Noto Sans SC"/>
                <a:ea typeface="Noto Sans SC"/>
                <a:sym typeface="Arial"/>
              </a:rPr>
              <a:t>TALL-Masks </a:t>
            </a:r>
            <a:r>
              <a:rPr lang="zh-CN" altLang="en-US" dirty="0">
                <a:latin typeface="Noto Sans SC"/>
                <a:ea typeface="Noto Sans SC"/>
                <a:sym typeface="Arial"/>
              </a:rPr>
              <a:t>之外，其他融合方法往往会被具有更强特征的任务主导。这些占主导地位的任务能够保持较好的性能，而特征较弱的任务则会出现明显的性能下降。</a:t>
            </a:r>
            <a:endParaRPr lang="zh-CN" altLang="en-US" dirty="0"/>
          </a:p>
        </p:txBody>
      </p:sp>
    </p:spTree>
    <p:extLst>
      <p:ext uri="{BB962C8B-B14F-4D97-AF65-F5344CB8AC3E}">
        <p14:creationId xmlns:p14="http://schemas.microsoft.com/office/powerpoint/2010/main" val="2269822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6B72-4BC6-7E4F-5ADD-E9C4BF7F9D7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898F3254-BE44-70B6-C910-B91AAA5DC828}"/>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27D73C68-609E-150C-9DF8-AD7FDEBCA46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52FA728-BF09-E49B-8742-30987C296ED8}"/>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591D7FA-EED7-0A41-AB46-4D889B5D6F02}"/>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B18ED7F5-AF25-A3B5-EFCA-BAC37CB4A517}"/>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C1077A83-2E2F-6EA3-16AC-989DFA3F01A8}"/>
              </a:ext>
            </a:extLst>
          </p:cNvPr>
          <p:cNvPicPr>
            <a:picLocks noChangeAspect="1"/>
          </p:cNvPicPr>
          <p:nvPr/>
        </p:nvPicPr>
        <p:blipFill>
          <a:blip r:embed="rId3"/>
          <a:stretch>
            <a:fillRect/>
          </a:stretch>
        </p:blipFill>
        <p:spPr>
          <a:xfrm>
            <a:off x="0" y="1394644"/>
            <a:ext cx="12192000" cy="3198633"/>
          </a:xfrm>
          <a:prstGeom prst="rect">
            <a:avLst/>
          </a:prstGeom>
        </p:spPr>
      </p:pic>
      <p:sp>
        <p:nvSpPr>
          <p:cNvPr id="8" name="文本框 7">
            <a:extLst>
              <a:ext uri="{FF2B5EF4-FFF2-40B4-BE49-F238E27FC236}">
                <a16:creationId xmlns:a16="http://schemas.microsoft.com/office/drawing/2014/main" id="{59456227-FA04-7A80-5E04-ABA762CDCAB4}"/>
              </a:ext>
            </a:extLst>
          </p:cNvPr>
          <p:cNvSpPr txBox="1"/>
          <p:nvPr/>
        </p:nvSpPr>
        <p:spPr>
          <a:xfrm>
            <a:off x="333502" y="4836309"/>
            <a:ext cx="11524995" cy="757900"/>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dirty="0">
                <a:latin typeface="Noto Sans SC"/>
                <a:ea typeface="Noto Sans SC"/>
                <a:sym typeface="Arial"/>
              </a:rPr>
              <a:t>发现</a:t>
            </a:r>
            <a:r>
              <a:rPr lang="en-US" altLang="zh-CN" dirty="0">
                <a:latin typeface="Noto Sans SC"/>
                <a:ea typeface="Noto Sans SC"/>
                <a:sym typeface="Arial"/>
              </a:rPr>
              <a:t>5</a:t>
            </a:r>
            <a:r>
              <a:rPr lang="zh-CN" altLang="en-US" dirty="0">
                <a:latin typeface="Noto Sans SC"/>
                <a:ea typeface="Noto Sans SC"/>
                <a:sym typeface="Arial"/>
              </a:rPr>
              <a:t>：在多软工任务多编程语言融合场景下，几乎所有融合方法都会在某些任务上出现显著的性能下降。对于 </a:t>
            </a:r>
            <a:r>
              <a:rPr lang="en-US" altLang="zh-CN" dirty="0">
                <a:latin typeface="Noto Sans SC"/>
                <a:ea typeface="Noto Sans SC"/>
                <a:sym typeface="Arial"/>
              </a:rPr>
              <a:t>TALL-Masks</a:t>
            </a:r>
            <a:r>
              <a:rPr lang="zh-CN" altLang="en-US" dirty="0">
                <a:latin typeface="Noto Sans SC"/>
                <a:ea typeface="Noto Sans SC"/>
                <a:sym typeface="Arial"/>
              </a:rPr>
              <a:t>，除了漏洞检测任务之外，在其他所有任务上都能够保持接近单任务微调模型 </a:t>
            </a:r>
            <a:r>
              <a:rPr lang="en-US" altLang="zh-CN" dirty="0">
                <a:latin typeface="Noto Sans SC"/>
                <a:ea typeface="Noto Sans SC"/>
                <a:sym typeface="Arial"/>
              </a:rPr>
              <a:t>100% </a:t>
            </a:r>
            <a:r>
              <a:rPr lang="zh-CN" altLang="en-US" dirty="0">
                <a:latin typeface="Noto Sans SC"/>
                <a:ea typeface="Noto Sans SC"/>
                <a:sym typeface="Arial"/>
              </a:rPr>
              <a:t>的能力。</a:t>
            </a:r>
            <a:endParaRPr lang="zh-CN" altLang="en-US" dirty="0"/>
          </a:p>
        </p:txBody>
      </p:sp>
    </p:spTree>
    <p:extLst>
      <p:ext uri="{BB962C8B-B14F-4D97-AF65-F5344CB8AC3E}">
        <p14:creationId xmlns:p14="http://schemas.microsoft.com/office/powerpoint/2010/main" val="3570461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A9AB-D16A-3CD1-8203-E4B3139ACCC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05890554-20D5-0AF4-C6DC-BB5D7CFC0F0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D823052-FAD4-478F-5B58-627E157A3DB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1F5A4D8-A5CD-5B57-5340-200AC51453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E079B1E-8B36-DC11-44CE-A55378C0F8B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B41BAE0D-43BA-655B-123A-D3D5ED384414}"/>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749F31EC-0EC4-61DD-F0E4-E98B0FE7F8D9}"/>
              </a:ext>
            </a:extLst>
          </p:cNvPr>
          <p:cNvPicPr>
            <a:picLocks noChangeAspect="1"/>
          </p:cNvPicPr>
          <p:nvPr/>
        </p:nvPicPr>
        <p:blipFill>
          <a:blip r:embed="rId3"/>
          <a:stretch>
            <a:fillRect/>
          </a:stretch>
        </p:blipFill>
        <p:spPr>
          <a:xfrm>
            <a:off x="6435556" y="1621306"/>
            <a:ext cx="5152731" cy="3571200"/>
          </a:xfrm>
          <a:prstGeom prst="rect">
            <a:avLst/>
          </a:prstGeom>
        </p:spPr>
      </p:pic>
      <p:pic>
        <p:nvPicPr>
          <p:cNvPr id="7" name="图片 6">
            <a:extLst>
              <a:ext uri="{FF2B5EF4-FFF2-40B4-BE49-F238E27FC236}">
                <a16:creationId xmlns:a16="http://schemas.microsoft.com/office/drawing/2014/main" id="{CB072417-32DD-7751-09DE-8DAB717D1DCA}"/>
              </a:ext>
            </a:extLst>
          </p:cNvPr>
          <p:cNvPicPr>
            <a:picLocks noChangeAspect="1"/>
          </p:cNvPicPr>
          <p:nvPr/>
        </p:nvPicPr>
        <p:blipFill>
          <a:blip r:embed="rId4"/>
          <a:stretch>
            <a:fillRect/>
          </a:stretch>
        </p:blipFill>
        <p:spPr>
          <a:xfrm>
            <a:off x="479046" y="1621507"/>
            <a:ext cx="5672835" cy="3570999"/>
          </a:xfrm>
          <a:prstGeom prst="rect">
            <a:avLst/>
          </a:prstGeom>
        </p:spPr>
      </p:pic>
      <p:sp>
        <p:nvSpPr>
          <p:cNvPr id="9" name="文本框 8">
            <a:extLst>
              <a:ext uri="{FF2B5EF4-FFF2-40B4-BE49-F238E27FC236}">
                <a16:creationId xmlns:a16="http://schemas.microsoft.com/office/drawing/2014/main" id="{6DBE9040-A9E7-CBE0-C64D-AD6564878EB2}"/>
              </a:ext>
            </a:extLst>
          </p:cNvPr>
          <p:cNvSpPr txBox="1"/>
          <p:nvPr/>
        </p:nvSpPr>
        <p:spPr>
          <a:xfrm>
            <a:off x="623063" y="1286782"/>
            <a:ext cx="5384800" cy="307777"/>
          </a:xfrm>
          <a:prstGeom prst="rect">
            <a:avLst/>
          </a:prstGeom>
          <a:noFill/>
        </p:spPr>
        <p:txBody>
          <a:bodyPr wrap="square" rtlCol="0">
            <a:spAutoFit/>
          </a:bodyPr>
          <a:lstStyle/>
          <a:p>
            <a:pPr algn="ctr" eaLnBrk="0" fontAlgn="base" hangingPunct="0">
              <a:spcBef>
                <a:spcPct val="0"/>
              </a:spcBef>
              <a:spcAft>
                <a:spcPct val="0"/>
              </a:spcAft>
            </a:pPr>
            <a:r>
              <a:rPr lang="zh-CN" altLang="en-US" sz="1400" dirty="0">
                <a:solidFill>
                  <a:srgbClr val="333333"/>
                </a:solidFill>
                <a:latin typeface="Noto Sans SC" panose="020B0200000000000000" pitchFamily="34" charset="-122"/>
                <a:ea typeface="Noto Sans SC" panose="020B0200000000000000" pitchFamily="34" charset="-122"/>
              </a:rPr>
              <a:t>代码修复任务多编程语言融合</a:t>
            </a:r>
          </a:p>
        </p:txBody>
      </p:sp>
      <p:sp>
        <p:nvSpPr>
          <p:cNvPr id="10" name="文本框 9">
            <a:extLst>
              <a:ext uri="{FF2B5EF4-FFF2-40B4-BE49-F238E27FC236}">
                <a16:creationId xmlns:a16="http://schemas.microsoft.com/office/drawing/2014/main" id="{37CC34C2-7E11-7989-C203-B5E31734A5C6}"/>
              </a:ext>
            </a:extLst>
          </p:cNvPr>
          <p:cNvSpPr txBox="1"/>
          <p:nvPr/>
        </p:nvSpPr>
        <p:spPr>
          <a:xfrm>
            <a:off x="6319521" y="1286781"/>
            <a:ext cx="5384800" cy="307777"/>
          </a:xfrm>
          <a:prstGeom prst="rect">
            <a:avLst/>
          </a:prstGeom>
          <a:noFill/>
        </p:spPr>
        <p:txBody>
          <a:bodyPr wrap="square" rtlCol="0">
            <a:spAutoFit/>
          </a:bodyPr>
          <a:lstStyle/>
          <a:p>
            <a:pPr algn="ctr" eaLnBrk="0" fontAlgn="base" hangingPunct="0">
              <a:spcBef>
                <a:spcPct val="0"/>
              </a:spcBef>
              <a:spcAft>
                <a:spcPct val="0"/>
              </a:spcAft>
            </a:pPr>
            <a:r>
              <a:rPr lang="zh-CN" altLang="en-US" sz="1400" dirty="0">
                <a:solidFill>
                  <a:srgbClr val="333333"/>
                </a:solidFill>
                <a:latin typeface="Noto Sans SC" panose="020B0200000000000000" pitchFamily="34" charset="-122"/>
                <a:ea typeface="Noto Sans SC" panose="020B0200000000000000" pitchFamily="34" charset="-122"/>
              </a:rPr>
              <a:t>多软工任务多编程语言融合</a:t>
            </a:r>
          </a:p>
        </p:txBody>
      </p:sp>
      <p:sp>
        <p:nvSpPr>
          <p:cNvPr id="11" name="文本框 10">
            <a:extLst>
              <a:ext uri="{FF2B5EF4-FFF2-40B4-BE49-F238E27FC236}">
                <a16:creationId xmlns:a16="http://schemas.microsoft.com/office/drawing/2014/main" id="{3AA95126-6721-FA8B-761A-EC37433AB7CE}"/>
              </a:ext>
            </a:extLst>
          </p:cNvPr>
          <p:cNvSpPr txBox="1"/>
          <p:nvPr/>
        </p:nvSpPr>
        <p:spPr>
          <a:xfrm>
            <a:off x="389383" y="5287340"/>
            <a:ext cx="11524995" cy="757900"/>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dirty="0">
                <a:latin typeface="Noto Sans SC"/>
                <a:ea typeface="Noto Sans SC"/>
                <a:sym typeface="Arial"/>
              </a:rPr>
              <a:t>发现</a:t>
            </a:r>
            <a:r>
              <a:rPr lang="en-US" altLang="zh-CN" dirty="0">
                <a:latin typeface="Noto Sans SC"/>
                <a:ea typeface="Noto Sans SC"/>
                <a:sym typeface="Arial"/>
              </a:rPr>
              <a:t>6</a:t>
            </a:r>
            <a:r>
              <a:rPr lang="zh-CN" altLang="en-US" dirty="0">
                <a:latin typeface="Noto Sans SC"/>
                <a:ea typeface="Noto Sans SC"/>
                <a:sym typeface="Arial"/>
              </a:rPr>
              <a:t>：对于 </a:t>
            </a:r>
            <a:r>
              <a:rPr lang="en-US" altLang="zh-CN" dirty="0">
                <a:latin typeface="Noto Sans SC"/>
                <a:ea typeface="Noto Sans SC"/>
                <a:sym typeface="Arial"/>
              </a:rPr>
              <a:t>TALL-Masks </a:t>
            </a:r>
            <a:r>
              <a:rPr lang="zh-CN" altLang="en-US" dirty="0">
                <a:latin typeface="Noto Sans SC"/>
                <a:ea typeface="Noto Sans SC"/>
                <a:sym typeface="Arial"/>
              </a:rPr>
              <a:t>而言，在融合参数中，弱特征很容易被强特征掩盖，导致构建出的掩码无法有效保留重要参数。</a:t>
            </a:r>
            <a:endParaRPr lang="zh-CN" altLang="en-US" dirty="0"/>
          </a:p>
        </p:txBody>
      </p:sp>
    </p:spTree>
    <p:extLst>
      <p:ext uri="{BB962C8B-B14F-4D97-AF65-F5344CB8AC3E}">
        <p14:creationId xmlns:p14="http://schemas.microsoft.com/office/powerpoint/2010/main" val="3199919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62164-54AE-8E0E-0B76-6054D65606C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F4722DD-12BD-AFDC-0851-0F97F9758391}"/>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227888A-9606-062B-EFCE-D696576953C6}"/>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2D019F20-539F-7493-3BB9-05A224B9DF66}"/>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56475E3D-4F17-2DCA-C73F-E95B80727AD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CE03B36E-9544-980D-70A4-A43475CA36CE}"/>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BADD3DC-6743-481F-8C66-2EBA02C34956}"/>
                  </a:ext>
                </a:extLst>
              </p:cNvPr>
              <p:cNvSpPr txBox="1"/>
              <p:nvPr/>
            </p:nvSpPr>
            <p:spPr>
              <a:xfrm>
                <a:off x="5484115" y="1594800"/>
                <a:ext cx="6383020" cy="4087466"/>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zh-CN" dirty="0">
                    <a:latin typeface="Noto Sans SC"/>
                    <a:ea typeface="Noto Sans SC"/>
                  </a:rPr>
                  <a:t>在</a:t>
                </a:r>
                <a:r>
                  <a:rPr lang="en-US" altLang="zh-CN" dirty="0">
                    <a:latin typeface="Noto Sans SC"/>
                    <a:ea typeface="Noto Sans SC"/>
                  </a:rPr>
                  <a:t>RQ1</a:t>
                </a:r>
                <a:r>
                  <a:rPr lang="zh-CN" altLang="zh-CN" dirty="0">
                    <a:latin typeface="Noto Sans SC"/>
                    <a:ea typeface="Noto Sans SC"/>
                  </a:rPr>
                  <a:t>与</a:t>
                </a:r>
                <a:r>
                  <a:rPr lang="en-US" altLang="zh-CN" dirty="0">
                    <a:latin typeface="Noto Sans SC"/>
                    <a:ea typeface="Noto Sans SC"/>
                  </a:rPr>
                  <a:t>RQ2</a:t>
                </a:r>
                <a:r>
                  <a:rPr lang="zh-CN" altLang="zh-CN" dirty="0">
                    <a:latin typeface="Noto Sans SC"/>
                    <a:ea typeface="Noto Sans SC"/>
                  </a:rPr>
                  <a:t>中，我们发现，对于</a:t>
                </a:r>
                <a:r>
                  <a:rPr lang="en-US" altLang="zh-CN" dirty="0">
                    <a:latin typeface="Noto Sans SC"/>
                    <a:ea typeface="Noto Sans SC"/>
                  </a:rPr>
                  <a:t>TALL-Masks</a:t>
                </a:r>
                <a:r>
                  <a:rPr lang="zh-CN" altLang="zh-CN" dirty="0">
                    <a:latin typeface="Noto Sans SC"/>
                    <a:ea typeface="Noto Sans SC"/>
                  </a:rPr>
                  <a:t>，</a:t>
                </a:r>
                <a:r>
                  <a:rPr lang="zh-CN" altLang="en-US" dirty="0">
                    <a:latin typeface="Noto Sans SC"/>
                    <a:ea typeface="Noto Sans SC"/>
                  </a:rPr>
                  <a:t>特征较弱的任务（参数变化小）会有较大的性能下降</a:t>
                </a:r>
                <a:endParaRPr lang="en-US" altLang="zh-CN" dirty="0">
                  <a:latin typeface="Noto Sans SC"/>
                  <a:ea typeface="Noto Sans SC"/>
                </a:endParaRPr>
              </a:p>
              <a:p>
                <a:pPr marL="285750" indent="-285750">
                  <a:spcAft>
                    <a:spcPts val="1800"/>
                  </a:spcAft>
                  <a:buFont typeface="Arial" panose="020B0604020202020204" pitchFamily="34" charset="0"/>
                  <a:buChar char="•"/>
                </a:pPr>
                <a:r>
                  <a:rPr lang="zh-CN" altLang="zh-CN" dirty="0">
                    <a:latin typeface="Noto Sans SC"/>
                    <a:ea typeface="Noto Sans SC"/>
                  </a:rPr>
                  <a:t>这主要由两点造成，</a:t>
                </a:r>
                <a:r>
                  <a:rPr lang="en-US" altLang="zh-CN" dirty="0">
                    <a:latin typeface="Noto Sans SC"/>
                    <a:ea typeface="Noto Sans SC"/>
                  </a:rPr>
                  <a:t>1.</a:t>
                </a:r>
                <a:r>
                  <a:rPr lang="zh-CN" altLang="zh-CN" dirty="0">
                    <a:latin typeface="Noto Sans SC"/>
                    <a:ea typeface="Noto Sans SC"/>
                  </a:rPr>
                  <a:t>在获得融合参数时，</a:t>
                </a:r>
                <a:r>
                  <a:rPr lang="zh-CN" altLang="en-US" dirty="0">
                    <a:latin typeface="Noto Sans SC"/>
                    <a:ea typeface="Noto Sans SC"/>
                  </a:rPr>
                  <a:t>弱特征</a:t>
                </a:r>
                <a:r>
                  <a:rPr lang="zh-CN" altLang="zh-CN" dirty="0">
                    <a:latin typeface="Noto Sans SC"/>
                    <a:ea typeface="Noto Sans SC"/>
                  </a:rPr>
                  <a:t>特征容易被</a:t>
                </a:r>
                <a:r>
                  <a:rPr lang="zh-CN" altLang="en-US" dirty="0">
                    <a:latin typeface="Noto Sans SC"/>
                    <a:ea typeface="Noto Sans SC"/>
                  </a:rPr>
                  <a:t>强</a:t>
                </a:r>
                <a:r>
                  <a:rPr lang="zh-CN" altLang="zh-CN" dirty="0">
                    <a:latin typeface="Noto Sans SC"/>
                    <a:ea typeface="Noto Sans SC"/>
                  </a:rPr>
                  <a:t>特征掩盖；</a:t>
                </a:r>
                <a:r>
                  <a:rPr lang="en-US" altLang="zh-CN" dirty="0">
                    <a:latin typeface="Noto Sans SC"/>
                    <a:ea typeface="Noto Sans SC"/>
                  </a:rPr>
                  <a:t>2.</a:t>
                </a:r>
                <a:r>
                  <a:rPr lang="zh-CN" altLang="zh-CN" dirty="0">
                    <a:latin typeface="Noto Sans SC"/>
                    <a:ea typeface="Noto Sans SC"/>
                  </a:rPr>
                  <a:t>在构造</a:t>
                </a:r>
                <a:r>
                  <a:rPr lang="en-US" altLang="zh-CN" dirty="0">
                    <a:latin typeface="Noto Sans SC"/>
                    <a:ea typeface="Noto Sans SC"/>
                  </a:rPr>
                  <a:t>mask</a:t>
                </a:r>
                <a:r>
                  <a:rPr lang="zh-CN" altLang="zh-CN" dirty="0">
                    <a:latin typeface="Noto Sans SC"/>
                    <a:ea typeface="Noto Sans SC"/>
                  </a:rPr>
                  <a:t>时，由于微调参数特征与融合参数特征差距过大，导致其舍去大量参数，不能很好的保留于自身最相关的特征。</a:t>
                </a:r>
              </a:p>
              <a:p>
                <a:pPr marL="285750" indent="-285750">
                  <a:spcAft>
                    <a:spcPts val="1800"/>
                  </a:spcAft>
                  <a:buFont typeface="Arial" panose="020B0604020202020204" pitchFamily="34" charset="0"/>
                  <a:buChar char="•"/>
                </a:pPr>
                <a:r>
                  <a:rPr lang="zh-CN" altLang="en-US" dirty="0">
                    <a:latin typeface="Noto Sans SC"/>
                    <a:ea typeface="Noto Sans SC"/>
                  </a:rPr>
                  <a:t>将不同范围的特征映射到同一范围，从而防止值较大的强特征占据主导地位</a:t>
                </a:r>
                <a:endParaRPr lang="en-US" altLang="zh-CN" dirty="0">
                  <a:latin typeface="Noto Sans SC"/>
                  <a:ea typeface="Noto Sans SC"/>
                </a:endParaRPr>
              </a:p>
              <a:p>
                <a:pPr marL="285750" indent="-285750">
                  <a:spcAft>
                    <a:spcPts val="1800"/>
                  </a:spcAft>
                  <a:buFont typeface="Arial" panose="020B0604020202020204" pitchFamily="34" charset="0"/>
                  <a:buChar char="•"/>
                </a:pPr>
                <a:r>
                  <a:rPr lang="zh-CN" altLang="en-US" dirty="0">
                    <a:latin typeface="Noto Sans SC"/>
                    <a:ea typeface="Noto Sans SC"/>
                  </a:rPr>
                  <a:t>选出参数变化最大的任务，设他参数绝对值的平均值为</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𝑚</m:t>
                        </m:r>
                      </m:e>
                      <m:sub>
                        <m:r>
                          <a:rPr lang="en-US" altLang="zh-CN">
                            <a:latin typeface="Cambria Math" panose="02040503050406030204" pitchFamily="18" charset="0"/>
                          </a:rPr>
                          <m:t>𝑝𝑖𝑣𝑜𝑡</m:t>
                        </m:r>
                      </m:sub>
                    </m:sSub>
                  </m:oMath>
                </a14:m>
                <a:r>
                  <a:rPr lang="zh-CN" altLang="en-US" dirty="0">
                    <a:latin typeface="Noto Sans SC"/>
                    <a:ea typeface="Noto Sans SC"/>
                  </a:rPr>
                  <a:t>，接着其他任务参数乘以</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𝑚</m:t>
                        </m:r>
                      </m:e>
                      <m:sub>
                        <m:r>
                          <a:rPr lang="en-US" altLang="zh-CN">
                            <a:latin typeface="Cambria Math" panose="02040503050406030204" pitchFamily="18" charset="0"/>
                          </a:rPr>
                          <m:t>𝑝𝑖𝑣𝑜𝑡</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𝑚</m:t>
                        </m:r>
                      </m:e>
                      <m:sub>
                        <m:r>
                          <a:rPr lang="en-US" altLang="zh-CN">
                            <a:latin typeface="Cambria Math" panose="02040503050406030204" pitchFamily="18" charset="0"/>
                          </a:rPr>
                          <m:t>𝑖</m:t>
                        </m:r>
                      </m:sub>
                    </m:sSub>
                  </m:oMath>
                </a14:m>
                <a:endParaRPr lang="en-US" altLang="zh-CN" dirty="0">
                  <a:latin typeface="Noto Sans SC"/>
                  <a:ea typeface="Noto Sans SC"/>
                </a:endParaRPr>
              </a:p>
              <a:p>
                <a:pPr marL="285750" indent="-285750">
                  <a:spcAft>
                    <a:spcPts val="1800"/>
                  </a:spcAft>
                  <a:buFont typeface="Arial" panose="020B0604020202020204" pitchFamily="34" charset="0"/>
                  <a:buChar char="•"/>
                </a:pPr>
                <a:r>
                  <a:rPr lang="zh-CN" altLang="en-US" dirty="0">
                    <a:latin typeface="Noto Sans SC"/>
                    <a:ea typeface="Noto Sans SC"/>
                  </a:rPr>
                  <a:t>推理时，用</a:t>
                </a:r>
                <a:r>
                  <a:rPr lang="en-US" altLang="zh-CN" dirty="0">
                    <a:latin typeface="Noto Sans SC"/>
                    <a:ea typeface="Noto Sans SC"/>
                  </a:rPr>
                  <a:t>mask</a:t>
                </a:r>
                <a:r>
                  <a:rPr lang="zh-CN" altLang="en-US" dirty="0">
                    <a:latin typeface="Noto Sans SC"/>
                    <a:ea typeface="Noto Sans SC"/>
                  </a:rPr>
                  <a:t>取出最相关的维度，在恢复为原来的大小</a:t>
                </a:r>
              </a:p>
            </p:txBody>
          </p:sp>
        </mc:Choice>
        <mc:Fallback xmlns="">
          <p:sp>
            <p:nvSpPr>
              <p:cNvPr id="5" name="文本框 4">
                <a:extLst>
                  <a:ext uri="{FF2B5EF4-FFF2-40B4-BE49-F238E27FC236}">
                    <a16:creationId xmlns:a16="http://schemas.microsoft.com/office/drawing/2014/main" id="{9BADD3DC-6743-481F-8C66-2EBA02C34956}"/>
                  </a:ext>
                </a:extLst>
              </p:cNvPr>
              <p:cNvSpPr txBox="1">
                <a:spLocks noRot="1" noChangeAspect="1" noMove="1" noResize="1" noEditPoints="1" noAdjustHandles="1" noChangeArrowheads="1" noChangeShapeType="1" noTextEdit="1"/>
              </p:cNvSpPr>
              <p:nvPr/>
            </p:nvSpPr>
            <p:spPr>
              <a:xfrm>
                <a:off x="5484115" y="1594800"/>
                <a:ext cx="6383020" cy="4087466"/>
              </a:xfrm>
              <a:prstGeom prst="rect">
                <a:avLst/>
              </a:prstGeom>
              <a:blipFill>
                <a:blip r:embed="rId3"/>
                <a:stretch>
                  <a:fillRect l="-669" t="-896" r="-764" b="-1493"/>
                </a:stretch>
              </a:blipFill>
            </p:spPr>
            <p:txBody>
              <a:bodyPr/>
              <a:lstStyle/>
              <a:p>
                <a:r>
                  <a:rPr lang="zh-CN" altLang="en-US">
                    <a:noFill/>
                  </a:rPr>
                  <a:t> </a:t>
                </a:r>
              </a:p>
            </p:txBody>
          </p:sp>
        </mc:Fallback>
      </mc:AlternateContent>
      <p:pic>
        <p:nvPicPr>
          <p:cNvPr id="8" name="图形 7">
            <a:extLst>
              <a:ext uri="{FF2B5EF4-FFF2-40B4-BE49-F238E27FC236}">
                <a16:creationId xmlns:a16="http://schemas.microsoft.com/office/drawing/2014/main" id="{D4A2323D-9830-D9A2-A5A2-99A883FE22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011" y="1422080"/>
            <a:ext cx="5294104" cy="4623160"/>
          </a:xfrm>
          <a:prstGeom prst="rect">
            <a:avLst/>
          </a:prstGeom>
        </p:spPr>
      </p:pic>
    </p:spTree>
    <p:extLst>
      <p:ext uri="{BB962C8B-B14F-4D97-AF65-F5344CB8AC3E}">
        <p14:creationId xmlns:p14="http://schemas.microsoft.com/office/powerpoint/2010/main" val="1601958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CCF8-9543-1540-4574-2420A6DE2C07}"/>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D5E9799-247F-A40E-8A14-F06C7A56094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4A0E94AA-E012-74D9-F86C-589BCCDC53F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C719D3C8-3665-D25C-73E6-CB7DB3597FF3}"/>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0454751-FFA4-24EF-0A16-E0CC3A9267FE}"/>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424638B-98EA-F6FE-F4CB-577069F9390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192D7521-A578-46BA-518F-A6C2F85710B3}"/>
              </a:ext>
            </a:extLst>
          </p:cNvPr>
          <p:cNvPicPr>
            <a:picLocks noChangeAspect="1"/>
          </p:cNvPicPr>
          <p:nvPr/>
        </p:nvPicPr>
        <p:blipFill>
          <a:blip r:embed="rId3"/>
          <a:stretch>
            <a:fillRect/>
          </a:stretch>
        </p:blipFill>
        <p:spPr>
          <a:xfrm>
            <a:off x="132080" y="1528003"/>
            <a:ext cx="11684000" cy="1791980"/>
          </a:xfrm>
          <a:prstGeom prst="rect">
            <a:avLst/>
          </a:prstGeom>
        </p:spPr>
      </p:pic>
      <p:pic>
        <p:nvPicPr>
          <p:cNvPr id="7" name="图片 6">
            <a:extLst>
              <a:ext uri="{FF2B5EF4-FFF2-40B4-BE49-F238E27FC236}">
                <a16:creationId xmlns:a16="http://schemas.microsoft.com/office/drawing/2014/main" id="{F31287F6-8C85-187A-E0ED-2BE5785D8A34}"/>
              </a:ext>
            </a:extLst>
          </p:cNvPr>
          <p:cNvPicPr>
            <a:picLocks noChangeAspect="1"/>
          </p:cNvPicPr>
          <p:nvPr/>
        </p:nvPicPr>
        <p:blipFill>
          <a:blip r:embed="rId4"/>
          <a:stretch>
            <a:fillRect/>
          </a:stretch>
        </p:blipFill>
        <p:spPr>
          <a:xfrm>
            <a:off x="132080" y="3695848"/>
            <a:ext cx="11684000" cy="1994652"/>
          </a:xfrm>
          <a:prstGeom prst="rect">
            <a:avLst/>
          </a:prstGeom>
        </p:spPr>
      </p:pic>
      <p:sp>
        <p:nvSpPr>
          <p:cNvPr id="10" name="文本框 9">
            <a:extLst>
              <a:ext uri="{FF2B5EF4-FFF2-40B4-BE49-F238E27FC236}">
                <a16:creationId xmlns:a16="http://schemas.microsoft.com/office/drawing/2014/main" id="{AF64474C-A37E-F03E-067D-13ABFFD49799}"/>
              </a:ext>
            </a:extLst>
          </p:cNvPr>
          <p:cNvSpPr txBox="1"/>
          <p:nvPr/>
        </p:nvSpPr>
        <p:spPr>
          <a:xfrm>
            <a:off x="2921000" y="3338638"/>
            <a:ext cx="6106160" cy="338554"/>
          </a:xfrm>
          <a:prstGeom prst="rect">
            <a:avLst/>
          </a:prstGeom>
          <a:noFill/>
        </p:spPr>
        <p:txBody>
          <a:bodyPr wrap="square">
            <a:spAutoFit/>
          </a:bodyPr>
          <a:lstStyle/>
          <a:p>
            <a:pPr algn="ctr"/>
            <a:r>
              <a:rPr lang="zh-CN" altLang="en-US" sz="1600" dirty="0">
                <a:solidFill>
                  <a:srgbClr val="333333"/>
                </a:solidFill>
                <a:latin typeface="Noto Sans SC" panose="020B0200000000000000" pitchFamily="34" charset="-122"/>
                <a:ea typeface="Noto Sans SC" panose="020B0200000000000000" pitchFamily="34" charset="-122"/>
              </a:rPr>
              <a:t>多软工任务多编程语言融合性能</a:t>
            </a:r>
            <a:endParaRPr lang="zh-CN" altLang="en-US" sz="1600" dirty="0"/>
          </a:p>
        </p:txBody>
      </p:sp>
      <p:sp>
        <p:nvSpPr>
          <p:cNvPr id="12" name="文本框 11">
            <a:extLst>
              <a:ext uri="{FF2B5EF4-FFF2-40B4-BE49-F238E27FC236}">
                <a16:creationId xmlns:a16="http://schemas.microsoft.com/office/drawing/2014/main" id="{03C8E2BE-EEB4-4803-3ACA-8ECD0633B257}"/>
              </a:ext>
            </a:extLst>
          </p:cNvPr>
          <p:cNvSpPr txBox="1"/>
          <p:nvPr/>
        </p:nvSpPr>
        <p:spPr>
          <a:xfrm>
            <a:off x="2921000" y="1170794"/>
            <a:ext cx="6106160" cy="338554"/>
          </a:xfrm>
          <a:prstGeom prst="rect">
            <a:avLst/>
          </a:prstGeom>
          <a:noFill/>
        </p:spPr>
        <p:txBody>
          <a:bodyPr wrap="square">
            <a:spAutoFit/>
          </a:bodyPr>
          <a:lstStyle/>
          <a:p>
            <a:pPr algn="ctr"/>
            <a:r>
              <a:rPr lang="zh-CN" altLang="en-US" sz="1600" dirty="0">
                <a:solidFill>
                  <a:srgbClr val="333333"/>
                </a:solidFill>
                <a:latin typeface="Noto Sans SC" panose="020B0200000000000000" pitchFamily="34" charset="-122"/>
                <a:ea typeface="Noto Sans SC" panose="020B0200000000000000" pitchFamily="34" charset="-122"/>
              </a:rPr>
              <a:t>多编程语言融合性能</a:t>
            </a:r>
            <a:endParaRPr lang="zh-CN" altLang="en-US" sz="1600" dirty="0"/>
          </a:p>
        </p:txBody>
      </p:sp>
    </p:spTree>
    <p:extLst>
      <p:ext uri="{BB962C8B-B14F-4D97-AF65-F5344CB8AC3E}">
        <p14:creationId xmlns:p14="http://schemas.microsoft.com/office/powerpoint/2010/main" val="1208042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0AB7-8DE2-7979-DC9D-C898A32959F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11F9CD2B-4A8D-024E-A800-10A354E1207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DF6F52DC-6996-A99D-90BF-28A4F3C3AD7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0984DC-A1D9-07A8-8CAA-8B6F8F523FD7}"/>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4B899A2-D060-A615-172B-451EB2AA8E6F}"/>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54137F6-C8AE-5A18-643E-7D55BACCE2AF}"/>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03FFF9E0-CF41-68AA-2AEE-B22D63999C5B}"/>
              </a:ext>
            </a:extLst>
          </p:cNvPr>
          <p:cNvPicPr>
            <a:picLocks noChangeAspect="1"/>
          </p:cNvPicPr>
          <p:nvPr/>
        </p:nvPicPr>
        <p:blipFill>
          <a:blip r:embed="rId3"/>
          <a:stretch>
            <a:fillRect/>
          </a:stretch>
        </p:blipFill>
        <p:spPr>
          <a:xfrm>
            <a:off x="168084" y="1680900"/>
            <a:ext cx="5897436" cy="3496200"/>
          </a:xfrm>
          <a:prstGeom prst="rect">
            <a:avLst/>
          </a:prstGeom>
        </p:spPr>
      </p:pic>
      <p:pic>
        <p:nvPicPr>
          <p:cNvPr id="8" name="图片 7">
            <a:extLst>
              <a:ext uri="{FF2B5EF4-FFF2-40B4-BE49-F238E27FC236}">
                <a16:creationId xmlns:a16="http://schemas.microsoft.com/office/drawing/2014/main" id="{6B284AED-D564-3F4E-A606-CF0C7E6ABDCF}"/>
              </a:ext>
            </a:extLst>
          </p:cNvPr>
          <p:cNvPicPr>
            <a:picLocks noChangeAspect="1"/>
          </p:cNvPicPr>
          <p:nvPr/>
        </p:nvPicPr>
        <p:blipFill>
          <a:blip r:embed="rId4"/>
          <a:stretch>
            <a:fillRect/>
          </a:stretch>
        </p:blipFill>
        <p:spPr>
          <a:xfrm>
            <a:off x="6197603" y="1517665"/>
            <a:ext cx="5567678" cy="3795677"/>
          </a:xfrm>
          <a:prstGeom prst="rect">
            <a:avLst/>
          </a:prstGeom>
        </p:spPr>
      </p:pic>
    </p:spTree>
    <p:extLst>
      <p:ext uri="{BB962C8B-B14F-4D97-AF65-F5344CB8AC3E}">
        <p14:creationId xmlns:p14="http://schemas.microsoft.com/office/powerpoint/2010/main" val="1330655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D581-8AE0-E889-B6E5-0843812EDAF2}"/>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A9B8895D-15E3-D986-C7F7-8E55F5E029AC}"/>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B141BF-4050-1B85-6573-1CDB19711B0D}"/>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9D8DA47-5918-01E6-E82E-4A85FD334ED3}"/>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2778857-2408-4905-58DF-3FB9509E060E}"/>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564E6F8C-F47B-3048-046D-31F3964FB4C3}"/>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80C43ED1-1B2A-5F8A-33A4-DC179EFD9067}"/>
              </a:ext>
            </a:extLst>
          </p:cNvPr>
          <p:cNvPicPr>
            <a:picLocks noChangeAspect="1"/>
          </p:cNvPicPr>
          <p:nvPr/>
        </p:nvPicPr>
        <p:blipFill>
          <a:blip r:embed="rId3"/>
          <a:stretch>
            <a:fillRect/>
          </a:stretch>
        </p:blipFill>
        <p:spPr>
          <a:xfrm>
            <a:off x="1074345" y="1658562"/>
            <a:ext cx="9712960" cy="4386678"/>
          </a:xfrm>
          <a:prstGeom prst="rect">
            <a:avLst/>
          </a:prstGeom>
        </p:spPr>
      </p:pic>
      <p:sp>
        <p:nvSpPr>
          <p:cNvPr id="5" name="文本框 4">
            <a:extLst>
              <a:ext uri="{FF2B5EF4-FFF2-40B4-BE49-F238E27FC236}">
                <a16:creationId xmlns:a16="http://schemas.microsoft.com/office/drawing/2014/main" id="{97D63147-4EDE-C9FB-22EC-3DE13D606164}"/>
              </a:ext>
            </a:extLst>
          </p:cNvPr>
          <p:cNvSpPr txBox="1"/>
          <p:nvPr/>
        </p:nvSpPr>
        <p:spPr>
          <a:xfrm>
            <a:off x="657151" y="1182092"/>
            <a:ext cx="1771089" cy="407099"/>
          </a:xfrm>
          <a:prstGeom prst="rect">
            <a:avLst/>
          </a:prstGeom>
          <a:noFill/>
        </p:spPr>
        <p:txBody>
          <a:bodyPr wrap="square">
            <a:spAutoFit/>
          </a:bodyPr>
          <a:lstStyle/>
          <a:p>
            <a:pPr>
              <a:lnSpc>
                <a:spcPct val="125000"/>
              </a:lnSpc>
              <a:spcBef>
                <a:spcPts val="600"/>
              </a:spcBef>
              <a:buClr>
                <a:srgbClr val="000000"/>
              </a:buClr>
              <a:defRPr/>
            </a:pPr>
            <a:r>
              <a:rPr lang="zh-CN" altLang="en-US" b="1" dirty="0">
                <a:latin typeface="Noto Sans SC"/>
                <a:ea typeface="Noto Sans SC"/>
                <a:sym typeface="Arial"/>
              </a:rPr>
              <a:t>案例分析</a:t>
            </a:r>
            <a:endParaRPr lang="en-US" altLang="zh-CN" b="1" dirty="0">
              <a:latin typeface="Noto Sans SC"/>
              <a:ea typeface="Noto Sans SC"/>
              <a:sym typeface="Arial"/>
            </a:endParaRPr>
          </a:p>
        </p:txBody>
      </p:sp>
    </p:spTree>
    <p:extLst>
      <p:ext uri="{BB962C8B-B14F-4D97-AF65-F5344CB8AC3E}">
        <p14:creationId xmlns:p14="http://schemas.microsoft.com/office/powerpoint/2010/main" val="144832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975304" y="496202"/>
            <a:ext cx="10314417" cy="2383925"/>
          </a:xfrm>
        </p:spPr>
        <p:txBody>
          <a:bodyPr/>
          <a:lstStyle/>
          <a:p>
            <a:pPr algn="ctr"/>
            <a:r>
              <a:rPr lang="en-US" altLang="zh-CN" dirty="0">
                <a:solidFill>
                  <a:schemeClr val="accent4">
                    <a:lumMod val="60000"/>
                    <a:lumOff val="40000"/>
                  </a:schemeClr>
                </a:solidFill>
              </a:rPr>
              <a:t>Q &amp; A</a:t>
            </a:r>
            <a:endParaRPr lang="zh-CN" altLang="en-US" dirty="0">
              <a:solidFill>
                <a:schemeClr val="accent4">
                  <a:lumMod val="60000"/>
                  <a:lumOff val="40000"/>
                </a:schemeClr>
              </a:solidFill>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
        <p:nvSpPr>
          <p:cNvPr id="3" name="文本占位符 2">
            <a:extLst>
              <a:ext uri="{FF2B5EF4-FFF2-40B4-BE49-F238E27FC236}">
                <a16:creationId xmlns:a16="http://schemas.microsoft.com/office/drawing/2014/main" id="{F8A12B93-1799-8B8E-0E5C-7249469CA666}"/>
              </a:ext>
            </a:extLst>
          </p:cNvPr>
          <p:cNvSpPr>
            <a:spLocks noGrp="1"/>
          </p:cNvSpPr>
          <p:nvPr>
            <p:ph type="body" sz="quarter" idx="13"/>
          </p:nvPr>
        </p:nvSpPr>
        <p:spPr/>
        <p:txBody>
          <a:bodyPr/>
          <a:lstStyle/>
          <a:p>
            <a:endParaRPr lang="zh-CN" altLang="en-US"/>
          </a:p>
        </p:txBody>
      </p:sp>
      <p:sp>
        <p:nvSpPr>
          <p:cNvPr id="7" name="文本框 6">
            <a:extLst>
              <a:ext uri="{FF2B5EF4-FFF2-40B4-BE49-F238E27FC236}">
                <a16:creationId xmlns:a16="http://schemas.microsoft.com/office/drawing/2014/main" id="{D483D23E-1FA5-8F42-46F0-BCE7717D47FC}"/>
              </a:ext>
            </a:extLst>
          </p:cNvPr>
          <p:cNvSpPr txBox="1"/>
          <p:nvPr/>
        </p:nvSpPr>
        <p:spPr>
          <a:xfrm>
            <a:off x="3779135" y="4084623"/>
            <a:ext cx="6370320" cy="83099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source code of </a:t>
            </a:r>
            <a:r>
              <a:rPr lang="en-US" altLang="zh-CN" sz="2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this work</a:t>
            </a: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is available at </a:t>
            </a:r>
            <a:r>
              <a:rPr lang="en-US" altLang="zh-CN" sz="2400" dirty="0">
                <a:solidFill>
                  <a:schemeClr val="accent4">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https://doi.org/10.5281/zenodo.19491719</a:t>
            </a:r>
            <a:endParaRPr kumimoji="0" lang="zh-CN" altLang="en-US" sz="2000" b="0" i="0" u="none" strike="noStrike" kern="1200" cap="none" spc="0" normalizeH="0" baseline="0" noProof="0" dirty="0">
              <a:ln>
                <a:noFill/>
              </a:ln>
              <a:solidFill>
                <a:schemeClr val="accent4">
                  <a:lumMod val="60000"/>
                  <a:lumOff val="40000"/>
                </a:scheme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descr="QR 代码&#10;&#10;AI 生成的内容可能不正确。">
            <a:extLst>
              <a:ext uri="{FF2B5EF4-FFF2-40B4-BE49-F238E27FC236}">
                <a16:creationId xmlns:a16="http://schemas.microsoft.com/office/drawing/2014/main" id="{CD10550D-9517-297C-44EF-26A0F08A241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18905" y="3867124"/>
            <a:ext cx="1265997" cy="1265997"/>
          </a:xfrm>
          <a:prstGeom prst="rect">
            <a:avLst/>
          </a:prstGeom>
        </p:spPr>
      </p:pic>
      <p:sp>
        <p:nvSpPr>
          <p:cNvPr id="10" name="文本框 9">
            <a:extLst>
              <a:ext uri="{FF2B5EF4-FFF2-40B4-BE49-F238E27FC236}">
                <a16:creationId xmlns:a16="http://schemas.microsoft.com/office/drawing/2014/main" id="{8E129730-E939-EB3B-E280-D2E21BD4FDBF}"/>
              </a:ext>
            </a:extLst>
          </p:cNvPr>
          <p:cNvSpPr txBox="1"/>
          <p:nvPr/>
        </p:nvSpPr>
        <p:spPr>
          <a:xfrm>
            <a:off x="1025705" y="1982450"/>
            <a:ext cx="10190991" cy="1446550"/>
          </a:xfrm>
          <a:prstGeom prst="rect">
            <a:avLst/>
          </a:prstGeom>
          <a:noFill/>
        </p:spPr>
        <p:txBody>
          <a:bodyPr wrap="square">
            <a:spAutoFit/>
          </a:bodyPr>
          <a:lstStyle/>
          <a:p>
            <a:pPr algn="ctr"/>
            <a:r>
              <a:rPr lang="en-US" altLang="zh-CN" sz="4400" dirty="0">
                <a:solidFill>
                  <a:schemeClr val="bg1"/>
                </a:solidFill>
                <a:latin typeface="微软雅黑" panose="020B0503020204020204" pitchFamily="34" charset="-122"/>
                <a:ea typeface="微软雅黑" panose="020B0503020204020204" pitchFamily="34" charset="-122"/>
              </a:rPr>
              <a:t>Please email </a:t>
            </a:r>
            <a:r>
              <a:rPr lang="en-US" altLang="zh-CN" sz="4400" b="1" u="sng" dirty="0">
                <a:solidFill>
                  <a:schemeClr val="accent4">
                    <a:lumMod val="60000"/>
                    <a:lumOff val="40000"/>
                  </a:schemeClr>
                </a:solidFill>
                <a:latin typeface="微软雅黑" panose="020B0503020204020204" pitchFamily="34" charset="-122"/>
                <a:ea typeface="微软雅黑" panose="020B0503020204020204" pitchFamily="34" charset="-122"/>
              </a:rPr>
              <a:t>qyg@nudt.edu.cn </a:t>
            </a:r>
            <a:r>
              <a:rPr lang="en-US" altLang="zh-CN" sz="4400" dirty="0">
                <a:solidFill>
                  <a:schemeClr val="bg1"/>
                </a:solidFill>
                <a:latin typeface="微软雅黑" panose="020B0503020204020204" pitchFamily="34" charset="-122"/>
                <a:ea typeface="微软雅黑" panose="020B0503020204020204" pitchFamily="34" charset="-122"/>
              </a:rPr>
              <a:t>with your questions</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557715" y="2213242"/>
            <a:ext cx="4953007" cy="878595"/>
          </a:xfrm>
        </p:spPr>
        <p:txBody>
          <a:bodyPr/>
          <a:lstStyle/>
          <a:p>
            <a:r>
              <a:rPr lang="zh-CN" altLang="en-US" dirty="0"/>
              <a:t>谢谢</a:t>
            </a:r>
          </a:p>
        </p:txBody>
      </p:sp>
      <p:sp>
        <p:nvSpPr>
          <p:cNvPr id="6" name="文本占位符 5"/>
          <p:cNvSpPr>
            <a:spLocks noGrp="1"/>
          </p:cNvSpPr>
          <p:nvPr>
            <p:ph type="body" sz="quarter" idx="13"/>
          </p:nvPr>
        </p:nvSpPr>
        <p:spPr>
          <a:xfrm>
            <a:off x="616998" y="570584"/>
            <a:ext cx="3538442" cy="445416"/>
          </a:xfrm>
        </p:spPr>
        <p:txBody>
          <a:bodyPr>
            <a:normAutofit fontScale="95000"/>
          </a:bodyPr>
          <a:lstStyle/>
          <a:p>
            <a:r>
              <a:rPr lang="zh-CN" altLang="en-US" dirty="0">
                <a:sym typeface="+mn-ea"/>
              </a:rPr>
              <a:t>汇报人：邱盈钢</a:t>
            </a:r>
            <a:r>
              <a:rPr lang="en-US" altLang="zh-CN" dirty="0">
                <a:sym typeface="+mn-ea"/>
              </a:rPr>
              <a:t>     </a:t>
            </a:r>
            <a:r>
              <a:rPr lang="zh-CN" altLang="en-US" dirty="0">
                <a:sym typeface="+mn-ea"/>
              </a:rPr>
              <a:t>日期：</a:t>
            </a:r>
            <a:r>
              <a:rPr lang="en-US" altLang="zh-CN" dirty="0">
                <a:sym typeface="+mn-ea"/>
              </a:rPr>
              <a:t>2026-5-16</a:t>
            </a:r>
            <a:endParaRPr lang="en-US" altLang="zh-CN"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RhODgwMGNjMzY5NTBlMzdlOTU5MGI3ZWZkNWUyYjIifQ=="/>
  <p:tag name="KSO_WPP_MARK_KEY" val="a5d287d2-1b8e-43e9-a27b-099d6764124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2106</TotalTime>
  <Words>2017</Words>
  <Application>Microsoft Office PowerPoint</Application>
  <PresentationFormat>宽屏</PresentationFormat>
  <Paragraphs>221</Paragraphs>
  <Slides>23</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Adobe Devanagari</vt:lpstr>
      <vt:lpstr>Noto Sans SC</vt:lpstr>
      <vt:lpstr>微软雅黑</vt:lpstr>
      <vt:lpstr>Arial</vt:lpstr>
      <vt:lpstr>Calibri</vt:lpstr>
      <vt:lpstr>Calibri Light</vt:lpstr>
      <vt:lpstr>Cambria Math</vt:lpstr>
      <vt:lpstr>Times New Roman</vt:lpstr>
      <vt:lpstr>Office 主题</vt:lpstr>
      <vt:lpstr>One Size Does Fit All: Exploring Model Fusion for Software Engineering Tasks</vt:lpstr>
      <vt:lpstr>One Size Does Fit All: Exploring Model Fusion for Software Engineering Tasks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dc:creator>
  <cp:lastModifiedBy>盈钢 邱</cp:lastModifiedBy>
  <cp:revision>267</cp:revision>
  <dcterms:created xsi:type="dcterms:W3CDTF">2022-06-24T11:23:00Z</dcterms:created>
  <dcterms:modified xsi:type="dcterms:W3CDTF">2026-05-15T22:09:56Z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46EFE42EC40D4905AF667EC2CD5F8DF7</vt:lpwstr>
  </property>
  <property fmtid="{D5CDD505-2E9C-101B-9397-08002B2CF9AE}" pid="3" name="KSOProductBuildVer">
    <vt:lpwstr>2052-11.1.0.12970</vt:lpwstr>
  </property>
</Properties>
</file>