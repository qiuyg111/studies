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4" Type="http://schemas.openxmlformats.org/officeDocument/2006/relationships/slideLayout" Target="../slideLayouts/slideLayout1.xml"/><Relationship Id="rId63" Type="http://schemas.openxmlformats.org/officeDocument/2006/relationships/tags" Target="../tags/tag28.xml"/><Relationship Id="rId62" Type="http://schemas.openxmlformats.org/officeDocument/2006/relationships/tags" Target="../tags/tag27.xml"/><Relationship Id="rId61" Type="http://schemas.openxmlformats.org/officeDocument/2006/relationships/tags" Target="../tags/tag26.xml"/><Relationship Id="rId60" Type="http://schemas.openxmlformats.org/officeDocument/2006/relationships/image" Target="../media/image35.svg"/><Relationship Id="rId6" Type="http://schemas.openxmlformats.org/officeDocument/2006/relationships/image" Target="../media/image5.png"/><Relationship Id="rId59" Type="http://schemas.openxmlformats.org/officeDocument/2006/relationships/image" Target="../media/image34.png"/><Relationship Id="rId58" Type="http://schemas.openxmlformats.org/officeDocument/2006/relationships/image" Target="../media/image33.svg"/><Relationship Id="rId57" Type="http://schemas.openxmlformats.org/officeDocument/2006/relationships/image" Target="../media/image32.png"/><Relationship Id="rId56" Type="http://schemas.openxmlformats.org/officeDocument/2006/relationships/tags" Target="../tags/tag25.xml"/><Relationship Id="rId55" Type="http://schemas.openxmlformats.org/officeDocument/2006/relationships/tags" Target="../tags/tag24.xml"/><Relationship Id="rId54" Type="http://schemas.openxmlformats.org/officeDocument/2006/relationships/tags" Target="../tags/tag23.xml"/><Relationship Id="rId53" Type="http://schemas.openxmlformats.org/officeDocument/2006/relationships/tags" Target="../tags/tag22.xml"/><Relationship Id="rId52" Type="http://schemas.openxmlformats.org/officeDocument/2006/relationships/tags" Target="../tags/tag21.xml"/><Relationship Id="rId51" Type="http://schemas.openxmlformats.org/officeDocument/2006/relationships/tags" Target="../tags/tag20.xml"/><Relationship Id="rId50" Type="http://schemas.openxmlformats.org/officeDocument/2006/relationships/tags" Target="../tags/tag19.xml"/><Relationship Id="rId5" Type="http://schemas.openxmlformats.org/officeDocument/2006/relationships/image" Target="../media/image4.svg"/><Relationship Id="rId49" Type="http://schemas.openxmlformats.org/officeDocument/2006/relationships/image" Target="../media/image31.svg"/><Relationship Id="rId48" Type="http://schemas.openxmlformats.org/officeDocument/2006/relationships/image" Target="../media/image30.png"/><Relationship Id="rId47" Type="http://schemas.openxmlformats.org/officeDocument/2006/relationships/tags" Target="../tags/tag18.xml"/><Relationship Id="rId46" Type="http://schemas.openxmlformats.org/officeDocument/2006/relationships/image" Target="../media/image29.svg"/><Relationship Id="rId45" Type="http://schemas.openxmlformats.org/officeDocument/2006/relationships/image" Target="../media/image28.png"/><Relationship Id="rId44" Type="http://schemas.openxmlformats.org/officeDocument/2006/relationships/tags" Target="../tags/tag17.xml"/><Relationship Id="rId43" Type="http://schemas.openxmlformats.org/officeDocument/2006/relationships/image" Target="../media/image27.svg"/><Relationship Id="rId42" Type="http://schemas.openxmlformats.org/officeDocument/2006/relationships/tags" Target="../tags/tag16.xml"/><Relationship Id="rId41" Type="http://schemas.openxmlformats.org/officeDocument/2006/relationships/image" Target="../media/image26.png"/><Relationship Id="rId40" Type="http://schemas.openxmlformats.org/officeDocument/2006/relationships/image" Target="../media/image25.svg"/><Relationship Id="rId4" Type="http://schemas.openxmlformats.org/officeDocument/2006/relationships/image" Target="../media/image3.png"/><Relationship Id="rId39" Type="http://schemas.openxmlformats.org/officeDocument/2006/relationships/image" Target="../media/image24.png"/><Relationship Id="rId38" Type="http://schemas.openxmlformats.org/officeDocument/2006/relationships/tags" Target="../tags/tag15.xml"/><Relationship Id="rId37" Type="http://schemas.openxmlformats.org/officeDocument/2006/relationships/tags" Target="../tags/tag14.xml"/><Relationship Id="rId36" Type="http://schemas.openxmlformats.org/officeDocument/2006/relationships/image" Target="../media/image23.svg"/><Relationship Id="rId35" Type="http://schemas.openxmlformats.org/officeDocument/2006/relationships/image" Target="../media/image22.svg"/><Relationship Id="rId34" Type="http://schemas.openxmlformats.org/officeDocument/2006/relationships/image" Target="../media/image21.png"/><Relationship Id="rId33" Type="http://schemas.openxmlformats.org/officeDocument/2006/relationships/image" Target="../media/image20.svg"/><Relationship Id="rId32" Type="http://schemas.openxmlformats.org/officeDocument/2006/relationships/image" Target="../media/image19.png"/><Relationship Id="rId31" Type="http://schemas.openxmlformats.org/officeDocument/2006/relationships/image" Target="../media/image18.svg"/><Relationship Id="rId30" Type="http://schemas.openxmlformats.org/officeDocument/2006/relationships/image" Target="../media/image17.png"/><Relationship Id="rId3" Type="http://schemas.openxmlformats.org/officeDocument/2006/relationships/image" Target="../media/image2.svg"/><Relationship Id="rId29" Type="http://schemas.openxmlformats.org/officeDocument/2006/relationships/tags" Target="../tags/tag13.xml"/><Relationship Id="rId28" Type="http://schemas.openxmlformats.org/officeDocument/2006/relationships/tags" Target="../tags/tag12.xml"/><Relationship Id="rId27" Type="http://schemas.openxmlformats.org/officeDocument/2006/relationships/image" Target="../media/image16.svg"/><Relationship Id="rId26" Type="http://schemas.openxmlformats.org/officeDocument/2006/relationships/image" Target="../media/image15.png"/><Relationship Id="rId25" Type="http://schemas.openxmlformats.org/officeDocument/2006/relationships/tags" Target="../tags/tag11.xml"/><Relationship Id="rId24" Type="http://schemas.openxmlformats.org/officeDocument/2006/relationships/image" Target="../media/image14.svg"/><Relationship Id="rId23" Type="http://schemas.openxmlformats.org/officeDocument/2006/relationships/image" Target="../media/image13.png"/><Relationship Id="rId22" Type="http://schemas.openxmlformats.org/officeDocument/2006/relationships/tags" Target="../tags/tag10.xml"/><Relationship Id="rId21" Type="http://schemas.openxmlformats.org/officeDocument/2006/relationships/tags" Target="../tags/tag9.xml"/><Relationship Id="rId20" Type="http://schemas.openxmlformats.org/officeDocument/2006/relationships/tags" Target="../tags/tag8.xml"/><Relationship Id="rId2" Type="http://schemas.openxmlformats.org/officeDocument/2006/relationships/image" Target="../media/image1.png"/><Relationship Id="rId19" Type="http://schemas.openxmlformats.org/officeDocument/2006/relationships/tags" Target="../tags/tag7.xml"/><Relationship Id="rId18" Type="http://schemas.openxmlformats.org/officeDocument/2006/relationships/tags" Target="../tags/tag6.xml"/><Relationship Id="rId17" Type="http://schemas.openxmlformats.org/officeDocument/2006/relationships/tags" Target="../tags/tag5.xml"/><Relationship Id="rId16" Type="http://schemas.openxmlformats.org/officeDocument/2006/relationships/tags" Target="../tags/tag4.xml"/><Relationship Id="rId15" Type="http://schemas.openxmlformats.org/officeDocument/2006/relationships/tags" Target="../tags/tag3.xml"/><Relationship Id="rId14" Type="http://schemas.openxmlformats.org/officeDocument/2006/relationships/tags" Target="../tags/tag2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25653" y="1010285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5000">
                          <a:srgbClr val="FF9900"/>
                        </a:gs>
                        <a:gs pos="45000">
                          <a:srgbClr val="2AAC68"/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55000">
                          <a:srgbClr val="FF9900"/>
                        </a:gs>
                        <a:gs pos="45000">
                          <a:srgbClr val="2AAC68"/>
                        </a:gs>
                      </a:gsLst>
                      <a:lin ang="0" scaled="0"/>
                    </a:gradFill>
                  </a:tcPr>
                </a:tc>
              </a:tr>
            </a:tbl>
          </a:graphicData>
        </a:graphic>
      </p:graphicFrame>
      <p:pic>
        <p:nvPicPr>
          <p:cNvPr id="11" name="图片 10" descr="领带_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635" y="1640205"/>
            <a:ext cx="192405" cy="192405"/>
          </a:xfrm>
          <a:prstGeom prst="rect">
            <a:avLst/>
          </a:prstGeom>
        </p:spPr>
      </p:pic>
      <p:pic>
        <p:nvPicPr>
          <p:cNvPr id="10" name="图片 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1075690"/>
            <a:ext cx="192405" cy="192405"/>
          </a:xfrm>
          <a:prstGeom prst="rect">
            <a:avLst/>
          </a:prstGeom>
        </p:spPr>
      </p:pic>
      <p:pic>
        <p:nvPicPr>
          <p:cNvPr id="8" name="图片 7" descr="领带_fill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6490" y="1075690"/>
            <a:ext cx="192405" cy="192405"/>
          </a:xfrm>
          <a:prstGeom prst="rect">
            <a:avLst/>
          </a:prstGeom>
        </p:spPr>
      </p:pic>
      <p:pic>
        <p:nvPicPr>
          <p:cNvPr id="41" name="图形 397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015" y="1668780"/>
            <a:ext cx="880110" cy="880110"/>
          </a:xfrm>
          <a:prstGeom prst="rect">
            <a:avLst/>
          </a:prstGeom>
        </p:spPr>
      </p:pic>
      <p:grpSp>
        <p:nvGrpSpPr>
          <p:cNvPr id="120" name="组合 119"/>
          <p:cNvGrpSpPr/>
          <p:nvPr/>
        </p:nvGrpSpPr>
        <p:grpSpPr>
          <a:xfrm>
            <a:off x="2140585" y="2276475"/>
            <a:ext cx="887730" cy="1077595"/>
            <a:chOff x="4073" y="3752"/>
            <a:chExt cx="1398" cy="1697"/>
          </a:xfrm>
        </p:grpSpPr>
        <p:pic>
          <p:nvPicPr>
            <p:cNvPr id="6" name="图形 39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85" y="4063"/>
              <a:ext cx="1386" cy="1386"/>
            </a:xfrm>
            <a:prstGeom prst="rect">
              <a:avLst/>
            </a:prstGeom>
          </p:spPr>
        </p:pic>
        <p:pic>
          <p:nvPicPr>
            <p:cNvPr id="12" name="图片 11" descr="帽子 (1)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073" y="3752"/>
              <a:ext cx="1391" cy="726"/>
            </a:xfrm>
            <a:prstGeom prst="rect">
              <a:avLst/>
            </a:prstGeom>
          </p:spPr>
        </p:pic>
        <p:pic>
          <p:nvPicPr>
            <p:cNvPr id="32" name="图片 31" descr="领带_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70" y="5000"/>
              <a:ext cx="417" cy="417"/>
            </a:xfrm>
            <a:prstGeom prst="rect">
              <a:avLst/>
            </a:prstGeom>
          </p:spPr>
        </p:pic>
      </p:grpSp>
      <p:grpSp>
        <p:nvGrpSpPr>
          <p:cNvPr id="121" name="组合 120"/>
          <p:cNvGrpSpPr/>
          <p:nvPr/>
        </p:nvGrpSpPr>
        <p:grpSpPr>
          <a:xfrm>
            <a:off x="2146300" y="1010285"/>
            <a:ext cx="880110" cy="880110"/>
            <a:chOff x="7348" y="4029"/>
            <a:chExt cx="1386" cy="1386"/>
          </a:xfrm>
        </p:grpSpPr>
        <p:pic>
          <p:nvPicPr>
            <p:cNvPr id="9" name="图形 397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48" y="4029"/>
              <a:ext cx="1386" cy="1386"/>
            </a:xfrm>
            <a:prstGeom prst="rect">
              <a:avLst/>
            </a:prstGeom>
          </p:spPr>
        </p:pic>
        <p:pic>
          <p:nvPicPr>
            <p:cNvPr id="15" name="图片 14" descr="Aviator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29" y="4442"/>
              <a:ext cx="841" cy="388"/>
            </a:xfrm>
            <a:prstGeom prst="rect">
              <a:avLst/>
            </a:prstGeom>
          </p:spPr>
        </p:pic>
        <p:pic>
          <p:nvPicPr>
            <p:cNvPr id="34" name="图片 33" descr="蝴蝶结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869" y="4893"/>
              <a:ext cx="362" cy="362"/>
            </a:xfrm>
            <a:prstGeom prst="rect">
              <a:avLst/>
            </a:prstGeom>
          </p:spPr>
        </p:pic>
      </p:grpSp>
      <p:graphicFrame>
        <p:nvGraphicFramePr>
          <p:cNvPr id="37" name="表格 36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3023870" y="23720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grpSp>
        <p:nvGrpSpPr>
          <p:cNvPr id="129" name="组合 128"/>
          <p:cNvGrpSpPr/>
          <p:nvPr>
            <p:custDataLst>
              <p:tags r:id="rId15"/>
            </p:custDataLst>
          </p:nvPr>
        </p:nvGrpSpPr>
        <p:grpSpPr>
          <a:xfrm>
            <a:off x="5688965" y="2249805"/>
            <a:ext cx="887730" cy="1077595"/>
            <a:chOff x="12631" y="4104"/>
            <a:chExt cx="1398" cy="1697"/>
          </a:xfrm>
        </p:grpSpPr>
        <p:pic>
          <p:nvPicPr>
            <p:cNvPr id="38" name="图形 39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43" y="4415"/>
              <a:ext cx="1386" cy="1386"/>
            </a:xfrm>
            <a:prstGeom prst="rect">
              <a:avLst/>
            </a:prstGeom>
          </p:spPr>
        </p:pic>
        <p:pic>
          <p:nvPicPr>
            <p:cNvPr id="39" name="图片 38" descr="帽子 (1)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31" y="4104"/>
              <a:ext cx="1391" cy="726"/>
            </a:xfrm>
            <a:prstGeom prst="rect">
              <a:avLst/>
            </a:prstGeom>
          </p:spPr>
        </p:pic>
        <p:pic>
          <p:nvPicPr>
            <p:cNvPr id="42" name="图片 41" descr="领带_fill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128" y="5348"/>
              <a:ext cx="417" cy="417"/>
            </a:xfrm>
            <a:prstGeom prst="rect">
              <a:avLst/>
            </a:prstGeom>
          </p:spPr>
        </p:pic>
      </p:grpSp>
      <p:graphicFrame>
        <p:nvGraphicFramePr>
          <p:cNvPr id="45" name="表格 44"/>
          <p:cNvGraphicFramePr>
            <a:graphicFrameLocks noGrp="1"/>
          </p:cNvGraphicFramePr>
          <p:nvPr>
            <p:custDataLst>
              <p:tags r:id="rId19"/>
            </p:custDataLst>
          </p:nvPr>
        </p:nvGraphicFramePr>
        <p:xfrm>
          <a:off x="4824730" y="1011238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pSp>
        <p:nvGrpSpPr>
          <p:cNvPr id="130" name="组合 129"/>
          <p:cNvGrpSpPr/>
          <p:nvPr>
            <p:custDataLst>
              <p:tags r:id="rId20"/>
            </p:custDataLst>
          </p:nvPr>
        </p:nvGrpSpPr>
        <p:grpSpPr>
          <a:xfrm>
            <a:off x="5714365" y="1028065"/>
            <a:ext cx="880110" cy="880110"/>
            <a:chOff x="15320" y="4269"/>
            <a:chExt cx="1386" cy="1386"/>
          </a:xfrm>
        </p:grpSpPr>
        <p:pic>
          <p:nvPicPr>
            <p:cNvPr id="43" name="图形 39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5320" y="4269"/>
              <a:ext cx="1386" cy="1386"/>
            </a:xfrm>
            <a:prstGeom prst="rect">
              <a:avLst/>
            </a:prstGeom>
          </p:spPr>
        </p:pic>
        <p:pic>
          <p:nvPicPr>
            <p:cNvPr id="47" name="图片 46" descr="眼镜"/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5570" y="4456"/>
              <a:ext cx="863" cy="863"/>
            </a:xfrm>
            <a:prstGeom prst="rect">
              <a:avLst/>
            </a:prstGeom>
          </p:spPr>
        </p:pic>
        <p:pic>
          <p:nvPicPr>
            <p:cNvPr id="48" name="图片 47" descr="蝴蝶结 (1)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832" y="5128"/>
              <a:ext cx="363" cy="363"/>
            </a:xfrm>
            <a:prstGeom prst="rect">
              <a:avLst/>
            </a:prstGeom>
          </p:spPr>
        </p:pic>
      </p:grpSp>
      <p:graphicFrame>
        <p:nvGraphicFramePr>
          <p:cNvPr id="60" name="表格 59"/>
          <p:cNvGraphicFramePr>
            <a:graphicFrameLocks noGrp="1"/>
          </p:cNvGraphicFramePr>
          <p:nvPr>
            <p:custDataLst>
              <p:tags r:id="rId28"/>
            </p:custDataLst>
          </p:nvPr>
        </p:nvGraphicFramePr>
        <p:xfrm>
          <a:off x="7125653" y="2371725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6D1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sp>
        <p:nvSpPr>
          <p:cNvPr id="63" name="箭头: 下 27"/>
          <p:cNvSpPr/>
          <p:nvPr/>
        </p:nvSpPr>
        <p:spPr>
          <a:xfrm rot="17940000">
            <a:off x="1638753" y="211384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64" name="箭头: 下 27"/>
          <p:cNvSpPr/>
          <p:nvPr/>
        </p:nvSpPr>
        <p:spPr>
          <a:xfrm rot="14580000">
            <a:off x="1677455" y="1206523"/>
            <a:ext cx="100800" cy="8028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1" name="箭头: 下 27"/>
          <p:cNvSpPr/>
          <p:nvPr>
            <p:custDataLst>
              <p:tags r:id="rId29"/>
            </p:custDataLst>
          </p:nvPr>
        </p:nvSpPr>
        <p:spPr>
          <a:xfrm rot="16200000">
            <a:off x="6751955" y="1249680"/>
            <a:ext cx="85725" cy="5676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3" name="箭头: 下 27"/>
          <p:cNvSpPr/>
          <p:nvPr/>
        </p:nvSpPr>
        <p:spPr>
          <a:xfrm rot="16200000">
            <a:off x="4368142" y="1238663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4115435" y="1178560"/>
            <a:ext cx="61087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Scale up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3325495" y="68580"/>
            <a:ext cx="5200015" cy="841375"/>
          </a:xfrm>
          <a:prstGeom prst="roundRect">
            <a:avLst/>
          </a:prstGeom>
          <a:solidFill>
            <a:srgbClr val="FFEFBE"/>
          </a:solidFill>
          <a:ln>
            <a:solidFill>
              <a:srgbClr val="FFEFB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70" name="组合 169"/>
          <p:cNvGrpSpPr/>
          <p:nvPr/>
        </p:nvGrpSpPr>
        <p:grpSpPr>
          <a:xfrm>
            <a:off x="1548573" y="1271266"/>
            <a:ext cx="288000" cy="288000"/>
            <a:chOff x="3957049" y="2239041"/>
            <a:chExt cx="570929" cy="518597"/>
          </a:xfrm>
        </p:grpSpPr>
        <p:pic>
          <p:nvPicPr>
            <p:cNvPr id="171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172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173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pic>
        <p:nvPicPr>
          <p:cNvPr id="174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562035" y="2142140"/>
            <a:ext cx="288000" cy="288000"/>
          </a:xfrm>
          <a:prstGeom prst="rect">
            <a:avLst/>
          </a:prstGeom>
        </p:spPr>
      </p:pic>
      <p:grpSp>
        <p:nvGrpSpPr>
          <p:cNvPr id="94" name="组合 93"/>
          <p:cNvGrpSpPr/>
          <p:nvPr/>
        </p:nvGrpSpPr>
        <p:grpSpPr>
          <a:xfrm>
            <a:off x="3420110" y="133033"/>
            <a:ext cx="5010785" cy="712470"/>
            <a:chOff x="1357" y="229"/>
            <a:chExt cx="7891" cy="1122"/>
          </a:xfrm>
        </p:grpSpPr>
        <p:grpSp>
          <p:nvGrpSpPr>
            <p:cNvPr id="218" name="组合 217"/>
            <p:cNvGrpSpPr/>
            <p:nvPr/>
          </p:nvGrpSpPr>
          <p:grpSpPr>
            <a:xfrm>
              <a:off x="1357" y="229"/>
              <a:ext cx="2014" cy="1123"/>
              <a:chOff x="8939" y="2055"/>
              <a:chExt cx="2014" cy="1123"/>
            </a:xfrm>
          </p:grpSpPr>
          <p:grpSp>
            <p:nvGrpSpPr>
              <p:cNvPr id="177" name="组合 176"/>
              <p:cNvGrpSpPr/>
              <p:nvPr/>
            </p:nvGrpSpPr>
            <p:grpSpPr>
              <a:xfrm rot="0">
                <a:off x="8939" y="2725"/>
                <a:ext cx="454" cy="453"/>
                <a:chOff x="3957049" y="2239041"/>
                <a:chExt cx="570929" cy="518597"/>
              </a:xfrm>
            </p:grpSpPr>
            <p:pic>
              <p:nvPicPr>
                <p:cNvPr id="178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179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180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  <p:pic>
            <p:nvPicPr>
              <p:cNvPr id="181" name="图形 15"/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8939" y="2079"/>
                <a:ext cx="454" cy="453"/>
              </a:xfrm>
              <a:prstGeom prst="rect">
                <a:avLst/>
              </a:prstGeom>
            </p:spPr>
          </p:pic>
          <p:sp>
            <p:nvSpPr>
              <p:cNvPr id="184" name="文本框 183"/>
              <p:cNvSpPr txBox="1"/>
              <p:nvPr/>
            </p:nvSpPr>
            <p:spPr>
              <a:xfrm>
                <a:off x="9285" y="2055"/>
                <a:ext cx="166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Code Sum.</a:t>
                </a:r>
                <a:endParaRPr lang="en-US" altLang="zh-CN" sz="1200" b="1"/>
              </a:p>
            </p:txBody>
          </p:sp>
          <p:sp>
            <p:nvSpPr>
              <p:cNvPr id="185" name="文本框 184"/>
              <p:cNvSpPr txBox="1"/>
              <p:nvPr/>
            </p:nvSpPr>
            <p:spPr>
              <a:xfrm>
                <a:off x="9285" y="2678"/>
                <a:ext cx="1606" cy="434"/>
              </a:xfrm>
              <a:prstGeom prst="rect">
                <a:avLst/>
              </a:prstGeom>
              <a:noFill/>
            </p:spPr>
            <p:txBody>
              <a:bodyPr wrap="square" rIns="0" rtlCol="0">
                <a:spAutoFit/>
              </a:bodyPr>
              <a:p>
                <a:pPr indent="0" fontAlgn="ctr"/>
                <a:r>
                  <a:rPr lang="en-US" altLang="zh-CN" sz="1200" b="1"/>
                  <a:t>Vul. Detection</a:t>
                </a:r>
                <a:endParaRPr lang="en-US" altLang="zh-CN" sz="1200" b="1"/>
              </a:p>
            </p:txBody>
          </p:sp>
        </p:grpSp>
        <p:grpSp>
          <p:nvGrpSpPr>
            <p:cNvPr id="215" name="组合 214"/>
            <p:cNvGrpSpPr/>
            <p:nvPr/>
          </p:nvGrpSpPr>
          <p:grpSpPr>
            <a:xfrm>
              <a:off x="3765" y="272"/>
              <a:ext cx="2449" cy="1061"/>
              <a:chOff x="10954" y="2055"/>
              <a:chExt cx="2449" cy="1061"/>
            </a:xfrm>
          </p:grpSpPr>
          <p:grpSp>
            <p:nvGrpSpPr>
              <p:cNvPr id="190" name="组合 189"/>
              <p:cNvGrpSpPr/>
              <p:nvPr/>
            </p:nvGrpSpPr>
            <p:grpSpPr>
              <a:xfrm rot="0">
                <a:off x="10954" y="2107"/>
                <a:ext cx="838" cy="454"/>
                <a:chOff x="11067" y="2084"/>
                <a:chExt cx="838" cy="454"/>
              </a:xfrm>
            </p:grpSpPr>
            <p:pic>
              <p:nvPicPr>
                <p:cNvPr id="188" name="图片 187" descr="帽子 (1)"/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427" y="2169"/>
                  <a:ext cx="478" cy="283"/>
                </a:xfrm>
                <a:prstGeom prst="rect">
                  <a:avLst/>
                </a:prstGeom>
              </p:spPr>
            </p:pic>
            <p:pic>
              <p:nvPicPr>
                <p:cNvPr id="189" name="图片 188" descr="领带_fill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67" y="2084"/>
                  <a:ext cx="454" cy="454"/>
                </a:xfrm>
                <a:prstGeom prst="rect">
                  <a:avLst/>
                </a:prstGeom>
              </p:spPr>
            </p:pic>
          </p:grpSp>
          <p:pic>
            <p:nvPicPr>
              <p:cNvPr id="191" name="图片 190" descr="Aviator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10976" y="2860"/>
                <a:ext cx="397" cy="183"/>
              </a:xfrm>
              <a:prstGeom prst="rect">
                <a:avLst/>
              </a:prstGeom>
            </p:spPr>
          </p:pic>
          <p:pic>
            <p:nvPicPr>
              <p:cNvPr id="192" name="图片 191" descr="蝴蝶结"/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383" y="2753"/>
                <a:ext cx="340" cy="340"/>
              </a:xfrm>
              <a:prstGeom prst="rect">
                <a:avLst/>
              </a:prstGeom>
            </p:spPr>
          </p:pic>
          <p:sp>
            <p:nvSpPr>
              <p:cNvPr id="195" name="文本框 194"/>
              <p:cNvSpPr txBox="1"/>
              <p:nvPr/>
            </p:nvSpPr>
            <p:spPr>
              <a:xfrm>
                <a:off x="11635" y="2055"/>
                <a:ext cx="154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 </a:t>
                </a:r>
                <a:endParaRPr lang="en-US" altLang="zh-CN" sz="1200" b="1">
                  <a:sym typeface="+mn-ea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11635" y="2678"/>
                <a:ext cx="154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 </a:t>
                </a:r>
                <a:endParaRPr lang="en-US" altLang="zh-CN" sz="1200" b="1">
                  <a:sym typeface="+mn-ea"/>
                </a:endParaRPr>
              </a:p>
            </p:txBody>
          </p:sp>
          <p:pic>
            <p:nvPicPr>
              <p:cNvPr id="198" name="图形 15"/>
              <p:cNvPicPr>
                <a:picLocks noChangeAspect="1"/>
              </p:cNvPicPr>
              <p:nvPr/>
            </p:nvPicPr>
            <p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/>
              </a:stretch>
            </p:blipFill>
            <p:spPr>
              <a:xfrm>
                <a:off x="12972" y="2067"/>
                <a:ext cx="397" cy="396"/>
              </a:xfrm>
              <a:prstGeom prst="rect">
                <a:avLst/>
              </a:prstGeom>
            </p:spPr>
          </p:pic>
          <p:grpSp>
            <p:nvGrpSpPr>
              <p:cNvPr id="199" name="组合 198"/>
              <p:cNvGrpSpPr/>
              <p:nvPr/>
            </p:nvGrpSpPr>
            <p:grpSpPr>
              <a:xfrm rot="0">
                <a:off x="13006" y="2719"/>
                <a:ext cx="397" cy="397"/>
                <a:chOff x="3957049" y="2239041"/>
                <a:chExt cx="570929" cy="518597"/>
              </a:xfrm>
            </p:grpSpPr>
            <p:pic>
              <p:nvPicPr>
                <p:cNvPr id="200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201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202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16" name="组合 215"/>
            <p:cNvGrpSpPr/>
            <p:nvPr/>
          </p:nvGrpSpPr>
          <p:grpSpPr>
            <a:xfrm>
              <a:off x="6608" y="284"/>
              <a:ext cx="2641" cy="724"/>
              <a:chOff x="13579" y="1432"/>
              <a:chExt cx="2641" cy="724"/>
            </a:xfrm>
          </p:grpSpPr>
          <p:pic>
            <p:nvPicPr>
              <p:cNvPr id="203" name="图片 202" descr="眼镜"/>
              <p:cNvPicPr>
                <a:picLocks noChangeAspect="1"/>
              </p:cNvPicPr>
              <p:nvPr>
                <p:custDataLst>
                  <p:tags r:id="rId37"/>
                </p:custDataLst>
              </p:nvPr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3579" y="1439"/>
                <a:ext cx="454" cy="454"/>
              </a:xfrm>
              <a:prstGeom prst="rect">
                <a:avLst/>
              </a:prstGeom>
            </p:spPr>
          </p:pic>
          <p:pic>
            <p:nvPicPr>
              <p:cNvPr id="204" name="图片 203" descr="蝴蝶结 (1)"/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14059" y="1451"/>
                <a:ext cx="363" cy="363"/>
              </a:xfrm>
              <a:prstGeom prst="rect">
                <a:avLst/>
              </a:prstGeom>
            </p:spPr>
          </p:pic>
          <p:sp>
            <p:nvSpPr>
              <p:cNvPr id="205" name="文本框 204"/>
              <p:cNvSpPr txBox="1"/>
              <p:nvPr/>
            </p:nvSpPr>
            <p:spPr>
              <a:xfrm>
                <a:off x="14422" y="1432"/>
                <a:ext cx="154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Features for</a:t>
                </a:r>
                <a:endParaRPr lang="en-US" altLang="zh-CN" sz="1200" b="1">
                  <a:sym typeface="+mn-ea"/>
                </a:endParaRPr>
              </a:p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after Scaling </a:t>
                </a:r>
                <a:endParaRPr lang="en-US" altLang="zh-CN" sz="1200" b="1">
                  <a:sym typeface="+mn-ea"/>
                </a:endParaRPr>
              </a:p>
            </p:txBody>
          </p:sp>
          <p:grpSp>
            <p:nvGrpSpPr>
              <p:cNvPr id="206" name="组合 205"/>
              <p:cNvGrpSpPr/>
              <p:nvPr/>
            </p:nvGrpSpPr>
            <p:grpSpPr>
              <a:xfrm>
                <a:off x="15824" y="1481"/>
                <a:ext cx="397" cy="397"/>
                <a:chOff x="3957049" y="2239041"/>
                <a:chExt cx="570929" cy="518597"/>
              </a:xfrm>
            </p:grpSpPr>
            <p:pic>
              <p:nvPicPr>
                <p:cNvPr id="207" name="图形 440"/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57049" y="2239041"/>
                  <a:ext cx="434982" cy="434980"/>
                </a:xfrm>
                <a:prstGeom prst="rect">
                  <a:avLst/>
                </a:prstGeom>
              </p:spPr>
            </p:pic>
            <p:sp>
              <p:nvSpPr>
                <p:cNvPr id="208" name="任意多边形: 形状 37"/>
                <p:cNvSpPr/>
                <p:nvPr/>
              </p:nvSpPr>
              <p:spPr>
                <a:xfrm>
                  <a:off x="4141654" y="2399302"/>
                  <a:ext cx="337983" cy="330622"/>
                </a:xfrm>
                <a:custGeom>
                  <a:avLst/>
                  <a:gdLst>
                    <a:gd name="connsiteX0" fmla="*/ -432 w 326293"/>
                    <a:gd name="connsiteY0" fmla="*/ 171393 h 343466"/>
                    <a:gd name="connsiteX1" fmla="*/ 162715 w 326293"/>
                    <a:gd name="connsiteY1" fmla="*/ -340 h 343466"/>
                    <a:gd name="connsiteX2" fmla="*/ 325861 w 326293"/>
                    <a:gd name="connsiteY2" fmla="*/ 171393 h 343466"/>
                    <a:gd name="connsiteX3" fmla="*/ 162715 w 326293"/>
                    <a:gd name="connsiteY3" fmla="*/ 343126 h 343466"/>
                    <a:gd name="connsiteX4" fmla="*/ -432 w 326293"/>
                    <a:gd name="connsiteY4" fmla="*/ 171393 h 3434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293" h="343466">
                      <a:moveTo>
                        <a:pt x="-432" y="171393"/>
                      </a:moveTo>
                      <a:cubicBezTo>
                        <a:pt x="-432" y="76548"/>
                        <a:pt x="72623" y="-340"/>
                        <a:pt x="162715" y="-340"/>
                      </a:cubicBezTo>
                      <a:cubicBezTo>
                        <a:pt x="252806" y="-340"/>
                        <a:pt x="325861" y="76548"/>
                        <a:pt x="325861" y="171393"/>
                      </a:cubicBezTo>
                      <a:cubicBezTo>
                        <a:pt x="325861" y="266238"/>
                        <a:pt x="252806" y="343126"/>
                        <a:pt x="162715" y="343126"/>
                      </a:cubicBezTo>
                      <a:cubicBezTo>
                        <a:pt x="72623" y="343126"/>
                        <a:pt x="-432" y="266238"/>
                        <a:pt x="-432" y="1713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432" cap="flat">
                  <a:noFill/>
                  <a:prstDash val="solid"/>
                  <a:miter/>
                </a:ln>
              </p:spPr>
              <p:txBody>
                <a:bodyPr rtlCol="0" anchor="ctr"/>
                <a:p>
                  <a:endParaRPr lang="zh-CN" altLang="en-US" sz="1400"/>
                </a:p>
              </p:txBody>
            </p:sp>
            <p:pic>
              <p:nvPicPr>
                <p:cNvPr id="209" name="图形 38"/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52653" y="2408845"/>
                  <a:ext cx="375325" cy="348793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27" name="图片 226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2395" y="4628515"/>
            <a:ext cx="11966575" cy="1921510"/>
          </a:xfrm>
          <a:prstGeom prst="rect">
            <a:avLst/>
          </a:prstGeom>
        </p:spPr>
      </p:pic>
      <p:graphicFrame>
        <p:nvGraphicFramePr>
          <p:cNvPr id="228" name="表格 227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3023870" y="102203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229" name="图片 228" descr="Aviator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044825" y="1409700"/>
            <a:ext cx="236220" cy="109220"/>
          </a:xfrm>
          <a:prstGeom prst="rect">
            <a:avLst/>
          </a:prstGeom>
        </p:spPr>
      </p:pic>
      <p:pic>
        <p:nvPicPr>
          <p:cNvPr id="230" name="图片 229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33115" y="1045210"/>
            <a:ext cx="229870" cy="229870"/>
          </a:xfrm>
          <a:prstGeom prst="rect">
            <a:avLst/>
          </a:prstGeom>
        </p:spPr>
      </p:pic>
      <p:pic>
        <p:nvPicPr>
          <p:cNvPr id="231" name="图片 230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27120" y="1626235"/>
            <a:ext cx="229870" cy="229870"/>
          </a:xfrm>
          <a:prstGeom prst="rect">
            <a:avLst/>
          </a:prstGeom>
        </p:spPr>
      </p:pic>
      <p:pic>
        <p:nvPicPr>
          <p:cNvPr id="232" name="图片 231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31210" y="2737485"/>
            <a:ext cx="261620" cy="136525"/>
          </a:xfrm>
          <a:prstGeom prst="rect">
            <a:avLst/>
          </a:prstGeom>
        </p:spPr>
      </p:pic>
      <p:pic>
        <p:nvPicPr>
          <p:cNvPr id="233" name="图片 23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38475" y="3029585"/>
            <a:ext cx="261620" cy="136525"/>
          </a:xfrm>
          <a:prstGeom prst="rect">
            <a:avLst/>
          </a:prstGeom>
        </p:spPr>
      </p:pic>
      <p:pic>
        <p:nvPicPr>
          <p:cNvPr id="234" name="图片 233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9945" y="2433320"/>
            <a:ext cx="192405" cy="192405"/>
          </a:xfrm>
          <a:prstGeom prst="rect">
            <a:avLst/>
          </a:prstGeom>
        </p:spPr>
      </p:pic>
      <p:pic>
        <p:nvPicPr>
          <p:cNvPr id="236" name="图片 235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433320"/>
            <a:ext cx="192405" cy="192405"/>
          </a:xfrm>
          <a:prstGeom prst="rect">
            <a:avLst/>
          </a:prstGeom>
        </p:spPr>
      </p:pic>
      <p:pic>
        <p:nvPicPr>
          <p:cNvPr id="237" name="图片 236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987040"/>
            <a:ext cx="192405" cy="192405"/>
          </a:xfrm>
          <a:prstGeom prst="rect">
            <a:avLst/>
          </a:prstGeom>
        </p:spPr>
      </p:pic>
      <p:pic>
        <p:nvPicPr>
          <p:cNvPr id="238" name="图片 237" descr="Aviator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148195" y="2748280"/>
            <a:ext cx="236220" cy="109220"/>
          </a:xfrm>
          <a:prstGeom prst="rect">
            <a:avLst/>
          </a:prstGeom>
        </p:spPr>
      </p:pic>
      <p:pic>
        <p:nvPicPr>
          <p:cNvPr id="239" name="图片 238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6490" y="2437130"/>
            <a:ext cx="192405" cy="192405"/>
          </a:xfrm>
          <a:prstGeom prst="rect">
            <a:avLst/>
          </a:prstGeom>
        </p:spPr>
      </p:pic>
      <p:pic>
        <p:nvPicPr>
          <p:cNvPr id="240" name="图片 23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2437130"/>
            <a:ext cx="192405" cy="192405"/>
          </a:xfrm>
          <a:prstGeom prst="rect">
            <a:avLst/>
          </a:prstGeom>
        </p:spPr>
      </p:pic>
      <p:pic>
        <p:nvPicPr>
          <p:cNvPr id="241" name="图片 240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635" y="3001645"/>
            <a:ext cx="192405" cy="192405"/>
          </a:xfrm>
          <a:prstGeom prst="rect">
            <a:avLst/>
          </a:prstGeom>
        </p:spPr>
      </p:pic>
      <p:pic>
        <p:nvPicPr>
          <p:cNvPr id="242" name="图片 241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25970" y="3034030"/>
            <a:ext cx="261620" cy="136525"/>
          </a:xfrm>
          <a:prstGeom prst="rect">
            <a:avLst/>
          </a:prstGeom>
        </p:spPr>
      </p:pic>
      <p:pic>
        <p:nvPicPr>
          <p:cNvPr id="243" name="图片 24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325" y="2733040"/>
            <a:ext cx="261620" cy="136525"/>
          </a:xfrm>
          <a:prstGeom prst="rect">
            <a:avLst/>
          </a:prstGeom>
        </p:spPr>
      </p:pic>
      <p:pic>
        <p:nvPicPr>
          <p:cNvPr id="2" name="图片 1" descr="眼镜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59655" y="1339215"/>
            <a:ext cx="237600" cy="237600"/>
          </a:xfrm>
          <a:prstGeom prst="rect">
            <a:avLst/>
          </a:prstGeom>
        </p:spPr>
      </p:pic>
      <p:pic>
        <p:nvPicPr>
          <p:cNvPr id="3" name="图片 2" descr="蝴蝶结 (1)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5134928" y="1034415"/>
            <a:ext cx="230505" cy="230505"/>
          </a:xfrm>
          <a:prstGeom prst="rect">
            <a:avLst/>
          </a:prstGeom>
        </p:spPr>
      </p:pic>
      <p:pic>
        <p:nvPicPr>
          <p:cNvPr id="4" name="图片 3" descr="蝴蝶结 (1)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5444173" y="1614805"/>
            <a:ext cx="230505" cy="230505"/>
          </a:xfrm>
          <a:prstGeom prst="rect">
            <a:avLst/>
          </a:prstGeom>
        </p:spPr>
      </p:pic>
      <p:pic>
        <p:nvPicPr>
          <p:cNvPr id="13" name="图片 12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25970" y="1672590"/>
            <a:ext cx="261620" cy="136525"/>
          </a:xfrm>
          <a:prstGeom prst="rect">
            <a:avLst/>
          </a:prstGeom>
        </p:spPr>
      </p:pic>
      <p:pic>
        <p:nvPicPr>
          <p:cNvPr id="14" name="图片 13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6325" y="1371600"/>
            <a:ext cx="261620" cy="136525"/>
          </a:xfrm>
          <a:prstGeom prst="rect">
            <a:avLst/>
          </a:prstGeom>
        </p:spPr>
      </p:pic>
      <p:pic>
        <p:nvPicPr>
          <p:cNvPr id="17" name="图片 16" descr="眼镜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50100" y="1327785"/>
            <a:ext cx="237600" cy="237600"/>
          </a:xfrm>
          <a:prstGeom prst="rect">
            <a:avLst/>
          </a:prstGeom>
        </p:spPr>
      </p:pic>
      <p:sp>
        <p:nvSpPr>
          <p:cNvPr id="18" name="箭头: 下 27"/>
          <p:cNvSpPr/>
          <p:nvPr/>
        </p:nvSpPr>
        <p:spPr>
          <a:xfrm rot="16200000">
            <a:off x="4368777" y="2584228"/>
            <a:ext cx="72000" cy="432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39235" y="2548890"/>
            <a:ext cx="785495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Maintain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custDataLst>
              <p:tags r:id="rId50"/>
            </p:custDataLst>
          </p:nvPr>
        </p:nvGraphicFramePr>
        <p:xfrm>
          <a:off x="4824730" y="2371408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rgbClr val="FFFFFF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2070" y="2736850"/>
            <a:ext cx="261620" cy="136525"/>
          </a:xfrm>
          <a:prstGeom prst="rect">
            <a:avLst/>
          </a:prstGeom>
        </p:spPr>
      </p:pic>
      <p:pic>
        <p:nvPicPr>
          <p:cNvPr id="24" name="图片 23" descr="帽子 (1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39335" y="3028950"/>
            <a:ext cx="261620" cy="136525"/>
          </a:xfrm>
          <a:prstGeom prst="rect">
            <a:avLst/>
          </a:prstGeom>
        </p:spPr>
      </p:pic>
      <p:pic>
        <p:nvPicPr>
          <p:cNvPr id="29" name="图片 28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0805" y="2432685"/>
            <a:ext cx="192405" cy="192405"/>
          </a:xfrm>
          <a:prstGeom prst="rect">
            <a:avLst/>
          </a:prstGeom>
        </p:spPr>
      </p:pic>
      <p:pic>
        <p:nvPicPr>
          <p:cNvPr id="30" name="图片 29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5760" y="2432685"/>
            <a:ext cx="192405" cy="192405"/>
          </a:xfrm>
          <a:prstGeom prst="rect">
            <a:avLst/>
          </a:prstGeom>
        </p:spPr>
      </p:pic>
      <p:pic>
        <p:nvPicPr>
          <p:cNvPr id="44" name="图片 43" descr="领带_fil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5760" y="2986405"/>
            <a:ext cx="192405" cy="192405"/>
          </a:xfrm>
          <a:prstGeom prst="rect">
            <a:avLst/>
          </a:prstGeom>
        </p:spPr>
      </p:pic>
      <p:sp>
        <p:nvSpPr>
          <p:cNvPr id="52" name="箭头: 下 27"/>
          <p:cNvSpPr/>
          <p:nvPr>
            <p:custDataLst>
              <p:tags r:id="rId51"/>
            </p:custDataLst>
          </p:nvPr>
        </p:nvSpPr>
        <p:spPr>
          <a:xfrm rot="12240000" flipH="1">
            <a:off x="6747153" y="1595412"/>
            <a:ext cx="86400" cy="134048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559550" y="1264920"/>
            <a:ext cx="51943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400" b="1" i="1">
                <a:solidFill>
                  <a:schemeClr val="tx1"/>
                </a:solidFill>
                <a:sym typeface="+mn-ea"/>
              </a:rPr>
              <a:t>Fusion</a:t>
            </a:r>
            <a:endParaRPr lang="en-US" altLang="zh-CN" sz="1400" b="1" i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55" name="肘形连接符 54"/>
          <p:cNvCxnSpPr/>
          <p:nvPr/>
        </p:nvCxnSpPr>
        <p:spPr>
          <a:xfrm>
            <a:off x="3889375" y="1443990"/>
            <a:ext cx="3668395" cy="2223135"/>
          </a:xfrm>
          <a:prstGeom prst="bentConnector4">
            <a:avLst>
              <a:gd name="adj1" fmla="val 3358"/>
              <a:gd name="adj2" fmla="val 11071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肘形连接符 55"/>
          <p:cNvCxnSpPr>
            <a:stCxn id="37" idx="3"/>
            <a:endCxn id="72" idx="2"/>
          </p:cNvCxnSpPr>
          <p:nvPr/>
        </p:nvCxnSpPr>
        <p:spPr>
          <a:xfrm>
            <a:off x="3888105" y="2804795"/>
            <a:ext cx="3670300" cy="862330"/>
          </a:xfrm>
          <a:prstGeom prst="bentConnector4">
            <a:avLst>
              <a:gd name="adj1" fmla="val 3287"/>
              <a:gd name="adj2" fmla="val 12761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4" name="文本框 473"/>
          <p:cNvSpPr txBox="1"/>
          <p:nvPr/>
        </p:nvSpPr>
        <p:spPr>
          <a:xfrm>
            <a:off x="5064611" y="3495669"/>
            <a:ext cx="15865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charset="-122"/>
                <a:ea typeface="微软雅黑" panose="020B0503020204020204" charset="-122"/>
                <a:rtl val="0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rPr>
              <a:t>Direct Max Fusion</a:t>
            </a:r>
            <a:endParaRPr lang="en-US" altLang="zh-CN" sz="1400" i="1">
              <a:solidFill>
                <a:schemeClr val="tx1"/>
              </a:solidFill>
              <a:latin typeface="+mn-lt"/>
              <a:ea typeface="+mn-ea"/>
              <a:sym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220585" y="2150745"/>
            <a:ext cx="448310" cy="219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200" b="1">
                <a:solidFill>
                  <a:srgbClr val="00259A"/>
                </a:solidFill>
                <a:latin typeface="微软雅黑" panose="020B0503020204020204" charset="-122"/>
                <a:ea typeface="微软雅黑" panose="020B0503020204020204" charset="-122"/>
                <a:rtl val="0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400" i="1">
                <a:solidFill>
                  <a:schemeClr val="tx1"/>
                </a:solidFill>
                <a:latin typeface="+mn-lt"/>
                <a:ea typeface="+mn-ea"/>
                <a:sym typeface="微软雅黑" panose="020B0503020204020204" charset="-122"/>
              </a:rPr>
              <a:t>Loss </a:t>
            </a:r>
            <a:endParaRPr lang="en-US" altLang="zh-CN" sz="1400" i="1">
              <a:solidFill>
                <a:schemeClr val="tx1"/>
              </a:solidFill>
              <a:latin typeface="+mn-lt"/>
              <a:ea typeface="+mn-ea"/>
              <a:sym typeface="微软雅黑" panose="020B0503020204020204" charset="-122"/>
            </a:endParaRPr>
          </a:p>
        </p:txBody>
      </p:sp>
      <p:pic>
        <p:nvPicPr>
          <p:cNvPr id="58" name="图片 57" descr="蝴蝶结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5555" y="2142490"/>
            <a:ext cx="229870" cy="229870"/>
          </a:xfrm>
          <a:prstGeom prst="rect">
            <a:avLst/>
          </a:prstGeom>
        </p:spPr>
      </p:pic>
      <p:graphicFrame>
        <p:nvGraphicFramePr>
          <p:cNvPr id="59" name="表格 58"/>
          <p:cNvGraphicFramePr>
            <a:graphicFrameLocks noGrp="1"/>
          </p:cNvGraphicFramePr>
          <p:nvPr>
            <p:custDataLst>
              <p:tags r:id="rId52"/>
            </p:custDataLst>
          </p:nvPr>
        </p:nvGraphicFramePr>
        <p:xfrm>
          <a:off x="8180070" y="2363470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6" name="表格 65"/>
          <p:cNvGraphicFramePr>
            <a:graphicFrameLocks noGrp="1"/>
          </p:cNvGraphicFramePr>
          <p:nvPr>
            <p:custDataLst>
              <p:tags r:id="rId53"/>
            </p:custDataLst>
          </p:nvPr>
        </p:nvGraphicFramePr>
        <p:xfrm>
          <a:off x="8180070" y="2850515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67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556560" y="2906045"/>
            <a:ext cx="288000" cy="288000"/>
          </a:xfrm>
          <a:prstGeom prst="rect">
            <a:avLst/>
          </a:prstGeom>
        </p:spPr>
      </p:pic>
      <p:grpSp>
        <p:nvGrpSpPr>
          <p:cNvPr id="68" name="组合 67"/>
          <p:cNvGrpSpPr/>
          <p:nvPr/>
        </p:nvGrpSpPr>
        <p:grpSpPr>
          <a:xfrm>
            <a:off x="8577388" y="2430141"/>
            <a:ext cx="288000" cy="288000"/>
            <a:chOff x="3957049" y="2239041"/>
            <a:chExt cx="570929" cy="518597"/>
          </a:xfrm>
        </p:grpSpPr>
        <p:pic>
          <p:nvPicPr>
            <p:cNvPr id="69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70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71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72" name="文本框 71"/>
          <p:cNvSpPr txBox="1"/>
          <p:nvPr/>
        </p:nvSpPr>
        <p:spPr>
          <a:xfrm>
            <a:off x="7182168" y="3236595"/>
            <a:ext cx="75120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indent="0" algn="ctr" fontAlgn="auto"/>
            <a:r>
              <a:rPr lang="en-US" altLang="zh-CN" sz="1400"/>
              <a:t>Fusion </a:t>
            </a:r>
            <a:endParaRPr lang="en-US" altLang="zh-CN" sz="1400"/>
          </a:p>
          <a:p>
            <a:pPr indent="0" algn="ctr" fontAlgn="auto"/>
            <a:r>
              <a:rPr lang="en-US" altLang="zh-CN" sz="1400"/>
              <a:t>Params</a:t>
            </a:r>
            <a:endParaRPr lang="en-US" altLang="zh-CN" sz="1400"/>
          </a:p>
        </p:txBody>
      </p:sp>
      <p:sp>
        <p:nvSpPr>
          <p:cNvPr id="73" name="文本框 72"/>
          <p:cNvSpPr txBox="1"/>
          <p:nvPr/>
        </p:nvSpPr>
        <p:spPr>
          <a:xfrm>
            <a:off x="8020685" y="3235325"/>
            <a:ext cx="69596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pPr algn="ctr"/>
            <a:r>
              <a:rPr lang="en-US" altLang="zh-CN" sz="1400"/>
              <a:t>1-bit </a:t>
            </a:r>
            <a:endParaRPr lang="en-US" altLang="zh-CN" sz="1400"/>
          </a:p>
          <a:p>
            <a:pPr algn="ctr"/>
            <a:r>
              <a:rPr lang="en-US" altLang="zh-CN" sz="1400"/>
              <a:t>masks</a:t>
            </a:r>
            <a:endParaRPr lang="en-US" altLang="zh-CN" sz="1400"/>
          </a:p>
        </p:txBody>
      </p:sp>
      <p:graphicFrame>
        <p:nvGraphicFramePr>
          <p:cNvPr id="74" name="表格 73"/>
          <p:cNvGraphicFramePr>
            <a:graphicFrameLocks noGrp="1"/>
          </p:cNvGraphicFramePr>
          <p:nvPr>
            <p:custDataLst>
              <p:tags r:id="rId54"/>
            </p:custDataLst>
          </p:nvPr>
        </p:nvGraphicFramePr>
        <p:xfrm>
          <a:off x="8179435" y="1009015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>
            <p:custDataLst>
              <p:tags r:id="rId55"/>
            </p:custDataLst>
          </p:nvPr>
        </p:nvGraphicFramePr>
        <p:xfrm>
          <a:off x="8179435" y="1496060"/>
          <a:ext cx="377190" cy="384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730"/>
                <a:gridCol w="125730"/>
                <a:gridCol w="125730"/>
              </a:tblGrid>
              <a:tr h="128270"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27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</a:tr>
            </a:tbl>
          </a:graphicData>
        </a:graphic>
      </p:graphicFrame>
      <p:pic>
        <p:nvPicPr>
          <p:cNvPr id="76" name="图形 15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555925" y="1551590"/>
            <a:ext cx="288000" cy="288000"/>
          </a:xfrm>
          <a:prstGeom prst="rect">
            <a:avLst/>
          </a:prstGeom>
        </p:spPr>
      </p:pic>
      <p:grpSp>
        <p:nvGrpSpPr>
          <p:cNvPr id="77" name="组合 76"/>
          <p:cNvGrpSpPr/>
          <p:nvPr/>
        </p:nvGrpSpPr>
        <p:grpSpPr>
          <a:xfrm>
            <a:off x="8576753" y="1075686"/>
            <a:ext cx="288000" cy="288000"/>
            <a:chOff x="3957049" y="2239041"/>
            <a:chExt cx="570929" cy="518597"/>
          </a:xfrm>
        </p:grpSpPr>
        <p:pic>
          <p:nvPicPr>
            <p:cNvPr id="78" name="图形 440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79" name="任意多边形: 形状 37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80" name="图形 38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sp>
        <p:nvSpPr>
          <p:cNvPr id="81" name="箭头: 下 27"/>
          <p:cNvSpPr/>
          <p:nvPr>
            <p:custDataLst>
              <p:tags r:id="rId56"/>
            </p:custDataLst>
          </p:nvPr>
        </p:nvSpPr>
        <p:spPr>
          <a:xfrm rot="16200000">
            <a:off x="9116060" y="1194435"/>
            <a:ext cx="76835" cy="4432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8837930" y="900430"/>
            <a:ext cx="7277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 i="1"/>
              <a:t>Exract </a:t>
            </a:r>
            <a:endParaRPr lang="en-US" altLang="zh-CN" sz="1400" b="1" i="1"/>
          </a:p>
          <a:p>
            <a:r>
              <a:rPr lang="en-US" altLang="zh-CN" sz="1400" b="1" i="1"/>
              <a:t>for</a:t>
            </a:r>
            <a:endParaRPr lang="en-US" altLang="zh-CN" sz="1400" b="1" i="1"/>
          </a:p>
        </p:txBody>
      </p:sp>
      <p:grpSp>
        <p:nvGrpSpPr>
          <p:cNvPr id="84" name="组合 83"/>
          <p:cNvGrpSpPr>
            <a:grpSpLocks noChangeAspect="1"/>
          </p:cNvGrpSpPr>
          <p:nvPr/>
        </p:nvGrpSpPr>
        <p:grpSpPr>
          <a:xfrm>
            <a:off x="9165923" y="1199093"/>
            <a:ext cx="198164" cy="180000"/>
            <a:chOff x="3957049" y="2239041"/>
            <a:chExt cx="570929" cy="518597"/>
          </a:xfrm>
        </p:grpSpPr>
        <p:pic>
          <p:nvPicPr>
            <p:cNvPr id="85" name="图形 35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3957049" y="2239041"/>
              <a:ext cx="434982" cy="434980"/>
            </a:xfrm>
            <a:prstGeom prst="rect">
              <a:avLst/>
            </a:prstGeom>
          </p:spPr>
        </p:pic>
        <p:sp>
          <p:nvSpPr>
            <p:cNvPr id="86" name="任意多边形: 形状 36"/>
            <p:cNvSpPr/>
            <p:nvPr/>
          </p:nvSpPr>
          <p:spPr>
            <a:xfrm>
              <a:off x="4141654" y="2399302"/>
              <a:ext cx="337983" cy="330622"/>
            </a:xfrm>
            <a:custGeom>
              <a:avLst/>
              <a:gdLst>
                <a:gd name="connsiteX0" fmla="*/ -432 w 326293"/>
                <a:gd name="connsiteY0" fmla="*/ 171393 h 343466"/>
                <a:gd name="connsiteX1" fmla="*/ 162715 w 326293"/>
                <a:gd name="connsiteY1" fmla="*/ -340 h 343466"/>
                <a:gd name="connsiteX2" fmla="*/ 325861 w 326293"/>
                <a:gd name="connsiteY2" fmla="*/ 171393 h 343466"/>
                <a:gd name="connsiteX3" fmla="*/ 162715 w 326293"/>
                <a:gd name="connsiteY3" fmla="*/ 343126 h 343466"/>
                <a:gd name="connsiteX4" fmla="*/ -432 w 326293"/>
                <a:gd name="connsiteY4" fmla="*/ 171393 h 34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293" h="343466">
                  <a:moveTo>
                    <a:pt x="-432" y="171393"/>
                  </a:moveTo>
                  <a:cubicBezTo>
                    <a:pt x="-432" y="76548"/>
                    <a:pt x="72623" y="-340"/>
                    <a:pt x="162715" y="-340"/>
                  </a:cubicBezTo>
                  <a:cubicBezTo>
                    <a:pt x="252806" y="-340"/>
                    <a:pt x="325861" y="76548"/>
                    <a:pt x="325861" y="171393"/>
                  </a:cubicBezTo>
                  <a:cubicBezTo>
                    <a:pt x="325861" y="266238"/>
                    <a:pt x="252806" y="343126"/>
                    <a:pt x="162715" y="343126"/>
                  </a:cubicBezTo>
                  <a:cubicBezTo>
                    <a:pt x="72623" y="343126"/>
                    <a:pt x="-432" y="266238"/>
                    <a:pt x="-432" y="171393"/>
                  </a:cubicBezTo>
                  <a:close/>
                </a:path>
              </a:pathLst>
            </a:custGeom>
            <a:solidFill>
              <a:srgbClr val="FFFFFF"/>
            </a:solidFill>
            <a:ln w="3432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 sz="1400"/>
            </a:p>
          </p:txBody>
        </p:sp>
        <p:pic>
          <p:nvPicPr>
            <p:cNvPr id="87" name="图形 39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4152653" y="2408845"/>
              <a:ext cx="375325" cy="348793"/>
            </a:xfrm>
            <a:prstGeom prst="rect">
              <a:avLst/>
            </a:prstGeom>
          </p:spPr>
        </p:pic>
      </p:grpSp>
      <p:graphicFrame>
        <p:nvGraphicFramePr>
          <p:cNvPr id="89" name="表格 88"/>
          <p:cNvGraphicFramePr>
            <a:graphicFrameLocks noGrp="1"/>
          </p:cNvGraphicFramePr>
          <p:nvPr>
            <p:custDataLst>
              <p:tags r:id="rId61"/>
            </p:custDataLst>
          </p:nvPr>
        </p:nvGraphicFramePr>
        <p:xfrm>
          <a:off x="9497060" y="10258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" name="表格 89"/>
          <p:cNvGraphicFramePr>
            <a:graphicFrameLocks noGrp="1"/>
          </p:cNvGraphicFramePr>
          <p:nvPr>
            <p:custDataLst>
              <p:tags r:id="rId62"/>
            </p:custDataLst>
          </p:nvPr>
        </p:nvGraphicFramePr>
        <p:xfrm>
          <a:off x="9497060" y="2372043"/>
          <a:ext cx="86400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00"/>
                <a:gridCol w="288000"/>
                <a:gridCol w="288000"/>
              </a:tblGrid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00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 marL="72854" marR="72854" marT="36428" marB="3642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AC68">
                        <a:alpha val="3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1" name="箭头: 下 27"/>
          <p:cNvSpPr/>
          <p:nvPr>
            <p:custDataLst>
              <p:tags r:id="rId63"/>
            </p:custDataLst>
          </p:nvPr>
        </p:nvSpPr>
        <p:spPr>
          <a:xfrm>
            <a:off x="9890760" y="1954530"/>
            <a:ext cx="76835" cy="360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9994265" y="1986915"/>
            <a:ext cx="831850" cy="306705"/>
          </a:xfrm>
          <a:prstGeom prst="rect">
            <a:avLst/>
          </a:prstGeom>
          <a:noFill/>
        </p:spPr>
        <p:txBody>
          <a:bodyPr wrap="square" lIns="0" rtlCol="0" anchor="t">
            <a:spAutoFit/>
          </a:bodyPr>
          <a:p>
            <a:r>
              <a:rPr lang="en-US" altLang="zh-CN" sz="1400" b="1" i="1">
                <a:sym typeface="+mn-ea"/>
              </a:rPr>
              <a:t>Rescale</a:t>
            </a:r>
            <a:endParaRPr lang="en-US" altLang="zh-CN" sz="1400" b="1" i="1"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3965893" y="4321810"/>
            <a:ext cx="42595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/>
              <a:t>融合</a:t>
            </a:r>
            <a:r>
              <a:rPr lang="en-US" altLang="zh-CN" sz="1400" b="1"/>
              <a:t>6</a:t>
            </a:r>
            <a:r>
              <a:rPr lang="zh-CN" altLang="en-US" sz="1400" b="1"/>
              <a:t>个软件工程任务的性能</a:t>
            </a:r>
            <a:endParaRPr lang="zh-CN" altLang="en-US" sz="1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5*34"/>
  <p:tag name="TABLE_ENDDRAG_RECT" val="372*280*35*34"/>
</p:tagLst>
</file>

<file path=ppt/tags/tag2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6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7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9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1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2.xml><?xml version="1.0" encoding="utf-8"?>
<p:tagLst xmlns:p="http://schemas.openxmlformats.org/presentationml/2006/main">
  <p:tag name="TABLE_ENDDRAG_ORIGIN_RECT" val="35*34"/>
  <p:tag name="TABLE_ENDDRAG_RECT" val="372*280*35*34"/>
</p:tagLst>
</file>

<file path=ppt/tags/tag13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4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6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17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19.xml><?xml version="1.0" encoding="utf-8"?>
<p:tagLst xmlns:p="http://schemas.openxmlformats.org/presentationml/2006/main">
  <p:tag name="TABLE_ENDDRAG_ORIGIN_RECT" val="35*34"/>
  <p:tag name="TABLE_ENDDRAG_RECT" val="127*280*35*34"/>
</p:tagLst>
</file>

<file path=ppt/tags/tag20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1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22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23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24.xml><?xml version="1.0" encoding="utf-8"?>
<p:tagLst xmlns:p="http://schemas.openxmlformats.org/presentationml/2006/main">
  <p:tag name="TABLE_ENDDRAG_ORIGIN_RECT" val="29*30"/>
  <p:tag name="TABLE_ENDDRAG_RECT" val="674*163*29*30"/>
</p:tagLst>
</file>

<file path=ppt/tags/tag25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ags/tag26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27.xml><?xml version="1.0" encoding="utf-8"?>
<p:tagLst xmlns:p="http://schemas.openxmlformats.org/presentationml/2006/main">
  <p:tag name="TABLE_ENDDRAG_ORIGIN_RECT" val="35*34"/>
  <p:tag name="TABLE_ENDDRAG_RECT" val="172*280*35*34"/>
</p:tagLst>
</file>

<file path=ppt/tags/tag28.xml><?xml version="1.0" encoding="utf-8"?>
<p:tagLst xmlns:p="http://schemas.openxmlformats.org/presentationml/2006/main">
  <p:tag name="KSO_WM_DIAGRAM_VIRTUALLY_FRAME" val="{&quot;height&quot;:264.1,&quot;left&quot;:177.95,&quot;top&quot;:189.8,&quot;width&quot;:577.3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WPS 演示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钢</cp:lastModifiedBy>
  <cp:revision>3</cp:revision>
  <dcterms:created xsi:type="dcterms:W3CDTF">2023-08-09T12:44:00Z</dcterms:created>
  <dcterms:modified xsi:type="dcterms:W3CDTF">2025-12-13T12:56:05Z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BB8FC7CD7AC3459185B1EDC3150EEB18_12</vt:lpwstr>
  </property>
</Properties>
</file>