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notesMasterIdLst>
    <p:notesMasterId r:id="rId5"/>
  </p:notesMasterIdLst>
  <p:handoutMasterIdLst>
    <p:handoutMasterId r:id="rId12"/>
  </p:handoutMasterIdLst>
  <p:sldIdLst>
    <p:sldId id="404" r:id="rId4"/>
    <p:sldId id="406" r:id="rId6"/>
    <p:sldId id="405" r:id="rId7"/>
    <p:sldId id="407" r:id="rId8"/>
    <p:sldId id="408" r:id="rId9"/>
    <p:sldId id="409" r:id="rId10"/>
    <p:sldId id="410" r:id="rId11"/>
  </p:sldIdLst>
  <p:sldSz cx="1800034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3EF657-181C-4883-9D5A-AB9F1355040F}">
          <p14:sldIdLst>
            <p14:sldId id="404"/>
            <p14:sldId id="406"/>
            <p14:sldId id="405"/>
            <p14:sldId id="407"/>
            <p14:sldId id="408"/>
            <p14:sldId id="409"/>
            <p14:sldId id="4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9A"/>
    <a:srgbClr val="FFFDB8"/>
    <a:srgbClr val="BFE6D1"/>
    <a:srgbClr val="FFC266"/>
    <a:srgbClr val="ABADFB"/>
    <a:srgbClr val="39B273"/>
    <a:srgbClr val="FF9900"/>
    <a:srgbClr val="C9D6FF"/>
    <a:srgbClr val="FFFC89"/>
    <a:srgbClr val="B8B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78403" autoAdjust="0"/>
  </p:normalViewPr>
  <p:slideViewPr>
    <p:cSldViewPr snapToGrid="0">
      <p:cViewPr varScale="1">
        <p:scale>
          <a:sx n="70" d="100"/>
          <a:sy n="70" d="100"/>
        </p:scale>
        <p:origin x="48" y="3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528"/>
    </p:cViewPr>
  </p:sorterViewPr>
  <p:notesViewPr>
    <p:cSldViewPr snapToGrid="0"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A95C1-E06F-4CA8-8396-75D76C7FF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DBA3F-305F-43D9-8EEC-18859E489F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ripple/>
      </p:transition>
    </mc:Choice>
    <mc:Fallback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doors dir="vert"/>
      </p:transition>
    </mc:Choice>
    <mc:Fallback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14:prism isInverted="1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flip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14:gallery dir="l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:blinds dir="vert"/>
      </p:transition>
    </mc:Choice>
    <mc:Fallback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37546" y="6356352"/>
            <a:ext cx="4050149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962720" y="6356352"/>
            <a:ext cx="6075224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2712968" y="6356352"/>
            <a:ext cx="4050149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 smtClean="0"/>
            </a:fld>
            <a:endParaRPr lang="zh-CN" altLang="en-US" sz="1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ripple/>
      </p:transition>
    </mc:Choice>
    <mc:Fallback>
      <p:transition spd="slow" advClick="0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doors dir="vert"/>
      </p:transition>
    </mc:Choice>
    <mc:Fallback>
      <p:transition spd="slow" advClick="0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ripple/>
      </p:transition>
    </mc:Choice>
    <mc:Fallback>
      <p:transition spd="slow" advClick="0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doors dir="vert"/>
      </p:transition>
    </mc:Choice>
    <mc:Fallback>
      <p:transition spd="slow" advClick="0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p14:dur="10" advClick="0" advTm="5000"/>
    </mc:Choice>
    <mc:Fallback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28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6.png"/><Relationship Id="rId3" Type="http://schemas.openxmlformats.org/officeDocument/2006/relationships/image" Target="../media/image2.sv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19" Type="http://schemas.openxmlformats.org/officeDocument/2006/relationships/image" Target="../media/image23.svg"/><Relationship Id="rId18" Type="http://schemas.openxmlformats.org/officeDocument/2006/relationships/image" Target="../media/image22.png"/><Relationship Id="rId17" Type="http://schemas.openxmlformats.org/officeDocument/2006/relationships/image" Target="../media/image21.svg"/><Relationship Id="rId16" Type="http://schemas.openxmlformats.org/officeDocument/2006/relationships/image" Target="../media/image20.png"/><Relationship Id="rId15" Type="http://schemas.openxmlformats.org/officeDocument/2006/relationships/image" Target="../media/image14.svg"/><Relationship Id="rId14" Type="http://schemas.openxmlformats.org/officeDocument/2006/relationships/image" Target="../media/image13.png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28.xml"/><Relationship Id="rId14" Type="http://schemas.openxmlformats.org/officeDocument/2006/relationships/image" Target="../media/image25.svg"/><Relationship Id="rId13" Type="http://schemas.openxmlformats.org/officeDocument/2006/relationships/image" Target="../media/image24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23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8.xml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28.xml"/><Relationship Id="rId16" Type="http://schemas.openxmlformats.org/officeDocument/2006/relationships/image" Target="../media/image31.svg"/><Relationship Id="rId15" Type="http://schemas.openxmlformats.org/officeDocument/2006/relationships/image" Target="../media/image30.png"/><Relationship Id="rId14" Type="http://schemas.openxmlformats.org/officeDocument/2006/relationships/image" Target="../media/image25.svg"/><Relationship Id="rId13" Type="http://schemas.openxmlformats.org/officeDocument/2006/relationships/image" Target="../media/image24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23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文本框 320"/>
          <p:cNvSpPr txBox="1"/>
          <p:nvPr/>
        </p:nvSpPr>
        <p:spPr>
          <a:xfrm>
            <a:off x="3670878" y="5208441"/>
            <a:ext cx="6430221" cy="362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注释：一些融合方法需要特定任务额外信息，没有的话可忽略那部分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1870" y="3355539"/>
            <a:ext cx="492443" cy="49475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2400" b="1" dirty="0">
              <a:solidFill>
                <a:srgbClr val="404040"/>
              </a:solidFill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60853" y="1820443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代码搜索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60852" y="3004926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克隆检测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67989" y="4594842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代码生成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62062" y="2371329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微调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9000331" y="2286331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共享参数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8080552" y="2320115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融合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5" name="文本框 374"/>
          <p:cNvSpPr txBox="1"/>
          <p:nvPr/>
        </p:nvSpPr>
        <p:spPr>
          <a:xfrm>
            <a:off x="10151968" y="2387569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结合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11008395" y="4361420"/>
            <a:ext cx="11079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特定任务输入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11913393" y="2871110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输出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3555971" y="3004926"/>
            <a:ext cx="95410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预训练模型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0" name="文本框 389"/>
          <p:cNvSpPr txBox="1"/>
          <p:nvPr/>
        </p:nvSpPr>
        <p:spPr>
          <a:xfrm>
            <a:off x="9000331" y="3659156"/>
            <a:ext cx="873966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特定任务额外信息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2" name="Rectangle 1"/>
          <p:cNvSpPr>
            <a:spLocks noChangeArrowheads="1"/>
          </p:cNvSpPr>
          <p:nvPr/>
        </p:nvSpPr>
        <p:spPr bwMode="auto">
          <a:xfrm>
            <a:off x="10137159" y="3610164"/>
            <a:ext cx="2898387" cy="738664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G</a:t>
            </a:r>
            <a:r>
              <a:rPr lang="zh-CN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enerate a piece of code that conforms to the function described in natural language</a:t>
            </a: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…</a:t>
            </a:r>
            <a:endParaRPr lang="zh-CN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7744" y="2310620"/>
            <a:ext cx="640800" cy="640800"/>
          </a:xfrm>
          <a:prstGeom prst="rect">
            <a:avLst/>
          </a:prstGeom>
        </p:spPr>
      </p:pic>
      <p:pic>
        <p:nvPicPr>
          <p:cNvPr id="402" name="图形 40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8263" y="1176081"/>
            <a:ext cx="686691" cy="677226"/>
          </a:xfrm>
          <a:prstGeom prst="rect">
            <a:avLst/>
          </a:prstGeom>
        </p:spPr>
      </p:pic>
      <p:grpSp>
        <p:nvGrpSpPr>
          <p:cNvPr id="407" name="组合 406"/>
          <p:cNvGrpSpPr/>
          <p:nvPr/>
        </p:nvGrpSpPr>
        <p:grpSpPr>
          <a:xfrm>
            <a:off x="5822917" y="2344998"/>
            <a:ext cx="745793" cy="676800"/>
            <a:chOff x="1115728" y="1226176"/>
            <a:chExt cx="719997" cy="703092"/>
          </a:xfrm>
        </p:grpSpPr>
        <p:pic>
          <p:nvPicPr>
            <p:cNvPr id="404" name="图形 40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5728" y="1226176"/>
              <a:ext cx="594266" cy="594266"/>
            </a:xfrm>
            <a:prstGeom prst="rect">
              <a:avLst/>
            </a:prstGeom>
          </p:spPr>
        </p:pic>
        <p:sp>
          <p:nvSpPr>
            <p:cNvPr id="16" name="任意多边形: 形状 15"/>
            <p:cNvSpPr/>
            <p:nvPr/>
          </p:nvSpPr>
          <p:spPr>
            <a:xfrm>
              <a:off x="1462763" y="1557012"/>
              <a:ext cx="326293" cy="343466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406" name="图形 405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73382" y="1566925"/>
              <a:ext cx="362343" cy="362343"/>
            </a:xfrm>
            <a:prstGeom prst="rect">
              <a:avLst/>
            </a:prstGeom>
          </p:spPr>
        </p:pic>
      </p:grpSp>
      <p:pic>
        <p:nvPicPr>
          <p:cNvPr id="409" name="图形 40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4271" y="3909430"/>
            <a:ext cx="676800" cy="676800"/>
          </a:xfrm>
          <a:prstGeom prst="rect">
            <a:avLst/>
          </a:prstGeom>
        </p:spPr>
      </p:pic>
      <p:cxnSp>
        <p:nvCxnSpPr>
          <p:cNvPr id="411" name="连接符: 肘形 410"/>
          <p:cNvCxnSpPr>
            <a:stCxn id="398" idx="3"/>
            <a:endCxn id="402" idx="1"/>
          </p:cNvCxnSpPr>
          <p:nvPr/>
        </p:nvCxnSpPr>
        <p:spPr>
          <a:xfrm flipV="1">
            <a:off x="4378544" y="1514694"/>
            <a:ext cx="1459718" cy="1116326"/>
          </a:xfrm>
          <a:prstGeom prst="bentConnector3">
            <a:avLst>
              <a:gd name="adj1" fmla="val 5156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连接符: 肘形 411"/>
          <p:cNvCxnSpPr>
            <a:stCxn id="398" idx="3"/>
            <a:endCxn id="409" idx="1"/>
          </p:cNvCxnSpPr>
          <p:nvPr/>
        </p:nvCxnSpPr>
        <p:spPr>
          <a:xfrm>
            <a:off x="4378545" y="2631020"/>
            <a:ext cx="1505727" cy="1616810"/>
          </a:xfrm>
          <a:prstGeom prst="bentConnector3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  <a:endCxn id="404" idx="1"/>
          </p:cNvCxnSpPr>
          <p:nvPr/>
        </p:nvCxnSpPr>
        <p:spPr>
          <a:xfrm>
            <a:off x="4378544" y="2631020"/>
            <a:ext cx="1444372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7" name="表格 426"/>
          <p:cNvGraphicFramePr>
            <a:graphicFrameLocks noGrp="1"/>
          </p:cNvGraphicFramePr>
          <p:nvPr/>
        </p:nvGraphicFramePr>
        <p:xfrm>
          <a:off x="6858625" y="1169451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FF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8" name="表格 427"/>
          <p:cNvGraphicFramePr>
            <a:graphicFrameLocks noGrp="1"/>
          </p:cNvGraphicFramePr>
          <p:nvPr/>
        </p:nvGraphicFramePr>
        <p:xfrm>
          <a:off x="6858625" y="2327404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9" name="表格 428"/>
          <p:cNvGraphicFramePr>
            <a:graphicFrameLocks noGrp="1"/>
          </p:cNvGraphicFramePr>
          <p:nvPr/>
        </p:nvGraphicFramePr>
        <p:xfrm>
          <a:off x="6858625" y="3965286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6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" name="表格 430"/>
          <p:cNvGraphicFramePr>
            <a:graphicFrameLocks noGrp="1"/>
          </p:cNvGraphicFramePr>
          <p:nvPr/>
        </p:nvGraphicFramePr>
        <p:xfrm>
          <a:off x="9019135" y="150948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6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cxnSp>
        <p:nvCxnSpPr>
          <p:cNvPr id="433" name="连接符: 肘形 432"/>
          <p:cNvCxnSpPr>
            <a:stCxn id="428" idx="3"/>
            <a:endCxn id="431" idx="1"/>
          </p:cNvCxnSpPr>
          <p:nvPr/>
        </p:nvCxnSpPr>
        <p:spPr>
          <a:xfrm flipV="1">
            <a:off x="7531575" y="1855127"/>
            <a:ext cx="1487560" cy="817916"/>
          </a:xfrm>
          <a:prstGeom prst="bentConnector3">
            <a:avLst>
              <a:gd name="adj1" fmla="val 8137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/>
          <p:cNvCxnSpPr/>
          <p:nvPr/>
        </p:nvCxnSpPr>
        <p:spPr>
          <a:xfrm>
            <a:off x="7535386" y="2673043"/>
            <a:ext cx="1470581" cy="644112"/>
          </a:xfrm>
          <a:prstGeom prst="bentConnector3">
            <a:avLst>
              <a:gd name="adj1" fmla="val 8212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2" name="图形 44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02156" y="2975155"/>
            <a:ext cx="684000" cy="684000"/>
          </a:xfrm>
          <a:prstGeom prst="rect">
            <a:avLst/>
          </a:prstGeom>
        </p:spPr>
      </p:pic>
      <p:graphicFrame>
        <p:nvGraphicFramePr>
          <p:cNvPr id="448" name="表格 447"/>
          <p:cNvGraphicFramePr>
            <a:graphicFrameLocks noGrp="1"/>
          </p:cNvGraphicFramePr>
          <p:nvPr/>
        </p:nvGraphicFramePr>
        <p:xfrm>
          <a:off x="10766717" y="2313647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49" name="连接符: 肘形 448"/>
          <p:cNvCxnSpPr/>
          <p:nvPr/>
        </p:nvCxnSpPr>
        <p:spPr>
          <a:xfrm>
            <a:off x="9698181" y="1855128"/>
            <a:ext cx="1074632" cy="804159"/>
          </a:xfrm>
          <a:prstGeom prst="bentConnector3">
            <a:avLst>
              <a:gd name="adj1" fmla="val 25608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连接符: 肘形 451"/>
          <p:cNvCxnSpPr>
            <a:stCxn id="442" idx="3"/>
            <a:endCxn id="448" idx="1"/>
          </p:cNvCxnSpPr>
          <p:nvPr/>
        </p:nvCxnSpPr>
        <p:spPr>
          <a:xfrm flipV="1">
            <a:off x="9686157" y="2659287"/>
            <a:ext cx="1080561" cy="657869"/>
          </a:xfrm>
          <a:prstGeom prst="bentConnector3">
            <a:avLst>
              <a:gd name="adj1" fmla="val 2623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连接符: 肘形 467"/>
          <p:cNvCxnSpPr>
            <a:stCxn id="427" idx="3"/>
          </p:cNvCxnSpPr>
          <p:nvPr/>
        </p:nvCxnSpPr>
        <p:spPr>
          <a:xfrm>
            <a:off x="7531575" y="1515091"/>
            <a:ext cx="297554" cy="1157915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连接符: 肘形 471"/>
          <p:cNvCxnSpPr>
            <a:stCxn id="429" idx="3"/>
          </p:cNvCxnSpPr>
          <p:nvPr/>
        </p:nvCxnSpPr>
        <p:spPr>
          <a:xfrm flipV="1">
            <a:off x="7531575" y="2682713"/>
            <a:ext cx="297554" cy="162821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箭头连接符 478"/>
          <p:cNvCxnSpPr>
            <a:endCxn id="448" idx="2"/>
          </p:cNvCxnSpPr>
          <p:nvPr/>
        </p:nvCxnSpPr>
        <p:spPr>
          <a:xfrm flipV="1">
            <a:off x="11103192" y="3004925"/>
            <a:ext cx="0" cy="597988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接箭头连接符 483"/>
          <p:cNvCxnSpPr>
            <a:stCxn id="448" idx="3"/>
            <a:endCxn id="488" idx="1"/>
          </p:cNvCxnSpPr>
          <p:nvPr/>
        </p:nvCxnSpPr>
        <p:spPr>
          <a:xfrm>
            <a:off x="11439668" y="2659287"/>
            <a:ext cx="421795" cy="7187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8" name="图形 487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861462" y="2406915"/>
            <a:ext cx="594058" cy="5191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卡通人物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741" y="2263370"/>
            <a:ext cx="620971" cy="795191"/>
          </a:xfrm>
          <a:prstGeom prst="rect">
            <a:avLst/>
          </a:prstGeom>
        </p:spPr>
      </p:pic>
      <p:sp>
        <p:nvSpPr>
          <p:cNvPr id="321" name="文本框 320"/>
          <p:cNvSpPr txBox="1"/>
          <p:nvPr/>
        </p:nvSpPr>
        <p:spPr>
          <a:xfrm>
            <a:off x="3670878" y="5208441"/>
            <a:ext cx="6430221" cy="362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注释：一些融合方法需要特定任务额外信息，没有的话可忽略那部分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1870" y="3355539"/>
            <a:ext cx="492443" cy="49475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2400" b="1" dirty="0">
              <a:solidFill>
                <a:srgbClr val="404040"/>
              </a:solidFill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60853" y="1820443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代码搜索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60852" y="3004926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漏洞检测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67989" y="4594842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摘要生成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62062" y="2371329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微调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12497911" y="3722092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共享参数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11578132" y="3755876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融合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5" name="文本框 374"/>
          <p:cNvSpPr txBox="1"/>
          <p:nvPr/>
        </p:nvSpPr>
        <p:spPr>
          <a:xfrm>
            <a:off x="13649548" y="3823330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结合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14505975" y="5797181"/>
            <a:ext cx="11079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特定任务输入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18315304" y="4306871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输出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3555971" y="3004926"/>
            <a:ext cx="95410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预训练模型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0" name="文本框 389"/>
          <p:cNvSpPr txBox="1"/>
          <p:nvPr/>
        </p:nvSpPr>
        <p:spPr>
          <a:xfrm>
            <a:off x="12497911" y="5094917"/>
            <a:ext cx="873966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特定任务额外信息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2" name="Rectangle 1"/>
          <p:cNvSpPr>
            <a:spLocks noChangeArrowheads="1"/>
          </p:cNvSpPr>
          <p:nvPr/>
        </p:nvSpPr>
        <p:spPr bwMode="auto">
          <a:xfrm>
            <a:off x="13634739" y="5045925"/>
            <a:ext cx="2898387" cy="738664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G</a:t>
            </a:r>
            <a:r>
              <a:rPr lang="zh-CN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enerate a piece of code that conforms to the function described in natural language</a:t>
            </a: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…</a:t>
            </a:r>
            <a:endParaRPr lang="zh-CN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7744" y="2310620"/>
            <a:ext cx="640800" cy="6408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836005" y="1089720"/>
            <a:ext cx="664170" cy="871200"/>
            <a:chOff x="2973359" y="1040151"/>
            <a:chExt cx="664170" cy="871200"/>
          </a:xfrm>
        </p:grpSpPr>
        <p:pic>
          <p:nvPicPr>
            <p:cNvPr id="25" name="图片 24" descr="卡通人物&#10;&#10;AI 生成的内容可能不正确。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3359" y="1040151"/>
              <a:ext cx="580800" cy="871200"/>
            </a:xfrm>
            <a:prstGeom prst="rect">
              <a:avLst/>
            </a:prstGeom>
          </p:spPr>
        </p:pic>
        <p:grpSp>
          <p:nvGrpSpPr>
            <p:cNvPr id="35" name="组合 34"/>
            <p:cNvGrpSpPr/>
            <p:nvPr/>
          </p:nvGrpSpPr>
          <p:grpSpPr>
            <a:xfrm>
              <a:off x="3278054" y="1541751"/>
              <a:ext cx="359475" cy="354520"/>
              <a:chOff x="5158740" y="1735306"/>
              <a:chExt cx="359475" cy="354520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5204460" y="1820442"/>
                <a:ext cx="238125" cy="1855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pic>
            <p:nvPicPr>
              <p:cNvPr id="402" name="图形 401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158740" y="1735306"/>
                <a:ext cx="359475" cy="354520"/>
              </a:xfrm>
              <a:prstGeom prst="rect">
                <a:avLst/>
              </a:prstGeom>
            </p:spPr>
          </p:pic>
        </p:grpSp>
      </p:grpSp>
      <p:grpSp>
        <p:nvGrpSpPr>
          <p:cNvPr id="56" name="组合 55"/>
          <p:cNvGrpSpPr/>
          <p:nvPr/>
        </p:nvGrpSpPr>
        <p:grpSpPr>
          <a:xfrm>
            <a:off x="5852748" y="2214726"/>
            <a:ext cx="607929" cy="869787"/>
            <a:chOff x="2324029" y="1680785"/>
            <a:chExt cx="607929" cy="869787"/>
          </a:xfrm>
        </p:grpSpPr>
        <p:pic>
          <p:nvPicPr>
            <p:cNvPr id="42" name="图片 41" descr="图标&#10;&#10;AI 生成的内容可能不正确。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24029" y="1680785"/>
              <a:ext cx="569390" cy="843835"/>
            </a:xfrm>
            <a:prstGeom prst="rect">
              <a:avLst/>
            </a:prstGeom>
          </p:spPr>
        </p:pic>
        <p:grpSp>
          <p:nvGrpSpPr>
            <p:cNvPr id="49" name="组合 48"/>
            <p:cNvGrpSpPr>
              <a:grpSpLocks noChangeAspect="1"/>
            </p:cNvGrpSpPr>
            <p:nvPr/>
          </p:nvGrpSpPr>
          <p:grpSpPr>
            <a:xfrm>
              <a:off x="2587250" y="2204882"/>
              <a:ext cx="344708" cy="345690"/>
              <a:chOff x="7909164" y="1920367"/>
              <a:chExt cx="667024" cy="668925"/>
            </a:xfrm>
          </p:grpSpPr>
          <p:pic>
            <p:nvPicPr>
              <p:cNvPr id="48" name="图形 47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909164" y="1920367"/>
                <a:ext cx="572400" cy="572400"/>
              </a:xfrm>
              <a:prstGeom prst="rect">
                <a:avLst/>
              </a:prstGeom>
            </p:spPr>
          </p:pic>
          <p:sp>
            <p:nvSpPr>
              <p:cNvPr id="16" name="任意多边形: 形状 15"/>
              <p:cNvSpPr/>
              <p:nvPr/>
            </p:nvSpPr>
            <p:spPr>
              <a:xfrm>
                <a:off x="8189864" y="2230956"/>
                <a:ext cx="337983" cy="330622"/>
              </a:xfrm>
              <a:custGeom>
                <a:avLst/>
                <a:gdLst>
                  <a:gd name="connsiteX0" fmla="*/ -432 w 326293"/>
                  <a:gd name="connsiteY0" fmla="*/ 171393 h 343466"/>
                  <a:gd name="connsiteX1" fmla="*/ 162715 w 326293"/>
                  <a:gd name="connsiteY1" fmla="*/ -340 h 343466"/>
                  <a:gd name="connsiteX2" fmla="*/ 325861 w 326293"/>
                  <a:gd name="connsiteY2" fmla="*/ 171393 h 343466"/>
                  <a:gd name="connsiteX3" fmla="*/ 162715 w 326293"/>
                  <a:gd name="connsiteY3" fmla="*/ 343126 h 343466"/>
                  <a:gd name="connsiteX4" fmla="*/ -432 w 326293"/>
                  <a:gd name="connsiteY4" fmla="*/ 171393 h 34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293" h="343466">
                    <a:moveTo>
                      <a:pt x="-432" y="171393"/>
                    </a:moveTo>
                    <a:cubicBezTo>
                      <a:pt x="-432" y="76548"/>
                      <a:pt x="72623" y="-340"/>
                      <a:pt x="162715" y="-340"/>
                    </a:cubicBezTo>
                    <a:cubicBezTo>
                      <a:pt x="252806" y="-340"/>
                      <a:pt x="325861" y="76548"/>
                      <a:pt x="325861" y="171393"/>
                    </a:cubicBezTo>
                    <a:cubicBezTo>
                      <a:pt x="325861" y="266238"/>
                      <a:pt x="252806" y="343126"/>
                      <a:pt x="162715" y="343126"/>
                    </a:cubicBezTo>
                    <a:cubicBezTo>
                      <a:pt x="72623" y="343126"/>
                      <a:pt x="-432" y="266238"/>
                      <a:pt x="-432" y="1713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06" name="图形 405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00863" y="2240499"/>
                <a:ext cx="375325" cy="348793"/>
              </a:xfrm>
              <a:prstGeom prst="rect">
                <a:avLst/>
              </a:prstGeom>
            </p:spPr>
          </p:pic>
        </p:grpSp>
      </p:grpSp>
      <p:cxnSp>
        <p:nvCxnSpPr>
          <p:cNvPr id="412" name="连接符: 肘形 411"/>
          <p:cNvCxnSpPr>
            <a:stCxn id="398" idx="3"/>
          </p:cNvCxnSpPr>
          <p:nvPr/>
        </p:nvCxnSpPr>
        <p:spPr>
          <a:xfrm>
            <a:off x="4378545" y="2631020"/>
            <a:ext cx="1505727" cy="1616810"/>
          </a:xfrm>
          <a:prstGeom prst="bentConnector3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  <a:endCxn id="42" idx="1"/>
          </p:cNvCxnSpPr>
          <p:nvPr/>
        </p:nvCxnSpPr>
        <p:spPr>
          <a:xfrm>
            <a:off x="4378545" y="2631021"/>
            <a:ext cx="1474203" cy="5623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7" name="表格 426"/>
          <p:cNvGraphicFramePr>
            <a:graphicFrameLocks noGrp="1"/>
          </p:cNvGraphicFramePr>
          <p:nvPr/>
        </p:nvGraphicFramePr>
        <p:xfrm>
          <a:off x="6858626" y="1169451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8" name="表格 427"/>
          <p:cNvGraphicFramePr>
            <a:graphicFrameLocks noGrp="1"/>
          </p:cNvGraphicFramePr>
          <p:nvPr/>
        </p:nvGraphicFramePr>
        <p:xfrm>
          <a:off x="6858626" y="2327404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>
                        <a:alpha val="4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>
                        <a:alpha val="4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9" name="表格 428"/>
          <p:cNvGraphicFramePr>
            <a:graphicFrameLocks noGrp="1"/>
          </p:cNvGraphicFramePr>
          <p:nvPr/>
        </p:nvGraphicFramePr>
        <p:xfrm>
          <a:off x="6858626" y="3965286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/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7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" name="表格 430"/>
          <p:cNvGraphicFramePr>
            <a:graphicFrameLocks noGrp="1"/>
          </p:cNvGraphicFramePr>
          <p:nvPr/>
        </p:nvGraphicFramePr>
        <p:xfrm>
          <a:off x="12516715" y="294524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cxnSp>
        <p:nvCxnSpPr>
          <p:cNvPr id="433" name="连接符: 肘形 432"/>
          <p:cNvCxnSpPr>
            <a:endCxn id="431" idx="1"/>
          </p:cNvCxnSpPr>
          <p:nvPr/>
        </p:nvCxnSpPr>
        <p:spPr>
          <a:xfrm flipV="1">
            <a:off x="11029155" y="3290888"/>
            <a:ext cx="1487560" cy="817916"/>
          </a:xfrm>
          <a:prstGeom prst="bentConnector3">
            <a:avLst>
              <a:gd name="adj1" fmla="val 8137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/>
          <p:cNvCxnSpPr/>
          <p:nvPr/>
        </p:nvCxnSpPr>
        <p:spPr>
          <a:xfrm>
            <a:off x="11032966" y="4108804"/>
            <a:ext cx="1470581" cy="644112"/>
          </a:xfrm>
          <a:prstGeom prst="bentConnector3">
            <a:avLst>
              <a:gd name="adj1" fmla="val 8212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2" name="图形 44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99736" y="4410916"/>
            <a:ext cx="684000" cy="684000"/>
          </a:xfrm>
          <a:prstGeom prst="rect">
            <a:avLst/>
          </a:prstGeom>
        </p:spPr>
      </p:pic>
      <p:graphicFrame>
        <p:nvGraphicFramePr>
          <p:cNvPr id="448" name="表格 447"/>
          <p:cNvGraphicFramePr>
            <a:graphicFrameLocks noGrp="1"/>
          </p:cNvGraphicFramePr>
          <p:nvPr/>
        </p:nvGraphicFramePr>
        <p:xfrm>
          <a:off x="14264297" y="374940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49" name="连接符: 肘形 448"/>
          <p:cNvCxnSpPr/>
          <p:nvPr/>
        </p:nvCxnSpPr>
        <p:spPr>
          <a:xfrm>
            <a:off x="13195761" y="3290889"/>
            <a:ext cx="1074632" cy="804159"/>
          </a:xfrm>
          <a:prstGeom prst="bentConnector3">
            <a:avLst>
              <a:gd name="adj1" fmla="val 25608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连接符: 肘形 451"/>
          <p:cNvCxnSpPr>
            <a:stCxn id="442" idx="3"/>
            <a:endCxn id="448" idx="1"/>
          </p:cNvCxnSpPr>
          <p:nvPr/>
        </p:nvCxnSpPr>
        <p:spPr>
          <a:xfrm flipV="1">
            <a:off x="13183737" y="4095048"/>
            <a:ext cx="1080561" cy="657869"/>
          </a:xfrm>
          <a:prstGeom prst="bentConnector3">
            <a:avLst>
              <a:gd name="adj1" fmla="val 2623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连接符: 肘形 467"/>
          <p:cNvCxnSpPr/>
          <p:nvPr/>
        </p:nvCxnSpPr>
        <p:spPr>
          <a:xfrm>
            <a:off x="11029155" y="2950852"/>
            <a:ext cx="297554" cy="1157915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连接符: 肘形 471"/>
          <p:cNvCxnSpPr/>
          <p:nvPr/>
        </p:nvCxnSpPr>
        <p:spPr>
          <a:xfrm flipV="1">
            <a:off x="11029155" y="4118474"/>
            <a:ext cx="297554" cy="162821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箭头连接符 478"/>
          <p:cNvCxnSpPr>
            <a:endCxn id="448" idx="2"/>
          </p:cNvCxnSpPr>
          <p:nvPr/>
        </p:nvCxnSpPr>
        <p:spPr>
          <a:xfrm flipV="1">
            <a:off x="14600772" y="4440686"/>
            <a:ext cx="0" cy="597988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接箭头连接符 483"/>
          <p:cNvCxnSpPr>
            <a:stCxn id="448" idx="3"/>
            <a:endCxn id="488" idx="1"/>
          </p:cNvCxnSpPr>
          <p:nvPr/>
        </p:nvCxnSpPr>
        <p:spPr>
          <a:xfrm>
            <a:off x="14937248" y="4095048"/>
            <a:ext cx="421795" cy="7187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8" name="图形 487"/>
          <p:cNvPicPr/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263374" y="3842676"/>
            <a:ext cx="594058" cy="519116"/>
          </a:xfrm>
          <a:prstGeom prst="rect">
            <a:avLst/>
          </a:prstGeom>
        </p:spPr>
      </p:pic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6212931" y="4295365"/>
            <a:ext cx="310044" cy="310044"/>
            <a:chOff x="6470022" y="4389735"/>
            <a:chExt cx="676800" cy="676800"/>
          </a:xfrm>
        </p:grpSpPr>
        <p:sp>
          <p:nvSpPr>
            <p:cNvPr id="2" name="矩形 1"/>
            <p:cNvSpPr/>
            <p:nvPr/>
          </p:nvSpPr>
          <p:spPr>
            <a:xfrm>
              <a:off x="6590885" y="4440686"/>
              <a:ext cx="310486" cy="5979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470022" y="4389735"/>
              <a:ext cx="676800" cy="676800"/>
            </a:xfrm>
            <a:prstGeom prst="rect">
              <a:avLst/>
            </a:prstGeom>
          </p:spPr>
        </p:pic>
      </p:grpSp>
      <p:pic>
        <p:nvPicPr>
          <p:cNvPr id="15" name="图形 14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99990" y="1699752"/>
            <a:ext cx="306076" cy="306076"/>
          </a:xfrm>
          <a:prstGeom prst="rect">
            <a:avLst/>
          </a:pr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17534" y="1703500"/>
            <a:ext cx="306076" cy="306076"/>
          </a:xfrm>
          <a:prstGeom prst="rect">
            <a:avLst/>
          </a:prstGeom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70433" y="1699752"/>
            <a:ext cx="306076" cy="306076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71508" y="2858063"/>
            <a:ext cx="306076" cy="306076"/>
          </a:xfrm>
          <a:prstGeom prst="rect">
            <a:avLst/>
          </a:prstGeom>
        </p:spPr>
      </p:pic>
      <p:pic>
        <p:nvPicPr>
          <p:cNvPr id="26" name="图形 25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95359" y="4469698"/>
            <a:ext cx="306076" cy="306076"/>
          </a:xfrm>
          <a:prstGeom prst="rect">
            <a:avLst/>
          </a:prstGeom>
        </p:spPr>
      </p:pic>
      <p:pic>
        <p:nvPicPr>
          <p:cNvPr id="27" name="图形 26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77456" y="4469698"/>
            <a:ext cx="306076" cy="3060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5" name="表格 394"/>
          <p:cNvGraphicFramePr>
            <a:graphicFrameLocks noGrp="1"/>
          </p:cNvGraphicFramePr>
          <p:nvPr/>
        </p:nvGraphicFramePr>
        <p:xfrm>
          <a:off x="12507608" y="2541346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4" name="表格 393"/>
          <p:cNvGraphicFramePr>
            <a:graphicFrameLocks noGrp="1"/>
          </p:cNvGraphicFramePr>
          <p:nvPr/>
        </p:nvGraphicFramePr>
        <p:xfrm>
          <a:off x="12458589" y="2603671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785469" y="3175216"/>
            <a:ext cx="364202" cy="3270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1" dirty="0"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1400" b="1" dirty="0"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2117" y="1576560"/>
            <a:ext cx="11440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Search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88944" y="2700530"/>
            <a:ext cx="1167435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Vulnerability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Detection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28158" y="4278562"/>
            <a:ext cx="1353768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Summarization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60595" y="2054369"/>
            <a:ext cx="92525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Fine-tune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4064162" y="2699625"/>
            <a:ext cx="1638910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Pre-Train Model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1344" y="2046460"/>
            <a:ext cx="640800" cy="640800"/>
          </a:xfrm>
          <a:prstGeom prst="rect">
            <a:avLst/>
          </a:prstGeom>
        </p:spPr>
      </p:pic>
      <p:cxnSp>
        <p:nvCxnSpPr>
          <p:cNvPr id="411" name="连接符: 肘形 410"/>
          <p:cNvCxnSpPr>
            <a:stCxn id="398" idx="3"/>
            <a:endCxn id="34" idx="1"/>
          </p:cNvCxnSpPr>
          <p:nvPr/>
        </p:nvCxnSpPr>
        <p:spPr>
          <a:xfrm flipV="1">
            <a:off x="5242144" y="1250534"/>
            <a:ext cx="1459718" cy="1116326"/>
          </a:xfrm>
          <a:prstGeom prst="bentConnector3">
            <a:avLst>
              <a:gd name="adj1" fmla="val 71847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连接符: 肘形 411"/>
          <p:cNvCxnSpPr>
            <a:stCxn id="398" idx="3"/>
          </p:cNvCxnSpPr>
          <p:nvPr/>
        </p:nvCxnSpPr>
        <p:spPr>
          <a:xfrm>
            <a:off x="5242145" y="2366860"/>
            <a:ext cx="1505727" cy="1616810"/>
          </a:xfrm>
          <a:prstGeom prst="bentConnector3">
            <a:avLst>
              <a:gd name="adj1" fmla="val 6971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</p:cNvCxnSpPr>
          <p:nvPr/>
        </p:nvCxnSpPr>
        <p:spPr>
          <a:xfrm>
            <a:off x="5242144" y="2366860"/>
            <a:ext cx="1444372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形 3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1863" y="911921"/>
            <a:ext cx="686691" cy="677226"/>
          </a:xfrm>
          <a:prstGeom prst="rect">
            <a:avLst/>
          </a:prstGeom>
        </p:spPr>
      </p:pic>
      <p:grpSp>
        <p:nvGrpSpPr>
          <p:cNvPr id="448" name="组合 447"/>
          <p:cNvGrpSpPr/>
          <p:nvPr/>
        </p:nvGrpSpPr>
        <p:grpSpPr>
          <a:xfrm>
            <a:off x="6790005" y="2176360"/>
            <a:ext cx="570929" cy="518597"/>
            <a:chOff x="3957049" y="2239041"/>
            <a:chExt cx="570929" cy="518597"/>
          </a:xfrm>
        </p:grpSpPr>
        <p:pic>
          <p:nvPicPr>
            <p:cNvPr id="441" name="图形 44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8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593280" y="3696809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pic>
        <p:nvPicPr>
          <p:cNvPr id="3" name="图形 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4644" y="4227110"/>
            <a:ext cx="306076" cy="306076"/>
          </a:xfrm>
          <a:prstGeom prst="rect">
            <a:avLst/>
          </a:prstGeom>
        </p:spPr>
      </p:pic>
      <p:pic>
        <p:nvPicPr>
          <p:cNvPr id="4" name="图形 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52188" y="4230858"/>
            <a:ext cx="306076" cy="306076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5087" y="4227110"/>
            <a:ext cx="306076" cy="30607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93280" y="2147260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8" name="图形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09461" y="2666988"/>
            <a:ext cx="306076" cy="306076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584559" y="1016282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2" name="图形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1292" y="1520694"/>
            <a:ext cx="306076" cy="306076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03389" y="1520694"/>
            <a:ext cx="306076" cy="306076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03773" y="3620005"/>
            <a:ext cx="676800" cy="676800"/>
          </a:xfrm>
          <a:prstGeom prst="rect">
            <a:avLst/>
          </a:prstGeom>
        </p:spPr>
      </p:pic>
      <p:sp>
        <p:nvSpPr>
          <p:cNvPr id="28" name="箭头: 下 27"/>
          <p:cNvSpPr/>
          <p:nvPr/>
        </p:nvSpPr>
        <p:spPr>
          <a:xfrm rot="16200000">
            <a:off x="8850397" y="3575336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9509536" y="1016282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pic>
        <p:nvPicPr>
          <p:cNvPr id="32" name="图形 3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5357" y="1545351"/>
            <a:ext cx="306076" cy="306076"/>
          </a:xfrm>
          <a:prstGeom prst="rect">
            <a:avLst/>
          </a:prstGeom>
        </p:spPr>
      </p:pic>
      <p:pic>
        <p:nvPicPr>
          <p:cNvPr id="33" name="图形 3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62901" y="1549099"/>
            <a:ext cx="306076" cy="306076"/>
          </a:xfrm>
          <a:prstGeom prst="rect">
            <a:avLst/>
          </a:prstGeom>
        </p:spPr>
      </p:pic>
      <p:pic>
        <p:nvPicPr>
          <p:cNvPr id="35" name="图形 3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15800" y="1545351"/>
            <a:ext cx="306076" cy="306076"/>
          </a:xfrm>
          <a:prstGeom prst="rect">
            <a:avLst/>
          </a:prstGeom>
        </p:spPr>
      </p:pic>
      <p:pic>
        <p:nvPicPr>
          <p:cNvPr id="43" name="图形 4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6542" y="2685249"/>
            <a:ext cx="306076" cy="306076"/>
          </a:xfrm>
          <a:prstGeom prst="rect">
            <a:avLst/>
          </a:prstGeom>
        </p:spPr>
      </p:pic>
      <p:pic>
        <p:nvPicPr>
          <p:cNvPr id="44" name="图形 4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74086" y="2688997"/>
            <a:ext cx="306076" cy="306076"/>
          </a:xfrm>
          <a:prstGeom prst="rect">
            <a:avLst/>
          </a:prstGeom>
        </p:spPr>
      </p:pic>
      <p:pic>
        <p:nvPicPr>
          <p:cNvPr id="45" name="图形 4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6985" y="2685249"/>
            <a:ext cx="306076" cy="306076"/>
          </a:xfrm>
          <a:prstGeom prst="rect">
            <a:avLst/>
          </a:prstGeom>
        </p:spPr>
      </p:pic>
      <p:pic>
        <p:nvPicPr>
          <p:cNvPr id="50" name="图形 4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0653" y="4231266"/>
            <a:ext cx="306076" cy="306076"/>
          </a:xfrm>
          <a:prstGeom prst="rect">
            <a:avLst/>
          </a:prstGeom>
        </p:spPr>
      </p:pic>
      <p:pic>
        <p:nvPicPr>
          <p:cNvPr id="51" name="图形 5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58197" y="4235014"/>
            <a:ext cx="306076" cy="306076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11096" y="4231266"/>
            <a:ext cx="306076" cy="306076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11144993" y="1070837"/>
            <a:ext cx="691215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Max </a:t>
            </a:r>
            <a:endParaRPr lang="en-US" altLang="zh-CN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1738665" y="3098578"/>
            <a:ext cx="1775621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Masks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12302817" y="1200574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cxnSp>
        <p:nvCxnSpPr>
          <p:cNvPr id="56" name="连接符: 肘形 55"/>
          <p:cNvCxnSpPr/>
          <p:nvPr/>
        </p:nvCxnSpPr>
        <p:spPr>
          <a:xfrm flipV="1">
            <a:off x="10051331" y="1546213"/>
            <a:ext cx="2251487" cy="870910"/>
          </a:xfrm>
          <a:prstGeom prst="bentConnector3">
            <a:avLst>
              <a:gd name="adj1" fmla="val 28641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/>
          <p:cNvCxnSpPr>
            <a:stCxn id="425" idx="3"/>
            <a:endCxn id="391" idx="1"/>
          </p:cNvCxnSpPr>
          <p:nvPr/>
        </p:nvCxnSpPr>
        <p:spPr>
          <a:xfrm>
            <a:off x="10051330" y="2417124"/>
            <a:ext cx="2358240" cy="473459"/>
          </a:xfrm>
          <a:prstGeom prst="bentConnector3">
            <a:avLst>
              <a:gd name="adj1" fmla="val 27342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/>
          <p:cNvCxnSpPr>
            <a:stCxn id="29" idx="3"/>
          </p:cNvCxnSpPr>
          <p:nvPr/>
        </p:nvCxnSpPr>
        <p:spPr>
          <a:xfrm>
            <a:off x="10049475" y="1286283"/>
            <a:ext cx="200759" cy="1124493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/>
          <p:cNvCxnSpPr/>
          <p:nvPr/>
        </p:nvCxnSpPr>
        <p:spPr>
          <a:xfrm flipV="1">
            <a:off x="10039228" y="2417123"/>
            <a:ext cx="211649" cy="155384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1" name="表格 390"/>
          <p:cNvGraphicFramePr>
            <a:graphicFrameLocks noGrp="1"/>
          </p:cNvGraphicFramePr>
          <p:nvPr/>
        </p:nvGraphicFramePr>
        <p:xfrm>
          <a:off x="12409570" y="2665996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sp>
        <p:nvSpPr>
          <p:cNvPr id="404" name="箭头: 下 403"/>
          <p:cNvSpPr/>
          <p:nvPr/>
        </p:nvSpPr>
        <p:spPr>
          <a:xfrm rot="16200000">
            <a:off x="8850398" y="2025788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405" name="箭头: 下 404"/>
          <p:cNvSpPr/>
          <p:nvPr/>
        </p:nvSpPr>
        <p:spPr>
          <a:xfrm rot="16200000">
            <a:off x="8854558" y="894287"/>
            <a:ext cx="123223" cy="802481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425" name="表格 424"/>
          <p:cNvGraphicFramePr>
            <a:graphicFrameLocks noGrp="1"/>
          </p:cNvGraphicFramePr>
          <p:nvPr/>
        </p:nvGraphicFramePr>
        <p:xfrm>
          <a:off x="9511392" y="2147123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93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92549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9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26" name="图形 4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54571" y="862696"/>
            <a:ext cx="365031" cy="360000"/>
          </a:xfrm>
          <a:prstGeom prst="rect">
            <a:avLst/>
          </a:prstGeom>
        </p:spPr>
      </p:pic>
      <p:pic>
        <p:nvPicPr>
          <p:cNvPr id="436" name="图形 43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973423" y="936824"/>
            <a:ext cx="360000" cy="360000"/>
          </a:xfrm>
          <a:prstGeom prst="rect">
            <a:avLst/>
          </a:prstGeom>
        </p:spPr>
      </p:pic>
      <p:sp>
        <p:nvSpPr>
          <p:cNvPr id="437" name="文本框 436"/>
          <p:cNvSpPr txBox="1"/>
          <p:nvPr/>
        </p:nvSpPr>
        <p:spPr>
          <a:xfrm>
            <a:off x="8430676" y="962240"/>
            <a:ext cx="98616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38" name="文本框 437"/>
          <p:cNvSpPr txBox="1"/>
          <p:nvPr/>
        </p:nvSpPr>
        <p:spPr>
          <a:xfrm>
            <a:off x="8426028" y="2051066"/>
            <a:ext cx="98616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8453493" y="3625575"/>
            <a:ext cx="87235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Maintain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grpSp>
        <p:nvGrpSpPr>
          <p:cNvPr id="449" name="组合 448"/>
          <p:cNvGrpSpPr>
            <a:grpSpLocks noChangeAspect="1"/>
          </p:cNvGrpSpPr>
          <p:nvPr/>
        </p:nvGrpSpPr>
        <p:grpSpPr>
          <a:xfrm>
            <a:off x="12996260" y="1618781"/>
            <a:ext cx="356695" cy="324000"/>
            <a:chOff x="3957049" y="2239041"/>
            <a:chExt cx="570929" cy="518597"/>
          </a:xfrm>
        </p:grpSpPr>
        <p:pic>
          <p:nvPicPr>
            <p:cNvPr id="450" name="图形 44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451" name="任意多边形: 形状 450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52" name="图形 45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453" name="文本框 452"/>
          <p:cNvSpPr txBox="1"/>
          <p:nvPr/>
        </p:nvSpPr>
        <p:spPr>
          <a:xfrm>
            <a:off x="11759936" y="1896889"/>
            <a:ext cx="1807735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Parameters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63" name="表格 462"/>
          <p:cNvGraphicFramePr>
            <a:graphicFrameLocks noGrp="1"/>
          </p:cNvGraphicFramePr>
          <p:nvPr/>
        </p:nvGraphicFramePr>
        <p:xfrm>
          <a:off x="9521078" y="3696809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1473110" y="3795505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60000">
                          <a:srgbClr val="FFFDB8"/>
                        </a:gs>
                        <a:gs pos="40000">
                          <a:srgbClr val="BFE6D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C26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</a:tbl>
          </a:graphicData>
        </a:graphic>
      </p:graphicFrame>
      <p:pic>
        <p:nvPicPr>
          <p:cNvPr id="26" name="图形 2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15008" y="3619697"/>
            <a:ext cx="360000" cy="360000"/>
          </a:xfrm>
          <a:prstGeom prst="rect">
            <a:avLst/>
          </a:prstGeom>
        </p:spPr>
      </p:pic>
      <p:pic>
        <p:nvPicPr>
          <p:cNvPr id="30" name="图形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6625" y="3522757"/>
            <a:ext cx="365031" cy="360000"/>
          </a:xfrm>
          <a:prstGeom prst="rect">
            <a:avLst/>
          </a:prstGeom>
        </p:spPr>
      </p:pic>
      <p:grpSp>
        <p:nvGrpSpPr>
          <p:cNvPr id="31" name="组合 30"/>
          <p:cNvGrpSpPr>
            <a:grpSpLocks noChangeAspect="1"/>
          </p:cNvGrpSpPr>
          <p:nvPr/>
        </p:nvGrpSpPr>
        <p:grpSpPr>
          <a:xfrm>
            <a:off x="12180410" y="4324783"/>
            <a:ext cx="356695" cy="324000"/>
            <a:chOff x="3957049" y="2239041"/>
            <a:chExt cx="570929" cy="518597"/>
          </a:xfrm>
        </p:grpSpPr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7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42" name="图形 41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349525" y="4209106"/>
            <a:ext cx="502807" cy="502807"/>
          </a:xfrm>
          <a:prstGeom prst="rect">
            <a:avLst/>
          </a:prstGeom>
        </p:spPr>
      </p:pic>
      <p:cxnSp>
        <p:nvCxnSpPr>
          <p:cNvPr id="456" name="连接符: 肘形 455"/>
          <p:cNvCxnSpPr>
            <a:stCxn id="10" idx="3"/>
            <a:endCxn id="14" idx="2"/>
          </p:cNvCxnSpPr>
          <p:nvPr/>
        </p:nvCxnSpPr>
        <p:spPr>
          <a:xfrm>
            <a:off x="8124497" y="1286283"/>
            <a:ext cx="3685088" cy="3200501"/>
          </a:xfrm>
          <a:prstGeom prst="bentConnector4">
            <a:avLst>
              <a:gd name="adj1" fmla="val 5802"/>
              <a:gd name="adj2" fmla="val 107143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/>
          <p:cNvSpPr txBox="1"/>
          <p:nvPr/>
        </p:nvSpPr>
        <p:spPr>
          <a:xfrm>
            <a:off x="9488163" y="4711913"/>
            <a:ext cx="158652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  <a:sym typeface="微软雅黑" panose="020B0503020204020204" pitchFamily="34" charset="-122"/>
              </a:rPr>
              <a:t>Direct Max Fusion</a:t>
            </a:r>
            <a:endParaRPr lang="zh-CN" altLang="en-US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476" name="直接连接符 475"/>
          <p:cNvCxnSpPr>
            <a:stCxn id="7" idx="3"/>
          </p:cNvCxnSpPr>
          <p:nvPr/>
        </p:nvCxnSpPr>
        <p:spPr>
          <a:xfrm>
            <a:off x="8133219" y="2417260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连接符 478"/>
          <p:cNvCxnSpPr>
            <a:stCxn id="2" idx="3"/>
          </p:cNvCxnSpPr>
          <p:nvPr/>
        </p:nvCxnSpPr>
        <p:spPr>
          <a:xfrm>
            <a:off x="8133219" y="3966809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0895506" y="2405234"/>
            <a:ext cx="1183721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Masks</a:t>
            </a:r>
            <a:endParaRPr lang="en-US" altLang="zh-CN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Construction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30186" y="587838"/>
            <a:ext cx="1927237" cy="395325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76959" y="584943"/>
            <a:ext cx="1135247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(1) Scaling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467927" y="584943"/>
            <a:ext cx="3276817" cy="2844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03344" y="569880"/>
            <a:ext cx="3371879" cy="3289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(2) Fusion Parameters Construction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465071" y="1471091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645299" y="2757451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596280" y="2819776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979758" y="3323168"/>
            <a:ext cx="1721898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Masks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547261" y="2882101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pic>
        <p:nvPicPr>
          <p:cNvPr id="19" name="图形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8464" y="1134525"/>
            <a:ext cx="365031" cy="360000"/>
          </a:xfrm>
          <a:prstGeom prst="rect">
            <a:avLst/>
          </a:prstGeom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7316" y="1208653"/>
            <a:ext cx="360000" cy="360000"/>
          </a:xfrm>
          <a:prstGeom prst="rect">
            <a:avLst/>
          </a:prstGeom>
        </p:spPr>
      </p:pic>
      <p:grpSp>
        <p:nvGrpSpPr>
          <p:cNvPr id="23" name="组合 22"/>
          <p:cNvGrpSpPr>
            <a:grpSpLocks noChangeAspect="1"/>
          </p:cNvGrpSpPr>
          <p:nvPr/>
        </p:nvGrpSpPr>
        <p:grpSpPr>
          <a:xfrm>
            <a:off x="5170153" y="1890610"/>
            <a:ext cx="356695" cy="324000"/>
            <a:chOff x="3957049" y="2239041"/>
            <a:chExt cx="570929" cy="518597"/>
          </a:xfrm>
        </p:grpSpPr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26" name="任意多边形: 形状 25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30" name="文本框 29"/>
          <p:cNvSpPr txBox="1"/>
          <p:nvPr/>
        </p:nvSpPr>
        <p:spPr>
          <a:xfrm>
            <a:off x="3979758" y="2222606"/>
            <a:ext cx="1643578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Parameters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cxnSp>
        <p:nvCxnSpPr>
          <p:cNvPr id="31" name="连接符: 肘形 30"/>
          <p:cNvCxnSpPr>
            <a:stCxn id="2" idx="3"/>
            <a:endCxn id="48" idx="1"/>
          </p:cNvCxnSpPr>
          <p:nvPr/>
        </p:nvCxnSpPr>
        <p:spPr>
          <a:xfrm>
            <a:off x="5138021" y="1816731"/>
            <a:ext cx="2515230" cy="736407"/>
          </a:xfrm>
          <a:prstGeom prst="bentConnector3">
            <a:avLst>
              <a:gd name="adj1" fmla="val 7211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7653251" y="220749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sp>
        <p:nvSpPr>
          <p:cNvPr id="456" name="文本框 455"/>
          <p:cNvSpPr txBox="1"/>
          <p:nvPr/>
        </p:nvSpPr>
        <p:spPr>
          <a:xfrm>
            <a:off x="6886443" y="2240118"/>
            <a:ext cx="858223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Mask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63" name="表格 462"/>
          <p:cNvGraphicFramePr>
            <a:graphicFrameLocks noGrp="1"/>
          </p:cNvGraphicFramePr>
          <p:nvPr/>
        </p:nvGraphicFramePr>
        <p:xfrm>
          <a:off x="9249432" y="221682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64" name="箭头: 下 463"/>
          <p:cNvSpPr/>
          <p:nvPr/>
        </p:nvSpPr>
        <p:spPr>
          <a:xfrm rot="16200000">
            <a:off x="8712864" y="2192912"/>
            <a:ext cx="137597" cy="720446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sp>
        <p:nvSpPr>
          <p:cNvPr id="465" name="文本框 464"/>
          <p:cNvSpPr txBox="1"/>
          <p:nvPr/>
        </p:nvSpPr>
        <p:spPr>
          <a:xfrm>
            <a:off x="8386987" y="2240117"/>
            <a:ext cx="772070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sym typeface="微软雅黑" panose="020B0503020204020204" pitchFamily="34" charset="-122"/>
                <a:rtl val="0"/>
              </a:rPr>
              <a:t>Restore</a:t>
            </a:r>
            <a:endParaRPr lang="zh-CN" altLang="en-US" sz="14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466" name="Rectangle 1"/>
          <p:cNvSpPr>
            <a:spLocks noChangeArrowheads="1"/>
          </p:cNvSpPr>
          <p:nvPr/>
        </p:nvSpPr>
        <p:spPr bwMode="auto">
          <a:xfrm>
            <a:off x="9066605" y="1480423"/>
            <a:ext cx="1958761" cy="30777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protected void open() …</a:t>
            </a:r>
            <a:endParaRPr lang="en-US" altLang="zh-CN" sz="1400" dirty="0">
              <a:solidFill>
                <a:srgbClr val="067D17"/>
              </a:solidFill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</p:txBody>
      </p:sp>
      <p:cxnSp>
        <p:nvCxnSpPr>
          <p:cNvPr id="467" name="直接箭头连接符 466"/>
          <p:cNvCxnSpPr>
            <a:endCxn id="463" idx="0"/>
          </p:cNvCxnSpPr>
          <p:nvPr/>
        </p:nvCxnSpPr>
        <p:spPr>
          <a:xfrm>
            <a:off x="9585907" y="1788199"/>
            <a:ext cx="0" cy="42863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Rectangle 1"/>
          <p:cNvSpPr>
            <a:spLocks noChangeArrowheads="1"/>
          </p:cNvSpPr>
          <p:nvPr/>
        </p:nvSpPr>
        <p:spPr bwMode="auto">
          <a:xfrm>
            <a:off x="10157459" y="2408580"/>
            <a:ext cx="867907" cy="30777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yes or no</a:t>
            </a:r>
            <a:endParaRPr lang="en-US" altLang="zh-CN" sz="1400" dirty="0">
              <a:solidFill>
                <a:srgbClr val="067D17"/>
              </a:solidFill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</p:txBody>
      </p:sp>
      <p:cxnSp>
        <p:nvCxnSpPr>
          <p:cNvPr id="471" name="直接箭头连接符 470"/>
          <p:cNvCxnSpPr>
            <a:stCxn id="463" idx="3"/>
            <a:endCxn id="470" idx="1"/>
          </p:cNvCxnSpPr>
          <p:nvPr/>
        </p:nvCxnSpPr>
        <p:spPr>
          <a:xfrm>
            <a:off x="9922382" y="2562468"/>
            <a:ext cx="235076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341337" y="2812532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箭头连接符 11"/>
          <p:cNvCxnSpPr>
            <a:stCxn id="14" idx="3"/>
            <a:endCxn id="9" idx="1"/>
          </p:cNvCxnSpPr>
          <p:nvPr/>
        </p:nvCxnSpPr>
        <p:spPr>
          <a:xfrm flipV="1">
            <a:off x="5030091" y="3037118"/>
            <a:ext cx="1311247" cy="7244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064541" y="2564794"/>
            <a:ext cx="1280618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Vulnerability</a:t>
            </a:r>
            <a:endParaRPr lang="en-US" altLang="zh-CN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 Detection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cxnSp>
        <p:nvCxnSpPr>
          <p:cNvPr id="35" name="连接符: 肘形 34"/>
          <p:cNvCxnSpPr>
            <a:stCxn id="9" idx="3"/>
            <a:endCxn id="48" idx="1"/>
          </p:cNvCxnSpPr>
          <p:nvPr/>
        </p:nvCxnSpPr>
        <p:spPr>
          <a:xfrm flipV="1">
            <a:off x="6775147" y="2553138"/>
            <a:ext cx="878104" cy="483981"/>
          </a:xfrm>
          <a:prstGeom prst="bentConnector3">
            <a:avLst>
              <a:gd name="adj1" fmla="val 19917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270091" y="267900"/>
            <a:ext cx="7244008" cy="352552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270091" y="3905180"/>
            <a:ext cx="7244008" cy="27293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79422" y="3421297"/>
            <a:ext cx="1960808" cy="3627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Procedure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88277" y="6270370"/>
            <a:ext cx="3848325" cy="3627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Inference Procedure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0053" y="4011394"/>
            <a:ext cx="7024085" cy="2516872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352" y="375987"/>
            <a:ext cx="7185600" cy="33093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" name="表格 488"/>
          <p:cNvGraphicFramePr>
            <a:graphicFrameLocks noGrp="1"/>
          </p:cNvGraphicFramePr>
          <p:nvPr/>
        </p:nvGraphicFramePr>
        <p:xfrm>
          <a:off x="11458282" y="163124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5" name="表格 394"/>
          <p:cNvGraphicFramePr>
            <a:graphicFrameLocks noGrp="1"/>
          </p:cNvGraphicFramePr>
          <p:nvPr/>
        </p:nvGraphicFramePr>
        <p:xfrm>
          <a:off x="8513724" y="2460482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4" name="表格 393"/>
          <p:cNvGraphicFramePr>
            <a:graphicFrameLocks noGrp="1"/>
          </p:cNvGraphicFramePr>
          <p:nvPr/>
        </p:nvGraphicFramePr>
        <p:xfrm>
          <a:off x="8464705" y="2522807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241391" y="3094352"/>
            <a:ext cx="364202" cy="3270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1" dirty="0"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1400" b="1" dirty="0"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58040" y="1495695"/>
            <a:ext cx="11440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Search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844867" y="2619667"/>
            <a:ext cx="1167435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Vulnerability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Detection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84080" y="4197698"/>
            <a:ext cx="1353769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Summarization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716515" y="1973505"/>
            <a:ext cx="925254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Fine-tune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520084" y="2618760"/>
            <a:ext cx="1638910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Pre-Train Model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266" y="1965595"/>
            <a:ext cx="640800" cy="640800"/>
          </a:xfrm>
          <a:prstGeom prst="rect">
            <a:avLst/>
          </a:prstGeom>
        </p:spPr>
      </p:pic>
      <p:cxnSp>
        <p:nvCxnSpPr>
          <p:cNvPr id="411" name="连接符: 肘形 410"/>
          <p:cNvCxnSpPr>
            <a:stCxn id="398" idx="3"/>
            <a:endCxn id="34" idx="1"/>
          </p:cNvCxnSpPr>
          <p:nvPr/>
        </p:nvCxnSpPr>
        <p:spPr>
          <a:xfrm flipV="1">
            <a:off x="1698066" y="1169669"/>
            <a:ext cx="1459718" cy="1116326"/>
          </a:xfrm>
          <a:prstGeom prst="bentConnector3">
            <a:avLst>
              <a:gd name="adj1" fmla="val 71847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连接符: 肘形 411"/>
          <p:cNvCxnSpPr>
            <a:stCxn id="398" idx="3"/>
          </p:cNvCxnSpPr>
          <p:nvPr/>
        </p:nvCxnSpPr>
        <p:spPr>
          <a:xfrm>
            <a:off x="1698067" y="2285995"/>
            <a:ext cx="1505727" cy="1616810"/>
          </a:xfrm>
          <a:prstGeom prst="bentConnector3">
            <a:avLst>
              <a:gd name="adj1" fmla="val 6971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</p:cNvCxnSpPr>
          <p:nvPr/>
        </p:nvCxnSpPr>
        <p:spPr>
          <a:xfrm>
            <a:off x="1698067" y="2285995"/>
            <a:ext cx="1444372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形 3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7786" y="831056"/>
            <a:ext cx="686691" cy="677226"/>
          </a:xfrm>
          <a:prstGeom prst="rect">
            <a:avLst/>
          </a:prstGeom>
        </p:spPr>
      </p:pic>
      <p:grpSp>
        <p:nvGrpSpPr>
          <p:cNvPr id="448" name="组合 447"/>
          <p:cNvGrpSpPr/>
          <p:nvPr/>
        </p:nvGrpSpPr>
        <p:grpSpPr>
          <a:xfrm>
            <a:off x="3245928" y="2095496"/>
            <a:ext cx="570929" cy="518597"/>
            <a:chOff x="3957049" y="2239041"/>
            <a:chExt cx="570929" cy="518597"/>
          </a:xfrm>
        </p:grpSpPr>
        <p:pic>
          <p:nvPicPr>
            <p:cNvPr id="441" name="图形 44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8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049203" y="3615944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pic>
        <p:nvPicPr>
          <p:cNvPr id="3" name="图形 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90566" y="4146245"/>
            <a:ext cx="306076" cy="306076"/>
          </a:xfrm>
          <a:prstGeom prst="rect">
            <a:avLst/>
          </a:prstGeom>
        </p:spPr>
      </p:pic>
      <p:pic>
        <p:nvPicPr>
          <p:cNvPr id="4" name="图形 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08110" y="4149993"/>
            <a:ext cx="306076" cy="306076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61009" y="4146245"/>
            <a:ext cx="306076" cy="30607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49203" y="2066395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8" name="图形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5383" y="2586123"/>
            <a:ext cx="306076" cy="306076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040482" y="935417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2" name="图形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77214" y="1439829"/>
            <a:ext cx="306076" cy="306076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59311" y="1439829"/>
            <a:ext cx="306076" cy="306076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59695" y="3539140"/>
            <a:ext cx="676800" cy="676800"/>
          </a:xfrm>
          <a:prstGeom prst="rect">
            <a:avLst/>
          </a:prstGeom>
        </p:spPr>
      </p:pic>
      <p:sp>
        <p:nvSpPr>
          <p:cNvPr id="28" name="箭头: 下 27"/>
          <p:cNvSpPr/>
          <p:nvPr/>
        </p:nvSpPr>
        <p:spPr>
          <a:xfrm rot="16200000">
            <a:off x="5306320" y="3494471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5965459" y="935417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pic>
        <p:nvPicPr>
          <p:cNvPr id="32" name="图形 3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01279" y="1464486"/>
            <a:ext cx="306076" cy="306076"/>
          </a:xfrm>
          <a:prstGeom prst="rect">
            <a:avLst/>
          </a:prstGeom>
        </p:spPr>
      </p:pic>
      <p:pic>
        <p:nvPicPr>
          <p:cNvPr id="33" name="图形 3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8823" y="1468234"/>
            <a:ext cx="306076" cy="306076"/>
          </a:xfrm>
          <a:prstGeom prst="rect">
            <a:avLst/>
          </a:prstGeom>
        </p:spPr>
      </p:pic>
      <p:pic>
        <p:nvPicPr>
          <p:cNvPr id="35" name="图形 3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71722" y="1464486"/>
            <a:ext cx="306076" cy="306076"/>
          </a:xfrm>
          <a:prstGeom prst="rect">
            <a:avLst/>
          </a:prstGeom>
        </p:spPr>
      </p:pic>
      <p:pic>
        <p:nvPicPr>
          <p:cNvPr id="43" name="图形 4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12464" y="2604384"/>
            <a:ext cx="306076" cy="306076"/>
          </a:xfrm>
          <a:prstGeom prst="rect">
            <a:avLst/>
          </a:prstGeom>
        </p:spPr>
      </p:pic>
      <p:pic>
        <p:nvPicPr>
          <p:cNvPr id="44" name="图形 4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0008" y="2608132"/>
            <a:ext cx="306076" cy="306076"/>
          </a:xfrm>
          <a:prstGeom prst="rect">
            <a:avLst/>
          </a:prstGeom>
        </p:spPr>
      </p:pic>
      <p:pic>
        <p:nvPicPr>
          <p:cNvPr id="45" name="图形 4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2907" y="2604384"/>
            <a:ext cx="306076" cy="306076"/>
          </a:xfrm>
          <a:prstGeom prst="rect">
            <a:avLst/>
          </a:prstGeom>
        </p:spPr>
      </p:pic>
      <p:pic>
        <p:nvPicPr>
          <p:cNvPr id="50" name="图形 4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575" y="4150401"/>
            <a:ext cx="306076" cy="306076"/>
          </a:xfrm>
          <a:prstGeom prst="rect">
            <a:avLst/>
          </a:prstGeom>
        </p:spPr>
      </p:pic>
      <p:pic>
        <p:nvPicPr>
          <p:cNvPr id="51" name="图形 5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4119" y="4154149"/>
            <a:ext cx="306076" cy="306076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7018" y="4150401"/>
            <a:ext cx="306076" cy="306076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6970006" y="958448"/>
            <a:ext cx="1408515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Max</a:t>
            </a:r>
            <a:endParaRPr lang="en-US" altLang="zh-CN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693981" y="3017714"/>
            <a:ext cx="1775621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Masks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370436" y="111970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cxnSp>
        <p:nvCxnSpPr>
          <p:cNvPr id="56" name="连接符: 肘形 55"/>
          <p:cNvCxnSpPr/>
          <p:nvPr/>
        </p:nvCxnSpPr>
        <p:spPr>
          <a:xfrm flipV="1">
            <a:off x="6506845" y="1465580"/>
            <a:ext cx="1863725" cy="870585"/>
          </a:xfrm>
          <a:prstGeom prst="bentConnector3">
            <a:avLst>
              <a:gd name="adj1" fmla="val 31959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/>
          <p:cNvCxnSpPr>
            <a:stCxn id="425" idx="3"/>
            <a:endCxn id="391" idx="1"/>
          </p:cNvCxnSpPr>
          <p:nvPr/>
        </p:nvCxnSpPr>
        <p:spPr>
          <a:xfrm>
            <a:off x="6507254" y="2336259"/>
            <a:ext cx="1908433" cy="475647"/>
          </a:xfrm>
          <a:prstGeom prst="bentConnector3">
            <a:avLst>
              <a:gd name="adj1" fmla="val 31231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/>
          <p:cNvCxnSpPr>
            <a:stCxn id="29" idx="3"/>
          </p:cNvCxnSpPr>
          <p:nvPr/>
        </p:nvCxnSpPr>
        <p:spPr>
          <a:xfrm>
            <a:off x="6505398" y="1205419"/>
            <a:ext cx="200759" cy="1124493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/>
          <p:cNvCxnSpPr/>
          <p:nvPr/>
        </p:nvCxnSpPr>
        <p:spPr>
          <a:xfrm flipV="1">
            <a:off x="6495151" y="2336258"/>
            <a:ext cx="211649" cy="155384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1" name="表格 390"/>
          <p:cNvGraphicFramePr>
            <a:graphicFrameLocks noGrp="1"/>
          </p:cNvGraphicFramePr>
          <p:nvPr/>
        </p:nvGraphicFramePr>
        <p:xfrm>
          <a:off x="8415687" y="2585132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sp>
        <p:nvSpPr>
          <p:cNvPr id="404" name="箭头: 下 403"/>
          <p:cNvSpPr/>
          <p:nvPr/>
        </p:nvSpPr>
        <p:spPr>
          <a:xfrm rot="16200000">
            <a:off x="5306320" y="1944923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405" name="箭头: 下 404"/>
          <p:cNvSpPr/>
          <p:nvPr/>
        </p:nvSpPr>
        <p:spPr>
          <a:xfrm rot="16200000">
            <a:off x="5310481" y="813423"/>
            <a:ext cx="123223" cy="802481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425" name="表格 424"/>
          <p:cNvGraphicFramePr>
            <a:graphicFrameLocks noGrp="1"/>
          </p:cNvGraphicFramePr>
          <p:nvPr/>
        </p:nvGraphicFramePr>
        <p:xfrm>
          <a:off x="5967315" y="2066259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93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92549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9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26" name="图形 4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2190" y="781831"/>
            <a:ext cx="365031" cy="360000"/>
          </a:xfrm>
          <a:prstGeom prst="rect">
            <a:avLst/>
          </a:prstGeom>
        </p:spPr>
      </p:pic>
      <p:pic>
        <p:nvPicPr>
          <p:cNvPr id="436" name="图形 43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41042" y="855959"/>
            <a:ext cx="360000" cy="360000"/>
          </a:xfrm>
          <a:prstGeom prst="rect">
            <a:avLst/>
          </a:prstGeom>
        </p:spPr>
      </p:pic>
      <p:sp>
        <p:nvSpPr>
          <p:cNvPr id="437" name="文本框 436"/>
          <p:cNvSpPr txBox="1"/>
          <p:nvPr/>
        </p:nvSpPr>
        <p:spPr>
          <a:xfrm>
            <a:off x="4886598" y="881375"/>
            <a:ext cx="986168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38" name="文本框 437"/>
          <p:cNvSpPr txBox="1"/>
          <p:nvPr/>
        </p:nvSpPr>
        <p:spPr>
          <a:xfrm>
            <a:off x="4881949" y="1970201"/>
            <a:ext cx="986168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4909416" y="3544710"/>
            <a:ext cx="87235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Maintain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grpSp>
        <p:nvGrpSpPr>
          <p:cNvPr id="449" name="组合 448"/>
          <p:cNvGrpSpPr>
            <a:grpSpLocks noChangeAspect="1"/>
          </p:cNvGrpSpPr>
          <p:nvPr/>
        </p:nvGrpSpPr>
        <p:grpSpPr>
          <a:xfrm>
            <a:off x="9063880" y="1537916"/>
            <a:ext cx="356695" cy="324000"/>
            <a:chOff x="3957049" y="2239041"/>
            <a:chExt cx="570929" cy="518597"/>
          </a:xfrm>
        </p:grpSpPr>
        <p:pic>
          <p:nvPicPr>
            <p:cNvPr id="450" name="图形 44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451" name="任意多边形: 形状 450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52" name="图形 45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453" name="文本框 452"/>
          <p:cNvSpPr txBox="1"/>
          <p:nvPr/>
        </p:nvSpPr>
        <p:spPr>
          <a:xfrm>
            <a:off x="7760866" y="1816024"/>
            <a:ext cx="1807735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Parameters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63" name="表格 462"/>
          <p:cNvGraphicFramePr>
            <a:graphicFrameLocks noGrp="1"/>
          </p:cNvGraphicFramePr>
          <p:nvPr/>
        </p:nvGraphicFramePr>
        <p:xfrm>
          <a:off x="5977001" y="3615944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929032" y="3714640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60000">
                          <a:srgbClr val="FFFDB8"/>
                        </a:gs>
                        <a:gs pos="40000">
                          <a:srgbClr val="BFE6D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C26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</a:tbl>
          </a:graphicData>
        </a:graphic>
      </p:graphicFrame>
      <p:pic>
        <p:nvPicPr>
          <p:cNvPr id="26" name="图形 2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70930" y="3538832"/>
            <a:ext cx="360000" cy="360000"/>
          </a:xfrm>
          <a:prstGeom prst="rect">
            <a:avLst/>
          </a:prstGeom>
        </p:spPr>
      </p:pic>
      <p:pic>
        <p:nvPicPr>
          <p:cNvPr id="30" name="图形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2547" y="3441892"/>
            <a:ext cx="365031" cy="360000"/>
          </a:xfrm>
          <a:prstGeom prst="rect">
            <a:avLst/>
          </a:prstGeom>
        </p:spPr>
      </p:pic>
      <p:grpSp>
        <p:nvGrpSpPr>
          <p:cNvPr id="31" name="组合 30"/>
          <p:cNvGrpSpPr>
            <a:grpSpLocks noChangeAspect="1"/>
          </p:cNvGrpSpPr>
          <p:nvPr/>
        </p:nvGrpSpPr>
        <p:grpSpPr>
          <a:xfrm>
            <a:off x="8636333" y="4243918"/>
            <a:ext cx="356695" cy="324000"/>
            <a:chOff x="3957049" y="2239041"/>
            <a:chExt cx="570929" cy="518597"/>
          </a:xfrm>
        </p:grpSpPr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7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42" name="图形 41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05448" y="4128241"/>
            <a:ext cx="502807" cy="502807"/>
          </a:xfrm>
          <a:prstGeom prst="rect">
            <a:avLst/>
          </a:prstGeom>
        </p:spPr>
      </p:pic>
      <p:cxnSp>
        <p:nvCxnSpPr>
          <p:cNvPr id="456" name="连接符: 肘形 455"/>
          <p:cNvCxnSpPr>
            <a:stCxn id="10" idx="3"/>
            <a:endCxn id="14" idx="2"/>
          </p:cNvCxnSpPr>
          <p:nvPr/>
        </p:nvCxnSpPr>
        <p:spPr>
          <a:xfrm>
            <a:off x="4580419" y="1205419"/>
            <a:ext cx="3685088" cy="3200501"/>
          </a:xfrm>
          <a:prstGeom prst="bentConnector4">
            <a:avLst>
              <a:gd name="adj1" fmla="val 5802"/>
              <a:gd name="adj2" fmla="val 107143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/>
          <p:cNvSpPr txBox="1"/>
          <p:nvPr/>
        </p:nvSpPr>
        <p:spPr>
          <a:xfrm>
            <a:off x="5944086" y="4631049"/>
            <a:ext cx="158652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  <a:sym typeface="微软雅黑" panose="020B0503020204020204" pitchFamily="34" charset="-122"/>
              </a:rPr>
              <a:t>Direct Max Fusion</a:t>
            </a:r>
            <a:endParaRPr lang="zh-CN" altLang="en-US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476" name="直接连接符 475"/>
          <p:cNvCxnSpPr>
            <a:stCxn id="7" idx="3"/>
          </p:cNvCxnSpPr>
          <p:nvPr/>
        </p:nvCxnSpPr>
        <p:spPr>
          <a:xfrm>
            <a:off x="4589141" y="2336395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连接符 478"/>
          <p:cNvCxnSpPr>
            <a:stCxn id="2" idx="3"/>
          </p:cNvCxnSpPr>
          <p:nvPr/>
        </p:nvCxnSpPr>
        <p:spPr>
          <a:xfrm>
            <a:off x="4589141" y="3885944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131920" y="2315709"/>
            <a:ext cx="1226347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Masks</a:t>
            </a:r>
            <a:endParaRPr lang="en-US" altLang="zh-CN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Construction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86109" y="506973"/>
            <a:ext cx="1927237" cy="395325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20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81206" y="514811"/>
            <a:ext cx="1135247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pPr algn="l"/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(1) Scaling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23850" y="504078"/>
            <a:ext cx="2525936" cy="2844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20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19683" y="514811"/>
            <a:ext cx="1147344" cy="3289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pPr algn="l"/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(2) Fusion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0085" y="402770"/>
            <a:ext cx="9063837" cy="452342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520084" y="405488"/>
            <a:ext cx="2427110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Procedure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59" name="表格 458"/>
          <p:cNvGraphicFramePr>
            <a:graphicFrameLocks noGrp="1"/>
          </p:cNvGraphicFramePr>
          <p:nvPr/>
        </p:nvGraphicFramePr>
        <p:xfrm>
          <a:off x="10314809" y="2589634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cxnSp>
        <p:nvCxnSpPr>
          <p:cNvPr id="461" name="直接箭头连接符 460"/>
          <p:cNvCxnSpPr>
            <a:endCxn id="459" idx="1"/>
          </p:cNvCxnSpPr>
          <p:nvPr/>
        </p:nvCxnSpPr>
        <p:spPr>
          <a:xfrm>
            <a:off x="9046614" y="2816408"/>
            <a:ext cx="1268195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矩形 464"/>
          <p:cNvSpPr/>
          <p:nvPr/>
        </p:nvSpPr>
        <p:spPr>
          <a:xfrm>
            <a:off x="9683110" y="402770"/>
            <a:ext cx="2793045" cy="454031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文本框 465"/>
          <p:cNvSpPr txBox="1"/>
          <p:nvPr/>
        </p:nvSpPr>
        <p:spPr>
          <a:xfrm>
            <a:off x="9675759" y="415337"/>
            <a:ext cx="2852224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Inference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pSp>
        <p:nvGrpSpPr>
          <p:cNvPr id="468" name="组合 467"/>
          <p:cNvGrpSpPr>
            <a:grpSpLocks noChangeAspect="1"/>
          </p:cNvGrpSpPr>
          <p:nvPr/>
        </p:nvGrpSpPr>
        <p:grpSpPr>
          <a:xfrm>
            <a:off x="9837946" y="2483960"/>
            <a:ext cx="356695" cy="324000"/>
            <a:chOff x="3957049" y="2239041"/>
            <a:chExt cx="570929" cy="518597"/>
          </a:xfrm>
        </p:grpSpPr>
        <p:pic>
          <p:nvPicPr>
            <p:cNvPr id="469" name="图形 468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470" name="任意多边形: 形状 469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71" name="图形 47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cxnSp>
        <p:nvCxnSpPr>
          <p:cNvPr id="481" name="连接符: 肘形 480"/>
          <p:cNvCxnSpPr>
            <a:stCxn id="459" idx="3"/>
            <a:endCxn id="489" idx="1"/>
          </p:cNvCxnSpPr>
          <p:nvPr/>
        </p:nvCxnSpPr>
        <p:spPr>
          <a:xfrm flipV="1">
            <a:off x="10748619" y="1976887"/>
            <a:ext cx="709663" cy="839521"/>
          </a:xfrm>
          <a:prstGeom prst="bentConnector3">
            <a:avLst>
              <a:gd name="adj1" fmla="val 17281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文本框 503"/>
          <p:cNvSpPr txBox="1"/>
          <p:nvPr/>
        </p:nvSpPr>
        <p:spPr>
          <a:xfrm>
            <a:off x="10705184" y="1656674"/>
            <a:ext cx="858223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Mask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06" name="箭头: 下 505"/>
          <p:cNvSpPr/>
          <p:nvPr/>
        </p:nvSpPr>
        <p:spPr>
          <a:xfrm>
            <a:off x="11731203" y="2406379"/>
            <a:ext cx="119769" cy="807278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graphicFrame>
        <p:nvGraphicFramePr>
          <p:cNvPr id="507" name="表格 506"/>
          <p:cNvGraphicFramePr>
            <a:graphicFrameLocks noGrp="1"/>
          </p:cNvGraphicFramePr>
          <p:nvPr/>
        </p:nvGraphicFramePr>
        <p:xfrm>
          <a:off x="11458282" y="335022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08" name="文本框 507"/>
          <p:cNvSpPr txBox="1"/>
          <p:nvPr/>
        </p:nvSpPr>
        <p:spPr>
          <a:xfrm>
            <a:off x="11035792" y="2613513"/>
            <a:ext cx="791309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sym typeface="微软雅黑" panose="020B0503020204020204" pitchFamily="34" charset="-122"/>
                <a:rtl val="0"/>
              </a:rPr>
              <a:t>Restore</a:t>
            </a:r>
            <a:endParaRPr lang="zh-CN" altLang="en-US" sz="14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510" name="图形 509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26140" y="3503297"/>
            <a:ext cx="385141" cy="385141"/>
          </a:xfrm>
          <a:prstGeom prst="rect">
            <a:avLst/>
          </a:prstGeom>
        </p:spPr>
      </p:pic>
      <p:cxnSp>
        <p:nvCxnSpPr>
          <p:cNvPr id="511" name="连接符: 肘形 510"/>
          <p:cNvCxnSpPr>
            <a:stCxn id="55" idx="3"/>
            <a:endCxn id="489" idx="1"/>
          </p:cNvCxnSpPr>
          <p:nvPr/>
        </p:nvCxnSpPr>
        <p:spPr>
          <a:xfrm>
            <a:off x="9043386" y="1465348"/>
            <a:ext cx="2414896" cy="511539"/>
          </a:xfrm>
          <a:prstGeom prst="bentConnector3">
            <a:avLst>
              <a:gd name="adj1" fmla="val 75694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箭头连接符 395"/>
          <p:cNvCxnSpPr>
            <a:stCxn id="510" idx="3"/>
            <a:endCxn id="507" idx="1"/>
          </p:cNvCxnSpPr>
          <p:nvPr/>
        </p:nvCxnSpPr>
        <p:spPr>
          <a:xfrm>
            <a:off x="11111281" y="3695868"/>
            <a:ext cx="347001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文本框 401"/>
          <p:cNvSpPr txBox="1"/>
          <p:nvPr/>
        </p:nvSpPr>
        <p:spPr>
          <a:xfrm>
            <a:off x="10610292" y="3848450"/>
            <a:ext cx="616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</a:t>
            </a:r>
            <a:endParaRPr lang="zh-CN" altLang="en-US" sz="1200" dirty="0"/>
          </a:p>
        </p:txBody>
      </p:sp>
      <p:sp>
        <p:nvSpPr>
          <p:cNvPr id="403" name="Rectangle 1"/>
          <p:cNvSpPr>
            <a:spLocks noChangeArrowheads="1"/>
          </p:cNvSpPr>
          <p:nvPr/>
        </p:nvSpPr>
        <p:spPr bwMode="auto">
          <a:xfrm>
            <a:off x="11357133" y="4313282"/>
            <a:ext cx="867907" cy="30777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yes or no</a:t>
            </a:r>
            <a:endParaRPr lang="en-US" altLang="zh-CN" sz="1400" dirty="0">
              <a:solidFill>
                <a:srgbClr val="067D17"/>
              </a:solidFill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</p:txBody>
      </p:sp>
      <p:cxnSp>
        <p:nvCxnSpPr>
          <p:cNvPr id="406" name="直接箭头连接符 405"/>
          <p:cNvCxnSpPr>
            <a:stCxn id="507" idx="2"/>
            <a:endCxn id="403" idx="0"/>
          </p:cNvCxnSpPr>
          <p:nvPr/>
        </p:nvCxnSpPr>
        <p:spPr>
          <a:xfrm flipH="1">
            <a:off x="11791087" y="4041507"/>
            <a:ext cx="3670" cy="271775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9983196" y="3035860"/>
            <a:ext cx="1106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VD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  <a:rtl val="0"/>
              </a:rPr>
              <a:t>’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 mask</a:t>
            </a:r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5613400" y="200025"/>
            <a:ext cx="2763520" cy="7010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/>
              <a:t>从与训练模型微调得到多个任务特定</a:t>
            </a:r>
            <a:r>
              <a:rPr lang="zh-CN" altLang="en-US" sz="2000"/>
              <a:t>模型</a:t>
            </a:r>
            <a:endParaRPr lang="zh-CN" altLang="en-US" sz="2000"/>
          </a:p>
        </p:txBody>
      </p:sp>
      <p:sp>
        <p:nvSpPr>
          <p:cNvPr id="47" name="矩形 46"/>
          <p:cNvSpPr/>
          <p:nvPr/>
        </p:nvSpPr>
        <p:spPr>
          <a:xfrm>
            <a:off x="5613400" y="1315720"/>
            <a:ext cx="2763520" cy="7010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/>
              <a:t>将不同任务模型参数范围放缩到</a:t>
            </a:r>
            <a:r>
              <a:rPr lang="zh-CN" altLang="en-US" sz="2000"/>
              <a:t>同一尺度</a:t>
            </a:r>
            <a:endParaRPr lang="zh-CN" altLang="en-US" sz="2000"/>
          </a:p>
        </p:txBody>
      </p:sp>
      <p:sp>
        <p:nvSpPr>
          <p:cNvPr id="48" name="矩形 47"/>
          <p:cNvSpPr/>
          <p:nvPr/>
        </p:nvSpPr>
        <p:spPr>
          <a:xfrm>
            <a:off x="5613400" y="3547110"/>
            <a:ext cx="2763520" cy="7010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/>
              <a:t>为每个任务构造</a:t>
            </a:r>
            <a:r>
              <a:rPr lang="en-US" altLang="zh-CN" sz="2000"/>
              <a:t>1bit</a:t>
            </a:r>
            <a:r>
              <a:rPr lang="zh-CN" altLang="en-US" sz="2000"/>
              <a:t>参数保留</a:t>
            </a:r>
            <a:r>
              <a:rPr lang="zh-CN" altLang="en-US" sz="2000"/>
              <a:t>掩码</a:t>
            </a:r>
            <a:endParaRPr lang="zh-CN" altLang="en-US" sz="2000"/>
          </a:p>
        </p:txBody>
      </p:sp>
      <p:sp>
        <p:nvSpPr>
          <p:cNvPr id="61" name="矩形 60"/>
          <p:cNvSpPr/>
          <p:nvPr/>
        </p:nvSpPr>
        <p:spPr>
          <a:xfrm>
            <a:off x="5613400" y="2431415"/>
            <a:ext cx="2763520" cy="7010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/>
              <a:t>利用最大值融合得到融合</a:t>
            </a:r>
            <a:r>
              <a:rPr lang="zh-CN" altLang="en-US" sz="2000"/>
              <a:t>参数</a:t>
            </a:r>
            <a:endParaRPr lang="zh-CN" altLang="en-US" sz="2000"/>
          </a:p>
        </p:txBody>
      </p:sp>
      <p:sp>
        <p:nvSpPr>
          <p:cNvPr id="62" name="矩形 61"/>
          <p:cNvSpPr/>
          <p:nvPr/>
        </p:nvSpPr>
        <p:spPr>
          <a:xfrm>
            <a:off x="5613400" y="4662805"/>
            <a:ext cx="2763520" cy="10826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/>
              <a:t>推理时利用特定任务掩码从融合参数中</a:t>
            </a:r>
            <a:r>
              <a:rPr lang="zh-CN" altLang="en-US" sz="2000">
                <a:sym typeface="+mn-ea"/>
              </a:rPr>
              <a:t>取出</a:t>
            </a:r>
            <a:r>
              <a:rPr lang="zh-CN" altLang="en-US" sz="2000"/>
              <a:t>与任务相关的</a:t>
            </a:r>
            <a:r>
              <a:rPr lang="zh-CN" altLang="en-US" sz="2000"/>
              <a:t>参数</a:t>
            </a:r>
            <a:endParaRPr lang="zh-CN" altLang="en-US" sz="2000"/>
          </a:p>
        </p:txBody>
      </p:sp>
      <p:sp>
        <p:nvSpPr>
          <p:cNvPr id="63" name="矩形 62"/>
          <p:cNvSpPr/>
          <p:nvPr/>
        </p:nvSpPr>
        <p:spPr>
          <a:xfrm>
            <a:off x="5613400" y="6160135"/>
            <a:ext cx="2763520" cy="10826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/>
              <a:t>将取出的参数重放缩回原来</a:t>
            </a:r>
            <a:r>
              <a:rPr lang="zh-CN" altLang="en-US" sz="2000"/>
              <a:t>的尺度</a:t>
            </a:r>
            <a:endParaRPr lang="zh-CN" altLang="en-US" sz="2000"/>
          </a:p>
        </p:txBody>
      </p:sp>
      <p:sp>
        <p:nvSpPr>
          <p:cNvPr id="64" name="矩形 63"/>
          <p:cNvSpPr/>
          <p:nvPr/>
        </p:nvSpPr>
        <p:spPr>
          <a:xfrm>
            <a:off x="5613400" y="7657465"/>
            <a:ext cx="2763520" cy="10826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/>
              <a:t>用重放缩参数对特定任务进行</a:t>
            </a:r>
            <a:r>
              <a:rPr lang="zh-CN" altLang="en-US" sz="2000"/>
              <a:t>推理</a:t>
            </a:r>
            <a:endParaRPr lang="zh-CN" altLang="en-US" sz="2000"/>
          </a:p>
        </p:txBody>
      </p:sp>
      <p:cxnSp>
        <p:nvCxnSpPr>
          <p:cNvPr id="65" name="直接箭头连接符 64"/>
          <p:cNvCxnSpPr>
            <a:stCxn id="27" idx="2"/>
            <a:endCxn id="47" idx="0"/>
          </p:cNvCxnSpPr>
          <p:nvPr/>
        </p:nvCxnSpPr>
        <p:spPr>
          <a:xfrm>
            <a:off x="6995160" y="901065"/>
            <a:ext cx="0" cy="41465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endCxn id="61" idx="0"/>
          </p:cNvCxnSpPr>
          <p:nvPr/>
        </p:nvCxnSpPr>
        <p:spPr>
          <a:xfrm>
            <a:off x="6995160" y="2016760"/>
            <a:ext cx="0" cy="41465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61" idx="2"/>
            <a:endCxn id="48" idx="0"/>
          </p:cNvCxnSpPr>
          <p:nvPr/>
        </p:nvCxnSpPr>
        <p:spPr>
          <a:xfrm>
            <a:off x="6995160" y="3132455"/>
            <a:ext cx="0" cy="41465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48" idx="2"/>
            <a:endCxn id="62" idx="0"/>
          </p:cNvCxnSpPr>
          <p:nvPr/>
        </p:nvCxnSpPr>
        <p:spPr>
          <a:xfrm>
            <a:off x="6995160" y="4248150"/>
            <a:ext cx="0" cy="41465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62" idx="2"/>
            <a:endCxn id="63" idx="0"/>
          </p:cNvCxnSpPr>
          <p:nvPr/>
        </p:nvCxnSpPr>
        <p:spPr>
          <a:xfrm>
            <a:off x="6995160" y="5745480"/>
            <a:ext cx="0" cy="41465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3" idx="2"/>
            <a:endCxn id="64" idx="0"/>
          </p:cNvCxnSpPr>
          <p:nvPr/>
        </p:nvCxnSpPr>
        <p:spPr>
          <a:xfrm>
            <a:off x="6995160" y="7242810"/>
            <a:ext cx="0" cy="41465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烟灰色玻璃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WPS 演示</Application>
  <PresentationFormat>自定义</PresentationFormat>
  <Paragraphs>175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</vt:lpstr>
      <vt:lpstr>Times New Roman</vt:lpstr>
      <vt:lpstr>JetBrains Mono</vt:lpstr>
      <vt:lpstr>Segoe Print</vt:lpstr>
      <vt:lpstr>等线</vt:lpstr>
      <vt:lpstr>Calibri</vt:lpstr>
      <vt:lpstr>Arial Unicode MS</vt:lpstr>
      <vt:lpstr>等线 Light</vt:lpstr>
      <vt:lpstr>Calibri Light</vt:lpstr>
      <vt:lpstr>夏雨家 https://xnwe.taobao.com/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钢</cp:lastModifiedBy>
  <cp:revision>843</cp:revision>
  <dcterms:created xsi:type="dcterms:W3CDTF">2024-11-06T01:21:00Z</dcterms:created>
  <dcterms:modified xsi:type="dcterms:W3CDTF">2026-04-14T10:47:50Z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872E2A01CFB04B0BA55A5A263932DB32_12</vt:lpwstr>
  </property>
  <property fmtid="{D5CDD505-2E9C-101B-9397-08002B2CF9AE}" pid="3" name="KSOProductBuildVer">
    <vt:lpwstr>2052-12.1.0.21915</vt:lpwstr>
  </property>
</Properties>
</file>