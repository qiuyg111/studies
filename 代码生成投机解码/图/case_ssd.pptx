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A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EED968A-3029-4854-BB80-41A9D0042664}"/>
              </a:ext>
            </a:extLst>
          </p:cNvPr>
          <p:cNvGrpSpPr/>
          <p:nvPr/>
        </p:nvGrpSpPr>
        <p:grpSpPr>
          <a:xfrm>
            <a:off x="3225800" y="761365"/>
            <a:ext cx="5208905" cy="4870450"/>
            <a:chOff x="3225800" y="761365"/>
            <a:chExt cx="5208905" cy="4870450"/>
          </a:xfrm>
        </p:grpSpPr>
        <p:sp>
          <p:nvSpPr>
            <p:cNvPr id="18" name="矩形 17"/>
            <p:cNvSpPr/>
            <p:nvPr/>
          </p:nvSpPr>
          <p:spPr>
            <a:xfrm>
              <a:off x="3347720" y="3557905"/>
              <a:ext cx="1361440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5925185" y="3562985"/>
              <a:ext cx="45974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3347720" y="3766185"/>
              <a:ext cx="803910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4375785" y="3765550"/>
              <a:ext cx="1213485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926455" y="3765550"/>
              <a:ext cx="98806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3347720" y="3973830"/>
              <a:ext cx="1699260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145405" y="3975735"/>
              <a:ext cx="23495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5790565" y="3975735"/>
              <a:ext cx="714375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3347720" y="4181360"/>
              <a:ext cx="568960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347720" y="4389005"/>
              <a:ext cx="80454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4375785" y="4388485"/>
              <a:ext cx="1756410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372860" y="4388485"/>
              <a:ext cx="541020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3347720" y="4596650"/>
              <a:ext cx="179768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249545" y="4596130"/>
              <a:ext cx="1339215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7007225" y="4596130"/>
              <a:ext cx="233045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347720" y="4804295"/>
              <a:ext cx="56832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3347720" y="5011940"/>
              <a:ext cx="156781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6" name="矩形 35"/>
            <p:cNvSpPr/>
            <p:nvPr/>
          </p:nvSpPr>
          <p:spPr>
            <a:xfrm>
              <a:off x="5146040" y="5011420"/>
              <a:ext cx="859790" cy="2088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7" name="矩形 36"/>
            <p:cNvSpPr/>
            <p:nvPr/>
          </p:nvSpPr>
          <p:spPr>
            <a:xfrm>
              <a:off x="3347720" y="5219585"/>
              <a:ext cx="111125" cy="20828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6650990" y="3975735"/>
              <a:ext cx="589280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7F1DCA3-D1F6-9450-0AD4-0C5A063D8CF8}"/>
                </a:ext>
              </a:extLst>
            </p:cNvPr>
            <p:cNvSpPr/>
            <p:nvPr/>
          </p:nvSpPr>
          <p:spPr>
            <a:xfrm>
              <a:off x="5009197" y="3562985"/>
              <a:ext cx="682943" cy="208915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3225800" y="761365"/>
              <a:ext cx="5208270" cy="4870450"/>
            </a:xfrm>
            <a:prstGeom prst="roundRect">
              <a:avLst>
                <a:gd name="adj" fmla="val 1954"/>
              </a:avLst>
            </a:prstGeom>
            <a:noFill/>
            <a:ln w="1905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54705" y="882333"/>
              <a:ext cx="5080000" cy="4570095"/>
            </a:xfrm>
            <a:prstGeom prst="rect">
              <a:avLst/>
            </a:prstGeom>
          </p:spPr>
          <p:txBody>
            <a:bodyPr lIns="0" tIns="0" rIns="0" bIns="0" anchor="ctr" anchorCtr="0">
              <a:spAutoFit/>
            </a:bodyPr>
            <a:lstStyle/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#include </a:t>
              </a:r>
              <a:r>
                <a:rPr lang="en-US" altLang="zh-CN" sz="1600" b="0" dirty="0">
                  <a:solidFill>
                    <a:srgbClr val="A31515"/>
                  </a:solidFill>
                  <a:latin typeface="Consolas" panose="020B0609020204030204"/>
                  <a:ea typeface="Consolas" panose="020B0609020204030204"/>
                </a:rPr>
                <a:t>&lt;bits/</a:t>
              </a:r>
              <a:r>
                <a:rPr lang="en-US" altLang="zh-CN" sz="1600" b="0" dirty="0" err="1">
                  <a:solidFill>
                    <a:srgbClr val="A31515"/>
                  </a:solidFill>
                  <a:latin typeface="Consolas" panose="020B0609020204030204"/>
                  <a:ea typeface="Consolas" panose="020B0609020204030204"/>
                </a:rPr>
                <a:t>stdc</a:t>
              </a:r>
              <a:r>
                <a:rPr lang="en-US" altLang="zh-CN" sz="1600" b="0" dirty="0">
                  <a:solidFill>
                    <a:srgbClr val="A31515"/>
                  </a:solidFill>
                  <a:latin typeface="Consolas" panose="020B0609020204030204"/>
                  <a:ea typeface="Consolas" panose="020B0609020204030204"/>
                </a:rPr>
                <a:t>++.h&gt;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using 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namespace </a:t>
              </a:r>
              <a:r>
                <a:rPr lang="en-US" altLang="zh-CN" sz="1600" b="0" dirty="0">
                  <a:solidFill>
                    <a:srgbClr val="267F99"/>
                  </a:solidFill>
                  <a:latin typeface="Consolas" panose="020B0609020204030204"/>
                  <a:ea typeface="Consolas" panose="020B0609020204030204"/>
                </a:rPr>
                <a:t>std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/**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Write a </a:t>
              </a:r>
              <a:r>
                <a:rPr lang="en-US" altLang="zh-CN" sz="1600" b="0" dirty="0" err="1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c++</a:t>
              </a: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 function to check whether the sum of divisors are same or not.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</a:t>
              </a:r>
              <a:r>
                <a:rPr lang="en-US" altLang="zh-CN" sz="1600" b="0" dirty="0" err="1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(36, 57)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</a:t>
              </a:r>
              <a:r>
                <a:rPr lang="en-US" altLang="zh-CN" sz="1600" b="0" dirty="0" err="1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(2, 4)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false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&gt; </a:t>
              </a:r>
              <a:r>
                <a:rPr lang="en-US" altLang="zh-CN" sz="1600" b="0" dirty="0" err="1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(23, 47)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 true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8000"/>
                  </a:solidFill>
                  <a:latin typeface="Consolas" panose="020B0609020204030204"/>
                  <a:ea typeface="Consolas" panose="020B0609020204030204"/>
                </a:rPr>
                <a:t> */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bool </a:t>
              </a:r>
              <a:r>
                <a:rPr lang="en-US" altLang="zh-CN" sz="1600" b="0" dirty="0" err="1">
                  <a:solidFill>
                    <a:srgbClr val="795E26"/>
                  </a:solidFill>
                  <a:latin typeface="Consolas" panose="020B0609020204030204"/>
                  <a:ea typeface="Consolas" panose="020B0609020204030204"/>
                </a:rPr>
                <a:t>areequivalent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(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,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 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num1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for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 dirty="0">
                  <a:solidFill>
                    <a:srgbClr val="0000FF"/>
                  </a:solidFill>
                  <a:latin typeface="Consolas" panose="020B0609020204030204"/>
                  <a:ea typeface="Consolas" panose="020B0609020204030204"/>
                </a:rPr>
                <a:t>int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1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&lt;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++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{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    </a:t>
              </a: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if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 (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num2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%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 dirty="0">
                  <a:solidFill>
                    <a:srgbClr val="098658"/>
                  </a:solidFill>
                  <a:latin typeface="Consolas" panose="020B0609020204030204"/>
                  <a:ea typeface="Consolas" panose="020B0609020204030204"/>
                </a:rPr>
                <a:t>0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)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+= </a:t>
              </a:r>
              <a:r>
                <a:rPr lang="en-US" altLang="zh-CN" sz="1600" b="0" dirty="0" err="1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i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}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    </a:t>
              </a:r>
              <a:r>
                <a:rPr lang="en-US" altLang="zh-CN" sz="1600" b="0" dirty="0">
                  <a:solidFill>
                    <a:srgbClr val="AF00DB"/>
                  </a:solidFill>
                  <a:latin typeface="Consolas" panose="020B0609020204030204"/>
                  <a:ea typeface="Consolas" panose="020B0609020204030204"/>
                </a:rPr>
                <a:t>return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sum1 </a:t>
              </a:r>
              <a:r>
                <a:rPr lang="en-US" altLang="zh-CN" sz="1600" b="0" dirty="0">
                  <a:solidFill>
                    <a:srgbClr val="000000"/>
                  </a:solidFill>
                  <a:latin typeface="Consolas" panose="020B0609020204030204"/>
                  <a:ea typeface="Consolas" panose="020B0609020204030204"/>
                </a:rPr>
                <a:t>== </a:t>
              </a:r>
              <a:r>
                <a:rPr lang="en-US" altLang="zh-CN" sz="1600" b="0" dirty="0">
                  <a:solidFill>
                    <a:srgbClr val="001080"/>
                  </a:solidFill>
                  <a:latin typeface="Consolas" panose="020B0609020204030204"/>
                  <a:ea typeface="Consolas" panose="020B0609020204030204"/>
                </a:rPr>
                <a:t>sum2</a:t>
              </a: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;</a:t>
              </a:r>
            </a:p>
            <a:p>
              <a:pPr>
                <a:lnSpc>
                  <a:spcPts val="1620"/>
                </a:lnSpc>
              </a:pPr>
              <a:r>
                <a:rPr lang="en-US" altLang="zh-CN" sz="1600" b="0" dirty="0">
                  <a:solidFill>
                    <a:srgbClr val="3B3B3B"/>
                  </a:solidFill>
                  <a:latin typeface="Consolas" panose="020B0609020204030204"/>
                  <a:ea typeface="Consolas" panose="020B0609020204030204"/>
                </a:rPr>
                <a:t>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盈钢 邱</cp:lastModifiedBy>
  <cp:revision>7</cp:revision>
  <dcterms:created xsi:type="dcterms:W3CDTF">2023-08-09T12:44:00Z</dcterms:created>
  <dcterms:modified xsi:type="dcterms:W3CDTF">2026-01-25T16:00:20Z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FA86EEB701A048A68792B1F375BAC7ED_12</vt:lpwstr>
  </property>
</Properties>
</file>