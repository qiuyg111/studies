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9"/>
  </p:notesMasterIdLst>
  <p:sldIdLst>
    <p:sldId id="321" r:id="rId2"/>
    <p:sldId id="407" r:id="rId3"/>
    <p:sldId id="389" r:id="rId4"/>
    <p:sldId id="390" r:id="rId5"/>
    <p:sldId id="391" r:id="rId6"/>
    <p:sldId id="392" r:id="rId7"/>
    <p:sldId id="393" r:id="rId8"/>
    <p:sldId id="398" r:id="rId9"/>
    <p:sldId id="394" r:id="rId10"/>
    <p:sldId id="399" r:id="rId11"/>
    <p:sldId id="400" r:id="rId12"/>
    <p:sldId id="401" r:id="rId13"/>
    <p:sldId id="402" r:id="rId14"/>
    <p:sldId id="395" r:id="rId15"/>
    <p:sldId id="405" r:id="rId16"/>
    <p:sldId id="406" r:id="rId17"/>
    <p:sldId id="365"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E43C"/>
    <a:srgbClr val="2A566E"/>
    <a:srgbClr val="268F9C"/>
    <a:srgbClr val="D71D49"/>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70" autoAdjust="0"/>
    <p:restoredTop sz="79058" autoAdjust="0"/>
  </p:normalViewPr>
  <p:slideViewPr>
    <p:cSldViewPr snapToGrid="0">
      <p:cViewPr varScale="1">
        <p:scale>
          <a:sx n="82" d="100"/>
          <a:sy n="82" d="100"/>
        </p:scale>
        <p:origin x="878" y="72"/>
      </p:cViewPr>
      <p:guideLst/>
    </p:cSldViewPr>
  </p:slideViewPr>
  <p:outlineViewPr>
    <p:cViewPr>
      <p:scale>
        <a:sx n="33" d="100"/>
        <a:sy n="33" d="100"/>
      </p:scale>
      <p:origin x="0" y="0"/>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20703-AF86-4F31-B9FB-F7B8355B7ACE}" type="datetimeFigureOut">
              <a:rPr lang="zh-CN" altLang="en-US" smtClean="0"/>
              <a:t>2025/8/24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741DC-E11E-424D-8624-63C2B9FB9B1B}" type="slidenum">
              <a:rPr lang="zh-CN" altLang="en-US" smtClean="0"/>
              <a:t>‹#›</a:t>
            </a:fld>
            <a:endParaRPr lang="zh-CN" altLang="en-US"/>
          </a:p>
        </p:txBody>
      </p:sp>
    </p:spTree>
    <p:extLst>
      <p:ext uri="{BB962C8B-B14F-4D97-AF65-F5344CB8AC3E}">
        <p14:creationId xmlns:p14="http://schemas.microsoft.com/office/powerpoint/2010/main" val="274726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26F91-231C-F436-C0FF-E58C781D02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D1F1DF-3D58-0A8D-7DE3-DEF525B1C3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228F2C-DAFE-AB42-D8B1-DBCDF4901560}"/>
              </a:ext>
            </a:extLst>
          </p:cNvPr>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a:extLst>
              <a:ext uri="{FF2B5EF4-FFF2-40B4-BE49-F238E27FC236}">
                <a16:creationId xmlns:a16="http://schemas.microsoft.com/office/drawing/2014/main" id="{719026B6-BDB9-0760-E274-F89F90DA5F13}"/>
              </a:ext>
            </a:extLst>
          </p:cNvPr>
          <p:cNvSpPr>
            <a:spLocks noGrp="1"/>
          </p:cNvSpPr>
          <p:nvPr>
            <p:ph type="sldNum" sz="quarter" idx="10"/>
          </p:nvPr>
        </p:nvSpPr>
        <p:spPr/>
        <p:txBody>
          <a:bodyPr/>
          <a:lstStyle/>
          <a:p>
            <a:fld id="{D34C0232-94FA-4EBE-BB9B-79FBE486032D}" type="slidenum">
              <a:rPr lang="zh-CN" altLang="en-US" smtClean="0"/>
              <a:t>1</a:t>
            </a:fld>
            <a:endParaRPr lang="zh-CN" altLang="en-US"/>
          </a:p>
        </p:txBody>
      </p:sp>
    </p:spTree>
    <p:extLst>
      <p:ext uri="{BB962C8B-B14F-4D97-AF65-F5344CB8AC3E}">
        <p14:creationId xmlns:p14="http://schemas.microsoft.com/office/powerpoint/2010/main" val="4288857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04257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09269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13546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31422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83702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43948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22370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46811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28461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33165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679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221040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90214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42035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17</a:t>
            </a:fld>
            <a:endParaRPr lang="zh-CN" altLang="en-US"/>
          </a:p>
        </p:txBody>
      </p:sp>
    </p:spTree>
    <p:extLst>
      <p:ext uri="{BB962C8B-B14F-4D97-AF65-F5344CB8AC3E}">
        <p14:creationId xmlns:p14="http://schemas.microsoft.com/office/powerpoint/2010/main" val="2958671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19991"/>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1874750"/>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过度页1">
    <p:spTree>
      <p:nvGrpSpPr>
        <p:cNvPr id="1" name=""/>
        <p:cNvGrpSpPr/>
        <p:nvPr/>
      </p:nvGrpSpPr>
      <p:grpSpPr>
        <a:xfrm>
          <a:off x="0" y="0"/>
          <a:ext cx="0" cy="0"/>
          <a:chOff x="0" y="0"/>
          <a:chExt cx="0" cy="0"/>
        </a:xfrm>
      </p:grpSpPr>
    </p:spTree>
    <p:extLst>
      <p:ext uri="{BB962C8B-B14F-4D97-AF65-F5344CB8AC3E}">
        <p14:creationId xmlns:p14="http://schemas.microsoft.com/office/powerpoint/2010/main" val="459787248"/>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927944760"/>
      </p:ext>
    </p:extLst>
  </p:cSld>
  <p:clrMapOvr>
    <a:masterClrMapping/>
  </p:clrMapOvr>
  <mc:AlternateContent xmlns:mc="http://schemas.openxmlformats.org/markup-compatibility/2006" xmlns:p14="http://schemas.microsoft.com/office/powerpoint/2010/main">
    <mc:Choice Requires="p14">
      <p:transition spd="slow" p14:dur="1600" advClick="0" advTm="5000">
        <p14:prism isInverted="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298023556"/>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491769650"/>
      </p:ext>
    </p:extLst>
  </p:cSld>
  <p:clrMapOvr>
    <a:masterClrMapping/>
  </p:clrMapOvr>
  <mc:AlternateContent xmlns:mc="http://schemas.openxmlformats.org/markup-compatibility/2006" xmlns:p14="http://schemas.microsoft.com/office/powerpoint/2010/main">
    <mc:Choice Requires="p14">
      <p:transition spd="slow" p14:dur="1250" advClick="0" advTm="5000">
        <p14:flip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560972404"/>
      </p:ext>
    </p:extLst>
  </p:cSld>
  <p:clrMapOvr>
    <a:masterClrMapping/>
  </p:clrMapOvr>
  <mc:AlternateContent xmlns:mc="http://schemas.openxmlformats.org/markup-compatibility/2006" xmlns:p14="http://schemas.microsoft.com/office/powerpoint/2010/main">
    <mc:Choice Requires="p14">
      <p:transition spd="slow" p14:dur="1600" advClick="0" advTm="5000">
        <p14:gallery dir="l"/>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19806"/>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权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074605"/>
      </p:ext>
    </p:extLst>
  </p:cSld>
  <p:clrMapOvr>
    <a:masterClrMapping/>
  </p:clrMapOvr>
  <mc:AlternateContent xmlns:mc="http://schemas.openxmlformats.org/markup-compatibility/2006" xmlns:p14="http://schemas.microsoft.com/office/powerpoint/2010/main">
    <mc:Choice Requires="p14">
      <p:transition spd="slow" p14:dur="1600" advClick="0" advTm="5000">
        <p:blinds dir="vert"/>
      </p:transition>
    </mc:Choice>
    <mc:Fallback xmlns="">
      <p:transition spd="slow" advClick="0" advTm="500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lIns="121917" tIns="60958" rIns="121917" bIns="60958"/>
          <a:lstStyle/>
          <a:p>
            <a:r>
              <a:rPr lang="zh-CN" altLang="en-US"/>
              <a:t>单击此处编辑母版标题样式</a:t>
            </a:r>
          </a:p>
        </p:txBody>
      </p:sp>
      <p:sp>
        <p:nvSpPr>
          <p:cNvPr id="3" name="日期占位符 2"/>
          <p:cNvSpPr>
            <a:spLocks noGrp="1"/>
          </p:cNvSpPr>
          <p:nvPr>
            <p:ph type="dt" sz="half" idx="10"/>
          </p:nvPr>
        </p:nvSpPr>
        <p:spPr>
          <a:xfrm>
            <a:off x="838200" y="6356351"/>
            <a:ext cx="2743200" cy="365125"/>
          </a:xfrm>
          <a:prstGeom prst="rect">
            <a:avLst/>
          </a:prstGeom>
        </p:spPr>
        <p:txBody>
          <a:bodyPr lIns="121917" tIns="60958" rIns="121917" bIns="60958"/>
          <a:lstStyle>
            <a:lvl1pPr>
              <a:defRPr/>
            </a:lvl1pPr>
          </a:lstStyle>
          <a:p>
            <a:fld id="{80F42DC0-2E3F-F440-A3AA-64F0AA1F84F2}" type="datetime1">
              <a:rPr lang="zh-CN" altLang="en-US"/>
              <a:t>2025/8/24</a:t>
            </a:fld>
            <a:endParaRPr lang="zh-CN" altLang="en-US" sz="1900">
              <a:solidFill>
                <a:schemeClr val="tx1"/>
              </a:solidFill>
            </a:endParaRPr>
          </a:p>
        </p:txBody>
      </p:sp>
      <p:sp>
        <p:nvSpPr>
          <p:cNvPr id="4" name="页脚占位符 3"/>
          <p:cNvSpPr>
            <a:spLocks noGrp="1"/>
          </p:cNvSpPr>
          <p:nvPr>
            <p:ph type="ftr" sz="quarter" idx="11"/>
          </p:nvPr>
        </p:nvSpPr>
        <p:spPr>
          <a:xfrm>
            <a:off x="4038600" y="6356351"/>
            <a:ext cx="4114800" cy="365125"/>
          </a:xfrm>
          <a:prstGeom prst="rect">
            <a:avLst/>
          </a:prstGeom>
        </p:spPr>
        <p:txBody>
          <a:bodyPr lIns="121917" tIns="60958" rIns="121917" bIns="60958"/>
          <a:lstStyle>
            <a:lvl1pPr>
              <a:defRPr/>
            </a:lvl1pPr>
          </a:lstStyle>
          <a:p>
            <a:endParaRPr lang="zh-CN" altLang="zh-CN"/>
          </a:p>
        </p:txBody>
      </p:sp>
      <p:sp>
        <p:nvSpPr>
          <p:cNvPr id="5" name="幻灯片编号占位符 4"/>
          <p:cNvSpPr>
            <a:spLocks noGrp="1"/>
          </p:cNvSpPr>
          <p:nvPr>
            <p:ph type="sldNum" sz="quarter" idx="12"/>
          </p:nvPr>
        </p:nvSpPr>
        <p:spPr>
          <a:xfrm>
            <a:off x="8610600" y="6356351"/>
            <a:ext cx="2743200" cy="365125"/>
          </a:xfrm>
          <a:prstGeom prst="rect">
            <a:avLst/>
          </a:prstGeom>
        </p:spPr>
        <p:txBody>
          <a:bodyPr lIns="121917" tIns="60958" rIns="121917" bIns="60958"/>
          <a:lstStyle>
            <a:lvl1pPr>
              <a:defRPr/>
            </a:lvl1pPr>
          </a:lstStyle>
          <a:p>
            <a:fld id="{C5FC99A0-26D8-5E4B-82FB-70809BCEE9F6}" type="slidenum">
              <a:rPr lang="zh-CN" altLang="en-US"/>
              <a:t>‹#›</a:t>
            </a:fld>
            <a:endParaRPr lang="zh-CN" altLang="en-US" sz="1900">
              <a:solidFill>
                <a:schemeClr val="tx1"/>
              </a:solidFill>
            </a:endParaRPr>
          </a:p>
        </p:txBody>
      </p:sp>
    </p:spTree>
    <p:extLst>
      <p:ext uri="{BB962C8B-B14F-4D97-AF65-F5344CB8AC3E}">
        <p14:creationId xmlns:p14="http://schemas.microsoft.com/office/powerpoint/2010/main" val="40728416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36594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mc:AlternateContent xmlns:mc="http://schemas.openxmlformats.org/markup-compatibility/2006" xmlns:p14="http://schemas.microsoft.com/office/powerpoint/2010/main">
    <mc:Choice Requires="p14">
      <p:transition p14:dur="10" advClick="0" advTm="5000"/>
    </mc:Choice>
    <mc:Fallback xmlns="">
      <p:transition advClick="0" advTm="5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43799-56BC-1721-CCC5-4F9C8AE2511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A5025EA-C510-B2D4-9C13-987D73417520}"/>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a:extLst>
              <a:ext uri="{FF2B5EF4-FFF2-40B4-BE49-F238E27FC236}">
                <a16:creationId xmlns:a16="http://schemas.microsoft.com/office/drawing/2014/main" id="{694C5BD6-8148-1792-B20E-178C398FED9E}"/>
              </a:ext>
            </a:extLst>
          </p:cNvPr>
          <p:cNvSpPr txBox="1"/>
          <p:nvPr/>
        </p:nvSpPr>
        <p:spPr>
          <a:xfrm>
            <a:off x="6257510" y="2652561"/>
            <a:ext cx="4897954" cy="646331"/>
          </a:xfrm>
          <a:prstGeom prst="rect">
            <a:avLst/>
          </a:prstGeom>
          <a:noFill/>
        </p:spPr>
        <p:txBody>
          <a:bodyPr wrap="square" rtlCol="0">
            <a:spAutoFit/>
          </a:bodyPr>
          <a:lstStyle/>
          <a:p>
            <a:pPr lvl="0" algn="ctr">
              <a:defRPr/>
            </a:pPr>
            <a:r>
              <a:rPr lang="zh-CN" altLang="en-US" sz="3600" b="1" dirty="0">
                <a:latin typeface="+mj-ea"/>
                <a:ea typeface="+mj-ea"/>
              </a:rPr>
              <a:t>模型融合实证研究</a:t>
            </a:r>
            <a:endParaRPr lang="en-US" altLang="zh-CN" sz="3600" b="1" dirty="0">
              <a:latin typeface="+mj-ea"/>
              <a:ea typeface="+mj-ea"/>
            </a:endParaRPr>
          </a:p>
        </p:txBody>
      </p:sp>
      <p:grpSp>
        <p:nvGrpSpPr>
          <p:cNvPr id="9" name="组合 8">
            <a:extLst>
              <a:ext uri="{FF2B5EF4-FFF2-40B4-BE49-F238E27FC236}">
                <a16:creationId xmlns:a16="http://schemas.microsoft.com/office/drawing/2014/main" id="{8B8DEA75-CB92-6935-D189-F116DC0F2751}"/>
              </a:ext>
            </a:extLst>
          </p:cNvPr>
          <p:cNvGrpSpPr/>
          <p:nvPr/>
        </p:nvGrpSpPr>
        <p:grpSpPr bwMode="auto">
          <a:xfrm>
            <a:off x="7866431" y="3645602"/>
            <a:ext cx="412709" cy="333006"/>
            <a:chOff x="0" y="0"/>
            <a:chExt cx="1088225" cy="869861"/>
          </a:xfrm>
          <a:solidFill>
            <a:schemeClr val="tx1"/>
          </a:solidFill>
        </p:grpSpPr>
        <p:sp>
          <p:nvSpPr>
            <p:cNvPr id="10" name="Freeform 17">
              <a:extLst>
                <a:ext uri="{FF2B5EF4-FFF2-40B4-BE49-F238E27FC236}">
                  <a16:creationId xmlns:a16="http://schemas.microsoft.com/office/drawing/2014/main" id="{812DCD59-2A21-127E-C6E0-4E2B48A89743}"/>
                </a:ext>
              </a:extLst>
            </p:cNvPr>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a:extLst>
                <a:ext uri="{FF2B5EF4-FFF2-40B4-BE49-F238E27FC236}">
                  <a16:creationId xmlns:a16="http://schemas.microsoft.com/office/drawing/2014/main" id="{4993C0E4-5FE3-EA5B-77E1-1D46E55978C8}"/>
                </a:ext>
              </a:extLst>
            </p:cNvPr>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a:extLst>
                <a:ext uri="{FF2B5EF4-FFF2-40B4-BE49-F238E27FC236}">
                  <a16:creationId xmlns:a16="http://schemas.microsoft.com/office/drawing/2014/main" id="{CA545872-B65F-8A97-AD68-8C70E834D0C4}"/>
                </a:ext>
              </a:extLst>
            </p:cNvPr>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a:extLst>
                <a:ext uri="{FF2B5EF4-FFF2-40B4-BE49-F238E27FC236}">
                  <a16:creationId xmlns:a16="http://schemas.microsoft.com/office/drawing/2014/main" id="{99D65965-C08B-10F7-FB64-9DC268D0DABF}"/>
                </a:ext>
              </a:extLst>
            </p:cNvPr>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a:extLst>
                <a:ext uri="{FF2B5EF4-FFF2-40B4-BE49-F238E27FC236}">
                  <a16:creationId xmlns:a16="http://schemas.microsoft.com/office/drawing/2014/main" id="{1F0A4445-FDE3-E1E2-56D7-E77F52D77A8C}"/>
                </a:ext>
              </a:extLst>
            </p:cNvPr>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a:extLst>
              <a:ext uri="{FF2B5EF4-FFF2-40B4-BE49-F238E27FC236}">
                <a16:creationId xmlns:a16="http://schemas.microsoft.com/office/drawing/2014/main" id="{EE30BEF5-6F88-B6EF-BF9F-72DC6400D0B7}"/>
              </a:ext>
            </a:extLst>
          </p:cNvPr>
          <p:cNvGrpSpPr/>
          <p:nvPr/>
        </p:nvGrpSpPr>
        <p:grpSpPr bwMode="auto">
          <a:xfrm>
            <a:off x="9875408" y="3645602"/>
            <a:ext cx="329894" cy="333006"/>
            <a:chOff x="0" y="0"/>
            <a:chExt cx="881859" cy="881859"/>
          </a:xfrm>
          <a:solidFill>
            <a:schemeClr val="tx1"/>
          </a:solidFill>
        </p:grpSpPr>
        <p:sp>
          <p:nvSpPr>
            <p:cNvPr id="16" name="Freeform 22">
              <a:extLst>
                <a:ext uri="{FF2B5EF4-FFF2-40B4-BE49-F238E27FC236}">
                  <a16:creationId xmlns:a16="http://schemas.microsoft.com/office/drawing/2014/main" id="{30ED5BA2-C969-03E4-27A7-904798C32DE3}"/>
                </a:ext>
              </a:extLst>
            </p:cNvPr>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a:extLst>
                <a:ext uri="{FF2B5EF4-FFF2-40B4-BE49-F238E27FC236}">
                  <a16:creationId xmlns:a16="http://schemas.microsoft.com/office/drawing/2014/main" id="{18A32CC3-BBDE-D027-B752-8CB2D9E2AF8C}"/>
                </a:ext>
              </a:extLst>
            </p:cNvPr>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a:extLst>
              <a:ext uri="{FF2B5EF4-FFF2-40B4-BE49-F238E27FC236}">
                <a16:creationId xmlns:a16="http://schemas.microsoft.com/office/drawing/2014/main" id="{4F8B4535-F665-2746-CDE3-E0BF1E937588}"/>
              </a:ext>
            </a:extLst>
          </p:cNvPr>
          <p:cNvGrpSpPr/>
          <p:nvPr/>
        </p:nvGrpSpPr>
        <p:grpSpPr bwMode="auto">
          <a:xfrm>
            <a:off x="8557947" y="3645602"/>
            <a:ext cx="397959" cy="333006"/>
            <a:chOff x="0" y="0"/>
            <a:chExt cx="961046" cy="796672"/>
          </a:xfrm>
          <a:solidFill>
            <a:schemeClr val="tx1"/>
          </a:solidFill>
        </p:grpSpPr>
        <p:sp>
          <p:nvSpPr>
            <p:cNvPr id="19" name="Freeform 24">
              <a:extLst>
                <a:ext uri="{FF2B5EF4-FFF2-40B4-BE49-F238E27FC236}">
                  <a16:creationId xmlns:a16="http://schemas.microsoft.com/office/drawing/2014/main" id="{DBAC8F9C-E557-FA06-87A2-CD40B2A2AD00}"/>
                </a:ext>
              </a:extLst>
            </p:cNvPr>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a:extLst>
                <a:ext uri="{FF2B5EF4-FFF2-40B4-BE49-F238E27FC236}">
                  <a16:creationId xmlns:a16="http://schemas.microsoft.com/office/drawing/2014/main" id="{59F087C0-842E-A639-490E-37B33ECAB4E5}"/>
                </a:ext>
              </a:extLst>
            </p:cNvPr>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a:extLst>
                <a:ext uri="{FF2B5EF4-FFF2-40B4-BE49-F238E27FC236}">
                  <a16:creationId xmlns:a16="http://schemas.microsoft.com/office/drawing/2014/main" id="{16DA54DC-66B0-A798-8AE4-642BB1738A35}"/>
                </a:ext>
              </a:extLst>
            </p:cNvPr>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a:extLst>
                <a:ext uri="{FF2B5EF4-FFF2-40B4-BE49-F238E27FC236}">
                  <a16:creationId xmlns:a16="http://schemas.microsoft.com/office/drawing/2014/main" id="{E6429012-747F-9029-BB8A-2C7314774906}"/>
                </a:ext>
              </a:extLst>
            </p:cNvPr>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a:extLst>
                <a:ext uri="{FF2B5EF4-FFF2-40B4-BE49-F238E27FC236}">
                  <a16:creationId xmlns:a16="http://schemas.microsoft.com/office/drawing/2014/main" id="{879C25E2-714F-3416-0177-C171B2235F6A}"/>
                </a:ext>
              </a:extLst>
            </p:cNvPr>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a:extLst>
                <a:ext uri="{FF2B5EF4-FFF2-40B4-BE49-F238E27FC236}">
                  <a16:creationId xmlns:a16="http://schemas.microsoft.com/office/drawing/2014/main" id="{4B35CFD7-5269-55D3-183F-BDC4DE488405}"/>
                </a:ext>
              </a:extLst>
            </p:cNvPr>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a:extLst>
                <a:ext uri="{FF2B5EF4-FFF2-40B4-BE49-F238E27FC236}">
                  <a16:creationId xmlns:a16="http://schemas.microsoft.com/office/drawing/2014/main" id="{BED9CF6D-BED0-8A95-BB97-3A5486158AA2}"/>
                </a:ext>
              </a:extLst>
            </p:cNvPr>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a:extLst>
                <a:ext uri="{FF2B5EF4-FFF2-40B4-BE49-F238E27FC236}">
                  <a16:creationId xmlns:a16="http://schemas.microsoft.com/office/drawing/2014/main" id="{74A73CB8-C9BF-A1A8-B2CF-A4A9B84017F9}"/>
                </a:ext>
              </a:extLst>
            </p:cNvPr>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a:extLst>
                <a:ext uri="{FF2B5EF4-FFF2-40B4-BE49-F238E27FC236}">
                  <a16:creationId xmlns:a16="http://schemas.microsoft.com/office/drawing/2014/main" id="{36D3CD9D-AC8C-EB4A-E701-06BBC001D7AD}"/>
                </a:ext>
              </a:extLst>
            </p:cNvPr>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a:extLst>
                <a:ext uri="{FF2B5EF4-FFF2-40B4-BE49-F238E27FC236}">
                  <a16:creationId xmlns:a16="http://schemas.microsoft.com/office/drawing/2014/main" id="{E60FB2C9-8CD1-C67F-309C-B67BD5230BD3}"/>
                </a:ext>
              </a:extLst>
            </p:cNvPr>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a:extLst>
                <a:ext uri="{FF2B5EF4-FFF2-40B4-BE49-F238E27FC236}">
                  <a16:creationId xmlns:a16="http://schemas.microsoft.com/office/drawing/2014/main" id="{1FEC72C5-4A8B-A3C8-16B3-EEDDAFE82AF5}"/>
                </a:ext>
              </a:extLst>
            </p:cNvPr>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a:extLst>
              <a:ext uri="{FF2B5EF4-FFF2-40B4-BE49-F238E27FC236}">
                <a16:creationId xmlns:a16="http://schemas.microsoft.com/office/drawing/2014/main" id="{6797AD06-53C4-8BC3-1136-48D01A5E6ADD}"/>
              </a:ext>
            </a:extLst>
          </p:cNvPr>
          <p:cNvSpPr>
            <a:spLocks noChangeAspect="1" noEditPoints="1" noChangeArrowheads="1"/>
          </p:cNvSpPr>
          <p:nvPr/>
        </p:nvSpPr>
        <p:spPr bwMode="auto">
          <a:xfrm>
            <a:off x="7253802" y="3645601"/>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a:extLst>
              <a:ext uri="{FF2B5EF4-FFF2-40B4-BE49-F238E27FC236}">
                <a16:creationId xmlns:a16="http://schemas.microsoft.com/office/drawing/2014/main" id="{BEC44DA7-8778-505C-C233-98FF112E3044}"/>
              </a:ext>
            </a:extLst>
          </p:cNvPr>
          <p:cNvSpPr>
            <a:spLocks noChangeAspect="1" noEditPoints="1" noChangeArrowheads="1"/>
          </p:cNvSpPr>
          <p:nvPr/>
        </p:nvSpPr>
        <p:spPr bwMode="auto">
          <a:xfrm>
            <a:off x="9234713" y="3645600"/>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696643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6856D773-DEDF-6B0D-C679-E4CA67BC7F51}"/>
              </a:ext>
            </a:extLst>
          </p:cNvPr>
          <p:cNvGrpSpPr/>
          <p:nvPr/>
        </p:nvGrpSpPr>
        <p:grpSpPr>
          <a:xfrm>
            <a:off x="619618" y="1689371"/>
            <a:ext cx="5975350" cy="1935572"/>
            <a:chOff x="283716" y="1428114"/>
            <a:chExt cx="5975350" cy="1935572"/>
          </a:xfrm>
        </p:grpSpPr>
        <p:sp>
          <p:nvSpPr>
            <p:cNvPr id="27" name="矩形 26"/>
            <p:cNvSpPr/>
            <p:nvPr/>
          </p:nvSpPr>
          <p:spPr>
            <a:xfrm>
              <a:off x="283716" y="2248626"/>
              <a:ext cx="1639570" cy="318770"/>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实现多个任务功能</a:t>
              </a:r>
            </a:p>
          </p:txBody>
        </p:sp>
        <p:cxnSp>
          <p:nvCxnSpPr>
            <p:cNvPr id="30" name="连接符: 肘形 29"/>
            <p:cNvCxnSpPr>
              <a:cxnSpLocks/>
              <a:stCxn id="27" idx="3"/>
              <a:endCxn id="29" idx="1"/>
            </p:cNvCxnSpPr>
            <p:nvPr/>
          </p:nvCxnSpPr>
          <p:spPr>
            <a:xfrm>
              <a:off x="1923286" y="2408011"/>
              <a:ext cx="314325" cy="635"/>
            </a:xfrm>
            <a:prstGeom prst="bentConnector3">
              <a:avLst>
                <a:gd name="adj1" fmla="val 5010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2238881" y="1452971"/>
              <a:ext cx="1662430" cy="32040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保存多个微调权重</a:t>
              </a:r>
            </a:p>
          </p:txBody>
        </p:sp>
        <p:sp>
          <p:nvSpPr>
            <p:cNvPr id="29" name="矩形 28"/>
            <p:cNvSpPr/>
            <p:nvPr/>
          </p:nvSpPr>
          <p:spPr>
            <a:xfrm>
              <a:off x="2237611" y="2248351"/>
              <a:ext cx="1663200" cy="32004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多任务学习</a:t>
              </a:r>
            </a:p>
          </p:txBody>
        </p:sp>
        <p:sp>
          <p:nvSpPr>
            <p:cNvPr id="70" name="矩形 69"/>
            <p:cNvSpPr/>
            <p:nvPr/>
          </p:nvSpPr>
          <p:spPr>
            <a:xfrm>
              <a:off x="2238246" y="3043371"/>
              <a:ext cx="1663200" cy="320040"/>
            </a:xfrm>
            <a:prstGeom prst="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持续学习</a:t>
              </a:r>
            </a:p>
          </p:txBody>
        </p:sp>
        <p:cxnSp>
          <p:nvCxnSpPr>
            <p:cNvPr id="71" name="连接符: 肘形 70"/>
            <p:cNvCxnSpPr>
              <a:cxnSpLocks/>
              <a:stCxn id="27" idx="3"/>
              <a:endCxn id="70" idx="1"/>
            </p:cNvCxnSpPr>
            <p:nvPr/>
          </p:nvCxnSpPr>
          <p:spPr>
            <a:xfrm>
              <a:off x="1923286" y="2408011"/>
              <a:ext cx="314960" cy="79565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 name="连接符: 肘形 29"/>
            <p:cNvCxnSpPr>
              <a:cxnSpLocks/>
              <a:stCxn id="27" idx="3"/>
              <a:endCxn id="28" idx="1"/>
            </p:cNvCxnSpPr>
            <p:nvPr/>
          </p:nvCxnSpPr>
          <p:spPr>
            <a:xfrm flipV="1">
              <a:off x="1923286" y="1613626"/>
              <a:ext cx="315595" cy="794385"/>
            </a:xfrm>
            <a:prstGeom prst="bentConnector3">
              <a:avLst>
                <a:gd name="adj1" fmla="val 5010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左大括号 4"/>
            <p:cNvSpPr/>
            <p:nvPr/>
          </p:nvSpPr>
          <p:spPr>
            <a:xfrm>
              <a:off x="3926711" y="1452971"/>
              <a:ext cx="187325" cy="298450"/>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6" name="文本框 5"/>
            <p:cNvSpPr txBox="1"/>
            <p:nvPr/>
          </p:nvSpPr>
          <p:spPr>
            <a:xfrm>
              <a:off x="4088001" y="1428114"/>
              <a:ext cx="2171065" cy="294824"/>
            </a:xfrm>
            <a:prstGeom prst="rect">
              <a:avLst/>
            </a:prstGeom>
            <a:noFill/>
          </p:spPr>
          <p:txBody>
            <a:bodyPr wrap="square" rtlCol="0" anchor="ctr">
              <a:spAutoFit/>
            </a:bodyPr>
            <a:lstStyle/>
            <a:p>
              <a:pPr>
                <a:lnSpc>
                  <a:spcPct val="120000"/>
                </a:lnSpc>
              </a:pPr>
              <a:r>
                <a:rPr lang="zh-CN" altLang="en-US" sz="1200" dirty="0">
                  <a:solidFill>
                    <a:schemeClr val="tx1">
                      <a:lumMod val="75000"/>
                      <a:lumOff val="25000"/>
                    </a:schemeClr>
                  </a:solidFill>
                </a:rPr>
                <a:t>资源消耗大，不利于绿色发展</a:t>
              </a:r>
            </a:p>
          </p:txBody>
        </p:sp>
        <p:grpSp>
          <p:nvGrpSpPr>
            <p:cNvPr id="19" name="组合 18"/>
            <p:cNvGrpSpPr/>
            <p:nvPr/>
          </p:nvGrpSpPr>
          <p:grpSpPr>
            <a:xfrm>
              <a:off x="3926711" y="1924776"/>
              <a:ext cx="1786890" cy="894080"/>
              <a:chOff x="6352" y="2514"/>
              <a:chExt cx="2814" cy="1408"/>
            </a:xfrm>
          </p:grpSpPr>
          <p:sp>
            <p:nvSpPr>
              <p:cNvPr id="7" name="左大括号 6"/>
              <p:cNvSpPr/>
              <p:nvPr/>
            </p:nvSpPr>
            <p:spPr>
              <a:xfrm>
                <a:off x="6352" y="2810"/>
                <a:ext cx="295" cy="897"/>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2" name="文本框 11"/>
              <p:cNvSpPr txBox="1"/>
              <p:nvPr/>
            </p:nvSpPr>
            <p:spPr>
              <a:xfrm>
                <a:off x="6606" y="2514"/>
                <a:ext cx="1860" cy="492"/>
              </a:xfrm>
              <a:prstGeom prst="rect">
                <a:avLst/>
              </a:prstGeom>
              <a:noFill/>
            </p:spPr>
            <p:txBody>
              <a:bodyPr wrap="square" rtlCol="0" anchor="ctr">
                <a:spAutoFit/>
              </a:bodyPr>
              <a:lstStyle/>
              <a:p>
                <a:pPr>
                  <a:lnSpc>
                    <a:spcPct val="120000"/>
                  </a:lnSpc>
                </a:pPr>
                <a:r>
                  <a:rPr lang="zh-CN" altLang="en-US" sz="1200" dirty="0">
                    <a:solidFill>
                      <a:schemeClr val="tx1">
                        <a:lumMod val="75000"/>
                        <a:lumOff val="25000"/>
                      </a:schemeClr>
                    </a:solidFill>
                  </a:rPr>
                  <a:t>数据不平衡</a:t>
                </a:r>
              </a:p>
            </p:txBody>
          </p:sp>
          <p:sp>
            <p:nvSpPr>
              <p:cNvPr id="13" name="文本框 12"/>
              <p:cNvSpPr txBox="1"/>
              <p:nvPr/>
            </p:nvSpPr>
            <p:spPr>
              <a:xfrm>
                <a:off x="6606" y="2972"/>
                <a:ext cx="2560" cy="492"/>
              </a:xfrm>
              <a:prstGeom prst="rect">
                <a:avLst/>
              </a:prstGeom>
              <a:noFill/>
            </p:spPr>
            <p:txBody>
              <a:bodyPr wrap="square" rtlCol="0" anchor="ctr">
                <a:spAutoFit/>
              </a:bodyPr>
              <a:lstStyle/>
              <a:p>
                <a:pPr>
                  <a:lnSpc>
                    <a:spcPct val="120000"/>
                  </a:lnSpc>
                </a:pPr>
                <a:r>
                  <a:rPr lang="zh-CN" altLang="en-US" sz="1200" dirty="0">
                    <a:solidFill>
                      <a:schemeClr val="tx1">
                        <a:lumMod val="75000"/>
                        <a:lumOff val="25000"/>
                      </a:schemeClr>
                    </a:solidFill>
                  </a:rPr>
                  <a:t>任务冲突、负迁移</a:t>
                </a:r>
              </a:p>
            </p:txBody>
          </p:sp>
          <p:sp>
            <p:nvSpPr>
              <p:cNvPr id="14" name="文本框 13"/>
              <p:cNvSpPr txBox="1"/>
              <p:nvPr/>
            </p:nvSpPr>
            <p:spPr>
              <a:xfrm>
                <a:off x="6606" y="3430"/>
                <a:ext cx="2560" cy="492"/>
              </a:xfrm>
              <a:prstGeom prst="rect">
                <a:avLst/>
              </a:prstGeom>
              <a:noFill/>
            </p:spPr>
            <p:txBody>
              <a:bodyPr wrap="square" rtlCol="0" anchor="ctr">
                <a:spAutoFit/>
              </a:bodyPr>
              <a:lstStyle/>
              <a:p>
                <a:pPr>
                  <a:lnSpc>
                    <a:spcPct val="120000"/>
                  </a:lnSpc>
                </a:pPr>
                <a:r>
                  <a:rPr lang="zh-CN" altLang="en-US" sz="1200" dirty="0">
                    <a:solidFill>
                      <a:schemeClr val="tx1">
                        <a:lumMod val="75000"/>
                        <a:lumOff val="25000"/>
                      </a:schemeClr>
                    </a:solidFill>
                  </a:rPr>
                  <a:t>数据隐私问题</a:t>
                </a:r>
              </a:p>
            </p:txBody>
          </p:sp>
        </p:grpSp>
        <p:sp>
          <p:nvSpPr>
            <p:cNvPr id="17" name="左大括号 16"/>
            <p:cNvSpPr/>
            <p:nvPr/>
          </p:nvSpPr>
          <p:spPr>
            <a:xfrm>
              <a:off x="3926711" y="3065236"/>
              <a:ext cx="187325" cy="298450"/>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8" name="文本框 17"/>
            <p:cNvSpPr txBox="1"/>
            <p:nvPr/>
          </p:nvSpPr>
          <p:spPr>
            <a:xfrm>
              <a:off x="4088001" y="3043011"/>
              <a:ext cx="1240790" cy="312420"/>
            </a:xfrm>
            <a:prstGeom prst="rect">
              <a:avLst/>
            </a:prstGeom>
            <a:noFill/>
          </p:spPr>
          <p:txBody>
            <a:bodyPr wrap="square" rtlCol="0" anchor="ctr">
              <a:spAutoFit/>
            </a:bodyPr>
            <a:lstStyle/>
            <a:p>
              <a:pPr>
                <a:lnSpc>
                  <a:spcPct val="120000"/>
                </a:lnSpc>
              </a:pPr>
              <a:r>
                <a:rPr lang="zh-CN" altLang="en-US" sz="1200" dirty="0">
                  <a:solidFill>
                    <a:schemeClr val="tx1">
                      <a:lumMod val="75000"/>
                      <a:lumOff val="25000"/>
                    </a:schemeClr>
                  </a:solidFill>
                </a:rPr>
                <a:t>灾难性遗忘</a:t>
              </a:r>
            </a:p>
          </p:txBody>
        </p:sp>
      </p:grpSp>
      <p:sp>
        <p:nvSpPr>
          <p:cNvPr id="11" name="文本框 10">
            <a:extLst>
              <a:ext uri="{FF2B5EF4-FFF2-40B4-BE49-F238E27FC236}">
                <a16:creationId xmlns:a16="http://schemas.microsoft.com/office/drawing/2014/main" id="{BBADC4C2-E365-040D-54BC-DB02BC4E7AEB}"/>
              </a:ext>
            </a:extLst>
          </p:cNvPr>
          <p:cNvSpPr txBox="1"/>
          <p:nvPr/>
        </p:nvSpPr>
        <p:spPr>
          <a:xfrm>
            <a:off x="537658" y="1159659"/>
            <a:ext cx="8953590" cy="338554"/>
          </a:xfrm>
          <a:prstGeom prst="rect">
            <a:avLst/>
          </a:prstGeom>
          <a:noFill/>
        </p:spPr>
        <p:txBody>
          <a:bodyPr wrap="square">
            <a:spAutoFit/>
          </a:bodyPr>
          <a:lstStyle/>
          <a:p>
            <a:r>
              <a:rPr lang="zh-CN" altLang="en-US" sz="1600" dirty="0"/>
              <a:t>大型语言模型在软工领域已经证明了它们的强大的代码理解和生成能力</a:t>
            </a:r>
          </a:p>
        </p:txBody>
      </p:sp>
      <p:sp>
        <p:nvSpPr>
          <p:cNvPr id="15" name="文本框 14">
            <a:extLst>
              <a:ext uri="{FF2B5EF4-FFF2-40B4-BE49-F238E27FC236}">
                <a16:creationId xmlns:a16="http://schemas.microsoft.com/office/drawing/2014/main" id="{A989EDA4-1C2A-6CD3-95D0-244C8196C8D1}"/>
              </a:ext>
            </a:extLst>
          </p:cNvPr>
          <p:cNvSpPr txBox="1"/>
          <p:nvPr/>
        </p:nvSpPr>
        <p:spPr>
          <a:xfrm>
            <a:off x="537658" y="784293"/>
            <a:ext cx="6109334" cy="338554"/>
          </a:xfrm>
          <a:prstGeom prst="rect">
            <a:avLst/>
          </a:prstGeom>
          <a:noFill/>
        </p:spPr>
        <p:txBody>
          <a:bodyPr wrap="square">
            <a:spAutoFit/>
          </a:bodyPr>
          <a:lstStyle/>
          <a:p>
            <a:r>
              <a:rPr lang="zh-CN" altLang="en-US" sz="1600" b="1" dirty="0">
                <a:solidFill>
                  <a:srgbClr val="268F9C"/>
                </a:solidFill>
                <a:latin typeface="+mn-ea"/>
              </a:rPr>
              <a:t>多任务学习</a:t>
            </a:r>
            <a:endParaRPr lang="en-US" altLang="zh-CN" sz="1600" b="1" dirty="0">
              <a:solidFill>
                <a:srgbClr val="268F9C"/>
              </a:solidFill>
              <a:latin typeface="+mn-ea"/>
            </a:endParaRPr>
          </a:p>
        </p:txBody>
      </p:sp>
      <p:sp>
        <p:nvSpPr>
          <p:cNvPr id="16" name="文本框 15">
            <a:extLst>
              <a:ext uri="{FF2B5EF4-FFF2-40B4-BE49-F238E27FC236}">
                <a16:creationId xmlns:a16="http://schemas.microsoft.com/office/drawing/2014/main" id="{3217AD3C-2FBD-05DC-E6C6-255501DD3E66}"/>
              </a:ext>
            </a:extLst>
          </p:cNvPr>
          <p:cNvSpPr txBox="1"/>
          <p:nvPr/>
        </p:nvSpPr>
        <p:spPr>
          <a:xfrm>
            <a:off x="537658" y="3830316"/>
            <a:ext cx="1721530" cy="338554"/>
          </a:xfrm>
          <a:prstGeom prst="rect">
            <a:avLst/>
          </a:prstGeom>
          <a:noFill/>
        </p:spPr>
        <p:txBody>
          <a:bodyPr wrap="square">
            <a:spAutoFit/>
          </a:bodyPr>
          <a:lstStyle/>
          <a:p>
            <a:r>
              <a:rPr lang="zh-CN" altLang="en-US" sz="1600" b="1" dirty="0">
                <a:solidFill>
                  <a:srgbClr val="268F9C"/>
                </a:solidFill>
                <a:latin typeface="+mn-ea"/>
              </a:rPr>
              <a:t>模型融合</a:t>
            </a:r>
            <a:endParaRPr lang="en-US" altLang="zh-CN" sz="1600" b="1" dirty="0">
              <a:solidFill>
                <a:srgbClr val="268F9C"/>
              </a:solidFill>
              <a:latin typeface="+mn-ea"/>
            </a:endParaRPr>
          </a:p>
        </p:txBody>
      </p:sp>
      <p:grpSp>
        <p:nvGrpSpPr>
          <p:cNvPr id="68" name="组合 67">
            <a:extLst>
              <a:ext uri="{FF2B5EF4-FFF2-40B4-BE49-F238E27FC236}">
                <a16:creationId xmlns:a16="http://schemas.microsoft.com/office/drawing/2014/main" id="{48ADDD9D-428A-C2CF-1474-35112C38C4DC}"/>
              </a:ext>
            </a:extLst>
          </p:cNvPr>
          <p:cNvGrpSpPr/>
          <p:nvPr/>
        </p:nvGrpSpPr>
        <p:grpSpPr>
          <a:xfrm>
            <a:off x="537658" y="4801522"/>
            <a:ext cx="6589751" cy="1739261"/>
            <a:chOff x="537658" y="4655976"/>
            <a:chExt cx="6589751" cy="1739261"/>
          </a:xfrm>
        </p:grpSpPr>
        <p:sp>
          <p:nvSpPr>
            <p:cNvPr id="23" name="矩形 22">
              <a:extLst>
                <a:ext uri="{FF2B5EF4-FFF2-40B4-BE49-F238E27FC236}">
                  <a16:creationId xmlns:a16="http://schemas.microsoft.com/office/drawing/2014/main" id="{92F01456-2B13-CB9C-E25E-6E52F62B795D}"/>
                </a:ext>
              </a:extLst>
            </p:cNvPr>
            <p:cNvSpPr/>
            <p:nvPr/>
          </p:nvSpPr>
          <p:spPr>
            <a:xfrm>
              <a:off x="537658" y="5245259"/>
              <a:ext cx="1209954" cy="318770"/>
            </a:xfrm>
            <a:prstGeom prst="rect">
              <a:avLst/>
            </a:prstGeom>
            <a:solidFill>
              <a:srgbClr val="ED7D31"/>
            </a:solidFill>
            <a:ln w="12700" cap="flat" cmpd="sng" algn="ctr">
              <a:solidFill>
                <a:srgbClr val="ED7D3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模型融合</a:t>
              </a:r>
            </a:p>
          </p:txBody>
        </p:sp>
        <p:sp>
          <p:nvSpPr>
            <p:cNvPr id="46" name="左大括号 45">
              <a:extLst>
                <a:ext uri="{FF2B5EF4-FFF2-40B4-BE49-F238E27FC236}">
                  <a16:creationId xmlns:a16="http://schemas.microsoft.com/office/drawing/2014/main" id="{FE37E5D8-1BDA-73A2-9E72-27816F42C550}"/>
                </a:ext>
              </a:extLst>
            </p:cNvPr>
            <p:cNvSpPr/>
            <p:nvPr/>
          </p:nvSpPr>
          <p:spPr>
            <a:xfrm>
              <a:off x="1868003" y="4824357"/>
              <a:ext cx="203394" cy="1160575"/>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27BC622E-74D4-4BD4-DFDD-A49354E74791}"/>
                </a:ext>
              </a:extLst>
            </p:cNvPr>
            <p:cNvSpPr txBox="1"/>
            <p:nvPr/>
          </p:nvSpPr>
          <p:spPr>
            <a:xfrm>
              <a:off x="2071397" y="4655976"/>
              <a:ext cx="5056012" cy="328551"/>
            </a:xfrm>
            <a:prstGeom prst="rect">
              <a:avLst/>
            </a:prstGeom>
            <a:noFill/>
          </p:spPr>
          <p:txBody>
            <a:bodyPr wrap="square">
              <a:spAutoFit/>
            </a:bodyPr>
            <a:lstStyle/>
            <a:p>
              <a:pPr>
                <a:lnSpc>
                  <a:spcPct val="120000"/>
                </a:lnSpc>
              </a:pPr>
              <a:r>
                <a:rPr lang="zh-CN" altLang="en-US" sz="1400" dirty="0">
                  <a:solidFill>
                    <a:schemeClr val="tx1">
                      <a:lumMod val="75000"/>
                      <a:lumOff val="25000"/>
                    </a:schemeClr>
                  </a:solidFill>
                </a:rPr>
                <a:t>只对参数进行操作，无需数据或者只需少量数据</a:t>
              </a:r>
            </a:p>
          </p:txBody>
        </p:sp>
        <p:sp>
          <p:nvSpPr>
            <p:cNvPr id="49" name="文本框 48">
              <a:extLst>
                <a:ext uri="{FF2B5EF4-FFF2-40B4-BE49-F238E27FC236}">
                  <a16:creationId xmlns:a16="http://schemas.microsoft.com/office/drawing/2014/main" id="{CFDE7E9E-24A2-FF2B-66D7-C4B48A0B0819}"/>
                </a:ext>
              </a:extLst>
            </p:cNvPr>
            <p:cNvSpPr txBox="1"/>
            <p:nvPr/>
          </p:nvSpPr>
          <p:spPr>
            <a:xfrm>
              <a:off x="2071397" y="5041088"/>
              <a:ext cx="3881534" cy="328551"/>
            </a:xfrm>
            <a:prstGeom prst="rect">
              <a:avLst/>
            </a:prstGeom>
            <a:noFill/>
          </p:spPr>
          <p:txBody>
            <a:bodyPr wrap="square">
              <a:spAutoFit/>
            </a:bodyPr>
            <a:lstStyle/>
            <a:p>
              <a:pPr>
                <a:lnSpc>
                  <a:spcPct val="120000"/>
                </a:lnSpc>
              </a:pPr>
              <a:r>
                <a:rPr lang="zh-CN" altLang="en-US" sz="1400" dirty="0">
                  <a:solidFill>
                    <a:schemeClr val="tx1">
                      <a:lumMod val="75000"/>
                      <a:lumOff val="25000"/>
                    </a:schemeClr>
                  </a:solidFill>
                </a:rPr>
                <a:t>能够压缩参数，减少资源消耗</a:t>
              </a:r>
            </a:p>
          </p:txBody>
        </p:sp>
        <p:sp>
          <p:nvSpPr>
            <p:cNvPr id="51" name="文本框 50">
              <a:extLst>
                <a:ext uri="{FF2B5EF4-FFF2-40B4-BE49-F238E27FC236}">
                  <a16:creationId xmlns:a16="http://schemas.microsoft.com/office/drawing/2014/main" id="{7C5FA9B3-3666-B92A-7015-FBF2040A3866}"/>
                </a:ext>
              </a:extLst>
            </p:cNvPr>
            <p:cNvSpPr txBox="1"/>
            <p:nvPr/>
          </p:nvSpPr>
          <p:spPr>
            <a:xfrm>
              <a:off x="2071397" y="5421859"/>
              <a:ext cx="3881534" cy="328551"/>
            </a:xfrm>
            <a:prstGeom prst="rect">
              <a:avLst/>
            </a:prstGeom>
            <a:noFill/>
          </p:spPr>
          <p:txBody>
            <a:bodyPr wrap="square">
              <a:spAutoFit/>
            </a:bodyPr>
            <a:lstStyle/>
            <a:p>
              <a:pPr>
                <a:lnSpc>
                  <a:spcPct val="120000"/>
                </a:lnSpc>
              </a:pPr>
              <a:r>
                <a:rPr lang="zh-CN" altLang="en-US" sz="1400" dirty="0">
                  <a:solidFill>
                    <a:schemeClr val="tx1">
                      <a:lumMod val="75000"/>
                      <a:lumOff val="25000"/>
                    </a:schemeClr>
                  </a:solidFill>
                </a:rPr>
                <a:t>能够动态实现任务学习与遗忘，可扩展性好</a:t>
              </a:r>
            </a:p>
          </p:txBody>
        </p:sp>
        <p:sp>
          <p:nvSpPr>
            <p:cNvPr id="52" name="文本框 51">
              <a:extLst>
                <a:ext uri="{FF2B5EF4-FFF2-40B4-BE49-F238E27FC236}">
                  <a16:creationId xmlns:a16="http://schemas.microsoft.com/office/drawing/2014/main" id="{F6AF0066-2CAF-A983-F01E-DCD5D093F5AD}"/>
                </a:ext>
              </a:extLst>
            </p:cNvPr>
            <p:cNvSpPr txBox="1"/>
            <p:nvPr/>
          </p:nvSpPr>
          <p:spPr>
            <a:xfrm>
              <a:off x="2071398" y="5808153"/>
              <a:ext cx="4096138" cy="587084"/>
            </a:xfrm>
            <a:prstGeom prst="rect">
              <a:avLst/>
            </a:prstGeom>
            <a:noFill/>
          </p:spPr>
          <p:txBody>
            <a:bodyPr wrap="square">
              <a:spAutoFit/>
            </a:bodyPr>
            <a:lstStyle/>
            <a:p>
              <a:pPr>
                <a:lnSpc>
                  <a:spcPct val="120000"/>
                </a:lnSpc>
              </a:pPr>
              <a:r>
                <a:rPr lang="zh-CN" altLang="en-US" sz="1400" dirty="0">
                  <a:solidFill>
                    <a:schemeClr val="tx1">
                      <a:lumMod val="75000"/>
                      <a:lumOff val="25000"/>
                    </a:schemeClr>
                  </a:solidFill>
                </a:rPr>
                <a:t>在多任务学习、联邦学习、持续学习等领域已广泛研究和应用</a:t>
              </a:r>
            </a:p>
          </p:txBody>
        </p:sp>
      </p:grpSp>
      <p:sp>
        <p:nvSpPr>
          <p:cNvPr id="54" name="文本框 53">
            <a:extLst>
              <a:ext uri="{FF2B5EF4-FFF2-40B4-BE49-F238E27FC236}">
                <a16:creationId xmlns:a16="http://schemas.microsoft.com/office/drawing/2014/main" id="{39291797-1937-50ED-9433-7DFA7AFE0ED5}"/>
              </a:ext>
            </a:extLst>
          </p:cNvPr>
          <p:cNvSpPr txBox="1"/>
          <p:nvPr/>
        </p:nvSpPr>
        <p:spPr>
          <a:xfrm>
            <a:off x="537658" y="4271037"/>
            <a:ext cx="5558342" cy="338554"/>
          </a:xfrm>
          <a:prstGeom prst="rect">
            <a:avLst/>
          </a:prstGeom>
          <a:noFill/>
        </p:spPr>
        <p:txBody>
          <a:bodyPr wrap="square">
            <a:spAutoFit/>
          </a:bodyPr>
          <a:lstStyle/>
          <a:p>
            <a:r>
              <a:rPr lang="zh-CN" altLang="en-US" sz="1600" dirty="0"/>
              <a:t>模型融合作为新兴方向，在</a:t>
            </a:r>
            <a:r>
              <a:rPr lang="en-US" altLang="zh-CN" sz="1600" dirty="0"/>
              <a:t>CV</a:t>
            </a:r>
            <a:r>
              <a:rPr lang="zh-CN" altLang="en-US" sz="1600" dirty="0"/>
              <a:t>和</a:t>
            </a:r>
            <a:r>
              <a:rPr lang="en-US" altLang="zh-CN" sz="1600" dirty="0"/>
              <a:t>NLP</a:t>
            </a:r>
            <a:r>
              <a:rPr lang="zh-CN" altLang="en-US" sz="1600" dirty="0"/>
              <a:t>等领域已有大量研究</a:t>
            </a:r>
          </a:p>
        </p:txBody>
      </p:sp>
      <p:sp>
        <p:nvSpPr>
          <p:cNvPr id="55" name="文本框 54">
            <a:extLst>
              <a:ext uri="{FF2B5EF4-FFF2-40B4-BE49-F238E27FC236}">
                <a16:creationId xmlns:a16="http://schemas.microsoft.com/office/drawing/2014/main" id="{381B55E6-AB58-F4FF-46D1-251C953E2E54}"/>
              </a:ext>
            </a:extLst>
          </p:cNvPr>
          <p:cNvSpPr txBox="1"/>
          <p:nvPr/>
        </p:nvSpPr>
        <p:spPr>
          <a:xfrm>
            <a:off x="6189306" y="3942288"/>
            <a:ext cx="1721530" cy="338554"/>
          </a:xfrm>
          <a:prstGeom prst="rect">
            <a:avLst/>
          </a:prstGeom>
          <a:noFill/>
        </p:spPr>
        <p:txBody>
          <a:bodyPr wrap="square">
            <a:spAutoFit/>
          </a:bodyPr>
          <a:lstStyle/>
          <a:p>
            <a:r>
              <a:rPr lang="zh-CN" altLang="en-US" sz="1600" b="1" dirty="0">
                <a:solidFill>
                  <a:srgbClr val="268F9C"/>
                </a:solidFill>
                <a:latin typeface="+mn-ea"/>
              </a:rPr>
              <a:t>研究问题</a:t>
            </a:r>
            <a:endParaRPr lang="en-US" altLang="zh-CN" sz="1600" b="1" dirty="0">
              <a:solidFill>
                <a:srgbClr val="268F9C"/>
              </a:solidFill>
              <a:latin typeface="+mn-ea"/>
            </a:endParaRPr>
          </a:p>
        </p:txBody>
      </p:sp>
      <p:sp>
        <p:nvSpPr>
          <p:cNvPr id="58" name="文本框 57">
            <a:extLst>
              <a:ext uri="{FF2B5EF4-FFF2-40B4-BE49-F238E27FC236}">
                <a16:creationId xmlns:a16="http://schemas.microsoft.com/office/drawing/2014/main" id="{B968E046-9766-2BF2-053B-99F16F3DE179}"/>
              </a:ext>
            </a:extLst>
          </p:cNvPr>
          <p:cNvSpPr txBox="1"/>
          <p:nvPr/>
        </p:nvSpPr>
        <p:spPr>
          <a:xfrm>
            <a:off x="6189306" y="4301349"/>
            <a:ext cx="6106884" cy="338554"/>
          </a:xfrm>
          <a:prstGeom prst="rect">
            <a:avLst/>
          </a:prstGeom>
          <a:noFill/>
        </p:spPr>
        <p:txBody>
          <a:bodyPr wrap="square">
            <a:spAutoFit/>
          </a:bodyPr>
          <a:lstStyle>
            <a:defPPr>
              <a:defRPr lang="zh-CN"/>
            </a:defPPr>
            <a:lvl1pPr>
              <a:defRPr sz="1600"/>
            </a:lvl1pPr>
          </a:lstStyle>
          <a:p>
            <a:pPr marL="285750" indent="-285750">
              <a:buFont typeface="Arial" panose="020B0604020202020204" pitchFamily="34" charset="0"/>
              <a:buChar char="•"/>
            </a:pPr>
            <a:r>
              <a:rPr lang="en-US" altLang="zh-CN" dirty="0"/>
              <a:t>RQ1. </a:t>
            </a:r>
            <a:r>
              <a:rPr lang="zh-CN" altLang="zh-CN" dirty="0"/>
              <a:t>模型融合在多编程语言学习上的性能如何？</a:t>
            </a:r>
            <a:endParaRPr lang="zh-CN" altLang="en-US" dirty="0"/>
          </a:p>
        </p:txBody>
      </p:sp>
      <p:sp>
        <p:nvSpPr>
          <p:cNvPr id="60" name="文本框 59">
            <a:extLst>
              <a:ext uri="{FF2B5EF4-FFF2-40B4-BE49-F238E27FC236}">
                <a16:creationId xmlns:a16="http://schemas.microsoft.com/office/drawing/2014/main" id="{EAD9B458-BFAB-833C-982A-65F05ED0F49F}"/>
              </a:ext>
            </a:extLst>
          </p:cNvPr>
          <p:cNvSpPr txBox="1"/>
          <p:nvPr/>
        </p:nvSpPr>
        <p:spPr>
          <a:xfrm>
            <a:off x="6487770" y="4648775"/>
            <a:ext cx="5558342" cy="328551"/>
          </a:xfrm>
          <a:prstGeom prst="rect">
            <a:avLst/>
          </a:prstGeom>
          <a:noFill/>
        </p:spPr>
        <p:txBody>
          <a:bodyPr wrap="square">
            <a:spAutoFit/>
          </a:bodyPr>
          <a:lstStyle>
            <a:defPPr>
              <a:defRPr lang="zh-CN"/>
            </a:defPPr>
            <a:lvl1pPr>
              <a:lnSpc>
                <a:spcPct val="120000"/>
              </a:lnSpc>
              <a:defRPr sz="1400">
                <a:solidFill>
                  <a:schemeClr val="tx1">
                    <a:lumMod val="75000"/>
                    <a:lumOff val="25000"/>
                  </a:schemeClr>
                </a:solidFill>
              </a:defRPr>
            </a:lvl1pPr>
          </a:lstStyle>
          <a:p>
            <a:r>
              <a:rPr lang="zh-CN" altLang="en-US" dirty="0"/>
              <a:t>在</a:t>
            </a:r>
            <a:r>
              <a:rPr lang="zh-CN" altLang="zh-CN" dirty="0"/>
              <a:t>代码</a:t>
            </a:r>
            <a:r>
              <a:rPr lang="zh-CN" altLang="en-US" dirty="0"/>
              <a:t>搜索</a:t>
            </a:r>
            <a:r>
              <a:rPr lang="zh-CN" altLang="zh-CN" dirty="0"/>
              <a:t>任务</a:t>
            </a:r>
            <a:r>
              <a:rPr lang="zh-CN" altLang="en-US" dirty="0"/>
              <a:t>与</a:t>
            </a:r>
            <a:r>
              <a:rPr lang="zh-CN" altLang="zh-CN" dirty="0"/>
              <a:t>代码修复</a:t>
            </a:r>
            <a:r>
              <a:rPr lang="zh-CN" altLang="en-US" dirty="0"/>
              <a:t>任务上进行了实证研究</a:t>
            </a:r>
          </a:p>
        </p:txBody>
      </p:sp>
      <p:sp>
        <p:nvSpPr>
          <p:cNvPr id="61" name="文本框 60">
            <a:extLst>
              <a:ext uri="{FF2B5EF4-FFF2-40B4-BE49-F238E27FC236}">
                <a16:creationId xmlns:a16="http://schemas.microsoft.com/office/drawing/2014/main" id="{584DF08C-0EE1-9B55-5577-FD58AE243057}"/>
              </a:ext>
            </a:extLst>
          </p:cNvPr>
          <p:cNvSpPr txBox="1"/>
          <p:nvPr/>
        </p:nvSpPr>
        <p:spPr>
          <a:xfrm>
            <a:off x="6189306" y="4999890"/>
            <a:ext cx="6106884" cy="338554"/>
          </a:xfrm>
          <a:prstGeom prst="rect">
            <a:avLst/>
          </a:prstGeom>
          <a:noFill/>
        </p:spPr>
        <p:txBody>
          <a:bodyPr wrap="square">
            <a:spAutoFit/>
          </a:bodyPr>
          <a:lstStyle>
            <a:defPPr>
              <a:defRPr lang="zh-CN"/>
            </a:defPPr>
            <a:lvl1pPr>
              <a:defRPr sz="1600"/>
            </a:lvl1pPr>
          </a:lstStyle>
          <a:p>
            <a:pPr marL="285750" indent="-285750">
              <a:buFont typeface="Arial" panose="020B0604020202020204" pitchFamily="34" charset="0"/>
              <a:buChar char="•"/>
            </a:pPr>
            <a:r>
              <a:rPr lang="en-US" altLang="zh-CN" dirty="0"/>
              <a:t>RQ2. </a:t>
            </a:r>
            <a:r>
              <a:rPr lang="zh-CN" altLang="en-US" dirty="0"/>
              <a:t>模型融合在软件工程多任务学习上的性能如何？</a:t>
            </a:r>
          </a:p>
        </p:txBody>
      </p:sp>
      <p:sp>
        <p:nvSpPr>
          <p:cNvPr id="63" name="文本框 62">
            <a:extLst>
              <a:ext uri="{FF2B5EF4-FFF2-40B4-BE49-F238E27FC236}">
                <a16:creationId xmlns:a16="http://schemas.microsoft.com/office/drawing/2014/main" id="{C5F33D00-CF16-FFC8-C1CE-0B41AF11FFDB}"/>
              </a:ext>
            </a:extLst>
          </p:cNvPr>
          <p:cNvSpPr txBox="1"/>
          <p:nvPr/>
        </p:nvSpPr>
        <p:spPr>
          <a:xfrm>
            <a:off x="6487770" y="5343446"/>
            <a:ext cx="5879956" cy="328551"/>
          </a:xfrm>
          <a:prstGeom prst="rect">
            <a:avLst/>
          </a:prstGeom>
          <a:noFill/>
        </p:spPr>
        <p:txBody>
          <a:bodyPr wrap="square">
            <a:spAutoFit/>
          </a:bodyPr>
          <a:lstStyle>
            <a:defPPr>
              <a:defRPr lang="zh-CN"/>
            </a:defPPr>
            <a:lvl1pPr>
              <a:lnSpc>
                <a:spcPct val="120000"/>
              </a:lnSpc>
              <a:defRPr sz="1400">
                <a:solidFill>
                  <a:schemeClr val="tx1">
                    <a:lumMod val="75000"/>
                    <a:lumOff val="25000"/>
                  </a:schemeClr>
                </a:solidFill>
              </a:defRPr>
            </a:lvl1pPr>
          </a:lstStyle>
          <a:p>
            <a:r>
              <a:rPr lang="zh-CN" altLang="zh-CN" dirty="0"/>
              <a:t>探究了</a:t>
            </a:r>
            <a:r>
              <a:rPr lang="zh-CN" altLang="en-US" dirty="0"/>
              <a:t>代码理解任务、代码生成式任务以及将他们同一起来的融合性能</a:t>
            </a:r>
          </a:p>
        </p:txBody>
      </p:sp>
      <p:sp>
        <p:nvSpPr>
          <p:cNvPr id="64" name="文本框 63">
            <a:extLst>
              <a:ext uri="{FF2B5EF4-FFF2-40B4-BE49-F238E27FC236}">
                <a16:creationId xmlns:a16="http://schemas.microsoft.com/office/drawing/2014/main" id="{9A0873FC-B05E-1CDC-D84C-6D0F7C026512}"/>
              </a:ext>
            </a:extLst>
          </p:cNvPr>
          <p:cNvSpPr txBox="1"/>
          <p:nvPr/>
        </p:nvSpPr>
        <p:spPr>
          <a:xfrm>
            <a:off x="6189306" y="5713094"/>
            <a:ext cx="6106884" cy="338554"/>
          </a:xfrm>
          <a:prstGeom prst="rect">
            <a:avLst/>
          </a:prstGeom>
          <a:noFill/>
        </p:spPr>
        <p:txBody>
          <a:bodyPr wrap="square">
            <a:spAutoFit/>
          </a:bodyPr>
          <a:lstStyle>
            <a:defPPr>
              <a:defRPr lang="zh-CN"/>
            </a:defPPr>
            <a:lvl1pPr>
              <a:defRPr sz="1600"/>
            </a:lvl1pPr>
          </a:lstStyle>
          <a:p>
            <a:pPr marL="285750" indent="-285750">
              <a:buFont typeface="Arial" panose="020B0604020202020204" pitchFamily="34" charset="0"/>
              <a:buChar char="•"/>
            </a:pPr>
            <a:r>
              <a:rPr lang="en-US" altLang="zh-CN" dirty="0"/>
              <a:t>RQ3. </a:t>
            </a:r>
            <a:r>
              <a:rPr lang="zh-CN" altLang="zh-CN" dirty="0"/>
              <a:t>如何提升模型融合在软工任务上的性能？</a:t>
            </a:r>
            <a:endParaRPr lang="zh-CN" altLang="en-US" dirty="0"/>
          </a:p>
        </p:txBody>
      </p:sp>
      <p:sp>
        <p:nvSpPr>
          <p:cNvPr id="66" name="文本框 65">
            <a:extLst>
              <a:ext uri="{FF2B5EF4-FFF2-40B4-BE49-F238E27FC236}">
                <a16:creationId xmlns:a16="http://schemas.microsoft.com/office/drawing/2014/main" id="{23C444D7-0C69-7748-0E4D-24E0C0EFEDE8}"/>
              </a:ext>
            </a:extLst>
          </p:cNvPr>
          <p:cNvSpPr txBox="1"/>
          <p:nvPr/>
        </p:nvSpPr>
        <p:spPr>
          <a:xfrm>
            <a:off x="6487770" y="6092223"/>
            <a:ext cx="5716671" cy="587084"/>
          </a:xfrm>
          <a:prstGeom prst="rect">
            <a:avLst/>
          </a:prstGeom>
          <a:noFill/>
        </p:spPr>
        <p:txBody>
          <a:bodyPr wrap="square">
            <a:spAutoFit/>
          </a:bodyPr>
          <a:lstStyle>
            <a:defPPr>
              <a:defRPr lang="zh-CN"/>
            </a:defPPr>
            <a:lvl1pPr>
              <a:lnSpc>
                <a:spcPct val="120000"/>
              </a:lnSpc>
              <a:defRPr sz="1400">
                <a:solidFill>
                  <a:schemeClr val="tx1">
                    <a:lumMod val="75000"/>
                    <a:lumOff val="25000"/>
                  </a:schemeClr>
                </a:solidFill>
              </a:defRPr>
            </a:lvl1pPr>
          </a:lstStyle>
          <a:p>
            <a:r>
              <a:rPr lang="zh-CN" altLang="zh-CN" dirty="0"/>
              <a:t>基于</a:t>
            </a:r>
            <a:r>
              <a:rPr lang="en-US" altLang="zh-CN" dirty="0"/>
              <a:t>RQ1</a:t>
            </a:r>
            <a:r>
              <a:rPr lang="zh-CN" altLang="zh-CN" dirty="0"/>
              <a:t>于</a:t>
            </a:r>
            <a:r>
              <a:rPr lang="en-US" altLang="zh-CN" dirty="0"/>
              <a:t>RQ2</a:t>
            </a:r>
            <a:r>
              <a:rPr lang="zh-CN" altLang="zh-CN" dirty="0"/>
              <a:t>中结果以及分析，改进现有方法，以提升软工任务模型融合的性能</a:t>
            </a:r>
            <a:endParaRPr lang="zh-CN" altLang="en-US" dirty="0"/>
          </a:p>
        </p:txBody>
      </p:sp>
      <p:sp>
        <p:nvSpPr>
          <p:cNvPr id="2" name="文本框 1">
            <a:extLst>
              <a:ext uri="{FF2B5EF4-FFF2-40B4-BE49-F238E27FC236}">
                <a16:creationId xmlns:a16="http://schemas.microsoft.com/office/drawing/2014/main" id="{25983546-FAA1-206B-9FB4-3DA067F4FEEC}"/>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2</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背景</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2</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研究设计</a:t>
            </a:r>
          </a:p>
        </p:txBody>
      </p:sp>
      <p:sp>
        <p:nvSpPr>
          <p:cNvPr id="8" name="文本框 7">
            <a:extLst>
              <a:ext uri="{FF2B5EF4-FFF2-40B4-BE49-F238E27FC236}">
                <a16:creationId xmlns:a16="http://schemas.microsoft.com/office/drawing/2014/main" id="{DCF45219-C5A5-888B-6E1E-92D70983F0C7}"/>
              </a:ext>
            </a:extLst>
          </p:cNvPr>
          <p:cNvSpPr txBox="1"/>
          <p:nvPr/>
        </p:nvSpPr>
        <p:spPr>
          <a:xfrm>
            <a:off x="435553" y="778914"/>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模型融合技术选取</a:t>
            </a:r>
            <a:endParaRPr lang="en-US" altLang="zh-CN" b="1" dirty="0">
              <a:solidFill>
                <a:srgbClr val="268F9C"/>
              </a:solidFill>
              <a:latin typeface="+mn-ea"/>
            </a:endParaRPr>
          </a:p>
        </p:txBody>
      </p:sp>
      <p:sp>
        <p:nvSpPr>
          <p:cNvPr id="2" name="文本框 1">
            <a:extLst>
              <a:ext uri="{FF2B5EF4-FFF2-40B4-BE49-F238E27FC236}">
                <a16:creationId xmlns:a16="http://schemas.microsoft.com/office/drawing/2014/main" id="{F400197A-3C76-482A-2494-04E695B38E81}"/>
              </a:ext>
            </a:extLst>
          </p:cNvPr>
          <p:cNvSpPr txBox="1"/>
          <p:nvPr/>
        </p:nvSpPr>
        <p:spPr>
          <a:xfrm>
            <a:off x="688134" y="1185597"/>
            <a:ext cx="5225625" cy="338554"/>
          </a:xfrm>
          <a:prstGeom prst="rect">
            <a:avLst/>
          </a:prstGeom>
          <a:noFill/>
        </p:spPr>
        <p:txBody>
          <a:bodyPr wrap="square">
            <a:spAutoFit/>
          </a:bodyPr>
          <a:lstStyle>
            <a:defPPr>
              <a:defRPr lang="zh-CN"/>
            </a:defPPr>
            <a:lvl1pPr>
              <a:spcAft>
                <a:spcPts val="1200"/>
              </a:spcAft>
              <a:defRPr sz="1600">
                <a:latin typeface="+mn-ea"/>
              </a:defRPr>
            </a:lvl1pPr>
          </a:lstStyle>
          <a:p>
            <a:r>
              <a:rPr lang="zh-CN" altLang="en-US" dirty="0"/>
              <a:t>采用</a:t>
            </a:r>
            <a:r>
              <a:rPr lang="en-US" altLang="zh-CN" dirty="0" err="1"/>
              <a:t>LoRA</a:t>
            </a:r>
            <a:r>
              <a:rPr lang="zh-CN" altLang="en-US" dirty="0"/>
              <a:t>进行微调，融合的目标为微调后的</a:t>
            </a:r>
            <a:r>
              <a:rPr lang="en-US" altLang="zh-CN" dirty="0" err="1"/>
              <a:t>LoRA</a:t>
            </a:r>
            <a:r>
              <a:rPr lang="zh-CN" altLang="en-US" dirty="0"/>
              <a:t>参数</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C844C24-2C3E-0F0E-E5BC-984CFC24C64D}"/>
                  </a:ext>
                </a:extLst>
              </p:cNvPr>
              <p:cNvSpPr txBox="1"/>
              <p:nvPr/>
            </p:nvSpPr>
            <p:spPr>
              <a:xfrm>
                <a:off x="688134" y="1638352"/>
                <a:ext cx="7214896" cy="370294"/>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zh-CN" altLang="zh-CN" b="1" dirty="0"/>
                  <a:t>任务算术</a:t>
                </a:r>
                <a:r>
                  <a:rPr lang="zh-CN" altLang="en-US" b="1" dirty="0"/>
                  <a:t>：</a:t>
                </a:r>
                <a14:m>
                  <m:oMath xmlns:m="http://schemas.openxmlformats.org/officeDocument/2006/math">
                    <m:d>
                      <m:dPr>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rPr>
                                  <m:t>𝐴</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𝐴</m:t>
                                </m:r>
                              </m:e>
                              <m:sub>
                                <m:r>
                                  <a:rPr lang="en-US" altLang="zh-CN">
                                    <a:latin typeface="Cambria Math" panose="02040503050406030204" pitchFamily="18" charset="0"/>
                                  </a:rPr>
                                  <m:t>2</m:t>
                                </m:r>
                              </m:sub>
                            </m:sSub>
                          </m:e>
                        </m:d>
                        <m:r>
                          <a:rPr lang="en-US" altLang="zh-CN">
                            <a:latin typeface="Cambria Math" panose="02040503050406030204" pitchFamily="18" charset="0"/>
                          </a:rPr>
                          <m:t>,...,</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rPr>
                                  <m:t>𝐴</m:t>
                                </m:r>
                              </m:e>
                              <m:sub>
                                <m:r>
                                  <a:rPr lang="en-US" altLang="zh-CN">
                                    <a:latin typeface="Cambria Math" panose="02040503050406030204" pitchFamily="18" charset="0"/>
                                  </a:rPr>
                                  <m:t>𝑁</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𝐵</m:t>
                                </m:r>
                              </m:e>
                              <m:sub>
                                <m:r>
                                  <a:rPr lang="en-US" altLang="zh-CN">
                                    <a:latin typeface="Cambria Math" panose="02040503050406030204" pitchFamily="18" charset="0"/>
                                  </a:rPr>
                                  <m:t>𝑁</m:t>
                                </m:r>
                              </m:sub>
                            </m:sSub>
                          </m:e>
                        </m:d>
                      </m:e>
                    </m:d>
                  </m:oMath>
                </a14:m>
                <a:r>
                  <a:rPr lang="zh-CN" altLang="en-US" dirty="0"/>
                  <a:t>，</a:t>
                </a:r>
                <a:r>
                  <a:rPr lang="zh-CN" altLang="zh-CN" dirty="0"/>
                  <a:t>直接将</a:t>
                </a:r>
                <a:r>
                  <a:rPr lang="en-US" altLang="zh-CN" dirty="0" err="1"/>
                  <a:t>LoRA</a:t>
                </a:r>
                <a:r>
                  <a:rPr lang="zh-CN" altLang="zh-CN" dirty="0"/>
                  <a:t>参数相加得到融合参数</a:t>
                </a:r>
                <a:endParaRPr lang="zh-CN" altLang="en-US" dirty="0"/>
              </a:p>
            </p:txBody>
          </p:sp>
        </mc:Choice>
        <mc:Fallback xmlns="">
          <p:sp>
            <p:nvSpPr>
              <p:cNvPr id="7" name="文本框 6">
                <a:extLst>
                  <a:ext uri="{FF2B5EF4-FFF2-40B4-BE49-F238E27FC236}">
                    <a16:creationId xmlns:a16="http://schemas.microsoft.com/office/drawing/2014/main" id="{8C844C24-2C3E-0F0E-E5BC-984CFC24C64D}"/>
                  </a:ext>
                </a:extLst>
              </p:cNvPr>
              <p:cNvSpPr txBox="1">
                <a:spLocks noRot="1" noChangeAspect="1" noMove="1" noResize="1" noEditPoints="1" noAdjustHandles="1" noChangeArrowheads="1" noChangeShapeType="1" noTextEdit="1"/>
              </p:cNvSpPr>
              <p:nvPr/>
            </p:nvSpPr>
            <p:spPr>
              <a:xfrm>
                <a:off x="688134" y="1638352"/>
                <a:ext cx="7214896" cy="370294"/>
              </a:xfrm>
              <a:prstGeom prst="rect">
                <a:avLst/>
              </a:prstGeom>
              <a:blipFill>
                <a:blip r:embed="rId3"/>
                <a:stretch>
                  <a:fillRect l="-338" b="-163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1CF436F-6DFC-49E5-2031-741D9873E2A1}"/>
                  </a:ext>
                </a:extLst>
              </p:cNvPr>
              <p:cNvSpPr txBox="1"/>
              <p:nvPr/>
            </p:nvSpPr>
            <p:spPr>
              <a:xfrm>
                <a:off x="1046195" y="2073834"/>
                <a:ext cx="2937977" cy="70448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sz="1400" i="1" smtClean="0">
                              <a:solidFill>
                                <a:srgbClr val="836967"/>
                              </a:solidFill>
                              <a:latin typeface="Cambria Math" panose="02040503050406030204" pitchFamily="18" charset="0"/>
                            </a:rPr>
                          </m:ctrlPr>
                        </m:sSubPr>
                        <m:e>
                          <m:r>
                            <a:rPr lang="zh-CN" altLang="en-US" sz="1400" i="1">
                              <a:latin typeface="Cambria Math" panose="02040503050406030204" pitchFamily="18" charset="0"/>
                            </a:rPr>
                            <m:t>𝐴</m:t>
                          </m:r>
                        </m:e>
                        <m:sub>
                          <m:r>
                            <a:rPr lang="zh-CN" altLang="en-US" sz="1400" i="1">
                              <a:latin typeface="Cambria Math" panose="02040503050406030204" pitchFamily="18" charset="0"/>
                            </a:rPr>
                            <m:t>𝑓𝑢𝑠𝑖𝑜𝑛</m:t>
                          </m:r>
                        </m:sub>
                      </m:sSub>
                      <m:r>
                        <a:rPr lang="zh-CN" altLang="en-US" sz="1400" i="0">
                          <a:latin typeface="Cambria Math" panose="02040503050406030204" pitchFamily="18" charset="0"/>
                        </a:rPr>
                        <m:t>=</m:t>
                      </m:r>
                      <m:nary>
                        <m:naryPr>
                          <m:chr m:val="∑"/>
                          <m:limLoc m:val="undOvr"/>
                          <m:ctrlPr>
                            <a:rPr lang="zh-CN" altLang="en-US" sz="1400" i="1">
                              <a:latin typeface="Cambria Math" panose="02040503050406030204" pitchFamily="18" charset="0"/>
                            </a:rPr>
                          </m:ctrlPr>
                        </m:naryPr>
                        <m:sub>
                          <m:r>
                            <a:rPr lang="zh-CN" altLang="en-US" sz="1400" i="0">
                              <a:latin typeface="Cambria Math" panose="02040503050406030204" pitchFamily="18" charset="0"/>
                            </a:rPr>
                            <m:t>1</m:t>
                          </m:r>
                        </m:sub>
                        <m:sup>
                          <m:r>
                            <a:rPr lang="zh-CN" altLang="en-US" sz="1400" i="1">
                              <a:latin typeface="Cambria Math" panose="02040503050406030204" pitchFamily="18" charset="0"/>
                            </a:rPr>
                            <m:t>𝑖</m:t>
                          </m:r>
                        </m:sup>
                        <m:e>
                          <m:sSub>
                            <m:sSubPr>
                              <m:ctrlPr>
                                <a:rPr lang="zh-CN" altLang="en-US" sz="1400" i="1">
                                  <a:solidFill>
                                    <a:srgbClr val="836967"/>
                                  </a:solidFill>
                                  <a:latin typeface="Cambria Math" panose="02040503050406030204" pitchFamily="18" charset="0"/>
                                </a:rPr>
                              </m:ctrlPr>
                            </m:sSubPr>
                            <m:e>
                              <m:r>
                                <a:rPr lang="zh-CN" altLang="en-US" sz="1400" i="1">
                                  <a:latin typeface="Cambria Math" panose="02040503050406030204" pitchFamily="18" charset="0"/>
                                </a:rPr>
                                <m:t>𝐴</m:t>
                              </m:r>
                            </m:e>
                            <m:sub>
                              <m:r>
                                <a:rPr lang="zh-CN" altLang="en-US" sz="1400" i="1">
                                  <a:latin typeface="Cambria Math" panose="02040503050406030204" pitchFamily="18" charset="0"/>
                                </a:rPr>
                                <m:t>𝑖</m:t>
                              </m:r>
                            </m:sub>
                          </m:sSub>
                        </m:e>
                      </m:nary>
                      <m:r>
                        <a:rPr lang="zh-CN" altLang="en-US" sz="1400" i="0">
                          <a:latin typeface="Cambria Math" panose="02040503050406030204" pitchFamily="18" charset="0"/>
                        </a:rPr>
                        <m:t>,</m:t>
                      </m:r>
                      <m:sSub>
                        <m:sSubPr>
                          <m:ctrlPr>
                            <a:rPr lang="zh-CN" altLang="en-US" sz="1400" i="1">
                              <a:solidFill>
                                <a:srgbClr val="836967"/>
                              </a:solidFill>
                              <a:latin typeface="Cambria Math" panose="02040503050406030204" pitchFamily="18" charset="0"/>
                            </a:rPr>
                          </m:ctrlPr>
                        </m:sSubPr>
                        <m:e>
                          <m:r>
                            <a:rPr lang="zh-CN" altLang="en-US" sz="1400" i="1">
                              <a:latin typeface="Cambria Math" panose="02040503050406030204" pitchFamily="18" charset="0"/>
                            </a:rPr>
                            <m:t>𝐵</m:t>
                          </m:r>
                        </m:e>
                        <m:sub>
                          <m:r>
                            <a:rPr lang="zh-CN" altLang="en-US" sz="1400" i="1">
                              <a:latin typeface="Cambria Math" panose="02040503050406030204" pitchFamily="18" charset="0"/>
                            </a:rPr>
                            <m:t>𝑓𝑢𝑠𝑖𝑜𝑛</m:t>
                          </m:r>
                        </m:sub>
                      </m:sSub>
                      <m:r>
                        <a:rPr lang="zh-CN" altLang="en-US" sz="1400" i="0">
                          <a:latin typeface="Cambria Math" panose="02040503050406030204" pitchFamily="18" charset="0"/>
                        </a:rPr>
                        <m:t>=</m:t>
                      </m:r>
                      <m:nary>
                        <m:naryPr>
                          <m:chr m:val="∑"/>
                          <m:limLoc m:val="undOvr"/>
                          <m:ctrlPr>
                            <a:rPr lang="zh-CN" altLang="en-US" sz="1400" i="1">
                              <a:latin typeface="Cambria Math" panose="02040503050406030204" pitchFamily="18" charset="0"/>
                            </a:rPr>
                          </m:ctrlPr>
                        </m:naryPr>
                        <m:sub>
                          <m:r>
                            <a:rPr lang="zh-CN" altLang="en-US" sz="1400" i="0">
                              <a:latin typeface="Cambria Math" panose="02040503050406030204" pitchFamily="18" charset="0"/>
                            </a:rPr>
                            <m:t>1</m:t>
                          </m:r>
                        </m:sub>
                        <m:sup>
                          <m:r>
                            <a:rPr lang="zh-CN" altLang="en-US" sz="1400" i="1">
                              <a:latin typeface="Cambria Math" panose="02040503050406030204" pitchFamily="18" charset="0"/>
                            </a:rPr>
                            <m:t>𝑖</m:t>
                          </m:r>
                        </m:sup>
                        <m:e>
                          <m:sSub>
                            <m:sSubPr>
                              <m:ctrlPr>
                                <a:rPr lang="zh-CN" altLang="en-US" sz="1400" i="1">
                                  <a:solidFill>
                                    <a:srgbClr val="836967"/>
                                  </a:solidFill>
                                  <a:latin typeface="Cambria Math" panose="02040503050406030204" pitchFamily="18" charset="0"/>
                                </a:rPr>
                              </m:ctrlPr>
                            </m:sSubPr>
                            <m:e>
                              <m:r>
                                <a:rPr lang="zh-CN" altLang="en-US" sz="1400" i="1">
                                  <a:latin typeface="Cambria Math" panose="02040503050406030204" pitchFamily="18" charset="0"/>
                                </a:rPr>
                                <m:t>𝐵</m:t>
                              </m:r>
                            </m:e>
                            <m:sub>
                              <m:r>
                                <a:rPr lang="zh-CN" altLang="en-US" sz="1400" i="1">
                                  <a:latin typeface="Cambria Math" panose="02040503050406030204" pitchFamily="18" charset="0"/>
                                </a:rPr>
                                <m:t>𝑖</m:t>
                              </m:r>
                            </m:sub>
                          </m:sSub>
                        </m:e>
                      </m:nary>
                    </m:oMath>
                  </m:oMathPara>
                </a14:m>
                <a:endParaRPr lang="zh-CN" altLang="en-US" sz="1400" dirty="0"/>
              </a:p>
            </p:txBody>
          </p:sp>
        </mc:Choice>
        <mc:Fallback xmlns="">
          <p:sp>
            <p:nvSpPr>
              <p:cNvPr id="16" name="文本框 15">
                <a:extLst>
                  <a:ext uri="{FF2B5EF4-FFF2-40B4-BE49-F238E27FC236}">
                    <a16:creationId xmlns:a16="http://schemas.microsoft.com/office/drawing/2014/main" id="{31CF436F-6DFC-49E5-2031-741D9873E2A1}"/>
                  </a:ext>
                </a:extLst>
              </p:cNvPr>
              <p:cNvSpPr txBox="1">
                <a:spLocks noRot="1" noChangeAspect="1" noMove="1" noResize="1" noEditPoints="1" noAdjustHandles="1" noChangeArrowheads="1" noChangeShapeType="1" noTextEdit="1"/>
              </p:cNvSpPr>
              <p:nvPr/>
            </p:nvSpPr>
            <p:spPr>
              <a:xfrm>
                <a:off x="1046195" y="2073834"/>
                <a:ext cx="2937977" cy="70448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BDE66E32-112E-DD14-CD92-6F413AB4E6C9}"/>
                  </a:ext>
                </a:extLst>
              </p:cNvPr>
              <p:cNvSpPr txBox="1"/>
              <p:nvPr/>
            </p:nvSpPr>
            <p:spPr>
              <a:xfrm>
                <a:off x="3771220" y="2095218"/>
                <a:ext cx="6106884" cy="716606"/>
              </a:xfrm>
              <a:prstGeom prst="rect">
                <a:avLst/>
              </a:prstGeom>
              <a:noFill/>
            </p:spPr>
            <p:txBody>
              <a:bodyPr wrap="square">
                <a:spAutoFit/>
              </a:bodyPr>
              <a:lstStyle>
                <a:defPPr>
                  <a:defRPr lang="zh-CN"/>
                </a:defPPr>
                <a:lvl1pPr>
                  <a:spcAft>
                    <a:spcPts val="1200"/>
                  </a:spcAft>
                  <a:defRPr sz="1600">
                    <a:latin typeface="+mn-ea"/>
                  </a:defRPr>
                </a:lvl1pPr>
              </a:lstStyle>
              <a:p>
                <a:pPr>
                  <a:spcAft>
                    <a:spcPts val="600"/>
                  </a:spcAft>
                </a:pPr>
                <a:r>
                  <a:rPr lang="zh-CN" altLang="en-US" dirty="0"/>
                  <a:t>需要一个融合系数来对融合参数放缩</a:t>
                </a:r>
                <a:endParaRPr lang="en-US" altLang="zh-CN" dirty="0"/>
              </a:p>
              <a:p>
                <a:pPr>
                  <a:spcAft>
                    <a:spcPts val="600"/>
                  </a:spcAft>
                </a:pPr>
                <a:r>
                  <a:rPr lang="zh-CN" altLang="en-US" dirty="0"/>
                  <a:t>通过格搜索得到</a:t>
                </a:r>
                <a14:m>
                  <m:oMath xmlns:m="http://schemas.openxmlformats.org/officeDocument/2006/math">
                    <m:r>
                      <a:rPr lang="en-US" altLang="zh-CN" b="0" i="1" smtClean="0">
                        <a:latin typeface="Cambria Math" panose="02040503050406030204" pitchFamily="18" charset="0"/>
                      </a:rPr>
                      <m:t>𝛼</m:t>
                    </m:r>
                  </m:oMath>
                </a14:m>
                <a:r>
                  <a:rPr lang="zh-CN" altLang="en-US" dirty="0"/>
                  <a:t>，推理参数  </a:t>
                </a:r>
                <a14:m>
                  <m:oMath xmlns:m="http://schemas.openxmlformats.org/officeDocument/2006/math">
                    <m:sSub>
                      <m:sSubPr>
                        <m:ctrlPr>
                          <a:rPr lang="en-US" altLang="zh-CN" b="0" i="1" dirty="0"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𝛼</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𝐴</m:t>
                        </m:r>
                      </m:e>
                      <m:sub>
                        <m:r>
                          <a:rPr lang="en-US" altLang="zh-CN" b="0" i="1" dirty="0" smtClean="0">
                            <a:latin typeface="Cambria Math" panose="02040503050406030204" pitchFamily="18" charset="0"/>
                          </a:rPr>
                          <m:t>𝑓𝑢𝑠𝑖𝑜𝑛</m:t>
                        </m:r>
                      </m:sub>
                    </m:sSub>
                    <m:r>
                      <a:rPr lang="en-US" altLang="zh-CN" b="0" i="1" dirty="0" smtClean="0">
                        <a:latin typeface="Cambria Math" panose="02040503050406030204" pitchFamily="18" charset="0"/>
                      </a:rPr>
                      <m:t>,    </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𝛼</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𝐵</m:t>
                        </m:r>
                      </m:e>
                      <m:sub>
                        <m:r>
                          <a:rPr lang="en-US" altLang="zh-CN" b="0" i="1" dirty="0" smtClean="0">
                            <a:latin typeface="Cambria Math" panose="02040503050406030204" pitchFamily="18" charset="0"/>
                          </a:rPr>
                          <m:t>𝑓𝑢𝑠𝑖𝑜𝑛</m:t>
                        </m:r>
                      </m:sub>
                    </m:sSub>
                  </m:oMath>
                </a14:m>
                <a:endParaRPr lang="zh-CN" altLang="en-US" dirty="0"/>
              </a:p>
            </p:txBody>
          </p:sp>
        </mc:Choice>
        <mc:Fallback>
          <p:sp>
            <p:nvSpPr>
              <p:cNvPr id="19" name="文本框 18">
                <a:extLst>
                  <a:ext uri="{FF2B5EF4-FFF2-40B4-BE49-F238E27FC236}">
                    <a16:creationId xmlns:a16="http://schemas.microsoft.com/office/drawing/2014/main" id="{BDE66E32-112E-DD14-CD92-6F413AB4E6C9}"/>
                  </a:ext>
                </a:extLst>
              </p:cNvPr>
              <p:cNvSpPr txBox="1">
                <a:spLocks noRot="1" noChangeAspect="1" noMove="1" noResize="1" noEditPoints="1" noAdjustHandles="1" noChangeArrowheads="1" noChangeShapeType="1" noTextEdit="1"/>
              </p:cNvSpPr>
              <p:nvPr/>
            </p:nvSpPr>
            <p:spPr>
              <a:xfrm>
                <a:off x="3771220" y="2095218"/>
                <a:ext cx="6106884" cy="716606"/>
              </a:xfrm>
              <a:prstGeom prst="rect">
                <a:avLst/>
              </a:prstGeom>
              <a:blipFill>
                <a:blip r:embed="rId5"/>
                <a:stretch>
                  <a:fillRect l="-599" t="-2564" b="-4274"/>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3F8B9FE5-2478-1154-1D09-487C2AB47F18}"/>
              </a:ext>
            </a:extLst>
          </p:cNvPr>
          <p:cNvSpPr txBox="1"/>
          <p:nvPr/>
        </p:nvSpPr>
        <p:spPr>
          <a:xfrm>
            <a:off x="688132" y="2843510"/>
            <a:ext cx="9594203"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en-US" altLang="zh-CN" dirty="0"/>
              <a:t>TIES Merging</a:t>
            </a:r>
            <a:r>
              <a:rPr lang="zh-CN" altLang="en-US" dirty="0"/>
              <a:t>：</a:t>
            </a:r>
            <a:r>
              <a:rPr lang="zh-CN" altLang="en-US" b="0" dirty="0"/>
              <a:t>传统的模型融合方法在整合多个微调模型时，常常会因参数干扰而导致性能下降</a:t>
            </a:r>
          </a:p>
        </p:txBody>
      </p:sp>
      <p:sp>
        <p:nvSpPr>
          <p:cNvPr id="25" name="文本框 24">
            <a:extLst>
              <a:ext uri="{FF2B5EF4-FFF2-40B4-BE49-F238E27FC236}">
                <a16:creationId xmlns:a16="http://schemas.microsoft.com/office/drawing/2014/main" id="{50123177-2FA3-8F54-81C1-B3D6D8A214C7}"/>
              </a:ext>
            </a:extLst>
          </p:cNvPr>
          <p:cNvSpPr txBox="1"/>
          <p:nvPr/>
        </p:nvSpPr>
        <p:spPr>
          <a:xfrm>
            <a:off x="887574" y="3217287"/>
            <a:ext cx="914283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pPr marL="0" indent="0">
              <a:buNone/>
            </a:pPr>
            <a:r>
              <a:rPr lang="zh-CN" altLang="zh-CN" b="0" dirty="0"/>
              <a:t>（</a:t>
            </a:r>
            <a:r>
              <a:rPr lang="en-US" altLang="zh-CN" b="0" dirty="0"/>
              <a:t>1</a:t>
            </a:r>
            <a:r>
              <a:rPr lang="zh-CN" altLang="zh-CN" b="0" dirty="0"/>
              <a:t>）去除冗余参数（</a:t>
            </a:r>
            <a:r>
              <a:rPr lang="en-US" altLang="zh-CN" b="0" dirty="0"/>
              <a:t>2</a:t>
            </a:r>
            <a:r>
              <a:rPr lang="zh-CN" altLang="zh-CN" b="0" dirty="0"/>
              <a:t>）符号选择（</a:t>
            </a:r>
            <a:r>
              <a:rPr lang="en-US" altLang="zh-CN" b="0" dirty="0"/>
              <a:t>3</a:t>
            </a:r>
            <a:r>
              <a:rPr lang="zh-CN" altLang="zh-CN" b="0" dirty="0"/>
              <a:t>）非重叠融合</a:t>
            </a:r>
            <a:endParaRPr lang="zh-CN" altLang="en-US" b="0" dirty="0"/>
          </a:p>
        </p:txBody>
      </p:sp>
      <p:sp>
        <p:nvSpPr>
          <p:cNvPr id="26" name="文本框 25">
            <a:extLst>
              <a:ext uri="{FF2B5EF4-FFF2-40B4-BE49-F238E27FC236}">
                <a16:creationId xmlns:a16="http://schemas.microsoft.com/office/drawing/2014/main" id="{E91F474B-3DC4-7E65-B756-F047D12C77C1}"/>
              </a:ext>
            </a:extLst>
          </p:cNvPr>
          <p:cNvSpPr txBox="1"/>
          <p:nvPr/>
        </p:nvSpPr>
        <p:spPr>
          <a:xfrm>
            <a:off x="688134" y="3678374"/>
            <a:ext cx="627250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en-US" dirty="0"/>
              <a:t>可学习融合系数：</a:t>
            </a:r>
            <a:r>
              <a:rPr lang="zh-CN" altLang="en-US" b="0" dirty="0"/>
              <a:t>为每一层的</a:t>
            </a:r>
            <a:r>
              <a:rPr lang="en-US" altLang="zh-CN" b="0" dirty="0"/>
              <a:t>lora</a:t>
            </a:r>
            <a:r>
              <a:rPr lang="zh-CN" altLang="en-US" b="0" dirty="0"/>
              <a:t>参数分配一个融合系数</a:t>
            </a: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E9E6D72-2E99-F582-30B1-D1E9B09E564C}"/>
                  </a:ext>
                </a:extLst>
              </p:cNvPr>
              <p:cNvSpPr txBox="1"/>
              <p:nvPr/>
            </p:nvSpPr>
            <p:spPr>
              <a:xfrm>
                <a:off x="1046195" y="4052151"/>
                <a:ext cx="6106884" cy="698140"/>
              </a:xfrm>
              <a:prstGeom prst="rect">
                <a:avLst/>
              </a:prstGeom>
              <a:noFill/>
            </p:spPr>
            <p:txBody>
              <a:bodyPr wrap="square">
                <a:spAutoFit/>
              </a:bodyPr>
              <a:lstStyle>
                <a:defPPr>
                  <a:defRPr lang="zh-CN"/>
                </a:defPPr>
                <a:lvl1pPr>
                  <a:defRPr sz="1400" i="1">
                    <a:solidFill>
                      <a:srgbClr val="836967"/>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Sup>
                        <m:sSubSupPr>
                          <m:ctrlPr>
                            <a:rPr lang="zh-CN" altLang="en-US" i="1" smtClean="0">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𝐴</m:t>
                          </m:r>
                        </m:e>
                        <m:sub>
                          <m:r>
                            <a:rPr lang="zh-CN" altLang="en-US">
                              <a:solidFill>
                                <a:schemeClr val="tx1"/>
                              </a:solidFill>
                              <a:latin typeface="Cambria Math" panose="02040503050406030204" pitchFamily="18" charset="0"/>
                            </a:rPr>
                            <m:t>𝑓𝑢𝑠𝑖𝑜𝑛</m:t>
                          </m:r>
                        </m:sub>
                        <m:sup>
                          <m:r>
                            <a:rPr lang="zh-CN" altLang="en-US">
                              <a:solidFill>
                                <a:schemeClr val="tx1"/>
                              </a:solidFill>
                              <a:latin typeface="Cambria Math" panose="02040503050406030204" pitchFamily="18" charset="0"/>
                            </a:rPr>
                            <m:t>𝑙</m:t>
                          </m:r>
                        </m:sup>
                      </m:sSubSup>
                      <m:r>
                        <a:rPr lang="zh-CN" altLang="en-US">
                          <a:solidFill>
                            <a:schemeClr val="tx1"/>
                          </a:solidFill>
                          <a:latin typeface="Cambria Math" panose="02040503050406030204" pitchFamily="18" charset="0"/>
                        </a:rPr>
                        <m:t>=</m:t>
                      </m:r>
                      <m:nary>
                        <m:naryPr>
                          <m:chr m:val="∑"/>
                          <m:limLoc m:val="undOvr"/>
                          <m:ctrlPr>
                            <a:rPr lang="zh-CN" altLang="en-US" i="1">
                              <a:solidFill>
                                <a:schemeClr val="tx1"/>
                              </a:solidFill>
                              <a:latin typeface="Cambria Math" panose="02040503050406030204" pitchFamily="18" charset="0"/>
                            </a:rPr>
                          </m:ctrlPr>
                        </m:naryPr>
                        <m:sub>
                          <m:r>
                            <a:rPr lang="zh-CN" altLang="en-US">
                              <a:solidFill>
                                <a:schemeClr val="tx1"/>
                              </a:solidFill>
                              <a:latin typeface="Cambria Math" panose="02040503050406030204" pitchFamily="18" charset="0"/>
                            </a:rPr>
                            <m:t>𝑖</m:t>
                          </m:r>
                          <m:r>
                            <a:rPr lang="zh-CN" altLang="en-US">
                              <a:solidFill>
                                <a:schemeClr val="tx1"/>
                              </a:solidFill>
                              <a:latin typeface="Cambria Math" panose="02040503050406030204" pitchFamily="18" charset="0"/>
                            </a:rPr>
                            <m:t>=1</m:t>
                          </m:r>
                        </m:sub>
                        <m:sup>
                          <m:r>
                            <a:rPr lang="zh-CN" altLang="en-US">
                              <a:solidFill>
                                <a:schemeClr val="tx1"/>
                              </a:solidFill>
                              <a:latin typeface="Cambria Math" panose="02040503050406030204" pitchFamily="18" charset="0"/>
                            </a:rPr>
                            <m:t>𝑁</m:t>
                          </m:r>
                        </m:sup>
                        <m:e>
                          <m:sSubSup>
                            <m:sSubSupPr>
                              <m:ctrlPr>
                                <a:rPr lang="zh-CN" altLang="en-US" i="1">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𝛼</m:t>
                              </m:r>
                            </m:e>
                            <m:sub>
                              <m:r>
                                <a:rPr lang="zh-CN" altLang="en-US">
                                  <a:solidFill>
                                    <a:schemeClr val="tx1"/>
                                  </a:solidFill>
                                  <a:latin typeface="Cambria Math" panose="02040503050406030204" pitchFamily="18" charset="0"/>
                                </a:rPr>
                                <m:t>𝑖</m:t>
                              </m:r>
                            </m:sub>
                            <m:sup>
                              <m:r>
                                <a:rPr lang="zh-CN" altLang="en-US">
                                  <a:solidFill>
                                    <a:schemeClr val="tx1"/>
                                  </a:solidFill>
                                  <a:latin typeface="Cambria Math" panose="02040503050406030204" pitchFamily="18" charset="0"/>
                                </a:rPr>
                                <m:t>𝑙</m:t>
                              </m:r>
                            </m:sup>
                          </m:sSubSup>
                          <m:sSubSup>
                            <m:sSubSupPr>
                              <m:ctrlPr>
                                <a:rPr lang="zh-CN" altLang="en-US" i="1">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𝐴</m:t>
                              </m:r>
                            </m:e>
                            <m:sub>
                              <m:r>
                                <a:rPr lang="zh-CN" altLang="en-US">
                                  <a:solidFill>
                                    <a:schemeClr val="tx1"/>
                                  </a:solidFill>
                                  <a:latin typeface="Cambria Math" panose="02040503050406030204" pitchFamily="18" charset="0"/>
                                </a:rPr>
                                <m:t>𝑖</m:t>
                              </m:r>
                            </m:sub>
                            <m:sup>
                              <m:r>
                                <a:rPr lang="zh-CN" altLang="en-US">
                                  <a:solidFill>
                                    <a:schemeClr val="tx1"/>
                                  </a:solidFill>
                                  <a:latin typeface="Cambria Math" panose="02040503050406030204" pitchFamily="18" charset="0"/>
                                </a:rPr>
                                <m:t>𝑙</m:t>
                              </m:r>
                            </m:sup>
                          </m:sSubSup>
                        </m:e>
                      </m:nary>
                      <m:r>
                        <a:rPr lang="zh-CN" altLang="en-US">
                          <a:solidFill>
                            <a:schemeClr val="tx1"/>
                          </a:solidFill>
                          <a:latin typeface="Cambria Math" panose="02040503050406030204" pitchFamily="18" charset="0"/>
                        </a:rPr>
                        <m:t>,  </m:t>
                      </m:r>
                      <m:sSubSup>
                        <m:sSubSupPr>
                          <m:ctrlPr>
                            <a:rPr lang="zh-CN" altLang="en-US" i="1">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𝐵</m:t>
                          </m:r>
                        </m:e>
                        <m:sub>
                          <m:r>
                            <a:rPr lang="zh-CN" altLang="en-US">
                              <a:solidFill>
                                <a:schemeClr val="tx1"/>
                              </a:solidFill>
                              <a:latin typeface="Cambria Math" panose="02040503050406030204" pitchFamily="18" charset="0"/>
                            </a:rPr>
                            <m:t>𝑓𝑢𝑠𝑖𝑜𝑛</m:t>
                          </m:r>
                        </m:sub>
                        <m:sup>
                          <m:r>
                            <a:rPr lang="zh-CN" altLang="en-US">
                              <a:solidFill>
                                <a:schemeClr val="tx1"/>
                              </a:solidFill>
                              <a:latin typeface="Cambria Math" panose="02040503050406030204" pitchFamily="18" charset="0"/>
                            </a:rPr>
                            <m:t>𝑙</m:t>
                          </m:r>
                        </m:sup>
                      </m:sSubSup>
                      <m:r>
                        <a:rPr lang="zh-CN" altLang="en-US">
                          <a:solidFill>
                            <a:schemeClr val="tx1"/>
                          </a:solidFill>
                          <a:latin typeface="Cambria Math" panose="02040503050406030204" pitchFamily="18" charset="0"/>
                        </a:rPr>
                        <m:t>=</m:t>
                      </m:r>
                      <m:nary>
                        <m:naryPr>
                          <m:chr m:val="∑"/>
                          <m:limLoc m:val="undOvr"/>
                          <m:ctrlPr>
                            <a:rPr lang="zh-CN" altLang="en-US" i="1">
                              <a:solidFill>
                                <a:schemeClr val="tx1"/>
                              </a:solidFill>
                              <a:latin typeface="Cambria Math" panose="02040503050406030204" pitchFamily="18" charset="0"/>
                            </a:rPr>
                          </m:ctrlPr>
                        </m:naryPr>
                        <m:sub>
                          <m:r>
                            <a:rPr lang="zh-CN" altLang="en-US">
                              <a:solidFill>
                                <a:schemeClr val="tx1"/>
                              </a:solidFill>
                              <a:latin typeface="Cambria Math" panose="02040503050406030204" pitchFamily="18" charset="0"/>
                            </a:rPr>
                            <m:t>𝑖</m:t>
                          </m:r>
                          <m:r>
                            <a:rPr lang="zh-CN" altLang="en-US">
                              <a:solidFill>
                                <a:schemeClr val="tx1"/>
                              </a:solidFill>
                              <a:latin typeface="Cambria Math" panose="02040503050406030204" pitchFamily="18" charset="0"/>
                            </a:rPr>
                            <m:t>=1</m:t>
                          </m:r>
                        </m:sub>
                        <m:sup>
                          <m:r>
                            <a:rPr lang="zh-CN" altLang="en-US">
                              <a:solidFill>
                                <a:schemeClr val="tx1"/>
                              </a:solidFill>
                              <a:latin typeface="Cambria Math" panose="02040503050406030204" pitchFamily="18" charset="0"/>
                            </a:rPr>
                            <m:t>𝑁</m:t>
                          </m:r>
                        </m:sup>
                        <m:e>
                          <m:sSubSup>
                            <m:sSubSupPr>
                              <m:ctrlPr>
                                <a:rPr lang="zh-CN" altLang="en-US" i="1">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𝛽</m:t>
                              </m:r>
                            </m:e>
                            <m:sub>
                              <m:r>
                                <a:rPr lang="zh-CN" altLang="en-US">
                                  <a:solidFill>
                                    <a:schemeClr val="tx1"/>
                                  </a:solidFill>
                                  <a:latin typeface="Cambria Math" panose="02040503050406030204" pitchFamily="18" charset="0"/>
                                </a:rPr>
                                <m:t>𝑖</m:t>
                              </m:r>
                            </m:sub>
                            <m:sup>
                              <m:r>
                                <a:rPr lang="zh-CN" altLang="en-US">
                                  <a:solidFill>
                                    <a:schemeClr val="tx1"/>
                                  </a:solidFill>
                                  <a:latin typeface="Cambria Math" panose="02040503050406030204" pitchFamily="18" charset="0"/>
                                </a:rPr>
                                <m:t>𝑙</m:t>
                              </m:r>
                            </m:sup>
                          </m:sSubSup>
                          <m:sSubSup>
                            <m:sSubSupPr>
                              <m:ctrlPr>
                                <a:rPr lang="zh-CN" altLang="en-US" i="1">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𝐵</m:t>
                              </m:r>
                            </m:e>
                            <m:sub>
                              <m:r>
                                <a:rPr lang="zh-CN" altLang="en-US">
                                  <a:solidFill>
                                    <a:schemeClr val="tx1"/>
                                  </a:solidFill>
                                  <a:latin typeface="Cambria Math" panose="02040503050406030204" pitchFamily="18" charset="0"/>
                                </a:rPr>
                                <m:t>𝑖</m:t>
                              </m:r>
                            </m:sub>
                            <m:sup>
                              <m:r>
                                <a:rPr lang="zh-CN" altLang="en-US">
                                  <a:solidFill>
                                    <a:schemeClr val="tx1"/>
                                  </a:solidFill>
                                  <a:latin typeface="Cambria Math" panose="02040503050406030204" pitchFamily="18" charset="0"/>
                                </a:rPr>
                                <m:t>𝑙</m:t>
                              </m:r>
                            </m:sup>
                          </m:sSubSup>
                        </m:e>
                      </m:nary>
                    </m:oMath>
                  </m:oMathPara>
                </a14:m>
                <a:endParaRPr lang="zh-CN" altLang="en-US" dirty="0">
                  <a:solidFill>
                    <a:schemeClr val="tx1"/>
                  </a:solidFill>
                </a:endParaRPr>
              </a:p>
            </p:txBody>
          </p:sp>
        </mc:Choice>
        <mc:Fallback xmlns="">
          <p:sp>
            <p:nvSpPr>
              <p:cNvPr id="28" name="文本框 27">
                <a:extLst>
                  <a:ext uri="{FF2B5EF4-FFF2-40B4-BE49-F238E27FC236}">
                    <a16:creationId xmlns:a16="http://schemas.microsoft.com/office/drawing/2014/main" id="{7E9E6D72-2E99-F582-30B1-D1E9B09E564C}"/>
                  </a:ext>
                </a:extLst>
              </p:cNvPr>
              <p:cNvSpPr txBox="1">
                <a:spLocks noRot="1" noChangeAspect="1" noMove="1" noResize="1" noEditPoints="1" noAdjustHandles="1" noChangeArrowheads="1" noChangeShapeType="1" noTextEdit="1"/>
              </p:cNvSpPr>
              <p:nvPr/>
            </p:nvSpPr>
            <p:spPr>
              <a:xfrm>
                <a:off x="1046195" y="4052151"/>
                <a:ext cx="6106884" cy="698140"/>
              </a:xfrm>
              <a:prstGeom prst="rect">
                <a:avLst/>
              </a:prstGeom>
              <a:blipFill>
                <a:blip r:embed="rId6"/>
                <a:stretch>
                  <a:fillRect/>
                </a:stretch>
              </a:blipFill>
            </p:spPr>
            <p:txBody>
              <a:bodyPr/>
              <a:lstStyle/>
              <a:p>
                <a:r>
                  <a:rPr lang="zh-CN" altLang="en-US">
                    <a:noFill/>
                  </a:rPr>
                  <a:t> </a:t>
                </a:r>
              </a:p>
            </p:txBody>
          </p:sp>
        </mc:Fallback>
      </mc:AlternateContent>
      <p:sp>
        <p:nvSpPr>
          <p:cNvPr id="34" name="文本框 33">
            <a:extLst>
              <a:ext uri="{FF2B5EF4-FFF2-40B4-BE49-F238E27FC236}">
                <a16:creationId xmlns:a16="http://schemas.microsoft.com/office/drawing/2014/main" id="{CCFF4E79-BEA6-3ABC-52C0-501A319C641D}"/>
              </a:ext>
            </a:extLst>
          </p:cNvPr>
          <p:cNvSpPr txBox="1"/>
          <p:nvPr/>
        </p:nvSpPr>
        <p:spPr>
          <a:xfrm>
            <a:off x="688133" y="4877328"/>
            <a:ext cx="10704545"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基于掩码的方法</a:t>
            </a:r>
            <a:r>
              <a:rPr lang="zh-CN" altLang="en-US" dirty="0"/>
              <a:t>：</a:t>
            </a:r>
            <a:r>
              <a:rPr lang="zh-CN" altLang="en-US" b="0" dirty="0"/>
              <a:t>为每个任务引入一个特殊的掩码矩阵</a:t>
            </a:r>
          </a:p>
        </p:txBody>
      </p:sp>
      <p:sp>
        <p:nvSpPr>
          <p:cNvPr id="36" name="文本框 35">
            <a:extLst>
              <a:ext uri="{FF2B5EF4-FFF2-40B4-BE49-F238E27FC236}">
                <a16:creationId xmlns:a16="http://schemas.microsoft.com/office/drawing/2014/main" id="{F9997ED0-7D9E-BB1A-609C-61F68EF3ABBA}"/>
              </a:ext>
            </a:extLst>
          </p:cNvPr>
          <p:cNvSpPr txBox="1"/>
          <p:nvPr/>
        </p:nvSpPr>
        <p:spPr>
          <a:xfrm>
            <a:off x="887574" y="5272137"/>
            <a:ext cx="6106884" cy="338554"/>
          </a:xfrm>
          <a:prstGeom prst="rect">
            <a:avLst/>
          </a:prstGeom>
          <a:noFill/>
        </p:spPr>
        <p:txBody>
          <a:bodyPr wrap="square">
            <a:spAutoFit/>
          </a:bodyPr>
          <a:lstStyle>
            <a:defPPr>
              <a:defRPr lang="zh-CN"/>
            </a:defPPr>
            <a:lvl1pPr indent="0">
              <a:spcAft>
                <a:spcPts val="1200"/>
              </a:spcAft>
              <a:buFont typeface="Arial" panose="020B0604020202020204" pitchFamily="34" charset="0"/>
              <a:buNone/>
              <a:defRPr sz="1600" b="0">
                <a:latin typeface="+mn-ea"/>
              </a:defRPr>
            </a:lvl1pPr>
          </a:lstStyle>
          <a:p>
            <a:r>
              <a:rPr lang="zh-CN" altLang="en-US" dirty="0"/>
              <a:t>（</a:t>
            </a:r>
            <a:r>
              <a:rPr lang="en-US" altLang="zh-CN" dirty="0"/>
              <a:t>1</a:t>
            </a:r>
            <a:r>
              <a:rPr lang="zh-CN" altLang="en-US" dirty="0"/>
              <a:t>）</a:t>
            </a:r>
            <a:r>
              <a:rPr lang="zh-CN" altLang="zh-CN" dirty="0"/>
              <a:t>保留绝对值最大的元素</a:t>
            </a:r>
            <a:endParaRPr lang="zh-CN" altLang="en-US" dirty="0"/>
          </a:p>
        </p:txBody>
      </p:sp>
      <p:sp>
        <p:nvSpPr>
          <p:cNvPr id="38" name="文本框 37">
            <a:extLst>
              <a:ext uri="{FF2B5EF4-FFF2-40B4-BE49-F238E27FC236}">
                <a16:creationId xmlns:a16="http://schemas.microsoft.com/office/drawing/2014/main" id="{7588F699-4556-85B7-B02D-CE83DFBCA1C9}"/>
              </a:ext>
            </a:extLst>
          </p:cNvPr>
          <p:cNvSpPr txBox="1"/>
          <p:nvPr/>
        </p:nvSpPr>
        <p:spPr>
          <a:xfrm>
            <a:off x="887574" y="5641625"/>
            <a:ext cx="11033592" cy="338554"/>
          </a:xfrm>
          <a:prstGeom prst="rect">
            <a:avLst/>
          </a:prstGeom>
          <a:noFill/>
        </p:spPr>
        <p:txBody>
          <a:bodyPr wrap="square">
            <a:spAutoFit/>
          </a:bodyPr>
          <a:lstStyle>
            <a:defPPr>
              <a:defRPr lang="zh-CN"/>
            </a:defPPr>
            <a:lvl1pPr indent="0">
              <a:spcAft>
                <a:spcPts val="1200"/>
              </a:spcAft>
              <a:buFont typeface="Arial" panose="020B0604020202020204" pitchFamily="34" charset="0"/>
              <a:buNone/>
              <a:defRPr sz="1600" b="0">
                <a:latin typeface="+mn-ea"/>
              </a:defRPr>
            </a:lvl1pPr>
          </a:lstStyle>
          <a:p>
            <a:r>
              <a:rPr lang="zh-CN" altLang="en-US" dirty="0"/>
              <a:t>（</a:t>
            </a:r>
            <a:r>
              <a:rPr lang="en-US" altLang="zh-CN" dirty="0"/>
              <a:t>2</a:t>
            </a:r>
            <a:r>
              <a:rPr lang="zh-CN" altLang="en-US" dirty="0"/>
              <a:t>）</a:t>
            </a:r>
            <a:r>
              <a:rPr lang="zh-CN" altLang="zh-CN" dirty="0"/>
              <a:t>融合参数的每一个维度构造</a:t>
            </a:r>
            <a:r>
              <a:rPr lang="en-US" altLang="zh-CN" dirty="0"/>
              <a:t>1bit</a:t>
            </a:r>
            <a:r>
              <a:rPr lang="zh-CN" altLang="zh-CN" dirty="0"/>
              <a:t>掩码，用于掩盖掉融合参数中与原始微调参数差距过大的维度</a:t>
            </a:r>
            <a:endParaRPr lang="zh-CN" altLang="en-US" dirty="0"/>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7AAD50A0-9ADA-92E4-1292-D356C2461518}"/>
                  </a:ext>
                </a:extLst>
              </p:cNvPr>
              <p:cNvSpPr txBox="1"/>
              <p:nvPr/>
            </p:nvSpPr>
            <p:spPr>
              <a:xfrm>
                <a:off x="1426419" y="6083943"/>
                <a:ext cx="3306023" cy="411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𝑚</m:t>
                          </m:r>
                        </m:e>
                        <m:sub>
                          <m:r>
                            <a:rPr lang="zh-CN" altLang="en-US" i="1">
                              <a:latin typeface="Cambria Math" panose="02040503050406030204" pitchFamily="18" charset="0"/>
                            </a:rPr>
                            <m:t>𝑖</m:t>
                          </m:r>
                        </m:sub>
                      </m:sSub>
                      <m:r>
                        <a:rPr lang="zh-CN" altLang="en-US" i="0">
                          <a:latin typeface="Cambria Math" panose="02040503050406030204" pitchFamily="18" charset="0"/>
                        </a:rPr>
                        <m:t>=1</m:t>
                      </m:r>
                      <m:d>
                        <m:dPr>
                          <m:begChr m:val="{"/>
                          <m:endChr m:val="}"/>
                          <m:ctrlPr>
                            <a:rPr lang="zh-CN" altLang="en-US" i="1">
                              <a:latin typeface="Cambria Math" panose="02040503050406030204" pitchFamily="18" charset="0"/>
                            </a:rPr>
                          </m:ctrlPr>
                        </m:dPr>
                        <m:e>
                          <m:d>
                            <m:dPr>
                              <m:begChr m:val="|"/>
                              <m:endChr m:val="|"/>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𝑖</m:t>
                                  </m:r>
                                </m:sub>
                              </m:sSub>
                            </m:e>
                          </m:d>
                          <m:r>
                            <a:rPr lang="zh-CN" altLang="en-US" i="0">
                              <a:latin typeface="Cambria Math" panose="02040503050406030204" pitchFamily="18" charset="0"/>
                            </a:rPr>
                            <m:t>≥</m:t>
                          </m:r>
                          <m:d>
                            <m:dPr>
                              <m:begChr m:val="|"/>
                              <m:endChr m:val="|"/>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𝑓𝑢𝑠𝑖𝑜𝑛</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𝑖</m:t>
                                  </m:r>
                                </m:sub>
                              </m:sSub>
                            </m:e>
                          </m:d>
                        </m:e>
                      </m:d>
                    </m:oMath>
                  </m:oMathPara>
                </a14:m>
                <a:endParaRPr lang="zh-CN" altLang="en-US" dirty="0"/>
              </a:p>
            </p:txBody>
          </p:sp>
        </mc:Choice>
        <mc:Fallback xmlns="">
          <p:sp>
            <p:nvSpPr>
              <p:cNvPr id="40" name="文本框 39">
                <a:extLst>
                  <a:ext uri="{FF2B5EF4-FFF2-40B4-BE49-F238E27FC236}">
                    <a16:creationId xmlns:a16="http://schemas.microsoft.com/office/drawing/2014/main" id="{7AAD50A0-9ADA-92E4-1292-D356C2461518}"/>
                  </a:ext>
                </a:extLst>
              </p:cNvPr>
              <p:cNvSpPr txBox="1">
                <a:spLocks noRot="1" noChangeAspect="1" noMove="1" noResize="1" noEditPoints="1" noAdjustHandles="1" noChangeArrowheads="1" noChangeShapeType="1" noTextEdit="1"/>
              </p:cNvSpPr>
              <p:nvPr/>
            </p:nvSpPr>
            <p:spPr>
              <a:xfrm>
                <a:off x="1426419" y="6083943"/>
                <a:ext cx="3306023" cy="411331"/>
              </a:xfrm>
              <a:prstGeom prst="rect">
                <a:avLst/>
              </a:prstGeom>
              <a:blipFill>
                <a:blip r:embed="rId7"/>
                <a:stretch>
                  <a:fillRect b="-104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111808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2</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研究设计</a:t>
            </a:r>
          </a:p>
        </p:txBody>
      </p:sp>
      <p:sp>
        <p:nvSpPr>
          <p:cNvPr id="8" name="文本框 7">
            <a:extLst>
              <a:ext uri="{FF2B5EF4-FFF2-40B4-BE49-F238E27FC236}">
                <a16:creationId xmlns:a16="http://schemas.microsoft.com/office/drawing/2014/main" id="{DCF45219-C5A5-888B-6E1E-92D70983F0C7}"/>
              </a:ext>
            </a:extLst>
          </p:cNvPr>
          <p:cNvSpPr txBox="1"/>
          <p:nvPr/>
        </p:nvSpPr>
        <p:spPr>
          <a:xfrm>
            <a:off x="435553" y="778914"/>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数据集以及评价指标</a:t>
            </a:r>
            <a:endParaRPr lang="en-US" altLang="zh-CN" b="1" dirty="0">
              <a:solidFill>
                <a:srgbClr val="268F9C"/>
              </a:solidFill>
              <a:latin typeface="+mn-ea"/>
            </a:endParaRPr>
          </a:p>
        </p:txBody>
      </p:sp>
      <p:graphicFrame>
        <p:nvGraphicFramePr>
          <p:cNvPr id="74" name="表格 73">
            <a:extLst>
              <a:ext uri="{FF2B5EF4-FFF2-40B4-BE49-F238E27FC236}">
                <a16:creationId xmlns:a16="http://schemas.microsoft.com/office/drawing/2014/main" id="{47EDFC7F-9D05-A411-D61A-8A82BC645BA6}"/>
              </a:ext>
            </a:extLst>
          </p:cNvPr>
          <p:cNvGraphicFramePr>
            <a:graphicFrameLocks noGrp="1"/>
          </p:cNvGraphicFramePr>
          <p:nvPr>
            <p:extLst>
              <p:ext uri="{D42A27DB-BD31-4B8C-83A1-F6EECF244321}">
                <p14:modId xmlns:p14="http://schemas.microsoft.com/office/powerpoint/2010/main" val="4219838554"/>
              </p:ext>
            </p:extLst>
          </p:nvPr>
        </p:nvGraphicFramePr>
        <p:xfrm>
          <a:off x="393607" y="5054975"/>
          <a:ext cx="5517457" cy="1463040"/>
        </p:xfrm>
        <a:graphic>
          <a:graphicData uri="http://schemas.openxmlformats.org/drawingml/2006/table">
            <a:tbl>
              <a:tblPr firstRow="1" firstCol="1" bandRow="1"/>
              <a:tblGrid>
                <a:gridCol w="919022">
                  <a:extLst>
                    <a:ext uri="{9D8B030D-6E8A-4147-A177-3AD203B41FA5}">
                      <a16:colId xmlns:a16="http://schemas.microsoft.com/office/drawing/2014/main" val="1364616639"/>
                    </a:ext>
                  </a:extLst>
                </a:gridCol>
                <a:gridCol w="919687">
                  <a:extLst>
                    <a:ext uri="{9D8B030D-6E8A-4147-A177-3AD203B41FA5}">
                      <a16:colId xmlns:a16="http://schemas.microsoft.com/office/drawing/2014/main" val="2862826222"/>
                    </a:ext>
                  </a:extLst>
                </a:gridCol>
                <a:gridCol w="919687">
                  <a:extLst>
                    <a:ext uri="{9D8B030D-6E8A-4147-A177-3AD203B41FA5}">
                      <a16:colId xmlns:a16="http://schemas.microsoft.com/office/drawing/2014/main" val="2836269270"/>
                    </a:ext>
                  </a:extLst>
                </a:gridCol>
                <a:gridCol w="919687">
                  <a:extLst>
                    <a:ext uri="{9D8B030D-6E8A-4147-A177-3AD203B41FA5}">
                      <a16:colId xmlns:a16="http://schemas.microsoft.com/office/drawing/2014/main" val="1396184071"/>
                    </a:ext>
                  </a:extLst>
                </a:gridCol>
                <a:gridCol w="919687">
                  <a:extLst>
                    <a:ext uri="{9D8B030D-6E8A-4147-A177-3AD203B41FA5}">
                      <a16:colId xmlns:a16="http://schemas.microsoft.com/office/drawing/2014/main" val="3577737048"/>
                    </a:ext>
                  </a:extLst>
                </a:gridCol>
                <a:gridCol w="919687">
                  <a:extLst>
                    <a:ext uri="{9D8B030D-6E8A-4147-A177-3AD203B41FA5}">
                      <a16:colId xmlns:a16="http://schemas.microsoft.com/office/drawing/2014/main" val="1533145939"/>
                    </a:ext>
                  </a:extLst>
                </a:gridCol>
              </a:tblGrid>
              <a:tr h="85516">
                <a:tc rowSpan="2">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Task</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Code Search</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gridSpan="2">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Code Repair</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extLst>
                  <a:ext uri="{0D108BD9-81ED-4DB2-BD59-A6C34878D82A}">
                    <a16:rowId xmlns:a16="http://schemas.microsoft.com/office/drawing/2014/main" val="2186646976"/>
                  </a:ext>
                </a:extLst>
              </a:tr>
              <a:tr h="85516">
                <a:tc vMerge="1">
                  <a:txBody>
                    <a:bodyPr/>
                    <a:lstStyle/>
                    <a:p>
                      <a:endParaRPr lang="zh-CN" altLang="en-US"/>
                    </a:p>
                  </a:txBody>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Train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Validation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Test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Train</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Test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106801"/>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Python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412178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23107</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22176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461356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710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49331320"/>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Java</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454451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15328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26909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574448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716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299525039"/>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Javascript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123889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8253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6483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8861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183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1153037266"/>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Go</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317832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14242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14291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13085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294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3878671020"/>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Ruby</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48791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2209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2279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5153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343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3371509427"/>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PHP</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523712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26015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28391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3,595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191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2372611"/>
                  </a:ext>
                </a:extLst>
              </a:tr>
            </a:tbl>
          </a:graphicData>
        </a:graphic>
      </p:graphicFrame>
      <p:graphicFrame>
        <p:nvGraphicFramePr>
          <p:cNvPr id="76" name="表格 75">
            <a:extLst>
              <a:ext uri="{FF2B5EF4-FFF2-40B4-BE49-F238E27FC236}">
                <a16:creationId xmlns:a16="http://schemas.microsoft.com/office/drawing/2014/main" id="{6C06A021-A992-158A-8E82-2E84FA06D524}"/>
              </a:ext>
            </a:extLst>
          </p:cNvPr>
          <p:cNvGraphicFramePr>
            <a:graphicFrameLocks noGrp="1"/>
          </p:cNvGraphicFramePr>
          <p:nvPr>
            <p:extLst>
              <p:ext uri="{D42A27DB-BD31-4B8C-83A1-F6EECF244321}">
                <p14:modId xmlns:p14="http://schemas.microsoft.com/office/powerpoint/2010/main" val="2412337843"/>
              </p:ext>
            </p:extLst>
          </p:nvPr>
        </p:nvGraphicFramePr>
        <p:xfrm>
          <a:off x="6252674" y="5146415"/>
          <a:ext cx="5057193" cy="1280160"/>
        </p:xfrm>
        <a:graphic>
          <a:graphicData uri="http://schemas.openxmlformats.org/drawingml/2006/table">
            <a:tbl>
              <a:tblPr firstRow="1" firstCol="1" bandRow="1"/>
              <a:tblGrid>
                <a:gridCol w="1726525">
                  <a:extLst>
                    <a:ext uri="{9D8B030D-6E8A-4147-A177-3AD203B41FA5}">
                      <a16:colId xmlns:a16="http://schemas.microsoft.com/office/drawing/2014/main" val="3322382126"/>
                    </a:ext>
                  </a:extLst>
                </a:gridCol>
                <a:gridCol w="1109548">
                  <a:extLst>
                    <a:ext uri="{9D8B030D-6E8A-4147-A177-3AD203B41FA5}">
                      <a16:colId xmlns:a16="http://schemas.microsoft.com/office/drawing/2014/main" val="2184402659"/>
                    </a:ext>
                  </a:extLst>
                </a:gridCol>
                <a:gridCol w="1110560">
                  <a:extLst>
                    <a:ext uri="{9D8B030D-6E8A-4147-A177-3AD203B41FA5}">
                      <a16:colId xmlns:a16="http://schemas.microsoft.com/office/drawing/2014/main" val="1119765497"/>
                    </a:ext>
                  </a:extLst>
                </a:gridCol>
                <a:gridCol w="1110560">
                  <a:extLst>
                    <a:ext uri="{9D8B030D-6E8A-4147-A177-3AD203B41FA5}">
                      <a16:colId xmlns:a16="http://schemas.microsoft.com/office/drawing/2014/main" val="2174961211"/>
                    </a:ext>
                  </a:extLst>
                </a:gridCol>
              </a:tblGrid>
              <a:tr h="143052">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Train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Validation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Test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8910601"/>
                  </a:ext>
                </a:extLst>
              </a:tr>
              <a:tr h="143052">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Code Search</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412178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23107</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22176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450203071"/>
                  </a:ext>
                </a:extLst>
              </a:tr>
              <a:tr h="143052">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Vulnerability Detection</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70008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7825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7135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3061570627"/>
                  </a:ext>
                </a:extLst>
              </a:tr>
              <a:tr h="143052">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Clone Detection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901058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415416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415416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980363840"/>
                  </a:ext>
                </a:extLst>
              </a:tr>
              <a:tr h="143052">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Code Generation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50661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164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1735191258"/>
                  </a:ext>
                </a:extLst>
              </a:tr>
              <a:tr h="143052">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Code Repair</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461356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710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1450884284"/>
                  </a:ext>
                </a:extLst>
              </a:tr>
              <a:tr h="143052">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Code Summarization</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251820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13914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14918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5139708"/>
                  </a:ext>
                </a:extLst>
              </a:tr>
            </a:tbl>
          </a:graphicData>
        </a:graphic>
      </p:graphicFrame>
      <p:grpSp>
        <p:nvGrpSpPr>
          <p:cNvPr id="88" name="组合 87">
            <a:extLst>
              <a:ext uri="{FF2B5EF4-FFF2-40B4-BE49-F238E27FC236}">
                <a16:creationId xmlns:a16="http://schemas.microsoft.com/office/drawing/2014/main" id="{F3D6C57F-05BF-0156-950B-5F080D6D9A29}"/>
              </a:ext>
            </a:extLst>
          </p:cNvPr>
          <p:cNvGrpSpPr/>
          <p:nvPr/>
        </p:nvGrpSpPr>
        <p:grpSpPr>
          <a:xfrm>
            <a:off x="688134" y="1086685"/>
            <a:ext cx="4815275" cy="1435914"/>
            <a:chOff x="688134" y="1431924"/>
            <a:chExt cx="4815275" cy="1435914"/>
          </a:xfrm>
        </p:grpSpPr>
        <p:sp>
          <p:nvSpPr>
            <p:cNvPr id="9" name="文本框 8">
              <a:extLst>
                <a:ext uri="{FF2B5EF4-FFF2-40B4-BE49-F238E27FC236}">
                  <a16:creationId xmlns:a16="http://schemas.microsoft.com/office/drawing/2014/main" id="{7A4AA175-B0EC-09E8-CA26-802460283BBE}"/>
                </a:ext>
              </a:extLst>
            </p:cNvPr>
            <p:cNvSpPr txBox="1"/>
            <p:nvPr/>
          </p:nvSpPr>
          <p:spPr>
            <a:xfrm>
              <a:off x="688134" y="1431924"/>
              <a:ext cx="3182418" cy="369332"/>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代码搜索：</a:t>
              </a:r>
              <a:r>
                <a:rPr lang="en-US" altLang="zh-CN" sz="1800" b="0" dirty="0" err="1">
                  <a:effectLst/>
                  <a:latin typeface="Times New Roman" panose="02020603050405020304" pitchFamily="18" charset="0"/>
                  <a:ea typeface="宋体" panose="02010600030101010101" pitchFamily="2" charset="-122"/>
                </a:rPr>
                <a:t>CodeSearchNet</a:t>
              </a:r>
              <a:r>
                <a:rPr lang="en-US" altLang="zh-CN" sz="1800" dirty="0">
                  <a:effectLst/>
                  <a:latin typeface="Times New Roman" panose="02020603050405020304" pitchFamily="18" charset="0"/>
                  <a:ea typeface="宋体" panose="02010600030101010101" pitchFamily="2" charset="-122"/>
                </a:rPr>
                <a:t> </a:t>
              </a:r>
              <a:endParaRPr lang="zh-CN" altLang="en-US" b="0" dirty="0"/>
            </a:p>
          </p:txBody>
        </p:sp>
        <p:sp>
          <p:nvSpPr>
            <p:cNvPr id="12" name="Rectangle 1">
              <a:extLst>
                <a:ext uri="{FF2B5EF4-FFF2-40B4-BE49-F238E27FC236}">
                  <a16:creationId xmlns:a16="http://schemas.microsoft.com/office/drawing/2014/main" id="{2FED317A-A84F-1F89-D9BB-596F6E235366}"/>
                </a:ext>
              </a:extLst>
            </p:cNvPr>
            <p:cNvSpPr>
              <a:spLocks noChangeArrowheads="1"/>
            </p:cNvSpPr>
            <p:nvPr/>
          </p:nvSpPr>
          <p:spPr bwMode="auto">
            <a:xfrm>
              <a:off x="968730" y="2060905"/>
              <a:ext cx="4534679" cy="523220"/>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Java</a:t>
              </a:r>
              <a:r>
                <a:rPr lang="zh-CN" altLang="en-US" sz="1400" dirty="0">
                  <a:latin typeface="+mn-ea"/>
                </a:rPr>
                <a:t>语言数据集微调的到的参数与其他任务的微调参数进行融合</a:t>
              </a:r>
            </a:p>
          </p:txBody>
        </p:sp>
        <p:sp>
          <p:nvSpPr>
            <p:cNvPr id="46" name="文本框 45">
              <a:extLst>
                <a:ext uri="{FF2B5EF4-FFF2-40B4-BE49-F238E27FC236}">
                  <a16:creationId xmlns:a16="http://schemas.microsoft.com/office/drawing/2014/main" id="{A72F9D61-CBFA-9982-4C34-10743A918CEA}"/>
                </a:ext>
              </a:extLst>
            </p:cNvPr>
            <p:cNvSpPr txBox="1"/>
            <p:nvPr/>
          </p:nvSpPr>
          <p:spPr>
            <a:xfrm>
              <a:off x="968730" y="1777192"/>
              <a:ext cx="4367212" cy="307777"/>
            </a:xfrm>
            <a:prstGeom prst="rect">
              <a:avLst/>
            </a:prstGeom>
            <a:noFill/>
          </p:spPr>
          <p:txBody>
            <a:bodyPr wrap="square">
              <a:spAutoFit/>
            </a:bodyPr>
            <a:lstStyle>
              <a:defPPr>
                <a:defRPr lang="zh-CN"/>
              </a:defPPr>
              <a:lvl1pPr>
                <a:defRPr sz="1400" b="0"/>
              </a:lvl1pPr>
            </a:lstStyle>
            <a:p>
              <a:r>
                <a:rPr lang="en-US" altLang="zh-CN" dirty="0"/>
                <a:t>RQ1</a:t>
              </a:r>
              <a:r>
                <a:rPr lang="zh-CN" altLang="zh-CN" dirty="0"/>
                <a:t>中，</a:t>
              </a:r>
              <a:r>
                <a:rPr lang="zh-CN" altLang="en-US" dirty="0"/>
                <a:t>融合</a:t>
              </a:r>
              <a:r>
                <a:rPr lang="zh-CN" altLang="zh-CN" dirty="0"/>
                <a:t>该数据</a:t>
              </a:r>
              <a:r>
                <a:rPr lang="en-US" altLang="zh-CN" dirty="0"/>
                <a:t>6</a:t>
              </a:r>
              <a:r>
                <a:rPr lang="zh-CN" altLang="zh-CN" dirty="0"/>
                <a:t>种语言子集微调得到的参数</a:t>
              </a:r>
              <a:endParaRPr lang="zh-CN" altLang="en-US" dirty="0"/>
            </a:p>
          </p:txBody>
        </p:sp>
        <p:sp>
          <p:nvSpPr>
            <p:cNvPr id="78" name="文本框 77">
              <a:extLst>
                <a:ext uri="{FF2B5EF4-FFF2-40B4-BE49-F238E27FC236}">
                  <a16:creationId xmlns:a16="http://schemas.microsoft.com/office/drawing/2014/main" id="{06CFD579-BD1D-6DC3-786C-8A723D9B9A32}"/>
                </a:ext>
              </a:extLst>
            </p:cNvPr>
            <p:cNvSpPr txBox="1"/>
            <p:nvPr/>
          </p:nvSpPr>
          <p:spPr>
            <a:xfrm>
              <a:off x="968730" y="2560061"/>
              <a:ext cx="3949180"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MRR</a:t>
              </a:r>
              <a:r>
                <a:rPr lang="zh-CN" altLang="zh-CN" dirty="0"/>
                <a:t> （</a:t>
              </a:r>
              <a:r>
                <a:rPr lang="en-US" altLang="zh-CN" dirty="0"/>
                <a:t>Mean Reciprocal Rank</a:t>
              </a:r>
              <a:r>
                <a:rPr lang="zh-CN" altLang="zh-CN" dirty="0"/>
                <a:t>）</a:t>
              </a:r>
              <a:endParaRPr lang="zh-CN" altLang="en-US" dirty="0"/>
            </a:p>
          </p:txBody>
        </p:sp>
      </p:grpSp>
      <p:grpSp>
        <p:nvGrpSpPr>
          <p:cNvPr id="89" name="组合 88">
            <a:extLst>
              <a:ext uri="{FF2B5EF4-FFF2-40B4-BE49-F238E27FC236}">
                <a16:creationId xmlns:a16="http://schemas.microsoft.com/office/drawing/2014/main" id="{CBAFF98B-466A-B985-79D4-5F1DF94CFF64}"/>
              </a:ext>
            </a:extLst>
          </p:cNvPr>
          <p:cNvGrpSpPr/>
          <p:nvPr/>
        </p:nvGrpSpPr>
        <p:grpSpPr>
          <a:xfrm>
            <a:off x="5335942" y="1086685"/>
            <a:ext cx="7212565" cy="1287467"/>
            <a:chOff x="5335942" y="1428284"/>
            <a:chExt cx="7212565" cy="1287467"/>
          </a:xfrm>
        </p:grpSpPr>
        <p:sp>
          <p:nvSpPr>
            <p:cNvPr id="17" name="文本框 16">
              <a:extLst>
                <a:ext uri="{FF2B5EF4-FFF2-40B4-BE49-F238E27FC236}">
                  <a16:creationId xmlns:a16="http://schemas.microsoft.com/office/drawing/2014/main" id="{3E0E9513-006D-6544-F9DB-43EC902247CE}"/>
                </a:ext>
              </a:extLst>
            </p:cNvPr>
            <p:cNvSpPr txBox="1"/>
            <p:nvPr/>
          </p:nvSpPr>
          <p:spPr>
            <a:xfrm>
              <a:off x="5335942" y="1428284"/>
              <a:ext cx="7212565" cy="646331"/>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代码漏洞检测</a:t>
              </a:r>
              <a:r>
                <a:rPr lang="zh-CN" altLang="en-US" dirty="0"/>
                <a:t>：</a:t>
              </a:r>
              <a:r>
                <a:rPr lang="en-US" altLang="zh-CN" dirty="0"/>
                <a:t>《</a:t>
              </a:r>
              <a:r>
                <a:rPr lang="en-US" altLang="zh-CN" sz="1800" b="0" dirty="0">
                  <a:effectLst/>
                  <a:latin typeface="Times New Roman" panose="02020603050405020304" pitchFamily="18" charset="0"/>
                  <a:ea typeface="宋体" panose="02010600030101010101" pitchFamily="2" charset="-122"/>
                </a:rPr>
                <a:t>Benchmarking Large Language Models for Multi-Language Software Vulnerability Detection》</a:t>
              </a:r>
              <a:endParaRPr lang="zh-CN" altLang="en-US" b="0" dirty="0"/>
            </a:p>
          </p:txBody>
        </p:sp>
        <p:sp>
          <p:nvSpPr>
            <p:cNvPr id="47" name="Rectangle 1">
              <a:extLst>
                <a:ext uri="{FF2B5EF4-FFF2-40B4-BE49-F238E27FC236}">
                  <a16:creationId xmlns:a16="http://schemas.microsoft.com/office/drawing/2014/main" id="{455903F1-302C-963C-9F32-31210C3830E2}"/>
                </a:ext>
              </a:extLst>
            </p:cNvPr>
            <p:cNvSpPr>
              <a:spLocks noChangeArrowheads="1"/>
            </p:cNvSpPr>
            <p:nvPr/>
          </p:nvSpPr>
          <p:spPr bwMode="auto">
            <a:xfrm>
              <a:off x="5643853" y="2081610"/>
              <a:ext cx="6355314" cy="307777"/>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Java</a:t>
              </a:r>
              <a:r>
                <a:rPr lang="zh-CN" altLang="en-US" sz="1400" dirty="0">
                  <a:latin typeface="+mn-ea"/>
                </a:rPr>
                <a:t>语言数据集微调的到的参数与其他任务的微调参数进行融合</a:t>
              </a:r>
            </a:p>
          </p:txBody>
        </p:sp>
        <p:sp>
          <p:nvSpPr>
            <p:cNvPr id="80" name="文本框 79">
              <a:extLst>
                <a:ext uri="{FF2B5EF4-FFF2-40B4-BE49-F238E27FC236}">
                  <a16:creationId xmlns:a16="http://schemas.microsoft.com/office/drawing/2014/main" id="{B546C51E-AE76-9E5E-5237-B45350CC418E}"/>
                </a:ext>
              </a:extLst>
            </p:cNvPr>
            <p:cNvSpPr txBox="1"/>
            <p:nvPr/>
          </p:nvSpPr>
          <p:spPr>
            <a:xfrm>
              <a:off x="5643853" y="2407974"/>
              <a:ext cx="6274836"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Accuracy</a:t>
              </a:r>
              <a:r>
                <a:rPr lang="zh-CN" altLang="zh-CN" dirty="0"/>
                <a:t>、</a:t>
              </a:r>
              <a:r>
                <a:rPr lang="en-US" altLang="zh-CN" dirty="0"/>
                <a:t>Precision</a:t>
              </a:r>
              <a:r>
                <a:rPr lang="zh-CN" altLang="zh-CN" dirty="0"/>
                <a:t>、</a:t>
              </a:r>
              <a:r>
                <a:rPr lang="en-US" altLang="zh-CN" dirty="0"/>
                <a:t>Recall</a:t>
              </a:r>
              <a:r>
                <a:rPr lang="zh-CN" altLang="zh-CN" dirty="0"/>
                <a:t>和</a:t>
              </a:r>
              <a:r>
                <a:rPr lang="en-US" altLang="zh-CN" dirty="0"/>
                <a:t>F1-score</a:t>
              </a:r>
              <a:endParaRPr lang="zh-CN" altLang="en-US" dirty="0"/>
            </a:p>
          </p:txBody>
        </p:sp>
      </p:grpSp>
      <p:grpSp>
        <p:nvGrpSpPr>
          <p:cNvPr id="87" name="组合 86">
            <a:extLst>
              <a:ext uri="{FF2B5EF4-FFF2-40B4-BE49-F238E27FC236}">
                <a16:creationId xmlns:a16="http://schemas.microsoft.com/office/drawing/2014/main" id="{AB2FC78F-D558-D1D1-9E6D-3055FEBDCF79}"/>
              </a:ext>
            </a:extLst>
          </p:cNvPr>
          <p:cNvGrpSpPr/>
          <p:nvPr/>
        </p:nvGrpSpPr>
        <p:grpSpPr>
          <a:xfrm>
            <a:off x="688134" y="2498535"/>
            <a:ext cx="6585076" cy="1121423"/>
            <a:chOff x="688134" y="2843774"/>
            <a:chExt cx="6585076" cy="1121423"/>
          </a:xfrm>
        </p:grpSpPr>
        <p:sp>
          <p:nvSpPr>
            <p:cNvPr id="30" name="文本框 29">
              <a:extLst>
                <a:ext uri="{FF2B5EF4-FFF2-40B4-BE49-F238E27FC236}">
                  <a16:creationId xmlns:a16="http://schemas.microsoft.com/office/drawing/2014/main" id="{DC2A47A5-6510-B36F-089A-A6993D0E92DA}"/>
                </a:ext>
              </a:extLst>
            </p:cNvPr>
            <p:cNvSpPr txBox="1"/>
            <p:nvPr/>
          </p:nvSpPr>
          <p:spPr>
            <a:xfrm>
              <a:off x="688134" y="2843774"/>
              <a:ext cx="3949180"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代码克隆检测：</a:t>
              </a:r>
              <a:r>
                <a:rPr lang="en-US" altLang="zh-CN" b="0" dirty="0" err="1"/>
                <a:t>BigCloneBench</a:t>
              </a:r>
              <a:endParaRPr lang="zh-CN" altLang="en-US" b="0" dirty="0"/>
            </a:p>
          </p:txBody>
        </p:sp>
        <p:sp>
          <p:nvSpPr>
            <p:cNvPr id="48" name="Rectangle 1">
              <a:extLst>
                <a:ext uri="{FF2B5EF4-FFF2-40B4-BE49-F238E27FC236}">
                  <a16:creationId xmlns:a16="http://schemas.microsoft.com/office/drawing/2014/main" id="{4E7AE352-FA55-8EF4-ADF0-7D9B87EDEFFC}"/>
                </a:ext>
              </a:extLst>
            </p:cNvPr>
            <p:cNvSpPr>
              <a:spLocks noChangeArrowheads="1"/>
            </p:cNvSpPr>
            <p:nvPr/>
          </p:nvSpPr>
          <p:spPr bwMode="auto">
            <a:xfrm>
              <a:off x="998374" y="3158264"/>
              <a:ext cx="4534679" cy="523220"/>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Java</a:t>
              </a:r>
              <a:r>
                <a:rPr lang="zh-CN" altLang="en-US" sz="1400" dirty="0">
                  <a:latin typeface="+mn-ea"/>
                </a:rPr>
                <a:t>语言数据集微调的到的参数与其他任务的微调参数进行融合</a:t>
              </a:r>
            </a:p>
          </p:txBody>
        </p:sp>
        <p:sp>
          <p:nvSpPr>
            <p:cNvPr id="81" name="文本框 80">
              <a:extLst>
                <a:ext uri="{FF2B5EF4-FFF2-40B4-BE49-F238E27FC236}">
                  <a16:creationId xmlns:a16="http://schemas.microsoft.com/office/drawing/2014/main" id="{CC5D1463-E2DD-B065-AB74-D4D8A62AA49E}"/>
                </a:ext>
              </a:extLst>
            </p:cNvPr>
            <p:cNvSpPr txBox="1"/>
            <p:nvPr/>
          </p:nvSpPr>
          <p:spPr>
            <a:xfrm>
              <a:off x="998374" y="3657420"/>
              <a:ext cx="6274836"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Accuracy</a:t>
              </a:r>
              <a:r>
                <a:rPr lang="zh-CN" altLang="zh-CN" dirty="0"/>
                <a:t>、</a:t>
              </a:r>
              <a:r>
                <a:rPr lang="en-US" altLang="zh-CN" dirty="0"/>
                <a:t>Precision</a:t>
              </a:r>
              <a:r>
                <a:rPr lang="zh-CN" altLang="zh-CN" dirty="0"/>
                <a:t>、</a:t>
              </a:r>
              <a:r>
                <a:rPr lang="en-US" altLang="zh-CN" dirty="0"/>
                <a:t>Recall</a:t>
              </a:r>
              <a:r>
                <a:rPr lang="zh-CN" altLang="zh-CN" dirty="0"/>
                <a:t>和</a:t>
              </a:r>
              <a:r>
                <a:rPr lang="en-US" altLang="zh-CN" dirty="0"/>
                <a:t>F1-score</a:t>
              </a:r>
              <a:endParaRPr lang="zh-CN" altLang="en-US" dirty="0"/>
            </a:p>
          </p:txBody>
        </p:sp>
      </p:grpSp>
      <p:grpSp>
        <p:nvGrpSpPr>
          <p:cNvPr id="90" name="组合 89">
            <a:extLst>
              <a:ext uri="{FF2B5EF4-FFF2-40B4-BE49-F238E27FC236}">
                <a16:creationId xmlns:a16="http://schemas.microsoft.com/office/drawing/2014/main" id="{AC8ED70C-33DA-39CF-1C04-34842B8C2DDE}"/>
              </a:ext>
            </a:extLst>
          </p:cNvPr>
          <p:cNvGrpSpPr/>
          <p:nvPr/>
        </p:nvGrpSpPr>
        <p:grpSpPr>
          <a:xfrm>
            <a:off x="5335942" y="2498535"/>
            <a:ext cx="7074257" cy="978182"/>
            <a:chOff x="5335942" y="2884557"/>
            <a:chExt cx="7074257" cy="978182"/>
          </a:xfrm>
        </p:grpSpPr>
        <p:sp>
          <p:nvSpPr>
            <p:cNvPr id="50" name="文本框 49">
              <a:extLst>
                <a:ext uri="{FF2B5EF4-FFF2-40B4-BE49-F238E27FC236}">
                  <a16:creationId xmlns:a16="http://schemas.microsoft.com/office/drawing/2014/main" id="{3BCB1EF0-4140-CFF9-7E2F-49DA2E8E08DC}"/>
                </a:ext>
              </a:extLst>
            </p:cNvPr>
            <p:cNvSpPr txBox="1"/>
            <p:nvPr/>
          </p:nvSpPr>
          <p:spPr>
            <a:xfrm>
              <a:off x="5335942" y="2884557"/>
              <a:ext cx="610688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en-US" dirty="0"/>
                <a:t>摘要生成：</a:t>
              </a:r>
              <a:r>
                <a:rPr lang="en-US" altLang="zh-CN" b="0" dirty="0" err="1"/>
                <a:t>CodeXGLUE</a:t>
              </a:r>
              <a:endParaRPr lang="zh-CN" altLang="en-US" b="0" dirty="0"/>
            </a:p>
          </p:txBody>
        </p:sp>
        <p:sp>
          <p:nvSpPr>
            <p:cNvPr id="51" name="Rectangle 1">
              <a:extLst>
                <a:ext uri="{FF2B5EF4-FFF2-40B4-BE49-F238E27FC236}">
                  <a16:creationId xmlns:a16="http://schemas.microsoft.com/office/drawing/2014/main" id="{45F0CE10-572C-C182-CB9F-FC8AA6B306EF}"/>
                </a:ext>
              </a:extLst>
            </p:cNvPr>
            <p:cNvSpPr>
              <a:spLocks noChangeArrowheads="1"/>
            </p:cNvSpPr>
            <p:nvPr/>
          </p:nvSpPr>
          <p:spPr bwMode="auto">
            <a:xfrm>
              <a:off x="5643853" y="3222817"/>
              <a:ext cx="6766346" cy="307777"/>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python</a:t>
              </a:r>
              <a:r>
                <a:rPr lang="zh-CN" altLang="en-US" sz="1400" dirty="0">
                  <a:latin typeface="+mn-ea"/>
                </a:rPr>
                <a:t>语言数据集微调的到的参数与其他任务的微调参数进行融合</a:t>
              </a:r>
            </a:p>
          </p:txBody>
        </p:sp>
        <p:sp>
          <p:nvSpPr>
            <p:cNvPr id="83" name="文本框 82">
              <a:extLst>
                <a:ext uri="{FF2B5EF4-FFF2-40B4-BE49-F238E27FC236}">
                  <a16:creationId xmlns:a16="http://schemas.microsoft.com/office/drawing/2014/main" id="{BAA12042-4995-6799-B115-19915B6E7A6E}"/>
                </a:ext>
              </a:extLst>
            </p:cNvPr>
            <p:cNvSpPr txBox="1"/>
            <p:nvPr/>
          </p:nvSpPr>
          <p:spPr>
            <a:xfrm>
              <a:off x="5643853" y="3554962"/>
              <a:ext cx="6274836"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BLEU</a:t>
              </a:r>
              <a:r>
                <a:rPr lang="zh-CN" altLang="zh-CN" dirty="0"/>
                <a:t> （</a:t>
              </a:r>
              <a:r>
                <a:rPr lang="en-US" altLang="zh-CN" dirty="0"/>
                <a:t>Bilingual Evaluation Understudy</a:t>
              </a:r>
              <a:r>
                <a:rPr lang="zh-CN" altLang="zh-CN" dirty="0"/>
                <a:t>）</a:t>
              </a:r>
              <a:endParaRPr lang="zh-CN" altLang="en-US" dirty="0"/>
            </a:p>
          </p:txBody>
        </p:sp>
      </p:grpSp>
      <p:grpSp>
        <p:nvGrpSpPr>
          <p:cNvPr id="86" name="组合 85">
            <a:extLst>
              <a:ext uri="{FF2B5EF4-FFF2-40B4-BE49-F238E27FC236}">
                <a16:creationId xmlns:a16="http://schemas.microsoft.com/office/drawing/2014/main" id="{C57CE98C-DFC1-74AB-2A22-F5737119112D}"/>
              </a:ext>
            </a:extLst>
          </p:cNvPr>
          <p:cNvGrpSpPr/>
          <p:nvPr/>
        </p:nvGrpSpPr>
        <p:grpSpPr>
          <a:xfrm>
            <a:off x="711456" y="3595894"/>
            <a:ext cx="6561754" cy="1405138"/>
            <a:chOff x="711456" y="3941133"/>
            <a:chExt cx="6561754" cy="1405138"/>
          </a:xfrm>
        </p:grpSpPr>
        <p:sp>
          <p:nvSpPr>
            <p:cNvPr id="53" name="文本框 52">
              <a:extLst>
                <a:ext uri="{FF2B5EF4-FFF2-40B4-BE49-F238E27FC236}">
                  <a16:creationId xmlns:a16="http://schemas.microsoft.com/office/drawing/2014/main" id="{C805571B-D1B3-C068-513A-2298B8874009}"/>
                </a:ext>
              </a:extLst>
            </p:cNvPr>
            <p:cNvSpPr txBox="1"/>
            <p:nvPr/>
          </p:nvSpPr>
          <p:spPr>
            <a:xfrm>
              <a:off x="711456" y="3941133"/>
              <a:ext cx="3854222"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en-US" dirty="0"/>
                <a:t>代码修复：</a:t>
              </a:r>
              <a:r>
                <a:rPr lang="en-US" altLang="zh-CN" dirty="0" err="1"/>
                <a:t>XCodeEval</a:t>
              </a:r>
              <a:endParaRPr lang="zh-CN" altLang="en-US" dirty="0"/>
            </a:p>
          </p:txBody>
        </p:sp>
        <p:sp>
          <p:nvSpPr>
            <p:cNvPr id="54" name="Rectangle 1">
              <a:extLst>
                <a:ext uri="{FF2B5EF4-FFF2-40B4-BE49-F238E27FC236}">
                  <a16:creationId xmlns:a16="http://schemas.microsoft.com/office/drawing/2014/main" id="{6091382B-88EB-BD93-4A00-5AD95E9904DE}"/>
                </a:ext>
              </a:extLst>
            </p:cNvPr>
            <p:cNvSpPr>
              <a:spLocks noChangeArrowheads="1"/>
            </p:cNvSpPr>
            <p:nvPr/>
          </p:nvSpPr>
          <p:spPr bwMode="auto">
            <a:xfrm>
              <a:off x="1000704" y="4539336"/>
              <a:ext cx="4411051" cy="523220"/>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Python</a:t>
              </a:r>
              <a:r>
                <a:rPr lang="zh-CN" altLang="en-US" sz="1400" dirty="0">
                  <a:latin typeface="+mn-ea"/>
                </a:rPr>
                <a:t>语言数据集微调的到的参数与其他任务的微调参数进行融合</a:t>
              </a:r>
            </a:p>
          </p:txBody>
        </p:sp>
        <p:sp>
          <p:nvSpPr>
            <p:cNvPr id="55" name="文本框 54">
              <a:extLst>
                <a:ext uri="{FF2B5EF4-FFF2-40B4-BE49-F238E27FC236}">
                  <a16:creationId xmlns:a16="http://schemas.microsoft.com/office/drawing/2014/main" id="{61EB352F-B5EC-150D-C227-C00BF377DBC7}"/>
                </a:ext>
              </a:extLst>
            </p:cNvPr>
            <p:cNvSpPr txBox="1"/>
            <p:nvPr/>
          </p:nvSpPr>
          <p:spPr>
            <a:xfrm>
              <a:off x="1000704" y="4255623"/>
              <a:ext cx="4411051" cy="307777"/>
            </a:xfrm>
            <a:prstGeom prst="rect">
              <a:avLst/>
            </a:prstGeom>
            <a:noFill/>
          </p:spPr>
          <p:txBody>
            <a:bodyPr wrap="square">
              <a:spAutoFit/>
            </a:bodyPr>
            <a:lstStyle>
              <a:defPPr>
                <a:defRPr lang="zh-CN"/>
              </a:defPPr>
              <a:lvl1pPr>
                <a:defRPr sz="1400" b="0"/>
              </a:lvl1pPr>
            </a:lstStyle>
            <a:p>
              <a:r>
                <a:rPr lang="en-US" altLang="zh-CN" dirty="0"/>
                <a:t>RQ1</a:t>
              </a:r>
              <a:r>
                <a:rPr lang="zh-CN" altLang="zh-CN" dirty="0"/>
                <a:t>中，</a:t>
              </a:r>
              <a:r>
                <a:rPr lang="zh-CN" altLang="en-US" dirty="0"/>
                <a:t>融合</a:t>
              </a:r>
              <a:r>
                <a:rPr lang="zh-CN" altLang="zh-CN" dirty="0"/>
                <a:t>该数据</a:t>
              </a:r>
              <a:r>
                <a:rPr lang="en-US" altLang="zh-CN" dirty="0"/>
                <a:t>6</a:t>
              </a:r>
              <a:r>
                <a:rPr lang="zh-CN" altLang="zh-CN" dirty="0"/>
                <a:t>种语言子集微调得到的参数</a:t>
              </a:r>
              <a:endParaRPr lang="zh-CN" altLang="en-US" dirty="0"/>
            </a:p>
          </p:txBody>
        </p:sp>
        <p:sp>
          <p:nvSpPr>
            <p:cNvPr id="85" name="文本框 84">
              <a:extLst>
                <a:ext uri="{FF2B5EF4-FFF2-40B4-BE49-F238E27FC236}">
                  <a16:creationId xmlns:a16="http://schemas.microsoft.com/office/drawing/2014/main" id="{8F26ED48-2DC5-3926-4596-3AE4A3C69824}"/>
                </a:ext>
              </a:extLst>
            </p:cNvPr>
            <p:cNvSpPr txBox="1"/>
            <p:nvPr/>
          </p:nvSpPr>
          <p:spPr>
            <a:xfrm>
              <a:off x="998374" y="5038494"/>
              <a:ext cx="6274836"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pass@5</a:t>
              </a:r>
              <a:endParaRPr lang="zh-CN" altLang="en-US" dirty="0"/>
            </a:p>
          </p:txBody>
        </p:sp>
      </p:grpSp>
      <p:grpSp>
        <p:nvGrpSpPr>
          <p:cNvPr id="92" name="组合 91">
            <a:extLst>
              <a:ext uri="{FF2B5EF4-FFF2-40B4-BE49-F238E27FC236}">
                <a16:creationId xmlns:a16="http://schemas.microsoft.com/office/drawing/2014/main" id="{E68C0FDA-3E3B-35F9-80F6-0DC0589807C0}"/>
              </a:ext>
            </a:extLst>
          </p:cNvPr>
          <p:cNvGrpSpPr/>
          <p:nvPr/>
        </p:nvGrpSpPr>
        <p:grpSpPr>
          <a:xfrm>
            <a:off x="5356935" y="3595894"/>
            <a:ext cx="6848672" cy="1107412"/>
            <a:chOff x="5356935" y="4112937"/>
            <a:chExt cx="6848672" cy="1107412"/>
          </a:xfrm>
        </p:grpSpPr>
        <p:sp>
          <p:nvSpPr>
            <p:cNvPr id="42" name="文本框 41">
              <a:extLst>
                <a:ext uri="{FF2B5EF4-FFF2-40B4-BE49-F238E27FC236}">
                  <a16:creationId xmlns:a16="http://schemas.microsoft.com/office/drawing/2014/main" id="{FA090B4B-590F-063E-D151-9A84C5B36EBA}"/>
                </a:ext>
              </a:extLst>
            </p:cNvPr>
            <p:cNvSpPr txBox="1"/>
            <p:nvPr/>
          </p:nvSpPr>
          <p:spPr>
            <a:xfrm>
              <a:off x="5356935" y="4112937"/>
              <a:ext cx="6848672"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en-US" dirty="0"/>
                <a:t>代码生成：</a:t>
              </a:r>
              <a:r>
                <a:rPr lang="en-US" altLang="zh-CN" b="0" dirty="0"/>
                <a:t>Self-OSS-Instruct-SC2-ExecFilter-50K</a:t>
              </a:r>
              <a:r>
                <a:rPr lang="zh-CN" altLang="en-US" b="0" dirty="0"/>
                <a:t>、</a:t>
              </a:r>
              <a:r>
                <a:rPr lang="en-US" altLang="zh-CN" b="0" dirty="0" err="1"/>
                <a:t>HumanEval</a:t>
              </a:r>
              <a:endParaRPr lang="zh-CN" altLang="en-US" b="0" dirty="0"/>
            </a:p>
          </p:txBody>
        </p:sp>
        <p:sp>
          <p:nvSpPr>
            <p:cNvPr id="56" name="Rectangle 1">
              <a:extLst>
                <a:ext uri="{FF2B5EF4-FFF2-40B4-BE49-F238E27FC236}">
                  <a16:creationId xmlns:a16="http://schemas.microsoft.com/office/drawing/2014/main" id="{E0D1564A-35F9-4C63-134B-97EEF118644E}"/>
                </a:ext>
              </a:extLst>
            </p:cNvPr>
            <p:cNvSpPr>
              <a:spLocks noChangeArrowheads="1"/>
            </p:cNvSpPr>
            <p:nvPr/>
          </p:nvSpPr>
          <p:spPr bwMode="auto">
            <a:xfrm>
              <a:off x="5635689" y="4416053"/>
              <a:ext cx="4386555" cy="523220"/>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python</a:t>
              </a:r>
              <a:r>
                <a:rPr lang="zh-CN" altLang="en-US" sz="1400" dirty="0">
                  <a:latin typeface="+mn-ea"/>
                </a:rPr>
                <a:t>语言数据集微调的到的参数与其他任务的微调参数进行融合</a:t>
              </a:r>
            </a:p>
          </p:txBody>
        </p:sp>
        <p:sp>
          <p:nvSpPr>
            <p:cNvPr id="91" name="文本框 90">
              <a:extLst>
                <a:ext uri="{FF2B5EF4-FFF2-40B4-BE49-F238E27FC236}">
                  <a16:creationId xmlns:a16="http://schemas.microsoft.com/office/drawing/2014/main" id="{93239FFE-FF3E-6675-094A-BE3396B68BA4}"/>
                </a:ext>
              </a:extLst>
            </p:cNvPr>
            <p:cNvSpPr txBox="1"/>
            <p:nvPr/>
          </p:nvSpPr>
          <p:spPr>
            <a:xfrm>
              <a:off x="5643853" y="4912572"/>
              <a:ext cx="6274836"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pass@5</a:t>
              </a:r>
              <a:endParaRPr lang="zh-CN" altLang="en-US" dirty="0"/>
            </a:p>
          </p:txBody>
        </p:sp>
      </p:grpSp>
    </p:spTree>
    <p:extLst>
      <p:ext uri="{BB962C8B-B14F-4D97-AF65-F5344CB8AC3E}">
        <p14:creationId xmlns:p14="http://schemas.microsoft.com/office/powerpoint/2010/main" val="12196553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2</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研究设计</a:t>
            </a:r>
          </a:p>
        </p:txBody>
      </p:sp>
      <p:sp>
        <p:nvSpPr>
          <p:cNvPr id="8" name="文本框 7">
            <a:extLst>
              <a:ext uri="{FF2B5EF4-FFF2-40B4-BE49-F238E27FC236}">
                <a16:creationId xmlns:a16="http://schemas.microsoft.com/office/drawing/2014/main" id="{DCF45219-C5A5-888B-6E1E-92D70983F0C7}"/>
              </a:ext>
            </a:extLst>
          </p:cNvPr>
          <p:cNvSpPr txBox="1"/>
          <p:nvPr/>
        </p:nvSpPr>
        <p:spPr>
          <a:xfrm>
            <a:off x="435553" y="778914"/>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微调细节</a:t>
            </a:r>
            <a:endParaRPr lang="en-US" altLang="zh-CN" b="1" dirty="0">
              <a:solidFill>
                <a:srgbClr val="268F9C"/>
              </a:solidFill>
              <a:latin typeface="+mn-ea"/>
            </a:endParaRPr>
          </a:p>
        </p:txBody>
      </p:sp>
      <p:sp>
        <p:nvSpPr>
          <p:cNvPr id="9" name="文本框 8">
            <a:extLst>
              <a:ext uri="{FF2B5EF4-FFF2-40B4-BE49-F238E27FC236}">
                <a16:creationId xmlns:a16="http://schemas.microsoft.com/office/drawing/2014/main" id="{7A4AA175-B0EC-09E8-CA26-802460283BBE}"/>
              </a:ext>
            </a:extLst>
          </p:cNvPr>
          <p:cNvSpPr txBox="1"/>
          <p:nvPr/>
        </p:nvSpPr>
        <p:spPr>
          <a:xfrm>
            <a:off x="717778" y="1583826"/>
            <a:ext cx="3966189" cy="369332"/>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代码搜索：</a:t>
            </a:r>
            <a:r>
              <a:rPr lang="en-US" altLang="zh-CN" sz="1800" b="0" dirty="0">
                <a:effectLst/>
                <a:latin typeface="Times New Roman" panose="02020603050405020304" pitchFamily="18" charset="0"/>
                <a:ea typeface="宋体" panose="02010600030101010101" pitchFamily="2" charset="-122"/>
              </a:rPr>
              <a:t> </a:t>
            </a:r>
            <a:endParaRPr lang="zh-CN" altLang="en-US" b="0" dirty="0"/>
          </a:p>
        </p:txBody>
      </p:sp>
      <p:sp>
        <p:nvSpPr>
          <p:cNvPr id="17" name="文本框 16">
            <a:extLst>
              <a:ext uri="{FF2B5EF4-FFF2-40B4-BE49-F238E27FC236}">
                <a16:creationId xmlns:a16="http://schemas.microsoft.com/office/drawing/2014/main" id="{3E0E9513-006D-6544-F9DB-43EC902247CE}"/>
              </a:ext>
            </a:extLst>
          </p:cNvPr>
          <p:cNvSpPr txBox="1"/>
          <p:nvPr/>
        </p:nvSpPr>
        <p:spPr>
          <a:xfrm>
            <a:off x="717778" y="2706493"/>
            <a:ext cx="610688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代码漏洞检测</a:t>
            </a:r>
            <a:endParaRPr lang="zh-CN" altLang="en-US" dirty="0"/>
          </a:p>
        </p:txBody>
      </p:sp>
      <p:sp>
        <p:nvSpPr>
          <p:cNvPr id="20" name="文本框 19">
            <a:extLst>
              <a:ext uri="{FF2B5EF4-FFF2-40B4-BE49-F238E27FC236}">
                <a16:creationId xmlns:a16="http://schemas.microsoft.com/office/drawing/2014/main" id="{0B27C47F-F8C4-A142-8844-0D2328B21B01}"/>
              </a:ext>
            </a:extLst>
          </p:cNvPr>
          <p:cNvSpPr txBox="1"/>
          <p:nvPr/>
        </p:nvSpPr>
        <p:spPr>
          <a:xfrm>
            <a:off x="998375" y="3090974"/>
            <a:ext cx="6106884" cy="307777"/>
          </a:xfrm>
          <a:prstGeom prst="rect">
            <a:avLst/>
          </a:prstGeom>
          <a:noFill/>
        </p:spPr>
        <p:txBody>
          <a:bodyPr wrap="square">
            <a:spAutoFit/>
          </a:bodyPr>
          <a:lstStyle>
            <a:defPPr>
              <a:defRPr lang="zh-CN"/>
            </a:defPPr>
            <a:lvl1pPr>
              <a:spcAft>
                <a:spcPts val="1200"/>
              </a:spcAft>
              <a:defRPr sz="1600">
                <a:latin typeface="+mn-ea"/>
              </a:defRPr>
            </a:lvl1pPr>
          </a:lstStyle>
          <a:p>
            <a:r>
              <a:rPr lang="zh-CN" altLang="zh-CN" sz="1400" dirty="0"/>
              <a:t>给定一个代码，让大模型回答</a:t>
            </a:r>
            <a:r>
              <a:rPr lang="en-US" altLang="zh-CN" sz="1400" dirty="0"/>
              <a:t>”yes”</a:t>
            </a:r>
            <a:r>
              <a:rPr lang="zh-CN" altLang="zh-CN" sz="1400" dirty="0"/>
              <a:t>（代码包含漏洞）或</a:t>
            </a:r>
            <a:r>
              <a:rPr lang="en-US" altLang="zh-CN" sz="1400" dirty="0"/>
              <a:t>”no”</a:t>
            </a:r>
            <a:endParaRPr lang="zh-CN" altLang="en-US" sz="1400" dirty="0"/>
          </a:p>
        </p:txBody>
      </p:sp>
      <p:sp>
        <p:nvSpPr>
          <p:cNvPr id="27" name="文本框 26">
            <a:extLst>
              <a:ext uri="{FF2B5EF4-FFF2-40B4-BE49-F238E27FC236}">
                <a16:creationId xmlns:a16="http://schemas.microsoft.com/office/drawing/2014/main" id="{0C15A0FE-FBBF-7BCD-437A-BA65AD7E2A3C}"/>
              </a:ext>
            </a:extLst>
          </p:cNvPr>
          <p:cNvSpPr txBox="1"/>
          <p:nvPr/>
        </p:nvSpPr>
        <p:spPr>
          <a:xfrm>
            <a:off x="998375" y="3444678"/>
            <a:ext cx="6106884" cy="307777"/>
          </a:xfrm>
          <a:prstGeom prst="rect">
            <a:avLst/>
          </a:prstGeom>
          <a:noFill/>
        </p:spPr>
        <p:txBody>
          <a:bodyPr wrap="square">
            <a:spAutoFit/>
          </a:bodyPr>
          <a:lstStyle>
            <a:defPPr>
              <a:defRPr lang="zh-CN"/>
            </a:defPPr>
            <a:lvl1pPr>
              <a:spcAft>
                <a:spcPts val="1200"/>
              </a:spcAft>
              <a:defRPr sz="1600">
                <a:latin typeface="+mn-ea"/>
              </a:defRPr>
            </a:lvl1pPr>
          </a:lstStyle>
          <a:p>
            <a:r>
              <a:rPr lang="zh-CN" altLang="zh-CN" sz="1400" dirty="0"/>
              <a:t>微调的损失函数为标准的因果语言建模损失</a:t>
            </a:r>
            <a:endParaRPr lang="zh-CN" altLang="en-US" sz="1400" dirty="0"/>
          </a:p>
        </p:txBody>
      </p:sp>
      <p:sp>
        <p:nvSpPr>
          <p:cNvPr id="30" name="文本框 29">
            <a:extLst>
              <a:ext uri="{FF2B5EF4-FFF2-40B4-BE49-F238E27FC236}">
                <a16:creationId xmlns:a16="http://schemas.microsoft.com/office/drawing/2014/main" id="{DC2A47A5-6510-B36F-089A-A6993D0E92DA}"/>
              </a:ext>
            </a:extLst>
          </p:cNvPr>
          <p:cNvSpPr txBox="1"/>
          <p:nvPr/>
        </p:nvSpPr>
        <p:spPr>
          <a:xfrm>
            <a:off x="717778" y="3798382"/>
            <a:ext cx="610688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代码克隆检测：</a:t>
            </a:r>
            <a:endParaRPr lang="zh-CN" altLang="en-US" dirty="0"/>
          </a:p>
        </p:txBody>
      </p:sp>
      <p:sp>
        <p:nvSpPr>
          <p:cNvPr id="31" name="文本框 30">
            <a:extLst>
              <a:ext uri="{FF2B5EF4-FFF2-40B4-BE49-F238E27FC236}">
                <a16:creationId xmlns:a16="http://schemas.microsoft.com/office/drawing/2014/main" id="{0590CC96-6E5D-06C0-9457-CD4412ECEB0C}"/>
              </a:ext>
            </a:extLst>
          </p:cNvPr>
          <p:cNvSpPr txBox="1"/>
          <p:nvPr/>
        </p:nvSpPr>
        <p:spPr>
          <a:xfrm>
            <a:off x="998375" y="4182863"/>
            <a:ext cx="8675137" cy="307777"/>
          </a:xfrm>
          <a:prstGeom prst="rect">
            <a:avLst/>
          </a:prstGeom>
          <a:noFill/>
        </p:spPr>
        <p:txBody>
          <a:bodyPr wrap="square">
            <a:spAutoFit/>
          </a:bodyPr>
          <a:lstStyle/>
          <a:p>
            <a:r>
              <a:rPr lang="zh-CN" altLang="en-US" sz="1400" b="0" dirty="0"/>
              <a:t>对于两个待检测代码片段，得到他们的代码嵌入</a:t>
            </a:r>
            <a:endParaRPr lang="zh-CN" altLang="en-US" sz="1400" dirty="0"/>
          </a:p>
        </p:txBody>
      </p:sp>
      <p:sp>
        <p:nvSpPr>
          <p:cNvPr id="33" name="文本框 32">
            <a:extLst>
              <a:ext uri="{FF2B5EF4-FFF2-40B4-BE49-F238E27FC236}">
                <a16:creationId xmlns:a16="http://schemas.microsoft.com/office/drawing/2014/main" id="{B983BC7E-27F9-E53C-955D-9B7859DE85D9}"/>
              </a:ext>
            </a:extLst>
          </p:cNvPr>
          <p:cNvSpPr txBox="1"/>
          <p:nvPr/>
        </p:nvSpPr>
        <p:spPr>
          <a:xfrm>
            <a:off x="998375" y="4536567"/>
            <a:ext cx="6106884" cy="307777"/>
          </a:xfrm>
          <a:prstGeom prst="rect">
            <a:avLst/>
          </a:prstGeom>
          <a:noFill/>
        </p:spPr>
        <p:txBody>
          <a:bodyPr wrap="square">
            <a:spAutoFit/>
          </a:bodyPr>
          <a:lstStyle>
            <a:defPPr>
              <a:defRPr lang="zh-CN"/>
            </a:defPPr>
            <a:lvl1pPr>
              <a:defRPr sz="1400" b="0"/>
            </a:lvl1pPr>
          </a:lstStyle>
          <a:p>
            <a:r>
              <a:rPr lang="zh-CN" altLang="zh-CN" dirty="0"/>
              <a:t>计算他们的余弦相似度</a:t>
            </a:r>
            <a:r>
              <a:rPr lang="zh-CN" altLang="en-US" dirty="0"/>
              <a:t>并进行进行归一化，作为克隆概率</a:t>
            </a:r>
          </a:p>
        </p:txBody>
      </p:sp>
      <p:sp>
        <p:nvSpPr>
          <p:cNvPr id="37" name="文本框 36">
            <a:extLst>
              <a:ext uri="{FF2B5EF4-FFF2-40B4-BE49-F238E27FC236}">
                <a16:creationId xmlns:a16="http://schemas.microsoft.com/office/drawing/2014/main" id="{A74F4015-F656-6D52-22BD-743C886F0B47}"/>
              </a:ext>
            </a:extLst>
          </p:cNvPr>
          <p:cNvSpPr txBox="1"/>
          <p:nvPr/>
        </p:nvSpPr>
        <p:spPr>
          <a:xfrm>
            <a:off x="998375" y="4890271"/>
            <a:ext cx="6106884" cy="307777"/>
          </a:xfrm>
          <a:prstGeom prst="rect">
            <a:avLst/>
          </a:prstGeom>
          <a:noFill/>
        </p:spPr>
        <p:txBody>
          <a:bodyPr wrap="square">
            <a:spAutoFit/>
          </a:bodyPr>
          <a:lstStyle>
            <a:defPPr>
              <a:defRPr lang="zh-CN"/>
            </a:defPPr>
            <a:lvl1pPr>
              <a:defRPr sz="1400" b="0"/>
            </a:lvl1pPr>
          </a:lstStyle>
          <a:p>
            <a:r>
              <a:rPr lang="zh-CN" altLang="zh-CN" dirty="0"/>
              <a:t>使用二元交叉熵函数作为损失函数对模型进行微调</a:t>
            </a:r>
            <a:endParaRPr lang="zh-CN" altLang="en-US" dirty="0"/>
          </a:p>
        </p:txBody>
      </p:sp>
      <p:sp>
        <p:nvSpPr>
          <p:cNvPr id="41" name="文本框 40">
            <a:extLst>
              <a:ext uri="{FF2B5EF4-FFF2-40B4-BE49-F238E27FC236}">
                <a16:creationId xmlns:a16="http://schemas.microsoft.com/office/drawing/2014/main" id="{3F46BF24-C557-8D37-2A1B-B9B882C52B0B}"/>
              </a:ext>
            </a:extLst>
          </p:cNvPr>
          <p:cNvSpPr txBox="1"/>
          <p:nvPr/>
        </p:nvSpPr>
        <p:spPr>
          <a:xfrm>
            <a:off x="998375" y="5243975"/>
            <a:ext cx="7921690" cy="307777"/>
          </a:xfrm>
          <a:prstGeom prst="rect">
            <a:avLst/>
          </a:prstGeom>
          <a:noFill/>
        </p:spPr>
        <p:txBody>
          <a:bodyPr wrap="square">
            <a:spAutoFit/>
          </a:bodyPr>
          <a:lstStyle>
            <a:defPPr>
              <a:defRPr lang="zh-CN"/>
            </a:defPPr>
            <a:lvl1pPr>
              <a:defRPr sz="1400" b="0"/>
            </a:lvl1pPr>
          </a:lstStyle>
          <a:p>
            <a:r>
              <a:rPr lang="zh-CN" altLang="zh-CN" dirty="0"/>
              <a:t>在推理时，如果两个代码片段余弦相似度大于</a:t>
            </a:r>
            <a:r>
              <a:rPr lang="en-US" altLang="zh-CN" dirty="0"/>
              <a:t>0.5</a:t>
            </a:r>
            <a:r>
              <a:rPr lang="zh-CN" altLang="zh-CN" dirty="0"/>
              <a:t>，则认为这两个代码片段为克隆的</a:t>
            </a:r>
            <a:endParaRPr lang="zh-CN" altLang="en-US" dirty="0"/>
          </a:p>
        </p:txBody>
      </p:sp>
      <p:sp>
        <p:nvSpPr>
          <p:cNvPr id="42" name="文本框 41">
            <a:extLst>
              <a:ext uri="{FF2B5EF4-FFF2-40B4-BE49-F238E27FC236}">
                <a16:creationId xmlns:a16="http://schemas.microsoft.com/office/drawing/2014/main" id="{FA090B4B-590F-063E-D151-9A84C5B36EBA}"/>
              </a:ext>
            </a:extLst>
          </p:cNvPr>
          <p:cNvSpPr txBox="1"/>
          <p:nvPr/>
        </p:nvSpPr>
        <p:spPr>
          <a:xfrm>
            <a:off x="717778" y="5597679"/>
            <a:ext cx="610688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en-US" dirty="0"/>
              <a:t>摘要生成、代码修复、代码生成：</a:t>
            </a:r>
          </a:p>
        </p:txBody>
      </p:sp>
      <p:sp>
        <p:nvSpPr>
          <p:cNvPr id="44" name="文本框 43">
            <a:extLst>
              <a:ext uri="{FF2B5EF4-FFF2-40B4-BE49-F238E27FC236}">
                <a16:creationId xmlns:a16="http://schemas.microsoft.com/office/drawing/2014/main" id="{AAF17D71-7858-EA04-5639-D2B52C38D5C0}"/>
              </a:ext>
            </a:extLst>
          </p:cNvPr>
          <p:cNvSpPr txBox="1"/>
          <p:nvPr/>
        </p:nvSpPr>
        <p:spPr>
          <a:xfrm>
            <a:off x="998375" y="5982157"/>
            <a:ext cx="6106884" cy="307777"/>
          </a:xfrm>
          <a:prstGeom prst="rect">
            <a:avLst/>
          </a:prstGeom>
          <a:noFill/>
        </p:spPr>
        <p:txBody>
          <a:bodyPr wrap="square">
            <a:spAutoFit/>
          </a:bodyPr>
          <a:lstStyle>
            <a:defPPr>
              <a:defRPr lang="zh-CN"/>
            </a:defPPr>
            <a:lvl1pPr>
              <a:defRPr sz="1400" b="0"/>
            </a:lvl1pPr>
          </a:lstStyle>
          <a:p>
            <a:r>
              <a:rPr lang="zh-CN" altLang="zh-CN" dirty="0"/>
              <a:t>微调的损失函数为标准的因果语言建模损失。</a:t>
            </a:r>
          </a:p>
        </p:txBody>
      </p:sp>
      <p:sp>
        <p:nvSpPr>
          <p:cNvPr id="4" name="文本框 3">
            <a:extLst>
              <a:ext uri="{FF2B5EF4-FFF2-40B4-BE49-F238E27FC236}">
                <a16:creationId xmlns:a16="http://schemas.microsoft.com/office/drawing/2014/main" id="{E624C1FF-7DA9-59BB-008B-31F64247AAA0}"/>
              </a:ext>
            </a:extLst>
          </p:cNvPr>
          <p:cNvSpPr txBox="1"/>
          <p:nvPr/>
        </p:nvSpPr>
        <p:spPr>
          <a:xfrm>
            <a:off x="998375" y="1999085"/>
            <a:ext cx="7473821"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zh-CN" dirty="0"/>
              <a:t>使用</a:t>
            </a:r>
            <a:r>
              <a:rPr lang="en-US" altLang="zh-CN" dirty="0"/>
              <a:t> Code </a:t>
            </a:r>
            <a:r>
              <a:rPr lang="en-US" altLang="zh-CN" dirty="0" err="1"/>
              <a:t>LLaMA</a:t>
            </a:r>
            <a:r>
              <a:rPr lang="en-US" altLang="zh-CN" dirty="0"/>
              <a:t> </a:t>
            </a:r>
            <a:r>
              <a:rPr lang="zh-CN" altLang="zh-CN" dirty="0"/>
              <a:t>最后一层中</a:t>
            </a:r>
            <a:r>
              <a:rPr lang="en-US" altLang="zh-CN" dirty="0"/>
              <a:t> &lt;</a:t>
            </a:r>
            <a:r>
              <a:rPr lang="en-US" altLang="zh-CN" dirty="0" err="1"/>
              <a:t>eos</a:t>
            </a:r>
            <a:r>
              <a:rPr lang="en-US" altLang="zh-CN" dirty="0"/>
              <a:t>&gt; token </a:t>
            </a:r>
            <a:r>
              <a:rPr lang="zh-CN" altLang="zh-CN" dirty="0"/>
              <a:t>的隐藏状态作为整个句子的嵌入表示</a:t>
            </a:r>
            <a:endParaRPr lang="zh-CN" altLang="en-US" dirty="0"/>
          </a:p>
        </p:txBody>
      </p:sp>
      <p:sp>
        <p:nvSpPr>
          <p:cNvPr id="6" name="Rectangle 1">
            <a:extLst>
              <a:ext uri="{FF2B5EF4-FFF2-40B4-BE49-F238E27FC236}">
                <a16:creationId xmlns:a16="http://schemas.microsoft.com/office/drawing/2014/main" id="{95C7368B-D039-4CC2-38DA-BCB7FB5E036F}"/>
              </a:ext>
            </a:extLst>
          </p:cNvPr>
          <p:cNvSpPr>
            <a:spLocks noChangeArrowheads="1"/>
          </p:cNvSpPr>
          <p:nvPr/>
        </p:nvSpPr>
        <p:spPr bwMode="auto">
          <a:xfrm>
            <a:off x="998375" y="2352789"/>
            <a:ext cx="2970685" cy="307777"/>
          </a:xfrm>
          <a:prstGeom prst="rect">
            <a:avLst/>
          </a:prstGeom>
          <a:noFill/>
        </p:spPr>
        <p:txBody>
          <a:bodyPr wrap="square">
            <a:spAutoFit/>
          </a:bodyPr>
          <a:lstStyle/>
          <a:p>
            <a:pPr>
              <a:spcAft>
                <a:spcPts val="1200"/>
              </a:spcAft>
            </a:pPr>
            <a:r>
              <a:rPr lang="zh-CN" altLang="en-US" sz="1400" dirty="0">
                <a:latin typeface="+mn-ea"/>
              </a:rPr>
              <a:t>使用 </a:t>
            </a:r>
            <a:r>
              <a:rPr lang="en-US" altLang="zh-CN" sz="1400" dirty="0" err="1">
                <a:latin typeface="+mn-ea"/>
              </a:rPr>
              <a:t>InfoNCE</a:t>
            </a:r>
            <a:r>
              <a:rPr lang="en-US" altLang="zh-CN" sz="1400" dirty="0">
                <a:latin typeface="+mn-ea"/>
              </a:rPr>
              <a:t> </a:t>
            </a:r>
            <a:r>
              <a:rPr lang="zh-CN" altLang="en-US" sz="1400" dirty="0">
                <a:latin typeface="+mn-ea"/>
              </a:rPr>
              <a:t>对模型进行微调 </a:t>
            </a:r>
          </a:p>
        </p:txBody>
      </p:sp>
      <p:sp>
        <p:nvSpPr>
          <p:cNvPr id="7" name="Rectangle 2">
            <a:extLst>
              <a:ext uri="{FF2B5EF4-FFF2-40B4-BE49-F238E27FC236}">
                <a16:creationId xmlns:a16="http://schemas.microsoft.com/office/drawing/2014/main" id="{27B0A595-68A4-4953-FECD-43037849EDF8}"/>
              </a:ext>
            </a:extLst>
          </p:cNvPr>
          <p:cNvSpPr>
            <a:spLocks noChangeArrowheads="1"/>
          </p:cNvSpPr>
          <p:nvPr/>
        </p:nvSpPr>
        <p:spPr bwMode="auto">
          <a:xfrm>
            <a:off x="717778" y="1216656"/>
            <a:ext cx="9807153" cy="338554"/>
          </a:xfrm>
          <a:prstGeom prst="rect">
            <a:avLst/>
          </a:prstGeom>
          <a:noFill/>
        </p:spPr>
        <p:txBody>
          <a:bodyPr wrap="square">
            <a:spAutoFit/>
          </a:bodyPr>
          <a:lstStyle/>
          <a:p>
            <a:pPr>
              <a:spcAft>
                <a:spcPts val="1200"/>
              </a:spcAft>
            </a:pPr>
            <a:r>
              <a:rPr lang="zh-CN" altLang="en-US" sz="1600" dirty="0">
                <a:latin typeface="+mn-ea"/>
              </a:rPr>
              <a:t>对</a:t>
            </a:r>
            <a:r>
              <a:rPr lang="en-US" altLang="zh-CN" sz="1600" dirty="0">
                <a:latin typeface="+mn-ea"/>
              </a:rPr>
              <a:t>Code Llama</a:t>
            </a:r>
            <a:r>
              <a:rPr lang="zh-CN" altLang="en-US" sz="1600" dirty="0">
                <a:latin typeface="+mn-ea"/>
              </a:rPr>
              <a:t>进行微调。我们使用指令微调来对各个任务进行微调，微调使用的模板遵循</a:t>
            </a:r>
            <a:r>
              <a:rPr lang="en-US" altLang="zh-CN" sz="1600" dirty="0">
                <a:latin typeface="+mn-ea"/>
              </a:rPr>
              <a:t>alpaca </a:t>
            </a:r>
          </a:p>
        </p:txBody>
      </p:sp>
    </p:spTree>
    <p:extLst>
      <p:ext uri="{BB962C8B-B14F-4D97-AF65-F5344CB8AC3E}">
        <p14:creationId xmlns:p14="http://schemas.microsoft.com/office/powerpoint/2010/main" val="3363128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2</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研究设计</a:t>
            </a:r>
          </a:p>
        </p:txBody>
      </p:sp>
      <p:sp>
        <p:nvSpPr>
          <p:cNvPr id="8" name="文本框 7">
            <a:extLst>
              <a:ext uri="{FF2B5EF4-FFF2-40B4-BE49-F238E27FC236}">
                <a16:creationId xmlns:a16="http://schemas.microsoft.com/office/drawing/2014/main" id="{DCF45219-C5A5-888B-6E1E-92D70983F0C7}"/>
              </a:ext>
            </a:extLst>
          </p:cNvPr>
          <p:cNvSpPr txBox="1"/>
          <p:nvPr/>
        </p:nvSpPr>
        <p:spPr>
          <a:xfrm>
            <a:off x="435553" y="778914"/>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实验设置</a:t>
            </a:r>
            <a:endParaRPr lang="en-US" altLang="zh-CN" b="1" dirty="0">
              <a:solidFill>
                <a:srgbClr val="268F9C"/>
              </a:solidFill>
              <a:latin typeface="+mn-ea"/>
            </a:endParaRPr>
          </a:p>
        </p:txBody>
      </p:sp>
      <p:sp>
        <p:nvSpPr>
          <p:cNvPr id="4" name="文本框 3">
            <a:extLst>
              <a:ext uri="{FF2B5EF4-FFF2-40B4-BE49-F238E27FC236}">
                <a16:creationId xmlns:a16="http://schemas.microsoft.com/office/drawing/2014/main" id="{1377A7FE-99BC-35EA-FAC6-671BAD5C1D74}"/>
              </a:ext>
            </a:extLst>
          </p:cNvPr>
          <p:cNvSpPr txBox="1"/>
          <p:nvPr/>
        </p:nvSpPr>
        <p:spPr>
          <a:xfrm>
            <a:off x="647456" y="1159106"/>
            <a:ext cx="8314255" cy="307777"/>
          </a:xfrm>
          <a:prstGeom prst="rect">
            <a:avLst/>
          </a:prstGeom>
          <a:noFill/>
        </p:spPr>
        <p:txBody>
          <a:bodyPr wrap="square">
            <a:spAutoFit/>
          </a:bodyPr>
          <a:lstStyle>
            <a:defPPr>
              <a:defRPr lang="zh-CN"/>
            </a:defPPr>
            <a:lvl1pPr>
              <a:spcAft>
                <a:spcPts val="1200"/>
              </a:spcAft>
              <a:defRPr sz="1600">
                <a:latin typeface="+mn-ea"/>
              </a:defRPr>
            </a:lvl1pPr>
          </a:lstStyle>
          <a:p>
            <a:r>
              <a:rPr lang="zh-CN" altLang="zh-CN" sz="1400"/>
              <a:t>所有的实验在</a:t>
            </a:r>
            <a:r>
              <a:rPr lang="en-US" altLang="zh-CN" sz="1400"/>
              <a:t>4</a:t>
            </a:r>
            <a:r>
              <a:rPr lang="zh-CN" altLang="zh-CN" sz="1400"/>
              <a:t>张</a:t>
            </a:r>
            <a:r>
              <a:rPr lang="en-US" altLang="zh-CN" sz="1400"/>
              <a:t>V100</a:t>
            </a:r>
            <a:r>
              <a:rPr lang="zh-CN" altLang="zh-CN" sz="1400"/>
              <a:t>进行</a:t>
            </a:r>
            <a:endParaRPr lang="zh-CN" altLang="en-US" sz="1400"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7AF8CC0-30B6-E70F-B157-1EF7F31E55BA}"/>
                  </a:ext>
                </a:extLst>
              </p:cNvPr>
              <p:cNvSpPr txBox="1"/>
              <p:nvPr/>
            </p:nvSpPr>
            <p:spPr>
              <a:xfrm>
                <a:off x="647456" y="1818421"/>
                <a:ext cx="11374697" cy="307777"/>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en-US" altLang="zh-CN" sz="1400" dirty="0" err="1"/>
                  <a:t>LoRA</a:t>
                </a:r>
                <a:r>
                  <a:rPr lang="zh-CN" altLang="zh-CN" sz="1400" dirty="0"/>
                  <a:t>的秩</a:t>
                </a:r>
                <a14:m>
                  <m:oMath xmlns:m="http://schemas.openxmlformats.org/officeDocument/2006/math">
                    <m:r>
                      <a:rPr lang="en-US" altLang="zh-CN" sz="1400">
                        <a:latin typeface="Cambria Math" panose="02040503050406030204" pitchFamily="18" charset="0"/>
                      </a:rPr>
                      <m:t>𝑟</m:t>
                    </m:r>
                  </m:oMath>
                </a14:m>
                <a:r>
                  <a:rPr lang="zh-CN" altLang="zh-CN" sz="1400" dirty="0"/>
                  <a:t>为</a:t>
                </a:r>
                <a:r>
                  <a:rPr lang="en-US" altLang="zh-CN" sz="1400" dirty="0"/>
                  <a:t>32</a:t>
                </a:r>
                <a:r>
                  <a:rPr lang="zh-CN" altLang="zh-CN" sz="1400" dirty="0"/>
                  <a:t>，</a:t>
                </a:r>
                <a14:m>
                  <m:oMath xmlns:m="http://schemas.openxmlformats.org/officeDocument/2006/math">
                    <m:r>
                      <m:rPr>
                        <m:sty m:val="p"/>
                      </m:rPr>
                      <a:rPr lang="en-US" altLang="zh-CN" sz="1400">
                        <a:latin typeface="Cambria Math" panose="02040503050406030204" pitchFamily="18" charset="0"/>
                      </a:rPr>
                      <m:t>α</m:t>
                    </m:r>
                  </m:oMath>
                </a14:m>
                <a:r>
                  <a:rPr lang="zh-CN" altLang="zh-CN" sz="1400" dirty="0"/>
                  <a:t>为</a:t>
                </a:r>
                <a:r>
                  <a:rPr lang="en-US" altLang="zh-CN" sz="1400" dirty="0"/>
                  <a:t>64</a:t>
                </a:r>
                <a:r>
                  <a:rPr lang="zh-CN" altLang="zh-CN" sz="1400" dirty="0"/>
                  <a:t>，设置</a:t>
                </a:r>
                <a:r>
                  <a:rPr lang="en-US" altLang="zh-CN" sz="1400" dirty="0"/>
                  <a:t>Lora</a:t>
                </a:r>
                <a:r>
                  <a:rPr lang="zh-CN" altLang="zh-CN" sz="1400" dirty="0"/>
                  <a:t>层为</a:t>
                </a:r>
                <a:r>
                  <a:rPr lang="en-US" altLang="zh-CN" sz="1400" dirty="0"/>
                  <a:t>["</a:t>
                </a:r>
                <a:r>
                  <a:rPr lang="en-US" altLang="zh-CN" sz="1400" dirty="0" err="1"/>
                  <a:t>q_proj</a:t>
                </a:r>
                <a:r>
                  <a:rPr lang="en-US" altLang="zh-CN" sz="1400" dirty="0"/>
                  <a:t>", "</a:t>
                </a:r>
                <a:r>
                  <a:rPr lang="en-US" altLang="zh-CN" sz="1400" dirty="0" err="1"/>
                  <a:t>v_proj</a:t>
                </a:r>
                <a:r>
                  <a:rPr lang="en-US" altLang="zh-CN" sz="1400" dirty="0"/>
                  <a:t>", "</a:t>
                </a:r>
                <a:r>
                  <a:rPr lang="en-US" altLang="zh-CN" sz="1400" dirty="0" err="1"/>
                  <a:t>k_proj</a:t>
                </a:r>
                <a:r>
                  <a:rPr lang="en-US" altLang="zh-CN" sz="1400" dirty="0"/>
                  <a:t>", "</a:t>
                </a:r>
                <a:r>
                  <a:rPr lang="en-US" altLang="zh-CN" sz="1400" dirty="0" err="1"/>
                  <a:t>o_proj</a:t>
                </a:r>
                <a:r>
                  <a:rPr lang="en-US" altLang="zh-CN" sz="1400" dirty="0"/>
                  <a:t>", "</a:t>
                </a:r>
                <a:r>
                  <a:rPr lang="en-US" altLang="zh-CN" sz="1400" dirty="0" err="1"/>
                  <a:t>up_proj</a:t>
                </a:r>
                <a:r>
                  <a:rPr lang="en-US" altLang="zh-CN" sz="1400" dirty="0"/>
                  <a:t>", "</a:t>
                </a:r>
                <a:r>
                  <a:rPr lang="en-US" altLang="zh-CN" sz="1400" dirty="0" err="1"/>
                  <a:t>down_proj</a:t>
                </a:r>
                <a:r>
                  <a:rPr lang="en-US" altLang="zh-CN" sz="1400" dirty="0"/>
                  <a:t>", "</a:t>
                </a:r>
                <a:r>
                  <a:rPr lang="en-US" altLang="zh-CN" sz="1400" dirty="0" err="1"/>
                  <a:t>gate_proj</a:t>
                </a:r>
                <a:r>
                  <a:rPr lang="en-US" altLang="zh-CN" sz="1400" dirty="0"/>
                  <a:t>"]</a:t>
                </a:r>
                <a:endParaRPr lang="zh-CN" altLang="en-US" sz="1400" dirty="0"/>
              </a:p>
            </p:txBody>
          </p:sp>
        </mc:Choice>
        <mc:Fallback xmlns="">
          <p:sp>
            <p:nvSpPr>
              <p:cNvPr id="7" name="文本框 6">
                <a:extLst>
                  <a:ext uri="{FF2B5EF4-FFF2-40B4-BE49-F238E27FC236}">
                    <a16:creationId xmlns:a16="http://schemas.microsoft.com/office/drawing/2014/main" id="{57AF8CC0-30B6-E70F-B157-1EF7F31E55BA}"/>
                  </a:ext>
                </a:extLst>
              </p:cNvPr>
              <p:cNvSpPr txBox="1">
                <a:spLocks noRot="1" noChangeAspect="1" noMove="1" noResize="1" noEditPoints="1" noAdjustHandles="1" noChangeArrowheads="1" noChangeShapeType="1" noTextEdit="1"/>
              </p:cNvSpPr>
              <p:nvPr/>
            </p:nvSpPr>
            <p:spPr>
              <a:xfrm>
                <a:off x="647456" y="1818421"/>
                <a:ext cx="11374697" cy="307777"/>
              </a:xfrm>
              <a:prstGeom prst="rect">
                <a:avLst/>
              </a:prstGeom>
              <a:blipFill>
                <a:blip r:embed="rId3"/>
                <a:stretch>
                  <a:fillRect l="-54" t="-1961" b="-19608"/>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66ADD6A8-B15B-C09D-482A-FBBB73B6F9FA}"/>
              </a:ext>
            </a:extLst>
          </p:cNvPr>
          <p:cNvSpPr txBox="1"/>
          <p:nvPr/>
        </p:nvSpPr>
        <p:spPr>
          <a:xfrm>
            <a:off x="647456" y="2506517"/>
            <a:ext cx="10866520" cy="307777"/>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zh-CN" altLang="zh-CN" sz="1400" dirty="0"/>
              <a:t>代码搜索任务中，</a:t>
            </a:r>
            <a:r>
              <a:rPr lang="en-US" altLang="zh-CN" sz="1400" dirty="0"/>
              <a:t>Rudy</a:t>
            </a:r>
            <a:r>
              <a:rPr lang="zh-CN" altLang="zh-CN" sz="1400" dirty="0"/>
              <a:t>数据集训练</a:t>
            </a:r>
            <a:r>
              <a:rPr lang="en-US" altLang="zh-CN" sz="1400" dirty="0"/>
              <a:t>5</a:t>
            </a:r>
            <a:r>
              <a:rPr lang="zh-CN" altLang="zh-CN" sz="1400" dirty="0"/>
              <a:t>个轮次，</a:t>
            </a:r>
            <a:r>
              <a:rPr lang="en-US" altLang="zh-CN" sz="1400" dirty="0"/>
              <a:t>JavaScript</a:t>
            </a:r>
            <a:r>
              <a:rPr lang="zh-CN" altLang="zh-CN" sz="1400" dirty="0"/>
              <a:t>训练两个轮次，其他语言数据集均训练一个轮次。</a:t>
            </a:r>
            <a:endParaRPr lang="zh-CN" altLang="en-US" sz="1400" dirty="0"/>
          </a:p>
        </p:txBody>
      </p:sp>
      <p:sp>
        <p:nvSpPr>
          <p:cNvPr id="14" name="文本框 13">
            <a:extLst>
              <a:ext uri="{FF2B5EF4-FFF2-40B4-BE49-F238E27FC236}">
                <a16:creationId xmlns:a16="http://schemas.microsoft.com/office/drawing/2014/main" id="{C6B840B0-FC08-347A-2302-7AABF77800CD}"/>
              </a:ext>
            </a:extLst>
          </p:cNvPr>
          <p:cNvSpPr txBox="1"/>
          <p:nvPr/>
        </p:nvSpPr>
        <p:spPr>
          <a:xfrm>
            <a:off x="647456" y="2850565"/>
            <a:ext cx="10721554" cy="307777"/>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zh-CN" altLang="zh-CN" sz="1400" dirty="0"/>
              <a:t>代码修复任务中，</a:t>
            </a:r>
            <a:r>
              <a:rPr lang="en-US" altLang="zh-CN" sz="1400" dirty="0"/>
              <a:t>Ruby</a:t>
            </a:r>
            <a:r>
              <a:rPr lang="zh-CN" altLang="zh-CN" sz="1400" dirty="0"/>
              <a:t>、</a:t>
            </a:r>
            <a:r>
              <a:rPr lang="en-US" altLang="zh-CN" sz="1400" dirty="0"/>
              <a:t>PHP</a:t>
            </a:r>
            <a:r>
              <a:rPr lang="zh-CN" altLang="zh-CN" sz="1400" dirty="0"/>
              <a:t>、</a:t>
            </a:r>
            <a:r>
              <a:rPr lang="en-US" altLang="zh-CN" sz="1400" dirty="0"/>
              <a:t>JavaScript</a:t>
            </a:r>
            <a:r>
              <a:rPr lang="zh-CN" altLang="zh-CN" sz="1400" dirty="0"/>
              <a:t>、</a:t>
            </a:r>
            <a:r>
              <a:rPr lang="en-US" altLang="zh-CN" sz="1400" dirty="0"/>
              <a:t>Go</a:t>
            </a:r>
            <a:r>
              <a:rPr lang="zh-CN" altLang="zh-CN" sz="1400" dirty="0"/>
              <a:t>数据集训练</a:t>
            </a:r>
            <a:r>
              <a:rPr lang="en-US" altLang="zh-CN" sz="1400" dirty="0"/>
              <a:t>5</a:t>
            </a:r>
            <a:r>
              <a:rPr lang="zh-CN" altLang="zh-CN" sz="1400" dirty="0"/>
              <a:t>个轮次，其他语言数据集训练一个轮次。</a:t>
            </a:r>
            <a:endParaRPr lang="zh-CN" altLang="en-US" sz="1400" dirty="0"/>
          </a:p>
        </p:txBody>
      </p:sp>
      <p:sp>
        <p:nvSpPr>
          <p:cNvPr id="16" name="文本框 15">
            <a:extLst>
              <a:ext uri="{FF2B5EF4-FFF2-40B4-BE49-F238E27FC236}">
                <a16:creationId xmlns:a16="http://schemas.microsoft.com/office/drawing/2014/main" id="{B281D95E-5F34-0414-B87E-9A1B28EF2768}"/>
              </a:ext>
            </a:extLst>
          </p:cNvPr>
          <p:cNvSpPr txBox="1"/>
          <p:nvPr/>
        </p:nvSpPr>
        <p:spPr>
          <a:xfrm>
            <a:off x="647456" y="3194611"/>
            <a:ext cx="10721554" cy="307777"/>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zh-CN" altLang="zh-CN" sz="1400" dirty="0"/>
              <a:t>漏洞检测、摘要生成、代码生成任务均训练</a:t>
            </a:r>
            <a:r>
              <a:rPr lang="en-US" altLang="zh-CN" sz="1400" dirty="0"/>
              <a:t>5</a:t>
            </a:r>
            <a:r>
              <a:rPr lang="zh-CN" altLang="zh-CN" sz="1400" dirty="0"/>
              <a:t>个轮次。代码克隆检测训练</a:t>
            </a:r>
            <a:r>
              <a:rPr lang="en-US" altLang="zh-CN" sz="1400" dirty="0"/>
              <a:t>1</a:t>
            </a:r>
            <a:r>
              <a:rPr lang="zh-CN" altLang="zh-CN" sz="1400" dirty="0"/>
              <a:t>个轮次。</a:t>
            </a:r>
            <a:endParaRPr lang="zh-CN" altLang="en-US" sz="1400" dirty="0"/>
          </a:p>
        </p:txBody>
      </p:sp>
      <p:sp>
        <p:nvSpPr>
          <p:cNvPr id="19" name="文本框 18">
            <a:extLst>
              <a:ext uri="{FF2B5EF4-FFF2-40B4-BE49-F238E27FC236}">
                <a16:creationId xmlns:a16="http://schemas.microsoft.com/office/drawing/2014/main" id="{66182E6C-00A7-0BEB-D79A-2859D8AB88A3}"/>
              </a:ext>
            </a:extLst>
          </p:cNvPr>
          <p:cNvSpPr txBox="1"/>
          <p:nvPr/>
        </p:nvSpPr>
        <p:spPr>
          <a:xfrm>
            <a:off x="647456" y="2162469"/>
            <a:ext cx="6106884"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zh-CN" dirty="0"/>
              <a:t>所有任务的微调学习率为</a:t>
            </a:r>
            <a:r>
              <a:rPr lang="en-US" altLang="zh-CN" dirty="0"/>
              <a:t>8e-5</a:t>
            </a:r>
            <a:r>
              <a:rPr lang="zh-CN" altLang="zh-CN" dirty="0"/>
              <a:t>，批大小为</a:t>
            </a:r>
            <a:r>
              <a:rPr lang="en-US" altLang="zh-CN" dirty="0"/>
              <a:t>64</a:t>
            </a:r>
            <a:r>
              <a:rPr lang="zh-CN" altLang="zh-CN" dirty="0"/>
              <a:t>。</a:t>
            </a:r>
            <a:endParaRPr lang="zh-CN" altLang="en-US" dirty="0"/>
          </a:p>
        </p:txBody>
      </p:sp>
      <p:sp>
        <p:nvSpPr>
          <p:cNvPr id="21" name="文本框 20">
            <a:extLst>
              <a:ext uri="{FF2B5EF4-FFF2-40B4-BE49-F238E27FC236}">
                <a16:creationId xmlns:a16="http://schemas.microsoft.com/office/drawing/2014/main" id="{E7940122-DF9E-F674-D422-BEADB64D7EA8}"/>
              </a:ext>
            </a:extLst>
          </p:cNvPr>
          <p:cNvSpPr txBox="1"/>
          <p:nvPr/>
        </p:nvSpPr>
        <p:spPr>
          <a:xfrm>
            <a:off x="647456" y="1469536"/>
            <a:ext cx="6106884" cy="338554"/>
          </a:xfrm>
          <a:prstGeom prst="rect">
            <a:avLst/>
          </a:prstGeom>
          <a:noFill/>
        </p:spPr>
        <p:txBody>
          <a:bodyPr wrap="square">
            <a:spAutoFit/>
          </a:bodyPr>
          <a:lstStyle/>
          <a:p>
            <a:r>
              <a:rPr lang="zh-CN" altLang="en-US" sz="1600" b="1" dirty="0">
                <a:solidFill>
                  <a:srgbClr val="268F9C"/>
                </a:solidFill>
                <a:latin typeface="+mn-ea"/>
              </a:rPr>
              <a:t>微调参数设置</a:t>
            </a:r>
            <a:endParaRPr lang="en-US" altLang="zh-CN" sz="1600" b="1" dirty="0">
              <a:solidFill>
                <a:srgbClr val="268F9C"/>
              </a:solidFill>
              <a:latin typeface="+mn-ea"/>
            </a:endParaRPr>
          </a:p>
        </p:txBody>
      </p:sp>
      <p:sp>
        <p:nvSpPr>
          <p:cNvPr id="22" name="文本框 21">
            <a:extLst>
              <a:ext uri="{FF2B5EF4-FFF2-40B4-BE49-F238E27FC236}">
                <a16:creationId xmlns:a16="http://schemas.microsoft.com/office/drawing/2014/main" id="{ADBCBF9C-4F98-AD2B-552D-3C4FF2D0A24A}"/>
              </a:ext>
            </a:extLst>
          </p:cNvPr>
          <p:cNvSpPr txBox="1"/>
          <p:nvPr/>
        </p:nvSpPr>
        <p:spPr>
          <a:xfrm>
            <a:off x="647456" y="3541012"/>
            <a:ext cx="6106884" cy="338554"/>
          </a:xfrm>
          <a:prstGeom prst="rect">
            <a:avLst/>
          </a:prstGeom>
          <a:noFill/>
        </p:spPr>
        <p:txBody>
          <a:bodyPr wrap="square">
            <a:spAutoFit/>
          </a:bodyPr>
          <a:lstStyle/>
          <a:p>
            <a:r>
              <a:rPr lang="zh-CN" altLang="en-US" sz="1600" b="1" dirty="0">
                <a:solidFill>
                  <a:srgbClr val="268F9C"/>
                </a:solidFill>
                <a:latin typeface="+mn-ea"/>
              </a:rPr>
              <a:t>模型融合参数设置</a:t>
            </a:r>
            <a:endParaRPr lang="en-US" altLang="zh-CN" sz="1600" b="1" dirty="0">
              <a:solidFill>
                <a:srgbClr val="268F9C"/>
              </a:solidFill>
              <a:latin typeface="+mn-ea"/>
            </a:endParaRPr>
          </a:p>
        </p:txBody>
      </p:sp>
      <p:sp>
        <p:nvSpPr>
          <p:cNvPr id="24" name="文本框 23">
            <a:extLst>
              <a:ext uri="{FF2B5EF4-FFF2-40B4-BE49-F238E27FC236}">
                <a16:creationId xmlns:a16="http://schemas.microsoft.com/office/drawing/2014/main" id="{789E9456-1842-1DF8-76C7-B8702CAA424F}"/>
              </a:ext>
            </a:extLst>
          </p:cNvPr>
          <p:cNvSpPr txBox="1"/>
          <p:nvPr/>
        </p:nvSpPr>
        <p:spPr>
          <a:xfrm>
            <a:off x="714589" y="3926853"/>
            <a:ext cx="3092301"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zh-CN" b="1" dirty="0"/>
              <a:t>任务算术、</a:t>
            </a:r>
            <a:r>
              <a:rPr lang="en-US" altLang="zh-CN" b="1" dirty="0"/>
              <a:t>ties-merging</a:t>
            </a:r>
            <a:r>
              <a:rPr lang="zh-CN" altLang="zh-CN" b="1" dirty="0"/>
              <a:t>：</a:t>
            </a:r>
            <a:endParaRPr lang="zh-CN" altLang="en-US" b="1" dirty="0"/>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8E724848-C182-B336-FE2E-6522C5AAEEE5}"/>
                  </a:ext>
                </a:extLst>
              </p:cNvPr>
              <p:cNvSpPr txBox="1"/>
              <p:nvPr/>
            </p:nvSpPr>
            <p:spPr>
              <a:xfrm>
                <a:off x="1015046" y="4257053"/>
                <a:ext cx="10498930"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pPr marL="0" indent="0">
                  <a:buNone/>
                </a:pPr>
                <a:r>
                  <a:rPr lang="zh-CN" altLang="zh-CN" dirty="0"/>
                  <a:t>从验证集中随机采样</a:t>
                </a:r>
                <a:r>
                  <a:rPr lang="en-US" altLang="zh-CN" dirty="0"/>
                  <a:t>5000</a:t>
                </a:r>
                <a:r>
                  <a:rPr lang="zh-CN" altLang="zh-CN" dirty="0"/>
                  <a:t>个样本进行搜索</a:t>
                </a:r>
                <a:r>
                  <a:rPr lang="en-US" altLang="zh-CN" dirty="0"/>
                  <a:t>(</a:t>
                </a:r>
                <a:r>
                  <a:rPr lang="zh-CN" altLang="zh-CN" dirty="0"/>
                  <a:t>若没有验证集，则从训练集中采样</a:t>
                </a:r>
                <a:r>
                  <a:rPr lang="en-US" altLang="zh-CN" dirty="0"/>
                  <a:t>)</a:t>
                </a:r>
                <a:r>
                  <a:rPr lang="zh-CN" altLang="en-US" dirty="0"/>
                  <a:t>，用于搜索缩放融合系数</a:t>
                </a:r>
                <a14:m>
                  <m:oMath xmlns:m="http://schemas.openxmlformats.org/officeDocument/2006/math">
                    <m:r>
                      <a:rPr lang="en-US" altLang="zh-CN" dirty="0">
                        <a:latin typeface="Cambria Math" panose="02040503050406030204" pitchFamily="18" charset="0"/>
                      </a:rPr>
                      <m:t>𝛼</m:t>
                    </m:r>
                  </m:oMath>
                </a14:m>
                <a:endParaRPr lang="zh-CN" altLang="en-US" dirty="0"/>
              </a:p>
            </p:txBody>
          </p:sp>
        </mc:Choice>
        <mc:Fallback xmlns="">
          <p:sp>
            <p:nvSpPr>
              <p:cNvPr id="26" name="文本框 25">
                <a:extLst>
                  <a:ext uri="{FF2B5EF4-FFF2-40B4-BE49-F238E27FC236}">
                    <a16:creationId xmlns:a16="http://schemas.microsoft.com/office/drawing/2014/main" id="{8E724848-C182-B336-FE2E-6522C5AAEEE5}"/>
                  </a:ext>
                </a:extLst>
              </p:cNvPr>
              <p:cNvSpPr txBox="1">
                <a:spLocks noRot="1" noChangeAspect="1" noMove="1" noResize="1" noEditPoints="1" noAdjustHandles="1" noChangeArrowheads="1" noChangeShapeType="1" noTextEdit="1"/>
              </p:cNvSpPr>
              <p:nvPr/>
            </p:nvSpPr>
            <p:spPr>
              <a:xfrm>
                <a:off x="1015046" y="4257053"/>
                <a:ext cx="10498930" cy="307777"/>
              </a:xfrm>
              <a:prstGeom prst="rect">
                <a:avLst/>
              </a:prstGeom>
              <a:blipFill>
                <a:blip r:embed="rId4"/>
                <a:stretch>
                  <a:fillRect l="-174" t="-1961"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DE9883F-6688-B6A8-C5FD-024324F53DE8}"/>
                  </a:ext>
                </a:extLst>
              </p:cNvPr>
              <p:cNvSpPr txBox="1"/>
              <p:nvPr/>
            </p:nvSpPr>
            <p:spPr>
              <a:xfrm>
                <a:off x="1015046" y="4535724"/>
                <a:ext cx="9369925"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pPr marL="0" indent="0">
                  <a:buNone/>
                </a:pPr>
                <a:r>
                  <a:rPr lang="zh-CN" altLang="zh-CN"/>
                  <a:t>对于</a:t>
                </a:r>
                <a:r>
                  <a:rPr lang="en-US" altLang="zh-CN" dirty="0"/>
                  <a:t>RQ1</a:t>
                </a:r>
                <a:r>
                  <a:rPr lang="zh-CN" altLang="zh-CN" dirty="0"/>
                  <a:t>，因为每个任务搜索得到的最优融合系数基本一致，因此每个任务使用相同的放缩系数</a:t>
                </a:r>
                <a14:m>
                  <m:oMath xmlns:m="http://schemas.openxmlformats.org/officeDocument/2006/math">
                    <m:r>
                      <m:rPr>
                        <m:sty m:val="p"/>
                      </m:rPr>
                      <a:rPr lang="en-US" altLang="zh-CN">
                        <a:latin typeface="Cambria Math" panose="02040503050406030204" pitchFamily="18" charset="0"/>
                      </a:rPr>
                      <m:t>α</m:t>
                    </m:r>
                  </m:oMath>
                </a14:m>
                <a:endParaRPr lang="zh-CN" altLang="en-US" dirty="0"/>
              </a:p>
            </p:txBody>
          </p:sp>
        </mc:Choice>
        <mc:Fallback xmlns="">
          <p:sp>
            <p:nvSpPr>
              <p:cNvPr id="28" name="文本框 27">
                <a:extLst>
                  <a:ext uri="{FF2B5EF4-FFF2-40B4-BE49-F238E27FC236}">
                    <a16:creationId xmlns:a16="http://schemas.microsoft.com/office/drawing/2014/main" id="{EDE9883F-6688-B6A8-C5FD-024324F53DE8}"/>
                  </a:ext>
                </a:extLst>
              </p:cNvPr>
              <p:cNvSpPr txBox="1">
                <a:spLocks noRot="1" noChangeAspect="1" noMove="1" noResize="1" noEditPoints="1" noAdjustHandles="1" noChangeArrowheads="1" noChangeShapeType="1" noTextEdit="1"/>
              </p:cNvSpPr>
              <p:nvPr/>
            </p:nvSpPr>
            <p:spPr>
              <a:xfrm>
                <a:off x="1015046" y="4535724"/>
                <a:ext cx="9369925" cy="307777"/>
              </a:xfrm>
              <a:prstGeom prst="rect">
                <a:avLst/>
              </a:prstGeom>
              <a:blipFill>
                <a:blip r:embed="rId5"/>
                <a:stretch>
                  <a:fillRect l="-195" t="-3922" b="-19608"/>
                </a:stretch>
              </a:blipFill>
            </p:spPr>
            <p:txBody>
              <a:bodyPr/>
              <a:lstStyle/>
              <a:p>
                <a:r>
                  <a:rPr lang="zh-CN" altLang="en-US">
                    <a:noFill/>
                  </a:rPr>
                  <a:t> </a:t>
                </a:r>
              </a:p>
            </p:txBody>
          </p:sp>
        </mc:Fallback>
      </mc:AlternateContent>
      <p:sp>
        <p:nvSpPr>
          <p:cNvPr id="31" name="文本框 30">
            <a:extLst>
              <a:ext uri="{FF2B5EF4-FFF2-40B4-BE49-F238E27FC236}">
                <a16:creationId xmlns:a16="http://schemas.microsoft.com/office/drawing/2014/main" id="{353BC26A-7F0D-05AD-5CB8-B379376D0899}"/>
              </a:ext>
            </a:extLst>
          </p:cNvPr>
          <p:cNvSpPr txBox="1"/>
          <p:nvPr/>
        </p:nvSpPr>
        <p:spPr>
          <a:xfrm>
            <a:off x="1015046" y="4814395"/>
            <a:ext cx="9080676"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pPr marL="0" indent="0">
              <a:buNone/>
            </a:pPr>
            <a:r>
              <a:rPr lang="zh-CN" altLang="zh-CN" dirty="0"/>
              <a:t>对于</a:t>
            </a:r>
            <a:r>
              <a:rPr lang="en-US" altLang="zh-CN" dirty="0"/>
              <a:t>RQ2</a:t>
            </a:r>
            <a:r>
              <a:rPr lang="zh-CN" altLang="zh-CN" dirty="0"/>
              <a:t>，不同任务的最优融合系数差距很大，因此，我们为每个不同的任务搜索使用不同的融合系数。</a:t>
            </a:r>
            <a:endParaRPr lang="zh-CN" altLang="en-US" dirty="0"/>
          </a:p>
        </p:txBody>
      </p:sp>
      <p:sp>
        <p:nvSpPr>
          <p:cNvPr id="33" name="文本框 32">
            <a:extLst>
              <a:ext uri="{FF2B5EF4-FFF2-40B4-BE49-F238E27FC236}">
                <a16:creationId xmlns:a16="http://schemas.microsoft.com/office/drawing/2014/main" id="{F2478C9A-3488-E62A-0DA1-615A4FA5F5D1}"/>
              </a:ext>
            </a:extLst>
          </p:cNvPr>
          <p:cNvSpPr txBox="1"/>
          <p:nvPr/>
        </p:nvSpPr>
        <p:spPr>
          <a:xfrm>
            <a:off x="1015046" y="5093065"/>
            <a:ext cx="11176954"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pPr marL="0" indent="0">
              <a:buNone/>
            </a:pPr>
            <a:r>
              <a:rPr lang="zh-CN" altLang="en-US" dirty="0"/>
              <a:t>任务算术搜索的空间为</a:t>
            </a:r>
            <a:r>
              <a:rPr lang="en-US" altLang="zh-CN" dirty="0"/>
              <a:t>[0.1,1]</a:t>
            </a:r>
            <a:r>
              <a:rPr lang="zh-CN" altLang="en-US" dirty="0"/>
              <a:t>，搜索间隔都为</a:t>
            </a:r>
            <a:r>
              <a:rPr lang="en-US" altLang="zh-CN" dirty="0"/>
              <a:t>0.1</a:t>
            </a:r>
            <a:r>
              <a:rPr lang="zh-CN" altLang="en-US" dirty="0"/>
              <a:t>；对于</a:t>
            </a:r>
            <a:r>
              <a:rPr lang="en-US" altLang="zh-CN" dirty="0"/>
              <a:t>ties-merging</a:t>
            </a:r>
            <a:r>
              <a:rPr lang="zh-CN" altLang="en-US" dirty="0"/>
              <a:t>，其保留前</a:t>
            </a:r>
            <a:r>
              <a:rPr lang="en-US" altLang="zh-CN" dirty="0"/>
              <a:t>70%</a:t>
            </a:r>
            <a:r>
              <a:rPr lang="zh-CN" altLang="en-US" dirty="0"/>
              <a:t>大的参数，搜索空间为</a:t>
            </a:r>
            <a:r>
              <a:rPr lang="en-US" altLang="zh-CN" dirty="0"/>
              <a:t>[0.5,2.5]</a:t>
            </a:r>
            <a:r>
              <a:rPr lang="zh-CN" altLang="en-US" dirty="0"/>
              <a:t>，搜索间隔为</a:t>
            </a:r>
            <a:r>
              <a:rPr lang="en-US" altLang="zh-CN" dirty="0"/>
              <a:t>0.1</a:t>
            </a:r>
            <a:r>
              <a:rPr lang="zh-CN" altLang="en-US" dirty="0"/>
              <a:t>。</a:t>
            </a:r>
            <a:endParaRPr lang="zh-CN" altLang="zh-CN" dirty="0"/>
          </a:p>
        </p:txBody>
      </p:sp>
      <p:sp>
        <p:nvSpPr>
          <p:cNvPr id="34" name="文本框 33">
            <a:extLst>
              <a:ext uri="{FF2B5EF4-FFF2-40B4-BE49-F238E27FC236}">
                <a16:creationId xmlns:a16="http://schemas.microsoft.com/office/drawing/2014/main" id="{6D22C86B-6402-3DD7-E0C9-434FDE6DAD28}"/>
              </a:ext>
            </a:extLst>
          </p:cNvPr>
          <p:cNvSpPr txBox="1"/>
          <p:nvPr/>
        </p:nvSpPr>
        <p:spPr>
          <a:xfrm>
            <a:off x="714588" y="5449707"/>
            <a:ext cx="3092301"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en-US" b="1" dirty="0"/>
              <a:t>可学习融合系数</a:t>
            </a:r>
            <a:r>
              <a:rPr lang="zh-CN" altLang="zh-CN" b="1" dirty="0"/>
              <a:t>：</a:t>
            </a:r>
            <a:endParaRPr lang="zh-CN" altLang="en-US" b="1" dirty="0"/>
          </a:p>
        </p:txBody>
      </p:sp>
      <p:sp>
        <p:nvSpPr>
          <p:cNvPr id="36" name="文本框 35">
            <a:extLst>
              <a:ext uri="{FF2B5EF4-FFF2-40B4-BE49-F238E27FC236}">
                <a16:creationId xmlns:a16="http://schemas.microsoft.com/office/drawing/2014/main" id="{5F55EE82-E61D-5231-89A9-533EF530DE5F}"/>
              </a:ext>
            </a:extLst>
          </p:cNvPr>
          <p:cNvSpPr txBox="1"/>
          <p:nvPr/>
        </p:nvSpPr>
        <p:spPr>
          <a:xfrm>
            <a:off x="1015046" y="5728964"/>
            <a:ext cx="7370067"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zh-CN" dirty="0"/>
              <a:t>从每个任务的训练集中随机采样</a:t>
            </a:r>
            <a:r>
              <a:rPr lang="en-US" altLang="zh-CN" dirty="0"/>
              <a:t>5000</a:t>
            </a:r>
            <a:r>
              <a:rPr lang="zh-CN" altLang="zh-CN" dirty="0"/>
              <a:t>个样本</a:t>
            </a:r>
            <a:r>
              <a:rPr lang="zh-CN" altLang="en-US" dirty="0"/>
              <a:t>（</a:t>
            </a:r>
            <a:r>
              <a:rPr lang="zh-CN" altLang="zh-CN" dirty="0"/>
              <a:t>远远小于训练样本总数</a:t>
            </a:r>
            <a:r>
              <a:rPr lang="zh-CN" altLang="en-US" dirty="0"/>
              <a:t>）</a:t>
            </a:r>
            <a:r>
              <a:rPr lang="zh-CN" altLang="zh-CN" dirty="0"/>
              <a:t>进行训练</a:t>
            </a:r>
            <a:endParaRPr lang="zh-CN" altLang="en-US" dirty="0"/>
          </a:p>
        </p:txBody>
      </p:sp>
      <p:sp>
        <p:nvSpPr>
          <p:cNvPr id="38" name="文本框 37">
            <a:extLst>
              <a:ext uri="{FF2B5EF4-FFF2-40B4-BE49-F238E27FC236}">
                <a16:creationId xmlns:a16="http://schemas.microsoft.com/office/drawing/2014/main" id="{FBF60A57-E2DF-C42C-072E-CBA7932803C5}"/>
              </a:ext>
            </a:extLst>
          </p:cNvPr>
          <p:cNvSpPr txBox="1"/>
          <p:nvPr/>
        </p:nvSpPr>
        <p:spPr>
          <a:xfrm>
            <a:off x="1015046" y="6004448"/>
            <a:ext cx="8446195"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zh-CN"/>
              <a:t>对于</a:t>
            </a:r>
            <a:r>
              <a:rPr lang="en-US" altLang="zh-CN" dirty="0"/>
              <a:t>RQ1</a:t>
            </a:r>
            <a:r>
              <a:rPr lang="zh-CN" altLang="zh-CN" dirty="0"/>
              <a:t>，初始化融合系数为搜索方法中搜索得到的最优值，学习</a:t>
            </a:r>
            <a:r>
              <a:rPr lang="zh-CN" altLang="zh-CN"/>
              <a:t>率为</a:t>
            </a:r>
            <a:r>
              <a:rPr lang="en-US" altLang="zh-CN" dirty="0"/>
              <a:t>0.001</a:t>
            </a:r>
            <a:r>
              <a:rPr lang="zh-CN" altLang="zh-CN"/>
              <a:t>，训练</a:t>
            </a:r>
            <a:r>
              <a:rPr lang="en-US" altLang="zh-CN" dirty="0"/>
              <a:t>3</a:t>
            </a:r>
            <a:r>
              <a:rPr lang="zh-CN" altLang="zh-CN" dirty="0"/>
              <a:t>个轮次。</a:t>
            </a:r>
            <a:endParaRPr lang="zh-CN" altLang="en-US" dirty="0"/>
          </a:p>
        </p:txBody>
      </p:sp>
      <p:sp>
        <p:nvSpPr>
          <p:cNvPr id="40" name="文本框 39">
            <a:extLst>
              <a:ext uri="{FF2B5EF4-FFF2-40B4-BE49-F238E27FC236}">
                <a16:creationId xmlns:a16="http://schemas.microsoft.com/office/drawing/2014/main" id="{B441480E-2132-4601-7DA2-F8C6FFFB8B58}"/>
              </a:ext>
            </a:extLst>
          </p:cNvPr>
          <p:cNvSpPr txBox="1"/>
          <p:nvPr/>
        </p:nvSpPr>
        <p:spPr>
          <a:xfrm>
            <a:off x="1015046" y="6279932"/>
            <a:ext cx="8740451"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zh-CN"/>
              <a:t>对于</a:t>
            </a:r>
            <a:r>
              <a:rPr lang="en-US" altLang="zh-CN" dirty="0"/>
              <a:t>RQ2</a:t>
            </a:r>
            <a:r>
              <a:rPr lang="zh-CN" altLang="zh-CN" dirty="0"/>
              <a:t>，融合系数初始值为各个任务最优融合系数的平均值，学习</a:t>
            </a:r>
            <a:r>
              <a:rPr lang="zh-CN" altLang="zh-CN"/>
              <a:t>率为</a:t>
            </a:r>
            <a:r>
              <a:rPr lang="en-US" altLang="zh-CN" dirty="0"/>
              <a:t>0.003</a:t>
            </a:r>
            <a:r>
              <a:rPr lang="zh-CN" altLang="zh-CN"/>
              <a:t>，训练</a:t>
            </a:r>
            <a:r>
              <a:rPr lang="en-US" altLang="zh-CN" dirty="0"/>
              <a:t>5</a:t>
            </a:r>
            <a:r>
              <a:rPr lang="zh-CN" altLang="zh-CN" dirty="0"/>
              <a:t>个轮次。</a:t>
            </a:r>
          </a:p>
        </p:txBody>
      </p:sp>
    </p:spTree>
    <p:extLst>
      <p:ext uri="{BB962C8B-B14F-4D97-AF65-F5344CB8AC3E}">
        <p14:creationId xmlns:p14="http://schemas.microsoft.com/office/powerpoint/2010/main" val="1516513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RQ1. </a:t>
            </a:r>
            <a:r>
              <a:rPr lang="zh-CN" altLang="en-US" b="1" dirty="0">
                <a:solidFill>
                  <a:srgbClr val="268F9C"/>
                </a:solidFill>
                <a:latin typeface="+mn-ea"/>
              </a:rPr>
              <a:t>模型融合对于多语言学习的性能</a:t>
            </a:r>
          </a:p>
        </p:txBody>
      </p:sp>
      <p:sp>
        <p:nvSpPr>
          <p:cNvPr id="10" name="文本框 9">
            <a:extLst>
              <a:ext uri="{FF2B5EF4-FFF2-40B4-BE49-F238E27FC236}">
                <a16:creationId xmlns:a16="http://schemas.microsoft.com/office/drawing/2014/main" id="{3EC1FAE3-F840-8F40-F097-F916AE78F331}"/>
              </a:ext>
            </a:extLst>
          </p:cNvPr>
          <p:cNvSpPr txBox="1"/>
          <p:nvPr/>
        </p:nvSpPr>
        <p:spPr>
          <a:xfrm>
            <a:off x="273695" y="4378401"/>
            <a:ext cx="11644610" cy="2070503"/>
          </a:xfrm>
          <a:prstGeom prst="rect">
            <a:avLst/>
          </a:prstGeom>
          <a:noFill/>
        </p:spPr>
        <p:txBody>
          <a:bodyPr wrap="square" rtlCol="0" anchor="ctr">
            <a:spAutoFit/>
          </a:bodyPr>
          <a:lstStyle/>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在代码搜索任务当中对于所有方法来说，其都能保持非常可观的性能（</a:t>
            </a:r>
            <a:r>
              <a:rPr lang="en-US" altLang="zh-CN" sz="1600" dirty="0">
                <a:solidFill>
                  <a:schemeClr val="tx1">
                    <a:lumMod val="75000"/>
                    <a:lumOff val="25000"/>
                  </a:schemeClr>
                </a:solidFill>
              </a:rPr>
              <a:t> 95% </a:t>
            </a:r>
            <a:r>
              <a:rPr lang="zh-CN" altLang="en-US" sz="1600" dirty="0">
                <a:solidFill>
                  <a:schemeClr val="tx1">
                    <a:lumMod val="75000"/>
                    <a:lumOff val="25000"/>
                  </a:schemeClr>
                </a:solidFill>
              </a:rPr>
              <a:t>以上）。其中基于</a:t>
            </a:r>
            <a:r>
              <a:rPr lang="en-US" altLang="zh-CN" sz="1600" dirty="0">
                <a:solidFill>
                  <a:schemeClr val="tx1">
                    <a:lumMod val="75000"/>
                    <a:lumOff val="25000"/>
                  </a:schemeClr>
                </a:solidFill>
              </a:rPr>
              <a:t>mask</a:t>
            </a:r>
            <a:r>
              <a:rPr lang="zh-CN" altLang="en-US" sz="1600" dirty="0">
                <a:solidFill>
                  <a:schemeClr val="tx1">
                    <a:lumMod val="75000"/>
                    <a:lumOff val="25000"/>
                  </a:schemeClr>
                </a:solidFill>
              </a:rPr>
              <a:t>的方法取得了最优的性能，并且相较于原始微调模型，其性融合后的性能还有小幅上升。</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在代码修复任务当中，对于大多数语言来说，都能保持比较好的性能，但是在一些语言上都有明显下降。</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与以往的研究不同，基</a:t>
            </a:r>
            <a:r>
              <a:rPr lang="en-US" altLang="zh-CN" sz="1600" dirty="0">
                <a:solidFill>
                  <a:schemeClr val="tx1">
                    <a:lumMod val="75000"/>
                    <a:lumOff val="25000"/>
                  </a:schemeClr>
                </a:solidFill>
              </a:rPr>
              <a:t>ties-merging</a:t>
            </a:r>
            <a:r>
              <a:rPr lang="zh-CN" altLang="en-US" sz="1600" dirty="0">
                <a:solidFill>
                  <a:schemeClr val="tx1">
                    <a:lumMod val="75000"/>
                    <a:lumOff val="25000"/>
                  </a:schemeClr>
                </a:solidFill>
              </a:rPr>
              <a:t>与于学习的方法并没有提升融合性能。对于基于学习的方法，其在代码搜索任务中没有显著提升融合性能，但是其在代码修复任务中又有明显提升。</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对于一些样本较少的语言，例如</a:t>
            </a:r>
            <a:r>
              <a:rPr lang="en-US" altLang="zh-CN" sz="1600" dirty="0" err="1">
                <a:solidFill>
                  <a:schemeClr val="tx1">
                    <a:lumMod val="75000"/>
                    <a:lumOff val="25000"/>
                  </a:schemeClr>
                </a:solidFill>
              </a:rPr>
              <a:t>Javascript</a:t>
            </a:r>
            <a:r>
              <a:rPr lang="zh-CN" altLang="en-US" sz="1600" dirty="0">
                <a:solidFill>
                  <a:schemeClr val="tx1">
                    <a:lumMod val="75000"/>
                    <a:lumOff val="25000"/>
                  </a:schemeClr>
                </a:solidFill>
              </a:rPr>
              <a:t>，其在两个任务以及不同方法中都有小幅度提升</a:t>
            </a:r>
            <a:endParaRPr lang="en-US" altLang="zh-CN" sz="1600" dirty="0">
              <a:solidFill>
                <a:schemeClr val="tx1">
                  <a:lumMod val="75000"/>
                  <a:lumOff val="25000"/>
                </a:schemeClr>
              </a:solidFill>
            </a:endParaRPr>
          </a:p>
        </p:txBody>
      </p:sp>
      <p:pic>
        <p:nvPicPr>
          <p:cNvPr id="8" name="图片 7">
            <a:extLst>
              <a:ext uri="{FF2B5EF4-FFF2-40B4-BE49-F238E27FC236}">
                <a16:creationId xmlns:a16="http://schemas.microsoft.com/office/drawing/2014/main" id="{DB701435-71F6-5F7F-465F-C3C32D82291F}"/>
              </a:ext>
            </a:extLst>
          </p:cNvPr>
          <p:cNvPicPr>
            <a:picLocks noChangeAspect="1"/>
          </p:cNvPicPr>
          <p:nvPr/>
        </p:nvPicPr>
        <p:blipFill>
          <a:blip r:embed="rId3"/>
          <a:stretch>
            <a:fillRect/>
          </a:stretch>
        </p:blipFill>
        <p:spPr>
          <a:xfrm>
            <a:off x="0" y="1231669"/>
            <a:ext cx="12192000" cy="2980574"/>
          </a:xfrm>
          <a:prstGeom prst="rect">
            <a:avLst/>
          </a:prstGeom>
        </p:spPr>
      </p:pic>
    </p:spTree>
    <p:extLst>
      <p:ext uri="{BB962C8B-B14F-4D97-AF65-F5344CB8AC3E}">
        <p14:creationId xmlns:p14="http://schemas.microsoft.com/office/powerpoint/2010/main" val="17279671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RQ1. </a:t>
            </a:r>
            <a:r>
              <a:rPr lang="zh-CN" altLang="en-US" b="1" dirty="0">
                <a:solidFill>
                  <a:srgbClr val="268F9C"/>
                </a:solidFill>
                <a:latin typeface="+mn-ea"/>
              </a:rPr>
              <a:t>模型融合对于多语言学习的性能</a:t>
            </a:r>
          </a:p>
        </p:txBody>
      </p:sp>
      <p:pic>
        <p:nvPicPr>
          <p:cNvPr id="10" name="图片 9">
            <a:extLst>
              <a:ext uri="{FF2B5EF4-FFF2-40B4-BE49-F238E27FC236}">
                <a16:creationId xmlns:a16="http://schemas.microsoft.com/office/drawing/2014/main" id="{00E2A219-6769-03A3-5892-06F74CE27501}"/>
              </a:ext>
            </a:extLst>
          </p:cNvPr>
          <p:cNvPicPr>
            <a:picLocks noChangeAspect="1"/>
          </p:cNvPicPr>
          <p:nvPr/>
        </p:nvPicPr>
        <p:blipFill>
          <a:blip r:embed="rId3"/>
          <a:stretch>
            <a:fillRect/>
          </a:stretch>
        </p:blipFill>
        <p:spPr>
          <a:xfrm>
            <a:off x="2929269" y="1148246"/>
            <a:ext cx="6333461" cy="5467668"/>
          </a:xfrm>
          <a:prstGeom prst="rect">
            <a:avLst/>
          </a:prstGeom>
        </p:spPr>
      </p:pic>
    </p:spTree>
    <p:extLst>
      <p:ext uri="{BB962C8B-B14F-4D97-AF65-F5344CB8AC3E}">
        <p14:creationId xmlns:p14="http://schemas.microsoft.com/office/powerpoint/2010/main" val="19117574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54851707-6B00-646A-043A-B9DFBA46C62F}"/>
              </a:ext>
            </a:extLst>
          </p:cNvPr>
          <p:cNvSpPr txBox="1"/>
          <p:nvPr/>
        </p:nvSpPr>
        <p:spPr>
          <a:xfrm>
            <a:off x="380992" y="5043617"/>
            <a:ext cx="11430015" cy="1137876"/>
          </a:xfrm>
          <a:prstGeom prst="rect">
            <a:avLst/>
          </a:prstGeom>
          <a:noFill/>
        </p:spPr>
        <p:txBody>
          <a:bodyPr wrap="square" rtlCol="0" anchor="ctr">
            <a:spAutoFit/>
          </a:bodyPr>
          <a:lstStyle/>
          <a:p>
            <a:pPr marL="342900" indent="-342900">
              <a:lnSpc>
                <a:spcPct val="120000"/>
              </a:lnSpc>
              <a:spcAft>
                <a:spcPts val="600"/>
              </a:spcAft>
              <a:buFont typeface="+mj-lt"/>
              <a:buAutoNum type="arabicPeriod"/>
            </a:pPr>
            <a:r>
              <a:rPr lang="zh-CN" altLang="en-US" dirty="0">
                <a:solidFill>
                  <a:schemeClr val="tx1">
                    <a:lumMod val="75000"/>
                    <a:lumOff val="25000"/>
                  </a:schemeClr>
                </a:solidFill>
              </a:rPr>
              <a:t>在基于</a:t>
            </a:r>
            <a:r>
              <a:rPr lang="en-US" altLang="zh-CN" dirty="0">
                <a:solidFill>
                  <a:schemeClr val="tx1">
                    <a:lumMod val="75000"/>
                    <a:lumOff val="25000"/>
                  </a:schemeClr>
                </a:solidFill>
              </a:rPr>
              <a:t>mask</a:t>
            </a:r>
            <a:r>
              <a:rPr lang="zh-CN" altLang="en-US" dirty="0">
                <a:solidFill>
                  <a:schemeClr val="tx1">
                    <a:lumMod val="75000"/>
                    <a:lumOff val="25000"/>
                  </a:schemeClr>
                </a:solidFill>
              </a:rPr>
              <a:t>的方法中，其在多数语言上保持了基本</a:t>
            </a:r>
            <a:r>
              <a:rPr lang="en-US" altLang="zh-CN" dirty="0">
                <a:solidFill>
                  <a:schemeClr val="tx1">
                    <a:lumMod val="75000"/>
                    <a:lumOff val="25000"/>
                  </a:schemeClr>
                </a:solidFill>
              </a:rPr>
              <a:t>100%</a:t>
            </a:r>
            <a:r>
              <a:rPr lang="zh-CN" altLang="en-US" dirty="0">
                <a:solidFill>
                  <a:schemeClr val="tx1">
                    <a:lumMod val="75000"/>
                    <a:lumOff val="25000"/>
                  </a:schemeClr>
                </a:solidFill>
              </a:rPr>
              <a:t>的性能，但是在代码修复的</a:t>
            </a:r>
            <a:r>
              <a:rPr lang="en-US" altLang="zh-CN" dirty="0" err="1">
                <a:solidFill>
                  <a:schemeClr val="tx1">
                    <a:lumMod val="75000"/>
                    <a:lumOff val="25000"/>
                  </a:schemeClr>
                </a:solidFill>
              </a:rPr>
              <a:t>php</a:t>
            </a:r>
            <a:r>
              <a:rPr lang="zh-CN" altLang="en-US" dirty="0">
                <a:solidFill>
                  <a:schemeClr val="tx1">
                    <a:lumMod val="75000"/>
                    <a:lumOff val="25000"/>
                  </a:schemeClr>
                </a:solidFill>
              </a:rPr>
              <a:t>语言上，其性能有明显的下降</a:t>
            </a:r>
            <a:endParaRPr lang="en-US" altLang="zh-CN"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dirty="0">
                <a:solidFill>
                  <a:schemeClr val="tx1">
                    <a:lumMod val="75000"/>
                    <a:lumOff val="25000"/>
                  </a:schemeClr>
                </a:solidFill>
              </a:rPr>
              <a:t>由右图可看出，微调参数值较小的语言，其</a:t>
            </a:r>
            <a:r>
              <a:rPr lang="en-US" altLang="zh-CN" dirty="0">
                <a:solidFill>
                  <a:schemeClr val="tx1">
                    <a:lumMod val="75000"/>
                    <a:lumOff val="25000"/>
                  </a:schemeClr>
                </a:solidFill>
              </a:rPr>
              <a:t>mask</a:t>
            </a:r>
            <a:r>
              <a:rPr lang="zh-CN" altLang="en-US" dirty="0">
                <a:solidFill>
                  <a:schemeClr val="tx1">
                    <a:lumMod val="75000"/>
                    <a:lumOff val="25000"/>
                  </a:schemeClr>
                </a:solidFill>
              </a:rPr>
              <a:t>保留参数的个数往往较少，这就可能造成性能的下降。</a:t>
            </a:r>
            <a:endParaRPr lang="en-US" altLang="zh-CN" dirty="0">
              <a:solidFill>
                <a:schemeClr val="tx1">
                  <a:lumMod val="75000"/>
                  <a:lumOff val="25000"/>
                </a:schemeClr>
              </a:solidFill>
            </a:endParaRPr>
          </a:p>
        </p:txBody>
      </p:sp>
      <p:sp>
        <p:nvSpPr>
          <p:cNvPr id="8" name="文本框 7">
            <a:extLst>
              <a:ext uri="{FF2B5EF4-FFF2-40B4-BE49-F238E27FC236}">
                <a16:creationId xmlns:a16="http://schemas.microsoft.com/office/drawing/2014/main" id="{F37B21B3-9D97-1B70-5194-6041F51CE94E}"/>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RQ1. </a:t>
            </a:r>
            <a:r>
              <a:rPr lang="zh-CN" altLang="en-US" b="1" dirty="0">
                <a:solidFill>
                  <a:srgbClr val="268F9C"/>
                </a:solidFill>
                <a:latin typeface="+mn-ea"/>
              </a:rPr>
              <a:t>模型融合对于多语言学习的性能</a:t>
            </a:r>
          </a:p>
        </p:txBody>
      </p:sp>
      <p:pic>
        <p:nvPicPr>
          <p:cNvPr id="11" name="图片 10">
            <a:extLst>
              <a:ext uri="{FF2B5EF4-FFF2-40B4-BE49-F238E27FC236}">
                <a16:creationId xmlns:a16="http://schemas.microsoft.com/office/drawing/2014/main" id="{DEDE95D7-FDA7-9182-59A3-5CAC5E12A9CD}"/>
              </a:ext>
            </a:extLst>
          </p:cNvPr>
          <p:cNvPicPr>
            <a:picLocks noChangeAspect="1"/>
          </p:cNvPicPr>
          <p:nvPr/>
        </p:nvPicPr>
        <p:blipFill>
          <a:blip r:embed="rId3"/>
          <a:stretch>
            <a:fillRect/>
          </a:stretch>
        </p:blipFill>
        <p:spPr>
          <a:xfrm>
            <a:off x="6096000" y="1426708"/>
            <a:ext cx="5325313" cy="3165578"/>
          </a:xfrm>
          <a:prstGeom prst="rect">
            <a:avLst/>
          </a:prstGeom>
        </p:spPr>
      </p:pic>
      <p:pic>
        <p:nvPicPr>
          <p:cNvPr id="13" name="图片 12">
            <a:extLst>
              <a:ext uri="{FF2B5EF4-FFF2-40B4-BE49-F238E27FC236}">
                <a16:creationId xmlns:a16="http://schemas.microsoft.com/office/drawing/2014/main" id="{CF86AC56-A3B0-85A8-556C-90716020DF02}"/>
              </a:ext>
            </a:extLst>
          </p:cNvPr>
          <p:cNvPicPr>
            <a:picLocks noChangeAspect="1"/>
          </p:cNvPicPr>
          <p:nvPr/>
        </p:nvPicPr>
        <p:blipFill>
          <a:blip r:embed="rId4"/>
          <a:stretch>
            <a:fillRect/>
          </a:stretch>
        </p:blipFill>
        <p:spPr>
          <a:xfrm>
            <a:off x="316759" y="1426708"/>
            <a:ext cx="5358493" cy="3165578"/>
          </a:xfrm>
          <a:prstGeom prst="rect">
            <a:avLst/>
          </a:prstGeom>
        </p:spPr>
      </p:pic>
    </p:spTree>
    <p:extLst>
      <p:ext uri="{BB962C8B-B14F-4D97-AF65-F5344CB8AC3E}">
        <p14:creationId xmlns:p14="http://schemas.microsoft.com/office/powerpoint/2010/main" val="3712539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RQ2.</a:t>
            </a:r>
            <a:r>
              <a:rPr lang="zh-CN" altLang="en-US" b="1" dirty="0">
                <a:solidFill>
                  <a:srgbClr val="268F9C"/>
                </a:solidFill>
                <a:latin typeface="+mn-ea"/>
              </a:rPr>
              <a:t> 模型融合对于多任务学习的性能</a:t>
            </a:r>
          </a:p>
        </p:txBody>
      </p:sp>
      <p:sp>
        <p:nvSpPr>
          <p:cNvPr id="9" name="文本框 8">
            <a:extLst>
              <a:ext uri="{FF2B5EF4-FFF2-40B4-BE49-F238E27FC236}">
                <a16:creationId xmlns:a16="http://schemas.microsoft.com/office/drawing/2014/main" id="{585F24CA-60E0-25CA-2DE0-CAA276D6B976}"/>
              </a:ext>
            </a:extLst>
          </p:cNvPr>
          <p:cNvSpPr txBox="1"/>
          <p:nvPr/>
        </p:nvSpPr>
        <p:spPr>
          <a:xfrm>
            <a:off x="6232849" y="3258972"/>
            <a:ext cx="5711067" cy="3547831"/>
          </a:xfrm>
          <a:prstGeom prst="rect">
            <a:avLst/>
          </a:prstGeom>
          <a:noFill/>
        </p:spPr>
        <p:txBody>
          <a:bodyPr wrap="square" rtlCol="0" anchor="ctr">
            <a:spAutoFit/>
          </a:bodyPr>
          <a:lstStyle/>
          <a:p>
            <a:pPr marL="342900" indent="-342900">
              <a:lnSpc>
                <a:spcPct val="120000"/>
              </a:lnSpc>
              <a:spcAft>
                <a:spcPts val="600"/>
              </a:spcAft>
              <a:buFont typeface="+mj-lt"/>
              <a:buAutoNum type="arabicPeriod"/>
            </a:pPr>
            <a:r>
              <a:rPr lang="zh-CN" altLang="en-US" sz="1600" dirty="0">
                <a:solidFill>
                  <a:schemeClr val="tx1">
                    <a:lumMod val="75000"/>
                    <a:lumOff val="25000"/>
                  </a:schemeClr>
                </a:solidFill>
              </a:rPr>
              <a:t>对于代码理解任务融合，对于</a:t>
            </a:r>
            <a:r>
              <a:rPr lang="en-US" altLang="zh-CN" sz="1600" dirty="0">
                <a:solidFill>
                  <a:schemeClr val="tx1">
                    <a:lumMod val="75000"/>
                    <a:lumOff val="25000"/>
                  </a:schemeClr>
                </a:solidFill>
              </a:rPr>
              <a:t>TA</a:t>
            </a:r>
            <a:r>
              <a:rPr lang="zh-CN" altLang="en-US" sz="1600" dirty="0">
                <a:solidFill>
                  <a:schemeClr val="tx1">
                    <a:lumMod val="75000"/>
                    <a:lumOff val="25000"/>
                  </a:schemeClr>
                </a:solidFill>
              </a:rPr>
              <a:t>以及</a:t>
            </a:r>
            <a:r>
              <a:rPr lang="en-US" altLang="zh-CN" sz="1600" dirty="0">
                <a:solidFill>
                  <a:schemeClr val="tx1">
                    <a:lumMod val="75000"/>
                    <a:lumOff val="25000"/>
                  </a:schemeClr>
                </a:solidFill>
              </a:rPr>
              <a:t>Ties</a:t>
            </a:r>
            <a:r>
              <a:rPr lang="zh-CN" altLang="en-US" sz="1600" dirty="0">
                <a:solidFill>
                  <a:schemeClr val="tx1">
                    <a:lumMod val="75000"/>
                    <a:lumOff val="25000"/>
                  </a:schemeClr>
                </a:solidFill>
              </a:rPr>
              <a:t>，漏洞检测的性能大幅度下降，代码搜索的性能也有较大的下降，克隆检测能够保持较好的性能</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sz="1600" dirty="0">
                <a:solidFill>
                  <a:schemeClr val="tx1">
                    <a:lumMod val="75000"/>
                    <a:lumOff val="25000"/>
                  </a:schemeClr>
                </a:solidFill>
              </a:rPr>
              <a:t>对于代码生成式任务融合，对于</a:t>
            </a:r>
            <a:r>
              <a:rPr lang="en-US" altLang="zh-CN" sz="1600" dirty="0">
                <a:solidFill>
                  <a:schemeClr val="tx1">
                    <a:lumMod val="75000"/>
                    <a:lumOff val="25000"/>
                  </a:schemeClr>
                </a:solidFill>
              </a:rPr>
              <a:t>TA</a:t>
            </a:r>
            <a:r>
              <a:rPr lang="zh-CN" altLang="en-US" sz="1600" dirty="0">
                <a:solidFill>
                  <a:schemeClr val="tx1">
                    <a:lumMod val="75000"/>
                    <a:lumOff val="25000"/>
                  </a:schemeClr>
                </a:solidFill>
              </a:rPr>
              <a:t>以及</a:t>
            </a:r>
            <a:r>
              <a:rPr lang="en-US" altLang="zh-CN" sz="1600" dirty="0">
                <a:solidFill>
                  <a:schemeClr val="tx1">
                    <a:lumMod val="75000"/>
                    <a:lumOff val="25000"/>
                  </a:schemeClr>
                </a:solidFill>
              </a:rPr>
              <a:t>Ties</a:t>
            </a:r>
            <a:r>
              <a:rPr lang="zh-CN" altLang="en-US" sz="1600" dirty="0">
                <a:solidFill>
                  <a:schemeClr val="tx1">
                    <a:lumMod val="75000"/>
                    <a:lumOff val="25000"/>
                  </a:schemeClr>
                </a:solidFill>
              </a:rPr>
              <a:t>，代码修复的性能大幅度下降、代码生成任务也有较大的下降，摘要生成能够保持较好甚至更优的性能</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sz="1600" dirty="0">
                <a:solidFill>
                  <a:schemeClr val="tx1">
                    <a:lumMod val="75000"/>
                    <a:lumOff val="25000"/>
                  </a:schemeClr>
                </a:solidFill>
              </a:rPr>
              <a:t>对于可学习融合系数方法，在漏洞检测任务以及代码修复上，其虽然能够恢复性能，但是相较于原始微调模型还是有较大差距。</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sz="1600" dirty="0">
                <a:solidFill>
                  <a:schemeClr val="tx1">
                    <a:lumMod val="75000"/>
                    <a:lumOff val="25000"/>
                  </a:schemeClr>
                </a:solidFill>
              </a:rPr>
              <a:t>对于基于</a:t>
            </a:r>
            <a:r>
              <a:rPr lang="en-US" altLang="zh-CN" sz="1600" dirty="0">
                <a:solidFill>
                  <a:schemeClr val="tx1">
                    <a:lumMod val="75000"/>
                    <a:lumOff val="25000"/>
                  </a:schemeClr>
                </a:solidFill>
              </a:rPr>
              <a:t>mask</a:t>
            </a:r>
            <a:r>
              <a:rPr lang="zh-CN" altLang="en-US" sz="1600" dirty="0">
                <a:solidFill>
                  <a:schemeClr val="tx1">
                    <a:lumMod val="75000"/>
                    <a:lumOff val="25000"/>
                  </a:schemeClr>
                </a:solidFill>
              </a:rPr>
              <a:t>的方法，其几乎能够保持与微调模型一致的性能。</a:t>
            </a:r>
            <a:endParaRPr lang="en-US" altLang="zh-CN" sz="1600" dirty="0">
              <a:solidFill>
                <a:schemeClr val="tx1">
                  <a:lumMod val="75000"/>
                  <a:lumOff val="25000"/>
                </a:schemeClr>
              </a:solidFill>
            </a:endParaRPr>
          </a:p>
        </p:txBody>
      </p:sp>
      <p:pic>
        <p:nvPicPr>
          <p:cNvPr id="11" name="图片 10">
            <a:extLst>
              <a:ext uri="{FF2B5EF4-FFF2-40B4-BE49-F238E27FC236}">
                <a16:creationId xmlns:a16="http://schemas.microsoft.com/office/drawing/2014/main" id="{E0856E1E-3E76-0993-CD8C-EE93CBA6D4F0}"/>
              </a:ext>
            </a:extLst>
          </p:cNvPr>
          <p:cNvPicPr>
            <a:picLocks noChangeAspect="1"/>
          </p:cNvPicPr>
          <p:nvPr/>
        </p:nvPicPr>
        <p:blipFill>
          <a:blip r:embed="rId3"/>
          <a:stretch>
            <a:fillRect/>
          </a:stretch>
        </p:blipFill>
        <p:spPr>
          <a:xfrm>
            <a:off x="0" y="663166"/>
            <a:ext cx="12192000" cy="2605328"/>
          </a:xfrm>
          <a:prstGeom prst="rect">
            <a:avLst/>
          </a:prstGeom>
        </p:spPr>
      </p:pic>
      <p:pic>
        <p:nvPicPr>
          <p:cNvPr id="16" name="图片 15">
            <a:extLst>
              <a:ext uri="{FF2B5EF4-FFF2-40B4-BE49-F238E27FC236}">
                <a16:creationId xmlns:a16="http://schemas.microsoft.com/office/drawing/2014/main" id="{62A062DE-5F44-B03D-1D48-33FACAA6C5C7}"/>
              </a:ext>
            </a:extLst>
          </p:cNvPr>
          <p:cNvPicPr>
            <a:picLocks noChangeAspect="1"/>
          </p:cNvPicPr>
          <p:nvPr/>
        </p:nvPicPr>
        <p:blipFill>
          <a:blip r:embed="rId4"/>
          <a:stretch>
            <a:fillRect/>
          </a:stretch>
        </p:blipFill>
        <p:spPr>
          <a:xfrm>
            <a:off x="248084" y="3429000"/>
            <a:ext cx="5637600" cy="2975543"/>
          </a:xfrm>
          <a:prstGeom prst="rect">
            <a:avLst/>
          </a:prstGeom>
        </p:spPr>
      </p:pic>
    </p:spTree>
    <p:extLst>
      <p:ext uri="{BB962C8B-B14F-4D97-AF65-F5344CB8AC3E}">
        <p14:creationId xmlns:p14="http://schemas.microsoft.com/office/powerpoint/2010/main" val="924528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RQ2.</a:t>
            </a:r>
            <a:r>
              <a:rPr lang="zh-CN" altLang="en-US" b="1" dirty="0">
                <a:solidFill>
                  <a:srgbClr val="268F9C"/>
                </a:solidFill>
                <a:latin typeface="+mn-ea"/>
              </a:rPr>
              <a:t> 模型融合对于多任务学习的性能</a:t>
            </a:r>
          </a:p>
        </p:txBody>
      </p:sp>
      <p:sp>
        <p:nvSpPr>
          <p:cNvPr id="10" name="文本框 9">
            <a:extLst>
              <a:ext uri="{FF2B5EF4-FFF2-40B4-BE49-F238E27FC236}">
                <a16:creationId xmlns:a16="http://schemas.microsoft.com/office/drawing/2014/main" id="{B3D80817-7550-ED5D-0B6F-A0A0E3D65300}"/>
              </a:ext>
            </a:extLst>
          </p:cNvPr>
          <p:cNvSpPr txBox="1"/>
          <p:nvPr/>
        </p:nvSpPr>
        <p:spPr>
          <a:xfrm>
            <a:off x="435553" y="5602411"/>
            <a:ext cx="11878911" cy="805477"/>
          </a:xfrm>
          <a:prstGeom prst="rect">
            <a:avLst/>
          </a:prstGeom>
          <a:noFill/>
        </p:spPr>
        <p:txBody>
          <a:bodyPr wrap="square" rtlCol="0" anchor="ctr">
            <a:spAutoFit/>
          </a:bodyPr>
          <a:lstStyle/>
          <a:p>
            <a:pPr marL="342900" indent="-342900">
              <a:lnSpc>
                <a:spcPct val="120000"/>
              </a:lnSpc>
              <a:spcAft>
                <a:spcPts val="600"/>
              </a:spcAft>
              <a:buFont typeface="+mj-lt"/>
              <a:buAutoNum type="arabicPeriod"/>
            </a:pPr>
            <a:r>
              <a:rPr lang="zh-CN" altLang="en-US" dirty="0">
                <a:solidFill>
                  <a:schemeClr val="tx1">
                    <a:lumMod val="75000"/>
                    <a:lumOff val="25000"/>
                  </a:schemeClr>
                </a:solidFill>
              </a:rPr>
              <a:t>相较于多语言学习，再多任务学习中，不同任务的参数分布的区别非常不同</a:t>
            </a:r>
            <a:endParaRPr lang="en-US" altLang="zh-CN"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dirty="0">
                <a:solidFill>
                  <a:schemeClr val="tx1">
                    <a:lumMod val="75000"/>
                    <a:lumOff val="25000"/>
                  </a:schemeClr>
                </a:solidFill>
              </a:rPr>
              <a:t>在多任务学习中，参数值大的任务，其性能往往会保持良好，而参数小的任务的性能往往会有较大的下降</a:t>
            </a:r>
            <a:endParaRPr lang="en-US" altLang="zh-CN" dirty="0">
              <a:solidFill>
                <a:schemeClr val="tx1">
                  <a:lumMod val="75000"/>
                  <a:lumOff val="25000"/>
                </a:schemeClr>
              </a:solidFill>
            </a:endParaRPr>
          </a:p>
        </p:txBody>
      </p:sp>
      <p:pic>
        <p:nvPicPr>
          <p:cNvPr id="5" name="图片 4">
            <a:extLst>
              <a:ext uri="{FF2B5EF4-FFF2-40B4-BE49-F238E27FC236}">
                <a16:creationId xmlns:a16="http://schemas.microsoft.com/office/drawing/2014/main" id="{D7846EC3-1C0E-0E89-3199-0469571EFFC3}"/>
              </a:ext>
            </a:extLst>
          </p:cNvPr>
          <p:cNvPicPr>
            <a:picLocks noChangeAspect="1"/>
          </p:cNvPicPr>
          <p:nvPr/>
        </p:nvPicPr>
        <p:blipFill>
          <a:blip r:embed="rId3"/>
          <a:stretch>
            <a:fillRect/>
          </a:stretch>
        </p:blipFill>
        <p:spPr>
          <a:xfrm>
            <a:off x="2221464" y="1231669"/>
            <a:ext cx="7090488" cy="4214499"/>
          </a:xfrm>
          <a:prstGeom prst="rect">
            <a:avLst/>
          </a:prstGeom>
        </p:spPr>
      </p:pic>
    </p:spTree>
    <p:extLst>
      <p:ext uri="{BB962C8B-B14F-4D97-AF65-F5344CB8AC3E}">
        <p14:creationId xmlns:p14="http://schemas.microsoft.com/office/powerpoint/2010/main" val="2642106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RQ2.</a:t>
            </a:r>
            <a:r>
              <a:rPr lang="zh-CN" altLang="en-US" b="1" dirty="0">
                <a:solidFill>
                  <a:srgbClr val="268F9C"/>
                </a:solidFill>
                <a:latin typeface="+mn-ea"/>
              </a:rPr>
              <a:t> 模型融合对于多任务学习的性能</a:t>
            </a:r>
          </a:p>
        </p:txBody>
      </p:sp>
      <p:pic>
        <p:nvPicPr>
          <p:cNvPr id="5" name="图片 4">
            <a:extLst>
              <a:ext uri="{FF2B5EF4-FFF2-40B4-BE49-F238E27FC236}">
                <a16:creationId xmlns:a16="http://schemas.microsoft.com/office/drawing/2014/main" id="{8A6C39B7-FE86-E06C-F1B4-3CCDBB84348D}"/>
              </a:ext>
            </a:extLst>
          </p:cNvPr>
          <p:cNvPicPr>
            <a:picLocks noChangeAspect="1"/>
          </p:cNvPicPr>
          <p:nvPr/>
        </p:nvPicPr>
        <p:blipFill>
          <a:blip r:embed="rId3"/>
          <a:stretch>
            <a:fillRect/>
          </a:stretch>
        </p:blipFill>
        <p:spPr>
          <a:xfrm>
            <a:off x="137868" y="1577426"/>
            <a:ext cx="7482437" cy="4375505"/>
          </a:xfrm>
          <a:prstGeom prst="rect">
            <a:avLst/>
          </a:prstGeom>
        </p:spPr>
      </p:pic>
      <p:sp>
        <p:nvSpPr>
          <p:cNvPr id="8" name="文本框 7">
            <a:extLst>
              <a:ext uri="{FF2B5EF4-FFF2-40B4-BE49-F238E27FC236}">
                <a16:creationId xmlns:a16="http://schemas.microsoft.com/office/drawing/2014/main" id="{1DA8E6E6-C7AD-3FD0-5E1D-A0889FBB32E3}"/>
              </a:ext>
            </a:extLst>
          </p:cNvPr>
          <p:cNvSpPr txBox="1"/>
          <p:nvPr/>
        </p:nvSpPr>
        <p:spPr>
          <a:xfrm>
            <a:off x="7620305" y="1358679"/>
            <a:ext cx="4355063" cy="4509440"/>
          </a:xfrm>
          <a:prstGeom prst="rect">
            <a:avLst/>
          </a:prstGeom>
          <a:noFill/>
        </p:spPr>
        <p:txBody>
          <a:bodyPr wrap="square">
            <a:spAutoFit/>
          </a:bodyPr>
          <a:lstStyle/>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从漏洞检测任务的测试集中随机采样</a:t>
            </a:r>
            <a:r>
              <a:rPr lang="en-US" altLang="zh-CN" sz="1600" dirty="0">
                <a:solidFill>
                  <a:schemeClr val="tx1">
                    <a:lumMod val="75000"/>
                    <a:lumOff val="25000"/>
                  </a:schemeClr>
                </a:solidFill>
              </a:rPr>
              <a:t>1000</a:t>
            </a:r>
            <a:r>
              <a:rPr lang="zh-CN" altLang="en-US" sz="1600" dirty="0">
                <a:solidFill>
                  <a:schemeClr val="tx1">
                    <a:lumMod val="75000"/>
                    <a:lumOff val="25000"/>
                  </a:schemeClr>
                </a:solidFill>
              </a:rPr>
              <a:t>个样本</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将这些样本输入到漏洞检测原始微调模型、克隆检测原始微调模型、以及融合模型中，得到样本输入每个</a:t>
            </a:r>
            <a:r>
              <a:rPr lang="en-US" altLang="zh-CN" sz="1600" dirty="0">
                <a:solidFill>
                  <a:schemeClr val="tx1">
                    <a:lumMod val="75000"/>
                    <a:lumOff val="25000"/>
                  </a:schemeClr>
                </a:solidFill>
              </a:rPr>
              <a:t>token</a:t>
            </a:r>
            <a:r>
              <a:rPr lang="zh-CN" altLang="en-US" sz="1600" dirty="0">
                <a:solidFill>
                  <a:schemeClr val="tx1">
                    <a:lumMod val="75000"/>
                    <a:lumOff val="25000"/>
                  </a:schemeClr>
                </a:solidFill>
              </a:rPr>
              <a:t>的表征并进行平均</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计算不同模型表征两两余弦相似度</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漏洞检测原始微调模型表征与克隆检测原始微调模型表征的余弦相似度不大，说明他们学习道德特征不同</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微调模型表征与克隆检测微调模型表征的相似度大于其与漏洞检测原始微调模型的表征，说明在融合过程中，克隆检测模型参数占据了主导地位，导致了漏洞检测的性能下降</a:t>
            </a:r>
            <a:endParaRPr lang="en-US" altLang="zh-CN" sz="1600" dirty="0">
              <a:solidFill>
                <a:schemeClr val="tx1">
                  <a:lumMod val="75000"/>
                  <a:lumOff val="25000"/>
                </a:schemeClr>
              </a:solidFill>
            </a:endParaRPr>
          </a:p>
        </p:txBody>
      </p:sp>
    </p:spTree>
    <p:extLst>
      <p:ext uri="{BB962C8B-B14F-4D97-AF65-F5344CB8AC3E}">
        <p14:creationId xmlns:p14="http://schemas.microsoft.com/office/powerpoint/2010/main" val="1090075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RQ2.</a:t>
            </a:r>
            <a:r>
              <a:rPr lang="zh-CN" altLang="en-US" b="1" dirty="0">
                <a:solidFill>
                  <a:srgbClr val="268F9C"/>
                </a:solidFill>
                <a:latin typeface="+mn-ea"/>
              </a:rPr>
              <a:t> 模型融合对于多任务学习的性能</a:t>
            </a:r>
          </a:p>
        </p:txBody>
      </p:sp>
      <p:sp>
        <p:nvSpPr>
          <p:cNvPr id="6" name="文本框 5">
            <a:extLst>
              <a:ext uri="{FF2B5EF4-FFF2-40B4-BE49-F238E27FC236}">
                <a16:creationId xmlns:a16="http://schemas.microsoft.com/office/drawing/2014/main" id="{6FDB8F77-42CA-506D-C71A-1D533644EEB4}"/>
              </a:ext>
            </a:extLst>
          </p:cNvPr>
          <p:cNvSpPr txBox="1"/>
          <p:nvPr/>
        </p:nvSpPr>
        <p:spPr>
          <a:xfrm>
            <a:off x="435553" y="4199433"/>
            <a:ext cx="11616488" cy="1137876"/>
          </a:xfrm>
          <a:prstGeom prst="rect">
            <a:avLst/>
          </a:prstGeom>
          <a:noFill/>
        </p:spPr>
        <p:txBody>
          <a:bodyPr wrap="square" rtlCol="0" anchor="ctr">
            <a:spAutoFit/>
          </a:bodyPr>
          <a:lstStyle/>
          <a:p>
            <a:pPr marL="342900" indent="-342900">
              <a:lnSpc>
                <a:spcPct val="120000"/>
              </a:lnSpc>
              <a:spcAft>
                <a:spcPts val="600"/>
              </a:spcAft>
              <a:buFont typeface="+mj-lt"/>
              <a:buAutoNum type="arabicPeriod"/>
            </a:pPr>
            <a:r>
              <a:rPr lang="zh-CN" altLang="en-US" dirty="0">
                <a:solidFill>
                  <a:schemeClr val="tx1">
                    <a:lumMod val="75000"/>
                    <a:lumOff val="25000"/>
                  </a:schemeClr>
                </a:solidFill>
              </a:rPr>
              <a:t>对于</a:t>
            </a:r>
            <a:r>
              <a:rPr lang="en-US" altLang="zh-CN" dirty="0">
                <a:solidFill>
                  <a:schemeClr val="tx1">
                    <a:lumMod val="75000"/>
                    <a:lumOff val="25000"/>
                  </a:schemeClr>
                </a:solidFill>
              </a:rPr>
              <a:t>TA </a:t>
            </a:r>
            <a:r>
              <a:rPr lang="zh-CN" altLang="en-US" dirty="0">
                <a:solidFill>
                  <a:schemeClr val="tx1">
                    <a:lumMod val="75000"/>
                    <a:lumOff val="25000"/>
                  </a:schemeClr>
                </a:solidFill>
              </a:rPr>
              <a:t>与</a:t>
            </a:r>
            <a:r>
              <a:rPr lang="en-US" altLang="zh-CN" dirty="0">
                <a:solidFill>
                  <a:schemeClr val="tx1">
                    <a:lumMod val="75000"/>
                    <a:lumOff val="25000"/>
                  </a:schemeClr>
                </a:solidFill>
              </a:rPr>
              <a:t>ties</a:t>
            </a:r>
            <a:r>
              <a:rPr lang="zh-CN" altLang="en-US" dirty="0">
                <a:solidFill>
                  <a:schemeClr val="tx1">
                    <a:lumMod val="75000"/>
                    <a:lumOff val="25000"/>
                  </a:schemeClr>
                </a:solidFill>
              </a:rPr>
              <a:t>，每个任务都有较大性能的下降</a:t>
            </a:r>
            <a:endParaRPr lang="en-US" altLang="zh-CN"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dirty="0">
                <a:solidFill>
                  <a:schemeClr val="tx1">
                    <a:lumMod val="75000"/>
                    <a:lumOff val="25000"/>
                  </a:schemeClr>
                </a:solidFill>
              </a:rPr>
              <a:t>在只融合代码理解任务以及代码生成式任务时，基于</a:t>
            </a:r>
            <a:r>
              <a:rPr lang="en-US" altLang="zh-CN" dirty="0">
                <a:solidFill>
                  <a:schemeClr val="tx1">
                    <a:lumMod val="75000"/>
                    <a:lumOff val="25000"/>
                  </a:schemeClr>
                </a:solidFill>
              </a:rPr>
              <a:t>mask</a:t>
            </a:r>
            <a:r>
              <a:rPr lang="zh-CN" altLang="en-US" dirty="0">
                <a:solidFill>
                  <a:schemeClr val="tx1">
                    <a:lumMod val="75000"/>
                    <a:lumOff val="25000"/>
                  </a:schemeClr>
                </a:solidFill>
              </a:rPr>
              <a:t>的方法几乎能保持与原始微调模型相当的性能，但是在将两个种类差距较大的模型统一起来时，漏洞检测任务的性能有较大的下降</a:t>
            </a:r>
            <a:endParaRPr lang="en-US" altLang="zh-CN" dirty="0">
              <a:solidFill>
                <a:schemeClr val="tx1">
                  <a:lumMod val="75000"/>
                  <a:lumOff val="25000"/>
                </a:schemeClr>
              </a:solidFill>
            </a:endParaRPr>
          </a:p>
        </p:txBody>
      </p:sp>
      <p:pic>
        <p:nvPicPr>
          <p:cNvPr id="9" name="图片 8">
            <a:extLst>
              <a:ext uri="{FF2B5EF4-FFF2-40B4-BE49-F238E27FC236}">
                <a16:creationId xmlns:a16="http://schemas.microsoft.com/office/drawing/2014/main" id="{E2CA9907-44D3-2A08-12C7-95E6B67B538B}"/>
              </a:ext>
            </a:extLst>
          </p:cNvPr>
          <p:cNvPicPr>
            <a:picLocks noChangeAspect="1"/>
          </p:cNvPicPr>
          <p:nvPr/>
        </p:nvPicPr>
        <p:blipFill>
          <a:blip r:embed="rId3"/>
          <a:stretch>
            <a:fillRect/>
          </a:stretch>
        </p:blipFill>
        <p:spPr>
          <a:xfrm>
            <a:off x="0" y="1213790"/>
            <a:ext cx="12192000" cy="2920098"/>
          </a:xfrm>
          <a:prstGeom prst="rect">
            <a:avLst/>
          </a:prstGeom>
        </p:spPr>
      </p:pic>
    </p:spTree>
    <p:extLst>
      <p:ext uri="{BB962C8B-B14F-4D97-AF65-F5344CB8AC3E}">
        <p14:creationId xmlns:p14="http://schemas.microsoft.com/office/powerpoint/2010/main" val="3740496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pic>
        <p:nvPicPr>
          <p:cNvPr id="6" name="图形 5">
            <a:extLst>
              <a:ext uri="{FF2B5EF4-FFF2-40B4-BE49-F238E27FC236}">
                <a16:creationId xmlns:a16="http://schemas.microsoft.com/office/drawing/2014/main" id="{A8972EDD-6549-B8D9-E373-FB78593151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4865" y="1390711"/>
            <a:ext cx="5947200" cy="5193486"/>
          </a:xfrm>
          <a:prstGeom prst="rect">
            <a:avLst/>
          </a:prstGeom>
        </p:spPr>
      </p:pic>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8408" y="162572"/>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5225625"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RQ3.</a:t>
            </a:r>
            <a:r>
              <a:rPr lang="zh-CN" altLang="en-US" b="1" dirty="0">
                <a:solidFill>
                  <a:srgbClr val="268F9C"/>
                </a:solidFill>
                <a:latin typeface="+mn-ea"/>
              </a:rPr>
              <a:t> </a:t>
            </a:r>
            <a:r>
              <a:rPr lang="en-US" altLang="zh-CN" b="1" dirty="0">
                <a:solidFill>
                  <a:srgbClr val="268F9C"/>
                </a:solidFill>
                <a:latin typeface="+mn-ea"/>
              </a:rPr>
              <a:t> </a:t>
            </a:r>
            <a:r>
              <a:rPr lang="zh-CN" altLang="en-US" b="1" dirty="0">
                <a:solidFill>
                  <a:srgbClr val="268F9C"/>
                </a:solidFill>
                <a:latin typeface="+mn-ea"/>
              </a:rPr>
              <a:t>对模型融合方法在软工任务上的改进</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3AD9042-F824-2835-9F6F-582A905E8ACD}"/>
                  </a:ext>
                </a:extLst>
              </p:cNvPr>
              <p:cNvSpPr txBox="1"/>
              <p:nvPr/>
            </p:nvSpPr>
            <p:spPr>
              <a:xfrm>
                <a:off x="6272065" y="1371824"/>
                <a:ext cx="5829739" cy="4638065"/>
              </a:xfrm>
              <a:prstGeom prst="rect">
                <a:avLst/>
              </a:prstGeom>
              <a:noFill/>
            </p:spPr>
            <p:txBody>
              <a:bodyPr wrap="square">
                <a:spAutoFit/>
              </a:bodyPr>
              <a:lstStyle/>
              <a:p>
                <a:pPr marL="285750" indent="-285750">
                  <a:spcAft>
                    <a:spcPts val="1800"/>
                  </a:spcAft>
                  <a:buFont typeface="Arial" panose="020B0604020202020204" pitchFamily="34" charset="0"/>
                  <a:buChar char="•"/>
                </a:pPr>
                <a:r>
                  <a:rPr lang="zh-CN" altLang="zh-CN" dirty="0"/>
                  <a:t>在</a:t>
                </a:r>
                <a:r>
                  <a:rPr lang="en-US" altLang="zh-CN" dirty="0"/>
                  <a:t>RQ1</a:t>
                </a:r>
                <a:r>
                  <a:rPr lang="zh-CN" altLang="zh-CN" dirty="0"/>
                  <a:t>与</a:t>
                </a:r>
                <a:r>
                  <a:rPr lang="en-US" altLang="zh-CN" dirty="0"/>
                  <a:t>RQ2</a:t>
                </a:r>
                <a:r>
                  <a:rPr lang="zh-CN" altLang="zh-CN" dirty="0"/>
                  <a:t>中，我们发现，对于基于</a:t>
                </a:r>
                <a:r>
                  <a:rPr lang="en-US" altLang="zh-CN" dirty="0"/>
                  <a:t>mask</a:t>
                </a:r>
                <a:r>
                  <a:rPr lang="zh-CN" altLang="zh-CN" dirty="0"/>
                  <a:t>的方法，当数据极度不平衡时，</a:t>
                </a:r>
                <a:r>
                  <a:rPr lang="zh-CN" altLang="en-US" dirty="0"/>
                  <a:t>特征较弱的任务（参数变化小）会有较大的性能下降</a:t>
                </a:r>
                <a:endParaRPr lang="en-US" altLang="zh-CN" dirty="0"/>
              </a:p>
              <a:p>
                <a:pPr marL="285750" indent="-285750">
                  <a:spcAft>
                    <a:spcPts val="1800"/>
                  </a:spcAft>
                  <a:buFont typeface="Arial" panose="020B0604020202020204" pitchFamily="34" charset="0"/>
                  <a:buChar char="•"/>
                </a:pPr>
                <a:r>
                  <a:rPr lang="zh-CN" altLang="zh-CN" dirty="0"/>
                  <a:t>这主要由两点造成，</a:t>
                </a:r>
                <a:r>
                  <a:rPr lang="en-US" altLang="zh-CN" dirty="0"/>
                  <a:t>1.</a:t>
                </a:r>
                <a:r>
                  <a:rPr lang="zh-CN" altLang="zh-CN" dirty="0"/>
                  <a:t>在获得融合参数时，</a:t>
                </a:r>
                <a:r>
                  <a:rPr lang="zh-CN" altLang="en-US" dirty="0"/>
                  <a:t>弱特征</a:t>
                </a:r>
                <a:r>
                  <a:rPr lang="zh-CN" altLang="zh-CN" dirty="0"/>
                  <a:t>特征容易被</a:t>
                </a:r>
                <a:r>
                  <a:rPr lang="zh-CN" altLang="en-US" dirty="0"/>
                  <a:t>强</a:t>
                </a:r>
                <a:r>
                  <a:rPr lang="zh-CN" altLang="zh-CN" dirty="0"/>
                  <a:t>特征掩盖；</a:t>
                </a:r>
                <a:r>
                  <a:rPr lang="en-US" altLang="zh-CN" dirty="0"/>
                  <a:t>2.</a:t>
                </a:r>
                <a:r>
                  <a:rPr lang="zh-CN" altLang="zh-CN" dirty="0"/>
                  <a:t>在构造</a:t>
                </a:r>
                <a:r>
                  <a:rPr lang="en-US" altLang="zh-CN" dirty="0"/>
                  <a:t>mask</a:t>
                </a:r>
                <a:r>
                  <a:rPr lang="zh-CN" altLang="zh-CN" dirty="0"/>
                  <a:t>时，由于微调参数特征与融合参数特征差距过大，导致其舍去大量参数，不能很好的保留于自身最相关的特征。</a:t>
                </a:r>
              </a:p>
              <a:p>
                <a:pPr marL="285750" indent="-285750">
                  <a:spcAft>
                    <a:spcPts val="1800"/>
                  </a:spcAft>
                  <a:buFont typeface="Arial" panose="020B0604020202020204" pitchFamily="34" charset="0"/>
                  <a:buChar char="•"/>
                </a:pPr>
                <a:r>
                  <a:rPr lang="zh-CN" altLang="en-US" dirty="0"/>
                  <a:t>数据归一化将不同范围的特征映射到同一范围，从而防止值较大的强特征占据主导地位</a:t>
                </a:r>
                <a:endParaRPr lang="en-US" altLang="zh-CN" dirty="0"/>
              </a:p>
              <a:p>
                <a:pPr marL="285750" indent="-285750">
                  <a:spcAft>
                    <a:spcPts val="1800"/>
                  </a:spcAft>
                  <a:buFont typeface="Arial" panose="020B0604020202020204" pitchFamily="34" charset="0"/>
                  <a:buChar char="•"/>
                </a:pPr>
                <a:r>
                  <a:rPr lang="zh-CN" altLang="en-US" dirty="0"/>
                  <a:t>选出参数变化最大的任务，设他参数绝对值的平均值为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𝑝𝑖𝑣𝑜𝑡</m:t>
                        </m:r>
                      </m:sub>
                    </m:sSub>
                  </m:oMath>
                </a14:m>
                <a:r>
                  <a:rPr lang="zh-CN" altLang="en-US" dirty="0"/>
                  <a:t>，接着其他任务参数乘以</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𝑝𝑖𝑣𝑜𝑡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oMath>
                </a14:m>
                <a:endParaRPr lang="en-US" altLang="zh-CN" dirty="0"/>
              </a:p>
              <a:p>
                <a:pPr marL="285750" indent="-285750">
                  <a:spcAft>
                    <a:spcPts val="1800"/>
                  </a:spcAft>
                  <a:buFont typeface="Arial" panose="020B0604020202020204" pitchFamily="34" charset="0"/>
                  <a:buChar char="•"/>
                </a:pPr>
                <a:r>
                  <a:rPr lang="zh-CN" altLang="en-US" dirty="0"/>
                  <a:t>推理时，用</a:t>
                </a:r>
                <a:r>
                  <a:rPr lang="en-US" altLang="zh-CN" dirty="0"/>
                  <a:t>mask</a:t>
                </a:r>
                <a:r>
                  <a:rPr lang="zh-CN" altLang="en-US" dirty="0"/>
                  <a:t>取出最相关的维度，在恢复为原来的大小</a:t>
                </a:r>
              </a:p>
            </p:txBody>
          </p:sp>
        </mc:Choice>
        <mc:Fallback xmlns="">
          <p:sp>
            <p:nvSpPr>
              <p:cNvPr id="19" name="文本框 18">
                <a:extLst>
                  <a:ext uri="{FF2B5EF4-FFF2-40B4-BE49-F238E27FC236}">
                    <a16:creationId xmlns:a16="http://schemas.microsoft.com/office/drawing/2014/main" id="{03AD9042-F824-2835-9F6F-582A905E8ACD}"/>
                  </a:ext>
                </a:extLst>
              </p:cNvPr>
              <p:cNvSpPr txBox="1">
                <a:spLocks noRot="1" noChangeAspect="1" noMove="1" noResize="1" noEditPoints="1" noAdjustHandles="1" noChangeArrowheads="1" noChangeShapeType="1" noTextEdit="1"/>
              </p:cNvSpPr>
              <p:nvPr/>
            </p:nvSpPr>
            <p:spPr>
              <a:xfrm>
                <a:off x="6272065" y="1371824"/>
                <a:ext cx="5829739" cy="4638065"/>
              </a:xfrm>
              <a:prstGeom prst="rect">
                <a:avLst/>
              </a:prstGeom>
              <a:blipFill>
                <a:blip r:embed="rId5"/>
                <a:stretch>
                  <a:fillRect l="-732" t="-657" r="-3033" b="-11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7575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5225625"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RQ3.</a:t>
            </a:r>
            <a:r>
              <a:rPr lang="zh-CN" altLang="en-US" b="1" dirty="0">
                <a:solidFill>
                  <a:srgbClr val="268F9C"/>
                </a:solidFill>
                <a:latin typeface="+mn-ea"/>
              </a:rPr>
              <a:t> </a:t>
            </a:r>
            <a:r>
              <a:rPr lang="en-US" altLang="zh-CN" b="1" dirty="0">
                <a:solidFill>
                  <a:srgbClr val="268F9C"/>
                </a:solidFill>
                <a:latin typeface="+mn-ea"/>
              </a:rPr>
              <a:t> </a:t>
            </a:r>
            <a:r>
              <a:rPr lang="zh-CN" altLang="en-US" b="1" dirty="0">
                <a:solidFill>
                  <a:srgbClr val="268F9C"/>
                </a:solidFill>
                <a:latin typeface="+mn-ea"/>
              </a:rPr>
              <a:t>对模型融合方法在软工任务上的改进</a:t>
            </a:r>
          </a:p>
        </p:txBody>
      </p:sp>
      <p:pic>
        <p:nvPicPr>
          <p:cNvPr id="10" name="图片 9">
            <a:extLst>
              <a:ext uri="{FF2B5EF4-FFF2-40B4-BE49-F238E27FC236}">
                <a16:creationId xmlns:a16="http://schemas.microsoft.com/office/drawing/2014/main" id="{0A8940F7-EBBE-CD8E-9A36-B4E473887620}"/>
              </a:ext>
            </a:extLst>
          </p:cNvPr>
          <p:cNvPicPr>
            <a:picLocks noChangeAspect="1"/>
          </p:cNvPicPr>
          <p:nvPr/>
        </p:nvPicPr>
        <p:blipFill>
          <a:blip r:embed="rId3"/>
          <a:stretch>
            <a:fillRect/>
          </a:stretch>
        </p:blipFill>
        <p:spPr>
          <a:xfrm>
            <a:off x="0" y="1485802"/>
            <a:ext cx="12192000" cy="3886396"/>
          </a:xfrm>
          <a:prstGeom prst="rect">
            <a:avLst/>
          </a:prstGeom>
        </p:spPr>
      </p:pic>
    </p:spTree>
    <p:extLst>
      <p:ext uri="{BB962C8B-B14F-4D97-AF65-F5344CB8AC3E}">
        <p14:creationId xmlns:p14="http://schemas.microsoft.com/office/powerpoint/2010/main" val="16482524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5225625"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RQ3.</a:t>
            </a:r>
            <a:r>
              <a:rPr lang="zh-CN" altLang="en-US" b="1" dirty="0">
                <a:solidFill>
                  <a:srgbClr val="268F9C"/>
                </a:solidFill>
                <a:latin typeface="+mn-ea"/>
              </a:rPr>
              <a:t> </a:t>
            </a:r>
            <a:r>
              <a:rPr lang="en-US" altLang="zh-CN" b="1" dirty="0">
                <a:solidFill>
                  <a:srgbClr val="268F9C"/>
                </a:solidFill>
                <a:latin typeface="+mn-ea"/>
              </a:rPr>
              <a:t> </a:t>
            </a:r>
            <a:r>
              <a:rPr lang="zh-CN" altLang="en-US" b="1" dirty="0">
                <a:solidFill>
                  <a:srgbClr val="268F9C"/>
                </a:solidFill>
                <a:latin typeface="+mn-ea"/>
              </a:rPr>
              <a:t>对模型融合方法在软工任务上的改进</a:t>
            </a:r>
          </a:p>
        </p:txBody>
      </p:sp>
      <p:pic>
        <p:nvPicPr>
          <p:cNvPr id="6" name="图片 5">
            <a:extLst>
              <a:ext uri="{FF2B5EF4-FFF2-40B4-BE49-F238E27FC236}">
                <a16:creationId xmlns:a16="http://schemas.microsoft.com/office/drawing/2014/main" id="{15E31993-CA90-F2A3-EB8B-08BCD8DA2E52}"/>
              </a:ext>
            </a:extLst>
          </p:cNvPr>
          <p:cNvPicPr>
            <a:picLocks noChangeAspect="1"/>
          </p:cNvPicPr>
          <p:nvPr/>
        </p:nvPicPr>
        <p:blipFill>
          <a:blip r:embed="rId3"/>
          <a:stretch>
            <a:fillRect/>
          </a:stretch>
        </p:blipFill>
        <p:spPr>
          <a:xfrm>
            <a:off x="454768" y="1455053"/>
            <a:ext cx="5454056" cy="3225322"/>
          </a:xfrm>
          <a:prstGeom prst="rect">
            <a:avLst/>
          </a:prstGeom>
        </p:spPr>
      </p:pic>
      <p:pic>
        <p:nvPicPr>
          <p:cNvPr id="9" name="图片 8">
            <a:extLst>
              <a:ext uri="{FF2B5EF4-FFF2-40B4-BE49-F238E27FC236}">
                <a16:creationId xmlns:a16="http://schemas.microsoft.com/office/drawing/2014/main" id="{E5FEE456-F10D-313D-8E3C-EF33D7F12C3E}"/>
              </a:ext>
            </a:extLst>
          </p:cNvPr>
          <p:cNvPicPr>
            <a:picLocks noChangeAspect="1"/>
          </p:cNvPicPr>
          <p:nvPr/>
        </p:nvPicPr>
        <p:blipFill>
          <a:blip r:embed="rId4"/>
          <a:stretch>
            <a:fillRect/>
          </a:stretch>
        </p:blipFill>
        <p:spPr>
          <a:xfrm>
            <a:off x="6173230" y="1454774"/>
            <a:ext cx="5704281" cy="3331829"/>
          </a:xfrm>
          <a:prstGeom prst="rect">
            <a:avLst/>
          </a:prstGeom>
        </p:spPr>
      </p:pic>
    </p:spTree>
    <p:extLst>
      <p:ext uri="{BB962C8B-B14F-4D97-AF65-F5344CB8AC3E}">
        <p14:creationId xmlns:p14="http://schemas.microsoft.com/office/powerpoint/2010/main" val="2177801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6625590" y="2456034"/>
            <a:ext cx="3696764" cy="1200329"/>
          </a:xfrm>
          <a:prstGeom prst="rect">
            <a:avLst/>
          </a:prstGeom>
          <a:noFill/>
        </p:spPr>
        <p:txBody>
          <a:bodyPr wrap="square" rtlCol="0">
            <a:spAutoFit/>
          </a:bodyPr>
          <a:lstStyle/>
          <a:p>
            <a:pPr lvl="0" algn="ctr">
              <a:defRPr/>
            </a:pPr>
            <a:r>
              <a:rPr lang="zh-CN" altLang="en-US" sz="3600" dirty="0">
                <a:latin typeface="Lato" panose="020F0502020204030203" pitchFamily="34" charset="0"/>
                <a:ea typeface="+mj-ea"/>
              </a:rPr>
              <a:t>谢谢聆听</a:t>
            </a:r>
            <a:endParaRPr lang="en-US" altLang="zh-CN" sz="3600" dirty="0">
              <a:latin typeface="Lato" panose="020F0502020204030203" pitchFamily="34" charset="0"/>
              <a:ea typeface="+mj-ea"/>
            </a:endParaRPr>
          </a:p>
          <a:p>
            <a:pPr lvl="0" algn="ctr">
              <a:defRPr/>
            </a:pPr>
            <a:r>
              <a:rPr lang="zh-CN" altLang="en-US" sz="3600" dirty="0">
                <a:latin typeface="Lato" panose="020F0502020204030203" pitchFamily="34" charset="0"/>
                <a:ea typeface="+mj-ea"/>
              </a:rPr>
              <a:t>请老师批评指正</a:t>
            </a:r>
            <a:endParaRPr lang="en-US" altLang="zh-CN" sz="3600"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1362737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夏雨家 https://xnwe.taobao.com/">
  <a:themeElements>
    <a:clrScheme name="MC-欧美风主题色">
      <a:dk1>
        <a:srgbClr val="000000"/>
      </a:dk1>
      <a:lt1>
        <a:srgbClr val="FFFFFF"/>
      </a:lt1>
      <a:dk2>
        <a:srgbClr val="44546A"/>
      </a:dk2>
      <a:lt2>
        <a:srgbClr val="E7E6E6"/>
      </a:lt2>
      <a:accent1>
        <a:srgbClr val="268F9C"/>
      </a:accent1>
      <a:accent2>
        <a:srgbClr val="2A566E"/>
      </a:accent2>
      <a:accent3>
        <a:srgbClr val="D71D49"/>
      </a:accent3>
      <a:accent4>
        <a:srgbClr val="268F9C"/>
      </a:accent4>
      <a:accent5>
        <a:srgbClr val="2A566E"/>
      </a:accent5>
      <a:accent6>
        <a:srgbClr val="D71D49"/>
      </a:accent6>
      <a:hlink>
        <a:srgbClr val="0563C1"/>
      </a:hlink>
      <a:folHlink>
        <a:srgbClr val="954F72"/>
      </a:folHlink>
    </a:clrScheme>
    <a:fontScheme name="Arial+微软雅黑">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chor="ctr">
        <a:spAutoFit/>
      </a:bodyPr>
      <a:lstStyle>
        <a:defPPr>
          <a:lnSpc>
            <a:spcPct val="120000"/>
          </a:lnSpc>
          <a:defRPr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9910</TotalTime>
  <Words>2188</Words>
  <Application>Microsoft Office PowerPoint</Application>
  <PresentationFormat>宽屏</PresentationFormat>
  <Paragraphs>234</Paragraphs>
  <Slides>17</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-apple-system</vt:lpstr>
      <vt:lpstr>等线</vt:lpstr>
      <vt:lpstr>微软雅黑</vt:lpstr>
      <vt:lpstr>Arial</vt:lpstr>
      <vt:lpstr>Calibri</vt:lpstr>
      <vt:lpstr>Cambria Math</vt:lpstr>
      <vt:lpstr>Lato</vt:lpstr>
      <vt:lpstr>Times New Roman</vt:lpstr>
      <vt:lpstr>Wingdings</vt:lpstr>
      <vt:lpstr>夏雨家 https://xnwe.taobao.com/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盈钢 邱</dc:creator>
  <cp:lastModifiedBy>盈钢 邱</cp:lastModifiedBy>
  <cp:revision>471</cp:revision>
  <dcterms:created xsi:type="dcterms:W3CDTF">2024-11-06T01:21:23Z</dcterms:created>
  <dcterms:modified xsi:type="dcterms:W3CDTF">2025-08-24T13:26:34Z</dcterms:modified>
</cp:coreProperties>
</file>