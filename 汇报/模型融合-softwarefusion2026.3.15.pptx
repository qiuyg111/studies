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1" r:id="rId1"/>
  </p:sldMasterIdLst>
  <p:notesMasterIdLst>
    <p:notesMasterId r:id="rId12"/>
  </p:notesMasterIdLst>
  <p:sldIdLst>
    <p:sldId id="321" r:id="rId2"/>
    <p:sldId id="389" r:id="rId3"/>
    <p:sldId id="408" r:id="rId4"/>
    <p:sldId id="409" r:id="rId5"/>
    <p:sldId id="390" r:id="rId6"/>
    <p:sldId id="402" r:id="rId7"/>
    <p:sldId id="400" r:id="rId8"/>
    <p:sldId id="395" r:id="rId9"/>
    <p:sldId id="405" r:id="rId10"/>
    <p:sldId id="365" r:id="rId11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B0F0"/>
    <a:srgbClr val="C00000"/>
    <a:srgbClr val="FFFFFF"/>
    <a:srgbClr val="1AE43C"/>
    <a:srgbClr val="2A566E"/>
    <a:srgbClr val="268F9C"/>
    <a:srgbClr val="D71D49"/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470" autoAdjust="0"/>
    <p:restoredTop sz="79058" autoAdjust="0"/>
  </p:normalViewPr>
  <p:slideViewPr>
    <p:cSldViewPr snapToGrid="0">
      <p:cViewPr varScale="1">
        <p:scale>
          <a:sx n="82" d="100"/>
          <a:sy n="82" d="100"/>
        </p:scale>
        <p:origin x="878" y="7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25" d="100"/>
        <a:sy n="125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5D20703-AF86-4F31-B9FB-F7B8355B7ACE}" type="datetimeFigureOut">
              <a:rPr lang="zh-CN" altLang="en-US" smtClean="0"/>
              <a:t>2026/3/15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78741DC-E11E-424D-8624-63C2B9FB9B1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472607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B26F91-231C-F436-C0FF-E58C781D02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F1D1F1DF-3D58-0A8D-7DE3-DEF525B1C3A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B5228F2C-DAFE-AB42-D8B1-DBCDF490156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 fontAlgn="base"/>
            <a:endParaRPr lang="zh-CN" altLang="en-US" b="0" i="0" dirty="0">
              <a:effectLst/>
              <a:latin typeface="-apple-system"/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19026B6-BDB9-0760-E274-F89F90DA5F1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34C0232-94FA-4EBE-BB9B-79FBE486032D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8885717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DBAED6-63D6-5935-7B5F-DA73B98379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AD5D880A-0BB6-7EEE-5807-2D38FD25295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60516CFA-93A5-4D21-6C99-8E3A0A4DA51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EBD221B-724B-CD06-76AC-B7CBBAB7911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34C0232-94FA-4EBE-BB9B-79FBE486032D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0425759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3F7991-A446-6A40-B3B2-F1A1D6085F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21D4A2FD-CAC2-0103-57BB-75402237393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75004AFF-97F0-CEFA-D863-97405F52ACD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1B7F08C-EA2E-F226-DC59-97858223C15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34C0232-94FA-4EBE-BB9B-79FBE486032D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7707992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8C6963-1A24-A4D5-5F24-FDA09DD2AA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528310A9-B5F5-9FD8-2258-5515867648C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4CE3E4A1-D02D-E124-1472-E36D6A80CB6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43A3778-BCA4-96B9-63AB-ED96E99FBC4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34C0232-94FA-4EBE-BB9B-79FBE486032D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173566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DBAED6-63D6-5935-7B5F-DA73B98379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AD5D880A-0BB6-7EEE-5807-2D38FD25295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60516CFA-93A5-4D21-6C99-8E3A0A4DA51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EBD221B-724B-CD06-76AC-B7CBBAB7911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34C0232-94FA-4EBE-BB9B-79FBE486032D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0926990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DBAED6-63D6-5935-7B5F-DA73B98379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AD5D880A-0BB6-7EEE-5807-2D38FD25295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60516CFA-93A5-4D21-6C99-8E3A0A4DA51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EBD221B-724B-CD06-76AC-B7CBBAB7911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34C0232-94FA-4EBE-BB9B-79FBE486032D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67923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DBAED6-63D6-5935-7B5F-DA73B98379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AD5D880A-0BB6-7EEE-5807-2D38FD25295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60516CFA-93A5-4D21-6C99-8E3A0A4DA51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EBD221B-724B-CD06-76AC-B7CBBAB7911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34C0232-94FA-4EBE-BB9B-79FBE486032D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2846194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DBAED6-63D6-5935-7B5F-DA73B98379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AD5D880A-0BB6-7EEE-5807-2D38FD25295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60516CFA-93A5-4D21-6C99-8E3A0A4DA51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EBD221B-724B-CD06-76AC-B7CBBAB7911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34C0232-94FA-4EBE-BB9B-79FBE486032D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2210406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DBAED6-63D6-5935-7B5F-DA73B98379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AD5D880A-0BB6-7EEE-5807-2D38FD25295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60516CFA-93A5-4D21-6C99-8E3A0A4DA51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EBD221B-724B-CD06-76AC-B7CBBAB7911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34C0232-94FA-4EBE-BB9B-79FBE486032D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9021423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 fontAlgn="base"/>
            <a:endParaRPr lang="zh-CN" altLang="en-US" b="0" i="0" dirty="0">
              <a:effectLst/>
              <a:latin typeface="-apple-system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34C0232-94FA-4EBE-BB9B-79FBE486032D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5867161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首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79199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 advClick="0" advTm="5000">
        <p14:ripple/>
      </p:transition>
    </mc:Choice>
    <mc:Fallback xmlns="">
      <p:transition spd="slow" advClick="0" advTm="5000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218747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 advClick="0" advTm="5000">
        <p14:doors dir="vert"/>
      </p:transition>
    </mc:Choice>
    <mc:Fallback xmlns="">
      <p:transition spd="slow" advClick="0" advTm="5000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过度页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597872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 advClick="0" advTm="5000">
        <p14:warp dir="in"/>
      </p:transition>
    </mc:Choice>
    <mc:Fallback xmlns="">
      <p:transition spd="slow" advClick="0" advTm="5000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-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圆角矩形 11"/>
          <p:cNvSpPr/>
          <p:nvPr userDrawn="1"/>
        </p:nvSpPr>
        <p:spPr>
          <a:xfrm rot="2603202">
            <a:off x="336606" y="165885"/>
            <a:ext cx="470229" cy="470228"/>
          </a:xfrm>
          <a:prstGeom prst="roundRect">
            <a:avLst/>
          </a:pr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920" tIns="60961" rIns="121920" bIns="60961" rtlCol="0" anchor="ctr"/>
          <a:lstStyle/>
          <a:p>
            <a:pPr algn="ctr"/>
            <a:endParaRPr lang="zh-CN" altLang="en-US" sz="3200"/>
          </a:p>
        </p:txBody>
      </p:sp>
      <p:sp>
        <p:nvSpPr>
          <p:cNvPr id="3" name="Line 9"/>
          <p:cNvSpPr>
            <a:spLocks noChangeShapeType="1"/>
          </p:cNvSpPr>
          <p:nvPr userDrawn="1"/>
        </p:nvSpPr>
        <p:spPr bwMode="auto">
          <a:xfrm>
            <a:off x="805839" y="695491"/>
            <a:ext cx="11387572" cy="0"/>
          </a:xfrm>
          <a:prstGeom prst="line">
            <a:avLst/>
          </a:prstGeom>
          <a:ln w="28575">
            <a:gradFill>
              <a:gsLst>
                <a:gs pos="0">
                  <a:schemeClr val="tx1">
                    <a:lumMod val="35000"/>
                    <a:lumOff val="65000"/>
                  </a:schemeClr>
                </a:gs>
                <a:gs pos="100000">
                  <a:schemeClr val="bg1"/>
                </a:gs>
              </a:gsLst>
              <a:lin ang="5400000" scaled="0"/>
            </a:gradFill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vert="horz" wrap="square" lIns="121920" tIns="60961" rIns="121920" bIns="60961" numCol="1" anchor="t" anchorCtr="0" compatLnSpc="1"/>
          <a:lstStyle/>
          <a:p>
            <a:pPr>
              <a:lnSpc>
                <a:spcPct val="120000"/>
              </a:lnSpc>
            </a:pPr>
            <a:endParaRPr lang="zh-CN" altLang="en-US" sz="3200">
              <a:solidFill>
                <a:schemeClr val="tx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圆角矩形 13"/>
          <p:cNvSpPr/>
          <p:nvPr userDrawn="1"/>
        </p:nvSpPr>
        <p:spPr>
          <a:xfrm rot="2634344">
            <a:off x="551426" y="237849"/>
            <a:ext cx="410548" cy="410548"/>
          </a:xfrm>
          <a:prstGeom prst="roundRect">
            <a:avLst/>
          </a:prstGeom>
          <a:solidFill>
            <a:schemeClr val="accent1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920" tIns="60961" rIns="121920" bIns="60961" rtlCol="0" anchor="ctr"/>
          <a:lstStyle/>
          <a:p>
            <a:pPr algn="ctr"/>
            <a:endParaRPr lang="zh-CN" altLang="en-US" sz="3200"/>
          </a:p>
        </p:txBody>
      </p:sp>
    </p:spTree>
    <p:extLst>
      <p:ext uri="{BB962C8B-B14F-4D97-AF65-F5344CB8AC3E}">
        <p14:creationId xmlns:p14="http://schemas.microsoft.com/office/powerpoint/2010/main" val="39279447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 advClick="0" advTm="5000">
        <p14:prism isInverted="1"/>
      </p:transition>
    </mc:Choice>
    <mc:Fallback xmlns="">
      <p:transition spd="slow" advClick="0" advTm="5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8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内页-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圆角矩形 11"/>
          <p:cNvSpPr/>
          <p:nvPr userDrawn="1"/>
        </p:nvSpPr>
        <p:spPr>
          <a:xfrm rot="2603202">
            <a:off x="336606" y="165885"/>
            <a:ext cx="470229" cy="470228"/>
          </a:xfrm>
          <a:prstGeom prst="roundRect">
            <a:avLst/>
          </a:pr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920" tIns="60961" rIns="121920" bIns="60961" rtlCol="0" anchor="ctr"/>
          <a:lstStyle/>
          <a:p>
            <a:pPr algn="ctr"/>
            <a:endParaRPr lang="zh-CN" altLang="en-US" sz="3200"/>
          </a:p>
        </p:txBody>
      </p:sp>
      <p:sp>
        <p:nvSpPr>
          <p:cNvPr id="3" name="Line 9"/>
          <p:cNvSpPr>
            <a:spLocks noChangeShapeType="1"/>
          </p:cNvSpPr>
          <p:nvPr userDrawn="1"/>
        </p:nvSpPr>
        <p:spPr bwMode="auto">
          <a:xfrm>
            <a:off x="805839" y="695491"/>
            <a:ext cx="11387572" cy="0"/>
          </a:xfrm>
          <a:prstGeom prst="line">
            <a:avLst/>
          </a:prstGeom>
          <a:ln w="28575">
            <a:gradFill>
              <a:gsLst>
                <a:gs pos="0">
                  <a:schemeClr val="tx1">
                    <a:lumMod val="35000"/>
                    <a:lumOff val="65000"/>
                  </a:schemeClr>
                </a:gs>
                <a:gs pos="100000">
                  <a:schemeClr val="bg1"/>
                </a:gs>
              </a:gsLst>
              <a:lin ang="5400000" scaled="0"/>
            </a:gradFill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vert="horz" wrap="square" lIns="121920" tIns="60961" rIns="121920" bIns="60961" numCol="1" anchor="t" anchorCtr="0" compatLnSpc="1"/>
          <a:lstStyle/>
          <a:p>
            <a:pPr>
              <a:lnSpc>
                <a:spcPct val="120000"/>
              </a:lnSpc>
            </a:pPr>
            <a:endParaRPr lang="zh-CN" altLang="en-US" sz="3200">
              <a:solidFill>
                <a:schemeClr val="tx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圆角矩形 13"/>
          <p:cNvSpPr/>
          <p:nvPr userDrawn="1"/>
        </p:nvSpPr>
        <p:spPr>
          <a:xfrm rot="2634344">
            <a:off x="551426" y="237849"/>
            <a:ext cx="410548" cy="410548"/>
          </a:xfrm>
          <a:prstGeom prst="roundRect">
            <a:avLst/>
          </a:prstGeom>
          <a:solidFill>
            <a:schemeClr val="accent1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920" tIns="60961" rIns="121920" bIns="60961" rtlCol="0" anchor="ctr"/>
          <a:lstStyle/>
          <a:p>
            <a:pPr algn="ctr"/>
            <a:endParaRPr lang="zh-CN" altLang="en-US" sz="3200"/>
          </a:p>
        </p:txBody>
      </p:sp>
    </p:spTree>
    <p:extLst>
      <p:ext uri="{BB962C8B-B14F-4D97-AF65-F5344CB8AC3E}">
        <p14:creationId xmlns:p14="http://schemas.microsoft.com/office/powerpoint/2010/main" val="32980235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 advClick="0" advTm="5000">
        <p14:switch dir="r"/>
      </p:transition>
    </mc:Choice>
    <mc:Fallback xmlns="">
      <p:transition spd="slow" advClick="0" advTm="5000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内页-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圆角矩形 11"/>
          <p:cNvSpPr/>
          <p:nvPr userDrawn="1"/>
        </p:nvSpPr>
        <p:spPr>
          <a:xfrm rot="2603202">
            <a:off x="336606" y="165885"/>
            <a:ext cx="470229" cy="470228"/>
          </a:xfrm>
          <a:prstGeom prst="roundRect">
            <a:avLst/>
          </a:pr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920" tIns="60961" rIns="121920" bIns="60961" rtlCol="0" anchor="ctr"/>
          <a:lstStyle/>
          <a:p>
            <a:pPr algn="ctr"/>
            <a:endParaRPr lang="zh-CN" altLang="en-US" sz="3200"/>
          </a:p>
        </p:txBody>
      </p:sp>
      <p:sp>
        <p:nvSpPr>
          <p:cNvPr id="3" name="Line 9"/>
          <p:cNvSpPr>
            <a:spLocks noChangeShapeType="1"/>
          </p:cNvSpPr>
          <p:nvPr userDrawn="1"/>
        </p:nvSpPr>
        <p:spPr bwMode="auto">
          <a:xfrm>
            <a:off x="805839" y="695491"/>
            <a:ext cx="11387572" cy="0"/>
          </a:xfrm>
          <a:prstGeom prst="line">
            <a:avLst/>
          </a:prstGeom>
          <a:ln w="28575">
            <a:gradFill>
              <a:gsLst>
                <a:gs pos="0">
                  <a:schemeClr val="tx1">
                    <a:lumMod val="35000"/>
                    <a:lumOff val="65000"/>
                  </a:schemeClr>
                </a:gs>
                <a:gs pos="100000">
                  <a:schemeClr val="bg1"/>
                </a:gs>
              </a:gsLst>
              <a:lin ang="5400000" scaled="0"/>
            </a:gradFill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vert="horz" wrap="square" lIns="121920" tIns="60961" rIns="121920" bIns="60961" numCol="1" anchor="t" anchorCtr="0" compatLnSpc="1"/>
          <a:lstStyle/>
          <a:p>
            <a:pPr>
              <a:lnSpc>
                <a:spcPct val="120000"/>
              </a:lnSpc>
            </a:pPr>
            <a:endParaRPr lang="zh-CN" altLang="en-US" sz="3200">
              <a:solidFill>
                <a:schemeClr val="tx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圆角矩形 13"/>
          <p:cNvSpPr/>
          <p:nvPr userDrawn="1"/>
        </p:nvSpPr>
        <p:spPr>
          <a:xfrm rot="2634344">
            <a:off x="551426" y="237849"/>
            <a:ext cx="410548" cy="410548"/>
          </a:xfrm>
          <a:prstGeom prst="roundRect">
            <a:avLst/>
          </a:prstGeom>
          <a:solidFill>
            <a:schemeClr val="accent1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920" tIns="60961" rIns="121920" bIns="60961" rtlCol="0" anchor="ctr"/>
          <a:lstStyle/>
          <a:p>
            <a:pPr algn="ctr"/>
            <a:endParaRPr lang="zh-CN" altLang="en-US" sz="3200"/>
          </a:p>
        </p:txBody>
      </p:sp>
    </p:spTree>
    <p:extLst>
      <p:ext uri="{BB962C8B-B14F-4D97-AF65-F5344CB8AC3E}">
        <p14:creationId xmlns:p14="http://schemas.microsoft.com/office/powerpoint/2010/main" val="34917696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 advClick="0" advTm="5000">
        <p14:flip dir="r"/>
      </p:transition>
    </mc:Choice>
    <mc:Fallback xmlns="">
      <p:transition spd="slow" advClick="0" advTm="5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8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内页-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圆角矩形 11"/>
          <p:cNvSpPr/>
          <p:nvPr userDrawn="1"/>
        </p:nvSpPr>
        <p:spPr>
          <a:xfrm rot="2603202">
            <a:off x="336606" y="165885"/>
            <a:ext cx="470229" cy="470228"/>
          </a:xfrm>
          <a:prstGeom prst="roundRect">
            <a:avLst/>
          </a:pr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920" tIns="60961" rIns="121920" bIns="60961" rtlCol="0" anchor="ctr"/>
          <a:lstStyle/>
          <a:p>
            <a:pPr algn="ctr"/>
            <a:endParaRPr lang="zh-CN" altLang="en-US" sz="3200"/>
          </a:p>
        </p:txBody>
      </p:sp>
      <p:sp>
        <p:nvSpPr>
          <p:cNvPr id="3" name="Line 9"/>
          <p:cNvSpPr>
            <a:spLocks noChangeShapeType="1"/>
          </p:cNvSpPr>
          <p:nvPr userDrawn="1"/>
        </p:nvSpPr>
        <p:spPr bwMode="auto">
          <a:xfrm>
            <a:off x="805839" y="695491"/>
            <a:ext cx="11387572" cy="0"/>
          </a:xfrm>
          <a:prstGeom prst="line">
            <a:avLst/>
          </a:prstGeom>
          <a:ln w="28575">
            <a:gradFill>
              <a:gsLst>
                <a:gs pos="0">
                  <a:schemeClr val="tx1">
                    <a:lumMod val="35000"/>
                    <a:lumOff val="65000"/>
                  </a:schemeClr>
                </a:gs>
                <a:gs pos="100000">
                  <a:schemeClr val="bg1"/>
                </a:gs>
              </a:gsLst>
              <a:lin ang="5400000" scaled="0"/>
            </a:gradFill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vert="horz" wrap="square" lIns="121920" tIns="60961" rIns="121920" bIns="60961" numCol="1" anchor="t" anchorCtr="0" compatLnSpc="1"/>
          <a:lstStyle/>
          <a:p>
            <a:pPr>
              <a:lnSpc>
                <a:spcPct val="120000"/>
              </a:lnSpc>
            </a:pPr>
            <a:endParaRPr lang="zh-CN" altLang="en-US" sz="3200">
              <a:solidFill>
                <a:schemeClr val="tx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圆角矩形 13"/>
          <p:cNvSpPr/>
          <p:nvPr userDrawn="1"/>
        </p:nvSpPr>
        <p:spPr>
          <a:xfrm rot="2634344">
            <a:off x="551426" y="237849"/>
            <a:ext cx="410548" cy="410548"/>
          </a:xfrm>
          <a:prstGeom prst="roundRect">
            <a:avLst/>
          </a:prstGeom>
          <a:solidFill>
            <a:schemeClr val="accent1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920" tIns="60961" rIns="121920" bIns="60961" rtlCol="0" anchor="ctr"/>
          <a:lstStyle/>
          <a:p>
            <a:pPr algn="ctr"/>
            <a:endParaRPr lang="zh-CN" altLang="en-US" sz="3200"/>
          </a:p>
        </p:txBody>
      </p:sp>
    </p:spTree>
    <p:extLst>
      <p:ext uri="{BB962C8B-B14F-4D97-AF65-F5344CB8AC3E}">
        <p14:creationId xmlns:p14="http://schemas.microsoft.com/office/powerpoint/2010/main" val="5609724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 advClick="0" advTm="5000">
        <p14:gallery dir="l"/>
      </p:transition>
    </mc:Choice>
    <mc:Fallback xmlns="">
      <p:transition spd="slow" advClick="0" advTm="5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8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结束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28198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 advClick="0" advTm="5000">
        <p14:warp dir="in"/>
      </p:transition>
    </mc:Choice>
    <mc:Fallback xmlns="">
      <p:transition spd="slow" advClick="0" advTm="5000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版权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090746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 advClick="0" advTm="5000">
        <p:blinds dir="vert"/>
      </p:transition>
    </mc:Choice>
    <mc:Fallback xmlns="">
      <p:transition spd="slow" advClick="0" advTm="5000">
        <p:blinds dir="vert"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lIns="121917" tIns="60958" rIns="121917" bIns="60958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</p:spPr>
        <p:txBody>
          <a:bodyPr lIns="121917" tIns="60958" rIns="121917" bIns="60958"/>
          <a:lstStyle>
            <a:lvl1pPr>
              <a:defRPr/>
            </a:lvl1pPr>
          </a:lstStyle>
          <a:p>
            <a:fld id="{80F42DC0-2E3F-F440-A3AA-64F0AA1F84F2}" type="datetime1">
              <a:rPr lang="zh-CN" altLang="en-US"/>
              <a:t>2026/3/15</a:t>
            </a:fld>
            <a:endParaRPr lang="zh-CN" altLang="en-US" sz="1900">
              <a:solidFill>
                <a:schemeClr val="tx1"/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</p:spPr>
        <p:txBody>
          <a:bodyPr lIns="121917" tIns="60958" rIns="121917" bIns="60958"/>
          <a:lstStyle>
            <a:lvl1pPr>
              <a:defRPr/>
            </a:lvl1pPr>
          </a:lstStyle>
          <a:p>
            <a:endParaRPr lang="zh-CN" altLang="zh-CN"/>
          </a:p>
        </p:txBody>
      </p:sp>
      <p:sp>
        <p:nvSpPr>
          <p:cNvPr id="5" name="幻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</p:spPr>
        <p:txBody>
          <a:bodyPr lIns="121917" tIns="60958" rIns="121917" bIns="60958"/>
          <a:lstStyle>
            <a:lvl1pPr>
              <a:defRPr/>
            </a:lvl1pPr>
          </a:lstStyle>
          <a:p>
            <a:fld id="{C5FC99A0-26D8-5E4B-82FB-70809BCEE9F6}" type="slidenum">
              <a:rPr lang="zh-CN" altLang="en-US"/>
              <a:t>‹#›</a:t>
            </a:fld>
            <a:endParaRPr lang="zh-CN" altLang="en-US" sz="19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728416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853659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</p:sldLayoutIdLst>
  <mc:AlternateContent xmlns:mc="http://schemas.openxmlformats.org/markup-compatibility/2006" xmlns:p14="http://schemas.microsoft.com/office/powerpoint/2010/main">
    <mc:Choice Requires="p14">
      <p:transition p14:dur="10" advClick="0" advTm="5000"/>
    </mc:Choice>
    <mc:Fallback xmlns="">
      <p:transition advClick="0" advTm="5000"/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10" Type="http://schemas.openxmlformats.org/officeDocument/2006/relationships/image" Target="../media/image20.png"/><Relationship Id="rId4" Type="http://schemas.openxmlformats.org/officeDocument/2006/relationships/image" Target="../media/image14.png"/><Relationship Id="rId9" Type="http://schemas.openxmlformats.org/officeDocument/2006/relationships/image" Target="../media/image1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210.png"/><Relationship Id="rId4" Type="http://schemas.openxmlformats.org/officeDocument/2006/relationships/image" Target="../media/image25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443799-56BC-1721-CCC5-4F9C8AE251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DA5025EA-C510-B2D4-9C13-987D73417520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592" y="776798"/>
            <a:ext cx="5070060" cy="5454498"/>
          </a:xfrm>
          <a:prstGeom prst="rect">
            <a:avLst/>
          </a:prstGeom>
          <a:effectLst>
            <a:innerShdw blurRad="63500" dist="50800" dir="16200000">
              <a:prstClr val="black">
                <a:alpha val="50000"/>
              </a:prstClr>
            </a:innerShdw>
          </a:effectLst>
        </p:spPr>
      </p:pic>
      <p:sp>
        <p:nvSpPr>
          <p:cNvPr id="4" name="TextBox 13">
            <a:extLst>
              <a:ext uri="{FF2B5EF4-FFF2-40B4-BE49-F238E27FC236}">
                <a16:creationId xmlns:a16="http://schemas.microsoft.com/office/drawing/2014/main" id="{694C5BD6-8148-1792-B20E-178C398FED9E}"/>
              </a:ext>
            </a:extLst>
          </p:cNvPr>
          <p:cNvSpPr txBox="1"/>
          <p:nvPr/>
        </p:nvSpPr>
        <p:spPr>
          <a:xfrm>
            <a:off x="6257510" y="2652561"/>
            <a:ext cx="489795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defRPr/>
            </a:pPr>
            <a:r>
              <a:rPr lang="zh-CN" altLang="en-US" sz="3600" b="1" dirty="0">
                <a:latin typeface="+mj-ea"/>
                <a:ea typeface="+mj-ea"/>
              </a:rPr>
              <a:t>模型融合实证研究</a:t>
            </a:r>
            <a:endParaRPr lang="en-US" altLang="zh-CN" sz="3600" b="1" dirty="0">
              <a:latin typeface="+mj-ea"/>
              <a:ea typeface="+mj-ea"/>
            </a:endParaRPr>
          </a:p>
        </p:txBody>
      </p:sp>
      <p:grpSp>
        <p:nvGrpSpPr>
          <p:cNvPr id="9" name="组合 8">
            <a:extLst>
              <a:ext uri="{FF2B5EF4-FFF2-40B4-BE49-F238E27FC236}">
                <a16:creationId xmlns:a16="http://schemas.microsoft.com/office/drawing/2014/main" id="{8B8DEA75-CB92-6935-D189-F116DC0F2751}"/>
              </a:ext>
            </a:extLst>
          </p:cNvPr>
          <p:cNvGrpSpPr/>
          <p:nvPr/>
        </p:nvGrpSpPr>
        <p:grpSpPr bwMode="auto">
          <a:xfrm>
            <a:off x="7866431" y="3645602"/>
            <a:ext cx="412709" cy="333006"/>
            <a:chOff x="0" y="0"/>
            <a:chExt cx="1088225" cy="869861"/>
          </a:xfrm>
          <a:solidFill>
            <a:schemeClr val="tx1"/>
          </a:solidFill>
        </p:grpSpPr>
        <p:sp>
          <p:nvSpPr>
            <p:cNvPr id="10" name="Freeform 17">
              <a:extLst>
                <a:ext uri="{FF2B5EF4-FFF2-40B4-BE49-F238E27FC236}">
                  <a16:creationId xmlns:a16="http://schemas.microsoft.com/office/drawing/2014/main" id="{812DCD59-2A21-127E-C6E0-4E2B48A89743}"/>
                </a:ext>
              </a:extLst>
            </p:cNvPr>
            <p:cNvSpPr>
              <a:spLocks noEditPoints="1" noChangeArrowheads="1"/>
            </p:cNvSpPr>
            <p:nvPr/>
          </p:nvSpPr>
          <p:spPr bwMode="auto">
            <a:xfrm>
              <a:off x="0" y="237562"/>
              <a:ext cx="824268" cy="632299"/>
            </a:xfrm>
            <a:custGeom>
              <a:avLst/>
              <a:gdLst>
                <a:gd name="T0" fmla="*/ 274 w 291"/>
                <a:gd name="T1" fmla="*/ 0 h 223"/>
                <a:gd name="T2" fmla="*/ 17 w 291"/>
                <a:gd name="T3" fmla="*/ 0 h 223"/>
                <a:gd name="T4" fmla="*/ 0 w 291"/>
                <a:gd name="T5" fmla="*/ 16 h 223"/>
                <a:gd name="T6" fmla="*/ 0 w 291"/>
                <a:gd name="T7" fmla="*/ 207 h 223"/>
                <a:gd name="T8" fmla="*/ 17 w 291"/>
                <a:gd name="T9" fmla="*/ 223 h 223"/>
                <a:gd name="T10" fmla="*/ 274 w 291"/>
                <a:gd name="T11" fmla="*/ 223 h 223"/>
                <a:gd name="T12" fmla="*/ 291 w 291"/>
                <a:gd name="T13" fmla="*/ 207 h 223"/>
                <a:gd name="T14" fmla="*/ 291 w 291"/>
                <a:gd name="T15" fmla="*/ 16 h 223"/>
                <a:gd name="T16" fmla="*/ 274 w 291"/>
                <a:gd name="T17" fmla="*/ 0 h 223"/>
                <a:gd name="T18" fmla="*/ 270 w 291"/>
                <a:gd name="T19" fmla="*/ 193 h 223"/>
                <a:gd name="T20" fmla="*/ 256 w 291"/>
                <a:gd name="T21" fmla="*/ 207 h 223"/>
                <a:gd name="T22" fmla="*/ 35 w 291"/>
                <a:gd name="T23" fmla="*/ 207 h 223"/>
                <a:gd name="T24" fmla="*/ 21 w 291"/>
                <a:gd name="T25" fmla="*/ 193 h 223"/>
                <a:gd name="T26" fmla="*/ 21 w 291"/>
                <a:gd name="T27" fmla="*/ 30 h 223"/>
                <a:gd name="T28" fmla="*/ 35 w 291"/>
                <a:gd name="T29" fmla="*/ 16 h 223"/>
                <a:gd name="T30" fmla="*/ 256 w 291"/>
                <a:gd name="T31" fmla="*/ 16 h 223"/>
                <a:gd name="T32" fmla="*/ 270 w 291"/>
                <a:gd name="T33" fmla="*/ 30 h 223"/>
                <a:gd name="T34" fmla="*/ 270 w 291"/>
                <a:gd name="T35" fmla="*/ 193 h 223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w 291"/>
                <a:gd name="T55" fmla="*/ 0 h 223"/>
                <a:gd name="T56" fmla="*/ 291 w 291"/>
                <a:gd name="T57" fmla="*/ 223 h 223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T54" t="T55" r="T56" b="T57"/>
              <a:pathLst>
                <a:path w="291" h="223">
                  <a:moveTo>
                    <a:pt x="274" y="0"/>
                  </a:moveTo>
                  <a:cubicBezTo>
                    <a:pt x="17" y="0"/>
                    <a:pt x="17" y="0"/>
                    <a:pt x="17" y="0"/>
                  </a:cubicBezTo>
                  <a:cubicBezTo>
                    <a:pt x="8" y="0"/>
                    <a:pt x="0" y="7"/>
                    <a:pt x="0" y="16"/>
                  </a:cubicBezTo>
                  <a:cubicBezTo>
                    <a:pt x="0" y="207"/>
                    <a:pt x="0" y="207"/>
                    <a:pt x="0" y="207"/>
                  </a:cubicBezTo>
                  <a:cubicBezTo>
                    <a:pt x="0" y="215"/>
                    <a:pt x="8" y="223"/>
                    <a:pt x="17" y="223"/>
                  </a:cubicBezTo>
                  <a:cubicBezTo>
                    <a:pt x="274" y="223"/>
                    <a:pt x="274" y="223"/>
                    <a:pt x="274" y="223"/>
                  </a:cubicBezTo>
                  <a:cubicBezTo>
                    <a:pt x="283" y="223"/>
                    <a:pt x="291" y="215"/>
                    <a:pt x="291" y="207"/>
                  </a:cubicBezTo>
                  <a:cubicBezTo>
                    <a:pt x="291" y="16"/>
                    <a:pt x="291" y="16"/>
                    <a:pt x="291" y="16"/>
                  </a:cubicBezTo>
                  <a:cubicBezTo>
                    <a:pt x="291" y="7"/>
                    <a:pt x="283" y="0"/>
                    <a:pt x="274" y="0"/>
                  </a:cubicBezTo>
                  <a:moveTo>
                    <a:pt x="270" y="193"/>
                  </a:moveTo>
                  <a:cubicBezTo>
                    <a:pt x="270" y="201"/>
                    <a:pt x="264" y="207"/>
                    <a:pt x="256" y="207"/>
                  </a:cubicBezTo>
                  <a:cubicBezTo>
                    <a:pt x="35" y="207"/>
                    <a:pt x="35" y="207"/>
                    <a:pt x="35" y="207"/>
                  </a:cubicBezTo>
                  <a:cubicBezTo>
                    <a:pt x="27" y="207"/>
                    <a:pt x="21" y="201"/>
                    <a:pt x="21" y="193"/>
                  </a:cubicBezTo>
                  <a:cubicBezTo>
                    <a:pt x="21" y="30"/>
                    <a:pt x="21" y="30"/>
                    <a:pt x="21" y="30"/>
                  </a:cubicBezTo>
                  <a:cubicBezTo>
                    <a:pt x="21" y="22"/>
                    <a:pt x="27" y="16"/>
                    <a:pt x="35" y="16"/>
                  </a:cubicBezTo>
                  <a:cubicBezTo>
                    <a:pt x="256" y="16"/>
                    <a:pt x="256" y="16"/>
                    <a:pt x="256" y="16"/>
                  </a:cubicBezTo>
                  <a:cubicBezTo>
                    <a:pt x="264" y="16"/>
                    <a:pt x="270" y="22"/>
                    <a:pt x="270" y="30"/>
                  </a:cubicBezTo>
                  <a:lnTo>
                    <a:pt x="270" y="19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bevel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zh-CN" sz="1800" b="0" i="0" u="none" strike="noStrike" kern="1200" cap="none" spc="0" normalizeH="0" baseline="0" noProof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 panose="020F0502020204030204" pitchFamily="34" charset="0"/>
                <a:ea typeface="微软雅黑" panose="020B0503020204020204" pitchFamily="34" charset="-122"/>
                <a:cs typeface="+mn-cs"/>
                <a:sym typeface="宋体" panose="02010600030101010101" pitchFamily="2" charset="-122"/>
              </a:endParaRPr>
            </a:p>
          </p:txBody>
        </p:sp>
        <p:sp>
          <p:nvSpPr>
            <p:cNvPr id="11" name="Freeform 18">
              <a:extLst>
                <a:ext uri="{FF2B5EF4-FFF2-40B4-BE49-F238E27FC236}">
                  <a16:creationId xmlns:a16="http://schemas.microsoft.com/office/drawing/2014/main" id="{4993C0E4-5FE3-EA5B-77E1-1D46E55978C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7978" y="110382"/>
              <a:ext cx="821868" cy="632299"/>
            </a:xfrm>
            <a:custGeom>
              <a:avLst/>
              <a:gdLst>
                <a:gd name="T0" fmla="*/ 274 w 290"/>
                <a:gd name="T1" fmla="*/ 0 h 223"/>
                <a:gd name="T2" fmla="*/ 16 w 290"/>
                <a:gd name="T3" fmla="*/ 0 h 223"/>
                <a:gd name="T4" fmla="*/ 0 w 290"/>
                <a:gd name="T5" fmla="*/ 16 h 223"/>
                <a:gd name="T6" fmla="*/ 0 w 290"/>
                <a:gd name="T7" fmla="*/ 25 h 223"/>
                <a:gd name="T8" fmla="*/ 249 w 290"/>
                <a:gd name="T9" fmla="*/ 25 h 223"/>
                <a:gd name="T10" fmla="*/ 265 w 290"/>
                <a:gd name="T11" fmla="*/ 42 h 223"/>
                <a:gd name="T12" fmla="*/ 265 w 290"/>
                <a:gd name="T13" fmla="*/ 223 h 223"/>
                <a:gd name="T14" fmla="*/ 274 w 290"/>
                <a:gd name="T15" fmla="*/ 223 h 223"/>
                <a:gd name="T16" fmla="*/ 290 w 290"/>
                <a:gd name="T17" fmla="*/ 207 h 223"/>
                <a:gd name="T18" fmla="*/ 290 w 290"/>
                <a:gd name="T19" fmla="*/ 16 h 223"/>
                <a:gd name="T20" fmla="*/ 274 w 290"/>
                <a:gd name="T21" fmla="*/ 0 h 223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w 290"/>
                <a:gd name="T34" fmla="*/ 0 h 223"/>
                <a:gd name="T35" fmla="*/ 290 w 290"/>
                <a:gd name="T36" fmla="*/ 223 h 223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T33" t="T34" r="T35" b="T36"/>
              <a:pathLst>
                <a:path w="290" h="223">
                  <a:moveTo>
                    <a:pt x="274" y="0"/>
                  </a:moveTo>
                  <a:cubicBezTo>
                    <a:pt x="16" y="0"/>
                    <a:pt x="16" y="0"/>
                    <a:pt x="16" y="0"/>
                  </a:cubicBezTo>
                  <a:cubicBezTo>
                    <a:pt x="7" y="0"/>
                    <a:pt x="0" y="7"/>
                    <a:pt x="0" y="16"/>
                  </a:cubicBezTo>
                  <a:cubicBezTo>
                    <a:pt x="0" y="25"/>
                    <a:pt x="0" y="25"/>
                    <a:pt x="0" y="25"/>
                  </a:cubicBezTo>
                  <a:cubicBezTo>
                    <a:pt x="249" y="25"/>
                    <a:pt x="249" y="25"/>
                    <a:pt x="249" y="25"/>
                  </a:cubicBezTo>
                  <a:cubicBezTo>
                    <a:pt x="258" y="25"/>
                    <a:pt x="265" y="33"/>
                    <a:pt x="265" y="42"/>
                  </a:cubicBezTo>
                  <a:cubicBezTo>
                    <a:pt x="265" y="223"/>
                    <a:pt x="265" y="223"/>
                    <a:pt x="265" y="223"/>
                  </a:cubicBezTo>
                  <a:cubicBezTo>
                    <a:pt x="274" y="223"/>
                    <a:pt x="274" y="223"/>
                    <a:pt x="274" y="223"/>
                  </a:cubicBezTo>
                  <a:cubicBezTo>
                    <a:pt x="283" y="223"/>
                    <a:pt x="290" y="216"/>
                    <a:pt x="290" y="207"/>
                  </a:cubicBezTo>
                  <a:cubicBezTo>
                    <a:pt x="290" y="16"/>
                    <a:pt x="290" y="16"/>
                    <a:pt x="290" y="16"/>
                  </a:cubicBezTo>
                  <a:cubicBezTo>
                    <a:pt x="290" y="7"/>
                    <a:pt x="283" y="0"/>
                    <a:pt x="274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bevel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zh-CN" sz="1800" b="0" i="0" u="none" strike="noStrike" kern="1200" cap="none" spc="0" normalizeH="0" baseline="0" noProof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 panose="020F0502020204030204" pitchFamily="34" charset="0"/>
                <a:ea typeface="微软雅黑" panose="020B0503020204020204" pitchFamily="34" charset="-122"/>
                <a:cs typeface="+mn-cs"/>
                <a:sym typeface="宋体" panose="02010600030101010101" pitchFamily="2" charset="-122"/>
              </a:endParaRPr>
            </a:p>
          </p:txBody>
        </p:sp>
        <p:sp>
          <p:nvSpPr>
            <p:cNvPr id="12" name="Freeform 19">
              <a:extLst>
                <a:ext uri="{FF2B5EF4-FFF2-40B4-BE49-F238E27FC236}">
                  <a16:creationId xmlns:a16="http://schemas.microsoft.com/office/drawing/2014/main" id="{CA545872-B65F-8A97-AD68-8C70E834D0C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6357" y="0"/>
              <a:ext cx="821868" cy="628699"/>
            </a:xfrm>
            <a:custGeom>
              <a:avLst/>
              <a:gdLst>
                <a:gd name="T0" fmla="*/ 274 w 290"/>
                <a:gd name="T1" fmla="*/ 0 h 222"/>
                <a:gd name="T2" fmla="*/ 16 w 290"/>
                <a:gd name="T3" fmla="*/ 0 h 222"/>
                <a:gd name="T4" fmla="*/ 0 w 290"/>
                <a:gd name="T5" fmla="*/ 16 h 222"/>
                <a:gd name="T6" fmla="*/ 0 w 290"/>
                <a:gd name="T7" fmla="*/ 25 h 222"/>
                <a:gd name="T8" fmla="*/ 249 w 290"/>
                <a:gd name="T9" fmla="*/ 25 h 222"/>
                <a:gd name="T10" fmla="*/ 265 w 290"/>
                <a:gd name="T11" fmla="*/ 41 h 222"/>
                <a:gd name="T12" fmla="*/ 265 w 290"/>
                <a:gd name="T13" fmla="*/ 222 h 222"/>
                <a:gd name="T14" fmla="*/ 274 w 290"/>
                <a:gd name="T15" fmla="*/ 222 h 222"/>
                <a:gd name="T16" fmla="*/ 290 w 290"/>
                <a:gd name="T17" fmla="*/ 206 h 222"/>
                <a:gd name="T18" fmla="*/ 290 w 290"/>
                <a:gd name="T19" fmla="*/ 16 h 222"/>
                <a:gd name="T20" fmla="*/ 274 w 290"/>
                <a:gd name="T21" fmla="*/ 0 h 222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w 290"/>
                <a:gd name="T34" fmla="*/ 0 h 222"/>
                <a:gd name="T35" fmla="*/ 290 w 290"/>
                <a:gd name="T36" fmla="*/ 222 h 222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T33" t="T34" r="T35" b="T36"/>
              <a:pathLst>
                <a:path w="290" h="222">
                  <a:moveTo>
                    <a:pt x="274" y="0"/>
                  </a:moveTo>
                  <a:cubicBezTo>
                    <a:pt x="16" y="0"/>
                    <a:pt x="16" y="0"/>
                    <a:pt x="16" y="0"/>
                  </a:cubicBezTo>
                  <a:cubicBezTo>
                    <a:pt x="7" y="0"/>
                    <a:pt x="0" y="7"/>
                    <a:pt x="0" y="16"/>
                  </a:cubicBezTo>
                  <a:cubicBezTo>
                    <a:pt x="0" y="25"/>
                    <a:pt x="0" y="25"/>
                    <a:pt x="0" y="25"/>
                  </a:cubicBezTo>
                  <a:cubicBezTo>
                    <a:pt x="249" y="25"/>
                    <a:pt x="249" y="25"/>
                    <a:pt x="249" y="25"/>
                  </a:cubicBezTo>
                  <a:cubicBezTo>
                    <a:pt x="258" y="25"/>
                    <a:pt x="265" y="32"/>
                    <a:pt x="265" y="41"/>
                  </a:cubicBezTo>
                  <a:cubicBezTo>
                    <a:pt x="265" y="222"/>
                    <a:pt x="265" y="222"/>
                    <a:pt x="265" y="222"/>
                  </a:cubicBezTo>
                  <a:cubicBezTo>
                    <a:pt x="274" y="222"/>
                    <a:pt x="274" y="222"/>
                    <a:pt x="274" y="222"/>
                  </a:cubicBezTo>
                  <a:cubicBezTo>
                    <a:pt x="283" y="222"/>
                    <a:pt x="290" y="215"/>
                    <a:pt x="290" y="206"/>
                  </a:cubicBezTo>
                  <a:cubicBezTo>
                    <a:pt x="290" y="16"/>
                    <a:pt x="290" y="16"/>
                    <a:pt x="290" y="16"/>
                  </a:cubicBezTo>
                  <a:cubicBezTo>
                    <a:pt x="290" y="7"/>
                    <a:pt x="283" y="0"/>
                    <a:pt x="274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bevel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zh-CN" sz="1800" b="0" i="0" u="none" strike="noStrike" kern="1200" cap="none" spc="0" normalizeH="0" baseline="0" noProof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 panose="020F0502020204030204" pitchFamily="34" charset="0"/>
                <a:ea typeface="微软雅黑" panose="020B0503020204020204" pitchFamily="34" charset="-122"/>
                <a:cs typeface="+mn-cs"/>
                <a:sym typeface="宋体" panose="02010600030101010101" pitchFamily="2" charset="-122"/>
              </a:endParaRPr>
            </a:p>
          </p:txBody>
        </p:sp>
        <p:sp>
          <p:nvSpPr>
            <p:cNvPr id="13" name="Freeform 20">
              <a:extLst>
                <a:ext uri="{FF2B5EF4-FFF2-40B4-BE49-F238E27FC236}">
                  <a16:creationId xmlns:a16="http://schemas.microsoft.com/office/drawing/2014/main" id="{99D65965-C08B-10F7-FB64-9DC268D0DAB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0382" y="422332"/>
              <a:ext cx="569909" cy="353943"/>
            </a:xfrm>
            <a:custGeom>
              <a:avLst/>
              <a:gdLst>
                <a:gd name="T0" fmla="*/ 71 w 201"/>
                <a:gd name="T1" fmla="*/ 5 h 125"/>
                <a:gd name="T2" fmla="*/ 11 w 201"/>
                <a:gd name="T3" fmla="*/ 109 h 125"/>
                <a:gd name="T4" fmla="*/ 11 w 201"/>
                <a:gd name="T5" fmla="*/ 124 h 125"/>
                <a:gd name="T6" fmla="*/ 192 w 201"/>
                <a:gd name="T7" fmla="*/ 124 h 125"/>
                <a:gd name="T8" fmla="*/ 192 w 201"/>
                <a:gd name="T9" fmla="*/ 108 h 125"/>
                <a:gd name="T10" fmla="*/ 151 w 201"/>
                <a:gd name="T11" fmla="*/ 47 h 125"/>
                <a:gd name="T12" fmla="*/ 117 w 201"/>
                <a:gd name="T13" fmla="*/ 86 h 125"/>
                <a:gd name="T14" fmla="*/ 110 w 201"/>
                <a:gd name="T15" fmla="*/ 81 h 125"/>
                <a:gd name="T16" fmla="*/ 122 w 201"/>
                <a:gd name="T17" fmla="*/ 65 h 125"/>
                <a:gd name="T18" fmla="*/ 81 w 201"/>
                <a:gd name="T19" fmla="*/ 5 h 125"/>
                <a:gd name="T20" fmla="*/ 71 w 201"/>
                <a:gd name="T21" fmla="*/ 5 h 125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w 201"/>
                <a:gd name="T34" fmla="*/ 0 h 125"/>
                <a:gd name="T35" fmla="*/ 201 w 201"/>
                <a:gd name="T36" fmla="*/ 125 h 125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T33" t="T34" r="T35" b="T36"/>
              <a:pathLst>
                <a:path w="201" h="125">
                  <a:moveTo>
                    <a:pt x="71" y="5"/>
                  </a:moveTo>
                  <a:cubicBezTo>
                    <a:pt x="11" y="109"/>
                    <a:pt x="11" y="109"/>
                    <a:pt x="11" y="109"/>
                  </a:cubicBezTo>
                  <a:cubicBezTo>
                    <a:pt x="11" y="109"/>
                    <a:pt x="0" y="124"/>
                    <a:pt x="11" y="124"/>
                  </a:cubicBezTo>
                  <a:cubicBezTo>
                    <a:pt x="25" y="125"/>
                    <a:pt x="192" y="124"/>
                    <a:pt x="192" y="124"/>
                  </a:cubicBezTo>
                  <a:cubicBezTo>
                    <a:pt x="192" y="124"/>
                    <a:pt x="201" y="121"/>
                    <a:pt x="192" y="108"/>
                  </a:cubicBezTo>
                  <a:cubicBezTo>
                    <a:pt x="182" y="94"/>
                    <a:pt x="158" y="46"/>
                    <a:pt x="151" y="47"/>
                  </a:cubicBezTo>
                  <a:cubicBezTo>
                    <a:pt x="144" y="47"/>
                    <a:pt x="120" y="83"/>
                    <a:pt x="117" y="86"/>
                  </a:cubicBezTo>
                  <a:cubicBezTo>
                    <a:pt x="115" y="89"/>
                    <a:pt x="108" y="84"/>
                    <a:pt x="110" y="81"/>
                  </a:cubicBezTo>
                  <a:cubicBezTo>
                    <a:pt x="116" y="74"/>
                    <a:pt x="122" y="65"/>
                    <a:pt x="122" y="65"/>
                  </a:cubicBezTo>
                  <a:cubicBezTo>
                    <a:pt x="122" y="65"/>
                    <a:pt x="84" y="9"/>
                    <a:pt x="81" y="5"/>
                  </a:cubicBezTo>
                  <a:cubicBezTo>
                    <a:pt x="78" y="0"/>
                    <a:pt x="73" y="1"/>
                    <a:pt x="71" y="5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bevel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zh-CN" sz="1800" b="0" i="0" u="none" strike="noStrike" kern="1200" cap="none" spc="0" normalizeH="0" baseline="0" noProof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 panose="020F0502020204030204" pitchFamily="34" charset="0"/>
                <a:ea typeface="微软雅黑" panose="020B0503020204020204" pitchFamily="34" charset="-122"/>
                <a:cs typeface="+mn-cs"/>
                <a:sym typeface="宋体" panose="02010600030101010101" pitchFamily="2" charset="-122"/>
              </a:endParaRPr>
            </a:p>
          </p:txBody>
        </p:sp>
        <p:sp>
          <p:nvSpPr>
            <p:cNvPr id="14" name="Oval 21">
              <a:extLst>
                <a:ext uri="{FF2B5EF4-FFF2-40B4-BE49-F238E27FC236}">
                  <a16:creationId xmlns:a16="http://schemas.microsoft.com/office/drawing/2014/main" id="{1F0A4445-FDE3-E1E2-56D7-E77F52D77A8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63909" y="331147"/>
              <a:ext cx="101984" cy="99584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bevel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zh-CN" sz="1800" b="0" i="0" u="none" strike="noStrike" kern="1200" cap="none" spc="0" normalizeH="0" baseline="0" noProof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 panose="020F0502020204030204" pitchFamily="34" charset="0"/>
                <a:ea typeface="微软雅黑" panose="020B0503020204020204" pitchFamily="34" charset="-122"/>
                <a:cs typeface="+mn-cs"/>
                <a:sym typeface="宋体" panose="02010600030101010101" pitchFamily="2" charset="-122"/>
              </a:endParaRPr>
            </a:p>
          </p:txBody>
        </p:sp>
      </p:grp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EE30BEF5-6F88-B6EF-BF9F-72DC6400D0B7}"/>
              </a:ext>
            </a:extLst>
          </p:cNvPr>
          <p:cNvGrpSpPr/>
          <p:nvPr/>
        </p:nvGrpSpPr>
        <p:grpSpPr bwMode="auto">
          <a:xfrm>
            <a:off x="9875408" y="3645602"/>
            <a:ext cx="329894" cy="333006"/>
            <a:chOff x="0" y="0"/>
            <a:chExt cx="881859" cy="881859"/>
          </a:xfrm>
          <a:solidFill>
            <a:schemeClr val="tx1"/>
          </a:solidFill>
        </p:grpSpPr>
        <p:sp>
          <p:nvSpPr>
            <p:cNvPr id="16" name="Freeform 22">
              <a:extLst>
                <a:ext uri="{FF2B5EF4-FFF2-40B4-BE49-F238E27FC236}">
                  <a16:creationId xmlns:a16="http://schemas.microsoft.com/office/drawing/2014/main" id="{30ED5BA2-C969-03E4-27A7-904798C32DE3}"/>
                </a:ext>
              </a:extLst>
            </p:cNvPr>
            <p:cNvSpPr>
              <a:spLocks noEditPoints="1" noChangeArrowheads="1"/>
            </p:cNvSpPr>
            <p:nvPr/>
          </p:nvSpPr>
          <p:spPr bwMode="auto">
            <a:xfrm>
              <a:off x="0" y="0"/>
              <a:ext cx="881859" cy="881859"/>
            </a:xfrm>
            <a:custGeom>
              <a:avLst/>
              <a:gdLst>
                <a:gd name="T0" fmla="*/ 155 w 311"/>
                <a:gd name="T1" fmla="*/ 0 h 311"/>
                <a:gd name="T2" fmla="*/ 0 w 311"/>
                <a:gd name="T3" fmla="*/ 155 h 311"/>
                <a:gd name="T4" fmla="*/ 155 w 311"/>
                <a:gd name="T5" fmla="*/ 311 h 311"/>
                <a:gd name="T6" fmla="*/ 311 w 311"/>
                <a:gd name="T7" fmla="*/ 155 h 311"/>
                <a:gd name="T8" fmla="*/ 155 w 311"/>
                <a:gd name="T9" fmla="*/ 0 h 311"/>
                <a:gd name="T10" fmla="*/ 155 w 311"/>
                <a:gd name="T11" fmla="*/ 289 h 311"/>
                <a:gd name="T12" fmla="*/ 21 w 311"/>
                <a:gd name="T13" fmla="*/ 155 h 311"/>
                <a:gd name="T14" fmla="*/ 155 w 311"/>
                <a:gd name="T15" fmla="*/ 21 h 311"/>
                <a:gd name="T16" fmla="*/ 289 w 311"/>
                <a:gd name="T17" fmla="*/ 155 h 311"/>
                <a:gd name="T18" fmla="*/ 155 w 311"/>
                <a:gd name="T19" fmla="*/ 289 h 311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w 311"/>
                <a:gd name="T31" fmla="*/ 0 h 311"/>
                <a:gd name="T32" fmla="*/ 311 w 311"/>
                <a:gd name="T33" fmla="*/ 311 h 311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T30" t="T31" r="T32" b="T33"/>
              <a:pathLst>
                <a:path w="311" h="311">
                  <a:moveTo>
                    <a:pt x="155" y="0"/>
                  </a:moveTo>
                  <a:cubicBezTo>
                    <a:pt x="70" y="0"/>
                    <a:pt x="0" y="69"/>
                    <a:pt x="0" y="155"/>
                  </a:cubicBezTo>
                  <a:cubicBezTo>
                    <a:pt x="0" y="241"/>
                    <a:pt x="70" y="311"/>
                    <a:pt x="155" y="311"/>
                  </a:cubicBezTo>
                  <a:cubicBezTo>
                    <a:pt x="241" y="311"/>
                    <a:pt x="311" y="241"/>
                    <a:pt x="311" y="155"/>
                  </a:cubicBezTo>
                  <a:cubicBezTo>
                    <a:pt x="311" y="69"/>
                    <a:pt x="241" y="0"/>
                    <a:pt x="155" y="0"/>
                  </a:cubicBezTo>
                  <a:moveTo>
                    <a:pt x="155" y="289"/>
                  </a:moveTo>
                  <a:cubicBezTo>
                    <a:pt x="81" y="289"/>
                    <a:pt x="21" y="229"/>
                    <a:pt x="21" y="155"/>
                  </a:cubicBezTo>
                  <a:cubicBezTo>
                    <a:pt x="21" y="81"/>
                    <a:pt x="81" y="21"/>
                    <a:pt x="155" y="21"/>
                  </a:cubicBezTo>
                  <a:cubicBezTo>
                    <a:pt x="229" y="21"/>
                    <a:pt x="289" y="81"/>
                    <a:pt x="289" y="155"/>
                  </a:cubicBezTo>
                  <a:cubicBezTo>
                    <a:pt x="289" y="229"/>
                    <a:pt x="229" y="289"/>
                    <a:pt x="155" y="289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bevel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zh-CN" sz="1800" b="0" i="0" u="none" strike="noStrike" kern="1200" cap="none" spc="0" normalizeH="0" baseline="0" noProof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 panose="020F0502020204030204" pitchFamily="34" charset="0"/>
                <a:ea typeface="微软雅黑" panose="020B0503020204020204" pitchFamily="34" charset="-122"/>
                <a:cs typeface="+mn-cs"/>
                <a:sym typeface="宋体" panose="02010600030101010101" pitchFamily="2" charset="-122"/>
              </a:endParaRPr>
            </a:p>
          </p:txBody>
        </p:sp>
        <p:sp>
          <p:nvSpPr>
            <p:cNvPr id="17" name="Freeform 23">
              <a:extLst>
                <a:ext uri="{FF2B5EF4-FFF2-40B4-BE49-F238E27FC236}">
                  <a16:creationId xmlns:a16="http://schemas.microsoft.com/office/drawing/2014/main" id="{18A32CC3-BBDE-D027-B752-8CB2D9E2AF8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5162" y="70789"/>
              <a:ext cx="430731" cy="428331"/>
            </a:xfrm>
            <a:custGeom>
              <a:avLst/>
              <a:gdLst>
                <a:gd name="T0" fmla="*/ 145 w 152"/>
                <a:gd name="T1" fmla="*/ 53 h 151"/>
                <a:gd name="T2" fmla="*/ 144 w 152"/>
                <a:gd name="T3" fmla="*/ 52 h 151"/>
                <a:gd name="T4" fmla="*/ 125 w 152"/>
                <a:gd name="T5" fmla="*/ 52 h 151"/>
                <a:gd name="T6" fmla="*/ 77 w 152"/>
                <a:gd name="T7" fmla="*/ 106 h 151"/>
                <a:gd name="T8" fmla="*/ 31 w 152"/>
                <a:gd name="T9" fmla="*/ 12 h 151"/>
                <a:gd name="T10" fmla="*/ 11 w 152"/>
                <a:gd name="T11" fmla="*/ 4 h 151"/>
                <a:gd name="T12" fmla="*/ 10 w 152"/>
                <a:gd name="T13" fmla="*/ 4 h 151"/>
                <a:gd name="T14" fmla="*/ 4 w 152"/>
                <a:gd name="T15" fmla="*/ 25 h 151"/>
                <a:gd name="T16" fmla="*/ 60 w 152"/>
                <a:gd name="T17" fmla="*/ 140 h 151"/>
                <a:gd name="T18" fmla="*/ 79 w 152"/>
                <a:gd name="T19" fmla="*/ 148 h 151"/>
                <a:gd name="T20" fmla="*/ 79 w 152"/>
                <a:gd name="T21" fmla="*/ 148 h 151"/>
                <a:gd name="T22" fmla="*/ 80 w 152"/>
                <a:gd name="T23" fmla="*/ 148 h 151"/>
                <a:gd name="T24" fmla="*/ 81 w 152"/>
                <a:gd name="T25" fmla="*/ 147 h 151"/>
                <a:gd name="T26" fmla="*/ 87 w 152"/>
                <a:gd name="T27" fmla="*/ 141 h 151"/>
                <a:gd name="T28" fmla="*/ 148 w 152"/>
                <a:gd name="T29" fmla="*/ 72 h 151"/>
                <a:gd name="T30" fmla="*/ 145 w 152"/>
                <a:gd name="T31" fmla="*/ 53 h 151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w 152"/>
                <a:gd name="T49" fmla="*/ 0 h 151"/>
                <a:gd name="T50" fmla="*/ 152 w 152"/>
                <a:gd name="T51" fmla="*/ 151 h 151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T48" t="T49" r="T50" b="T51"/>
              <a:pathLst>
                <a:path w="152" h="151">
                  <a:moveTo>
                    <a:pt x="145" y="53"/>
                  </a:moveTo>
                  <a:cubicBezTo>
                    <a:pt x="144" y="52"/>
                    <a:pt x="144" y="52"/>
                    <a:pt x="144" y="52"/>
                  </a:cubicBezTo>
                  <a:cubicBezTo>
                    <a:pt x="138" y="47"/>
                    <a:pt x="129" y="47"/>
                    <a:pt x="125" y="52"/>
                  </a:cubicBezTo>
                  <a:cubicBezTo>
                    <a:pt x="77" y="106"/>
                    <a:pt x="77" y="106"/>
                    <a:pt x="77" y="106"/>
                  </a:cubicBezTo>
                  <a:cubicBezTo>
                    <a:pt x="31" y="12"/>
                    <a:pt x="31" y="12"/>
                    <a:pt x="31" y="12"/>
                  </a:cubicBezTo>
                  <a:cubicBezTo>
                    <a:pt x="27" y="4"/>
                    <a:pt x="18" y="0"/>
                    <a:pt x="11" y="4"/>
                  </a:cubicBezTo>
                  <a:cubicBezTo>
                    <a:pt x="10" y="4"/>
                    <a:pt x="10" y="4"/>
                    <a:pt x="10" y="4"/>
                  </a:cubicBezTo>
                  <a:cubicBezTo>
                    <a:pt x="3" y="8"/>
                    <a:pt x="0" y="17"/>
                    <a:pt x="4" y="25"/>
                  </a:cubicBezTo>
                  <a:cubicBezTo>
                    <a:pt x="60" y="140"/>
                    <a:pt x="60" y="140"/>
                    <a:pt x="60" y="140"/>
                  </a:cubicBezTo>
                  <a:cubicBezTo>
                    <a:pt x="63" y="148"/>
                    <a:pt x="72" y="151"/>
                    <a:pt x="79" y="148"/>
                  </a:cubicBezTo>
                  <a:cubicBezTo>
                    <a:pt x="79" y="148"/>
                    <a:pt x="79" y="148"/>
                    <a:pt x="79" y="148"/>
                  </a:cubicBezTo>
                  <a:cubicBezTo>
                    <a:pt x="79" y="148"/>
                    <a:pt x="80" y="148"/>
                    <a:pt x="80" y="148"/>
                  </a:cubicBezTo>
                  <a:cubicBezTo>
                    <a:pt x="81" y="147"/>
                    <a:pt x="81" y="147"/>
                    <a:pt x="81" y="147"/>
                  </a:cubicBezTo>
                  <a:cubicBezTo>
                    <a:pt x="84" y="146"/>
                    <a:pt x="86" y="144"/>
                    <a:pt x="87" y="141"/>
                  </a:cubicBezTo>
                  <a:cubicBezTo>
                    <a:pt x="148" y="72"/>
                    <a:pt x="148" y="72"/>
                    <a:pt x="148" y="72"/>
                  </a:cubicBezTo>
                  <a:cubicBezTo>
                    <a:pt x="152" y="67"/>
                    <a:pt x="151" y="59"/>
                    <a:pt x="145" y="53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bevel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zh-CN" sz="1800" b="0" i="0" u="none" strike="noStrike" kern="1200" cap="none" spc="0" normalizeH="0" baseline="0" noProof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 panose="020F0502020204030204" pitchFamily="34" charset="0"/>
                <a:ea typeface="微软雅黑" panose="020B0503020204020204" pitchFamily="34" charset="-122"/>
                <a:cs typeface="+mn-cs"/>
                <a:sym typeface="宋体" panose="02010600030101010101" pitchFamily="2" charset="-122"/>
              </a:endParaRPr>
            </a:p>
          </p:txBody>
        </p:sp>
      </p:grpSp>
      <p:grpSp>
        <p:nvGrpSpPr>
          <p:cNvPr id="18" name="组合 17">
            <a:extLst>
              <a:ext uri="{FF2B5EF4-FFF2-40B4-BE49-F238E27FC236}">
                <a16:creationId xmlns:a16="http://schemas.microsoft.com/office/drawing/2014/main" id="{4F8B4535-F665-2746-CDE3-E0BF1E937588}"/>
              </a:ext>
            </a:extLst>
          </p:cNvPr>
          <p:cNvGrpSpPr/>
          <p:nvPr/>
        </p:nvGrpSpPr>
        <p:grpSpPr bwMode="auto">
          <a:xfrm>
            <a:off x="8557947" y="3645602"/>
            <a:ext cx="397959" cy="333006"/>
            <a:chOff x="0" y="0"/>
            <a:chExt cx="961046" cy="796672"/>
          </a:xfrm>
          <a:solidFill>
            <a:schemeClr val="tx1"/>
          </a:solidFill>
        </p:grpSpPr>
        <p:sp>
          <p:nvSpPr>
            <p:cNvPr id="19" name="Freeform 24">
              <a:extLst>
                <a:ext uri="{FF2B5EF4-FFF2-40B4-BE49-F238E27FC236}">
                  <a16:creationId xmlns:a16="http://schemas.microsoft.com/office/drawing/2014/main" id="{DBAC8F9C-E557-FA06-87A2-CD40B2A2AD00}"/>
                </a:ext>
              </a:extLst>
            </p:cNvPr>
            <p:cNvSpPr>
              <a:spLocks noEditPoints="1" noChangeArrowheads="1"/>
            </p:cNvSpPr>
            <p:nvPr/>
          </p:nvSpPr>
          <p:spPr bwMode="auto">
            <a:xfrm>
              <a:off x="0" y="0"/>
              <a:ext cx="961046" cy="796672"/>
            </a:xfrm>
            <a:custGeom>
              <a:avLst/>
              <a:gdLst>
                <a:gd name="T0" fmla="*/ 321 w 339"/>
                <a:gd name="T1" fmla="*/ 0 h 281"/>
                <a:gd name="T2" fmla="*/ 18 w 339"/>
                <a:gd name="T3" fmla="*/ 0 h 281"/>
                <a:gd name="T4" fmla="*/ 0 w 339"/>
                <a:gd name="T5" fmla="*/ 18 h 281"/>
                <a:gd name="T6" fmla="*/ 0 w 339"/>
                <a:gd name="T7" fmla="*/ 263 h 281"/>
                <a:gd name="T8" fmla="*/ 18 w 339"/>
                <a:gd name="T9" fmla="*/ 281 h 281"/>
                <a:gd name="T10" fmla="*/ 321 w 339"/>
                <a:gd name="T11" fmla="*/ 281 h 281"/>
                <a:gd name="T12" fmla="*/ 339 w 339"/>
                <a:gd name="T13" fmla="*/ 263 h 281"/>
                <a:gd name="T14" fmla="*/ 339 w 339"/>
                <a:gd name="T15" fmla="*/ 18 h 281"/>
                <a:gd name="T16" fmla="*/ 321 w 339"/>
                <a:gd name="T17" fmla="*/ 0 h 281"/>
                <a:gd name="T18" fmla="*/ 316 w 339"/>
                <a:gd name="T19" fmla="*/ 246 h 281"/>
                <a:gd name="T20" fmla="*/ 301 w 339"/>
                <a:gd name="T21" fmla="*/ 262 h 281"/>
                <a:gd name="T22" fmla="*/ 38 w 339"/>
                <a:gd name="T23" fmla="*/ 262 h 281"/>
                <a:gd name="T24" fmla="*/ 23 w 339"/>
                <a:gd name="T25" fmla="*/ 246 h 281"/>
                <a:gd name="T26" fmla="*/ 23 w 339"/>
                <a:gd name="T27" fmla="*/ 35 h 281"/>
                <a:gd name="T28" fmla="*/ 38 w 339"/>
                <a:gd name="T29" fmla="*/ 19 h 281"/>
                <a:gd name="T30" fmla="*/ 301 w 339"/>
                <a:gd name="T31" fmla="*/ 19 h 281"/>
                <a:gd name="T32" fmla="*/ 316 w 339"/>
                <a:gd name="T33" fmla="*/ 35 h 281"/>
                <a:gd name="T34" fmla="*/ 316 w 339"/>
                <a:gd name="T35" fmla="*/ 246 h 281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w 339"/>
                <a:gd name="T55" fmla="*/ 0 h 281"/>
                <a:gd name="T56" fmla="*/ 339 w 339"/>
                <a:gd name="T57" fmla="*/ 281 h 281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T54" t="T55" r="T56" b="T57"/>
              <a:pathLst>
                <a:path w="339" h="281">
                  <a:moveTo>
                    <a:pt x="321" y="0"/>
                  </a:moveTo>
                  <a:cubicBezTo>
                    <a:pt x="18" y="0"/>
                    <a:pt x="18" y="0"/>
                    <a:pt x="18" y="0"/>
                  </a:cubicBezTo>
                  <a:cubicBezTo>
                    <a:pt x="8" y="0"/>
                    <a:pt x="0" y="8"/>
                    <a:pt x="0" y="18"/>
                  </a:cubicBezTo>
                  <a:cubicBezTo>
                    <a:pt x="0" y="263"/>
                    <a:pt x="0" y="263"/>
                    <a:pt x="0" y="263"/>
                  </a:cubicBezTo>
                  <a:cubicBezTo>
                    <a:pt x="0" y="273"/>
                    <a:pt x="8" y="281"/>
                    <a:pt x="18" y="281"/>
                  </a:cubicBezTo>
                  <a:cubicBezTo>
                    <a:pt x="321" y="281"/>
                    <a:pt x="321" y="281"/>
                    <a:pt x="321" y="281"/>
                  </a:cubicBezTo>
                  <a:cubicBezTo>
                    <a:pt x="331" y="281"/>
                    <a:pt x="339" y="273"/>
                    <a:pt x="339" y="263"/>
                  </a:cubicBezTo>
                  <a:cubicBezTo>
                    <a:pt x="339" y="18"/>
                    <a:pt x="339" y="18"/>
                    <a:pt x="339" y="18"/>
                  </a:cubicBezTo>
                  <a:cubicBezTo>
                    <a:pt x="339" y="8"/>
                    <a:pt x="331" y="0"/>
                    <a:pt x="321" y="0"/>
                  </a:cubicBezTo>
                  <a:moveTo>
                    <a:pt x="316" y="246"/>
                  </a:moveTo>
                  <a:cubicBezTo>
                    <a:pt x="316" y="255"/>
                    <a:pt x="309" y="262"/>
                    <a:pt x="301" y="262"/>
                  </a:cubicBezTo>
                  <a:cubicBezTo>
                    <a:pt x="38" y="262"/>
                    <a:pt x="38" y="262"/>
                    <a:pt x="38" y="262"/>
                  </a:cubicBezTo>
                  <a:cubicBezTo>
                    <a:pt x="30" y="262"/>
                    <a:pt x="23" y="255"/>
                    <a:pt x="23" y="246"/>
                  </a:cubicBezTo>
                  <a:cubicBezTo>
                    <a:pt x="23" y="35"/>
                    <a:pt x="23" y="35"/>
                    <a:pt x="23" y="35"/>
                  </a:cubicBezTo>
                  <a:cubicBezTo>
                    <a:pt x="23" y="26"/>
                    <a:pt x="30" y="19"/>
                    <a:pt x="38" y="19"/>
                  </a:cubicBezTo>
                  <a:cubicBezTo>
                    <a:pt x="301" y="19"/>
                    <a:pt x="301" y="19"/>
                    <a:pt x="301" y="19"/>
                  </a:cubicBezTo>
                  <a:cubicBezTo>
                    <a:pt x="309" y="19"/>
                    <a:pt x="316" y="26"/>
                    <a:pt x="316" y="35"/>
                  </a:cubicBezTo>
                  <a:lnTo>
                    <a:pt x="316" y="24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bevel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zh-CN" sz="1800" b="0" i="0" u="none" strike="noStrike" kern="1200" cap="none" spc="0" normalizeH="0" baseline="0" noProof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 panose="020F0502020204030204" pitchFamily="34" charset="0"/>
                <a:ea typeface="微软雅黑" panose="020B0503020204020204" pitchFamily="34" charset="-122"/>
                <a:cs typeface="+mn-cs"/>
                <a:sym typeface="宋体" panose="02010600030101010101" pitchFamily="2" charset="-122"/>
              </a:endParaRPr>
            </a:p>
          </p:txBody>
        </p:sp>
        <p:sp>
          <p:nvSpPr>
            <p:cNvPr id="20" name="Freeform 25">
              <a:extLst>
                <a:ext uri="{FF2B5EF4-FFF2-40B4-BE49-F238E27FC236}">
                  <a16:creationId xmlns:a16="http://schemas.microsoft.com/office/drawing/2014/main" id="{59F087C0-842E-A639-490E-37B33ECAB4E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6371" y="116382"/>
              <a:ext cx="87586" cy="85186"/>
            </a:xfrm>
            <a:custGeom>
              <a:avLst/>
              <a:gdLst>
                <a:gd name="T0" fmla="*/ 31 w 31"/>
                <a:gd name="T1" fmla="*/ 23 h 30"/>
                <a:gd name="T2" fmla="*/ 24 w 31"/>
                <a:gd name="T3" fmla="*/ 30 h 30"/>
                <a:gd name="T4" fmla="*/ 8 w 31"/>
                <a:gd name="T5" fmla="*/ 30 h 30"/>
                <a:gd name="T6" fmla="*/ 0 w 31"/>
                <a:gd name="T7" fmla="*/ 23 h 30"/>
                <a:gd name="T8" fmla="*/ 0 w 31"/>
                <a:gd name="T9" fmla="*/ 7 h 30"/>
                <a:gd name="T10" fmla="*/ 8 w 31"/>
                <a:gd name="T11" fmla="*/ 0 h 30"/>
                <a:gd name="T12" fmla="*/ 24 w 31"/>
                <a:gd name="T13" fmla="*/ 0 h 30"/>
                <a:gd name="T14" fmla="*/ 31 w 31"/>
                <a:gd name="T15" fmla="*/ 7 h 30"/>
                <a:gd name="T16" fmla="*/ 31 w 31"/>
                <a:gd name="T17" fmla="*/ 23 h 30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31"/>
                <a:gd name="T28" fmla="*/ 0 h 30"/>
                <a:gd name="T29" fmla="*/ 31 w 31"/>
                <a:gd name="T30" fmla="*/ 30 h 30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31" h="30">
                  <a:moveTo>
                    <a:pt x="31" y="23"/>
                  </a:moveTo>
                  <a:cubicBezTo>
                    <a:pt x="31" y="27"/>
                    <a:pt x="28" y="30"/>
                    <a:pt x="24" y="30"/>
                  </a:cubicBezTo>
                  <a:cubicBezTo>
                    <a:pt x="8" y="30"/>
                    <a:pt x="8" y="30"/>
                    <a:pt x="8" y="30"/>
                  </a:cubicBezTo>
                  <a:cubicBezTo>
                    <a:pt x="4" y="30"/>
                    <a:pt x="0" y="27"/>
                    <a:pt x="0" y="23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0" y="3"/>
                    <a:pt x="4" y="0"/>
                    <a:pt x="8" y="0"/>
                  </a:cubicBezTo>
                  <a:cubicBezTo>
                    <a:pt x="24" y="0"/>
                    <a:pt x="24" y="0"/>
                    <a:pt x="24" y="0"/>
                  </a:cubicBezTo>
                  <a:cubicBezTo>
                    <a:pt x="28" y="0"/>
                    <a:pt x="31" y="3"/>
                    <a:pt x="31" y="7"/>
                  </a:cubicBezTo>
                  <a:lnTo>
                    <a:pt x="31" y="2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bevel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zh-CN" sz="1800" b="0" i="0" u="none" strike="noStrike" kern="1200" cap="none" spc="0" normalizeH="0" baseline="0" noProof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 panose="020F0502020204030204" pitchFamily="34" charset="0"/>
                <a:ea typeface="微软雅黑" panose="020B0503020204020204" pitchFamily="34" charset="-122"/>
                <a:cs typeface="+mn-cs"/>
                <a:sym typeface="宋体" panose="02010600030101010101" pitchFamily="2" charset="-122"/>
              </a:endParaRPr>
            </a:p>
          </p:txBody>
        </p:sp>
        <p:sp>
          <p:nvSpPr>
            <p:cNvPr id="21" name="Freeform 26">
              <a:extLst>
                <a:ext uri="{FF2B5EF4-FFF2-40B4-BE49-F238E27FC236}">
                  <a16:creationId xmlns:a16="http://schemas.microsoft.com/office/drawing/2014/main" id="{16DA54DC-66B0-A798-8AE4-642BB1738A3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6371" y="274756"/>
              <a:ext cx="87586" cy="88786"/>
            </a:xfrm>
            <a:custGeom>
              <a:avLst/>
              <a:gdLst>
                <a:gd name="T0" fmla="*/ 31 w 31"/>
                <a:gd name="T1" fmla="*/ 24 h 31"/>
                <a:gd name="T2" fmla="*/ 24 w 31"/>
                <a:gd name="T3" fmla="*/ 31 h 31"/>
                <a:gd name="T4" fmla="*/ 8 w 31"/>
                <a:gd name="T5" fmla="*/ 31 h 31"/>
                <a:gd name="T6" fmla="*/ 0 w 31"/>
                <a:gd name="T7" fmla="*/ 24 h 31"/>
                <a:gd name="T8" fmla="*/ 0 w 31"/>
                <a:gd name="T9" fmla="*/ 8 h 31"/>
                <a:gd name="T10" fmla="*/ 8 w 31"/>
                <a:gd name="T11" fmla="*/ 0 h 31"/>
                <a:gd name="T12" fmla="*/ 24 w 31"/>
                <a:gd name="T13" fmla="*/ 0 h 31"/>
                <a:gd name="T14" fmla="*/ 31 w 31"/>
                <a:gd name="T15" fmla="*/ 8 h 31"/>
                <a:gd name="T16" fmla="*/ 31 w 31"/>
                <a:gd name="T17" fmla="*/ 24 h 31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31"/>
                <a:gd name="T28" fmla="*/ 0 h 31"/>
                <a:gd name="T29" fmla="*/ 31 w 31"/>
                <a:gd name="T30" fmla="*/ 31 h 31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31" h="31">
                  <a:moveTo>
                    <a:pt x="31" y="24"/>
                  </a:moveTo>
                  <a:cubicBezTo>
                    <a:pt x="31" y="28"/>
                    <a:pt x="28" y="31"/>
                    <a:pt x="24" y="31"/>
                  </a:cubicBezTo>
                  <a:cubicBezTo>
                    <a:pt x="8" y="31"/>
                    <a:pt x="8" y="31"/>
                    <a:pt x="8" y="31"/>
                  </a:cubicBezTo>
                  <a:cubicBezTo>
                    <a:pt x="4" y="31"/>
                    <a:pt x="0" y="28"/>
                    <a:pt x="0" y="24"/>
                  </a:cubicBezTo>
                  <a:cubicBezTo>
                    <a:pt x="0" y="8"/>
                    <a:pt x="0" y="8"/>
                    <a:pt x="0" y="8"/>
                  </a:cubicBezTo>
                  <a:cubicBezTo>
                    <a:pt x="0" y="4"/>
                    <a:pt x="4" y="0"/>
                    <a:pt x="8" y="0"/>
                  </a:cubicBezTo>
                  <a:cubicBezTo>
                    <a:pt x="24" y="0"/>
                    <a:pt x="24" y="0"/>
                    <a:pt x="24" y="0"/>
                  </a:cubicBezTo>
                  <a:cubicBezTo>
                    <a:pt x="28" y="0"/>
                    <a:pt x="31" y="4"/>
                    <a:pt x="31" y="8"/>
                  </a:cubicBezTo>
                  <a:lnTo>
                    <a:pt x="31" y="2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bevel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zh-CN" sz="1800" b="0" i="0" u="none" strike="noStrike" kern="1200" cap="none" spc="0" normalizeH="0" baseline="0" noProof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 panose="020F0502020204030204" pitchFamily="34" charset="0"/>
                <a:ea typeface="微软雅黑" panose="020B0503020204020204" pitchFamily="34" charset="-122"/>
                <a:cs typeface="+mn-cs"/>
                <a:sym typeface="宋体" panose="02010600030101010101" pitchFamily="2" charset="-122"/>
              </a:endParaRPr>
            </a:p>
          </p:txBody>
        </p:sp>
        <p:sp>
          <p:nvSpPr>
            <p:cNvPr id="22" name="Freeform 27">
              <a:extLst>
                <a:ext uri="{FF2B5EF4-FFF2-40B4-BE49-F238E27FC236}">
                  <a16:creationId xmlns:a16="http://schemas.microsoft.com/office/drawing/2014/main" id="{E6429012-747F-9029-BB8A-2C731477490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6744" y="116382"/>
              <a:ext cx="87586" cy="85186"/>
            </a:xfrm>
            <a:custGeom>
              <a:avLst/>
              <a:gdLst>
                <a:gd name="T0" fmla="*/ 31 w 31"/>
                <a:gd name="T1" fmla="*/ 23 h 30"/>
                <a:gd name="T2" fmla="*/ 24 w 31"/>
                <a:gd name="T3" fmla="*/ 30 h 30"/>
                <a:gd name="T4" fmla="*/ 8 w 31"/>
                <a:gd name="T5" fmla="*/ 30 h 30"/>
                <a:gd name="T6" fmla="*/ 0 w 31"/>
                <a:gd name="T7" fmla="*/ 23 h 30"/>
                <a:gd name="T8" fmla="*/ 0 w 31"/>
                <a:gd name="T9" fmla="*/ 7 h 30"/>
                <a:gd name="T10" fmla="*/ 8 w 31"/>
                <a:gd name="T11" fmla="*/ 0 h 30"/>
                <a:gd name="T12" fmla="*/ 24 w 31"/>
                <a:gd name="T13" fmla="*/ 0 h 30"/>
                <a:gd name="T14" fmla="*/ 31 w 31"/>
                <a:gd name="T15" fmla="*/ 7 h 30"/>
                <a:gd name="T16" fmla="*/ 31 w 31"/>
                <a:gd name="T17" fmla="*/ 23 h 30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31"/>
                <a:gd name="T28" fmla="*/ 0 h 30"/>
                <a:gd name="T29" fmla="*/ 31 w 31"/>
                <a:gd name="T30" fmla="*/ 30 h 30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31" h="30">
                  <a:moveTo>
                    <a:pt x="31" y="23"/>
                  </a:moveTo>
                  <a:cubicBezTo>
                    <a:pt x="31" y="27"/>
                    <a:pt x="28" y="30"/>
                    <a:pt x="24" y="30"/>
                  </a:cubicBezTo>
                  <a:cubicBezTo>
                    <a:pt x="8" y="30"/>
                    <a:pt x="8" y="30"/>
                    <a:pt x="8" y="30"/>
                  </a:cubicBezTo>
                  <a:cubicBezTo>
                    <a:pt x="4" y="30"/>
                    <a:pt x="0" y="27"/>
                    <a:pt x="0" y="23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0" y="3"/>
                    <a:pt x="4" y="0"/>
                    <a:pt x="8" y="0"/>
                  </a:cubicBezTo>
                  <a:cubicBezTo>
                    <a:pt x="24" y="0"/>
                    <a:pt x="24" y="0"/>
                    <a:pt x="24" y="0"/>
                  </a:cubicBezTo>
                  <a:cubicBezTo>
                    <a:pt x="28" y="0"/>
                    <a:pt x="31" y="3"/>
                    <a:pt x="31" y="7"/>
                  </a:cubicBezTo>
                  <a:lnTo>
                    <a:pt x="31" y="2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bevel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zh-CN" sz="1800" b="0" i="0" u="none" strike="noStrike" kern="1200" cap="none" spc="0" normalizeH="0" baseline="0" noProof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 panose="020F0502020204030204" pitchFamily="34" charset="0"/>
                <a:ea typeface="微软雅黑" panose="020B0503020204020204" pitchFamily="34" charset="-122"/>
                <a:cs typeface="+mn-cs"/>
                <a:sym typeface="宋体" panose="02010600030101010101" pitchFamily="2" charset="-122"/>
              </a:endParaRPr>
            </a:p>
          </p:txBody>
        </p:sp>
        <p:sp>
          <p:nvSpPr>
            <p:cNvPr id="23" name="Freeform 28">
              <a:extLst>
                <a:ext uri="{FF2B5EF4-FFF2-40B4-BE49-F238E27FC236}">
                  <a16:creationId xmlns:a16="http://schemas.microsoft.com/office/drawing/2014/main" id="{879C25E2-714F-3416-0177-C171B2235F6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6744" y="274756"/>
              <a:ext cx="87586" cy="88786"/>
            </a:xfrm>
            <a:custGeom>
              <a:avLst/>
              <a:gdLst>
                <a:gd name="T0" fmla="*/ 31 w 31"/>
                <a:gd name="T1" fmla="*/ 24 h 31"/>
                <a:gd name="T2" fmla="*/ 24 w 31"/>
                <a:gd name="T3" fmla="*/ 31 h 31"/>
                <a:gd name="T4" fmla="*/ 8 w 31"/>
                <a:gd name="T5" fmla="*/ 31 h 31"/>
                <a:gd name="T6" fmla="*/ 0 w 31"/>
                <a:gd name="T7" fmla="*/ 24 h 31"/>
                <a:gd name="T8" fmla="*/ 0 w 31"/>
                <a:gd name="T9" fmla="*/ 8 h 31"/>
                <a:gd name="T10" fmla="*/ 8 w 31"/>
                <a:gd name="T11" fmla="*/ 0 h 31"/>
                <a:gd name="T12" fmla="*/ 24 w 31"/>
                <a:gd name="T13" fmla="*/ 0 h 31"/>
                <a:gd name="T14" fmla="*/ 31 w 31"/>
                <a:gd name="T15" fmla="*/ 8 h 31"/>
                <a:gd name="T16" fmla="*/ 31 w 31"/>
                <a:gd name="T17" fmla="*/ 24 h 31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31"/>
                <a:gd name="T28" fmla="*/ 0 h 31"/>
                <a:gd name="T29" fmla="*/ 31 w 31"/>
                <a:gd name="T30" fmla="*/ 31 h 31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31" h="31">
                  <a:moveTo>
                    <a:pt x="31" y="24"/>
                  </a:moveTo>
                  <a:cubicBezTo>
                    <a:pt x="31" y="28"/>
                    <a:pt x="28" y="31"/>
                    <a:pt x="24" y="31"/>
                  </a:cubicBezTo>
                  <a:cubicBezTo>
                    <a:pt x="8" y="31"/>
                    <a:pt x="8" y="31"/>
                    <a:pt x="8" y="31"/>
                  </a:cubicBezTo>
                  <a:cubicBezTo>
                    <a:pt x="4" y="31"/>
                    <a:pt x="0" y="28"/>
                    <a:pt x="0" y="24"/>
                  </a:cubicBezTo>
                  <a:cubicBezTo>
                    <a:pt x="0" y="8"/>
                    <a:pt x="0" y="8"/>
                    <a:pt x="0" y="8"/>
                  </a:cubicBezTo>
                  <a:cubicBezTo>
                    <a:pt x="0" y="4"/>
                    <a:pt x="4" y="0"/>
                    <a:pt x="8" y="0"/>
                  </a:cubicBezTo>
                  <a:cubicBezTo>
                    <a:pt x="24" y="0"/>
                    <a:pt x="24" y="0"/>
                    <a:pt x="24" y="0"/>
                  </a:cubicBezTo>
                  <a:cubicBezTo>
                    <a:pt x="28" y="0"/>
                    <a:pt x="31" y="4"/>
                    <a:pt x="31" y="8"/>
                  </a:cubicBezTo>
                  <a:lnTo>
                    <a:pt x="31" y="2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bevel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zh-CN" sz="1800" b="0" i="0" u="none" strike="noStrike" kern="1200" cap="none" spc="0" normalizeH="0" baseline="0" noProof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 panose="020F0502020204030204" pitchFamily="34" charset="0"/>
                <a:ea typeface="微软雅黑" panose="020B0503020204020204" pitchFamily="34" charset="-122"/>
                <a:cs typeface="+mn-cs"/>
                <a:sym typeface="宋体" panose="02010600030101010101" pitchFamily="2" charset="-122"/>
              </a:endParaRPr>
            </a:p>
          </p:txBody>
        </p:sp>
        <p:sp>
          <p:nvSpPr>
            <p:cNvPr id="24" name="Freeform 29">
              <a:extLst>
                <a:ext uri="{FF2B5EF4-FFF2-40B4-BE49-F238E27FC236}">
                  <a16:creationId xmlns:a16="http://schemas.microsoft.com/office/drawing/2014/main" id="{4B35CFD7-5269-55D3-183F-BDC4DE48840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6744" y="436730"/>
              <a:ext cx="87586" cy="85186"/>
            </a:xfrm>
            <a:custGeom>
              <a:avLst/>
              <a:gdLst>
                <a:gd name="T0" fmla="*/ 31 w 31"/>
                <a:gd name="T1" fmla="*/ 23 h 30"/>
                <a:gd name="T2" fmla="*/ 24 w 31"/>
                <a:gd name="T3" fmla="*/ 30 h 30"/>
                <a:gd name="T4" fmla="*/ 8 w 31"/>
                <a:gd name="T5" fmla="*/ 30 h 30"/>
                <a:gd name="T6" fmla="*/ 0 w 31"/>
                <a:gd name="T7" fmla="*/ 23 h 30"/>
                <a:gd name="T8" fmla="*/ 0 w 31"/>
                <a:gd name="T9" fmla="*/ 7 h 30"/>
                <a:gd name="T10" fmla="*/ 8 w 31"/>
                <a:gd name="T11" fmla="*/ 0 h 30"/>
                <a:gd name="T12" fmla="*/ 24 w 31"/>
                <a:gd name="T13" fmla="*/ 0 h 30"/>
                <a:gd name="T14" fmla="*/ 31 w 31"/>
                <a:gd name="T15" fmla="*/ 7 h 30"/>
                <a:gd name="T16" fmla="*/ 31 w 31"/>
                <a:gd name="T17" fmla="*/ 23 h 30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31"/>
                <a:gd name="T28" fmla="*/ 0 h 30"/>
                <a:gd name="T29" fmla="*/ 31 w 31"/>
                <a:gd name="T30" fmla="*/ 30 h 30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31" h="30">
                  <a:moveTo>
                    <a:pt x="31" y="23"/>
                  </a:moveTo>
                  <a:cubicBezTo>
                    <a:pt x="31" y="27"/>
                    <a:pt x="28" y="30"/>
                    <a:pt x="24" y="30"/>
                  </a:cubicBezTo>
                  <a:cubicBezTo>
                    <a:pt x="8" y="30"/>
                    <a:pt x="8" y="30"/>
                    <a:pt x="8" y="30"/>
                  </a:cubicBezTo>
                  <a:cubicBezTo>
                    <a:pt x="4" y="30"/>
                    <a:pt x="0" y="27"/>
                    <a:pt x="0" y="23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0" y="3"/>
                    <a:pt x="4" y="0"/>
                    <a:pt x="8" y="0"/>
                  </a:cubicBezTo>
                  <a:cubicBezTo>
                    <a:pt x="24" y="0"/>
                    <a:pt x="24" y="0"/>
                    <a:pt x="24" y="0"/>
                  </a:cubicBezTo>
                  <a:cubicBezTo>
                    <a:pt x="28" y="0"/>
                    <a:pt x="31" y="3"/>
                    <a:pt x="31" y="7"/>
                  </a:cubicBezTo>
                  <a:lnTo>
                    <a:pt x="31" y="2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bevel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zh-CN" sz="1800" b="0" i="0" u="none" strike="noStrike" kern="1200" cap="none" spc="0" normalizeH="0" baseline="0" noProof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 panose="020F0502020204030204" pitchFamily="34" charset="0"/>
                <a:ea typeface="微软雅黑" panose="020B0503020204020204" pitchFamily="34" charset="-122"/>
                <a:cs typeface="+mn-cs"/>
                <a:sym typeface="宋体" panose="02010600030101010101" pitchFamily="2" charset="-122"/>
              </a:endParaRPr>
            </a:p>
          </p:txBody>
        </p:sp>
        <p:sp>
          <p:nvSpPr>
            <p:cNvPr id="25" name="Freeform 30">
              <a:extLst>
                <a:ext uri="{FF2B5EF4-FFF2-40B4-BE49-F238E27FC236}">
                  <a16:creationId xmlns:a16="http://schemas.microsoft.com/office/drawing/2014/main" id="{BED9CF6D-BED0-8A95-BB97-3A5486158AA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9516" y="116382"/>
              <a:ext cx="83987" cy="85186"/>
            </a:xfrm>
            <a:custGeom>
              <a:avLst/>
              <a:gdLst>
                <a:gd name="T0" fmla="*/ 30 w 30"/>
                <a:gd name="T1" fmla="*/ 23 h 30"/>
                <a:gd name="T2" fmla="*/ 23 w 30"/>
                <a:gd name="T3" fmla="*/ 30 h 30"/>
                <a:gd name="T4" fmla="*/ 7 w 30"/>
                <a:gd name="T5" fmla="*/ 30 h 30"/>
                <a:gd name="T6" fmla="*/ 0 w 30"/>
                <a:gd name="T7" fmla="*/ 23 h 30"/>
                <a:gd name="T8" fmla="*/ 0 w 30"/>
                <a:gd name="T9" fmla="*/ 7 h 30"/>
                <a:gd name="T10" fmla="*/ 7 w 30"/>
                <a:gd name="T11" fmla="*/ 0 h 30"/>
                <a:gd name="T12" fmla="*/ 23 w 30"/>
                <a:gd name="T13" fmla="*/ 0 h 30"/>
                <a:gd name="T14" fmla="*/ 30 w 30"/>
                <a:gd name="T15" fmla="*/ 7 h 30"/>
                <a:gd name="T16" fmla="*/ 30 w 30"/>
                <a:gd name="T17" fmla="*/ 23 h 30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30"/>
                <a:gd name="T28" fmla="*/ 0 h 30"/>
                <a:gd name="T29" fmla="*/ 30 w 30"/>
                <a:gd name="T30" fmla="*/ 30 h 30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30" h="30">
                  <a:moveTo>
                    <a:pt x="30" y="23"/>
                  </a:moveTo>
                  <a:cubicBezTo>
                    <a:pt x="30" y="27"/>
                    <a:pt x="27" y="30"/>
                    <a:pt x="23" y="30"/>
                  </a:cubicBezTo>
                  <a:cubicBezTo>
                    <a:pt x="7" y="30"/>
                    <a:pt x="7" y="30"/>
                    <a:pt x="7" y="30"/>
                  </a:cubicBezTo>
                  <a:cubicBezTo>
                    <a:pt x="3" y="30"/>
                    <a:pt x="0" y="27"/>
                    <a:pt x="0" y="23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0" y="3"/>
                    <a:pt x="3" y="0"/>
                    <a:pt x="7" y="0"/>
                  </a:cubicBezTo>
                  <a:cubicBezTo>
                    <a:pt x="23" y="0"/>
                    <a:pt x="23" y="0"/>
                    <a:pt x="23" y="0"/>
                  </a:cubicBezTo>
                  <a:cubicBezTo>
                    <a:pt x="27" y="0"/>
                    <a:pt x="30" y="3"/>
                    <a:pt x="30" y="7"/>
                  </a:cubicBezTo>
                  <a:lnTo>
                    <a:pt x="30" y="2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bevel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zh-CN" sz="1800" b="0" i="0" u="none" strike="noStrike" kern="1200" cap="none" spc="0" normalizeH="0" baseline="0" noProof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 panose="020F0502020204030204" pitchFamily="34" charset="0"/>
                <a:ea typeface="微软雅黑" panose="020B0503020204020204" pitchFamily="34" charset="-122"/>
                <a:cs typeface="+mn-cs"/>
                <a:sym typeface="宋体" panose="02010600030101010101" pitchFamily="2" charset="-122"/>
              </a:endParaRPr>
            </a:p>
          </p:txBody>
        </p:sp>
        <p:sp>
          <p:nvSpPr>
            <p:cNvPr id="26" name="Freeform 31">
              <a:extLst>
                <a:ext uri="{FF2B5EF4-FFF2-40B4-BE49-F238E27FC236}">
                  <a16:creationId xmlns:a16="http://schemas.microsoft.com/office/drawing/2014/main" id="{74A73CB8-C9BF-A1A8-B2CF-A4A9B84017F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9516" y="274756"/>
              <a:ext cx="83987" cy="88786"/>
            </a:xfrm>
            <a:custGeom>
              <a:avLst/>
              <a:gdLst>
                <a:gd name="T0" fmla="*/ 30 w 30"/>
                <a:gd name="T1" fmla="*/ 24 h 31"/>
                <a:gd name="T2" fmla="*/ 23 w 30"/>
                <a:gd name="T3" fmla="*/ 31 h 31"/>
                <a:gd name="T4" fmla="*/ 7 w 30"/>
                <a:gd name="T5" fmla="*/ 31 h 31"/>
                <a:gd name="T6" fmla="*/ 0 w 30"/>
                <a:gd name="T7" fmla="*/ 24 h 31"/>
                <a:gd name="T8" fmla="*/ 0 w 30"/>
                <a:gd name="T9" fmla="*/ 8 h 31"/>
                <a:gd name="T10" fmla="*/ 7 w 30"/>
                <a:gd name="T11" fmla="*/ 0 h 31"/>
                <a:gd name="T12" fmla="*/ 23 w 30"/>
                <a:gd name="T13" fmla="*/ 0 h 31"/>
                <a:gd name="T14" fmla="*/ 30 w 30"/>
                <a:gd name="T15" fmla="*/ 8 h 31"/>
                <a:gd name="T16" fmla="*/ 30 w 30"/>
                <a:gd name="T17" fmla="*/ 24 h 31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30"/>
                <a:gd name="T28" fmla="*/ 0 h 31"/>
                <a:gd name="T29" fmla="*/ 30 w 30"/>
                <a:gd name="T30" fmla="*/ 31 h 31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30" h="31">
                  <a:moveTo>
                    <a:pt x="30" y="24"/>
                  </a:moveTo>
                  <a:cubicBezTo>
                    <a:pt x="30" y="28"/>
                    <a:pt x="27" y="31"/>
                    <a:pt x="23" y="31"/>
                  </a:cubicBezTo>
                  <a:cubicBezTo>
                    <a:pt x="7" y="31"/>
                    <a:pt x="7" y="31"/>
                    <a:pt x="7" y="31"/>
                  </a:cubicBezTo>
                  <a:cubicBezTo>
                    <a:pt x="3" y="31"/>
                    <a:pt x="0" y="28"/>
                    <a:pt x="0" y="24"/>
                  </a:cubicBezTo>
                  <a:cubicBezTo>
                    <a:pt x="0" y="8"/>
                    <a:pt x="0" y="8"/>
                    <a:pt x="0" y="8"/>
                  </a:cubicBezTo>
                  <a:cubicBezTo>
                    <a:pt x="0" y="4"/>
                    <a:pt x="3" y="0"/>
                    <a:pt x="7" y="0"/>
                  </a:cubicBezTo>
                  <a:cubicBezTo>
                    <a:pt x="23" y="0"/>
                    <a:pt x="23" y="0"/>
                    <a:pt x="23" y="0"/>
                  </a:cubicBezTo>
                  <a:cubicBezTo>
                    <a:pt x="27" y="0"/>
                    <a:pt x="30" y="4"/>
                    <a:pt x="30" y="8"/>
                  </a:cubicBezTo>
                  <a:lnTo>
                    <a:pt x="30" y="2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bevel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zh-CN" sz="1800" b="0" i="0" u="none" strike="noStrike" kern="1200" cap="none" spc="0" normalizeH="0" baseline="0" noProof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 panose="020F0502020204030204" pitchFamily="34" charset="0"/>
                <a:ea typeface="微软雅黑" panose="020B0503020204020204" pitchFamily="34" charset="-122"/>
                <a:cs typeface="+mn-cs"/>
                <a:sym typeface="宋体" panose="02010600030101010101" pitchFamily="2" charset="-122"/>
              </a:endParaRPr>
            </a:p>
          </p:txBody>
        </p:sp>
        <p:sp>
          <p:nvSpPr>
            <p:cNvPr id="27" name="Freeform 32">
              <a:extLst>
                <a:ext uri="{FF2B5EF4-FFF2-40B4-BE49-F238E27FC236}">
                  <a16:creationId xmlns:a16="http://schemas.microsoft.com/office/drawing/2014/main" id="{36D3CD9D-AC8C-EB4A-E701-06BBC001D7A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88689" y="116382"/>
              <a:ext cx="85186" cy="85186"/>
            </a:xfrm>
            <a:custGeom>
              <a:avLst/>
              <a:gdLst>
                <a:gd name="T0" fmla="*/ 30 w 30"/>
                <a:gd name="T1" fmla="*/ 23 h 30"/>
                <a:gd name="T2" fmla="*/ 23 w 30"/>
                <a:gd name="T3" fmla="*/ 30 h 30"/>
                <a:gd name="T4" fmla="*/ 7 w 30"/>
                <a:gd name="T5" fmla="*/ 30 h 30"/>
                <a:gd name="T6" fmla="*/ 0 w 30"/>
                <a:gd name="T7" fmla="*/ 23 h 30"/>
                <a:gd name="T8" fmla="*/ 0 w 30"/>
                <a:gd name="T9" fmla="*/ 7 h 30"/>
                <a:gd name="T10" fmla="*/ 7 w 30"/>
                <a:gd name="T11" fmla="*/ 0 h 30"/>
                <a:gd name="T12" fmla="*/ 23 w 30"/>
                <a:gd name="T13" fmla="*/ 0 h 30"/>
                <a:gd name="T14" fmla="*/ 30 w 30"/>
                <a:gd name="T15" fmla="*/ 7 h 30"/>
                <a:gd name="T16" fmla="*/ 30 w 30"/>
                <a:gd name="T17" fmla="*/ 23 h 30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30"/>
                <a:gd name="T28" fmla="*/ 0 h 30"/>
                <a:gd name="T29" fmla="*/ 30 w 30"/>
                <a:gd name="T30" fmla="*/ 30 h 30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30" h="30">
                  <a:moveTo>
                    <a:pt x="30" y="23"/>
                  </a:moveTo>
                  <a:cubicBezTo>
                    <a:pt x="30" y="27"/>
                    <a:pt x="27" y="30"/>
                    <a:pt x="23" y="30"/>
                  </a:cubicBezTo>
                  <a:cubicBezTo>
                    <a:pt x="7" y="30"/>
                    <a:pt x="7" y="30"/>
                    <a:pt x="7" y="30"/>
                  </a:cubicBezTo>
                  <a:cubicBezTo>
                    <a:pt x="3" y="30"/>
                    <a:pt x="0" y="27"/>
                    <a:pt x="0" y="23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0" y="3"/>
                    <a:pt x="3" y="0"/>
                    <a:pt x="7" y="0"/>
                  </a:cubicBezTo>
                  <a:cubicBezTo>
                    <a:pt x="23" y="0"/>
                    <a:pt x="23" y="0"/>
                    <a:pt x="23" y="0"/>
                  </a:cubicBezTo>
                  <a:cubicBezTo>
                    <a:pt x="27" y="0"/>
                    <a:pt x="30" y="3"/>
                    <a:pt x="30" y="7"/>
                  </a:cubicBezTo>
                  <a:lnTo>
                    <a:pt x="30" y="2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bevel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zh-CN" sz="1800" b="0" i="0" u="none" strike="noStrike" kern="1200" cap="none" spc="0" normalizeH="0" baseline="0" noProof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 panose="020F0502020204030204" pitchFamily="34" charset="0"/>
                <a:ea typeface="微软雅黑" panose="020B0503020204020204" pitchFamily="34" charset="-122"/>
                <a:cs typeface="+mn-cs"/>
                <a:sym typeface="宋体" panose="02010600030101010101" pitchFamily="2" charset="-122"/>
              </a:endParaRPr>
            </a:p>
          </p:txBody>
        </p:sp>
        <p:sp>
          <p:nvSpPr>
            <p:cNvPr id="28" name="Freeform 33">
              <a:extLst>
                <a:ext uri="{FF2B5EF4-FFF2-40B4-BE49-F238E27FC236}">
                  <a16:creationId xmlns:a16="http://schemas.microsoft.com/office/drawing/2014/main" id="{E60FB2C9-8CD1-C67F-309C-B67BD5230BD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88689" y="274756"/>
              <a:ext cx="85186" cy="88786"/>
            </a:xfrm>
            <a:custGeom>
              <a:avLst/>
              <a:gdLst>
                <a:gd name="T0" fmla="*/ 30 w 30"/>
                <a:gd name="T1" fmla="*/ 24 h 31"/>
                <a:gd name="T2" fmla="*/ 23 w 30"/>
                <a:gd name="T3" fmla="*/ 31 h 31"/>
                <a:gd name="T4" fmla="*/ 7 w 30"/>
                <a:gd name="T5" fmla="*/ 31 h 31"/>
                <a:gd name="T6" fmla="*/ 0 w 30"/>
                <a:gd name="T7" fmla="*/ 24 h 31"/>
                <a:gd name="T8" fmla="*/ 0 w 30"/>
                <a:gd name="T9" fmla="*/ 8 h 31"/>
                <a:gd name="T10" fmla="*/ 7 w 30"/>
                <a:gd name="T11" fmla="*/ 0 h 31"/>
                <a:gd name="T12" fmla="*/ 23 w 30"/>
                <a:gd name="T13" fmla="*/ 0 h 31"/>
                <a:gd name="T14" fmla="*/ 30 w 30"/>
                <a:gd name="T15" fmla="*/ 8 h 31"/>
                <a:gd name="T16" fmla="*/ 30 w 30"/>
                <a:gd name="T17" fmla="*/ 24 h 31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30"/>
                <a:gd name="T28" fmla="*/ 0 h 31"/>
                <a:gd name="T29" fmla="*/ 30 w 30"/>
                <a:gd name="T30" fmla="*/ 31 h 31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30" h="31">
                  <a:moveTo>
                    <a:pt x="30" y="24"/>
                  </a:moveTo>
                  <a:cubicBezTo>
                    <a:pt x="30" y="28"/>
                    <a:pt x="27" y="31"/>
                    <a:pt x="23" y="31"/>
                  </a:cubicBezTo>
                  <a:cubicBezTo>
                    <a:pt x="7" y="31"/>
                    <a:pt x="7" y="31"/>
                    <a:pt x="7" y="31"/>
                  </a:cubicBezTo>
                  <a:cubicBezTo>
                    <a:pt x="3" y="31"/>
                    <a:pt x="0" y="28"/>
                    <a:pt x="0" y="24"/>
                  </a:cubicBezTo>
                  <a:cubicBezTo>
                    <a:pt x="0" y="8"/>
                    <a:pt x="0" y="8"/>
                    <a:pt x="0" y="8"/>
                  </a:cubicBezTo>
                  <a:cubicBezTo>
                    <a:pt x="0" y="4"/>
                    <a:pt x="3" y="0"/>
                    <a:pt x="7" y="0"/>
                  </a:cubicBezTo>
                  <a:cubicBezTo>
                    <a:pt x="23" y="0"/>
                    <a:pt x="23" y="0"/>
                    <a:pt x="23" y="0"/>
                  </a:cubicBezTo>
                  <a:cubicBezTo>
                    <a:pt x="27" y="0"/>
                    <a:pt x="30" y="4"/>
                    <a:pt x="30" y="8"/>
                  </a:cubicBezTo>
                  <a:lnTo>
                    <a:pt x="30" y="2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bevel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zh-CN" sz="1800" b="0" i="0" u="none" strike="noStrike" kern="1200" cap="none" spc="0" normalizeH="0" baseline="0" noProof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 panose="020F0502020204030204" pitchFamily="34" charset="0"/>
                <a:ea typeface="微软雅黑" panose="020B0503020204020204" pitchFamily="34" charset="-122"/>
                <a:cs typeface="+mn-cs"/>
                <a:sym typeface="宋体" panose="02010600030101010101" pitchFamily="2" charset="-122"/>
              </a:endParaRPr>
            </a:p>
          </p:txBody>
        </p:sp>
        <p:sp>
          <p:nvSpPr>
            <p:cNvPr id="29" name="Freeform 34">
              <a:extLst>
                <a:ext uri="{FF2B5EF4-FFF2-40B4-BE49-F238E27FC236}">
                  <a16:creationId xmlns:a16="http://schemas.microsoft.com/office/drawing/2014/main" id="{1FEC72C5-4A8B-A3C8-16B3-EEDDAFE82AF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6371" y="436730"/>
              <a:ext cx="87586" cy="85186"/>
            </a:xfrm>
            <a:custGeom>
              <a:avLst/>
              <a:gdLst>
                <a:gd name="T0" fmla="*/ 31 w 31"/>
                <a:gd name="T1" fmla="*/ 23 h 30"/>
                <a:gd name="T2" fmla="*/ 24 w 31"/>
                <a:gd name="T3" fmla="*/ 30 h 30"/>
                <a:gd name="T4" fmla="*/ 8 w 31"/>
                <a:gd name="T5" fmla="*/ 30 h 30"/>
                <a:gd name="T6" fmla="*/ 0 w 31"/>
                <a:gd name="T7" fmla="*/ 23 h 30"/>
                <a:gd name="T8" fmla="*/ 0 w 31"/>
                <a:gd name="T9" fmla="*/ 7 h 30"/>
                <a:gd name="T10" fmla="*/ 8 w 31"/>
                <a:gd name="T11" fmla="*/ 0 h 30"/>
                <a:gd name="T12" fmla="*/ 24 w 31"/>
                <a:gd name="T13" fmla="*/ 0 h 30"/>
                <a:gd name="T14" fmla="*/ 31 w 31"/>
                <a:gd name="T15" fmla="*/ 7 h 30"/>
                <a:gd name="T16" fmla="*/ 31 w 31"/>
                <a:gd name="T17" fmla="*/ 23 h 30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31"/>
                <a:gd name="T28" fmla="*/ 0 h 30"/>
                <a:gd name="T29" fmla="*/ 31 w 31"/>
                <a:gd name="T30" fmla="*/ 30 h 30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31" h="30">
                  <a:moveTo>
                    <a:pt x="31" y="23"/>
                  </a:moveTo>
                  <a:cubicBezTo>
                    <a:pt x="31" y="27"/>
                    <a:pt x="28" y="30"/>
                    <a:pt x="24" y="30"/>
                  </a:cubicBezTo>
                  <a:cubicBezTo>
                    <a:pt x="8" y="30"/>
                    <a:pt x="8" y="30"/>
                    <a:pt x="8" y="30"/>
                  </a:cubicBezTo>
                  <a:cubicBezTo>
                    <a:pt x="4" y="30"/>
                    <a:pt x="0" y="27"/>
                    <a:pt x="0" y="23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0" y="3"/>
                    <a:pt x="4" y="0"/>
                    <a:pt x="8" y="0"/>
                  </a:cubicBezTo>
                  <a:cubicBezTo>
                    <a:pt x="24" y="0"/>
                    <a:pt x="24" y="0"/>
                    <a:pt x="24" y="0"/>
                  </a:cubicBezTo>
                  <a:cubicBezTo>
                    <a:pt x="28" y="0"/>
                    <a:pt x="31" y="3"/>
                    <a:pt x="31" y="7"/>
                  </a:cubicBezTo>
                  <a:lnTo>
                    <a:pt x="31" y="2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bevel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zh-CN" sz="1800" b="0" i="0" u="none" strike="noStrike" kern="1200" cap="none" spc="0" normalizeH="0" baseline="0" noProof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 panose="020F0502020204030204" pitchFamily="34" charset="0"/>
                <a:ea typeface="微软雅黑" panose="020B0503020204020204" pitchFamily="34" charset="-122"/>
                <a:cs typeface="+mn-cs"/>
                <a:sym typeface="宋体" panose="02010600030101010101" pitchFamily="2" charset="-122"/>
              </a:endParaRPr>
            </a:p>
          </p:txBody>
        </p:sp>
      </p:grpSp>
      <p:sp>
        <p:nvSpPr>
          <p:cNvPr id="30" name="Freeform 84">
            <a:extLst>
              <a:ext uri="{FF2B5EF4-FFF2-40B4-BE49-F238E27FC236}">
                <a16:creationId xmlns:a16="http://schemas.microsoft.com/office/drawing/2014/main" id="{6797AD06-53C4-8BC3-1136-48D01A5E6ADD}"/>
              </a:ext>
            </a:extLst>
          </p:cNvPr>
          <p:cNvSpPr>
            <a:spLocks noChangeAspect="1" noEditPoints="1" noChangeArrowheads="1"/>
          </p:cNvSpPr>
          <p:nvPr/>
        </p:nvSpPr>
        <p:spPr bwMode="auto">
          <a:xfrm>
            <a:off x="7253802" y="3645601"/>
            <a:ext cx="333822" cy="333006"/>
          </a:xfrm>
          <a:custGeom>
            <a:avLst/>
            <a:gdLst>
              <a:gd name="T0" fmla="*/ 170 w 170"/>
              <a:gd name="T1" fmla="*/ 0 h 168"/>
              <a:gd name="T2" fmla="*/ 162 w 170"/>
              <a:gd name="T3" fmla="*/ 16 h 168"/>
              <a:gd name="T4" fmla="*/ 170 w 170"/>
              <a:gd name="T5" fmla="*/ 103 h 168"/>
              <a:gd name="T6" fmla="*/ 93 w 170"/>
              <a:gd name="T7" fmla="*/ 119 h 168"/>
              <a:gd name="T8" fmla="*/ 128 w 170"/>
              <a:gd name="T9" fmla="*/ 152 h 168"/>
              <a:gd name="T10" fmla="*/ 42 w 170"/>
              <a:gd name="T11" fmla="*/ 168 h 168"/>
              <a:gd name="T12" fmla="*/ 77 w 170"/>
              <a:gd name="T13" fmla="*/ 152 h 168"/>
              <a:gd name="T14" fmla="*/ 0 w 170"/>
              <a:gd name="T15" fmla="*/ 119 h 168"/>
              <a:gd name="T16" fmla="*/ 6 w 170"/>
              <a:gd name="T17" fmla="*/ 103 h 168"/>
              <a:gd name="T18" fmla="*/ 0 w 170"/>
              <a:gd name="T19" fmla="*/ 16 h 168"/>
              <a:gd name="T20" fmla="*/ 0 w 170"/>
              <a:gd name="T21" fmla="*/ 0 h 168"/>
              <a:gd name="T22" fmla="*/ 122 w 170"/>
              <a:gd name="T23" fmla="*/ 40 h 168"/>
              <a:gd name="T24" fmla="*/ 115 w 170"/>
              <a:gd name="T25" fmla="*/ 44 h 168"/>
              <a:gd name="T26" fmla="*/ 75 w 170"/>
              <a:gd name="T27" fmla="*/ 52 h 168"/>
              <a:gd name="T28" fmla="*/ 73 w 170"/>
              <a:gd name="T29" fmla="*/ 50 h 168"/>
              <a:gd name="T30" fmla="*/ 50 w 170"/>
              <a:gd name="T31" fmla="*/ 67 h 168"/>
              <a:gd name="T32" fmla="*/ 85 w 170"/>
              <a:gd name="T33" fmla="*/ 65 h 168"/>
              <a:gd name="T34" fmla="*/ 89 w 170"/>
              <a:gd name="T35" fmla="*/ 67 h 168"/>
              <a:gd name="T36" fmla="*/ 120 w 170"/>
              <a:gd name="T37" fmla="*/ 52 h 168"/>
              <a:gd name="T38" fmla="*/ 128 w 170"/>
              <a:gd name="T39" fmla="*/ 40 h 168"/>
              <a:gd name="T40" fmla="*/ 113 w 170"/>
              <a:gd name="T41" fmla="*/ 58 h 168"/>
              <a:gd name="T42" fmla="*/ 122 w 170"/>
              <a:gd name="T43" fmla="*/ 85 h 168"/>
              <a:gd name="T44" fmla="*/ 113 w 170"/>
              <a:gd name="T45" fmla="*/ 58 h 168"/>
              <a:gd name="T46" fmla="*/ 101 w 170"/>
              <a:gd name="T47" fmla="*/ 67 h 168"/>
              <a:gd name="T48" fmla="*/ 109 w 170"/>
              <a:gd name="T49" fmla="*/ 85 h 168"/>
              <a:gd name="T50" fmla="*/ 101 w 170"/>
              <a:gd name="T51" fmla="*/ 67 h 168"/>
              <a:gd name="T52" fmla="*/ 87 w 170"/>
              <a:gd name="T53" fmla="*/ 77 h 168"/>
              <a:gd name="T54" fmla="*/ 95 w 170"/>
              <a:gd name="T55" fmla="*/ 85 h 168"/>
              <a:gd name="T56" fmla="*/ 87 w 170"/>
              <a:gd name="T57" fmla="*/ 77 h 168"/>
              <a:gd name="T58" fmla="*/ 75 w 170"/>
              <a:gd name="T59" fmla="*/ 69 h 168"/>
              <a:gd name="T60" fmla="*/ 83 w 170"/>
              <a:gd name="T61" fmla="*/ 85 h 168"/>
              <a:gd name="T62" fmla="*/ 75 w 170"/>
              <a:gd name="T63" fmla="*/ 69 h 168"/>
              <a:gd name="T64" fmla="*/ 63 w 170"/>
              <a:gd name="T65" fmla="*/ 69 h 168"/>
              <a:gd name="T66" fmla="*/ 71 w 170"/>
              <a:gd name="T67" fmla="*/ 85 h 168"/>
              <a:gd name="T68" fmla="*/ 63 w 170"/>
              <a:gd name="T69" fmla="*/ 69 h 168"/>
              <a:gd name="T70" fmla="*/ 48 w 170"/>
              <a:gd name="T71" fmla="*/ 73 h 168"/>
              <a:gd name="T72" fmla="*/ 56 w 170"/>
              <a:gd name="T73" fmla="*/ 85 h 168"/>
              <a:gd name="T74" fmla="*/ 48 w 170"/>
              <a:gd name="T75" fmla="*/ 73 h 168"/>
              <a:gd name="T76" fmla="*/ 146 w 170"/>
              <a:gd name="T77" fmla="*/ 18 h 168"/>
              <a:gd name="T78" fmla="*/ 24 w 170"/>
              <a:gd name="T79" fmla="*/ 101 h 168"/>
              <a:gd name="T80" fmla="*/ 146 w 170"/>
              <a:gd name="T81" fmla="*/ 18 h 168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w 170"/>
              <a:gd name="T124" fmla="*/ 0 h 168"/>
              <a:gd name="T125" fmla="*/ 170 w 170"/>
              <a:gd name="T126" fmla="*/ 168 h 168"/>
            </a:gdLst>
            <a:ahLst/>
            <a:cxnLst>
              <a:cxn ang="T82">
                <a:pos x="T0" y="T1"/>
              </a:cxn>
              <a:cxn ang="T83">
                <a:pos x="T2" y="T3"/>
              </a:cxn>
              <a:cxn ang="T84">
                <a:pos x="T4" y="T5"/>
              </a:cxn>
              <a:cxn ang="T85">
                <a:pos x="T6" y="T7"/>
              </a:cxn>
              <a:cxn ang="T86">
                <a:pos x="T8" y="T9"/>
              </a:cxn>
              <a:cxn ang="T87">
                <a:pos x="T10" y="T11"/>
              </a:cxn>
              <a:cxn ang="T88">
                <a:pos x="T12" y="T13"/>
              </a:cxn>
              <a:cxn ang="T89">
                <a:pos x="T14" y="T15"/>
              </a:cxn>
              <a:cxn ang="T90">
                <a:pos x="T16" y="T17"/>
              </a:cxn>
              <a:cxn ang="T91">
                <a:pos x="T18" y="T19"/>
              </a:cxn>
              <a:cxn ang="T92">
                <a:pos x="T20" y="T21"/>
              </a:cxn>
              <a:cxn ang="T93">
                <a:pos x="T22" y="T23"/>
              </a:cxn>
              <a:cxn ang="T94">
                <a:pos x="T24" y="T25"/>
              </a:cxn>
              <a:cxn ang="T95">
                <a:pos x="T26" y="T27"/>
              </a:cxn>
              <a:cxn ang="T96">
                <a:pos x="T28" y="T29"/>
              </a:cxn>
              <a:cxn ang="T97">
                <a:pos x="T30" y="T31"/>
              </a:cxn>
              <a:cxn ang="T98">
                <a:pos x="T32" y="T33"/>
              </a:cxn>
              <a:cxn ang="T99">
                <a:pos x="T34" y="T35"/>
              </a:cxn>
              <a:cxn ang="T100">
                <a:pos x="T36" y="T37"/>
              </a:cxn>
              <a:cxn ang="T101">
                <a:pos x="T38" y="T39"/>
              </a:cxn>
              <a:cxn ang="T102">
                <a:pos x="T40" y="T41"/>
              </a:cxn>
              <a:cxn ang="T103">
                <a:pos x="T42" y="T43"/>
              </a:cxn>
              <a:cxn ang="T104">
                <a:pos x="T44" y="T45"/>
              </a:cxn>
              <a:cxn ang="T105">
                <a:pos x="T46" y="T47"/>
              </a:cxn>
              <a:cxn ang="T106">
                <a:pos x="T48" y="T49"/>
              </a:cxn>
              <a:cxn ang="T107">
                <a:pos x="T50" y="T51"/>
              </a:cxn>
              <a:cxn ang="T108">
                <a:pos x="T52" y="T53"/>
              </a:cxn>
              <a:cxn ang="T109">
                <a:pos x="T54" y="T55"/>
              </a:cxn>
              <a:cxn ang="T110">
                <a:pos x="T56" y="T57"/>
              </a:cxn>
              <a:cxn ang="T111">
                <a:pos x="T58" y="T59"/>
              </a:cxn>
              <a:cxn ang="T112">
                <a:pos x="T60" y="T61"/>
              </a:cxn>
              <a:cxn ang="T113">
                <a:pos x="T62" y="T63"/>
              </a:cxn>
              <a:cxn ang="T114">
                <a:pos x="T64" y="T65"/>
              </a:cxn>
              <a:cxn ang="T115">
                <a:pos x="T66" y="T67"/>
              </a:cxn>
              <a:cxn ang="T116">
                <a:pos x="T68" y="T69"/>
              </a:cxn>
              <a:cxn ang="T117">
                <a:pos x="T70" y="T71"/>
              </a:cxn>
              <a:cxn ang="T118">
                <a:pos x="T72" y="T73"/>
              </a:cxn>
              <a:cxn ang="T119">
                <a:pos x="T74" y="T75"/>
              </a:cxn>
              <a:cxn ang="T120">
                <a:pos x="T76" y="T77"/>
              </a:cxn>
              <a:cxn ang="T121">
                <a:pos x="T78" y="T79"/>
              </a:cxn>
              <a:cxn ang="T122">
                <a:pos x="T80" y="T81"/>
              </a:cxn>
            </a:cxnLst>
            <a:rect l="T123" t="T124" r="T125" b="T126"/>
            <a:pathLst>
              <a:path w="170" h="168">
                <a:moveTo>
                  <a:pt x="0" y="0"/>
                </a:moveTo>
                <a:lnTo>
                  <a:pt x="170" y="0"/>
                </a:lnTo>
                <a:lnTo>
                  <a:pt x="170" y="16"/>
                </a:lnTo>
                <a:lnTo>
                  <a:pt x="162" y="16"/>
                </a:lnTo>
                <a:lnTo>
                  <a:pt x="162" y="103"/>
                </a:lnTo>
                <a:lnTo>
                  <a:pt x="170" y="103"/>
                </a:lnTo>
                <a:lnTo>
                  <a:pt x="170" y="119"/>
                </a:lnTo>
                <a:lnTo>
                  <a:pt x="93" y="119"/>
                </a:lnTo>
                <a:lnTo>
                  <a:pt x="93" y="152"/>
                </a:lnTo>
                <a:lnTo>
                  <a:pt x="128" y="152"/>
                </a:lnTo>
                <a:lnTo>
                  <a:pt x="128" y="168"/>
                </a:lnTo>
                <a:lnTo>
                  <a:pt x="42" y="168"/>
                </a:lnTo>
                <a:lnTo>
                  <a:pt x="42" y="152"/>
                </a:lnTo>
                <a:lnTo>
                  <a:pt x="77" y="152"/>
                </a:lnTo>
                <a:lnTo>
                  <a:pt x="77" y="119"/>
                </a:lnTo>
                <a:lnTo>
                  <a:pt x="0" y="119"/>
                </a:lnTo>
                <a:lnTo>
                  <a:pt x="0" y="103"/>
                </a:lnTo>
                <a:lnTo>
                  <a:pt x="6" y="103"/>
                </a:lnTo>
                <a:lnTo>
                  <a:pt x="6" y="16"/>
                </a:lnTo>
                <a:lnTo>
                  <a:pt x="0" y="16"/>
                </a:lnTo>
                <a:lnTo>
                  <a:pt x="0" y="0"/>
                </a:lnTo>
                <a:lnTo>
                  <a:pt x="0" y="0"/>
                </a:lnTo>
                <a:close/>
                <a:moveTo>
                  <a:pt x="128" y="40"/>
                </a:moveTo>
                <a:lnTo>
                  <a:pt x="122" y="40"/>
                </a:lnTo>
                <a:lnTo>
                  <a:pt x="113" y="40"/>
                </a:lnTo>
                <a:lnTo>
                  <a:pt x="115" y="44"/>
                </a:lnTo>
                <a:lnTo>
                  <a:pt x="87" y="61"/>
                </a:lnTo>
                <a:lnTo>
                  <a:pt x="75" y="52"/>
                </a:lnTo>
                <a:lnTo>
                  <a:pt x="75" y="50"/>
                </a:lnTo>
                <a:lnTo>
                  <a:pt x="73" y="50"/>
                </a:lnTo>
                <a:lnTo>
                  <a:pt x="48" y="61"/>
                </a:lnTo>
                <a:lnTo>
                  <a:pt x="50" y="67"/>
                </a:lnTo>
                <a:lnTo>
                  <a:pt x="73" y="56"/>
                </a:lnTo>
                <a:lnTo>
                  <a:pt x="85" y="65"/>
                </a:lnTo>
                <a:lnTo>
                  <a:pt x="87" y="67"/>
                </a:lnTo>
                <a:lnTo>
                  <a:pt x="89" y="67"/>
                </a:lnTo>
                <a:lnTo>
                  <a:pt x="117" y="48"/>
                </a:lnTo>
                <a:lnTo>
                  <a:pt x="120" y="52"/>
                </a:lnTo>
                <a:lnTo>
                  <a:pt x="124" y="46"/>
                </a:lnTo>
                <a:lnTo>
                  <a:pt x="128" y="40"/>
                </a:lnTo>
                <a:lnTo>
                  <a:pt x="128" y="40"/>
                </a:lnTo>
                <a:close/>
                <a:moveTo>
                  <a:pt x="113" y="58"/>
                </a:moveTo>
                <a:lnTo>
                  <a:pt x="113" y="85"/>
                </a:lnTo>
                <a:lnTo>
                  <a:pt x="122" y="85"/>
                </a:lnTo>
                <a:lnTo>
                  <a:pt x="122" y="58"/>
                </a:lnTo>
                <a:lnTo>
                  <a:pt x="113" y="58"/>
                </a:lnTo>
                <a:lnTo>
                  <a:pt x="113" y="58"/>
                </a:lnTo>
                <a:close/>
                <a:moveTo>
                  <a:pt x="101" y="67"/>
                </a:moveTo>
                <a:lnTo>
                  <a:pt x="101" y="85"/>
                </a:lnTo>
                <a:lnTo>
                  <a:pt x="109" y="85"/>
                </a:lnTo>
                <a:lnTo>
                  <a:pt x="109" y="67"/>
                </a:lnTo>
                <a:lnTo>
                  <a:pt x="101" y="67"/>
                </a:lnTo>
                <a:lnTo>
                  <a:pt x="101" y="67"/>
                </a:lnTo>
                <a:close/>
                <a:moveTo>
                  <a:pt x="87" y="77"/>
                </a:moveTo>
                <a:lnTo>
                  <a:pt x="87" y="85"/>
                </a:lnTo>
                <a:lnTo>
                  <a:pt x="95" y="85"/>
                </a:lnTo>
                <a:lnTo>
                  <a:pt x="95" y="77"/>
                </a:lnTo>
                <a:lnTo>
                  <a:pt x="87" y="77"/>
                </a:lnTo>
                <a:lnTo>
                  <a:pt x="87" y="77"/>
                </a:lnTo>
                <a:close/>
                <a:moveTo>
                  <a:pt x="75" y="69"/>
                </a:moveTo>
                <a:lnTo>
                  <a:pt x="75" y="85"/>
                </a:lnTo>
                <a:lnTo>
                  <a:pt x="83" y="85"/>
                </a:lnTo>
                <a:lnTo>
                  <a:pt x="83" y="69"/>
                </a:lnTo>
                <a:lnTo>
                  <a:pt x="75" y="69"/>
                </a:lnTo>
                <a:lnTo>
                  <a:pt x="75" y="69"/>
                </a:lnTo>
                <a:close/>
                <a:moveTo>
                  <a:pt x="63" y="69"/>
                </a:moveTo>
                <a:lnTo>
                  <a:pt x="63" y="85"/>
                </a:lnTo>
                <a:lnTo>
                  <a:pt x="71" y="85"/>
                </a:lnTo>
                <a:lnTo>
                  <a:pt x="71" y="69"/>
                </a:lnTo>
                <a:lnTo>
                  <a:pt x="63" y="69"/>
                </a:lnTo>
                <a:lnTo>
                  <a:pt x="63" y="69"/>
                </a:lnTo>
                <a:close/>
                <a:moveTo>
                  <a:pt x="48" y="73"/>
                </a:moveTo>
                <a:lnTo>
                  <a:pt x="48" y="85"/>
                </a:lnTo>
                <a:lnTo>
                  <a:pt x="56" y="85"/>
                </a:lnTo>
                <a:lnTo>
                  <a:pt x="56" y="73"/>
                </a:lnTo>
                <a:lnTo>
                  <a:pt x="48" y="73"/>
                </a:lnTo>
                <a:lnTo>
                  <a:pt x="48" y="73"/>
                </a:lnTo>
                <a:close/>
                <a:moveTo>
                  <a:pt x="146" y="18"/>
                </a:moveTo>
                <a:lnTo>
                  <a:pt x="24" y="18"/>
                </a:lnTo>
                <a:lnTo>
                  <a:pt x="24" y="101"/>
                </a:lnTo>
                <a:lnTo>
                  <a:pt x="146" y="101"/>
                </a:lnTo>
                <a:lnTo>
                  <a:pt x="146" y="18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zh-CN" sz="1800" b="0" i="0" u="none" strike="noStrike" kern="1200" cap="none" spc="0" normalizeH="0" baseline="0" noProof="0">
              <a:ln>
                <a:noFill/>
              </a:ln>
              <a:solidFill>
                <a:srgbClr val="404040"/>
              </a:solidFill>
              <a:effectLst/>
              <a:uLnTx/>
              <a:uFillTx/>
              <a:latin typeface="Calibri" panose="020F0502020204030204" pitchFamily="34" charset="0"/>
              <a:ea typeface="微软雅黑" panose="020B0503020204020204" pitchFamily="34" charset="-122"/>
              <a:cs typeface="+mn-cs"/>
              <a:sym typeface="宋体" panose="02010600030101010101" pitchFamily="2" charset="-122"/>
            </a:endParaRPr>
          </a:p>
        </p:txBody>
      </p:sp>
      <p:sp>
        <p:nvSpPr>
          <p:cNvPr id="31" name="Freeform 9">
            <a:extLst>
              <a:ext uri="{FF2B5EF4-FFF2-40B4-BE49-F238E27FC236}">
                <a16:creationId xmlns:a16="http://schemas.microsoft.com/office/drawing/2014/main" id="{BEC44DA7-8778-505C-C233-98FF112E3044}"/>
              </a:ext>
            </a:extLst>
          </p:cNvPr>
          <p:cNvSpPr>
            <a:spLocks noChangeAspect="1" noEditPoints="1" noChangeArrowheads="1"/>
          </p:cNvSpPr>
          <p:nvPr/>
        </p:nvSpPr>
        <p:spPr bwMode="auto">
          <a:xfrm>
            <a:off x="9234713" y="3645600"/>
            <a:ext cx="361886" cy="333007"/>
          </a:xfrm>
          <a:custGeom>
            <a:avLst/>
            <a:gdLst>
              <a:gd name="T0" fmla="*/ 141 w 181"/>
              <a:gd name="T1" fmla="*/ 0 h 165"/>
              <a:gd name="T2" fmla="*/ 149 w 181"/>
              <a:gd name="T3" fmla="*/ 8 h 165"/>
              <a:gd name="T4" fmla="*/ 134 w 181"/>
              <a:gd name="T5" fmla="*/ 47 h 165"/>
              <a:gd name="T6" fmla="*/ 33 w 181"/>
              <a:gd name="T7" fmla="*/ 14 h 165"/>
              <a:gd name="T8" fmla="*/ 39 w 181"/>
              <a:gd name="T9" fmla="*/ 20 h 165"/>
              <a:gd name="T10" fmla="*/ 51 w 181"/>
              <a:gd name="T11" fmla="*/ 31 h 165"/>
              <a:gd name="T12" fmla="*/ 33 w 181"/>
              <a:gd name="T13" fmla="*/ 39 h 165"/>
              <a:gd name="T14" fmla="*/ 39 w 181"/>
              <a:gd name="T15" fmla="*/ 45 h 165"/>
              <a:gd name="T16" fmla="*/ 51 w 181"/>
              <a:gd name="T17" fmla="*/ 55 h 165"/>
              <a:gd name="T18" fmla="*/ 33 w 181"/>
              <a:gd name="T19" fmla="*/ 63 h 165"/>
              <a:gd name="T20" fmla="*/ 39 w 181"/>
              <a:gd name="T21" fmla="*/ 67 h 165"/>
              <a:gd name="T22" fmla="*/ 51 w 181"/>
              <a:gd name="T23" fmla="*/ 77 h 165"/>
              <a:gd name="T24" fmla="*/ 33 w 181"/>
              <a:gd name="T25" fmla="*/ 86 h 165"/>
              <a:gd name="T26" fmla="*/ 39 w 181"/>
              <a:gd name="T27" fmla="*/ 90 h 165"/>
              <a:gd name="T28" fmla="*/ 51 w 181"/>
              <a:gd name="T29" fmla="*/ 100 h 165"/>
              <a:gd name="T30" fmla="*/ 33 w 181"/>
              <a:gd name="T31" fmla="*/ 110 h 165"/>
              <a:gd name="T32" fmla="*/ 39 w 181"/>
              <a:gd name="T33" fmla="*/ 116 h 165"/>
              <a:gd name="T34" fmla="*/ 51 w 181"/>
              <a:gd name="T35" fmla="*/ 126 h 165"/>
              <a:gd name="T36" fmla="*/ 33 w 181"/>
              <a:gd name="T37" fmla="*/ 134 h 165"/>
              <a:gd name="T38" fmla="*/ 33 w 181"/>
              <a:gd name="T39" fmla="*/ 151 h 165"/>
              <a:gd name="T40" fmla="*/ 134 w 181"/>
              <a:gd name="T41" fmla="*/ 118 h 165"/>
              <a:gd name="T42" fmla="*/ 149 w 181"/>
              <a:gd name="T43" fmla="*/ 157 h 165"/>
              <a:gd name="T44" fmla="*/ 141 w 181"/>
              <a:gd name="T45" fmla="*/ 165 h 165"/>
              <a:gd name="T46" fmla="*/ 19 w 181"/>
              <a:gd name="T47" fmla="*/ 165 h 165"/>
              <a:gd name="T48" fmla="*/ 19 w 181"/>
              <a:gd name="T49" fmla="*/ 146 h 165"/>
              <a:gd name="T50" fmla="*/ 0 w 181"/>
              <a:gd name="T51" fmla="*/ 132 h 165"/>
              <a:gd name="T52" fmla="*/ 19 w 181"/>
              <a:gd name="T53" fmla="*/ 120 h 165"/>
              <a:gd name="T54" fmla="*/ 0 w 181"/>
              <a:gd name="T55" fmla="*/ 108 h 165"/>
              <a:gd name="T56" fmla="*/ 19 w 181"/>
              <a:gd name="T57" fmla="*/ 98 h 165"/>
              <a:gd name="T58" fmla="*/ 0 w 181"/>
              <a:gd name="T59" fmla="*/ 83 h 165"/>
              <a:gd name="T60" fmla="*/ 19 w 181"/>
              <a:gd name="T61" fmla="*/ 75 h 165"/>
              <a:gd name="T62" fmla="*/ 0 w 181"/>
              <a:gd name="T63" fmla="*/ 61 h 165"/>
              <a:gd name="T64" fmla="*/ 19 w 181"/>
              <a:gd name="T65" fmla="*/ 51 h 165"/>
              <a:gd name="T66" fmla="*/ 0 w 181"/>
              <a:gd name="T67" fmla="*/ 39 h 165"/>
              <a:gd name="T68" fmla="*/ 19 w 181"/>
              <a:gd name="T69" fmla="*/ 8 h 165"/>
              <a:gd name="T70" fmla="*/ 27 w 181"/>
              <a:gd name="T71" fmla="*/ 0 h 165"/>
              <a:gd name="T72" fmla="*/ 63 w 181"/>
              <a:gd name="T73" fmla="*/ 79 h 165"/>
              <a:gd name="T74" fmla="*/ 84 w 181"/>
              <a:gd name="T75" fmla="*/ 88 h 165"/>
              <a:gd name="T76" fmla="*/ 63 w 181"/>
              <a:gd name="T77" fmla="*/ 79 h 165"/>
              <a:gd name="T78" fmla="*/ 63 w 181"/>
              <a:gd name="T79" fmla="*/ 61 h 165"/>
              <a:gd name="T80" fmla="*/ 100 w 181"/>
              <a:gd name="T81" fmla="*/ 69 h 165"/>
              <a:gd name="T82" fmla="*/ 63 w 181"/>
              <a:gd name="T83" fmla="*/ 61 h 165"/>
              <a:gd name="T84" fmla="*/ 63 w 181"/>
              <a:gd name="T85" fmla="*/ 45 h 165"/>
              <a:gd name="T86" fmla="*/ 116 w 181"/>
              <a:gd name="T87" fmla="*/ 53 h 165"/>
              <a:gd name="T88" fmla="*/ 63 w 181"/>
              <a:gd name="T89" fmla="*/ 45 h 165"/>
              <a:gd name="T90" fmla="*/ 63 w 181"/>
              <a:gd name="T91" fmla="*/ 29 h 165"/>
              <a:gd name="T92" fmla="*/ 116 w 181"/>
              <a:gd name="T93" fmla="*/ 35 h 165"/>
              <a:gd name="T94" fmla="*/ 63 w 181"/>
              <a:gd name="T95" fmla="*/ 29 h 165"/>
              <a:gd name="T96" fmla="*/ 84 w 181"/>
              <a:gd name="T97" fmla="*/ 130 h 165"/>
              <a:gd name="T98" fmla="*/ 106 w 181"/>
              <a:gd name="T99" fmla="*/ 130 h 165"/>
              <a:gd name="T100" fmla="*/ 86 w 181"/>
              <a:gd name="T101" fmla="*/ 108 h 165"/>
              <a:gd name="T102" fmla="*/ 84 w 181"/>
              <a:gd name="T103" fmla="*/ 130 h 165"/>
              <a:gd name="T104" fmla="*/ 161 w 181"/>
              <a:gd name="T105" fmla="*/ 37 h 165"/>
              <a:gd name="T106" fmla="*/ 116 w 181"/>
              <a:gd name="T107" fmla="*/ 120 h 165"/>
              <a:gd name="T108" fmla="*/ 161 w 181"/>
              <a:gd name="T109" fmla="*/ 37 h 165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60000 65536"/>
              <a:gd name="T157" fmla="*/ 0 60000 65536"/>
              <a:gd name="T158" fmla="*/ 0 60000 65536"/>
              <a:gd name="T159" fmla="*/ 0 60000 65536"/>
              <a:gd name="T160" fmla="*/ 0 60000 65536"/>
              <a:gd name="T161" fmla="*/ 0 60000 65536"/>
              <a:gd name="T162" fmla="*/ 0 60000 65536"/>
              <a:gd name="T163" fmla="*/ 0 60000 65536"/>
              <a:gd name="T164" fmla="*/ 0 60000 65536"/>
              <a:gd name="T165" fmla="*/ 0 w 181"/>
              <a:gd name="T166" fmla="*/ 0 h 165"/>
              <a:gd name="T167" fmla="*/ 181 w 181"/>
              <a:gd name="T168" fmla="*/ 165 h 165"/>
            </a:gdLst>
            <a:ahLst/>
            <a:cxnLst>
              <a:cxn ang="T110">
                <a:pos x="T0" y="T1"/>
              </a:cxn>
              <a:cxn ang="T111">
                <a:pos x="T2" y="T3"/>
              </a:cxn>
              <a:cxn ang="T112">
                <a:pos x="T4" y="T5"/>
              </a:cxn>
              <a:cxn ang="T113">
                <a:pos x="T6" y="T7"/>
              </a:cxn>
              <a:cxn ang="T114">
                <a:pos x="T8" y="T9"/>
              </a:cxn>
              <a:cxn ang="T115">
                <a:pos x="T10" y="T11"/>
              </a:cxn>
              <a:cxn ang="T116">
                <a:pos x="T12" y="T13"/>
              </a:cxn>
              <a:cxn ang="T117">
                <a:pos x="T14" y="T15"/>
              </a:cxn>
              <a:cxn ang="T118">
                <a:pos x="T16" y="T17"/>
              </a:cxn>
              <a:cxn ang="T119">
                <a:pos x="T18" y="T19"/>
              </a:cxn>
              <a:cxn ang="T120">
                <a:pos x="T20" y="T21"/>
              </a:cxn>
              <a:cxn ang="T121">
                <a:pos x="T22" y="T23"/>
              </a:cxn>
              <a:cxn ang="T122">
                <a:pos x="T24" y="T25"/>
              </a:cxn>
              <a:cxn ang="T123">
                <a:pos x="T26" y="T27"/>
              </a:cxn>
              <a:cxn ang="T124">
                <a:pos x="T28" y="T29"/>
              </a:cxn>
              <a:cxn ang="T125">
                <a:pos x="T30" y="T31"/>
              </a:cxn>
              <a:cxn ang="T126">
                <a:pos x="T32" y="T33"/>
              </a:cxn>
              <a:cxn ang="T127">
                <a:pos x="T34" y="T35"/>
              </a:cxn>
              <a:cxn ang="T128">
                <a:pos x="T36" y="T37"/>
              </a:cxn>
              <a:cxn ang="T129">
                <a:pos x="T38" y="T39"/>
              </a:cxn>
              <a:cxn ang="T130">
                <a:pos x="T40" y="T41"/>
              </a:cxn>
              <a:cxn ang="T131">
                <a:pos x="T42" y="T43"/>
              </a:cxn>
              <a:cxn ang="T132">
                <a:pos x="T44" y="T45"/>
              </a:cxn>
              <a:cxn ang="T133">
                <a:pos x="T46" y="T47"/>
              </a:cxn>
              <a:cxn ang="T134">
                <a:pos x="T48" y="T49"/>
              </a:cxn>
              <a:cxn ang="T135">
                <a:pos x="T50" y="T51"/>
              </a:cxn>
              <a:cxn ang="T136">
                <a:pos x="T52" y="T53"/>
              </a:cxn>
              <a:cxn ang="T137">
                <a:pos x="T54" y="T55"/>
              </a:cxn>
              <a:cxn ang="T138">
                <a:pos x="T56" y="T57"/>
              </a:cxn>
              <a:cxn ang="T139">
                <a:pos x="T58" y="T59"/>
              </a:cxn>
              <a:cxn ang="T140">
                <a:pos x="T60" y="T61"/>
              </a:cxn>
              <a:cxn ang="T141">
                <a:pos x="T62" y="T63"/>
              </a:cxn>
              <a:cxn ang="T142">
                <a:pos x="T64" y="T65"/>
              </a:cxn>
              <a:cxn ang="T143">
                <a:pos x="T66" y="T67"/>
              </a:cxn>
              <a:cxn ang="T144">
                <a:pos x="T68" y="T69"/>
              </a:cxn>
              <a:cxn ang="T145">
                <a:pos x="T70" y="T71"/>
              </a:cxn>
              <a:cxn ang="T146">
                <a:pos x="T72" y="T73"/>
              </a:cxn>
              <a:cxn ang="T147">
                <a:pos x="T74" y="T75"/>
              </a:cxn>
              <a:cxn ang="T148">
                <a:pos x="T76" y="T77"/>
              </a:cxn>
              <a:cxn ang="T149">
                <a:pos x="T78" y="T79"/>
              </a:cxn>
              <a:cxn ang="T150">
                <a:pos x="T80" y="T81"/>
              </a:cxn>
              <a:cxn ang="T151">
                <a:pos x="T82" y="T83"/>
              </a:cxn>
              <a:cxn ang="T152">
                <a:pos x="T84" y="T85"/>
              </a:cxn>
              <a:cxn ang="T153">
                <a:pos x="T86" y="T87"/>
              </a:cxn>
              <a:cxn ang="T154">
                <a:pos x="T88" y="T89"/>
              </a:cxn>
              <a:cxn ang="T155">
                <a:pos x="T90" y="T91"/>
              </a:cxn>
              <a:cxn ang="T156">
                <a:pos x="T92" y="T93"/>
              </a:cxn>
              <a:cxn ang="T157">
                <a:pos x="T94" y="T95"/>
              </a:cxn>
              <a:cxn ang="T158">
                <a:pos x="T96" y="T97"/>
              </a:cxn>
              <a:cxn ang="T159">
                <a:pos x="T98" y="T99"/>
              </a:cxn>
              <a:cxn ang="T160">
                <a:pos x="T100" y="T101"/>
              </a:cxn>
              <a:cxn ang="T161">
                <a:pos x="T102" y="T103"/>
              </a:cxn>
              <a:cxn ang="T162">
                <a:pos x="T104" y="T105"/>
              </a:cxn>
              <a:cxn ang="T163">
                <a:pos x="T106" y="T107"/>
              </a:cxn>
              <a:cxn ang="T164">
                <a:pos x="T108" y="T109"/>
              </a:cxn>
            </a:cxnLst>
            <a:rect l="T165" t="T166" r="T167" b="T168"/>
            <a:pathLst>
              <a:path w="181" h="165">
                <a:moveTo>
                  <a:pt x="27" y="0"/>
                </a:moveTo>
                <a:lnTo>
                  <a:pt x="141" y="0"/>
                </a:lnTo>
                <a:lnTo>
                  <a:pt x="149" y="0"/>
                </a:lnTo>
                <a:lnTo>
                  <a:pt x="149" y="8"/>
                </a:lnTo>
                <a:lnTo>
                  <a:pt x="149" y="35"/>
                </a:lnTo>
                <a:lnTo>
                  <a:pt x="134" y="47"/>
                </a:lnTo>
                <a:lnTo>
                  <a:pt x="134" y="14"/>
                </a:lnTo>
                <a:lnTo>
                  <a:pt x="33" y="14"/>
                </a:lnTo>
                <a:lnTo>
                  <a:pt x="33" y="25"/>
                </a:lnTo>
                <a:lnTo>
                  <a:pt x="39" y="20"/>
                </a:lnTo>
                <a:lnTo>
                  <a:pt x="47" y="18"/>
                </a:lnTo>
                <a:lnTo>
                  <a:pt x="51" y="31"/>
                </a:lnTo>
                <a:lnTo>
                  <a:pt x="45" y="35"/>
                </a:lnTo>
                <a:lnTo>
                  <a:pt x="33" y="39"/>
                </a:lnTo>
                <a:lnTo>
                  <a:pt x="33" y="47"/>
                </a:lnTo>
                <a:lnTo>
                  <a:pt x="39" y="45"/>
                </a:lnTo>
                <a:lnTo>
                  <a:pt x="47" y="41"/>
                </a:lnTo>
                <a:lnTo>
                  <a:pt x="51" y="55"/>
                </a:lnTo>
                <a:lnTo>
                  <a:pt x="45" y="57"/>
                </a:lnTo>
                <a:lnTo>
                  <a:pt x="33" y="63"/>
                </a:lnTo>
                <a:lnTo>
                  <a:pt x="33" y="71"/>
                </a:lnTo>
                <a:lnTo>
                  <a:pt x="39" y="67"/>
                </a:lnTo>
                <a:lnTo>
                  <a:pt x="47" y="65"/>
                </a:lnTo>
                <a:lnTo>
                  <a:pt x="51" y="77"/>
                </a:lnTo>
                <a:lnTo>
                  <a:pt x="45" y="81"/>
                </a:lnTo>
                <a:lnTo>
                  <a:pt x="33" y="86"/>
                </a:lnTo>
                <a:lnTo>
                  <a:pt x="33" y="94"/>
                </a:lnTo>
                <a:lnTo>
                  <a:pt x="39" y="90"/>
                </a:lnTo>
                <a:lnTo>
                  <a:pt x="47" y="88"/>
                </a:lnTo>
                <a:lnTo>
                  <a:pt x="51" y="100"/>
                </a:lnTo>
                <a:lnTo>
                  <a:pt x="45" y="104"/>
                </a:lnTo>
                <a:lnTo>
                  <a:pt x="33" y="110"/>
                </a:lnTo>
                <a:lnTo>
                  <a:pt x="33" y="118"/>
                </a:lnTo>
                <a:lnTo>
                  <a:pt x="39" y="116"/>
                </a:lnTo>
                <a:lnTo>
                  <a:pt x="47" y="112"/>
                </a:lnTo>
                <a:lnTo>
                  <a:pt x="51" y="126"/>
                </a:lnTo>
                <a:lnTo>
                  <a:pt x="45" y="128"/>
                </a:lnTo>
                <a:lnTo>
                  <a:pt x="33" y="134"/>
                </a:lnTo>
                <a:lnTo>
                  <a:pt x="33" y="146"/>
                </a:lnTo>
                <a:lnTo>
                  <a:pt x="33" y="151"/>
                </a:lnTo>
                <a:lnTo>
                  <a:pt x="134" y="151"/>
                </a:lnTo>
                <a:lnTo>
                  <a:pt x="134" y="118"/>
                </a:lnTo>
                <a:lnTo>
                  <a:pt x="149" y="106"/>
                </a:lnTo>
                <a:lnTo>
                  <a:pt x="149" y="157"/>
                </a:lnTo>
                <a:lnTo>
                  <a:pt x="149" y="165"/>
                </a:lnTo>
                <a:lnTo>
                  <a:pt x="141" y="165"/>
                </a:lnTo>
                <a:lnTo>
                  <a:pt x="27" y="165"/>
                </a:lnTo>
                <a:lnTo>
                  <a:pt x="19" y="165"/>
                </a:lnTo>
                <a:lnTo>
                  <a:pt x="19" y="157"/>
                </a:lnTo>
                <a:lnTo>
                  <a:pt x="19" y="146"/>
                </a:lnTo>
                <a:lnTo>
                  <a:pt x="4" y="146"/>
                </a:lnTo>
                <a:lnTo>
                  <a:pt x="0" y="132"/>
                </a:lnTo>
                <a:lnTo>
                  <a:pt x="19" y="124"/>
                </a:lnTo>
                <a:lnTo>
                  <a:pt x="19" y="120"/>
                </a:lnTo>
                <a:lnTo>
                  <a:pt x="4" y="120"/>
                </a:lnTo>
                <a:lnTo>
                  <a:pt x="0" y="108"/>
                </a:lnTo>
                <a:lnTo>
                  <a:pt x="19" y="100"/>
                </a:lnTo>
                <a:lnTo>
                  <a:pt x="19" y="98"/>
                </a:lnTo>
                <a:lnTo>
                  <a:pt x="4" y="98"/>
                </a:lnTo>
                <a:lnTo>
                  <a:pt x="0" y="83"/>
                </a:lnTo>
                <a:lnTo>
                  <a:pt x="19" y="77"/>
                </a:lnTo>
                <a:lnTo>
                  <a:pt x="19" y="75"/>
                </a:lnTo>
                <a:lnTo>
                  <a:pt x="4" y="75"/>
                </a:lnTo>
                <a:lnTo>
                  <a:pt x="0" y="61"/>
                </a:lnTo>
                <a:lnTo>
                  <a:pt x="19" y="53"/>
                </a:lnTo>
                <a:lnTo>
                  <a:pt x="19" y="51"/>
                </a:lnTo>
                <a:lnTo>
                  <a:pt x="4" y="51"/>
                </a:lnTo>
                <a:lnTo>
                  <a:pt x="0" y="39"/>
                </a:lnTo>
                <a:lnTo>
                  <a:pt x="19" y="31"/>
                </a:lnTo>
                <a:lnTo>
                  <a:pt x="19" y="8"/>
                </a:lnTo>
                <a:lnTo>
                  <a:pt x="19" y="0"/>
                </a:lnTo>
                <a:lnTo>
                  <a:pt x="27" y="0"/>
                </a:lnTo>
                <a:lnTo>
                  <a:pt x="27" y="0"/>
                </a:lnTo>
                <a:close/>
                <a:moveTo>
                  <a:pt x="63" y="79"/>
                </a:moveTo>
                <a:lnTo>
                  <a:pt x="63" y="88"/>
                </a:lnTo>
                <a:lnTo>
                  <a:pt x="84" y="88"/>
                </a:lnTo>
                <a:lnTo>
                  <a:pt x="84" y="79"/>
                </a:lnTo>
                <a:lnTo>
                  <a:pt x="63" y="79"/>
                </a:lnTo>
                <a:lnTo>
                  <a:pt x="63" y="79"/>
                </a:lnTo>
                <a:close/>
                <a:moveTo>
                  <a:pt x="63" y="61"/>
                </a:moveTo>
                <a:lnTo>
                  <a:pt x="63" y="69"/>
                </a:lnTo>
                <a:lnTo>
                  <a:pt x="100" y="69"/>
                </a:lnTo>
                <a:lnTo>
                  <a:pt x="100" y="61"/>
                </a:lnTo>
                <a:lnTo>
                  <a:pt x="63" y="61"/>
                </a:lnTo>
                <a:lnTo>
                  <a:pt x="63" y="61"/>
                </a:lnTo>
                <a:close/>
                <a:moveTo>
                  <a:pt x="63" y="45"/>
                </a:moveTo>
                <a:lnTo>
                  <a:pt x="63" y="53"/>
                </a:lnTo>
                <a:lnTo>
                  <a:pt x="116" y="53"/>
                </a:lnTo>
                <a:lnTo>
                  <a:pt x="116" y="45"/>
                </a:lnTo>
                <a:lnTo>
                  <a:pt x="63" y="45"/>
                </a:lnTo>
                <a:lnTo>
                  <a:pt x="63" y="45"/>
                </a:lnTo>
                <a:close/>
                <a:moveTo>
                  <a:pt x="63" y="29"/>
                </a:moveTo>
                <a:lnTo>
                  <a:pt x="63" y="35"/>
                </a:lnTo>
                <a:lnTo>
                  <a:pt x="116" y="35"/>
                </a:lnTo>
                <a:lnTo>
                  <a:pt x="116" y="29"/>
                </a:lnTo>
                <a:lnTo>
                  <a:pt x="63" y="29"/>
                </a:lnTo>
                <a:lnTo>
                  <a:pt x="63" y="29"/>
                </a:lnTo>
                <a:close/>
                <a:moveTo>
                  <a:pt x="84" y="130"/>
                </a:moveTo>
                <a:lnTo>
                  <a:pt x="96" y="130"/>
                </a:lnTo>
                <a:lnTo>
                  <a:pt x="106" y="130"/>
                </a:lnTo>
                <a:lnTo>
                  <a:pt x="96" y="118"/>
                </a:lnTo>
                <a:lnTo>
                  <a:pt x="86" y="108"/>
                </a:lnTo>
                <a:lnTo>
                  <a:pt x="86" y="120"/>
                </a:lnTo>
                <a:lnTo>
                  <a:pt x="84" y="130"/>
                </a:lnTo>
                <a:lnTo>
                  <a:pt x="84" y="130"/>
                </a:lnTo>
                <a:close/>
                <a:moveTo>
                  <a:pt x="161" y="37"/>
                </a:moveTo>
                <a:lnTo>
                  <a:pt x="96" y="100"/>
                </a:lnTo>
                <a:lnTo>
                  <a:pt x="116" y="120"/>
                </a:lnTo>
                <a:lnTo>
                  <a:pt x="181" y="57"/>
                </a:lnTo>
                <a:lnTo>
                  <a:pt x="161" y="37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zh-CN" sz="1800" b="0" i="0" u="none" strike="noStrike" kern="1200" cap="none" spc="0" normalizeH="0" baseline="0" noProof="0">
              <a:ln>
                <a:noFill/>
              </a:ln>
              <a:solidFill>
                <a:srgbClr val="404040"/>
              </a:solidFill>
              <a:effectLst/>
              <a:uLnTx/>
              <a:uFillTx/>
              <a:latin typeface="Calibri" panose="020F0502020204030204" pitchFamily="34" charset="0"/>
              <a:ea typeface="微软雅黑" panose="020B0503020204020204" pitchFamily="34" charset="-122"/>
              <a:cs typeface="+mn-cs"/>
              <a:sym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6966430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F8B5BD-4D8F-BD41-EF00-84CD1B4AFF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4">
            <a:extLst>
              <a:ext uri="{FF2B5EF4-FFF2-40B4-BE49-F238E27FC236}">
                <a16:creationId xmlns:a16="http://schemas.microsoft.com/office/drawing/2014/main" id="{9436878A-C9CA-2FAE-74B5-A11616112B9E}"/>
              </a:ext>
            </a:extLst>
          </p:cNvPr>
          <p:cNvSpPr txBox="1"/>
          <p:nvPr userDrawn="1"/>
        </p:nvSpPr>
        <p:spPr>
          <a:xfrm>
            <a:off x="1158408" y="152874"/>
            <a:ext cx="5225625" cy="542617"/>
          </a:xfrm>
          <a:prstGeom prst="rect">
            <a:avLst/>
          </a:prstGeom>
        </p:spPr>
        <p:txBody>
          <a:bodyPr vert="horz" lIns="91440" tIns="45721" rIns="91440" bIns="45721" rtlCol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zh-CN" altLang="en-US" sz="2400" b="1" kern="12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rgbClr val="000000">
                  <a:lumMod val="75000"/>
                  <a:lumOff val="25000"/>
                </a:srgb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07" name="文本框 106">
            <a:extLst>
              <a:ext uri="{FF2B5EF4-FFF2-40B4-BE49-F238E27FC236}">
                <a16:creationId xmlns:a16="http://schemas.microsoft.com/office/drawing/2014/main" id="{B18F1634-B900-850C-FEDB-98D19DED3341}"/>
              </a:ext>
            </a:extLst>
          </p:cNvPr>
          <p:cNvSpPr txBox="1"/>
          <p:nvPr/>
        </p:nvSpPr>
        <p:spPr>
          <a:xfrm>
            <a:off x="1150405" y="149467"/>
            <a:ext cx="654286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1.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研究设计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DCF45219-C5A5-888B-6E1E-92D70983F0C7}"/>
              </a:ext>
            </a:extLst>
          </p:cNvPr>
          <p:cNvSpPr txBox="1"/>
          <p:nvPr/>
        </p:nvSpPr>
        <p:spPr>
          <a:xfrm>
            <a:off x="435553" y="778914"/>
            <a:ext cx="330602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zh-CN" altLang="en-US" b="1" dirty="0">
                <a:solidFill>
                  <a:srgbClr val="268F9C"/>
                </a:solidFill>
                <a:latin typeface="+mn-ea"/>
              </a:rPr>
              <a:t>模型融合技术选取</a:t>
            </a:r>
            <a:endParaRPr lang="en-US" altLang="zh-CN" b="1" dirty="0">
              <a:solidFill>
                <a:srgbClr val="268F9C"/>
              </a:solidFill>
              <a:latin typeface="+mn-ea"/>
            </a:endParaRPr>
          </a:p>
        </p:txBody>
      </p:sp>
      <p:grpSp>
        <p:nvGrpSpPr>
          <p:cNvPr id="60" name="组合 59">
            <a:extLst>
              <a:ext uri="{FF2B5EF4-FFF2-40B4-BE49-F238E27FC236}">
                <a16:creationId xmlns:a16="http://schemas.microsoft.com/office/drawing/2014/main" id="{FEB355FD-50F9-8784-B05E-6DD191902553}"/>
              </a:ext>
            </a:extLst>
          </p:cNvPr>
          <p:cNvGrpSpPr/>
          <p:nvPr/>
        </p:nvGrpSpPr>
        <p:grpSpPr>
          <a:xfrm>
            <a:off x="864500" y="1685895"/>
            <a:ext cx="3452499" cy="1383402"/>
            <a:chOff x="973735" y="1545527"/>
            <a:chExt cx="3452499" cy="1383402"/>
          </a:xfrm>
        </p:grpSpPr>
        <p:cxnSp>
          <p:nvCxnSpPr>
            <p:cNvPr id="18" name="直接箭头连接符 17">
              <a:extLst>
                <a:ext uri="{FF2B5EF4-FFF2-40B4-BE49-F238E27FC236}">
                  <a16:creationId xmlns:a16="http://schemas.microsoft.com/office/drawing/2014/main" id="{F2426C18-489E-0036-AB10-F88F4276F5B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274974" y="1545527"/>
              <a:ext cx="643534" cy="846601"/>
            </a:xfrm>
            <a:prstGeom prst="straightConnector1">
              <a:avLst/>
            </a:prstGeom>
            <a:ln w="38100">
              <a:solidFill>
                <a:srgbClr val="00B0F0"/>
              </a:solidFill>
              <a:prstDash val="solid"/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" name="直接箭头连接符 3">
              <a:extLst>
                <a:ext uri="{FF2B5EF4-FFF2-40B4-BE49-F238E27FC236}">
                  <a16:creationId xmlns:a16="http://schemas.microsoft.com/office/drawing/2014/main" id="{F328BAD3-658D-994A-75AA-ADD586631FCE}"/>
                </a:ext>
              </a:extLst>
            </p:cNvPr>
            <p:cNvCxnSpPr>
              <a:cxnSpLocks/>
            </p:cNvCxnSpPr>
            <p:nvPr/>
          </p:nvCxnSpPr>
          <p:spPr>
            <a:xfrm>
              <a:off x="1274974" y="2392128"/>
              <a:ext cx="1094596" cy="179267"/>
            </a:xfrm>
            <a:prstGeom prst="straightConnector1">
              <a:avLst/>
            </a:prstGeom>
            <a:ln w="28575">
              <a:solidFill>
                <a:srgbClr val="C00000"/>
              </a:solidFill>
              <a:prstDash val="solid"/>
              <a:tailEnd type="triangle"/>
            </a:ln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" name="文本框 4">
                  <a:extLst>
                    <a:ext uri="{FF2B5EF4-FFF2-40B4-BE49-F238E27FC236}">
                      <a16:creationId xmlns:a16="http://schemas.microsoft.com/office/drawing/2014/main" id="{9C9BA6DF-9DFC-170C-9D11-2024381C0903}"/>
                    </a:ext>
                  </a:extLst>
                </p:cNvPr>
                <p:cNvSpPr txBox="1"/>
                <p:nvPr/>
              </p:nvSpPr>
              <p:spPr>
                <a:xfrm>
                  <a:off x="1169855" y="2443343"/>
                  <a:ext cx="823390" cy="33855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right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16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</a:rPr>
                              <m:t>𝜏</m:t>
                            </m:r>
                          </m:e>
                          <m:sub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zh-CN" altLang="en-US" sz="1600" dirty="0"/>
                </a:p>
              </p:txBody>
            </p:sp>
          </mc:Choice>
          <mc:Fallback xmlns="">
            <p:sp>
              <p:nvSpPr>
                <p:cNvPr id="5" name="文本框 4">
                  <a:extLst>
                    <a:ext uri="{FF2B5EF4-FFF2-40B4-BE49-F238E27FC236}">
                      <a16:creationId xmlns:a16="http://schemas.microsoft.com/office/drawing/2014/main" id="{9C9BA6DF-9DFC-170C-9D11-2024381C090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69855" y="2443343"/>
                  <a:ext cx="823390" cy="338554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6" name="椭圆 5">
              <a:extLst>
                <a:ext uri="{FF2B5EF4-FFF2-40B4-BE49-F238E27FC236}">
                  <a16:creationId xmlns:a16="http://schemas.microsoft.com/office/drawing/2014/main" id="{D301381E-8DC3-953F-3A78-DF3F9D420CB3}"/>
                </a:ext>
              </a:extLst>
            </p:cNvPr>
            <p:cNvSpPr/>
            <p:nvPr/>
          </p:nvSpPr>
          <p:spPr>
            <a:xfrm rot="1274678">
              <a:off x="1016474" y="2311593"/>
              <a:ext cx="270000" cy="269518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文本框 9">
                  <a:extLst>
                    <a:ext uri="{FF2B5EF4-FFF2-40B4-BE49-F238E27FC236}">
                      <a16:creationId xmlns:a16="http://schemas.microsoft.com/office/drawing/2014/main" id="{17CA4FA9-FDC2-79D8-4AF5-F59C98D291FE}"/>
                    </a:ext>
                  </a:extLst>
                </p:cNvPr>
                <p:cNvSpPr txBox="1"/>
                <p:nvPr/>
              </p:nvSpPr>
              <p:spPr>
                <a:xfrm>
                  <a:off x="973735" y="1609674"/>
                  <a:ext cx="701740" cy="33855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right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16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</a:rPr>
                              <m:t>𝜏</m:t>
                            </m:r>
                          </m:e>
                          <m:sub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zh-CN" altLang="en-US" sz="1600" dirty="0"/>
                </a:p>
              </p:txBody>
            </p:sp>
          </mc:Choice>
          <mc:Fallback xmlns="">
            <p:sp>
              <p:nvSpPr>
                <p:cNvPr id="10" name="文本框 9">
                  <a:extLst>
                    <a:ext uri="{FF2B5EF4-FFF2-40B4-BE49-F238E27FC236}">
                      <a16:creationId xmlns:a16="http://schemas.microsoft.com/office/drawing/2014/main" id="{17CA4FA9-FDC2-79D8-4AF5-F59C98D291F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73735" y="1609674"/>
                  <a:ext cx="701740" cy="338554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文本框 10">
                  <a:extLst>
                    <a:ext uri="{FF2B5EF4-FFF2-40B4-BE49-F238E27FC236}">
                      <a16:creationId xmlns:a16="http://schemas.microsoft.com/office/drawing/2014/main" id="{94542419-45BB-FEF2-84C8-FC793B6AEFF6}"/>
                    </a:ext>
                  </a:extLst>
                </p:cNvPr>
                <p:cNvSpPr txBox="1"/>
                <p:nvPr/>
              </p:nvSpPr>
              <p:spPr>
                <a:xfrm>
                  <a:off x="999696" y="2571395"/>
                  <a:ext cx="718271" cy="35753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16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</a:rPr>
                              <m:t>𝑝𝑟𝑒</m:t>
                            </m:r>
                          </m:sub>
                        </m:sSub>
                      </m:oMath>
                    </m:oMathPara>
                  </a14:m>
                  <a:endParaRPr lang="zh-CN" altLang="en-US" sz="1600" dirty="0"/>
                </a:p>
              </p:txBody>
            </p:sp>
          </mc:Choice>
          <mc:Fallback xmlns="">
            <p:sp>
              <p:nvSpPr>
                <p:cNvPr id="11" name="文本框 10">
                  <a:extLst>
                    <a:ext uri="{FF2B5EF4-FFF2-40B4-BE49-F238E27FC236}">
                      <a16:creationId xmlns:a16="http://schemas.microsoft.com/office/drawing/2014/main" id="{94542419-45BB-FEF2-84C8-FC793B6AEFF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99696" y="2571395"/>
                  <a:ext cx="718271" cy="357534"/>
                </a:xfrm>
                <a:prstGeom prst="rect">
                  <a:avLst/>
                </a:prstGeom>
                <a:blipFill>
                  <a:blip r:embed="rId5"/>
                  <a:stretch>
                    <a:fillRect b="-3448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5" name="直接箭头连接符 14">
              <a:extLst>
                <a:ext uri="{FF2B5EF4-FFF2-40B4-BE49-F238E27FC236}">
                  <a16:creationId xmlns:a16="http://schemas.microsoft.com/office/drawing/2014/main" id="{208BEAD9-96F1-16C3-15D7-4FFA9BF20233}"/>
                </a:ext>
              </a:extLst>
            </p:cNvPr>
            <p:cNvCxnSpPr>
              <a:cxnSpLocks/>
              <a:stCxn id="6" idx="7"/>
            </p:cNvCxnSpPr>
            <p:nvPr/>
          </p:nvCxnSpPr>
          <p:spPr>
            <a:xfrm flipV="1">
              <a:off x="1274974" y="1752522"/>
              <a:ext cx="1718414" cy="639606"/>
            </a:xfrm>
            <a:prstGeom prst="straightConnector1">
              <a:avLst/>
            </a:prstGeom>
            <a:ln w="38100">
              <a:solidFill>
                <a:srgbClr val="1AE43C">
                  <a:alpha val="40000"/>
                </a:srgbClr>
              </a:solidFill>
              <a:prstDash val="dash"/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文本框 16">
                  <a:extLst>
                    <a:ext uri="{FF2B5EF4-FFF2-40B4-BE49-F238E27FC236}">
                      <a16:creationId xmlns:a16="http://schemas.microsoft.com/office/drawing/2014/main" id="{13CEEEA2-FAA1-8BA7-2054-3D978FC23B6A}"/>
                    </a:ext>
                  </a:extLst>
                </p:cNvPr>
                <p:cNvSpPr txBox="1"/>
                <p:nvPr/>
              </p:nvSpPr>
              <p:spPr>
                <a:xfrm>
                  <a:off x="2134181" y="2033568"/>
                  <a:ext cx="2292053" cy="35856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16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</a:rPr>
                              <m:t>𝜏</m:t>
                            </m:r>
                          </m:e>
                          <m:sub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</a:rPr>
                              <m:t>𝑚𝑒𝑟𝑔𝑒</m:t>
                            </m:r>
                          </m:sub>
                        </m:sSub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𝛼</m:t>
                        </m:r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altLang="zh-CN" sz="16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</a:rPr>
                              <m:t>𝜏</m:t>
                            </m:r>
                          </m:e>
                          <m:sub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altLang="zh-CN" sz="16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</a:rPr>
                              <m:t>𝜏</m:t>
                            </m:r>
                          </m:e>
                          <m:sub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zh-CN" altLang="en-US" sz="1600" dirty="0"/>
                </a:p>
              </p:txBody>
            </p:sp>
          </mc:Choice>
          <mc:Fallback xmlns="">
            <p:sp>
              <p:nvSpPr>
                <p:cNvPr id="17" name="文本框 16">
                  <a:extLst>
                    <a:ext uri="{FF2B5EF4-FFF2-40B4-BE49-F238E27FC236}">
                      <a16:creationId xmlns:a16="http://schemas.microsoft.com/office/drawing/2014/main" id="{13CEEEA2-FAA1-8BA7-2054-3D978FC23B6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134181" y="2033568"/>
                  <a:ext cx="2292053" cy="358560"/>
                </a:xfrm>
                <a:prstGeom prst="rect">
                  <a:avLst/>
                </a:prstGeom>
                <a:blipFill>
                  <a:blip r:embed="rId6"/>
                  <a:stretch>
                    <a:fillRect b="-6897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0" name="直接箭头连接符 19">
              <a:extLst>
                <a:ext uri="{FF2B5EF4-FFF2-40B4-BE49-F238E27FC236}">
                  <a16:creationId xmlns:a16="http://schemas.microsoft.com/office/drawing/2014/main" id="{C5B3B606-9098-7670-9FEF-EFC662EE0BE5}"/>
                </a:ext>
              </a:extLst>
            </p:cNvPr>
            <p:cNvCxnSpPr>
              <a:cxnSpLocks/>
            </p:cNvCxnSpPr>
            <p:nvPr/>
          </p:nvCxnSpPr>
          <p:spPr>
            <a:xfrm>
              <a:off x="1904352" y="1573255"/>
              <a:ext cx="1094596" cy="179267"/>
            </a:xfrm>
            <a:prstGeom prst="straightConnector1">
              <a:avLst/>
            </a:prstGeom>
            <a:ln w="28575">
              <a:solidFill>
                <a:srgbClr val="C00000">
                  <a:alpha val="40000"/>
                </a:srgbClr>
              </a:solidFill>
              <a:prstDash val="dash"/>
              <a:tailEnd type="triangle"/>
            </a:ln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22" name="直接箭头连接符 21">
              <a:extLst>
                <a:ext uri="{FF2B5EF4-FFF2-40B4-BE49-F238E27FC236}">
                  <a16:creationId xmlns:a16="http://schemas.microsoft.com/office/drawing/2014/main" id="{5B4134D3-8386-C599-23E8-C891D24C58E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349854" y="1757294"/>
              <a:ext cx="643534" cy="846601"/>
            </a:xfrm>
            <a:prstGeom prst="straightConnector1">
              <a:avLst/>
            </a:prstGeom>
            <a:ln w="38100">
              <a:solidFill>
                <a:srgbClr val="00B0F0">
                  <a:alpha val="45098"/>
                </a:srgbClr>
              </a:solidFill>
              <a:prstDash val="dash"/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7" name="直接箭头连接符 26">
              <a:extLst>
                <a:ext uri="{FF2B5EF4-FFF2-40B4-BE49-F238E27FC236}">
                  <a16:creationId xmlns:a16="http://schemas.microsoft.com/office/drawing/2014/main" id="{DBFC3DFE-C8FA-5C3D-C338-ECA2B5C85A83}"/>
                </a:ext>
              </a:extLst>
            </p:cNvPr>
            <p:cNvCxnSpPr>
              <a:cxnSpLocks/>
              <a:stCxn id="6" idx="7"/>
            </p:cNvCxnSpPr>
            <p:nvPr/>
          </p:nvCxnSpPr>
          <p:spPr>
            <a:xfrm flipV="1">
              <a:off x="1274974" y="1973835"/>
              <a:ext cx="1094596" cy="418293"/>
            </a:xfrm>
            <a:prstGeom prst="straightConnector1">
              <a:avLst/>
            </a:prstGeom>
            <a:ln w="38100">
              <a:solidFill>
                <a:srgbClr val="1AE43C"/>
              </a:solidFill>
              <a:prstDash val="solid"/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32" name="文本框 31">
            <a:extLst>
              <a:ext uri="{FF2B5EF4-FFF2-40B4-BE49-F238E27FC236}">
                <a16:creationId xmlns:a16="http://schemas.microsoft.com/office/drawing/2014/main" id="{E1FCCD43-2BA4-98D3-3BB3-EEFC385384DA}"/>
              </a:ext>
            </a:extLst>
          </p:cNvPr>
          <p:cNvSpPr txBox="1"/>
          <p:nvPr/>
        </p:nvSpPr>
        <p:spPr>
          <a:xfrm>
            <a:off x="478256" y="1089296"/>
            <a:ext cx="183579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zh-CN" b="1" dirty="0"/>
              <a:t>任务算术</a:t>
            </a:r>
            <a:r>
              <a:rPr lang="zh-CN" altLang="en-US" b="1" dirty="0"/>
              <a:t>：</a:t>
            </a:r>
            <a:endParaRPr lang="zh-CN" altLang="en-US" dirty="0"/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E9A00B96-0FFA-0A7D-09D0-64DF32C1F16E}"/>
              </a:ext>
            </a:extLst>
          </p:cNvPr>
          <p:cNvSpPr txBox="1"/>
          <p:nvPr/>
        </p:nvSpPr>
        <p:spPr>
          <a:xfrm>
            <a:off x="5025374" y="1089296"/>
            <a:ext cx="228982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b="1" dirty="0"/>
              <a:t>TIES-Merging</a:t>
            </a:r>
            <a:r>
              <a:rPr lang="zh-CN" altLang="en-US" b="1" dirty="0"/>
              <a:t>：</a:t>
            </a:r>
            <a:endParaRPr lang="zh-CN" altLang="en-US" dirty="0"/>
          </a:p>
        </p:txBody>
      </p:sp>
      <p:grpSp>
        <p:nvGrpSpPr>
          <p:cNvPr id="83" name="组合 82">
            <a:extLst>
              <a:ext uri="{FF2B5EF4-FFF2-40B4-BE49-F238E27FC236}">
                <a16:creationId xmlns:a16="http://schemas.microsoft.com/office/drawing/2014/main" id="{F04F5B83-AF7D-58F1-BB96-6870817177E0}"/>
              </a:ext>
            </a:extLst>
          </p:cNvPr>
          <p:cNvGrpSpPr/>
          <p:nvPr/>
        </p:nvGrpSpPr>
        <p:grpSpPr>
          <a:xfrm>
            <a:off x="5186884" y="1458628"/>
            <a:ext cx="3306071" cy="1524617"/>
            <a:chOff x="4782312" y="5403183"/>
            <a:chExt cx="3306071" cy="1098618"/>
          </a:xfrm>
        </p:grpSpPr>
        <p:sp>
          <p:nvSpPr>
            <p:cNvPr id="61" name="文本框 60">
              <a:extLst>
                <a:ext uri="{FF2B5EF4-FFF2-40B4-BE49-F238E27FC236}">
                  <a16:creationId xmlns:a16="http://schemas.microsoft.com/office/drawing/2014/main" id="{D9233560-0C3E-7742-6FDC-7A2648B0A546}"/>
                </a:ext>
              </a:extLst>
            </p:cNvPr>
            <p:cNvSpPr txBox="1"/>
            <p:nvPr/>
          </p:nvSpPr>
          <p:spPr>
            <a:xfrm>
              <a:off x="4782312" y="6302199"/>
              <a:ext cx="765300" cy="19960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sz="1200" b="1" dirty="0">
                  <a:latin typeface="+mn-ea"/>
                </a:rPr>
                <a:t>正常</a:t>
              </a:r>
              <a:endParaRPr lang="zh-CN" altLang="en-US" sz="1200" b="1" dirty="0"/>
            </a:p>
          </p:txBody>
        </p:sp>
        <p:grpSp>
          <p:nvGrpSpPr>
            <p:cNvPr id="62" name="组合 61">
              <a:extLst>
                <a:ext uri="{FF2B5EF4-FFF2-40B4-BE49-F238E27FC236}">
                  <a16:creationId xmlns:a16="http://schemas.microsoft.com/office/drawing/2014/main" id="{9030A948-EC07-6B5E-F32D-4A9DEEC91750}"/>
                </a:ext>
              </a:extLst>
            </p:cNvPr>
            <p:cNvGrpSpPr/>
            <p:nvPr/>
          </p:nvGrpSpPr>
          <p:grpSpPr>
            <a:xfrm>
              <a:off x="5765328" y="5592487"/>
              <a:ext cx="245280" cy="709712"/>
              <a:chOff x="5919300" y="5393908"/>
              <a:chExt cx="245280" cy="709712"/>
            </a:xfrm>
          </p:grpSpPr>
          <p:cxnSp>
            <p:nvCxnSpPr>
              <p:cNvPr id="63" name="直接箭头连接符 62">
                <a:extLst>
                  <a:ext uri="{FF2B5EF4-FFF2-40B4-BE49-F238E27FC236}">
                    <a16:creationId xmlns:a16="http://schemas.microsoft.com/office/drawing/2014/main" id="{D20CA3F7-F8A8-0E54-E039-294EAB619106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6164580" y="5677003"/>
                <a:ext cx="0" cy="107096"/>
              </a:xfrm>
              <a:prstGeom prst="straightConnector1">
                <a:avLst/>
              </a:prstGeom>
              <a:ln w="12700">
                <a:solidFill>
                  <a:srgbClr val="1AE43C"/>
                </a:solidFill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64" name="直接箭头连接符 63">
                <a:extLst>
                  <a:ext uri="{FF2B5EF4-FFF2-40B4-BE49-F238E27FC236}">
                    <a16:creationId xmlns:a16="http://schemas.microsoft.com/office/drawing/2014/main" id="{860C83C1-C6B2-3FA3-A656-F800CD91B8E2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919300" y="5393908"/>
                <a:ext cx="0" cy="390190"/>
              </a:xfrm>
              <a:prstGeom prst="straightConnector1">
                <a:avLst/>
              </a:prstGeom>
              <a:ln w="12700">
                <a:solidFill>
                  <a:srgbClr val="00B0F0"/>
                </a:solidFill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65" name="直接箭头连接符 64">
                <a:extLst>
                  <a:ext uri="{FF2B5EF4-FFF2-40B4-BE49-F238E27FC236}">
                    <a16:creationId xmlns:a16="http://schemas.microsoft.com/office/drawing/2014/main" id="{F70C3F92-162D-15C8-250F-348F954530F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058199" y="5784098"/>
                <a:ext cx="0" cy="319522"/>
              </a:xfrm>
              <a:prstGeom prst="straightConnector1">
                <a:avLst/>
              </a:prstGeom>
              <a:ln w="12700">
                <a:solidFill>
                  <a:srgbClr val="FF0000"/>
                </a:solidFill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grpSp>
          <p:nvGrpSpPr>
            <p:cNvPr id="66" name="组合 65">
              <a:extLst>
                <a:ext uri="{FF2B5EF4-FFF2-40B4-BE49-F238E27FC236}">
                  <a16:creationId xmlns:a16="http://schemas.microsoft.com/office/drawing/2014/main" id="{31DCAFCA-A957-05A8-FA27-C51A17E7B740}"/>
                </a:ext>
              </a:extLst>
            </p:cNvPr>
            <p:cNvGrpSpPr/>
            <p:nvPr/>
          </p:nvGrpSpPr>
          <p:grpSpPr>
            <a:xfrm>
              <a:off x="5061455" y="5559831"/>
              <a:ext cx="263353" cy="422846"/>
              <a:chOff x="5223047" y="5361252"/>
              <a:chExt cx="263353" cy="422846"/>
            </a:xfrm>
          </p:grpSpPr>
          <p:cxnSp>
            <p:nvCxnSpPr>
              <p:cNvPr id="67" name="直接箭头连接符 66">
                <a:extLst>
                  <a:ext uri="{FF2B5EF4-FFF2-40B4-BE49-F238E27FC236}">
                    <a16:creationId xmlns:a16="http://schemas.microsoft.com/office/drawing/2014/main" id="{BB752537-6EEA-25D1-2C4D-2D518E8D7E81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223047" y="5361252"/>
                <a:ext cx="0" cy="422846"/>
              </a:xfrm>
              <a:prstGeom prst="straightConnector1">
                <a:avLst/>
              </a:prstGeom>
              <a:ln w="12700">
                <a:solidFill>
                  <a:srgbClr val="00B0F0"/>
                </a:solidFill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68" name="直接箭头连接符 67">
                <a:extLst>
                  <a:ext uri="{FF2B5EF4-FFF2-40B4-BE49-F238E27FC236}">
                    <a16:creationId xmlns:a16="http://schemas.microsoft.com/office/drawing/2014/main" id="{87E08050-DB4F-A10B-97E2-4F3AA113961D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360207" y="5426564"/>
                <a:ext cx="0" cy="357534"/>
              </a:xfrm>
              <a:prstGeom prst="straightConnector1">
                <a:avLst/>
              </a:prstGeom>
              <a:ln w="12700">
                <a:solidFill>
                  <a:srgbClr val="FF0000"/>
                </a:solidFill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69" name="直接箭头连接符 68">
                <a:extLst>
                  <a:ext uri="{FF2B5EF4-FFF2-40B4-BE49-F238E27FC236}">
                    <a16:creationId xmlns:a16="http://schemas.microsoft.com/office/drawing/2014/main" id="{BE0839AD-6E9E-E0B6-BE83-DBF72947DFDB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486400" y="5393908"/>
                <a:ext cx="0" cy="390190"/>
              </a:xfrm>
              <a:prstGeom prst="straightConnector1">
                <a:avLst/>
              </a:prstGeom>
              <a:ln w="12700">
                <a:solidFill>
                  <a:srgbClr val="1AE43C"/>
                </a:solidFill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grpSp>
          <p:nvGrpSpPr>
            <p:cNvPr id="70" name="组合 69">
              <a:extLst>
                <a:ext uri="{FF2B5EF4-FFF2-40B4-BE49-F238E27FC236}">
                  <a16:creationId xmlns:a16="http://schemas.microsoft.com/office/drawing/2014/main" id="{AD3B6E79-5B29-637F-93B4-D3F5B36DCBA5}"/>
                </a:ext>
              </a:extLst>
            </p:cNvPr>
            <p:cNvGrpSpPr/>
            <p:nvPr/>
          </p:nvGrpSpPr>
          <p:grpSpPr>
            <a:xfrm>
              <a:off x="6451128" y="5576159"/>
              <a:ext cx="260520" cy="406518"/>
              <a:chOff x="6612720" y="5377580"/>
              <a:chExt cx="260520" cy="406518"/>
            </a:xfrm>
          </p:grpSpPr>
          <p:cxnSp>
            <p:nvCxnSpPr>
              <p:cNvPr id="71" name="直接箭头连接符 70">
                <a:extLst>
                  <a:ext uri="{FF2B5EF4-FFF2-40B4-BE49-F238E27FC236}">
                    <a16:creationId xmlns:a16="http://schemas.microsoft.com/office/drawing/2014/main" id="{2A50AA27-BA61-2BD3-DF34-5ED05644B352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6612720" y="5377580"/>
                <a:ext cx="0" cy="390190"/>
              </a:xfrm>
              <a:prstGeom prst="straightConnector1">
                <a:avLst/>
              </a:prstGeom>
              <a:ln w="12700">
                <a:solidFill>
                  <a:srgbClr val="00B0F0"/>
                </a:solidFill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2" name="直接箭头连接符 71">
                <a:extLst>
                  <a:ext uri="{FF2B5EF4-FFF2-40B4-BE49-F238E27FC236}">
                    <a16:creationId xmlns:a16="http://schemas.microsoft.com/office/drawing/2014/main" id="{627AF571-B34B-E4DE-55C9-CDD1894BD3FD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6751619" y="5686551"/>
                <a:ext cx="0" cy="97547"/>
              </a:xfrm>
              <a:prstGeom prst="straightConnector1">
                <a:avLst/>
              </a:prstGeom>
              <a:ln w="12700">
                <a:solidFill>
                  <a:srgbClr val="FF0000"/>
                </a:solidFill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3" name="直接箭头连接符 72">
                <a:extLst>
                  <a:ext uri="{FF2B5EF4-FFF2-40B4-BE49-F238E27FC236}">
                    <a16:creationId xmlns:a16="http://schemas.microsoft.com/office/drawing/2014/main" id="{D780A2BC-2A0B-AAEF-FFAA-B0336C5105FF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6873240" y="5572675"/>
                <a:ext cx="0" cy="195096"/>
              </a:xfrm>
              <a:prstGeom prst="straightConnector1">
                <a:avLst/>
              </a:prstGeom>
              <a:ln w="12700">
                <a:solidFill>
                  <a:srgbClr val="1AE43C"/>
                </a:solidFill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cxnSp>
          <p:nvCxnSpPr>
            <p:cNvPr id="74" name="直接连接符 73">
              <a:extLst>
                <a:ext uri="{FF2B5EF4-FFF2-40B4-BE49-F238E27FC236}">
                  <a16:creationId xmlns:a16="http://schemas.microsoft.com/office/drawing/2014/main" id="{3E6C7148-5AB1-22F8-7346-1D627E370A68}"/>
                </a:ext>
              </a:extLst>
            </p:cNvPr>
            <p:cNvCxnSpPr>
              <a:cxnSpLocks/>
            </p:cNvCxnSpPr>
            <p:nvPr/>
          </p:nvCxnSpPr>
          <p:spPr>
            <a:xfrm>
              <a:off x="4794456" y="5982677"/>
              <a:ext cx="2057400" cy="0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5" name="文本框 74">
              <a:extLst>
                <a:ext uri="{FF2B5EF4-FFF2-40B4-BE49-F238E27FC236}">
                  <a16:creationId xmlns:a16="http://schemas.microsoft.com/office/drawing/2014/main" id="{EDF34C7E-9C0E-34B8-77EE-D029038DFDA4}"/>
                </a:ext>
              </a:extLst>
            </p:cNvPr>
            <p:cNvSpPr txBox="1"/>
            <p:nvPr/>
          </p:nvSpPr>
          <p:spPr>
            <a:xfrm>
              <a:off x="5402880" y="6302199"/>
              <a:ext cx="1048248" cy="19960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sz="1200" b="1" dirty="0">
                  <a:latin typeface="+mn-ea"/>
                </a:rPr>
                <a:t>符号冲突</a:t>
              </a:r>
              <a:endParaRPr lang="zh-CN" altLang="en-US" sz="1200" b="1" dirty="0"/>
            </a:p>
          </p:txBody>
        </p:sp>
        <p:sp>
          <p:nvSpPr>
            <p:cNvPr id="76" name="文本框 75">
              <a:extLst>
                <a:ext uri="{FF2B5EF4-FFF2-40B4-BE49-F238E27FC236}">
                  <a16:creationId xmlns:a16="http://schemas.microsoft.com/office/drawing/2014/main" id="{D05473E5-F023-54A1-088D-5F30CCF0DAE8}"/>
                </a:ext>
              </a:extLst>
            </p:cNvPr>
            <p:cNvSpPr txBox="1"/>
            <p:nvPr/>
          </p:nvSpPr>
          <p:spPr>
            <a:xfrm>
              <a:off x="6125639" y="6302199"/>
              <a:ext cx="1048248" cy="19960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sz="1200" b="1" dirty="0">
                  <a:latin typeface="+mn-ea"/>
                </a:rPr>
                <a:t>参数冗余</a:t>
              </a:r>
              <a:endParaRPr lang="zh-CN" altLang="en-US" sz="1200" b="1" dirty="0"/>
            </a:p>
          </p:txBody>
        </p:sp>
        <p:cxnSp>
          <p:nvCxnSpPr>
            <p:cNvPr id="77" name="直接箭头连接符 76">
              <a:extLst>
                <a:ext uri="{FF2B5EF4-FFF2-40B4-BE49-F238E27FC236}">
                  <a16:creationId xmlns:a16="http://schemas.microsoft.com/office/drawing/2014/main" id="{7428345F-2E6F-2260-B97A-37E776338C01}"/>
                </a:ext>
              </a:extLst>
            </p:cNvPr>
            <p:cNvCxnSpPr>
              <a:cxnSpLocks/>
            </p:cNvCxnSpPr>
            <p:nvPr/>
          </p:nvCxnSpPr>
          <p:spPr>
            <a:xfrm>
              <a:off x="7111660" y="5521264"/>
              <a:ext cx="390190" cy="0"/>
            </a:xfrm>
            <a:prstGeom prst="straightConnector1">
              <a:avLst/>
            </a:prstGeom>
            <a:ln w="12700">
              <a:solidFill>
                <a:srgbClr val="00B0F0"/>
              </a:solidFill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78" name="直接箭头连接符 77">
              <a:extLst>
                <a:ext uri="{FF2B5EF4-FFF2-40B4-BE49-F238E27FC236}">
                  <a16:creationId xmlns:a16="http://schemas.microsoft.com/office/drawing/2014/main" id="{24F60CD2-1718-23E8-51F7-BA6D130F179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127988" y="5683078"/>
              <a:ext cx="390190" cy="4314"/>
            </a:xfrm>
            <a:prstGeom prst="straightConnector1">
              <a:avLst/>
            </a:prstGeom>
            <a:ln w="12700">
              <a:solidFill>
                <a:srgbClr val="FF0000"/>
              </a:solidFill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79" name="直接箭头连接符 78">
              <a:extLst>
                <a:ext uri="{FF2B5EF4-FFF2-40B4-BE49-F238E27FC236}">
                  <a16:creationId xmlns:a16="http://schemas.microsoft.com/office/drawing/2014/main" id="{631343CA-F836-9C7A-26DC-EB49815E1871}"/>
                </a:ext>
              </a:extLst>
            </p:cNvPr>
            <p:cNvCxnSpPr>
              <a:cxnSpLocks/>
            </p:cNvCxnSpPr>
            <p:nvPr/>
          </p:nvCxnSpPr>
          <p:spPr>
            <a:xfrm rot="5400000" flipV="1">
              <a:off x="7323083" y="5654110"/>
              <a:ext cx="0" cy="390190"/>
            </a:xfrm>
            <a:prstGeom prst="straightConnector1">
              <a:avLst/>
            </a:prstGeom>
            <a:ln w="12700">
              <a:solidFill>
                <a:srgbClr val="1AE43C"/>
              </a:solidFill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80" name="文本框 79">
              <a:extLst>
                <a:ext uri="{FF2B5EF4-FFF2-40B4-BE49-F238E27FC236}">
                  <a16:creationId xmlns:a16="http://schemas.microsoft.com/office/drawing/2014/main" id="{56C33F18-20AF-6670-4476-FFF29A975537}"/>
                </a:ext>
              </a:extLst>
            </p:cNvPr>
            <p:cNvSpPr txBox="1"/>
            <p:nvPr/>
          </p:nvSpPr>
          <p:spPr>
            <a:xfrm>
              <a:off x="7323083" y="5403183"/>
              <a:ext cx="765300" cy="18296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sz="1050" b="1" dirty="0">
                  <a:latin typeface="+mn-ea"/>
                </a:rPr>
                <a:t>任务</a:t>
              </a:r>
              <a:r>
                <a:rPr lang="en-US" altLang="zh-CN" sz="1050" b="1" dirty="0">
                  <a:latin typeface="+mn-ea"/>
                </a:rPr>
                <a:t>A</a:t>
              </a:r>
              <a:endParaRPr lang="zh-CN" altLang="en-US" sz="1050" b="1" dirty="0"/>
            </a:p>
          </p:txBody>
        </p:sp>
        <p:sp>
          <p:nvSpPr>
            <p:cNvPr id="81" name="文本框 80">
              <a:extLst>
                <a:ext uri="{FF2B5EF4-FFF2-40B4-BE49-F238E27FC236}">
                  <a16:creationId xmlns:a16="http://schemas.microsoft.com/office/drawing/2014/main" id="{60EDFCA9-0C27-845D-79C8-6058AFDD6767}"/>
                </a:ext>
              </a:extLst>
            </p:cNvPr>
            <p:cNvSpPr txBox="1"/>
            <p:nvPr/>
          </p:nvSpPr>
          <p:spPr>
            <a:xfrm>
              <a:off x="7323083" y="5567153"/>
              <a:ext cx="765300" cy="18296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sz="1050" b="1" dirty="0">
                  <a:latin typeface="+mn-ea"/>
                </a:rPr>
                <a:t>任务</a:t>
              </a:r>
              <a:r>
                <a:rPr lang="en-US" altLang="zh-CN" sz="1050" b="1" dirty="0">
                  <a:latin typeface="+mn-ea"/>
                </a:rPr>
                <a:t>B</a:t>
              </a:r>
              <a:endParaRPr lang="zh-CN" altLang="en-US" sz="1050" b="1" dirty="0"/>
            </a:p>
          </p:txBody>
        </p:sp>
        <p:sp>
          <p:nvSpPr>
            <p:cNvPr id="82" name="文本框 81">
              <a:extLst>
                <a:ext uri="{FF2B5EF4-FFF2-40B4-BE49-F238E27FC236}">
                  <a16:creationId xmlns:a16="http://schemas.microsoft.com/office/drawing/2014/main" id="{A104E52D-9FC6-0D80-587D-388DAF826033}"/>
                </a:ext>
              </a:extLst>
            </p:cNvPr>
            <p:cNvSpPr txBox="1"/>
            <p:nvPr/>
          </p:nvSpPr>
          <p:spPr>
            <a:xfrm>
              <a:off x="7323083" y="5735517"/>
              <a:ext cx="765300" cy="18296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sz="1050" b="1" dirty="0">
                  <a:latin typeface="+mn-ea"/>
                </a:rPr>
                <a:t>融合</a:t>
              </a:r>
              <a:endParaRPr lang="zh-CN" altLang="en-US" sz="1050" b="1" dirty="0"/>
            </a:p>
          </p:txBody>
        </p:sp>
      </p:grpSp>
    </p:spTree>
    <p:extLst>
      <p:ext uri="{BB962C8B-B14F-4D97-AF65-F5344CB8AC3E}">
        <p14:creationId xmlns:p14="http://schemas.microsoft.com/office/powerpoint/2010/main" val="37111808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/>
      <p:bldP spid="33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46A04A-FB73-29DD-7D2F-1CA1F85403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4">
            <a:extLst>
              <a:ext uri="{FF2B5EF4-FFF2-40B4-BE49-F238E27FC236}">
                <a16:creationId xmlns:a16="http://schemas.microsoft.com/office/drawing/2014/main" id="{F26F499E-1F3A-F101-452A-B4849888AFE2}"/>
              </a:ext>
            </a:extLst>
          </p:cNvPr>
          <p:cNvSpPr txBox="1"/>
          <p:nvPr userDrawn="1"/>
        </p:nvSpPr>
        <p:spPr>
          <a:xfrm>
            <a:off x="1158408" y="152874"/>
            <a:ext cx="5225625" cy="542617"/>
          </a:xfrm>
          <a:prstGeom prst="rect">
            <a:avLst/>
          </a:prstGeom>
        </p:spPr>
        <p:txBody>
          <a:bodyPr vert="horz" lIns="91440" tIns="45721" rIns="91440" bIns="45721" rtlCol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zh-CN" altLang="en-US" sz="2400" b="1" kern="12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rgbClr val="000000">
                  <a:lumMod val="75000"/>
                  <a:lumOff val="25000"/>
                </a:srgb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07" name="文本框 106">
            <a:extLst>
              <a:ext uri="{FF2B5EF4-FFF2-40B4-BE49-F238E27FC236}">
                <a16:creationId xmlns:a16="http://schemas.microsoft.com/office/drawing/2014/main" id="{AFE299A5-7EEF-994B-8E8F-3F6FDAE5102E}"/>
              </a:ext>
            </a:extLst>
          </p:cNvPr>
          <p:cNvSpPr txBox="1"/>
          <p:nvPr/>
        </p:nvSpPr>
        <p:spPr>
          <a:xfrm>
            <a:off x="1150405" y="149467"/>
            <a:ext cx="654286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1.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研究设计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3B9B809B-4111-CAD3-C406-AD263DCC1AED}"/>
              </a:ext>
            </a:extLst>
          </p:cNvPr>
          <p:cNvSpPr txBox="1"/>
          <p:nvPr/>
        </p:nvSpPr>
        <p:spPr>
          <a:xfrm>
            <a:off x="435553" y="778914"/>
            <a:ext cx="330602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zh-CN" altLang="en-US" b="1" dirty="0">
                <a:solidFill>
                  <a:srgbClr val="268F9C"/>
                </a:solidFill>
                <a:latin typeface="+mn-ea"/>
              </a:rPr>
              <a:t>模型融合技术选取</a:t>
            </a:r>
            <a:endParaRPr lang="en-US" altLang="zh-CN" b="1" dirty="0">
              <a:solidFill>
                <a:srgbClr val="268F9C"/>
              </a:solidFill>
              <a:latin typeface="+mn-ea"/>
            </a:endParaRPr>
          </a:p>
        </p:txBody>
      </p:sp>
      <p:grpSp>
        <p:nvGrpSpPr>
          <p:cNvPr id="60" name="组合 59">
            <a:extLst>
              <a:ext uri="{FF2B5EF4-FFF2-40B4-BE49-F238E27FC236}">
                <a16:creationId xmlns:a16="http://schemas.microsoft.com/office/drawing/2014/main" id="{B7D6C1D4-8C65-2CA2-59F9-30B8441E8659}"/>
              </a:ext>
            </a:extLst>
          </p:cNvPr>
          <p:cNvGrpSpPr/>
          <p:nvPr/>
        </p:nvGrpSpPr>
        <p:grpSpPr>
          <a:xfrm>
            <a:off x="864500" y="1685895"/>
            <a:ext cx="3452499" cy="1383402"/>
            <a:chOff x="973735" y="1545527"/>
            <a:chExt cx="3452499" cy="1383402"/>
          </a:xfrm>
        </p:grpSpPr>
        <p:cxnSp>
          <p:nvCxnSpPr>
            <p:cNvPr id="18" name="直接箭头连接符 17">
              <a:extLst>
                <a:ext uri="{FF2B5EF4-FFF2-40B4-BE49-F238E27FC236}">
                  <a16:creationId xmlns:a16="http://schemas.microsoft.com/office/drawing/2014/main" id="{4CEE0BDD-B1DE-CA61-0BEB-3D16CDB9F79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274974" y="1545527"/>
              <a:ext cx="643534" cy="846601"/>
            </a:xfrm>
            <a:prstGeom prst="straightConnector1">
              <a:avLst/>
            </a:prstGeom>
            <a:ln w="38100">
              <a:solidFill>
                <a:srgbClr val="00B0F0"/>
              </a:solidFill>
              <a:prstDash val="solid"/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" name="直接箭头连接符 3">
              <a:extLst>
                <a:ext uri="{FF2B5EF4-FFF2-40B4-BE49-F238E27FC236}">
                  <a16:creationId xmlns:a16="http://schemas.microsoft.com/office/drawing/2014/main" id="{DADA4ADC-126E-F4B1-66B9-E3651F0F18E0}"/>
                </a:ext>
              </a:extLst>
            </p:cNvPr>
            <p:cNvCxnSpPr>
              <a:cxnSpLocks/>
            </p:cNvCxnSpPr>
            <p:nvPr/>
          </p:nvCxnSpPr>
          <p:spPr>
            <a:xfrm>
              <a:off x="1274974" y="2392128"/>
              <a:ext cx="1094596" cy="179267"/>
            </a:xfrm>
            <a:prstGeom prst="straightConnector1">
              <a:avLst/>
            </a:prstGeom>
            <a:ln w="28575">
              <a:solidFill>
                <a:srgbClr val="C00000"/>
              </a:solidFill>
              <a:prstDash val="solid"/>
              <a:tailEnd type="triangle"/>
            </a:ln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" name="文本框 4">
                  <a:extLst>
                    <a:ext uri="{FF2B5EF4-FFF2-40B4-BE49-F238E27FC236}">
                      <a16:creationId xmlns:a16="http://schemas.microsoft.com/office/drawing/2014/main" id="{2BB60AF0-7C06-D50A-473B-EFFCC3C246A5}"/>
                    </a:ext>
                  </a:extLst>
                </p:cNvPr>
                <p:cNvSpPr txBox="1"/>
                <p:nvPr/>
              </p:nvSpPr>
              <p:spPr>
                <a:xfrm>
                  <a:off x="1169855" y="2443343"/>
                  <a:ext cx="823390" cy="33855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right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16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</a:rPr>
                              <m:t>𝜏</m:t>
                            </m:r>
                          </m:e>
                          <m:sub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zh-CN" altLang="en-US" sz="1600" dirty="0"/>
                </a:p>
              </p:txBody>
            </p:sp>
          </mc:Choice>
          <mc:Fallback xmlns="">
            <p:sp>
              <p:nvSpPr>
                <p:cNvPr id="5" name="文本框 4">
                  <a:extLst>
                    <a:ext uri="{FF2B5EF4-FFF2-40B4-BE49-F238E27FC236}">
                      <a16:creationId xmlns:a16="http://schemas.microsoft.com/office/drawing/2014/main" id="{2BB60AF0-7C06-D50A-473B-EFFCC3C246A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69855" y="2443343"/>
                  <a:ext cx="823390" cy="338554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6" name="椭圆 5">
              <a:extLst>
                <a:ext uri="{FF2B5EF4-FFF2-40B4-BE49-F238E27FC236}">
                  <a16:creationId xmlns:a16="http://schemas.microsoft.com/office/drawing/2014/main" id="{182B99A1-55A1-4BD9-907F-F8D7673362BF}"/>
                </a:ext>
              </a:extLst>
            </p:cNvPr>
            <p:cNvSpPr/>
            <p:nvPr/>
          </p:nvSpPr>
          <p:spPr>
            <a:xfrm rot="1274678">
              <a:off x="1016474" y="2311593"/>
              <a:ext cx="270000" cy="269518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文本框 9">
                  <a:extLst>
                    <a:ext uri="{FF2B5EF4-FFF2-40B4-BE49-F238E27FC236}">
                      <a16:creationId xmlns:a16="http://schemas.microsoft.com/office/drawing/2014/main" id="{72F3E948-EC2D-E0B3-40CF-CE65D053D993}"/>
                    </a:ext>
                  </a:extLst>
                </p:cNvPr>
                <p:cNvSpPr txBox="1"/>
                <p:nvPr/>
              </p:nvSpPr>
              <p:spPr>
                <a:xfrm>
                  <a:off x="973735" y="1609674"/>
                  <a:ext cx="701740" cy="33855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right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16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</a:rPr>
                              <m:t>𝜏</m:t>
                            </m:r>
                          </m:e>
                          <m:sub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zh-CN" altLang="en-US" sz="1600" dirty="0"/>
                </a:p>
              </p:txBody>
            </p:sp>
          </mc:Choice>
          <mc:Fallback xmlns="">
            <p:sp>
              <p:nvSpPr>
                <p:cNvPr id="10" name="文本框 9">
                  <a:extLst>
                    <a:ext uri="{FF2B5EF4-FFF2-40B4-BE49-F238E27FC236}">
                      <a16:creationId xmlns:a16="http://schemas.microsoft.com/office/drawing/2014/main" id="{72F3E948-EC2D-E0B3-40CF-CE65D053D99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73735" y="1609674"/>
                  <a:ext cx="701740" cy="338554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文本框 10">
                  <a:extLst>
                    <a:ext uri="{FF2B5EF4-FFF2-40B4-BE49-F238E27FC236}">
                      <a16:creationId xmlns:a16="http://schemas.microsoft.com/office/drawing/2014/main" id="{E97F14F2-833B-4CC8-B161-2227BA6E07DD}"/>
                    </a:ext>
                  </a:extLst>
                </p:cNvPr>
                <p:cNvSpPr txBox="1"/>
                <p:nvPr/>
              </p:nvSpPr>
              <p:spPr>
                <a:xfrm>
                  <a:off x="999696" y="2571395"/>
                  <a:ext cx="718271" cy="35753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16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</a:rPr>
                              <m:t>𝑝𝑟𝑒</m:t>
                            </m:r>
                          </m:sub>
                        </m:sSub>
                      </m:oMath>
                    </m:oMathPara>
                  </a14:m>
                  <a:endParaRPr lang="zh-CN" altLang="en-US" sz="1600" dirty="0"/>
                </a:p>
              </p:txBody>
            </p:sp>
          </mc:Choice>
          <mc:Fallback xmlns="">
            <p:sp>
              <p:nvSpPr>
                <p:cNvPr id="11" name="文本框 10">
                  <a:extLst>
                    <a:ext uri="{FF2B5EF4-FFF2-40B4-BE49-F238E27FC236}">
                      <a16:creationId xmlns:a16="http://schemas.microsoft.com/office/drawing/2014/main" id="{E97F14F2-833B-4CC8-B161-2227BA6E07D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99696" y="2571395"/>
                  <a:ext cx="718271" cy="357534"/>
                </a:xfrm>
                <a:prstGeom prst="rect">
                  <a:avLst/>
                </a:prstGeom>
                <a:blipFill>
                  <a:blip r:embed="rId5"/>
                  <a:stretch>
                    <a:fillRect b="-3448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5" name="直接箭头连接符 14">
              <a:extLst>
                <a:ext uri="{FF2B5EF4-FFF2-40B4-BE49-F238E27FC236}">
                  <a16:creationId xmlns:a16="http://schemas.microsoft.com/office/drawing/2014/main" id="{9C9A3055-0ADC-C821-21C8-F8F5304D87E7}"/>
                </a:ext>
              </a:extLst>
            </p:cNvPr>
            <p:cNvCxnSpPr>
              <a:cxnSpLocks/>
              <a:stCxn id="6" idx="7"/>
            </p:cNvCxnSpPr>
            <p:nvPr/>
          </p:nvCxnSpPr>
          <p:spPr>
            <a:xfrm flipV="1">
              <a:off x="1274974" y="1752522"/>
              <a:ext cx="1718414" cy="639606"/>
            </a:xfrm>
            <a:prstGeom prst="straightConnector1">
              <a:avLst/>
            </a:prstGeom>
            <a:ln w="38100">
              <a:solidFill>
                <a:srgbClr val="1AE43C">
                  <a:alpha val="40000"/>
                </a:srgbClr>
              </a:solidFill>
              <a:prstDash val="dash"/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文本框 16">
                  <a:extLst>
                    <a:ext uri="{FF2B5EF4-FFF2-40B4-BE49-F238E27FC236}">
                      <a16:creationId xmlns:a16="http://schemas.microsoft.com/office/drawing/2014/main" id="{A16235D7-7202-019D-73ED-A9C1FCBC682D}"/>
                    </a:ext>
                  </a:extLst>
                </p:cNvPr>
                <p:cNvSpPr txBox="1"/>
                <p:nvPr/>
              </p:nvSpPr>
              <p:spPr>
                <a:xfrm>
                  <a:off x="2134181" y="2033568"/>
                  <a:ext cx="2292053" cy="35856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16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</a:rPr>
                              <m:t>𝜏</m:t>
                            </m:r>
                          </m:e>
                          <m:sub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</a:rPr>
                              <m:t>𝑚𝑒𝑟𝑔𝑒</m:t>
                            </m:r>
                          </m:sub>
                        </m:sSub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𝛼</m:t>
                        </m:r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altLang="zh-CN" sz="16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</a:rPr>
                              <m:t>𝜏</m:t>
                            </m:r>
                          </m:e>
                          <m:sub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altLang="zh-CN" sz="16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</a:rPr>
                              <m:t>𝜏</m:t>
                            </m:r>
                          </m:e>
                          <m:sub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zh-CN" altLang="en-US" sz="1600" dirty="0"/>
                </a:p>
              </p:txBody>
            </p:sp>
          </mc:Choice>
          <mc:Fallback xmlns="">
            <p:sp>
              <p:nvSpPr>
                <p:cNvPr id="17" name="文本框 16">
                  <a:extLst>
                    <a:ext uri="{FF2B5EF4-FFF2-40B4-BE49-F238E27FC236}">
                      <a16:creationId xmlns:a16="http://schemas.microsoft.com/office/drawing/2014/main" id="{A16235D7-7202-019D-73ED-A9C1FCBC682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134181" y="2033568"/>
                  <a:ext cx="2292053" cy="358560"/>
                </a:xfrm>
                <a:prstGeom prst="rect">
                  <a:avLst/>
                </a:prstGeom>
                <a:blipFill>
                  <a:blip r:embed="rId6"/>
                  <a:stretch>
                    <a:fillRect b="-6897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0" name="直接箭头连接符 19">
              <a:extLst>
                <a:ext uri="{FF2B5EF4-FFF2-40B4-BE49-F238E27FC236}">
                  <a16:creationId xmlns:a16="http://schemas.microsoft.com/office/drawing/2014/main" id="{A1908CFF-0131-E1CE-3C86-0F0F8C8F3498}"/>
                </a:ext>
              </a:extLst>
            </p:cNvPr>
            <p:cNvCxnSpPr>
              <a:cxnSpLocks/>
            </p:cNvCxnSpPr>
            <p:nvPr/>
          </p:nvCxnSpPr>
          <p:spPr>
            <a:xfrm>
              <a:off x="1904352" y="1573255"/>
              <a:ext cx="1094596" cy="179267"/>
            </a:xfrm>
            <a:prstGeom prst="straightConnector1">
              <a:avLst/>
            </a:prstGeom>
            <a:ln w="28575">
              <a:solidFill>
                <a:srgbClr val="C00000">
                  <a:alpha val="40000"/>
                </a:srgbClr>
              </a:solidFill>
              <a:prstDash val="dash"/>
              <a:tailEnd type="triangle"/>
            </a:ln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22" name="直接箭头连接符 21">
              <a:extLst>
                <a:ext uri="{FF2B5EF4-FFF2-40B4-BE49-F238E27FC236}">
                  <a16:creationId xmlns:a16="http://schemas.microsoft.com/office/drawing/2014/main" id="{B3B3DA9D-AF36-E269-A6A7-FDE42289D7F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349854" y="1757294"/>
              <a:ext cx="643534" cy="846601"/>
            </a:xfrm>
            <a:prstGeom prst="straightConnector1">
              <a:avLst/>
            </a:prstGeom>
            <a:ln w="38100">
              <a:solidFill>
                <a:srgbClr val="00B0F0">
                  <a:alpha val="45098"/>
                </a:srgbClr>
              </a:solidFill>
              <a:prstDash val="dash"/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7" name="直接箭头连接符 26">
              <a:extLst>
                <a:ext uri="{FF2B5EF4-FFF2-40B4-BE49-F238E27FC236}">
                  <a16:creationId xmlns:a16="http://schemas.microsoft.com/office/drawing/2014/main" id="{FA545412-1636-4472-87AF-9B512FFAB318}"/>
                </a:ext>
              </a:extLst>
            </p:cNvPr>
            <p:cNvCxnSpPr>
              <a:cxnSpLocks/>
              <a:stCxn id="6" idx="7"/>
            </p:cNvCxnSpPr>
            <p:nvPr/>
          </p:nvCxnSpPr>
          <p:spPr>
            <a:xfrm flipV="1">
              <a:off x="1274974" y="1973835"/>
              <a:ext cx="1094596" cy="418293"/>
            </a:xfrm>
            <a:prstGeom prst="straightConnector1">
              <a:avLst/>
            </a:prstGeom>
            <a:ln w="38100">
              <a:solidFill>
                <a:srgbClr val="1AE43C"/>
              </a:solidFill>
              <a:prstDash val="solid"/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32" name="文本框 31">
            <a:extLst>
              <a:ext uri="{FF2B5EF4-FFF2-40B4-BE49-F238E27FC236}">
                <a16:creationId xmlns:a16="http://schemas.microsoft.com/office/drawing/2014/main" id="{0A4A8655-EC42-1645-465D-2CEBA773A853}"/>
              </a:ext>
            </a:extLst>
          </p:cNvPr>
          <p:cNvSpPr txBox="1"/>
          <p:nvPr/>
        </p:nvSpPr>
        <p:spPr>
          <a:xfrm>
            <a:off x="478256" y="1089296"/>
            <a:ext cx="183579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zh-CN" b="1" dirty="0"/>
              <a:t>任务算术</a:t>
            </a:r>
            <a:r>
              <a:rPr lang="zh-CN" altLang="en-US" b="1" dirty="0"/>
              <a:t>：</a:t>
            </a:r>
            <a:endParaRPr lang="zh-CN" altLang="en-US" dirty="0"/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2EB98046-DC83-2F4E-CC8E-1D41E5A2A707}"/>
              </a:ext>
            </a:extLst>
          </p:cNvPr>
          <p:cNvSpPr txBox="1"/>
          <p:nvPr/>
        </p:nvSpPr>
        <p:spPr>
          <a:xfrm>
            <a:off x="5025374" y="1089296"/>
            <a:ext cx="228982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b="1" dirty="0"/>
              <a:t>TIES-Merging</a:t>
            </a:r>
            <a:r>
              <a:rPr lang="zh-CN" altLang="en-US" b="1" dirty="0"/>
              <a:t>：</a:t>
            </a:r>
            <a:endParaRPr lang="zh-CN" altLang="en-US" dirty="0"/>
          </a:p>
        </p:txBody>
      </p:sp>
      <p:grpSp>
        <p:nvGrpSpPr>
          <p:cNvPr id="83" name="组合 82">
            <a:extLst>
              <a:ext uri="{FF2B5EF4-FFF2-40B4-BE49-F238E27FC236}">
                <a16:creationId xmlns:a16="http://schemas.microsoft.com/office/drawing/2014/main" id="{12F8718B-038A-2712-B69F-C39F32471B90}"/>
              </a:ext>
            </a:extLst>
          </p:cNvPr>
          <p:cNvGrpSpPr/>
          <p:nvPr/>
        </p:nvGrpSpPr>
        <p:grpSpPr>
          <a:xfrm>
            <a:off x="5186884" y="1458628"/>
            <a:ext cx="3306071" cy="1524617"/>
            <a:chOff x="4782312" y="5403183"/>
            <a:chExt cx="3306071" cy="1098618"/>
          </a:xfrm>
        </p:grpSpPr>
        <p:sp>
          <p:nvSpPr>
            <p:cNvPr id="61" name="文本框 60">
              <a:extLst>
                <a:ext uri="{FF2B5EF4-FFF2-40B4-BE49-F238E27FC236}">
                  <a16:creationId xmlns:a16="http://schemas.microsoft.com/office/drawing/2014/main" id="{AF8C1201-3DF2-0F66-2F49-5AAF8F09D553}"/>
                </a:ext>
              </a:extLst>
            </p:cNvPr>
            <p:cNvSpPr txBox="1"/>
            <p:nvPr/>
          </p:nvSpPr>
          <p:spPr>
            <a:xfrm>
              <a:off x="4782312" y="6302199"/>
              <a:ext cx="765300" cy="19960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sz="1200" b="1" dirty="0">
                  <a:latin typeface="+mn-ea"/>
                </a:rPr>
                <a:t>正常</a:t>
              </a:r>
              <a:endParaRPr lang="zh-CN" altLang="en-US" sz="1200" b="1" dirty="0"/>
            </a:p>
          </p:txBody>
        </p:sp>
        <p:grpSp>
          <p:nvGrpSpPr>
            <p:cNvPr id="62" name="组合 61">
              <a:extLst>
                <a:ext uri="{FF2B5EF4-FFF2-40B4-BE49-F238E27FC236}">
                  <a16:creationId xmlns:a16="http://schemas.microsoft.com/office/drawing/2014/main" id="{A6CFB6EF-00ED-561B-2CD4-EC7CFB3FA238}"/>
                </a:ext>
              </a:extLst>
            </p:cNvPr>
            <p:cNvGrpSpPr/>
            <p:nvPr/>
          </p:nvGrpSpPr>
          <p:grpSpPr>
            <a:xfrm>
              <a:off x="5765328" y="5592487"/>
              <a:ext cx="245280" cy="709712"/>
              <a:chOff x="5919300" y="5393908"/>
              <a:chExt cx="245280" cy="709712"/>
            </a:xfrm>
          </p:grpSpPr>
          <p:cxnSp>
            <p:nvCxnSpPr>
              <p:cNvPr id="63" name="直接箭头连接符 62">
                <a:extLst>
                  <a:ext uri="{FF2B5EF4-FFF2-40B4-BE49-F238E27FC236}">
                    <a16:creationId xmlns:a16="http://schemas.microsoft.com/office/drawing/2014/main" id="{08AECB1F-7FD5-61FC-45B4-344241AB73C3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6164580" y="5677003"/>
                <a:ext cx="0" cy="107096"/>
              </a:xfrm>
              <a:prstGeom prst="straightConnector1">
                <a:avLst/>
              </a:prstGeom>
              <a:ln w="12700">
                <a:solidFill>
                  <a:srgbClr val="1AE43C"/>
                </a:solidFill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64" name="直接箭头连接符 63">
                <a:extLst>
                  <a:ext uri="{FF2B5EF4-FFF2-40B4-BE49-F238E27FC236}">
                    <a16:creationId xmlns:a16="http://schemas.microsoft.com/office/drawing/2014/main" id="{7FBD7D07-2D04-AA03-949D-143DAD806A31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919300" y="5393908"/>
                <a:ext cx="0" cy="390190"/>
              </a:xfrm>
              <a:prstGeom prst="straightConnector1">
                <a:avLst/>
              </a:prstGeom>
              <a:ln w="12700">
                <a:solidFill>
                  <a:srgbClr val="00B0F0"/>
                </a:solidFill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65" name="直接箭头连接符 64">
                <a:extLst>
                  <a:ext uri="{FF2B5EF4-FFF2-40B4-BE49-F238E27FC236}">
                    <a16:creationId xmlns:a16="http://schemas.microsoft.com/office/drawing/2014/main" id="{92BBEC5F-7A31-4397-85F8-73921BB4FD6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058199" y="5784098"/>
                <a:ext cx="0" cy="319522"/>
              </a:xfrm>
              <a:prstGeom prst="straightConnector1">
                <a:avLst/>
              </a:prstGeom>
              <a:ln w="12700">
                <a:solidFill>
                  <a:srgbClr val="FF0000"/>
                </a:solidFill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grpSp>
          <p:nvGrpSpPr>
            <p:cNvPr id="66" name="组合 65">
              <a:extLst>
                <a:ext uri="{FF2B5EF4-FFF2-40B4-BE49-F238E27FC236}">
                  <a16:creationId xmlns:a16="http://schemas.microsoft.com/office/drawing/2014/main" id="{A281586D-DBC2-00B5-1075-AAFC5F31D3F6}"/>
                </a:ext>
              </a:extLst>
            </p:cNvPr>
            <p:cNvGrpSpPr/>
            <p:nvPr/>
          </p:nvGrpSpPr>
          <p:grpSpPr>
            <a:xfrm>
              <a:off x="5061455" y="5559831"/>
              <a:ext cx="263353" cy="422846"/>
              <a:chOff x="5223047" y="5361252"/>
              <a:chExt cx="263353" cy="422846"/>
            </a:xfrm>
          </p:grpSpPr>
          <p:cxnSp>
            <p:nvCxnSpPr>
              <p:cNvPr id="67" name="直接箭头连接符 66">
                <a:extLst>
                  <a:ext uri="{FF2B5EF4-FFF2-40B4-BE49-F238E27FC236}">
                    <a16:creationId xmlns:a16="http://schemas.microsoft.com/office/drawing/2014/main" id="{83C68EA1-D3F5-2D78-D6E1-7F3C36C380C6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223047" y="5361252"/>
                <a:ext cx="0" cy="422846"/>
              </a:xfrm>
              <a:prstGeom prst="straightConnector1">
                <a:avLst/>
              </a:prstGeom>
              <a:ln w="12700">
                <a:solidFill>
                  <a:srgbClr val="00B0F0"/>
                </a:solidFill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68" name="直接箭头连接符 67">
                <a:extLst>
                  <a:ext uri="{FF2B5EF4-FFF2-40B4-BE49-F238E27FC236}">
                    <a16:creationId xmlns:a16="http://schemas.microsoft.com/office/drawing/2014/main" id="{0E98F6E9-6993-2458-9FB5-078A4F7D9A95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360207" y="5426564"/>
                <a:ext cx="0" cy="357534"/>
              </a:xfrm>
              <a:prstGeom prst="straightConnector1">
                <a:avLst/>
              </a:prstGeom>
              <a:ln w="12700">
                <a:solidFill>
                  <a:srgbClr val="FF0000"/>
                </a:solidFill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69" name="直接箭头连接符 68">
                <a:extLst>
                  <a:ext uri="{FF2B5EF4-FFF2-40B4-BE49-F238E27FC236}">
                    <a16:creationId xmlns:a16="http://schemas.microsoft.com/office/drawing/2014/main" id="{877D8D36-99B6-1A3D-8F94-B1845BF87A0A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486400" y="5393908"/>
                <a:ext cx="0" cy="390190"/>
              </a:xfrm>
              <a:prstGeom prst="straightConnector1">
                <a:avLst/>
              </a:prstGeom>
              <a:ln w="12700">
                <a:solidFill>
                  <a:srgbClr val="1AE43C"/>
                </a:solidFill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grpSp>
          <p:nvGrpSpPr>
            <p:cNvPr id="70" name="组合 69">
              <a:extLst>
                <a:ext uri="{FF2B5EF4-FFF2-40B4-BE49-F238E27FC236}">
                  <a16:creationId xmlns:a16="http://schemas.microsoft.com/office/drawing/2014/main" id="{2736E352-7582-4BFE-3488-A307FEAE075A}"/>
                </a:ext>
              </a:extLst>
            </p:cNvPr>
            <p:cNvGrpSpPr/>
            <p:nvPr/>
          </p:nvGrpSpPr>
          <p:grpSpPr>
            <a:xfrm>
              <a:off x="6451128" y="5576159"/>
              <a:ext cx="260520" cy="406518"/>
              <a:chOff x="6612720" y="5377580"/>
              <a:chExt cx="260520" cy="406518"/>
            </a:xfrm>
          </p:grpSpPr>
          <p:cxnSp>
            <p:nvCxnSpPr>
              <p:cNvPr id="71" name="直接箭头连接符 70">
                <a:extLst>
                  <a:ext uri="{FF2B5EF4-FFF2-40B4-BE49-F238E27FC236}">
                    <a16:creationId xmlns:a16="http://schemas.microsoft.com/office/drawing/2014/main" id="{44B8FB15-5A62-76CC-CD5E-295E6F484568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6612720" y="5377580"/>
                <a:ext cx="0" cy="390190"/>
              </a:xfrm>
              <a:prstGeom prst="straightConnector1">
                <a:avLst/>
              </a:prstGeom>
              <a:ln w="12700">
                <a:solidFill>
                  <a:srgbClr val="00B0F0"/>
                </a:solidFill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2" name="直接箭头连接符 71">
                <a:extLst>
                  <a:ext uri="{FF2B5EF4-FFF2-40B4-BE49-F238E27FC236}">
                    <a16:creationId xmlns:a16="http://schemas.microsoft.com/office/drawing/2014/main" id="{5C0539D0-CE3A-F692-433B-58BAFD8A486C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6751619" y="5686551"/>
                <a:ext cx="0" cy="97547"/>
              </a:xfrm>
              <a:prstGeom prst="straightConnector1">
                <a:avLst/>
              </a:prstGeom>
              <a:ln w="12700">
                <a:solidFill>
                  <a:srgbClr val="FF0000"/>
                </a:solidFill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3" name="直接箭头连接符 72">
                <a:extLst>
                  <a:ext uri="{FF2B5EF4-FFF2-40B4-BE49-F238E27FC236}">
                    <a16:creationId xmlns:a16="http://schemas.microsoft.com/office/drawing/2014/main" id="{74337BD5-70B9-765B-97BD-2B85946690D9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6873240" y="5572675"/>
                <a:ext cx="0" cy="195096"/>
              </a:xfrm>
              <a:prstGeom prst="straightConnector1">
                <a:avLst/>
              </a:prstGeom>
              <a:ln w="12700">
                <a:solidFill>
                  <a:srgbClr val="1AE43C"/>
                </a:solidFill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cxnSp>
          <p:nvCxnSpPr>
            <p:cNvPr id="74" name="直接连接符 73">
              <a:extLst>
                <a:ext uri="{FF2B5EF4-FFF2-40B4-BE49-F238E27FC236}">
                  <a16:creationId xmlns:a16="http://schemas.microsoft.com/office/drawing/2014/main" id="{75FADDBB-5B84-1E77-D537-D03476C43DBF}"/>
                </a:ext>
              </a:extLst>
            </p:cNvPr>
            <p:cNvCxnSpPr>
              <a:cxnSpLocks/>
            </p:cNvCxnSpPr>
            <p:nvPr/>
          </p:nvCxnSpPr>
          <p:spPr>
            <a:xfrm>
              <a:off x="4794456" y="5982677"/>
              <a:ext cx="2057400" cy="0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5" name="文本框 74">
              <a:extLst>
                <a:ext uri="{FF2B5EF4-FFF2-40B4-BE49-F238E27FC236}">
                  <a16:creationId xmlns:a16="http://schemas.microsoft.com/office/drawing/2014/main" id="{EC11DB0D-128C-45F1-4388-5B7F6A7D7F7A}"/>
                </a:ext>
              </a:extLst>
            </p:cNvPr>
            <p:cNvSpPr txBox="1"/>
            <p:nvPr/>
          </p:nvSpPr>
          <p:spPr>
            <a:xfrm>
              <a:off x="5402880" y="6302199"/>
              <a:ext cx="1048248" cy="19960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sz="1200" b="1" dirty="0">
                  <a:latin typeface="+mn-ea"/>
                </a:rPr>
                <a:t>符号冲突</a:t>
              </a:r>
              <a:endParaRPr lang="zh-CN" altLang="en-US" sz="1200" b="1" dirty="0"/>
            </a:p>
          </p:txBody>
        </p:sp>
        <p:sp>
          <p:nvSpPr>
            <p:cNvPr id="76" name="文本框 75">
              <a:extLst>
                <a:ext uri="{FF2B5EF4-FFF2-40B4-BE49-F238E27FC236}">
                  <a16:creationId xmlns:a16="http://schemas.microsoft.com/office/drawing/2014/main" id="{B863B371-8700-70C8-6C72-2F076ED8FD5F}"/>
                </a:ext>
              </a:extLst>
            </p:cNvPr>
            <p:cNvSpPr txBox="1"/>
            <p:nvPr/>
          </p:nvSpPr>
          <p:spPr>
            <a:xfrm>
              <a:off x="6125639" y="6302199"/>
              <a:ext cx="1048248" cy="19960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sz="1200" b="1" dirty="0">
                  <a:latin typeface="+mn-ea"/>
                </a:rPr>
                <a:t>参数冗余</a:t>
              </a:r>
              <a:endParaRPr lang="zh-CN" altLang="en-US" sz="1200" b="1" dirty="0"/>
            </a:p>
          </p:txBody>
        </p:sp>
        <p:cxnSp>
          <p:nvCxnSpPr>
            <p:cNvPr id="77" name="直接箭头连接符 76">
              <a:extLst>
                <a:ext uri="{FF2B5EF4-FFF2-40B4-BE49-F238E27FC236}">
                  <a16:creationId xmlns:a16="http://schemas.microsoft.com/office/drawing/2014/main" id="{E481C229-9875-D416-D618-00FDA5AD4928}"/>
                </a:ext>
              </a:extLst>
            </p:cNvPr>
            <p:cNvCxnSpPr>
              <a:cxnSpLocks/>
            </p:cNvCxnSpPr>
            <p:nvPr/>
          </p:nvCxnSpPr>
          <p:spPr>
            <a:xfrm>
              <a:off x="7111660" y="5521264"/>
              <a:ext cx="390190" cy="0"/>
            </a:xfrm>
            <a:prstGeom prst="straightConnector1">
              <a:avLst/>
            </a:prstGeom>
            <a:ln w="12700">
              <a:solidFill>
                <a:srgbClr val="00B0F0"/>
              </a:solidFill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78" name="直接箭头连接符 77">
              <a:extLst>
                <a:ext uri="{FF2B5EF4-FFF2-40B4-BE49-F238E27FC236}">
                  <a16:creationId xmlns:a16="http://schemas.microsoft.com/office/drawing/2014/main" id="{27D95EB7-6EF6-41E5-A97C-74B90827A9C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127988" y="5683078"/>
              <a:ext cx="390190" cy="4314"/>
            </a:xfrm>
            <a:prstGeom prst="straightConnector1">
              <a:avLst/>
            </a:prstGeom>
            <a:ln w="12700">
              <a:solidFill>
                <a:srgbClr val="FF0000"/>
              </a:solidFill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79" name="直接箭头连接符 78">
              <a:extLst>
                <a:ext uri="{FF2B5EF4-FFF2-40B4-BE49-F238E27FC236}">
                  <a16:creationId xmlns:a16="http://schemas.microsoft.com/office/drawing/2014/main" id="{E0F735BB-BC79-6965-3336-A14FB678ED89}"/>
                </a:ext>
              </a:extLst>
            </p:cNvPr>
            <p:cNvCxnSpPr>
              <a:cxnSpLocks/>
            </p:cNvCxnSpPr>
            <p:nvPr/>
          </p:nvCxnSpPr>
          <p:spPr>
            <a:xfrm rot="5400000" flipV="1">
              <a:off x="7323083" y="5654110"/>
              <a:ext cx="0" cy="390190"/>
            </a:xfrm>
            <a:prstGeom prst="straightConnector1">
              <a:avLst/>
            </a:prstGeom>
            <a:ln w="12700">
              <a:solidFill>
                <a:srgbClr val="1AE43C"/>
              </a:solidFill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80" name="文本框 79">
              <a:extLst>
                <a:ext uri="{FF2B5EF4-FFF2-40B4-BE49-F238E27FC236}">
                  <a16:creationId xmlns:a16="http://schemas.microsoft.com/office/drawing/2014/main" id="{833D503A-4FC9-1068-7833-59A50075FD9B}"/>
                </a:ext>
              </a:extLst>
            </p:cNvPr>
            <p:cNvSpPr txBox="1"/>
            <p:nvPr/>
          </p:nvSpPr>
          <p:spPr>
            <a:xfrm>
              <a:off x="7323083" y="5403183"/>
              <a:ext cx="765300" cy="18296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sz="1050" b="1" dirty="0">
                  <a:latin typeface="+mn-ea"/>
                </a:rPr>
                <a:t>任务</a:t>
              </a:r>
              <a:r>
                <a:rPr lang="en-US" altLang="zh-CN" sz="1050" b="1" dirty="0">
                  <a:latin typeface="+mn-ea"/>
                </a:rPr>
                <a:t>A</a:t>
              </a:r>
              <a:endParaRPr lang="zh-CN" altLang="en-US" sz="1050" b="1" dirty="0"/>
            </a:p>
          </p:txBody>
        </p:sp>
        <p:sp>
          <p:nvSpPr>
            <p:cNvPr id="81" name="文本框 80">
              <a:extLst>
                <a:ext uri="{FF2B5EF4-FFF2-40B4-BE49-F238E27FC236}">
                  <a16:creationId xmlns:a16="http://schemas.microsoft.com/office/drawing/2014/main" id="{375B06DF-D2B7-DBEA-3031-98F036177923}"/>
                </a:ext>
              </a:extLst>
            </p:cNvPr>
            <p:cNvSpPr txBox="1"/>
            <p:nvPr/>
          </p:nvSpPr>
          <p:spPr>
            <a:xfrm>
              <a:off x="7323083" y="5567153"/>
              <a:ext cx="765300" cy="18296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sz="1050" b="1" dirty="0">
                  <a:latin typeface="+mn-ea"/>
                </a:rPr>
                <a:t>任务</a:t>
              </a:r>
              <a:r>
                <a:rPr lang="en-US" altLang="zh-CN" sz="1050" b="1" dirty="0">
                  <a:latin typeface="+mn-ea"/>
                </a:rPr>
                <a:t>B</a:t>
              </a:r>
              <a:endParaRPr lang="zh-CN" altLang="en-US" sz="1050" b="1" dirty="0"/>
            </a:p>
          </p:txBody>
        </p:sp>
        <p:sp>
          <p:nvSpPr>
            <p:cNvPr id="82" name="文本框 81">
              <a:extLst>
                <a:ext uri="{FF2B5EF4-FFF2-40B4-BE49-F238E27FC236}">
                  <a16:creationId xmlns:a16="http://schemas.microsoft.com/office/drawing/2014/main" id="{A55537EC-AA1F-288D-B31B-DD8CD2BFBD0F}"/>
                </a:ext>
              </a:extLst>
            </p:cNvPr>
            <p:cNvSpPr txBox="1"/>
            <p:nvPr/>
          </p:nvSpPr>
          <p:spPr>
            <a:xfrm>
              <a:off x="7323083" y="5735517"/>
              <a:ext cx="765300" cy="18296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sz="1050" b="1" dirty="0">
                  <a:latin typeface="+mn-ea"/>
                </a:rPr>
                <a:t>融合</a:t>
              </a:r>
              <a:endParaRPr lang="zh-CN" altLang="en-US" sz="1050" b="1" dirty="0"/>
            </a:p>
          </p:txBody>
        </p:sp>
      </p:grpSp>
      <p:pic>
        <p:nvPicPr>
          <p:cNvPr id="7" name="图片 6">
            <a:extLst>
              <a:ext uri="{FF2B5EF4-FFF2-40B4-BE49-F238E27FC236}">
                <a16:creationId xmlns:a16="http://schemas.microsoft.com/office/drawing/2014/main" id="{29B76075-35B0-FB1C-BDE6-8EC2C1F6630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909342" y="3240434"/>
            <a:ext cx="8636771" cy="32167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894626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F370C2-7A57-B754-AF88-FBE991FA7A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4">
            <a:extLst>
              <a:ext uri="{FF2B5EF4-FFF2-40B4-BE49-F238E27FC236}">
                <a16:creationId xmlns:a16="http://schemas.microsoft.com/office/drawing/2014/main" id="{5F360282-D363-6821-2580-89A157342D83}"/>
              </a:ext>
            </a:extLst>
          </p:cNvPr>
          <p:cNvSpPr txBox="1"/>
          <p:nvPr userDrawn="1"/>
        </p:nvSpPr>
        <p:spPr>
          <a:xfrm>
            <a:off x="1158408" y="152874"/>
            <a:ext cx="5225625" cy="542617"/>
          </a:xfrm>
          <a:prstGeom prst="rect">
            <a:avLst/>
          </a:prstGeom>
        </p:spPr>
        <p:txBody>
          <a:bodyPr vert="horz" lIns="91440" tIns="45721" rIns="91440" bIns="45721" rtlCol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zh-CN" altLang="en-US" sz="2400" b="1" kern="12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rgbClr val="000000">
                  <a:lumMod val="75000"/>
                  <a:lumOff val="25000"/>
                </a:srgb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07" name="文本框 106">
            <a:extLst>
              <a:ext uri="{FF2B5EF4-FFF2-40B4-BE49-F238E27FC236}">
                <a16:creationId xmlns:a16="http://schemas.microsoft.com/office/drawing/2014/main" id="{07551A3F-678C-54D2-0791-F210F424CBDB}"/>
              </a:ext>
            </a:extLst>
          </p:cNvPr>
          <p:cNvSpPr txBox="1"/>
          <p:nvPr/>
        </p:nvSpPr>
        <p:spPr>
          <a:xfrm>
            <a:off x="1150405" y="149467"/>
            <a:ext cx="654286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1.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研究设计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1B9CE6A4-53AB-F55B-8F3A-DB3A5472A1B6}"/>
              </a:ext>
            </a:extLst>
          </p:cNvPr>
          <p:cNvSpPr txBox="1"/>
          <p:nvPr/>
        </p:nvSpPr>
        <p:spPr>
          <a:xfrm>
            <a:off x="435553" y="778914"/>
            <a:ext cx="330602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zh-CN" altLang="en-US" b="1" dirty="0">
                <a:solidFill>
                  <a:srgbClr val="268F9C"/>
                </a:solidFill>
                <a:latin typeface="+mn-ea"/>
              </a:rPr>
              <a:t>模型融合技术选取</a:t>
            </a:r>
            <a:endParaRPr lang="en-US" altLang="zh-CN" b="1" dirty="0">
              <a:solidFill>
                <a:srgbClr val="268F9C"/>
              </a:solidFill>
              <a:latin typeface="+mn-ea"/>
            </a:endParaRPr>
          </a:p>
        </p:txBody>
      </p:sp>
      <p:grpSp>
        <p:nvGrpSpPr>
          <p:cNvPr id="60" name="组合 59">
            <a:extLst>
              <a:ext uri="{FF2B5EF4-FFF2-40B4-BE49-F238E27FC236}">
                <a16:creationId xmlns:a16="http://schemas.microsoft.com/office/drawing/2014/main" id="{8D90B2B2-FFAD-87CF-F352-C690D7EB6681}"/>
              </a:ext>
            </a:extLst>
          </p:cNvPr>
          <p:cNvGrpSpPr/>
          <p:nvPr/>
        </p:nvGrpSpPr>
        <p:grpSpPr>
          <a:xfrm>
            <a:off x="864500" y="1685895"/>
            <a:ext cx="3452499" cy="1383402"/>
            <a:chOff x="973735" y="1545527"/>
            <a:chExt cx="3452499" cy="1383402"/>
          </a:xfrm>
        </p:grpSpPr>
        <p:cxnSp>
          <p:nvCxnSpPr>
            <p:cNvPr id="18" name="直接箭头连接符 17">
              <a:extLst>
                <a:ext uri="{FF2B5EF4-FFF2-40B4-BE49-F238E27FC236}">
                  <a16:creationId xmlns:a16="http://schemas.microsoft.com/office/drawing/2014/main" id="{9B70B142-D761-5940-DCC1-4902B8D5134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274974" y="1545527"/>
              <a:ext cx="643534" cy="846601"/>
            </a:xfrm>
            <a:prstGeom prst="straightConnector1">
              <a:avLst/>
            </a:prstGeom>
            <a:ln w="38100">
              <a:solidFill>
                <a:srgbClr val="00B0F0"/>
              </a:solidFill>
              <a:prstDash val="solid"/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" name="直接箭头连接符 3">
              <a:extLst>
                <a:ext uri="{FF2B5EF4-FFF2-40B4-BE49-F238E27FC236}">
                  <a16:creationId xmlns:a16="http://schemas.microsoft.com/office/drawing/2014/main" id="{2F0D3973-FDE0-33F9-6369-4B968379EA5E}"/>
                </a:ext>
              </a:extLst>
            </p:cNvPr>
            <p:cNvCxnSpPr>
              <a:cxnSpLocks/>
            </p:cNvCxnSpPr>
            <p:nvPr/>
          </p:nvCxnSpPr>
          <p:spPr>
            <a:xfrm>
              <a:off x="1274974" y="2392128"/>
              <a:ext cx="1094596" cy="179267"/>
            </a:xfrm>
            <a:prstGeom prst="straightConnector1">
              <a:avLst/>
            </a:prstGeom>
            <a:ln w="28575">
              <a:solidFill>
                <a:srgbClr val="C00000"/>
              </a:solidFill>
              <a:prstDash val="solid"/>
              <a:tailEnd type="triangle"/>
            </a:ln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" name="文本框 4">
                  <a:extLst>
                    <a:ext uri="{FF2B5EF4-FFF2-40B4-BE49-F238E27FC236}">
                      <a16:creationId xmlns:a16="http://schemas.microsoft.com/office/drawing/2014/main" id="{11C59813-030A-A300-FD01-85C89FC13FBA}"/>
                    </a:ext>
                  </a:extLst>
                </p:cNvPr>
                <p:cNvSpPr txBox="1"/>
                <p:nvPr/>
              </p:nvSpPr>
              <p:spPr>
                <a:xfrm>
                  <a:off x="1169855" y="2443343"/>
                  <a:ext cx="823390" cy="33855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right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16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</a:rPr>
                              <m:t>𝜏</m:t>
                            </m:r>
                          </m:e>
                          <m:sub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zh-CN" altLang="en-US" sz="1600" dirty="0"/>
                </a:p>
              </p:txBody>
            </p:sp>
          </mc:Choice>
          <mc:Fallback xmlns="">
            <p:sp>
              <p:nvSpPr>
                <p:cNvPr id="5" name="文本框 4">
                  <a:extLst>
                    <a:ext uri="{FF2B5EF4-FFF2-40B4-BE49-F238E27FC236}">
                      <a16:creationId xmlns:a16="http://schemas.microsoft.com/office/drawing/2014/main" id="{11C59813-030A-A300-FD01-85C89FC13FB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69855" y="2443343"/>
                  <a:ext cx="823390" cy="338554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6" name="椭圆 5">
              <a:extLst>
                <a:ext uri="{FF2B5EF4-FFF2-40B4-BE49-F238E27FC236}">
                  <a16:creationId xmlns:a16="http://schemas.microsoft.com/office/drawing/2014/main" id="{D80B52C8-D7B8-2E9D-B512-323F27E35392}"/>
                </a:ext>
              </a:extLst>
            </p:cNvPr>
            <p:cNvSpPr/>
            <p:nvPr/>
          </p:nvSpPr>
          <p:spPr>
            <a:xfrm rot="1274678">
              <a:off x="1016474" y="2311593"/>
              <a:ext cx="270000" cy="269518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文本框 9">
                  <a:extLst>
                    <a:ext uri="{FF2B5EF4-FFF2-40B4-BE49-F238E27FC236}">
                      <a16:creationId xmlns:a16="http://schemas.microsoft.com/office/drawing/2014/main" id="{2A4B4465-C34B-AD42-4F06-CFF8AB913E02}"/>
                    </a:ext>
                  </a:extLst>
                </p:cNvPr>
                <p:cNvSpPr txBox="1"/>
                <p:nvPr/>
              </p:nvSpPr>
              <p:spPr>
                <a:xfrm>
                  <a:off x="973735" y="1609674"/>
                  <a:ext cx="701740" cy="33855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right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16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</a:rPr>
                              <m:t>𝜏</m:t>
                            </m:r>
                          </m:e>
                          <m:sub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zh-CN" altLang="en-US" sz="1600" dirty="0"/>
                </a:p>
              </p:txBody>
            </p:sp>
          </mc:Choice>
          <mc:Fallback xmlns="">
            <p:sp>
              <p:nvSpPr>
                <p:cNvPr id="10" name="文本框 9">
                  <a:extLst>
                    <a:ext uri="{FF2B5EF4-FFF2-40B4-BE49-F238E27FC236}">
                      <a16:creationId xmlns:a16="http://schemas.microsoft.com/office/drawing/2014/main" id="{2A4B4465-C34B-AD42-4F06-CFF8AB913E0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73735" y="1609674"/>
                  <a:ext cx="701740" cy="338554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文本框 10">
                  <a:extLst>
                    <a:ext uri="{FF2B5EF4-FFF2-40B4-BE49-F238E27FC236}">
                      <a16:creationId xmlns:a16="http://schemas.microsoft.com/office/drawing/2014/main" id="{FF3671E5-C943-F492-05BA-EA97475ADA3F}"/>
                    </a:ext>
                  </a:extLst>
                </p:cNvPr>
                <p:cNvSpPr txBox="1"/>
                <p:nvPr/>
              </p:nvSpPr>
              <p:spPr>
                <a:xfrm>
                  <a:off x="999696" y="2571395"/>
                  <a:ext cx="718271" cy="35753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16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</a:rPr>
                              <m:t>𝑝𝑟𝑒</m:t>
                            </m:r>
                          </m:sub>
                        </m:sSub>
                      </m:oMath>
                    </m:oMathPara>
                  </a14:m>
                  <a:endParaRPr lang="zh-CN" altLang="en-US" sz="1600" dirty="0"/>
                </a:p>
              </p:txBody>
            </p:sp>
          </mc:Choice>
          <mc:Fallback xmlns="">
            <p:sp>
              <p:nvSpPr>
                <p:cNvPr id="11" name="文本框 10">
                  <a:extLst>
                    <a:ext uri="{FF2B5EF4-FFF2-40B4-BE49-F238E27FC236}">
                      <a16:creationId xmlns:a16="http://schemas.microsoft.com/office/drawing/2014/main" id="{FF3671E5-C943-F492-05BA-EA97475ADA3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99696" y="2571395"/>
                  <a:ext cx="718271" cy="357534"/>
                </a:xfrm>
                <a:prstGeom prst="rect">
                  <a:avLst/>
                </a:prstGeom>
                <a:blipFill>
                  <a:blip r:embed="rId5"/>
                  <a:stretch>
                    <a:fillRect b="-3448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5" name="直接箭头连接符 14">
              <a:extLst>
                <a:ext uri="{FF2B5EF4-FFF2-40B4-BE49-F238E27FC236}">
                  <a16:creationId xmlns:a16="http://schemas.microsoft.com/office/drawing/2014/main" id="{A7846887-4B1F-84DD-2A05-720315BA06F7}"/>
                </a:ext>
              </a:extLst>
            </p:cNvPr>
            <p:cNvCxnSpPr>
              <a:cxnSpLocks/>
              <a:stCxn id="6" idx="7"/>
            </p:cNvCxnSpPr>
            <p:nvPr/>
          </p:nvCxnSpPr>
          <p:spPr>
            <a:xfrm flipV="1">
              <a:off x="1274974" y="1752522"/>
              <a:ext cx="1718414" cy="639606"/>
            </a:xfrm>
            <a:prstGeom prst="straightConnector1">
              <a:avLst/>
            </a:prstGeom>
            <a:ln w="38100">
              <a:solidFill>
                <a:srgbClr val="1AE43C">
                  <a:alpha val="40000"/>
                </a:srgbClr>
              </a:solidFill>
              <a:prstDash val="dash"/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文本框 16">
                  <a:extLst>
                    <a:ext uri="{FF2B5EF4-FFF2-40B4-BE49-F238E27FC236}">
                      <a16:creationId xmlns:a16="http://schemas.microsoft.com/office/drawing/2014/main" id="{5C88BBD3-2BC0-6190-9092-277293AFB4F1}"/>
                    </a:ext>
                  </a:extLst>
                </p:cNvPr>
                <p:cNvSpPr txBox="1"/>
                <p:nvPr/>
              </p:nvSpPr>
              <p:spPr>
                <a:xfrm>
                  <a:off x="2134181" y="2033568"/>
                  <a:ext cx="2292053" cy="35856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16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</a:rPr>
                              <m:t>𝜏</m:t>
                            </m:r>
                          </m:e>
                          <m:sub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</a:rPr>
                              <m:t>𝑚𝑒𝑟𝑔𝑒</m:t>
                            </m:r>
                          </m:sub>
                        </m:sSub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𝛼</m:t>
                        </m:r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altLang="zh-CN" sz="16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</a:rPr>
                              <m:t>𝜏</m:t>
                            </m:r>
                          </m:e>
                          <m:sub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altLang="zh-CN" sz="16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</a:rPr>
                              <m:t>𝜏</m:t>
                            </m:r>
                          </m:e>
                          <m:sub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zh-CN" altLang="en-US" sz="1600" dirty="0"/>
                </a:p>
              </p:txBody>
            </p:sp>
          </mc:Choice>
          <mc:Fallback xmlns="">
            <p:sp>
              <p:nvSpPr>
                <p:cNvPr id="17" name="文本框 16">
                  <a:extLst>
                    <a:ext uri="{FF2B5EF4-FFF2-40B4-BE49-F238E27FC236}">
                      <a16:creationId xmlns:a16="http://schemas.microsoft.com/office/drawing/2014/main" id="{5C88BBD3-2BC0-6190-9092-277293AFB4F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134181" y="2033568"/>
                  <a:ext cx="2292053" cy="358560"/>
                </a:xfrm>
                <a:prstGeom prst="rect">
                  <a:avLst/>
                </a:prstGeom>
                <a:blipFill>
                  <a:blip r:embed="rId6"/>
                  <a:stretch>
                    <a:fillRect b="-6897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0" name="直接箭头连接符 19">
              <a:extLst>
                <a:ext uri="{FF2B5EF4-FFF2-40B4-BE49-F238E27FC236}">
                  <a16:creationId xmlns:a16="http://schemas.microsoft.com/office/drawing/2014/main" id="{D5505CB0-862C-AA1B-AF89-F528988C15FA}"/>
                </a:ext>
              </a:extLst>
            </p:cNvPr>
            <p:cNvCxnSpPr>
              <a:cxnSpLocks/>
            </p:cNvCxnSpPr>
            <p:nvPr/>
          </p:nvCxnSpPr>
          <p:spPr>
            <a:xfrm>
              <a:off x="1904352" y="1573255"/>
              <a:ext cx="1094596" cy="179267"/>
            </a:xfrm>
            <a:prstGeom prst="straightConnector1">
              <a:avLst/>
            </a:prstGeom>
            <a:ln w="28575">
              <a:solidFill>
                <a:srgbClr val="C00000">
                  <a:alpha val="40000"/>
                </a:srgbClr>
              </a:solidFill>
              <a:prstDash val="dash"/>
              <a:tailEnd type="triangle"/>
            </a:ln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22" name="直接箭头连接符 21">
              <a:extLst>
                <a:ext uri="{FF2B5EF4-FFF2-40B4-BE49-F238E27FC236}">
                  <a16:creationId xmlns:a16="http://schemas.microsoft.com/office/drawing/2014/main" id="{E4900DC3-DB47-11BA-9A17-D169F7909D6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349854" y="1757294"/>
              <a:ext cx="643534" cy="846601"/>
            </a:xfrm>
            <a:prstGeom prst="straightConnector1">
              <a:avLst/>
            </a:prstGeom>
            <a:ln w="38100">
              <a:solidFill>
                <a:srgbClr val="00B0F0">
                  <a:alpha val="45098"/>
                </a:srgbClr>
              </a:solidFill>
              <a:prstDash val="dash"/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7" name="直接箭头连接符 26">
              <a:extLst>
                <a:ext uri="{FF2B5EF4-FFF2-40B4-BE49-F238E27FC236}">
                  <a16:creationId xmlns:a16="http://schemas.microsoft.com/office/drawing/2014/main" id="{01EEA788-4001-2B93-A1DE-149828C098CE}"/>
                </a:ext>
              </a:extLst>
            </p:cNvPr>
            <p:cNvCxnSpPr>
              <a:cxnSpLocks/>
              <a:stCxn id="6" idx="7"/>
            </p:cNvCxnSpPr>
            <p:nvPr/>
          </p:nvCxnSpPr>
          <p:spPr>
            <a:xfrm flipV="1">
              <a:off x="1274974" y="1973835"/>
              <a:ext cx="1094596" cy="418293"/>
            </a:xfrm>
            <a:prstGeom prst="straightConnector1">
              <a:avLst/>
            </a:prstGeom>
            <a:ln w="38100">
              <a:solidFill>
                <a:srgbClr val="1AE43C"/>
              </a:solidFill>
              <a:prstDash val="solid"/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32" name="文本框 31">
            <a:extLst>
              <a:ext uri="{FF2B5EF4-FFF2-40B4-BE49-F238E27FC236}">
                <a16:creationId xmlns:a16="http://schemas.microsoft.com/office/drawing/2014/main" id="{9B08EB86-8DD5-4076-7926-F62742993231}"/>
              </a:ext>
            </a:extLst>
          </p:cNvPr>
          <p:cNvSpPr txBox="1"/>
          <p:nvPr/>
        </p:nvSpPr>
        <p:spPr>
          <a:xfrm>
            <a:off x="478256" y="1089296"/>
            <a:ext cx="183579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zh-CN" b="1" dirty="0"/>
              <a:t>任务算术</a:t>
            </a:r>
            <a:r>
              <a:rPr lang="zh-CN" altLang="en-US" b="1" dirty="0"/>
              <a:t>：</a:t>
            </a:r>
            <a:endParaRPr lang="zh-CN" altLang="en-US" dirty="0"/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DF4D504A-A918-E842-AF2F-9BCBDEBBAD64}"/>
              </a:ext>
            </a:extLst>
          </p:cNvPr>
          <p:cNvSpPr txBox="1"/>
          <p:nvPr/>
        </p:nvSpPr>
        <p:spPr>
          <a:xfrm>
            <a:off x="5025374" y="1089296"/>
            <a:ext cx="228982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b="1" dirty="0"/>
              <a:t>TIES-Merging</a:t>
            </a:r>
            <a:r>
              <a:rPr lang="zh-CN" altLang="en-US" b="1" dirty="0"/>
              <a:t>：</a:t>
            </a:r>
            <a:endParaRPr lang="zh-CN" altLang="en-US" dirty="0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2DE43FAA-773B-6894-77D0-7BB8276C471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171257" y="1458628"/>
            <a:ext cx="5225626" cy="1946259"/>
          </a:xfrm>
          <a:prstGeom prst="rect">
            <a:avLst/>
          </a:prstGeom>
        </p:spPr>
      </p:pic>
      <p:sp>
        <p:nvSpPr>
          <p:cNvPr id="2" name="文本框 1">
            <a:extLst>
              <a:ext uri="{FF2B5EF4-FFF2-40B4-BE49-F238E27FC236}">
                <a16:creationId xmlns:a16="http://schemas.microsoft.com/office/drawing/2014/main" id="{EEA8B45B-B10D-5C69-BEB0-FE6821FE84EF}"/>
              </a:ext>
            </a:extLst>
          </p:cNvPr>
          <p:cNvSpPr txBox="1"/>
          <p:nvPr/>
        </p:nvSpPr>
        <p:spPr>
          <a:xfrm>
            <a:off x="478256" y="3558186"/>
            <a:ext cx="253553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b="1" dirty="0"/>
              <a:t>可学习融合系数：</a:t>
            </a:r>
            <a:endParaRPr lang="zh-CN" altLang="en-US" dirty="0"/>
          </a:p>
        </p:txBody>
      </p:sp>
      <p:cxnSp>
        <p:nvCxnSpPr>
          <p:cNvPr id="12" name="直接箭头连接符 11">
            <a:extLst>
              <a:ext uri="{FF2B5EF4-FFF2-40B4-BE49-F238E27FC236}">
                <a16:creationId xmlns:a16="http://schemas.microsoft.com/office/drawing/2014/main" id="{BA202B6A-041D-0CF1-7D6D-66769EDC39D6}"/>
              </a:ext>
            </a:extLst>
          </p:cNvPr>
          <p:cNvCxnSpPr>
            <a:cxnSpLocks/>
          </p:cNvCxnSpPr>
          <p:nvPr/>
        </p:nvCxnSpPr>
        <p:spPr>
          <a:xfrm flipV="1">
            <a:off x="1165739" y="4321392"/>
            <a:ext cx="643534" cy="846601"/>
          </a:xfrm>
          <a:prstGeom prst="straightConnector1">
            <a:avLst/>
          </a:prstGeom>
          <a:ln w="38100">
            <a:solidFill>
              <a:srgbClr val="00B0F0">
                <a:alpha val="50196"/>
              </a:srgbClr>
            </a:solidFill>
            <a:prstDash val="dash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直接箭头连接符 12">
            <a:extLst>
              <a:ext uri="{FF2B5EF4-FFF2-40B4-BE49-F238E27FC236}">
                <a16:creationId xmlns:a16="http://schemas.microsoft.com/office/drawing/2014/main" id="{87FC66E9-E0B9-AF60-50C2-5F1728A9E456}"/>
              </a:ext>
            </a:extLst>
          </p:cNvPr>
          <p:cNvCxnSpPr>
            <a:cxnSpLocks/>
          </p:cNvCxnSpPr>
          <p:nvPr/>
        </p:nvCxnSpPr>
        <p:spPr>
          <a:xfrm>
            <a:off x="1165739" y="5167993"/>
            <a:ext cx="1094596" cy="179267"/>
          </a:xfrm>
          <a:prstGeom prst="straightConnector1">
            <a:avLst/>
          </a:prstGeom>
          <a:ln w="28575">
            <a:solidFill>
              <a:srgbClr val="C00000">
                <a:alpha val="40000"/>
              </a:srgbClr>
            </a:solidFill>
            <a:prstDash val="dash"/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文本框 13">
                <a:extLst>
                  <a:ext uri="{FF2B5EF4-FFF2-40B4-BE49-F238E27FC236}">
                    <a16:creationId xmlns:a16="http://schemas.microsoft.com/office/drawing/2014/main" id="{41D40D03-58D9-5B94-A814-7A1702F00112}"/>
                  </a:ext>
                </a:extLst>
              </p:cNvPr>
              <p:cNvSpPr txBox="1"/>
              <p:nvPr/>
            </p:nvSpPr>
            <p:spPr>
              <a:xfrm>
                <a:off x="1075811" y="5220029"/>
                <a:ext cx="823390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righ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zh-CN" sz="1600" b="0" i="1" smtClean="0">
                          <a:latin typeface="Cambria Math" panose="02040503050406030204" pitchFamily="18" charset="0"/>
                        </a:rPr>
                        <m:t>.</m:t>
                      </m:r>
                      <m:sSub>
                        <m:sSubPr>
                          <m:ctrlP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  <m:t>𝜏</m:t>
                          </m:r>
                        </m:e>
                        <m:sub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zh-CN" altLang="en-US" sz="1600" dirty="0"/>
              </a:p>
            </p:txBody>
          </p:sp>
        </mc:Choice>
        <mc:Fallback xmlns="">
          <p:sp>
            <p:nvSpPr>
              <p:cNvPr id="14" name="文本框 13">
                <a:extLst>
                  <a:ext uri="{FF2B5EF4-FFF2-40B4-BE49-F238E27FC236}">
                    <a16:creationId xmlns:a16="http://schemas.microsoft.com/office/drawing/2014/main" id="{41D40D03-58D9-5B94-A814-7A1702F0011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5811" y="5220029"/>
                <a:ext cx="823390" cy="338554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椭圆 15">
            <a:extLst>
              <a:ext uri="{FF2B5EF4-FFF2-40B4-BE49-F238E27FC236}">
                <a16:creationId xmlns:a16="http://schemas.microsoft.com/office/drawing/2014/main" id="{68BDF503-6E02-DB4B-F06F-4F22D0144B56}"/>
              </a:ext>
            </a:extLst>
          </p:cNvPr>
          <p:cNvSpPr/>
          <p:nvPr/>
        </p:nvSpPr>
        <p:spPr>
          <a:xfrm rot="1274678">
            <a:off x="907239" y="5087458"/>
            <a:ext cx="270000" cy="269518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文本框 18">
                <a:extLst>
                  <a:ext uri="{FF2B5EF4-FFF2-40B4-BE49-F238E27FC236}">
                    <a16:creationId xmlns:a16="http://schemas.microsoft.com/office/drawing/2014/main" id="{0CDDDE73-F8DD-E976-D583-F8B6B043E599}"/>
                  </a:ext>
                </a:extLst>
              </p:cNvPr>
              <p:cNvSpPr txBox="1"/>
              <p:nvPr/>
            </p:nvSpPr>
            <p:spPr>
              <a:xfrm>
                <a:off x="676147" y="4563439"/>
                <a:ext cx="701740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righ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600" i="1" smtClean="0"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CN" sz="1600" b="0" i="1" smtClean="0">
                          <a:latin typeface="Cambria Math" panose="02040503050406030204" pitchFamily="18" charset="0"/>
                        </a:rPr>
                        <m:t>.</m:t>
                      </m:r>
                      <m:sSub>
                        <m:sSubPr>
                          <m:ctrlP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  <m:t>𝜏</m:t>
                          </m:r>
                        </m:e>
                        <m:sub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zh-CN" altLang="en-US" sz="1600" dirty="0"/>
              </a:p>
            </p:txBody>
          </p:sp>
        </mc:Choice>
        <mc:Fallback xmlns="">
          <p:sp>
            <p:nvSpPr>
              <p:cNvPr id="19" name="文本框 18">
                <a:extLst>
                  <a:ext uri="{FF2B5EF4-FFF2-40B4-BE49-F238E27FC236}">
                    <a16:creationId xmlns:a16="http://schemas.microsoft.com/office/drawing/2014/main" id="{0CDDDE73-F8DD-E976-D583-F8B6B043E5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6147" y="4563439"/>
                <a:ext cx="701740" cy="338554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文本框 20">
                <a:extLst>
                  <a:ext uri="{FF2B5EF4-FFF2-40B4-BE49-F238E27FC236}">
                    <a16:creationId xmlns:a16="http://schemas.microsoft.com/office/drawing/2014/main" id="{E81C60AD-4E0C-6939-623C-8B0EA367EE63}"/>
                  </a:ext>
                </a:extLst>
              </p:cNvPr>
              <p:cNvSpPr txBox="1"/>
              <p:nvPr/>
            </p:nvSpPr>
            <p:spPr>
              <a:xfrm>
                <a:off x="890461" y="5347260"/>
                <a:ext cx="718271" cy="35753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  <m:t>𝑝𝑟𝑒</m:t>
                          </m:r>
                        </m:sub>
                      </m:sSub>
                    </m:oMath>
                  </m:oMathPara>
                </a14:m>
                <a:endParaRPr lang="zh-CN" altLang="en-US" sz="1600" dirty="0"/>
              </a:p>
            </p:txBody>
          </p:sp>
        </mc:Choice>
        <mc:Fallback xmlns="">
          <p:sp>
            <p:nvSpPr>
              <p:cNvPr id="21" name="文本框 20">
                <a:extLst>
                  <a:ext uri="{FF2B5EF4-FFF2-40B4-BE49-F238E27FC236}">
                    <a16:creationId xmlns:a16="http://schemas.microsoft.com/office/drawing/2014/main" id="{E81C60AD-4E0C-6939-623C-8B0EA367EE6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0461" y="5347260"/>
                <a:ext cx="718271" cy="357534"/>
              </a:xfrm>
              <a:prstGeom prst="rect">
                <a:avLst/>
              </a:prstGeom>
              <a:blipFill>
                <a:blip r:embed="rId10"/>
                <a:stretch>
                  <a:fillRect b="-339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文本框 23">
                <a:extLst>
                  <a:ext uri="{FF2B5EF4-FFF2-40B4-BE49-F238E27FC236}">
                    <a16:creationId xmlns:a16="http://schemas.microsoft.com/office/drawing/2014/main" id="{8C365D35-5FF9-04A6-981A-76C856932ADC}"/>
                  </a:ext>
                </a:extLst>
              </p:cNvPr>
              <p:cNvSpPr txBox="1"/>
              <p:nvPr/>
            </p:nvSpPr>
            <p:spPr>
              <a:xfrm>
                <a:off x="1998879" y="4820087"/>
                <a:ext cx="2292053" cy="35856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  <m:t>𝜏</m:t>
                          </m:r>
                        </m:e>
                        <m:sub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  <m:t>𝑚𝑒𝑟𝑔𝑒</m:t>
                          </m:r>
                        </m:sub>
                      </m:sSub>
                      <m:r>
                        <a:rPr lang="en-US" altLang="zh-CN" sz="16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CN" sz="1600" b="0" i="1" smtClean="0">
                          <a:latin typeface="Cambria Math" panose="02040503050406030204" pitchFamily="18" charset="0"/>
                        </a:rPr>
                        <m:t>.</m:t>
                      </m:r>
                      <m:sSub>
                        <m:sSubPr>
                          <m:ctrlP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  <m:t>𝜏</m:t>
                          </m:r>
                        </m:e>
                        <m:sub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CN" sz="16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zh-CN" sz="1600" b="0" i="1" smtClean="0">
                          <a:latin typeface="Cambria Math" panose="02040503050406030204" pitchFamily="18" charset="0"/>
                        </a:rPr>
                        <m:t>.</m:t>
                      </m:r>
                      <m:sSub>
                        <m:sSubPr>
                          <m:ctrlP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  <m:t>𝜏</m:t>
                          </m:r>
                        </m:e>
                        <m:sub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zh-CN" altLang="en-US" sz="1600" dirty="0"/>
              </a:p>
            </p:txBody>
          </p:sp>
        </mc:Choice>
        <mc:Fallback xmlns="">
          <p:sp>
            <p:nvSpPr>
              <p:cNvPr id="24" name="文本框 23">
                <a:extLst>
                  <a:ext uri="{FF2B5EF4-FFF2-40B4-BE49-F238E27FC236}">
                    <a16:creationId xmlns:a16="http://schemas.microsoft.com/office/drawing/2014/main" id="{8C365D35-5FF9-04A6-981A-76C856932AD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98879" y="4820087"/>
                <a:ext cx="2292053" cy="358560"/>
              </a:xfrm>
              <a:prstGeom prst="rect">
                <a:avLst/>
              </a:prstGeom>
              <a:blipFill>
                <a:blip r:embed="rId11"/>
                <a:stretch>
                  <a:fillRect b="-169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8" name="直接箭头连接符 27">
            <a:extLst>
              <a:ext uri="{FF2B5EF4-FFF2-40B4-BE49-F238E27FC236}">
                <a16:creationId xmlns:a16="http://schemas.microsoft.com/office/drawing/2014/main" id="{6D105B4E-02D3-CA10-2001-CBE55800F13B}"/>
              </a:ext>
            </a:extLst>
          </p:cNvPr>
          <p:cNvCxnSpPr>
            <a:cxnSpLocks/>
            <a:stCxn id="16" idx="7"/>
          </p:cNvCxnSpPr>
          <p:nvPr/>
        </p:nvCxnSpPr>
        <p:spPr>
          <a:xfrm flipV="1">
            <a:off x="1165739" y="4787927"/>
            <a:ext cx="1176676" cy="380066"/>
          </a:xfrm>
          <a:prstGeom prst="straightConnector1">
            <a:avLst/>
          </a:prstGeom>
          <a:ln w="38100">
            <a:solidFill>
              <a:srgbClr val="1AE43C"/>
            </a:solidFill>
            <a:prstDash val="solid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9" name="直接箭头连接符 28">
            <a:extLst>
              <a:ext uri="{FF2B5EF4-FFF2-40B4-BE49-F238E27FC236}">
                <a16:creationId xmlns:a16="http://schemas.microsoft.com/office/drawing/2014/main" id="{55EC7F66-EEF3-BCE3-9332-0A32A7C0E011}"/>
              </a:ext>
            </a:extLst>
          </p:cNvPr>
          <p:cNvCxnSpPr>
            <a:cxnSpLocks/>
            <a:stCxn id="16" idx="7"/>
          </p:cNvCxnSpPr>
          <p:nvPr/>
        </p:nvCxnSpPr>
        <p:spPr>
          <a:xfrm flipV="1">
            <a:off x="1165739" y="4632054"/>
            <a:ext cx="407765" cy="535939"/>
          </a:xfrm>
          <a:prstGeom prst="straightConnector1">
            <a:avLst/>
          </a:prstGeom>
          <a:ln w="38100">
            <a:solidFill>
              <a:srgbClr val="00B0F0"/>
            </a:solidFill>
            <a:prstDash val="solid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6" name="直接箭头连接符 35">
            <a:extLst>
              <a:ext uri="{FF2B5EF4-FFF2-40B4-BE49-F238E27FC236}">
                <a16:creationId xmlns:a16="http://schemas.microsoft.com/office/drawing/2014/main" id="{432A11F5-A73B-1CD2-6C21-8E036F3CED52}"/>
              </a:ext>
            </a:extLst>
          </p:cNvPr>
          <p:cNvCxnSpPr>
            <a:cxnSpLocks/>
            <a:stCxn id="16" idx="7"/>
          </p:cNvCxnSpPr>
          <p:nvPr/>
        </p:nvCxnSpPr>
        <p:spPr>
          <a:xfrm>
            <a:off x="1165739" y="5167993"/>
            <a:ext cx="853647" cy="145705"/>
          </a:xfrm>
          <a:prstGeom prst="straightConnector1">
            <a:avLst/>
          </a:prstGeom>
          <a:ln w="28575">
            <a:solidFill>
              <a:srgbClr val="C00000"/>
            </a:solidFill>
            <a:prstDash val="solid"/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40" name="直接箭头连接符 39">
            <a:extLst>
              <a:ext uri="{FF2B5EF4-FFF2-40B4-BE49-F238E27FC236}">
                <a16:creationId xmlns:a16="http://schemas.microsoft.com/office/drawing/2014/main" id="{602EB248-BFF3-F196-DB43-C1F8E2B58837}"/>
              </a:ext>
            </a:extLst>
          </p:cNvPr>
          <p:cNvCxnSpPr>
            <a:cxnSpLocks/>
          </p:cNvCxnSpPr>
          <p:nvPr/>
        </p:nvCxnSpPr>
        <p:spPr>
          <a:xfrm>
            <a:off x="1552571" y="4620717"/>
            <a:ext cx="853647" cy="145705"/>
          </a:xfrm>
          <a:prstGeom prst="straightConnector1">
            <a:avLst/>
          </a:prstGeom>
          <a:ln w="28575">
            <a:solidFill>
              <a:srgbClr val="C00000">
                <a:alpha val="40000"/>
              </a:srgbClr>
            </a:solidFill>
            <a:prstDash val="dash"/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41" name="直接箭头连接符 40">
            <a:extLst>
              <a:ext uri="{FF2B5EF4-FFF2-40B4-BE49-F238E27FC236}">
                <a16:creationId xmlns:a16="http://schemas.microsoft.com/office/drawing/2014/main" id="{5B4FCBDE-9251-7E8A-82C6-CAF93A61D090}"/>
              </a:ext>
            </a:extLst>
          </p:cNvPr>
          <p:cNvCxnSpPr>
            <a:cxnSpLocks/>
          </p:cNvCxnSpPr>
          <p:nvPr/>
        </p:nvCxnSpPr>
        <p:spPr>
          <a:xfrm flipV="1">
            <a:off x="2019386" y="4766422"/>
            <a:ext cx="407765" cy="535939"/>
          </a:xfrm>
          <a:prstGeom prst="straightConnector1">
            <a:avLst/>
          </a:prstGeom>
          <a:ln w="38100">
            <a:solidFill>
              <a:srgbClr val="00B0F0">
                <a:alpha val="40000"/>
              </a:srgbClr>
            </a:solidFill>
            <a:prstDash val="dash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4" name="文本框 43">
            <a:extLst>
              <a:ext uri="{FF2B5EF4-FFF2-40B4-BE49-F238E27FC236}">
                <a16:creationId xmlns:a16="http://schemas.microsoft.com/office/drawing/2014/main" id="{5B65D20A-1F45-278F-C54D-82D2CDBE614B}"/>
              </a:ext>
            </a:extLst>
          </p:cNvPr>
          <p:cNvSpPr txBox="1"/>
          <p:nvPr/>
        </p:nvSpPr>
        <p:spPr>
          <a:xfrm>
            <a:off x="5025374" y="3558186"/>
            <a:ext cx="253553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b="1" dirty="0"/>
              <a:t>TALL-Masks</a:t>
            </a:r>
            <a:r>
              <a:rPr lang="zh-CN" altLang="en-US" b="1" dirty="0"/>
              <a:t>：</a:t>
            </a:r>
            <a:endParaRPr lang="zh-CN" altLang="en-US" dirty="0"/>
          </a:p>
        </p:txBody>
      </p:sp>
      <p:pic>
        <p:nvPicPr>
          <p:cNvPr id="46" name="图片 45">
            <a:extLst>
              <a:ext uri="{FF2B5EF4-FFF2-40B4-BE49-F238E27FC236}">
                <a16:creationId xmlns:a16="http://schemas.microsoft.com/office/drawing/2014/main" id="{B7C0DF44-6015-23C3-7CAA-D3D971179ADB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093423" y="3989575"/>
            <a:ext cx="6515035" cy="2118543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7" name="文本框 46">
                <a:extLst>
                  <a:ext uri="{FF2B5EF4-FFF2-40B4-BE49-F238E27FC236}">
                    <a16:creationId xmlns:a16="http://schemas.microsoft.com/office/drawing/2014/main" id="{E41FA7D7-010C-92AA-3676-47FE3A266F6C}"/>
                  </a:ext>
                </a:extLst>
              </p:cNvPr>
              <p:cNvSpPr txBox="1"/>
              <p:nvPr/>
            </p:nvSpPr>
            <p:spPr>
              <a:xfrm>
                <a:off x="8182947" y="6108118"/>
                <a:ext cx="3547454" cy="4113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zh-CN" altLang="en-US" sz="1600" dirty="0">
                    <a:latin typeface="+mn-ea"/>
                  </a:rPr>
                  <a:t>（</a:t>
                </a:r>
                <a:r>
                  <a:rPr lang="en-US" altLang="zh-CN" sz="1600" dirty="0">
                    <a:latin typeface="+mn-ea"/>
                  </a:rPr>
                  <a:t>2</a:t>
                </a:r>
                <a:r>
                  <a:rPr lang="zh-CN" altLang="en-US" sz="1600" dirty="0">
                    <a:latin typeface="+mn-ea"/>
                  </a:rPr>
                  <a:t>）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en-US" i="1" smtClean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zh-CN" altLang="en-US" i="0">
                        <a:latin typeface="Cambria Math" panose="02040503050406030204" pitchFamily="18" charset="0"/>
                      </a:rPr>
                      <m:t>=1</m:t>
                    </m:r>
                    <m:d>
                      <m:dPr>
                        <m:begChr m:val="{"/>
                        <m:endChr m:val="}"/>
                        <m:ctrlPr>
                          <a:rPr lang="zh-CN" alt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begChr m:val="|"/>
                            <m:endChr m:val="|"/>
                            <m:ctrlPr>
                              <a:rPr lang="zh-CN" altLang="en-US" i="1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zh-CN" altLang="en-US" i="1">
                                    <a:solidFill>
                                      <a:srgbClr val="83696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zh-CN" altLang="en-US" i="1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  <m:sub>
                                <m:r>
                                  <a:rPr lang="zh-CN" altLang="en-US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d>
                        <m:r>
                          <a:rPr lang="zh-CN" altLang="en-US" i="0">
                            <a:latin typeface="Cambria Math" panose="02040503050406030204" pitchFamily="18" charset="0"/>
                          </a:rPr>
                          <m:t>≥</m:t>
                        </m:r>
                        <m:d>
                          <m:dPr>
                            <m:begChr m:val="|"/>
                            <m:endChr m:val="|"/>
                            <m:ctrlPr>
                              <a:rPr lang="zh-CN" altLang="en-US" i="1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zh-CN" altLang="en-US" i="1">
                                    <a:solidFill>
                                      <a:srgbClr val="83696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zh-CN" altLang="en-US" i="1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  <m:sub>
                                <m:r>
                                  <a:rPr lang="zh-CN" altLang="en-US" i="1">
                                    <a:latin typeface="Cambria Math" panose="02040503050406030204" pitchFamily="18" charset="0"/>
                                  </a:rPr>
                                  <m:t>𝑓𝑢𝑠𝑖𝑜𝑛</m:t>
                                </m:r>
                              </m:sub>
                            </m:sSub>
                            <m:r>
                              <a:rPr lang="zh-CN" altLang="en-US" i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zh-CN" altLang="en-US" i="1">
                                    <a:solidFill>
                                      <a:srgbClr val="83696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zh-CN" altLang="en-US" i="1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  <m:sub>
                                <m:r>
                                  <a:rPr lang="zh-CN" altLang="en-US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d>
                      </m:e>
                    </m:d>
                  </m:oMath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47" name="文本框 46">
                <a:extLst>
                  <a:ext uri="{FF2B5EF4-FFF2-40B4-BE49-F238E27FC236}">
                    <a16:creationId xmlns:a16="http://schemas.microsoft.com/office/drawing/2014/main" id="{E41FA7D7-010C-92AA-3676-47FE3A266F6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82947" y="6108118"/>
                <a:ext cx="3547454" cy="411331"/>
              </a:xfrm>
              <a:prstGeom prst="rect">
                <a:avLst/>
              </a:prstGeom>
              <a:blipFill>
                <a:blip r:embed="rId13"/>
                <a:stretch>
                  <a:fillRect l="-859" b="-1194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8" name="文本框 47">
            <a:extLst>
              <a:ext uri="{FF2B5EF4-FFF2-40B4-BE49-F238E27FC236}">
                <a16:creationId xmlns:a16="http://schemas.microsoft.com/office/drawing/2014/main" id="{E9D041B5-6E0F-9DC1-36D4-30995E05EADD}"/>
              </a:ext>
            </a:extLst>
          </p:cNvPr>
          <p:cNvSpPr txBox="1"/>
          <p:nvPr/>
        </p:nvSpPr>
        <p:spPr>
          <a:xfrm>
            <a:off x="5025374" y="6144506"/>
            <a:ext cx="345498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indent="0">
              <a:spcAft>
                <a:spcPts val="1200"/>
              </a:spcAft>
              <a:buFont typeface="Arial" panose="020B0604020202020204" pitchFamily="34" charset="0"/>
              <a:buNone/>
              <a:defRPr sz="1600" b="0">
                <a:latin typeface="+mn-ea"/>
              </a:defRPr>
            </a:lvl1pPr>
          </a:lstStyle>
          <a:p>
            <a:r>
              <a:rPr lang="zh-CN" altLang="en-US" dirty="0"/>
              <a:t>（</a:t>
            </a:r>
            <a:r>
              <a:rPr lang="en-US" altLang="zh-CN" dirty="0"/>
              <a:t>1</a:t>
            </a:r>
            <a:r>
              <a:rPr lang="zh-CN" altLang="en-US" dirty="0"/>
              <a:t>）</a:t>
            </a:r>
            <a:r>
              <a:rPr lang="zh-CN" altLang="zh-CN" dirty="0"/>
              <a:t>保留绝对值最大的元素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44801773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14" grpId="0"/>
      <p:bldP spid="16" grpId="0" animBg="1"/>
      <p:bldP spid="19" grpId="0"/>
      <p:bldP spid="21" grpId="0"/>
      <p:bldP spid="24" grpId="0"/>
      <p:bldP spid="44" grpId="0"/>
      <p:bldP spid="47" grpId="0"/>
      <p:bldP spid="48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F8B5BD-4D8F-BD41-EF00-84CD1B4AFF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4">
            <a:extLst>
              <a:ext uri="{FF2B5EF4-FFF2-40B4-BE49-F238E27FC236}">
                <a16:creationId xmlns:a16="http://schemas.microsoft.com/office/drawing/2014/main" id="{9436878A-C9CA-2FAE-74B5-A11616112B9E}"/>
              </a:ext>
            </a:extLst>
          </p:cNvPr>
          <p:cNvSpPr txBox="1"/>
          <p:nvPr userDrawn="1"/>
        </p:nvSpPr>
        <p:spPr>
          <a:xfrm>
            <a:off x="1158408" y="152874"/>
            <a:ext cx="5225625" cy="542617"/>
          </a:xfrm>
          <a:prstGeom prst="rect">
            <a:avLst/>
          </a:prstGeom>
        </p:spPr>
        <p:txBody>
          <a:bodyPr vert="horz" lIns="91440" tIns="45721" rIns="91440" bIns="45721" rtlCol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zh-CN" altLang="en-US" sz="2400" b="1" kern="12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rgbClr val="000000">
                  <a:lumMod val="75000"/>
                  <a:lumOff val="25000"/>
                </a:srgb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07" name="文本框 106">
            <a:extLst>
              <a:ext uri="{FF2B5EF4-FFF2-40B4-BE49-F238E27FC236}">
                <a16:creationId xmlns:a16="http://schemas.microsoft.com/office/drawing/2014/main" id="{B18F1634-B900-850C-FEDB-98D19DED3341}"/>
              </a:ext>
            </a:extLst>
          </p:cNvPr>
          <p:cNvSpPr txBox="1"/>
          <p:nvPr/>
        </p:nvSpPr>
        <p:spPr>
          <a:xfrm>
            <a:off x="1150405" y="149467"/>
            <a:ext cx="654286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spcBef>
                <a:spcPct val="20000"/>
              </a:spcBef>
              <a:defRPr/>
            </a:pPr>
            <a:r>
              <a:rPr lang="en-US" altLang="zh-CN" sz="28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</a:t>
            </a:r>
            <a:r>
              <a:rPr lang="zh-CN" altLang="en-US" sz="28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研究设计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DCF45219-C5A5-888B-6E1E-92D70983F0C7}"/>
              </a:ext>
            </a:extLst>
          </p:cNvPr>
          <p:cNvSpPr txBox="1"/>
          <p:nvPr/>
        </p:nvSpPr>
        <p:spPr>
          <a:xfrm>
            <a:off x="435553" y="778914"/>
            <a:ext cx="330602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zh-CN" altLang="en-US" b="1" dirty="0">
                <a:solidFill>
                  <a:srgbClr val="268F9C"/>
                </a:solidFill>
                <a:latin typeface="+mn-ea"/>
              </a:rPr>
              <a:t>软工任务</a:t>
            </a:r>
            <a:endParaRPr lang="en-US" altLang="zh-CN" b="1" dirty="0">
              <a:solidFill>
                <a:srgbClr val="268F9C"/>
              </a:solidFill>
              <a:latin typeface="+mn-ea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4AA175-B0EC-09E8-CA26-802460283BBE}"/>
              </a:ext>
            </a:extLst>
          </p:cNvPr>
          <p:cNvSpPr txBox="1"/>
          <p:nvPr/>
        </p:nvSpPr>
        <p:spPr>
          <a:xfrm>
            <a:off x="688134" y="1122832"/>
            <a:ext cx="143924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marL="285750" indent="-285750">
              <a:spcAft>
                <a:spcPts val="1200"/>
              </a:spcAft>
              <a:buFont typeface="Arial" panose="020B0604020202020204" pitchFamily="34" charset="0"/>
              <a:buChar char="•"/>
              <a:defRPr sz="1600" b="1">
                <a:latin typeface="+mn-ea"/>
              </a:defRPr>
            </a:lvl1pPr>
          </a:lstStyle>
          <a:p>
            <a:r>
              <a:rPr lang="zh-CN" altLang="zh-CN" dirty="0"/>
              <a:t>代码搜索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endParaRPr lang="zh-CN" altLang="en-US" b="0" dirty="0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3E0E9513-006D-6544-F9DB-43EC902247CE}"/>
              </a:ext>
            </a:extLst>
          </p:cNvPr>
          <p:cNvSpPr txBox="1"/>
          <p:nvPr/>
        </p:nvSpPr>
        <p:spPr>
          <a:xfrm>
            <a:off x="688134" y="2682740"/>
            <a:ext cx="1821801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marL="285750" indent="-285750">
              <a:spcAft>
                <a:spcPts val="1200"/>
              </a:spcAft>
              <a:buFont typeface="Arial" panose="020B0604020202020204" pitchFamily="34" charset="0"/>
              <a:buChar char="•"/>
              <a:defRPr sz="1600" b="1">
                <a:latin typeface="+mn-ea"/>
              </a:defRPr>
            </a:lvl1pPr>
          </a:lstStyle>
          <a:p>
            <a:r>
              <a:rPr lang="zh-CN" altLang="zh-CN" dirty="0"/>
              <a:t>代码漏洞检测</a:t>
            </a:r>
            <a:endParaRPr lang="zh-CN" altLang="en-US" b="0" dirty="0"/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DC2A47A5-6510-B36F-089A-A6993D0E92DA}"/>
              </a:ext>
            </a:extLst>
          </p:cNvPr>
          <p:cNvSpPr txBox="1"/>
          <p:nvPr/>
        </p:nvSpPr>
        <p:spPr>
          <a:xfrm>
            <a:off x="688134" y="4249903"/>
            <a:ext cx="1821801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marL="285750" indent="-285750">
              <a:spcAft>
                <a:spcPts val="1200"/>
              </a:spcAft>
              <a:buFont typeface="Arial" panose="020B0604020202020204" pitchFamily="34" charset="0"/>
              <a:buChar char="•"/>
              <a:defRPr sz="1600" b="1">
                <a:latin typeface="+mn-ea"/>
              </a:defRPr>
            </a:lvl1pPr>
          </a:lstStyle>
          <a:p>
            <a:r>
              <a:rPr lang="zh-CN" altLang="zh-CN" dirty="0"/>
              <a:t>代码克隆检测</a:t>
            </a:r>
            <a:endParaRPr lang="zh-CN" altLang="en-US" b="0" dirty="0"/>
          </a:p>
        </p:txBody>
      </p:sp>
      <p:sp>
        <p:nvSpPr>
          <p:cNvPr id="50" name="文本框 49">
            <a:extLst>
              <a:ext uri="{FF2B5EF4-FFF2-40B4-BE49-F238E27FC236}">
                <a16:creationId xmlns:a16="http://schemas.microsoft.com/office/drawing/2014/main" id="{3BCB1EF0-4140-CFF9-7E2F-49DA2E8E08DC}"/>
              </a:ext>
            </a:extLst>
          </p:cNvPr>
          <p:cNvSpPr txBox="1"/>
          <p:nvPr/>
        </p:nvSpPr>
        <p:spPr>
          <a:xfrm>
            <a:off x="5831532" y="2682740"/>
            <a:ext cx="1797801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marL="285750" indent="-285750">
              <a:spcAft>
                <a:spcPts val="1200"/>
              </a:spcAft>
              <a:buFont typeface="Arial" panose="020B0604020202020204" pitchFamily="34" charset="0"/>
              <a:buChar char="•"/>
              <a:defRPr sz="1600" b="1">
                <a:latin typeface="+mn-ea"/>
              </a:defRPr>
            </a:lvl1pPr>
          </a:lstStyle>
          <a:p>
            <a:r>
              <a:rPr lang="zh-CN" altLang="en-US" dirty="0"/>
              <a:t>摘要生成</a:t>
            </a:r>
            <a:endParaRPr lang="zh-CN" altLang="en-US" b="0" dirty="0"/>
          </a:p>
        </p:txBody>
      </p:sp>
      <p:sp>
        <p:nvSpPr>
          <p:cNvPr id="53" name="文本框 52">
            <a:extLst>
              <a:ext uri="{FF2B5EF4-FFF2-40B4-BE49-F238E27FC236}">
                <a16:creationId xmlns:a16="http://schemas.microsoft.com/office/drawing/2014/main" id="{C805571B-D1B3-C068-513A-2298B8874009}"/>
              </a:ext>
            </a:extLst>
          </p:cNvPr>
          <p:cNvSpPr txBox="1"/>
          <p:nvPr/>
        </p:nvSpPr>
        <p:spPr>
          <a:xfrm>
            <a:off x="5825361" y="1153610"/>
            <a:ext cx="1686511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marL="285750" indent="-285750">
              <a:spcAft>
                <a:spcPts val="1200"/>
              </a:spcAft>
              <a:buFont typeface="Arial" panose="020B0604020202020204" pitchFamily="34" charset="0"/>
              <a:buChar char="•"/>
              <a:defRPr sz="1600" b="1">
                <a:latin typeface="+mn-ea"/>
              </a:defRPr>
            </a:lvl1pPr>
          </a:lstStyle>
          <a:p>
            <a:r>
              <a:rPr lang="zh-CN" altLang="en-US" dirty="0"/>
              <a:t>代码修复</a:t>
            </a:r>
          </a:p>
        </p:txBody>
      </p:sp>
      <p:sp>
        <p:nvSpPr>
          <p:cNvPr id="42" name="文本框 41">
            <a:extLst>
              <a:ext uri="{FF2B5EF4-FFF2-40B4-BE49-F238E27FC236}">
                <a16:creationId xmlns:a16="http://schemas.microsoft.com/office/drawing/2014/main" id="{FA090B4B-590F-063E-D151-9A84C5B36EBA}"/>
              </a:ext>
            </a:extLst>
          </p:cNvPr>
          <p:cNvSpPr txBox="1"/>
          <p:nvPr/>
        </p:nvSpPr>
        <p:spPr>
          <a:xfrm>
            <a:off x="5934168" y="4249903"/>
            <a:ext cx="1592527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marL="285750" indent="-285750">
              <a:spcAft>
                <a:spcPts val="1200"/>
              </a:spcAft>
              <a:buFont typeface="Arial" panose="020B0604020202020204" pitchFamily="34" charset="0"/>
              <a:buChar char="•"/>
              <a:defRPr sz="1600" b="1">
                <a:latin typeface="+mn-ea"/>
              </a:defRPr>
            </a:lvl1pPr>
          </a:lstStyle>
          <a:p>
            <a:r>
              <a:rPr lang="zh-CN" altLang="en-US" dirty="0"/>
              <a:t>代码生成</a:t>
            </a:r>
            <a:endParaRPr lang="zh-CN" altLang="en-US" b="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56DEEC46-308F-BE6C-9537-06A1FEDAAE44}"/>
                  </a:ext>
                </a:extLst>
              </p:cNvPr>
              <p:cNvSpPr txBox="1"/>
              <p:nvPr/>
            </p:nvSpPr>
            <p:spPr>
              <a:xfrm>
                <a:off x="958722" y="1437300"/>
                <a:ext cx="4686298" cy="6560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20000"/>
                  </a:lnSpc>
                  <a:spcAft>
                    <a:spcPts val="600"/>
                  </a:spcAft>
                </a:pPr>
                <a:r>
                  <a:rPr lang="zh-CN" altLang="en-US" sz="1600" dirty="0">
                    <a:solidFill>
                      <a:schemeClr val="tx1"/>
                    </a:solidFill>
                  </a:rPr>
                  <a:t>任务描述：给定一个自然描述查询</a:t>
                </a:r>
                <a14:m>
                  <m:oMath xmlns:m="http://schemas.openxmlformats.org/officeDocument/2006/math">
                    <m:r>
                      <a:rPr lang="en-US" altLang="zh-CN" sz="16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lang="zh-CN" altLang="en-US" sz="1600" dirty="0">
                    <a:solidFill>
                      <a:schemeClr val="tx1"/>
                    </a:solidFill>
                  </a:rPr>
                  <a:t>，从代码库中找出最相关的代码</a:t>
                </a:r>
                <a14:m>
                  <m:oMath xmlns:m="http://schemas.openxmlformats.org/officeDocument/2006/math">
                    <m:r>
                      <a:rPr lang="en-US" altLang="zh-CN" sz="16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endParaRPr lang="en-US" altLang="zh-CN" sz="16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56DEEC46-308F-BE6C-9537-06A1FEDAAE4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8722" y="1437300"/>
                <a:ext cx="4686298" cy="656077"/>
              </a:xfrm>
              <a:prstGeom prst="rect">
                <a:avLst/>
              </a:prstGeom>
              <a:blipFill>
                <a:blip r:embed="rId3"/>
                <a:stretch>
                  <a:fillRect l="-650" b="-1215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345F713C-5A48-2027-77D6-8C2BDD0DE490}"/>
                  </a:ext>
                </a:extLst>
              </p:cNvPr>
              <p:cNvSpPr txBox="1"/>
              <p:nvPr/>
            </p:nvSpPr>
            <p:spPr>
              <a:xfrm>
                <a:off x="958722" y="2151327"/>
                <a:ext cx="3641270" cy="47346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zh-CN" altLang="en-US" sz="1600" dirty="0">
                    <a:solidFill>
                      <a:schemeClr val="tx1"/>
                    </a:solidFill>
                  </a:rPr>
                  <a:t>评价指标：</a:t>
                </a:r>
                <a14:m>
                  <m:oMath xmlns:m="http://schemas.openxmlformats.org/officeDocument/2006/math">
                    <m:r>
                      <a:rPr lang="en-US" altLang="zh-CN" sz="16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𝑀𝑅𝑅</m:t>
                    </m:r>
                    <m:r>
                      <a:rPr lang="en-US" altLang="zh-CN" sz="16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zh-CN" sz="160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160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zh-CN" sz="16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US" altLang="zh-CN" sz="16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  <m:r>
                          <a:rPr lang="en-US" altLang="zh-CN" sz="16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den>
                    </m:f>
                    <m:nary>
                      <m:naryPr>
                        <m:chr m:val="∑"/>
                        <m:ctrlPr>
                          <a:rPr lang="en-US" altLang="zh-CN" sz="160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CN" sz="16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r>
                          <a:rPr lang="en-US" altLang="zh-CN" sz="16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US" altLang="zh-CN" sz="16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  <m:r>
                          <a:rPr lang="en-US" altLang="zh-CN" sz="16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sup>
                      <m:e>
                        <m:f>
                          <m:fPr>
                            <m:ctrlPr>
                              <a:rPr lang="en-US" altLang="zh-CN" sz="16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16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sSub>
                              <m:sSubPr>
                                <m:ctrlPr>
                                  <a:rPr lang="en-US" altLang="zh-CN" sz="16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16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𝑅</m:t>
                                </m:r>
                              </m:e>
                              <m:sub>
                                <m:r>
                                  <a:rPr lang="en-US" altLang="zh-CN" sz="16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den>
                        </m:f>
                      </m:e>
                    </m:nary>
                  </m:oMath>
                </a14:m>
                <a:endParaRPr lang="zh-CN" altLang="en-US" sz="1600" dirty="0"/>
              </a:p>
            </p:txBody>
          </p:sp>
        </mc:Choice>
        <mc:Fallback xmlns="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345F713C-5A48-2027-77D6-8C2BDD0DE49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8722" y="2151327"/>
                <a:ext cx="3641270" cy="473463"/>
              </a:xfrm>
              <a:prstGeom prst="rect">
                <a:avLst/>
              </a:prstGeom>
              <a:blipFill>
                <a:blip r:embed="rId4"/>
                <a:stretch>
                  <a:fillRect l="-836" t="-66667" b="-10384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文本框 6">
            <a:extLst>
              <a:ext uri="{FF2B5EF4-FFF2-40B4-BE49-F238E27FC236}">
                <a16:creationId xmlns:a16="http://schemas.microsoft.com/office/drawing/2014/main" id="{022ADECA-76EC-88BF-DFF0-457F6BC1B84F}"/>
              </a:ext>
            </a:extLst>
          </p:cNvPr>
          <p:cNvSpPr txBox="1"/>
          <p:nvPr/>
        </p:nvSpPr>
        <p:spPr>
          <a:xfrm>
            <a:off x="958721" y="3021294"/>
            <a:ext cx="4835487" cy="3623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600"/>
              </a:spcAft>
            </a:pPr>
            <a:r>
              <a:rPr lang="zh-CN" altLang="en-US" sz="1600" dirty="0">
                <a:solidFill>
                  <a:schemeClr val="tx1"/>
                </a:solidFill>
              </a:rPr>
              <a:t>任务描述：给定一个代码片段判断其是否含有漏洞</a:t>
            </a:r>
            <a:endParaRPr lang="en-US" altLang="zh-CN" sz="1600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CE36302D-7E6A-2E8D-9094-5E22D8509FF2}"/>
                  </a:ext>
                </a:extLst>
              </p:cNvPr>
              <p:cNvSpPr txBox="1"/>
              <p:nvPr/>
            </p:nvSpPr>
            <p:spPr>
              <a:xfrm>
                <a:off x="958722" y="3429726"/>
                <a:ext cx="4266421" cy="58477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zh-CN" altLang="en-US" sz="1600" dirty="0">
                    <a:solidFill>
                      <a:schemeClr val="tx1"/>
                    </a:solidFill>
                  </a:rPr>
                  <a:t>评价指标：</a:t>
                </a:r>
                <a14:m>
                  <m:oMath xmlns:m="http://schemas.openxmlformats.org/officeDocument/2006/math">
                    <m:r>
                      <a:rPr lang="en-US" altLang="zh-CN" sz="1600" b="0" i="1" dirty="0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altLang="zh-CN" sz="1600" i="1" dirty="0" smtClean="0">
                        <a:latin typeface="Cambria Math" panose="02040503050406030204" pitchFamily="18" charset="0"/>
                      </a:rPr>
                      <m:t>𝑐𝑐𝑢𝑟𝑎𝑐𝑦</m:t>
                    </m:r>
                    <m:r>
                      <a:rPr lang="zh-CN" altLang="en-US" sz="1600" i="1" dirty="0" smtClean="0">
                        <a:latin typeface="Cambria Math" panose="02040503050406030204" pitchFamily="18" charset="0"/>
                      </a:rPr>
                      <m:t>、</m:t>
                    </m:r>
                    <m:r>
                      <a:rPr lang="en-US" altLang="zh-CN" sz="1600" b="0" i="1" dirty="0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altLang="zh-CN" sz="1600" i="1" dirty="0" smtClean="0">
                        <a:latin typeface="Cambria Math" panose="02040503050406030204" pitchFamily="18" charset="0"/>
                      </a:rPr>
                      <m:t>𝑟𝑒𝑐𝑖𝑠𝑖𝑜𝑛</m:t>
                    </m:r>
                    <m:r>
                      <a:rPr lang="zh-CN" altLang="en-US" sz="1600" i="1" dirty="0" smtClean="0">
                        <a:latin typeface="Cambria Math" panose="02040503050406030204" pitchFamily="18" charset="0"/>
                      </a:rPr>
                      <m:t>、</m:t>
                    </m:r>
                    <m:r>
                      <a:rPr lang="en-US" altLang="zh-CN" sz="1600" b="0" i="1" dirty="0" smtClean="0"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US" altLang="zh-CN" sz="1600" i="1" dirty="0" smtClean="0">
                        <a:latin typeface="Cambria Math" panose="02040503050406030204" pitchFamily="18" charset="0"/>
                      </a:rPr>
                      <m:t>𝑒𝑐𝑎𝑙𝑙</m:t>
                    </m:r>
                    <m:r>
                      <a:rPr lang="zh-CN" altLang="en-US" sz="1600" i="1" dirty="0" smtClean="0">
                        <a:latin typeface="Cambria Math" panose="02040503050406030204" pitchFamily="18" charset="0"/>
                      </a:rPr>
                      <m:t>、</m:t>
                    </m:r>
                    <m:r>
                      <a:rPr lang="en-US" altLang="zh-CN" sz="1600" i="1" dirty="0" smtClean="0">
                        <a:latin typeface="Cambria Math" panose="02040503050406030204" pitchFamily="18" charset="0"/>
                      </a:rPr>
                      <m:t>𝐹</m:t>
                    </m:r>
                    <m:r>
                      <a:rPr lang="en-US" altLang="zh-CN" sz="1600" i="1" dirty="0" smtClean="0">
                        <a:latin typeface="Cambria Math" panose="02040503050406030204" pitchFamily="18" charset="0"/>
                      </a:rPr>
                      <m:t>1−</m:t>
                    </m:r>
                    <m:r>
                      <a:rPr lang="en-US" altLang="zh-CN" sz="1600" i="1" dirty="0" smtClean="0">
                        <a:latin typeface="Cambria Math" panose="02040503050406030204" pitchFamily="18" charset="0"/>
                      </a:rPr>
                      <m:t>𝑠𝑐𝑜𝑟𝑒</m:t>
                    </m:r>
                  </m:oMath>
                </a14:m>
                <a:endParaRPr lang="zh-CN" altLang="en-US" sz="1600" i="1" dirty="0"/>
              </a:p>
            </p:txBody>
          </p:sp>
        </mc:Choice>
        <mc:Fallback xmlns="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CE36302D-7E6A-2E8D-9094-5E22D8509FF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8722" y="3429726"/>
                <a:ext cx="4266421" cy="584775"/>
              </a:xfrm>
              <a:prstGeom prst="rect">
                <a:avLst/>
              </a:prstGeom>
              <a:blipFill>
                <a:blip r:embed="rId5"/>
                <a:stretch>
                  <a:fillRect l="-714" t="-3125" b="-208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3CC92D6F-F855-EF0A-F600-9BFCEBB53C19}"/>
                  </a:ext>
                </a:extLst>
              </p:cNvPr>
              <p:cNvSpPr txBox="1"/>
              <p:nvPr/>
            </p:nvSpPr>
            <p:spPr>
              <a:xfrm>
                <a:off x="958720" y="4599853"/>
                <a:ext cx="4835487" cy="6560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20000"/>
                  </a:lnSpc>
                  <a:spcAft>
                    <a:spcPts val="600"/>
                  </a:spcAft>
                </a:pPr>
                <a:r>
                  <a:rPr lang="zh-CN" altLang="en-US" sz="1600" dirty="0">
                    <a:solidFill>
                      <a:schemeClr val="tx1"/>
                    </a:solidFill>
                  </a:rPr>
                  <a:t>任务描述：给定一个代码</a:t>
                </a:r>
                <a:r>
                  <a:rPr lang="zh-CN" altLang="en-US" sz="1600" dirty="0"/>
                  <a:t>对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zh-CN" altLang="en-US" sz="1600" i="1">
                        <a:latin typeface="Cambria Math" panose="02040503050406030204" pitchFamily="18" charset="0"/>
                      </a:rPr>
                      <m:t>、</m:t>
                    </m:r>
                    <m:sSub>
                      <m:sSubPr>
                        <m:ctrlP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zh-CN" altLang="en-US" sz="1600" dirty="0">
                    <a:solidFill>
                      <a:schemeClr val="tx1"/>
                    </a:solidFill>
                  </a:rPr>
                  <a:t>，判断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altLang="zh-CN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zh-CN" altLang="en-US" sz="1600" dirty="0">
                    <a:solidFill>
                      <a:schemeClr val="tx1"/>
                    </a:solidFill>
                  </a:rPr>
                  <a:t>是否从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altLang="zh-CN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zh-CN" altLang="en-US" sz="1600" dirty="0">
                    <a:solidFill>
                      <a:schemeClr val="tx1"/>
                    </a:solidFill>
                  </a:rPr>
                  <a:t>克隆而来，或者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 i="1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zh-CN" altLang="en-US" sz="1600" dirty="0"/>
                  <a:t>是否从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 i="1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zh-CN" altLang="en-US" sz="1600" dirty="0"/>
                  <a:t>克隆而来</a:t>
                </a:r>
                <a:endParaRPr lang="en-US" altLang="zh-CN" sz="16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3CC92D6F-F855-EF0A-F600-9BFCEBB53C1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8720" y="4599853"/>
                <a:ext cx="4835487" cy="656077"/>
              </a:xfrm>
              <a:prstGeom prst="rect">
                <a:avLst/>
              </a:prstGeom>
              <a:blipFill>
                <a:blip r:embed="rId6"/>
                <a:stretch>
                  <a:fillRect l="-631" b="-1215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文本框 12">
                <a:extLst>
                  <a:ext uri="{FF2B5EF4-FFF2-40B4-BE49-F238E27FC236}">
                    <a16:creationId xmlns:a16="http://schemas.microsoft.com/office/drawing/2014/main" id="{62ECDA79-CA4A-BE02-6A61-57F6CE07E4D5}"/>
                  </a:ext>
                </a:extLst>
              </p:cNvPr>
              <p:cNvSpPr txBox="1"/>
              <p:nvPr/>
            </p:nvSpPr>
            <p:spPr>
              <a:xfrm>
                <a:off x="958722" y="5347097"/>
                <a:ext cx="4266421" cy="58477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zh-CN" altLang="en-US" sz="1600" dirty="0">
                    <a:solidFill>
                      <a:schemeClr val="tx1"/>
                    </a:solidFill>
                  </a:rPr>
                  <a:t>评价指标：</a:t>
                </a:r>
                <a14:m>
                  <m:oMath xmlns:m="http://schemas.openxmlformats.org/officeDocument/2006/math">
                    <m:r>
                      <a:rPr lang="en-US" altLang="zh-CN" sz="1600" b="0" i="1" dirty="0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altLang="zh-CN" sz="1600" i="1" dirty="0" smtClean="0">
                        <a:latin typeface="Cambria Math" panose="02040503050406030204" pitchFamily="18" charset="0"/>
                      </a:rPr>
                      <m:t>𝑐𝑐𝑢𝑟𝑎𝑐𝑦</m:t>
                    </m:r>
                    <m:r>
                      <a:rPr lang="zh-CN" altLang="en-US" sz="1600" i="1" dirty="0" smtClean="0">
                        <a:latin typeface="Cambria Math" panose="02040503050406030204" pitchFamily="18" charset="0"/>
                      </a:rPr>
                      <m:t>、</m:t>
                    </m:r>
                    <m:r>
                      <a:rPr lang="en-US" altLang="zh-CN" sz="1600" b="0" i="1" dirty="0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altLang="zh-CN" sz="1600" i="1" dirty="0" smtClean="0">
                        <a:latin typeface="Cambria Math" panose="02040503050406030204" pitchFamily="18" charset="0"/>
                      </a:rPr>
                      <m:t>𝑟𝑒𝑐𝑖𝑠𝑖𝑜𝑛</m:t>
                    </m:r>
                    <m:r>
                      <a:rPr lang="zh-CN" altLang="en-US" sz="1600" i="1" dirty="0" smtClean="0">
                        <a:latin typeface="Cambria Math" panose="02040503050406030204" pitchFamily="18" charset="0"/>
                      </a:rPr>
                      <m:t>、</m:t>
                    </m:r>
                    <m:r>
                      <a:rPr lang="en-US" altLang="zh-CN" sz="1600" b="0" i="1" dirty="0" smtClean="0"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US" altLang="zh-CN" sz="1600" i="1" dirty="0" smtClean="0">
                        <a:latin typeface="Cambria Math" panose="02040503050406030204" pitchFamily="18" charset="0"/>
                      </a:rPr>
                      <m:t>𝑒𝑐𝑎𝑙𝑙</m:t>
                    </m:r>
                    <m:r>
                      <a:rPr lang="zh-CN" altLang="en-US" sz="1600" i="1" dirty="0" smtClean="0">
                        <a:latin typeface="Cambria Math" panose="02040503050406030204" pitchFamily="18" charset="0"/>
                      </a:rPr>
                      <m:t>、</m:t>
                    </m:r>
                    <m:r>
                      <a:rPr lang="en-US" altLang="zh-CN" sz="1600" i="1" dirty="0" smtClean="0">
                        <a:latin typeface="Cambria Math" panose="02040503050406030204" pitchFamily="18" charset="0"/>
                      </a:rPr>
                      <m:t>𝐹</m:t>
                    </m:r>
                    <m:r>
                      <a:rPr lang="en-US" altLang="zh-CN" sz="1600" i="1" dirty="0" smtClean="0">
                        <a:latin typeface="Cambria Math" panose="02040503050406030204" pitchFamily="18" charset="0"/>
                      </a:rPr>
                      <m:t>1−</m:t>
                    </m:r>
                    <m:r>
                      <a:rPr lang="en-US" altLang="zh-CN" sz="1600" i="1" dirty="0" smtClean="0">
                        <a:latin typeface="Cambria Math" panose="02040503050406030204" pitchFamily="18" charset="0"/>
                      </a:rPr>
                      <m:t>𝑠𝑐𝑜𝑟𝑒</m:t>
                    </m:r>
                  </m:oMath>
                </a14:m>
                <a:endParaRPr lang="zh-CN" altLang="en-US" sz="1600" i="1" dirty="0"/>
              </a:p>
            </p:txBody>
          </p:sp>
        </mc:Choice>
        <mc:Fallback xmlns="">
          <p:sp>
            <p:nvSpPr>
              <p:cNvPr id="13" name="文本框 12">
                <a:extLst>
                  <a:ext uri="{FF2B5EF4-FFF2-40B4-BE49-F238E27FC236}">
                    <a16:creationId xmlns:a16="http://schemas.microsoft.com/office/drawing/2014/main" id="{62ECDA79-CA4A-BE02-6A61-57F6CE07E4D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8722" y="5347097"/>
                <a:ext cx="4266421" cy="584775"/>
              </a:xfrm>
              <a:prstGeom prst="rect">
                <a:avLst/>
              </a:prstGeom>
              <a:blipFill>
                <a:blip r:embed="rId7"/>
                <a:stretch>
                  <a:fillRect l="-714" t="-3125" b="-312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文本框 13">
            <a:extLst>
              <a:ext uri="{FF2B5EF4-FFF2-40B4-BE49-F238E27FC236}">
                <a16:creationId xmlns:a16="http://schemas.microsoft.com/office/drawing/2014/main" id="{42F75DB4-47C9-F30A-EDC8-DA1DFD896DC2}"/>
              </a:ext>
            </a:extLst>
          </p:cNvPr>
          <p:cNvSpPr txBox="1"/>
          <p:nvPr/>
        </p:nvSpPr>
        <p:spPr>
          <a:xfrm>
            <a:off x="6096000" y="1437300"/>
            <a:ext cx="4686298" cy="6560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600"/>
              </a:spcAft>
            </a:pPr>
            <a:r>
              <a:rPr lang="zh-CN" altLang="en-US" sz="1600" dirty="0">
                <a:solidFill>
                  <a:schemeClr val="tx1"/>
                </a:solidFill>
              </a:rPr>
              <a:t>任务描述：给定一个含有漏洞的代码以及该代码的功能，生成修复后的代码</a:t>
            </a:r>
            <a:endParaRPr lang="en-US" altLang="zh-CN" sz="1600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文本框 14">
                <a:extLst>
                  <a:ext uri="{FF2B5EF4-FFF2-40B4-BE49-F238E27FC236}">
                    <a16:creationId xmlns:a16="http://schemas.microsoft.com/office/drawing/2014/main" id="{FF73F927-C754-53A0-06DD-C596256DE54B}"/>
                  </a:ext>
                </a:extLst>
              </p:cNvPr>
              <p:cNvSpPr txBox="1"/>
              <p:nvPr/>
            </p:nvSpPr>
            <p:spPr>
              <a:xfrm>
                <a:off x="6096000" y="2151326"/>
                <a:ext cx="3641270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zh-CN" altLang="en-US" sz="1600" dirty="0">
                    <a:solidFill>
                      <a:schemeClr val="tx1"/>
                    </a:solidFill>
                  </a:rPr>
                  <a:t>评价指标：</a:t>
                </a:r>
                <a14:m>
                  <m:oMath xmlns:m="http://schemas.openxmlformats.org/officeDocument/2006/math">
                    <m:r>
                      <a:rPr lang="en-US" altLang="zh-CN" sz="16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altLang="zh-CN" sz="16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𝑎𝑠𝑠</m:t>
                    </m:r>
                    <m:r>
                      <a:rPr lang="en-US" altLang="zh-CN" sz="16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@5</m:t>
                    </m:r>
                  </m:oMath>
                </a14:m>
                <a:endParaRPr lang="zh-CN" altLang="en-US" sz="1600" dirty="0"/>
              </a:p>
            </p:txBody>
          </p:sp>
        </mc:Choice>
        <mc:Fallback xmlns="">
          <p:sp>
            <p:nvSpPr>
              <p:cNvPr id="15" name="文本框 14">
                <a:extLst>
                  <a:ext uri="{FF2B5EF4-FFF2-40B4-BE49-F238E27FC236}">
                    <a16:creationId xmlns:a16="http://schemas.microsoft.com/office/drawing/2014/main" id="{FF73F927-C754-53A0-06DD-C596256DE54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0" y="2151326"/>
                <a:ext cx="3641270" cy="338554"/>
              </a:xfrm>
              <a:prstGeom prst="rect">
                <a:avLst/>
              </a:prstGeom>
              <a:blipFill>
                <a:blip r:embed="rId8"/>
                <a:stretch>
                  <a:fillRect l="-838" t="-5455" b="-2363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文本框 15">
            <a:extLst>
              <a:ext uri="{FF2B5EF4-FFF2-40B4-BE49-F238E27FC236}">
                <a16:creationId xmlns:a16="http://schemas.microsoft.com/office/drawing/2014/main" id="{8E8C6FED-0B97-CEF4-8C4F-F713A7139F48}"/>
              </a:ext>
            </a:extLst>
          </p:cNvPr>
          <p:cNvSpPr txBox="1"/>
          <p:nvPr/>
        </p:nvSpPr>
        <p:spPr>
          <a:xfrm>
            <a:off x="6096000" y="3021294"/>
            <a:ext cx="4686298" cy="3623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600"/>
              </a:spcAft>
            </a:pPr>
            <a:r>
              <a:rPr lang="zh-CN" altLang="en-US" sz="1600" dirty="0">
                <a:solidFill>
                  <a:schemeClr val="tx1"/>
                </a:solidFill>
              </a:rPr>
              <a:t>任务描述：给定一个代码，生成其功能描述片段</a:t>
            </a:r>
            <a:endParaRPr lang="en-US" altLang="zh-CN" sz="1600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文本框 17">
                <a:extLst>
                  <a:ext uri="{FF2B5EF4-FFF2-40B4-BE49-F238E27FC236}">
                    <a16:creationId xmlns:a16="http://schemas.microsoft.com/office/drawing/2014/main" id="{06CA6E7F-4367-AC4D-EDDC-70FB9BF417D0}"/>
                  </a:ext>
                </a:extLst>
              </p:cNvPr>
              <p:cNvSpPr txBox="1"/>
              <p:nvPr/>
            </p:nvSpPr>
            <p:spPr>
              <a:xfrm>
                <a:off x="6102223" y="3429726"/>
                <a:ext cx="4266421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zh-CN" altLang="en-US" sz="1600" dirty="0">
                    <a:solidFill>
                      <a:schemeClr val="tx1"/>
                    </a:solidFill>
                  </a:rPr>
                  <a:t>评价指标：</a:t>
                </a:r>
                <a14:m>
                  <m:oMath xmlns:m="http://schemas.openxmlformats.org/officeDocument/2006/math">
                    <m:r>
                      <a:rPr lang="en-US" altLang="zh-CN" sz="16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𝐵𝐿𝐸𝑈</m:t>
                    </m:r>
                    <m:r>
                      <a:rPr lang="en-US" altLang="zh-CN" sz="16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−4</m:t>
                    </m:r>
                  </m:oMath>
                </a14:m>
                <a:endParaRPr lang="zh-CN" altLang="en-US" sz="1600" i="1" dirty="0"/>
              </a:p>
            </p:txBody>
          </p:sp>
        </mc:Choice>
        <mc:Fallback xmlns="">
          <p:sp>
            <p:nvSpPr>
              <p:cNvPr id="18" name="文本框 17">
                <a:extLst>
                  <a:ext uri="{FF2B5EF4-FFF2-40B4-BE49-F238E27FC236}">
                    <a16:creationId xmlns:a16="http://schemas.microsoft.com/office/drawing/2014/main" id="{06CA6E7F-4367-AC4D-EDDC-70FB9BF417D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02223" y="3429726"/>
                <a:ext cx="4266421" cy="338554"/>
              </a:xfrm>
              <a:prstGeom prst="rect">
                <a:avLst/>
              </a:prstGeom>
              <a:blipFill>
                <a:blip r:embed="rId9"/>
                <a:stretch>
                  <a:fillRect l="-714" t="-5455" b="-2363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文本框 18">
            <a:extLst>
              <a:ext uri="{FF2B5EF4-FFF2-40B4-BE49-F238E27FC236}">
                <a16:creationId xmlns:a16="http://schemas.microsoft.com/office/drawing/2014/main" id="{F45ABDD0-7897-8497-9F4C-BB2105B4F4B5}"/>
              </a:ext>
            </a:extLst>
          </p:cNvPr>
          <p:cNvSpPr txBox="1"/>
          <p:nvPr/>
        </p:nvSpPr>
        <p:spPr>
          <a:xfrm>
            <a:off x="6096000" y="4599853"/>
            <a:ext cx="4835487" cy="6560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600"/>
              </a:spcAft>
            </a:pPr>
            <a:r>
              <a:rPr lang="zh-CN" altLang="en-US" sz="1600" dirty="0">
                <a:solidFill>
                  <a:schemeClr val="tx1"/>
                </a:solidFill>
              </a:rPr>
              <a:t>任务描述：给定一个</a:t>
            </a:r>
            <a:r>
              <a:rPr lang="zh-CN" altLang="en-US" sz="1600" dirty="0"/>
              <a:t>功能描述的自然语言片段，生成相应功能代码</a:t>
            </a:r>
            <a:endParaRPr lang="en-US" altLang="zh-CN" sz="1600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文本框 19">
                <a:extLst>
                  <a:ext uri="{FF2B5EF4-FFF2-40B4-BE49-F238E27FC236}">
                    <a16:creationId xmlns:a16="http://schemas.microsoft.com/office/drawing/2014/main" id="{E86B9FD5-8194-C3F8-8B18-668567995A32}"/>
                  </a:ext>
                </a:extLst>
              </p:cNvPr>
              <p:cNvSpPr txBox="1"/>
              <p:nvPr/>
            </p:nvSpPr>
            <p:spPr>
              <a:xfrm>
                <a:off x="6096000" y="5347097"/>
                <a:ext cx="3641270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zh-CN" altLang="en-US" sz="1600" dirty="0">
                    <a:solidFill>
                      <a:schemeClr val="tx1"/>
                    </a:solidFill>
                  </a:rPr>
                  <a:t>评价指标：</a:t>
                </a:r>
                <a14:m>
                  <m:oMath xmlns:m="http://schemas.openxmlformats.org/officeDocument/2006/math">
                    <m:r>
                      <a:rPr lang="en-US" altLang="zh-CN" sz="16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altLang="zh-CN" sz="16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𝑎𝑠𝑠</m:t>
                    </m:r>
                    <m:r>
                      <a:rPr lang="en-US" altLang="zh-CN" sz="16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@5</m:t>
                    </m:r>
                  </m:oMath>
                </a14:m>
                <a:endParaRPr lang="zh-CN" altLang="en-US" sz="1600" dirty="0"/>
              </a:p>
            </p:txBody>
          </p:sp>
        </mc:Choice>
        <mc:Fallback xmlns="">
          <p:sp>
            <p:nvSpPr>
              <p:cNvPr id="20" name="文本框 19">
                <a:extLst>
                  <a:ext uri="{FF2B5EF4-FFF2-40B4-BE49-F238E27FC236}">
                    <a16:creationId xmlns:a16="http://schemas.microsoft.com/office/drawing/2014/main" id="{E86B9FD5-8194-C3F8-8B18-668567995A3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0" y="5347097"/>
                <a:ext cx="3641270" cy="338554"/>
              </a:xfrm>
              <a:prstGeom prst="rect">
                <a:avLst/>
              </a:prstGeom>
              <a:blipFill>
                <a:blip r:embed="rId10"/>
                <a:stretch>
                  <a:fillRect l="-838" t="-5357" b="-2142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196553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7" grpId="0"/>
      <p:bldP spid="30" grpId="0"/>
      <p:bldP spid="50" grpId="0"/>
      <p:bldP spid="53" grpId="0"/>
      <p:bldP spid="42" grpId="0"/>
      <p:bldP spid="4" grpId="0"/>
      <p:bldP spid="6" grpId="0"/>
      <p:bldP spid="7" grpId="0"/>
      <p:bldP spid="10" grpId="0"/>
      <p:bldP spid="11" grpId="0"/>
      <p:bldP spid="13" grpId="0"/>
      <p:bldP spid="14" grpId="0"/>
      <p:bldP spid="15" grpId="0"/>
      <p:bldP spid="16" grpId="0"/>
      <p:bldP spid="18" grpId="0"/>
      <p:bldP spid="19" grpId="0"/>
      <p:bldP spid="20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F8B5BD-4D8F-BD41-EF00-84CD1B4AFF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4">
            <a:extLst>
              <a:ext uri="{FF2B5EF4-FFF2-40B4-BE49-F238E27FC236}">
                <a16:creationId xmlns:a16="http://schemas.microsoft.com/office/drawing/2014/main" id="{9436878A-C9CA-2FAE-74B5-A11616112B9E}"/>
              </a:ext>
            </a:extLst>
          </p:cNvPr>
          <p:cNvSpPr txBox="1"/>
          <p:nvPr userDrawn="1"/>
        </p:nvSpPr>
        <p:spPr>
          <a:xfrm>
            <a:off x="1158408" y="152874"/>
            <a:ext cx="5225625" cy="542617"/>
          </a:xfrm>
          <a:prstGeom prst="rect">
            <a:avLst/>
          </a:prstGeom>
        </p:spPr>
        <p:txBody>
          <a:bodyPr vert="horz" lIns="91440" tIns="45721" rIns="91440" bIns="45721" rtlCol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zh-CN" altLang="en-US" sz="2400" b="1" kern="12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rgbClr val="000000">
                  <a:lumMod val="75000"/>
                  <a:lumOff val="25000"/>
                </a:srgb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07" name="文本框 106">
            <a:extLst>
              <a:ext uri="{FF2B5EF4-FFF2-40B4-BE49-F238E27FC236}">
                <a16:creationId xmlns:a16="http://schemas.microsoft.com/office/drawing/2014/main" id="{B18F1634-B900-850C-FEDB-98D19DED3341}"/>
              </a:ext>
            </a:extLst>
          </p:cNvPr>
          <p:cNvSpPr txBox="1"/>
          <p:nvPr/>
        </p:nvSpPr>
        <p:spPr>
          <a:xfrm>
            <a:off x="1150405" y="149467"/>
            <a:ext cx="654286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3.</a:t>
            </a:r>
            <a:r>
              <a:rPr lang="zh-CN" altLang="en-US" sz="28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实验结果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7C6C2EF8-64DD-2BFD-942C-3D366758DD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089348"/>
            <a:ext cx="12192000" cy="3228496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E313850C-CB70-F8C9-E9E1-E423F92834CE}"/>
              </a:ext>
            </a:extLst>
          </p:cNvPr>
          <p:cNvSpPr txBox="1"/>
          <p:nvPr/>
        </p:nvSpPr>
        <p:spPr>
          <a:xfrm>
            <a:off x="3629251" y="1727990"/>
            <a:ext cx="493349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600" b="1" dirty="0"/>
              <a:t>不同融合方法融合所有任务的性能</a:t>
            </a:r>
            <a:endParaRPr lang="zh-CN" altLang="en-US" sz="1600" dirty="0"/>
          </a:p>
        </p:txBody>
      </p:sp>
    </p:spTree>
    <p:extLst>
      <p:ext uri="{BB962C8B-B14F-4D97-AF65-F5344CB8AC3E}">
        <p14:creationId xmlns:p14="http://schemas.microsoft.com/office/powerpoint/2010/main" val="37404962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F8B5BD-4D8F-BD41-EF00-84CD1B4AFF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4">
            <a:extLst>
              <a:ext uri="{FF2B5EF4-FFF2-40B4-BE49-F238E27FC236}">
                <a16:creationId xmlns:a16="http://schemas.microsoft.com/office/drawing/2014/main" id="{9436878A-C9CA-2FAE-74B5-A11616112B9E}"/>
              </a:ext>
            </a:extLst>
          </p:cNvPr>
          <p:cNvSpPr txBox="1"/>
          <p:nvPr userDrawn="1"/>
        </p:nvSpPr>
        <p:spPr>
          <a:xfrm>
            <a:off x="1158408" y="152874"/>
            <a:ext cx="5225625" cy="542617"/>
          </a:xfrm>
          <a:prstGeom prst="rect">
            <a:avLst/>
          </a:prstGeom>
        </p:spPr>
        <p:txBody>
          <a:bodyPr vert="horz" lIns="91440" tIns="45721" rIns="91440" bIns="45721" rtlCol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zh-CN" altLang="en-US" sz="2400" b="1" kern="12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rgbClr val="000000">
                  <a:lumMod val="75000"/>
                  <a:lumOff val="25000"/>
                </a:srgb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07" name="文本框 106">
            <a:extLst>
              <a:ext uri="{FF2B5EF4-FFF2-40B4-BE49-F238E27FC236}">
                <a16:creationId xmlns:a16="http://schemas.microsoft.com/office/drawing/2014/main" id="{B18F1634-B900-850C-FEDB-98D19DED3341}"/>
              </a:ext>
            </a:extLst>
          </p:cNvPr>
          <p:cNvSpPr txBox="1"/>
          <p:nvPr/>
        </p:nvSpPr>
        <p:spPr>
          <a:xfrm>
            <a:off x="1150405" y="149467"/>
            <a:ext cx="654286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3.</a:t>
            </a:r>
            <a:r>
              <a:rPr lang="zh-CN" altLang="en-US" sz="28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实验结果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D7846EC3-1C0E-0E89-3199-0469571EFF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617118"/>
            <a:ext cx="6096634" cy="3623764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9CF5483D-D193-EAA9-156A-2EF90C4785B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60055" y="1309047"/>
            <a:ext cx="5631945" cy="39318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21060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F8B5BD-4D8F-BD41-EF00-84CD1B4AFF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形 5">
            <a:extLst>
              <a:ext uri="{FF2B5EF4-FFF2-40B4-BE49-F238E27FC236}">
                <a16:creationId xmlns:a16="http://schemas.microsoft.com/office/drawing/2014/main" id="{A8972EDD-6549-B8D9-E373-FB785931510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24865" y="1390711"/>
            <a:ext cx="5947200" cy="5193486"/>
          </a:xfrm>
          <a:prstGeom prst="rect">
            <a:avLst/>
          </a:prstGeom>
        </p:spPr>
      </p:pic>
      <p:sp>
        <p:nvSpPr>
          <p:cNvPr id="3" name="标题 4">
            <a:extLst>
              <a:ext uri="{FF2B5EF4-FFF2-40B4-BE49-F238E27FC236}">
                <a16:creationId xmlns:a16="http://schemas.microsoft.com/office/drawing/2014/main" id="{9436878A-C9CA-2FAE-74B5-A11616112B9E}"/>
              </a:ext>
            </a:extLst>
          </p:cNvPr>
          <p:cNvSpPr txBox="1"/>
          <p:nvPr userDrawn="1"/>
        </p:nvSpPr>
        <p:spPr>
          <a:xfrm>
            <a:off x="1158408" y="152874"/>
            <a:ext cx="5225625" cy="542617"/>
          </a:xfrm>
          <a:prstGeom prst="rect">
            <a:avLst/>
          </a:prstGeom>
        </p:spPr>
        <p:txBody>
          <a:bodyPr vert="horz" lIns="91440" tIns="45721" rIns="91440" bIns="45721" rtlCol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zh-CN" altLang="en-US" sz="2400" b="1" kern="12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rgbClr val="000000">
                  <a:lumMod val="75000"/>
                  <a:lumOff val="25000"/>
                </a:srgb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07" name="文本框 106">
            <a:extLst>
              <a:ext uri="{FF2B5EF4-FFF2-40B4-BE49-F238E27FC236}">
                <a16:creationId xmlns:a16="http://schemas.microsoft.com/office/drawing/2014/main" id="{B18F1634-B900-850C-FEDB-98D19DED3341}"/>
              </a:ext>
            </a:extLst>
          </p:cNvPr>
          <p:cNvSpPr txBox="1"/>
          <p:nvPr/>
        </p:nvSpPr>
        <p:spPr>
          <a:xfrm>
            <a:off x="1158408" y="162572"/>
            <a:ext cx="654286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3.</a:t>
            </a:r>
            <a:r>
              <a:rPr lang="zh-CN" altLang="en-US" sz="28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实验结果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7209EB67-7026-81DF-A91F-E4F00512BA40}"/>
              </a:ext>
            </a:extLst>
          </p:cNvPr>
          <p:cNvSpPr txBox="1"/>
          <p:nvPr/>
        </p:nvSpPr>
        <p:spPr>
          <a:xfrm>
            <a:off x="435553" y="778914"/>
            <a:ext cx="522562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altLang="zh-CN" b="1" dirty="0">
                <a:solidFill>
                  <a:srgbClr val="268F9C"/>
                </a:solidFill>
                <a:latin typeface="+mn-ea"/>
              </a:rPr>
              <a:t>RQ3.</a:t>
            </a:r>
            <a:r>
              <a:rPr lang="zh-CN" altLang="en-US" b="1" dirty="0">
                <a:solidFill>
                  <a:srgbClr val="268F9C"/>
                </a:solidFill>
                <a:latin typeface="+mn-ea"/>
              </a:rPr>
              <a:t> </a:t>
            </a:r>
            <a:r>
              <a:rPr lang="en-US" altLang="zh-CN" b="1" dirty="0">
                <a:solidFill>
                  <a:srgbClr val="268F9C"/>
                </a:solidFill>
                <a:latin typeface="+mn-ea"/>
              </a:rPr>
              <a:t> </a:t>
            </a:r>
            <a:r>
              <a:rPr lang="zh-CN" altLang="en-US" b="1" dirty="0">
                <a:solidFill>
                  <a:srgbClr val="268F9C"/>
                </a:solidFill>
                <a:latin typeface="+mn-ea"/>
              </a:rPr>
              <a:t>对模型融合方法在软工任务上的改进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文本框 18">
                <a:extLst>
                  <a:ext uri="{FF2B5EF4-FFF2-40B4-BE49-F238E27FC236}">
                    <a16:creationId xmlns:a16="http://schemas.microsoft.com/office/drawing/2014/main" id="{03AD9042-F824-2835-9F6F-582A905E8ACD}"/>
                  </a:ext>
                </a:extLst>
              </p:cNvPr>
              <p:cNvSpPr txBox="1"/>
              <p:nvPr/>
            </p:nvSpPr>
            <p:spPr>
              <a:xfrm>
                <a:off x="6272065" y="1371824"/>
                <a:ext cx="5829739" cy="46380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285750" indent="-285750">
                  <a:spcAft>
                    <a:spcPts val="1800"/>
                  </a:spcAft>
                  <a:buFont typeface="Arial" panose="020B0604020202020204" pitchFamily="34" charset="0"/>
                  <a:buChar char="•"/>
                </a:pPr>
                <a:r>
                  <a:rPr lang="zh-CN" altLang="zh-CN" dirty="0"/>
                  <a:t>在</a:t>
                </a:r>
                <a:r>
                  <a:rPr lang="en-US" altLang="zh-CN" dirty="0"/>
                  <a:t>RQ1</a:t>
                </a:r>
                <a:r>
                  <a:rPr lang="zh-CN" altLang="zh-CN" dirty="0"/>
                  <a:t>与</a:t>
                </a:r>
                <a:r>
                  <a:rPr lang="en-US" altLang="zh-CN" dirty="0"/>
                  <a:t>RQ2</a:t>
                </a:r>
                <a:r>
                  <a:rPr lang="zh-CN" altLang="zh-CN" dirty="0"/>
                  <a:t>中，我们发现，对于基于</a:t>
                </a:r>
                <a:r>
                  <a:rPr lang="en-US" altLang="zh-CN" dirty="0"/>
                  <a:t>mask</a:t>
                </a:r>
                <a:r>
                  <a:rPr lang="zh-CN" altLang="zh-CN" dirty="0"/>
                  <a:t>的方法，当数据极度不平衡时，</a:t>
                </a:r>
                <a:r>
                  <a:rPr lang="zh-CN" altLang="en-US" dirty="0"/>
                  <a:t>特征较弱的任务（参数变化小）会有较大的性能下降</a:t>
                </a:r>
                <a:endParaRPr lang="en-US" altLang="zh-CN" dirty="0"/>
              </a:p>
              <a:p>
                <a:pPr marL="285750" indent="-285750">
                  <a:spcAft>
                    <a:spcPts val="1800"/>
                  </a:spcAft>
                  <a:buFont typeface="Arial" panose="020B0604020202020204" pitchFamily="34" charset="0"/>
                  <a:buChar char="•"/>
                </a:pPr>
                <a:r>
                  <a:rPr lang="zh-CN" altLang="zh-CN" dirty="0"/>
                  <a:t>这主要由两点造成，</a:t>
                </a:r>
                <a:r>
                  <a:rPr lang="en-US" altLang="zh-CN" dirty="0"/>
                  <a:t>1.</a:t>
                </a:r>
                <a:r>
                  <a:rPr lang="zh-CN" altLang="zh-CN" dirty="0"/>
                  <a:t>在获得融合参数时，</a:t>
                </a:r>
                <a:r>
                  <a:rPr lang="zh-CN" altLang="en-US" dirty="0"/>
                  <a:t>弱特征</a:t>
                </a:r>
                <a:r>
                  <a:rPr lang="zh-CN" altLang="zh-CN" dirty="0"/>
                  <a:t>特征容易被</a:t>
                </a:r>
                <a:r>
                  <a:rPr lang="zh-CN" altLang="en-US" dirty="0"/>
                  <a:t>强</a:t>
                </a:r>
                <a:r>
                  <a:rPr lang="zh-CN" altLang="zh-CN" dirty="0"/>
                  <a:t>特征掩盖；</a:t>
                </a:r>
                <a:r>
                  <a:rPr lang="en-US" altLang="zh-CN" dirty="0"/>
                  <a:t>2.</a:t>
                </a:r>
                <a:r>
                  <a:rPr lang="zh-CN" altLang="zh-CN" dirty="0"/>
                  <a:t>在构造</a:t>
                </a:r>
                <a:r>
                  <a:rPr lang="en-US" altLang="zh-CN" dirty="0"/>
                  <a:t>mask</a:t>
                </a:r>
                <a:r>
                  <a:rPr lang="zh-CN" altLang="zh-CN" dirty="0"/>
                  <a:t>时，由于微调参数特征与融合参数特征差距过大，导致其舍去大量参数，不能很好的保留于自身最相关的特征。</a:t>
                </a:r>
              </a:p>
              <a:p>
                <a:pPr marL="285750" indent="-285750">
                  <a:spcAft>
                    <a:spcPts val="1800"/>
                  </a:spcAft>
                  <a:buFont typeface="Arial" panose="020B0604020202020204" pitchFamily="34" charset="0"/>
                  <a:buChar char="•"/>
                </a:pPr>
                <a:r>
                  <a:rPr lang="zh-CN" altLang="en-US" dirty="0"/>
                  <a:t>数据归一化将不同范围的特征映射到同一范围，从而防止值较大的强特征占据主导地位</a:t>
                </a:r>
                <a:endParaRPr lang="en-US" altLang="zh-CN" dirty="0"/>
              </a:p>
              <a:p>
                <a:pPr marL="285750" indent="-285750">
                  <a:spcAft>
                    <a:spcPts val="1800"/>
                  </a:spcAft>
                  <a:buFont typeface="Arial" panose="020B0604020202020204" pitchFamily="34" charset="0"/>
                  <a:buChar char="•"/>
                </a:pPr>
                <a:r>
                  <a:rPr lang="zh-CN" altLang="en-US" dirty="0"/>
                  <a:t>选出参数变化最大的任务，设他参数绝对值的平均值为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𝑝𝑖𝑣𝑜𝑡</m:t>
                        </m:r>
                      </m:sub>
                    </m:sSub>
                  </m:oMath>
                </a14:m>
                <a:r>
                  <a:rPr lang="zh-CN" altLang="en-US" dirty="0"/>
                  <a:t>，接着其他任务参数乘以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𝑝𝑖𝑣𝑜𝑡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/</m:t>
                    </m:r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endParaRPr lang="en-US" altLang="zh-CN" dirty="0"/>
              </a:p>
              <a:p>
                <a:pPr marL="285750" indent="-285750">
                  <a:spcAft>
                    <a:spcPts val="1800"/>
                  </a:spcAft>
                  <a:buFont typeface="Arial" panose="020B0604020202020204" pitchFamily="34" charset="0"/>
                  <a:buChar char="•"/>
                </a:pPr>
                <a:r>
                  <a:rPr lang="zh-CN" altLang="en-US" dirty="0"/>
                  <a:t>推理时，用</a:t>
                </a:r>
                <a:r>
                  <a:rPr lang="en-US" altLang="zh-CN" dirty="0"/>
                  <a:t>mask</a:t>
                </a:r>
                <a:r>
                  <a:rPr lang="zh-CN" altLang="en-US" dirty="0"/>
                  <a:t>取出最相关的维度，在恢复为原来的大小</a:t>
                </a:r>
              </a:p>
            </p:txBody>
          </p:sp>
        </mc:Choice>
        <mc:Fallback xmlns="">
          <p:sp>
            <p:nvSpPr>
              <p:cNvPr id="19" name="文本框 18">
                <a:extLst>
                  <a:ext uri="{FF2B5EF4-FFF2-40B4-BE49-F238E27FC236}">
                    <a16:creationId xmlns:a16="http://schemas.microsoft.com/office/drawing/2014/main" id="{03AD9042-F824-2835-9F6F-582A905E8AC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72065" y="1371824"/>
                <a:ext cx="5829739" cy="4638065"/>
              </a:xfrm>
              <a:prstGeom prst="rect">
                <a:avLst/>
              </a:prstGeom>
              <a:blipFill>
                <a:blip r:embed="rId5"/>
                <a:stretch>
                  <a:fillRect l="-732" t="-657" r="-3033" b="-118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675750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F8B5BD-4D8F-BD41-EF00-84CD1B4AFF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4">
            <a:extLst>
              <a:ext uri="{FF2B5EF4-FFF2-40B4-BE49-F238E27FC236}">
                <a16:creationId xmlns:a16="http://schemas.microsoft.com/office/drawing/2014/main" id="{9436878A-C9CA-2FAE-74B5-A11616112B9E}"/>
              </a:ext>
            </a:extLst>
          </p:cNvPr>
          <p:cNvSpPr txBox="1"/>
          <p:nvPr userDrawn="1"/>
        </p:nvSpPr>
        <p:spPr>
          <a:xfrm>
            <a:off x="1158408" y="152874"/>
            <a:ext cx="5225625" cy="542617"/>
          </a:xfrm>
          <a:prstGeom prst="rect">
            <a:avLst/>
          </a:prstGeom>
        </p:spPr>
        <p:txBody>
          <a:bodyPr vert="horz" lIns="91440" tIns="45721" rIns="91440" bIns="45721" rtlCol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zh-CN" altLang="en-US" sz="2400" b="1" kern="12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rgbClr val="000000">
                  <a:lumMod val="75000"/>
                  <a:lumOff val="25000"/>
                </a:srgb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07" name="文本框 106">
            <a:extLst>
              <a:ext uri="{FF2B5EF4-FFF2-40B4-BE49-F238E27FC236}">
                <a16:creationId xmlns:a16="http://schemas.microsoft.com/office/drawing/2014/main" id="{B18F1634-B900-850C-FEDB-98D19DED3341}"/>
              </a:ext>
            </a:extLst>
          </p:cNvPr>
          <p:cNvSpPr txBox="1"/>
          <p:nvPr/>
        </p:nvSpPr>
        <p:spPr>
          <a:xfrm>
            <a:off x="1150405" y="149467"/>
            <a:ext cx="654286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3.</a:t>
            </a:r>
            <a:r>
              <a:rPr lang="zh-CN" altLang="en-US" sz="28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实验结果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977C0D57-3F9B-A52D-6F51-01852E122313}"/>
              </a:ext>
            </a:extLst>
          </p:cNvPr>
          <p:cNvSpPr txBox="1"/>
          <p:nvPr/>
        </p:nvSpPr>
        <p:spPr>
          <a:xfrm>
            <a:off x="3629251" y="822920"/>
            <a:ext cx="493349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600" b="1" dirty="0"/>
              <a:t>Scaling-Masks</a:t>
            </a:r>
            <a:r>
              <a:rPr lang="zh-CN" altLang="en-US" sz="1600" b="1" dirty="0"/>
              <a:t>融合所有任务的性能</a:t>
            </a:r>
            <a:endParaRPr lang="zh-CN" altLang="en-US" sz="1600" dirty="0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C36D610E-4919-CE92-6BB2-8CDED28D3F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161474"/>
            <a:ext cx="12192000" cy="2080895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583BBB88-468A-9FEB-1C01-56CF306784D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060" y="3429000"/>
            <a:ext cx="5140001" cy="3034881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42B27FFB-8EEF-A9F9-6F37-CF8CBE3DE25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84033" y="3329153"/>
            <a:ext cx="4708609" cy="32345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82524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592" y="776798"/>
            <a:ext cx="5070060" cy="5454498"/>
          </a:xfrm>
          <a:prstGeom prst="rect">
            <a:avLst/>
          </a:prstGeom>
          <a:effectLst>
            <a:innerShdw blurRad="63500" dist="50800" dir="16200000">
              <a:prstClr val="black">
                <a:alpha val="50000"/>
              </a:prstClr>
            </a:innerShdw>
          </a:effectLst>
        </p:spPr>
      </p:pic>
      <p:sp>
        <p:nvSpPr>
          <p:cNvPr id="4" name="TextBox 13"/>
          <p:cNvSpPr txBox="1"/>
          <p:nvPr/>
        </p:nvSpPr>
        <p:spPr>
          <a:xfrm>
            <a:off x="6625590" y="2456034"/>
            <a:ext cx="369676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defRPr/>
            </a:pPr>
            <a:r>
              <a:rPr lang="zh-CN" altLang="en-US" sz="3600" dirty="0">
                <a:latin typeface="Lato" panose="020F0502020204030203" pitchFamily="34" charset="0"/>
                <a:ea typeface="+mj-ea"/>
              </a:rPr>
              <a:t>谢谢聆听</a:t>
            </a:r>
            <a:endParaRPr lang="en-US" altLang="zh-CN" sz="3600" dirty="0">
              <a:latin typeface="Lato" panose="020F0502020204030203" pitchFamily="34" charset="0"/>
              <a:ea typeface="+mj-ea"/>
            </a:endParaRPr>
          </a:p>
          <a:p>
            <a:pPr lvl="0" algn="ctr">
              <a:defRPr/>
            </a:pPr>
            <a:r>
              <a:rPr lang="zh-CN" altLang="en-US" sz="3600" dirty="0">
                <a:latin typeface="Lato" panose="020F0502020204030203" pitchFamily="34" charset="0"/>
                <a:ea typeface="+mj-ea"/>
              </a:rPr>
              <a:t>请老师批评指正</a:t>
            </a:r>
            <a:endParaRPr lang="en-US" altLang="zh-CN" sz="3600" dirty="0">
              <a:latin typeface="+mj-ea"/>
              <a:ea typeface="+mj-ea"/>
            </a:endParaRPr>
          </a:p>
        </p:txBody>
      </p:sp>
      <p:grpSp>
        <p:nvGrpSpPr>
          <p:cNvPr id="5" name="组合 4"/>
          <p:cNvGrpSpPr/>
          <p:nvPr/>
        </p:nvGrpSpPr>
        <p:grpSpPr>
          <a:xfrm>
            <a:off x="5741065" y="3837410"/>
            <a:ext cx="5863771" cy="57767"/>
            <a:chOff x="5280505" y="3963496"/>
            <a:chExt cx="5863771" cy="57767"/>
          </a:xfrm>
          <a:solidFill>
            <a:schemeClr val="tx1"/>
          </a:solidFill>
        </p:grpSpPr>
        <p:sp>
          <p:nvSpPr>
            <p:cNvPr id="6" name="任意多边形 16"/>
            <p:cNvSpPr/>
            <p:nvPr/>
          </p:nvSpPr>
          <p:spPr>
            <a:xfrm>
              <a:off x="5280505" y="3992380"/>
              <a:ext cx="5863771" cy="0"/>
            </a:xfrm>
            <a:custGeom>
              <a:avLst/>
              <a:gdLst>
                <a:gd name="connsiteX0" fmla="*/ 0 w 5863771"/>
                <a:gd name="connsiteY0" fmla="*/ 0 h 0"/>
                <a:gd name="connsiteX1" fmla="*/ 58057 w 5863771"/>
                <a:gd name="connsiteY1" fmla="*/ 0 h 0"/>
                <a:gd name="connsiteX2" fmla="*/ 5863771 w 5863771"/>
                <a:gd name="connsiteY2" fmla="*/ 0 h 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863771">
                  <a:moveTo>
                    <a:pt x="0" y="0"/>
                  </a:moveTo>
                  <a:lnTo>
                    <a:pt x="58057" y="0"/>
                  </a:lnTo>
                  <a:lnTo>
                    <a:pt x="5863771" y="0"/>
                  </a:lnTo>
                </a:path>
              </a:pathLst>
            </a:cu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7" name="圆角矩形 17"/>
            <p:cNvSpPr/>
            <p:nvPr/>
          </p:nvSpPr>
          <p:spPr>
            <a:xfrm>
              <a:off x="7456740" y="3963496"/>
              <a:ext cx="1511300" cy="57767"/>
            </a:xfrm>
            <a:prstGeom prst="round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endParaRPr>
            </a:p>
          </p:txBody>
        </p:sp>
      </p:grpSp>
      <p:grpSp>
        <p:nvGrpSpPr>
          <p:cNvPr id="9" name="组合 8"/>
          <p:cNvGrpSpPr/>
          <p:nvPr/>
        </p:nvGrpSpPr>
        <p:grpSpPr bwMode="auto">
          <a:xfrm>
            <a:off x="7782456" y="4205439"/>
            <a:ext cx="412709" cy="333006"/>
            <a:chOff x="0" y="0"/>
            <a:chExt cx="1088225" cy="869861"/>
          </a:xfrm>
          <a:solidFill>
            <a:schemeClr val="tx1"/>
          </a:solidFill>
        </p:grpSpPr>
        <p:sp>
          <p:nvSpPr>
            <p:cNvPr id="10" name="Freeform 17"/>
            <p:cNvSpPr>
              <a:spLocks noEditPoints="1" noChangeArrowheads="1"/>
            </p:cNvSpPr>
            <p:nvPr/>
          </p:nvSpPr>
          <p:spPr bwMode="auto">
            <a:xfrm>
              <a:off x="0" y="237562"/>
              <a:ext cx="824268" cy="632299"/>
            </a:xfrm>
            <a:custGeom>
              <a:avLst/>
              <a:gdLst>
                <a:gd name="T0" fmla="*/ 274 w 291"/>
                <a:gd name="T1" fmla="*/ 0 h 223"/>
                <a:gd name="T2" fmla="*/ 17 w 291"/>
                <a:gd name="T3" fmla="*/ 0 h 223"/>
                <a:gd name="T4" fmla="*/ 0 w 291"/>
                <a:gd name="T5" fmla="*/ 16 h 223"/>
                <a:gd name="T6" fmla="*/ 0 w 291"/>
                <a:gd name="T7" fmla="*/ 207 h 223"/>
                <a:gd name="T8" fmla="*/ 17 w 291"/>
                <a:gd name="T9" fmla="*/ 223 h 223"/>
                <a:gd name="T10" fmla="*/ 274 w 291"/>
                <a:gd name="T11" fmla="*/ 223 h 223"/>
                <a:gd name="T12" fmla="*/ 291 w 291"/>
                <a:gd name="T13" fmla="*/ 207 h 223"/>
                <a:gd name="T14" fmla="*/ 291 w 291"/>
                <a:gd name="T15" fmla="*/ 16 h 223"/>
                <a:gd name="T16" fmla="*/ 274 w 291"/>
                <a:gd name="T17" fmla="*/ 0 h 223"/>
                <a:gd name="T18" fmla="*/ 270 w 291"/>
                <a:gd name="T19" fmla="*/ 193 h 223"/>
                <a:gd name="T20" fmla="*/ 256 w 291"/>
                <a:gd name="T21" fmla="*/ 207 h 223"/>
                <a:gd name="T22" fmla="*/ 35 w 291"/>
                <a:gd name="T23" fmla="*/ 207 h 223"/>
                <a:gd name="T24" fmla="*/ 21 w 291"/>
                <a:gd name="T25" fmla="*/ 193 h 223"/>
                <a:gd name="T26" fmla="*/ 21 w 291"/>
                <a:gd name="T27" fmla="*/ 30 h 223"/>
                <a:gd name="T28" fmla="*/ 35 w 291"/>
                <a:gd name="T29" fmla="*/ 16 h 223"/>
                <a:gd name="T30" fmla="*/ 256 w 291"/>
                <a:gd name="T31" fmla="*/ 16 h 223"/>
                <a:gd name="T32" fmla="*/ 270 w 291"/>
                <a:gd name="T33" fmla="*/ 30 h 223"/>
                <a:gd name="T34" fmla="*/ 270 w 291"/>
                <a:gd name="T35" fmla="*/ 193 h 223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w 291"/>
                <a:gd name="T55" fmla="*/ 0 h 223"/>
                <a:gd name="T56" fmla="*/ 291 w 291"/>
                <a:gd name="T57" fmla="*/ 223 h 223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T54" t="T55" r="T56" b="T57"/>
              <a:pathLst>
                <a:path w="291" h="223">
                  <a:moveTo>
                    <a:pt x="274" y="0"/>
                  </a:moveTo>
                  <a:cubicBezTo>
                    <a:pt x="17" y="0"/>
                    <a:pt x="17" y="0"/>
                    <a:pt x="17" y="0"/>
                  </a:cubicBezTo>
                  <a:cubicBezTo>
                    <a:pt x="8" y="0"/>
                    <a:pt x="0" y="7"/>
                    <a:pt x="0" y="16"/>
                  </a:cubicBezTo>
                  <a:cubicBezTo>
                    <a:pt x="0" y="207"/>
                    <a:pt x="0" y="207"/>
                    <a:pt x="0" y="207"/>
                  </a:cubicBezTo>
                  <a:cubicBezTo>
                    <a:pt x="0" y="215"/>
                    <a:pt x="8" y="223"/>
                    <a:pt x="17" y="223"/>
                  </a:cubicBezTo>
                  <a:cubicBezTo>
                    <a:pt x="274" y="223"/>
                    <a:pt x="274" y="223"/>
                    <a:pt x="274" y="223"/>
                  </a:cubicBezTo>
                  <a:cubicBezTo>
                    <a:pt x="283" y="223"/>
                    <a:pt x="291" y="215"/>
                    <a:pt x="291" y="207"/>
                  </a:cubicBezTo>
                  <a:cubicBezTo>
                    <a:pt x="291" y="16"/>
                    <a:pt x="291" y="16"/>
                    <a:pt x="291" y="16"/>
                  </a:cubicBezTo>
                  <a:cubicBezTo>
                    <a:pt x="291" y="7"/>
                    <a:pt x="283" y="0"/>
                    <a:pt x="274" y="0"/>
                  </a:cubicBezTo>
                  <a:moveTo>
                    <a:pt x="270" y="193"/>
                  </a:moveTo>
                  <a:cubicBezTo>
                    <a:pt x="270" y="201"/>
                    <a:pt x="264" y="207"/>
                    <a:pt x="256" y="207"/>
                  </a:cubicBezTo>
                  <a:cubicBezTo>
                    <a:pt x="35" y="207"/>
                    <a:pt x="35" y="207"/>
                    <a:pt x="35" y="207"/>
                  </a:cubicBezTo>
                  <a:cubicBezTo>
                    <a:pt x="27" y="207"/>
                    <a:pt x="21" y="201"/>
                    <a:pt x="21" y="193"/>
                  </a:cubicBezTo>
                  <a:cubicBezTo>
                    <a:pt x="21" y="30"/>
                    <a:pt x="21" y="30"/>
                    <a:pt x="21" y="30"/>
                  </a:cubicBezTo>
                  <a:cubicBezTo>
                    <a:pt x="21" y="22"/>
                    <a:pt x="27" y="16"/>
                    <a:pt x="35" y="16"/>
                  </a:cubicBezTo>
                  <a:cubicBezTo>
                    <a:pt x="256" y="16"/>
                    <a:pt x="256" y="16"/>
                    <a:pt x="256" y="16"/>
                  </a:cubicBezTo>
                  <a:cubicBezTo>
                    <a:pt x="264" y="16"/>
                    <a:pt x="270" y="22"/>
                    <a:pt x="270" y="30"/>
                  </a:cubicBezTo>
                  <a:lnTo>
                    <a:pt x="270" y="19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bevel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zh-CN" sz="1800" b="0" i="0" u="none" strike="noStrike" kern="1200" cap="none" spc="0" normalizeH="0" baseline="0" noProof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 panose="020F0502020204030204" pitchFamily="34" charset="0"/>
                <a:ea typeface="微软雅黑" panose="020B0503020204020204" pitchFamily="34" charset="-122"/>
                <a:cs typeface="+mn-cs"/>
                <a:sym typeface="宋体" panose="02010600030101010101" pitchFamily="2" charset="-122"/>
              </a:endParaRPr>
            </a:p>
          </p:txBody>
        </p:sp>
        <p:sp>
          <p:nvSpPr>
            <p:cNvPr id="11" name="Freeform 18"/>
            <p:cNvSpPr>
              <a:spLocks noChangeArrowheads="1"/>
            </p:cNvSpPr>
            <p:nvPr/>
          </p:nvSpPr>
          <p:spPr bwMode="auto">
            <a:xfrm>
              <a:off x="137978" y="110382"/>
              <a:ext cx="821868" cy="632299"/>
            </a:xfrm>
            <a:custGeom>
              <a:avLst/>
              <a:gdLst>
                <a:gd name="T0" fmla="*/ 274 w 290"/>
                <a:gd name="T1" fmla="*/ 0 h 223"/>
                <a:gd name="T2" fmla="*/ 16 w 290"/>
                <a:gd name="T3" fmla="*/ 0 h 223"/>
                <a:gd name="T4" fmla="*/ 0 w 290"/>
                <a:gd name="T5" fmla="*/ 16 h 223"/>
                <a:gd name="T6" fmla="*/ 0 w 290"/>
                <a:gd name="T7" fmla="*/ 25 h 223"/>
                <a:gd name="T8" fmla="*/ 249 w 290"/>
                <a:gd name="T9" fmla="*/ 25 h 223"/>
                <a:gd name="T10" fmla="*/ 265 w 290"/>
                <a:gd name="T11" fmla="*/ 42 h 223"/>
                <a:gd name="T12" fmla="*/ 265 w 290"/>
                <a:gd name="T13" fmla="*/ 223 h 223"/>
                <a:gd name="T14" fmla="*/ 274 w 290"/>
                <a:gd name="T15" fmla="*/ 223 h 223"/>
                <a:gd name="T16" fmla="*/ 290 w 290"/>
                <a:gd name="T17" fmla="*/ 207 h 223"/>
                <a:gd name="T18" fmla="*/ 290 w 290"/>
                <a:gd name="T19" fmla="*/ 16 h 223"/>
                <a:gd name="T20" fmla="*/ 274 w 290"/>
                <a:gd name="T21" fmla="*/ 0 h 223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w 290"/>
                <a:gd name="T34" fmla="*/ 0 h 223"/>
                <a:gd name="T35" fmla="*/ 290 w 290"/>
                <a:gd name="T36" fmla="*/ 223 h 223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T33" t="T34" r="T35" b="T36"/>
              <a:pathLst>
                <a:path w="290" h="223">
                  <a:moveTo>
                    <a:pt x="274" y="0"/>
                  </a:moveTo>
                  <a:cubicBezTo>
                    <a:pt x="16" y="0"/>
                    <a:pt x="16" y="0"/>
                    <a:pt x="16" y="0"/>
                  </a:cubicBezTo>
                  <a:cubicBezTo>
                    <a:pt x="7" y="0"/>
                    <a:pt x="0" y="7"/>
                    <a:pt x="0" y="16"/>
                  </a:cubicBezTo>
                  <a:cubicBezTo>
                    <a:pt x="0" y="25"/>
                    <a:pt x="0" y="25"/>
                    <a:pt x="0" y="25"/>
                  </a:cubicBezTo>
                  <a:cubicBezTo>
                    <a:pt x="249" y="25"/>
                    <a:pt x="249" y="25"/>
                    <a:pt x="249" y="25"/>
                  </a:cubicBezTo>
                  <a:cubicBezTo>
                    <a:pt x="258" y="25"/>
                    <a:pt x="265" y="33"/>
                    <a:pt x="265" y="42"/>
                  </a:cubicBezTo>
                  <a:cubicBezTo>
                    <a:pt x="265" y="223"/>
                    <a:pt x="265" y="223"/>
                    <a:pt x="265" y="223"/>
                  </a:cubicBezTo>
                  <a:cubicBezTo>
                    <a:pt x="274" y="223"/>
                    <a:pt x="274" y="223"/>
                    <a:pt x="274" y="223"/>
                  </a:cubicBezTo>
                  <a:cubicBezTo>
                    <a:pt x="283" y="223"/>
                    <a:pt x="290" y="216"/>
                    <a:pt x="290" y="207"/>
                  </a:cubicBezTo>
                  <a:cubicBezTo>
                    <a:pt x="290" y="16"/>
                    <a:pt x="290" y="16"/>
                    <a:pt x="290" y="16"/>
                  </a:cubicBezTo>
                  <a:cubicBezTo>
                    <a:pt x="290" y="7"/>
                    <a:pt x="283" y="0"/>
                    <a:pt x="274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bevel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zh-CN" sz="1800" b="0" i="0" u="none" strike="noStrike" kern="1200" cap="none" spc="0" normalizeH="0" baseline="0" noProof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 panose="020F0502020204030204" pitchFamily="34" charset="0"/>
                <a:ea typeface="微软雅黑" panose="020B0503020204020204" pitchFamily="34" charset="-122"/>
                <a:cs typeface="+mn-cs"/>
                <a:sym typeface="宋体" panose="02010600030101010101" pitchFamily="2" charset="-122"/>
              </a:endParaRPr>
            </a:p>
          </p:txBody>
        </p:sp>
        <p:sp>
          <p:nvSpPr>
            <p:cNvPr id="12" name="Freeform 19"/>
            <p:cNvSpPr>
              <a:spLocks noChangeArrowheads="1"/>
            </p:cNvSpPr>
            <p:nvPr/>
          </p:nvSpPr>
          <p:spPr bwMode="auto">
            <a:xfrm>
              <a:off x="266357" y="0"/>
              <a:ext cx="821868" cy="628699"/>
            </a:xfrm>
            <a:custGeom>
              <a:avLst/>
              <a:gdLst>
                <a:gd name="T0" fmla="*/ 274 w 290"/>
                <a:gd name="T1" fmla="*/ 0 h 222"/>
                <a:gd name="T2" fmla="*/ 16 w 290"/>
                <a:gd name="T3" fmla="*/ 0 h 222"/>
                <a:gd name="T4" fmla="*/ 0 w 290"/>
                <a:gd name="T5" fmla="*/ 16 h 222"/>
                <a:gd name="T6" fmla="*/ 0 w 290"/>
                <a:gd name="T7" fmla="*/ 25 h 222"/>
                <a:gd name="T8" fmla="*/ 249 w 290"/>
                <a:gd name="T9" fmla="*/ 25 h 222"/>
                <a:gd name="T10" fmla="*/ 265 w 290"/>
                <a:gd name="T11" fmla="*/ 41 h 222"/>
                <a:gd name="T12" fmla="*/ 265 w 290"/>
                <a:gd name="T13" fmla="*/ 222 h 222"/>
                <a:gd name="T14" fmla="*/ 274 w 290"/>
                <a:gd name="T15" fmla="*/ 222 h 222"/>
                <a:gd name="T16" fmla="*/ 290 w 290"/>
                <a:gd name="T17" fmla="*/ 206 h 222"/>
                <a:gd name="T18" fmla="*/ 290 w 290"/>
                <a:gd name="T19" fmla="*/ 16 h 222"/>
                <a:gd name="T20" fmla="*/ 274 w 290"/>
                <a:gd name="T21" fmla="*/ 0 h 222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w 290"/>
                <a:gd name="T34" fmla="*/ 0 h 222"/>
                <a:gd name="T35" fmla="*/ 290 w 290"/>
                <a:gd name="T36" fmla="*/ 222 h 222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T33" t="T34" r="T35" b="T36"/>
              <a:pathLst>
                <a:path w="290" h="222">
                  <a:moveTo>
                    <a:pt x="274" y="0"/>
                  </a:moveTo>
                  <a:cubicBezTo>
                    <a:pt x="16" y="0"/>
                    <a:pt x="16" y="0"/>
                    <a:pt x="16" y="0"/>
                  </a:cubicBezTo>
                  <a:cubicBezTo>
                    <a:pt x="7" y="0"/>
                    <a:pt x="0" y="7"/>
                    <a:pt x="0" y="16"/>
                  </a:cubicBezTo>
                  <a:cubicBezTo>
                    <a:pt x="0" y="25"/>
                    <a:pt x="0" y="25"/>
                    <a:pt x="0" y="25"/>
                  </a:cubicBezTo>
                  <a:cubicBezTo>
                    <a:pt x="249" y="25"/>
                    <a:pt x="249" y="25"/>
                    <a:pt x="249" y="25"/>
                  </a:cubicBezTo>
                  <a:cubicBezTo>
                    <a:pt x="258" y="25"/>
                    <a:pt x="265" y="32"/>
                    <a:pt x="265" y="41"/>
                  </a:cubicBezTo>
                  <a:cubicBezTo>
                    <a:pt x="265" y="222"/>
                    <a:pt x="265" y="222"/>
                    <a:pt x="265" y="222"/>
                  </a:cubicBezTo>
                  <a:cubicBezTo>
                    <a:pt x="274" y="222"/>
                    <a:pt x="274" y="222"/>
                    <a:pt x="274" y="222"/>
                  </a:cubicBezTo>
                  <a:cubicBezTo>
                    <a:pt x="283" y="222"/>
                    <a:pt x="290" y="215"/>
                    <a:pt x="290" y="206"/>
                  </a:cubicBezTo>
                  <a:cubicBezTo>
                    <a:pt x="290" y="16"/>
                    <a:pt x="290" y="16"/>
                    <a:pt x="290" y="16"/>
                  </a:cubicBezTo>
                  <a:cubicBezTo>
                    <a:pt x="290" y="7"/>
                    <a:pt x="283" y="0"/>
                    <a:pt x="274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bevel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zh-CN" sz="1800" b="0" i="0" u="none" strike="noStrike" kern="1200" cap="none" spc="0" normalizeH="0" baseline="0" noProof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 panose="020F0502020204030204" pitchFamily="34" charset="0"/>
                <a:ea typeface="微软雅黑" panose="020B0503020204020204" pitchFamily="34" charset="-122"/>
                <a:cs typeface="+mn-cs"/>
                <a:sym typeface="宋体" panose="02010600030101010101" pitchFamily="2" charset="-122"/>
              </a:endParaRPr>
            </a:p>
          </p:txBody>
        </p:sp>
        <p:sp>
          <p:nvSpPr>
            <p:cNvPr id="13" name="Freeform 20"/>
            <p:cNvSpPr>
              <a:spLocks noChangeArrowheads="1"/>
            </p:cNvSpPr>
            <p:nvPr/>
          </p:nvSpPr>
          <p:spPr bwMode="auto">
            <a:xfrm>
              <a:off x="110382" y="422332"/>
              <a:ext cx="569909" cy="353943"/>
            </a:xfrm>
            <a:custGeom>
              <a:avLst/>
              <a:gdLst>
                <a:gd name="T0" fmla="*/ 71 w 201"/>
                <a:gd name="T1" fmla="*/ 5 h 125"/>
                <a:gd name="T2" fmla="*/ 11 w 201"/>
                <a:gd name="T3" fmla="*/ 109 h 125"/>
                <a:gd name="T4" fmla="*/ 11 w 201"/>
                <a:gd name="T5" fmla="*/ 124 h 125"/>
                <a:gd name="T6" fmla="*/ 192 w 201"/>
                <a:gd name="T7" fmla="*/ 124 h 125"/>
                <a:gd name="T8" fmla="*/ 192 w 201"/>
                <a:gd name="T9" fmla="*/ 108 h 125"/>
                <a:gd name="T10" fmla="*/ 151 w 201"/>
                <a:gd name="T11" fmla="*/ 47 h 125"/>
                <a:gd name="T12" fmla="*/ 117 w 201"/>
                <a:gd name="T13" fmla="*/ 86 h 125"/>
                <a:gd name="T14" fmla="*/ 110 w 201"/>
                <a:gd name="T15" fmla="*/ 81 h 125"/>
                <a:gd name="T16" fmla="*/ 122 w 201"/>
                <a:gd name="T17" fmla="*/ 65 h 125"/>
                <a:gd name="T18" fmla="*/ 81 w 201"/>
                <a:gd name="T19" fmla="*/ 5 h 125"/>
                <a:gd name="T20" fmla="*/ 71 w 201"/>
                <a:gd name="T21" fmla="*/ 5 h 125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w 201"/>
                <a:gd name="T34" fmla="*/ 0 h 125"/>
                <a:gd name="T35" fmla="*/ 201 w 201"/>
                <a:gd name="T36" fmla="*/ 125 h 125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T33" t="T34" r="T35" b="T36"/>
              <a:pathLst>
                <a:path w="201" h="125">
                  <a:moveTo>
                    <a:pt x="71" y="5"/>
                  </a:moveTo>
                  <a:cubicBezTo>
                    <a:pt x="11" y="109"/>
                    <a:pt x="11" y="109"/>
                    <a:pt x="11" y="109"/>
                  </a:cubicBezTo>
                  <a:cubicBezTo>
                    <a:pt x="11" y="109"/>
                    <a:pt x="0" y="124"/>
                    <a:pt x="11" y="124"/>
                  </a:cubicBezTo>
                  <a:cubicBezTo>
                    <a:pt x="25" y="125"/>
                    <a:pt x="192" y="124"/>
                    <a:pt x="192" y="124"/>
                  </a:cubicBezTo>
                  <a:cubicBezTo>
                    <a:pt x="192" y="124"/>
                    <a:pt x="201" y="121"/>
                    <a:pt x="192" y="108"/>
                  </a:cubicBezTo>
                  <a:cubicBezTo>
                    <a:pt x="182" y="94"/>
                    <a:pt x="158" y="46"/>
                    <a:pt x="151" y="47"/>
                  </a:cubicBezTo>
                  <a:cubicBezTo>
                    <a:pt x="144" y="47"/>
                    <a:pt x="120" y="83"/>
                    <a:pt x="117" y="86"/>
                  </a:cubicBezTo>
                  <a:cubicBezTo>
                    <a:pt x="115" y="89"/>
                    <a:pt x="108" y="84"/>
                    <a:pt x="110" y="81"/>
                  </a:cubicBezTo>
                  <a:cubicBezTo>
                    <a:pt x="116" y="74"/>
                    <a:pt x="122" y="65"/>
                    <a:pt x="122" y="65"/>
                  </a:cubicBezTo>
                  <a:cubicBezTo>
                    <a:pt x="122" y="65"/>
                    <a:pt x="84" y="9"/>
                    <a:pt x="81" y="5"/>
                  </a:cubicBezTo>
                  <a:cubicBezTo>
                    <a:pt x="78" y="0"/>
                    <a:pt x="73" y="1"/>
                    <a:pt x="71" y="5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bevel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zh-CN" sz="1800" b="0" i="0" u="none" strike="noStrike" kern="1200" cap="none" spc="0" normalizeH="0" baseline="0" noProof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 panose="020F0502020204030204" pitchFamily="34" charset="0"/>
                <a:ea typeface="微软雅黑" panose="020B0503020204020204" pitchFamily="34" charset="-122"/>
                <a:cs typeface="+mn-cs"/>
                <a:sym typeface="宋体" panose="02010600030101010101" pitchFamily="2" charset="-122"/>
              </a:endParaRPr>
            </a:p>
          </p:txBody>
        </p:sp>
        <p:sp>
          <p:nvSpPr>
            <p:cNvPr id="14" name="Oval 21"/>
            <p:cNvSpPr>
              <a:spLocks noChangeArrowheads="1"/>
            </p:cNvSpPr>
            <p:nvPr/>
          </p:nvSpPr>
          <p:spPr bwMode="auto">
            <a:xfrm>
              <a:off x="563909" y="331147"/>
              <a:ext cx="101984" cy="99584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bevel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zh-CN" sz="1800" b="0" i="0" u="none" strike="noStrike" kern="1200" cap="none" spc="0" normalizeH="0" baseline="0" noProof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 panose="020F0502020204030204" pitchFamily="34" charset="0"/>
                <a:ea typeface="微软雅黑" panose="020B0503020204020204" pitchFamily="34" charset="-122"/>
                <a:cs typeface="+mn-cs"/>
                <a:sym typeface="宋体" panose="02010600030101010101" pitchFamily="2" charset="-122"/>
              </a:endParaRPr>
            </a:p>
          </p:txBody>
        </p:sp>
      </p:grpSp>
      <p:grpSp>
        <p:nvGrpSpPr>
          <p:cNvPr id="15" name="组合 14"/>
          <p:cNvGrpSpPr/>
          <p:nvPr/>
        </p:nvGrpSpPr>
        <p:grpSpPr bwMode="auto">
          <a:xfrm>
            <a:off x="9791433" y="4205439"/>
            <a:ext cx="329894" cy="333006"/>
            <a:chOff x="0" y="0"/>
            <a:chExt cx="881859" cy="881859"/>
          </a:xfrm>
          <a:solidFill>
            <a:schemeClr val="tx1"/>
          </a:solidFill>
        </p:grpSpPr>
        <p:sp>
          <p:nvSpPr>
            <p:cNvPr id="16" name="Freeform 22"/>
            <p:cNvSpPr>
              <a:spLocks noEditPoints="1" noChangeArrowheads="1"/>
            </p:cNvSpPr>
            <p:nvPr/>
          </p:nvSpPr>
          <p:spPr bwMode="auto">
            <a:xfrm>
              <a:off x="0" y="0"/>
              <a:ext cx="881859" cy="881859"/>
            </a:xfrm>
            <a:custGeom>
              <a:avLst/>
              <a:gdLst>
                <a:gd name="T0" fmla="*/ 155 w 311"/>
                <a:gd name="T1" fmla="*/ 0 h 311"/>
                <a:gd name="T2" fmla="*/ 0 w 311"/>
                <a:gd name="T3" fmla="*/ 155 h 311"/>
                <a:gd name="T4" fmla="*/ 155 w 311"/>
                <a:gd name="T5" fmla="*/ 311 h 311"/>
                <a:gd name="T6" fmla="*/ 311 w 311"/>
                <a:gd name="T7" fmla="*/ 155 h 311"/>
                <a:gd name="T8" fmla="*/ 155 w 311"/>
                <a:gd name="T9" fmla="*/ 0 h 311"/>
                <a:gd name="T10" fmla="*/ 155 w 311"/>
                <a:gd name="T11" fmla="*/ 289 h 311"/>
                <a:gd name="T12" fmla="*/ 21 w 311"/>
                <a:gd name="T13" fmla="*/ 155 h 311"/>
                <a:gd name="T14" fmla="*/ 155 w 311"/>
                <a:gd name="T15" fmla="*/ 21 h 311"/>
                <a:gd name="T16" fmla="*/ 289 w 311"/>
                <a:gd name="T17" fmla="*/ 155 h 311"/>
                <a:gd name="T18" fmla="*/ 155 w 311"/>
                <a:gd name="T19" fmla="*/ 289 h 311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w 311"/>
                <a:gd name="T31" fmla="*/ 0 h 311"/>
                <a:gd name="T32" fmla="*/ 311 w 311"/>
                <a:gd name="T33" fmla="*/ 311 h 311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T30" t="T31" r="T32" b="T33"/>
              <a:pathLst>
                <a:path w="311" h="311">
                  <a:moveTo>
                    <a:pt x="155" y="0"/>
                  </a:moveTo>
                  <a:cubicBezTo>
                    <a:pt x="70" y="0"/>
                    <a:pt x="0" y="69"/>
                    <a:pt x="0" y="155"/>
                  </a:cubicBezTo>
                  <a:cubicBezTo>
                    <a:pt x="0" y="241"/>
                    <a:pt x="70" y="311"/>
                    <a:pt x="155" y="311"/>
                  </a:cubicBezTo>
                  <a:cubicBezTo>
                    <a:pt x="241" y="311"/>
                    <a:pt x="311" y="241"/>
                    <a:pt x="311" y="155"/>
                  </a:cubicBezTo>
                  <a:cubicBezTo>
                    <a:pt x="311" y="69"/>
                    <a:pt x="241" y="0"/>
                    <a:pt x="155" y="0"/>
                  </a:cubicBezTo>
                  <a:moveTo>
                    <a:pt x="155" y="289"/>
                  </a:moveTo>
                  <a:cubicBezTo>
                    <a:pt x="81" y="289"/>
                    <a:pt x="21" y="229"/>
                    <a:pt x="21" y="155"/>
                  </a:cubicBezTo>
                  <a:cubicBezTo>
                    <a:pt x="21" y="81"/>
                    <a:pt x="81" y="21"/>
                    <a:pt x="155" y="21"/>
                  </a:cubicBezTo>
                  <a:cubicBezTo>
                    <a:pt x="229" y="21"/>
                    <a:pt x="289" y="81"/>
                    <a:pt x="289" y="155"/>
                  </a:cubicBezTo>
                  <a:cubicBezTo>
                    <a:pt x="289" y="229"/>
                    <a:pt x="229" y="289"/>
                    <a:pt x="155" y="289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bevel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zh-CN" sz="1800" b="0" i="0" u="none" strike="noStrike" kern="1200" cap="none" spc="0" normalizeH="0" baseline="0" noProof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 panose="020F0502020204030204" pitchFamily="34" charset="0"/>
                <a:ea typeface="微软雅黑" panose="020B0503020204020204" pitchFamily="34" charset="-122"/>
                <a:cs typeface="+mn-cs"/>
                <a:sym typeface="宋体" panose="02010600030101010101" pitchFamily="2" charset="-122"/>
              </a:endParaRPr>
            </a:p>
          </p:txBody>
        </p:sp>
        <p:sp>
          <p:nvSpPr>
            <p:cNvPr id="17" name="Freeform 23"/>
            <p:cNvSpPr>
              <a:spLocks noChangeArrowheads="1"/>
            </p:cNvSpPr>
            <p:nvPr/>
          </p:nvSpPr>
          <p:spPr bwMode="auto">
            <a:xfrm>
              <a:off x="235162" y="70789"/>
              <a:ext cx="430731" cy="428331"/>
            </a:xfrm>
            <a:custGeom>
              <a:avLst/>
              <a:gdLst>
                <a:gd name="T0" fmla="*/ 145 w 152"/>
                <a:gd name="T1" fmla="*/ 53 h 151"/>
                <a:gd name="T2" fmla="*/ 144 w 152"/>
                <a:gd name="T3" fmla="*/ 52 h 151"/>
                <a:gd name="T4" fmla="*/ 125 w 152"/>
                <a:gd name="T5" fmla="*/ 52 h 151"/>
                <a:gd name="T6" fmla="*/ 77 w 152"/>
                <a:gd name="T7" fmla="*/ 106 h 151"/>
                <a:gd name="T8" fmla="*/ 31 w 152"/>
                <a:gd name="T9" fmla="*/ 12 h 151"/>
                <a:gd name="T10" fmla="*/ 11 w 152"/>
                <a:gd name="T11" fmla="*/ 4 h 151"/>
                <a:gd name="T12" fmla="*/ 10 w 152"/>
                <a:gd name="T13" fmla="*/ 4 h 151"/>
                <a:gd name="T14" fmla="*/ 4 w 152"/>
                <a:gd name="T15" fmla="*/ 25 h 151"/>
                <a:gd name="T16" fmla="*/ 60 w 152"/>
                <a:gd name="T17" fmla="*/ 140 h 151"/>
                <a:gd name="T18" fmla="*/ 79 w 152"/>
                <a:gd name="T19" fmla="*/ 148 h 151"/>
                <a:gd name="T20" fmla="*/ 79 w 152"/>
                <a:gd name="T21" fmla="*/ 148 h 151"/>
                <a:gd name="T22" fmla="*/ 80 w 152"/>
                <a:gd name="T23" fmla="*/ 148 h 151"/>
                <a:gd name="T24" fmla="*/ 81 w 152"/>
                <a:gd name="T25" fmla="*/ 147 h 151"/>
                <a:gd name="T26" fmla="*/ 87 w 152"/>
                <a:gd name="T27" fmla="*/ 141 h 151"/>
                <a:gd name="T28" fmla="*/ 148 w 152"/>
                <a:gd name="T29" fmla="*/ 72 h 151"/>
                <a:gd name="T30" fmla="*/ 145 w 152"/>
                <a:gd name="T31" fmla="*/ 53 h 151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w 152"/>
                <a:gd name="T49" fmla="*/ 0 h 151"/>
                <a:gd name="T50" fmla="*/ 152 w 152"/>
                <a:gd name="T51" fmla="*/ 151 h 151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T48" t="T49" r="T50" b="T51"/>
              <a:pathLst>
                <a:path w="152" h="151">
                  <a:moveTo>
                    <a:pt x="145" y="53"/>
                  </a:moveTo>
                  <a:cubicBezTo>
                    <a:pt x="144" y="52"/>
                    <a:pt x="144" y="52"/>
                    <a:pt x="144" y="52"/>
                  </a:cubicBezTo>
                  <a:cubicBezTo>
                    <a:pt x="138" y="47"/>
                    <a:pt x="129" y="47"/>
                    <a:pt x="125" y="52"/>
                  </a:cubicBezTo>
                  <a:cubicBezTo>
                    <a:pt x="77" y="106"/>
                    <a:pt x="77" y="106"/>
                    <a:pt x="77" y="106"/>
                  </a:cubicBezTo>
                  <a:cubicBezTo>
                    <a:pt x="31" y="12"/>
                    <a:pt x="31" y="12"/>
                    <a:pt x="31" y="12"/>
                  </a:cubicBezTo>
                  <a:cubicBezTo>
                    <a:pt x="27" y="4"/>
                    <a:pt x="18" y="0"/>
                    <a:pt x="11" y="4"/>
                  </a:cubicBezTo>
                  <a:cubicBezTo>
                    <a:pt x="10" y="4"/>
                    <a:pt x="10" y="4"/>
                    <a:pt x="10" y="4"/>
                  </a:cubicBezTo>
                  <a:cubicBezTo>
                    <a:pt x="3" y="8"/>
                    <a:pt x="0" y="17"/>
                    <a:pt x="4" y="25"/>
                  </a:cubicBezTo>
                  <a:cubicBezTo>
                    <a:pt x="60" y="140"/>
                    <a:pt x="60" y="140"/>
                    <a:pt x="60" y="140"/>
                  </a:cubicBezTo>
                  <a:cubicBezTo>
                    <a:pt x="63" y="148"/>
                    <a:pt x="72" y="151"/>
                    <a:pt x="79" y="148"/>
                  </a:cubicBezTo>
                  <a:cubicBezTo>
                    <a:pt x="79" y="148"/>
                    <a:pt x="79" y="148"/>
                    <a:pt x="79" y="148"/>
                  </a:cubicBezTo>
                  <a:cubicBezTo>
                    <a:pt x="79" y="148"/>
                    <a:pt x="80" y="148"/>
                    <a:pt x="80" y="148"/>
                  </a:cubicBezTo>
                  <a:cubicBezTo>
                    <a:pt x="81" y="147"/>
                    <a:pt x="81" y="147"/>
                    <a:pt x="81" y="147"/>
                  </a:cubicBezTo>
                  <a:cubicBezTo>
                    <a:pt x="84" y="146"/>
                    <a:pt x="86" y="144"/>
                    <a:pt x="87" y="141"/>
                  </a:cubicBezTo>
                  <a:cubicBezTo>
                    <a:pt x="148" y="72"/>
                    <a:pt x="148" y="72"/>
                    <a:pt x="148" y="72"/>
                  </a:cubicBezTo>
                  <a:cubicBezTo>
                    <a:pt x="152" y="67"/>
                    <a:pt x="151" y="59"/>
                    <a:pt x="145" y="53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bevel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zh-CN" sz="1800" b="0" i="0" u="none" strike="noStrike" kern="1200" cap="none" spc="0" normalizeH="0" baseline="0" noProof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 panose="020F0502020204030204" pitchFamily="34" charset="0"/>
                <a:ea typeface="微软雅黑" panose="020B0503020204020204" pitchFamily="34" charset="-122"/>
                <a:cs typeface="+mn-cs"/>
                <a:sym typeface="宋体" panose="02010600030101010101" pitchFamily="2" charset="-122"/>
              </a:endParaRPr>
            </a:p>
          </p:txBody>
        </p:sp>
      </p:grpSp>
      <p:grpSp>
        <p:nvGrpSpPr>
          <p:cNvPr id="18" name="组合 17"/>
          <p:cNvGrpSpPr/>
          <p:nvPr/>
        </p:nvGrpSpPr>
        <p:grpSpPr bwMode="auto">
          <a:xfrm>
            <a:off x="8473972" y="4205439"/>
            <a:ext cx="397959" cy="333006"/>
            <a:chOff x="0" y="0"/>
            <a:chExt cx="961046" cy="796672"/>
          </a:xfrm>
          <a:solidFill>
            <a:schemeClr val="tx1"/>
          </a:solidFill>
        </p:grpSpPr>
        <p:sp>
          <p:nvSpPr>
            <p:cNvPr id="19" name="Freeform 24"/>
            <p:cNvSpPr>
              <a:spLocks noEditPoints="1" noChangeArrowheads="1"/>
            </p:cNvSpPr>
            <p:nvPr/>
          </p:nvSpPr>
          <p:spPr bwMode="auto">
            <a:xfrm>
              <a:off x="0" y="0"/>
              <a:ext cx="961046" cy="796672"/>
            </a:xfrm>
            <a:custGeom>
              <a:avLst/>
              <a:gdLst>
                <a:gd name="T0" fmla="*/ 321 w 339"/>
                <a:gd name="T1" fmla="*/ 0 h 281"/>
                <a:gd name="T2" fmla="*/ 18 w 339"/>
                <a:gd name="T3" fmla="*/ 0 h 281"/>
                <a:gd name="T4" fmla="*/ 0 w 339"/>
                <a:gd name="T5" fmla="*/ 18 h 281"/>
                <a:gd name="T6" fmla="*/ 0 w 339"/>
                <a:gd name="T7" fmla="*/ 263 h 281"/>
                <a:gd name="T8" fmla="*/ 18 w 339"/>
                <a:gd name="T9" fmla="*/ 281 h 281"/>
                <a:gd name="T10" fmla="*/ 321 w 339"/>
                <a:gd name="T11" fmla="*/ 281 h 281"/>
                <a:gd name="T12" fmla="*/ 339 w 339"/>
                <a:gd name="T13" fmla="*/ 263 h 281"/>
                <a:gd name="T14" fmla="*/ 339 w 339"/>
                <a:gd name="T15" fmla="*/ 18 h 281"/>
                <a:gd name="T16" fmla="*/ 321 w 339"/>
                <a:gd name="T17" fmla="*/ 0 h 281"/>
                <a:gd name="T18" fmla="*/ 316 w 339"/>
                <a:gd name="T19" fmla="*/ 246 h 281"/>
                <a:gd name="T20" fmla="*/ 301 w 339"/>
                <a:gd name="T21" fmla="*/ 262 h 281"/>
                <a:gd name="T22" fmla="*/ 38 w 339"/>
                <a:gd name="T23" fmla="*/ 262 h 281"/>
                <a:gd name="T24" fmla="*/ 23 w 339"/>
                <a:gd name="T25" fmla="*/ 246 h 281"/>
                <a:gd name="T26" fmla="*/ 23 w 339"/>
                <a:gd name="T27" fmla="*/ 35 h 281"/>
                <a:gd name="T28" fmla="*/ 38 w 339"/>
                <a:gd name="T29" fmla="*/ 19 h 281"/>
                <a:gd name="T30" fmla="*/ 301 w 339"/>
                <a:gd name="T31" fmla="*/ 19 h 281"/>
                <a:gd name="T32" fmla="*/ 316 w 339"/>
                <a:gd name="T33" fmla="*/ 35 h 281"/>
                <a:gd name="T34" fmla="*/ 316 w 339"/>
                <a:gd name="T35" fmla="*/ 246 h 281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w 339"/>
                <a:gd name="T55" fmla="*/ 0 h 281"/>
                <a:gd name="T56" fmla="*/ 339 w 339"/>
                <a:gd name="T57" fmla="*/ 281 h 281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T54" t="T55" r="T56" b="T57"/>
              <a:pathLst>
                <a:path w="339" h="281">
                  <a:moveTo>
                    <a:pt x="321" y="0"/>
                  </a:moveTo>
                  <a:cubicBezTo>
                    <a:pt x="18" y="0"/>
                    <a:pt x="18" y="0"/>
                    <a:pt x="18" y="0"/>
                  </a:cubicBezTo>
                  <a:cubicBezTo>
                    <a:pt x="8" y="0"/>
                    <a:pt x="0" y="8"/>
                    <a:pt x="0" y="18"/>
                  </a:cubicBezTo>
                  <a:cubicBezTo>
                    <a:pt x="0" y="263"/>
                    <a:pt x="0" y="263"/>
                    <a:pt x="0" y="263"/>
                  </a:cubicBezTo>
                  <a:cubicBezTo>
                    <a:pt x="0" y="273"/>
                    <a:pt x="8" y="281"/>
                    <a:pt x="18" y="281"/>
                  </a:cubicBezTo>
                  <a:cubicBezTo>
                    <a:pt x="321" y="281"/>
                    <a:pt x="321" y="281"/>
                    <a:pt x="321" y="281"/>
                  </a:cubicBezTo>
                  <a:cubicBezTo>
                    <a:pt x="331" y="281"/>
                    <a:pt x="339" y="273"/>
                    <a:pt x="339" y="263"/>
                  </a:cubicBezTo>
                  <a:cubicBezTo>
                    <a:pt x="339" y="18"/>
                    <a:pt x="339" y="18"/>
                    <a:pt x="339" y="18"/>
                  </a:cubicBezTo>
                  <a:cubicBezTo>
                    <a:pt x="339" y="8"/>
                    <a:pt x="331" y="0"/>
                    <a:pt x="321" y="0"/>
                  </a:cubicBezTo>
                  <a:moveTo>
                    <a:pt x="316" y="246"/>
                  </a:moveTo>
                  <a:cubicBezTo>
                    <a:pt x="316" y="255"/>
                    <a:pt x="309" y="262"/>
                    <a:pt x="301" y="262"/>
                  </a:cubicBezTo>
                  <a:cubicBezTo>
                    <a:pt x="38" y="262"/>
                    <a:pt x="38" y="262"/>
                    <a:pt x="38" y="262"/>
                  </a:cubicBezTo>
                  <a:cubicBezTo>
                    <a:pt x="30" y="262"/>
                    <a:pt x="23" y="255"/>
                    <a:pt x="23" y="246"/>
                  </a:cubicBezTo>
                  <a:cubicBezTo>
                    <a:pt x="23" y="35"/>
                    <a:pt x="23" y="35"/>
                    <a:pt x="23" y="35"/>
                  </a:cubicBezTo>
                  <a:cubicBezTo>
                    <a:pt x="23" y="26"/>
                    <a:pt x="30" y="19"/>
                    <a:pt x="38" y="19"/>
                  </a:cubicBezTo>
                  <a:cubicBezTo>
                    <a:pt x="301" y="19"/>
                    <a:pt x="301" y="19"/>
                    <a:pt x="301" y="19"/>
                  </a:cubicBezTo>
                  <a:cubicBezTo>
                    <a:pt x="309" y="19"/>
                    <a:pt x="316" y="26"/>
                    <a:pt x="316" y="35"/>
                  </a:cubicBezTo>
                  <a:lnTo>
                    <a:pt x="316" y="24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bevel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zh-CN" sz="1800" b="0" i="0" u="none" strike="noStrike" kern="1200" cap="none" spc="0" normalizeH="0" baseline="0" noProof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 panose="020F0502020204030204" pitchFamily="34" charset="0"/>
                <a:ea typeface="微软雅黑" panose="020B0503020204020204" pitchFamily="34" charset="-122"/>
                <a:cs typeface="+mn-cs"/>
                <a:sym typeface="宋体" panose="02010600030101010101" pitchFamily="2" charset="-122"/>
              </a:endParaRPr>
            </a:p>
          </p:txBody>
        </p:sp>
        <p:sp>
          <p:nvSpPr>
            <p:cNvPr id="20" name="Freeform 25"/>
            <p:cNvSpPr>
              <a:spLocks noChangeArrowheads="1"/>
            </p:cNvSpPr>
            <p:nvPr/>
          </p:nvSpPr>
          <p:spPr bwMode="auto">
            <a:xfrm>
              <a:off x="176371" y="116382"/>
              <a:ext cx="87586" cy="85186"/>
            </a:xfrm>
            <a:custGeom>
              <a:avLst/>
              <a:gdLst>
                <a:gd name="T0" fmla="*/ 31 w 31"/>
                <a:gd name="T1" fmla="*/ 23 h 30"/>
                <a:gd name="T2" fmla="*/ 24 w 31"/>
                <a:gd name="T3" fmla="*/ 30 h 30"/>
                <a:gd name="T4" fmla="*/ 8 w 31"/>
                <a:gd name="T5" fmla="*/ 30 h 30"/>
                <a:gd name="T6" fmla="*/ 0 w 31"/>
                <a:gd name="T7" fmla="*/ 23 h 30"/>
                <a:gd name="T8" fmla="*/ 0 w 31"/>
                <a:gd name="T9" fmla="*/ 7 h 30"/>
                <a:gd name="T10" fmla="*/ 8 w 31"/>
                <a:gd name="T11" fmla="*/ 0 h 30"/>
                <a:gd name="T12" fmla="*/ 24 w 31"/>
                <a:gd name="T13" fmla="*/ 0 h 30"/>
                <a:gd name="T14" fmla="*/ 31 w 31"/>
                <a:gd name="T15" fmla="*/ 7 h 30"/>
                <a:gd name="T16" fmla="*/ 31 w 31"/>
                <a:gd name="T17" fmla="*/ 23 h 30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31"/>
                <a:gd name="T28" fmla="*/ 0 h 30"/>
                <a:gd name="T29" fmla="*/ 31 w 31"/>
                <a:gd name="T30" fmla="*/ 30 h 30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31" h="30">
                  <a:moveTo>
                    <a:pt x="31" y="23"/>
                  </a:moveTo>
                  <a:cubicBezTo>
                    <a:pt x="31" y="27"/>
                    <a:pt x="28" y="30"/>
                    <a:pt x="24" y="30"/>
                  </a:cubicBezTo>
                  <a:cubicBezTo>
                    <a:pt x="8" y="30"/>
                    <a:pt x="8" y="30"/>
                    <a:pt x="8" y="30"/>
                  </a:cubicBezTo>
                  <a:cubicBezTo>
                    <a:pt x="4" y="30"/>
                    <a:pt x="0" y="27"/>
                    <a:pt x="0" y="23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0" y="3"/>
                    <a:pt x="4" y="0"/>
                    <a:pt x="8" y="0"/>
                  </a:cubicBezTo>
                  <a:cubicBezTo>
                    <a:pt x="24" y="0"/>
                    <a:pt x="24" y="0"/>
                    <a:pt x="24" y="0"/>
                  </a:cubicBezTo>
                  <a:cubicBezTo>
                    <a:pt x="28" y="0"/>
                    <a:pt x="31" y="3"/>
                    <a:pt x="31" y="7"/>
                  </a:cubicBezTo>
                  <a:lnTo>
                    <a:pt x="31" y="2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bevel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zh-CN" sz="1800" b="0" i="0" u="none" strike="noStrike" kern="1200" cap="none" spc="0" normalizeH="0" baseline="0" noProof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 panose="020F0502020204030204" pitchFamily="34" charset="0"/>
                <a:ea typeface="微软雅黑" panose="020B0503020204020204" pitchFamily="34" charset="-122"/>
                <a:cs typeface="+mn-cs"/>
                <a:sym typeface="宋体" panose="02010600030101010101" pitchFamily="2" charset="-122"/>
              </a:endParaRPr>
            </a:p>
          </p:txBody>
        </p:sp>
        <p:sp>
          <p:nvSpPr>
            <p:cNvPr id="21" name="Freeform 26"/>
            <p:cNvSpPr>
              <a:spLocks noChangeArrowheads="1"/>
            </p:cNvSpPr>
            <p:nvPr/>
          </p:nvSpPr>
          <p:spPr bwMode="auto">
            <a:xfrm>
              <a:off x="176371" y="274756"/>
              <a:ext cx="87586" cy="88786"/>
            </a:xfrm>
            <a:custGeom>
              <a:avLst/>
              <a:gdLst>
                <a:gd name="T0" fmla="*/ 31 w 31"/>
                <a:gd name="T1" fmla="*/ 24 h 31"/>
                <a:gd name="T2" fmla="*/ 24 w 31"/>
                <a:gd name="T3" fmla="*/ 31 h 31"/>
                <a:gd name="T4" fmla="*/ 8 w 31"/>
                <a:gd name="T5" fmla="*/ 31 h 31"/>
                <a:gd name="T6" fmla="*/ 0 w 31"/>
                <a:gd name="T7" fmla="*/ 24 h 31"/>
                <a:gd name="T8" fmla="*/ 0 w 31"/>
                <a:gd name="T9" fmla="*/ 8 h 31"/>
                <a:gd name="T10" fmla="*/ 8 w 31"/>
                <a:gd name="T11" fmla="*/ 0 h 31"/>
                <a:gd name="T12" fmla="*/ 24 w 31"/>
                <a:gd name="T13" fmla="*/ 0 h 31"/>
                <a:gd name="T14" fmla="*/ 31 w 31"/>
                <a:gd name="T15" fmla="*/ 8 h 31"/>
                <a:gd name="T16" fmla="*/ 31 w 31"/>
                <a:gd name="T17" fmla="*/ 24 h 31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31"/>
                <a:gd name="T28" fmla="*/ 0 h 31"/>
                <a:gd name="T29" fmla="*/ 31 w 31"/>
                <a:gd name="T30" fmla="*/ 31 h 31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31" h="31">
                  <a:moveTo>
                    <a:pt x="31" y="24"/>
                  </a:moveTo>
                  <a:cubicBezTo>
                    <a:pt x="31" y="28"/>
                    <a:pt x="28" y="31"/>
                    <a:pt x="24" y="31"/>
                  </a:cubicBezTo>
                  <a:cubicBezTo>
                    <a:pt x="8" y="31"/>
                    <a:pt x="8" y="31"/>
                    <a:pt x="8" y="31"/>
                  </a:cubicBezTo>
                  <a:cubicBezTo>
                    <a:pt x="4" y="31"/>
                    <a:pt x="0" y="28"/>
                    <a:pt x="0" y="24"/>
                  </a:cubicBezTo>
                  <a:cubicBezTo>
                    <a:pt x="0" y="8"/>
                    <a:pt x="0" y="8"/>
                    <a:pt x="0" y="8"/>
                  </a:cubicBezTo>
                  <a:cubicBezTo>
                    <a:pt x="0" y="4"/>
                    <a:pt x="4" y="0"/>
                    <a:pt x="8" y="0"/>
                  </a:cubicBezTo>
                  <a:cubicBezTo>
                    <a:pt x="24" y="0"/>
                    <a:pt x="24" y="0"/>
                    <a:pt x="24" y="0"/>
                  </a:cubicBezTo>
                  <a:cubicBezTo>
                    <a:pt x="28" y="0"/>
                    <a:pt x="31" y="4"/>
                    <a:pt x="31" y="8"/>
                  </a:cubicBezTo>
                  <a:lnTo>
                    <a:pt x="31" y="2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bevel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zh-CN" sz="1800" b="0" i="0" u="none" strike="noStrike" kern="1200" cap="none" spc="0" normalizeH="0" baseline="0" noProof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 panose="020F0502020204030204" pitchFamily="34" charset="0"/>
                <a:ea typeface="微软雅黑" panose="020B0503020204020204" pitchFamily="34" charset="-122"/>
                <a:cs typeface="+mn-cs"/>
                <a:sym typeface="宋体" panose="02010600030101010101" pitchFamily="2" charset="-122"/>
              </a:endParaRPr>
            </a:p>
          </p:txBody>
        </p:sp>
        <p:sp>
          <p:nvSpPr>
            <p:cNvPr id="22" name="Freeform 27"/>
            <p:cNvSpPr>
              <a:spLocks noChangeArrowheads="1"/>
            </p:cNvSpPr>
            <p:nvPr/>
          </p:nvSpPr>
          <p:spPr bwMode="auto">
            <a:xfrm>
              <a:off x="346744" y="116382"/>
              <a:ext cx="87586" cy="85186"/>
            </a:xfrm>
            <a:custGeom>
              <a:avLst/>
              <a:gdLst>
                <a:gd name="T0" fmla="*/ 31 w 31"/>
                <a:gd name="T1" fmla="*/ 23 h 30"/>
                <a:gd name="T2" fmla="*/ 24 w 31"/>
                <a:gd name="T3" fmla="*/ 30 h 30"/>
                <a:gd name="T4" fmla="*/ 8 w 31"/>
                <a:gd name="T5" fmla="*/ 30 h 30"/>
                <a:gd name="T6" fmla="*/ 0 w 31"/>
                <a:gd name="T7" fmla="*/ 23 h 30"/>
                <a:gd name="T8" fmla="*/ 0 w 31"/>
                <a:gd name="T9" fmla="*/ 7 h 30"/>
                <a:gd name="T10" fmla="*/ 8 w 31"/>
                <a:gd name="T11" fmla="*/ 0 h 30"/>
                <a:gd name="T12" fmla="*/ 24 w 31"/>
                <a:gd name="T13" fmla="*/ 0 h 30"/>
                <a:gd name="T14" fmla="*/ 31 w 31"/>
                <a:gd name="T15" fmla="*/ 7 h 30"/>
                <a:gd name="T16" fmla="*/ 31 w 31"/>
                <a:gd name="T17" fmla="*/ 23 h 30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31"/>
                <a:gd name="T28" fmla="*/ 0 h 30"/>
                <a:gd name="T29" fmla="*/ 31 w 31"/>
                <a:gd name="T30" fmla="*/ 30 h 30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31" h="30">
                  <a:moveTo>
                    <a:pt x="31" y="23"/>
                  </a:moveTo>
                  <a:cubicBezTo>
                    <a:pt x="31" y="27"/>
                    <a:pt x="28" y="30"/>
                    <a:pt x="24" y="30"/>
                  </a:cubicBezTo>
                  <a:cubicBezTo>
                    <a:pt x="8" y="30"/>
                    <a:pt x="8" y="30"/>
                    <a:pt x="8" y="30"/>
                  </a:cubicBezTo>
                  <a:cubicBezTo>
                    <a:pt x="4" y="30"/>
                    <a:pt x="0" y="27"/>
                    <a:pt x="0" y="23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0" y="3"/>
                    <a:pt x="4" y="0"/>
                    <a:pt x="8" y="0"/>
                  </a:cubicBezTo>
                  <a:cubicBezTo>
                    <a:pt x="24" y="0"/>
                    <a:pt x="24" y="0"/>
                    <a:pt x="24" y="0"/>
                  </a:cubicBezTo>
                  <a:cubicBezTo>
                    <a:pt x="28" y="0"/>
                    <a:pt x="31" y="3"/>
                    <a:pt x="31" y="7"/>
                  </a:cubicBezTo>
                  <a:lnTo>
                    <a:pt x="31" y="2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bevel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zh-CN" sz="1800" b="0" i="0" u="none" strike="noStrike" kern="1200" cap="none" spc="0" normalizeH="0" baseline="0" noProof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 panose="020F0502020204030204" pitchFamily="34" charset="0"/>
                <a:ea typeface="微软雅黑" panose="020B0503020204020204" pitchFamily="34" charset="-122"/>
                <a:cs typeface="+mn-cs"/>
                <a:sym typeface="宋体" panose="02010600030101010101" pitchFamily="2" charset="-122"/>
              </a:endParaRPr>
            </a:p>
          </p:txBody>
        </p:sp>
        <p:sp>
          <p:nvSpPr>
            <p:cNvPr id="23" name="Freeform 28"/>
            <p:cNvSpPr>
              <a:spLocks noChangeArrowheads="1"/>
            </p:cNvSpPr>
            <p:nvPr/>
          </p:nvSpPr>
          <p:spPr bwMode="auto">
            <a:xfrm>
              <a:off x="346744" y="274756"/>
              <a:ext cx="87586" cy="88786"/>
            </a:xfrm>
            <a:custGeom>
              <a:avLst/>
              <a:gdLst>
                <a:gd name="T0" fmla="*/ 31 w 31"/>
                <a:gd name="T1" fmla="*/ 24 h 31"/>
                <a:gd name="T2" fmla="*/ 24 w 31"/>
                <a:gd name="T3" fmla="*/ 31 h 31"/>
                <a:gd name="T4" fmla="*/ 8 w 31"/>
                <a:gd name="T5" fmla="*/ 31 h 31"/>
                <a:gd name="T6" fmla="*/ 0 w 31"/>
                <a:gd name="T7" fmla="*/ 24 h 31"/>
                <a:gd name="T8" fmla="*/ 0 w 31"/>
                <a:gd name="T9" fmla="*/ 8 h 31"/>
                <a:gd name="T10" fmla="*/ 8 w 31"/>
                <a:gd name="T11" fmla="*/ 0 h 31"/>
                <a:gd name="T12" fmla="*/ 24 w 31"/>
                <a:gd name="T13" fmla="*/ 0 h 31"/>
                <a:gd name="T14" fmla="*/ 31 w 31"/>
                <a:gd name="T15" fmla="*/ 8 h 31"/>
                <a:gd name="T16" fmla="*/ 31 w 31"/>
                <a:gd name="T17" fmla="*/ 24 h 31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31"/>
                <a:gd name="T28" fmla="*/ 0 h 31"/>
                <a:gd name="T29" fmla="*/ 31 w 31"/>
                <a:gd name="T30" fmla="*/ 31 h 31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31" h="31">
                  <a:moveTo>
                    <a:pt x="31" y="24"/>
                  </a:moveTo>
                  <a:cubicBezTo>
                    <a:pt x="31" y="28"/>
                    <a:pt x="28" y="31"/>
                    <a:pt x="24" y="31"/>
                  </a:cubicBezTo>
                  <a:cubicBezTo>
                    <a:pt x="8" y="31"/>
                    <a:pt x="8" y="31"/>
                    <a:pt x="8" y="31"/>
                  </a:cubicBezTo>
                  <a:cubicBezTo>
                    <a:pt x="4" y="31"/>
                    <a:pt x="0" y="28"/>
                    <a:pt x="0" y="24"/>
                  </a:cubicBezTo>
                  <a:cubicBezTo>
                    <a:pt x="0" y="8"/>
                    <a:pt x="0" y="8"/>
                    <a:pt x="0" y="8"/>
                  </a:cubicBezTo>
                  <a:cubicBezTo>
                    <a:pt x="0" y="4"/>
                    <a:pt x="4" y="0"/>
                    <a:pt x="8" y="0"/>
                  </a:cubicBezTo>
                  <a:cubicBezTo>
                    <a:pt x="24" y="0"/>
                    <a:pt x="24" y="0"/>
                    <a:pt x="24" y="0"/>
                  </a:cubicBezTo>
                  <a:cubicBezTo>
                    <a:pt x="28" y="0"/>
                    <a:pt x="31" y="4"/>
                    <a:pt x="31" y="8"/>
                  </a:cubicBezTo>
                  <a:lnTo>
                    <a:pt x="31" y="2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bevel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zh-CN" sz="1800" b="0" i="0" u="none" strike="noStrike" kern="1200" cap="none" spc="0" normalizeH="0" baseline="0" noProof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 panose="020F0502020204030204" pitchFamily="34" charset="0"/>
                <a:ea typeface="微软雅黑" panose="020B0503020204020204" pitchFamily="34" charset="-122"/>
                <a:cs typeface="+mn-cs"/>
                <a:sym typeface="宋体" panose="02010600030101010101" pitchFamily="2" charset="-122"/>
              </a:endParaRPr>
            </a:p>
          </p:txBody>
        </p:sp>
        <p:sp>
          <p:nvSpPr>
            <p:cNvPr id="24" name="Freeform 29"/>
            <p:cNvSpPr>
              <a:spLocks noChangeArrowheads="1"/>
            </p:cNvSpPr>
            <p:nvPr/>
          </p:nvSpPr>
          <p:spPr bwMode="auto">
            <a:xfrm>
              <a:off x="346744" y="436730"/>
              <a:ext cx="87586" cy="85186"/>
            </a:xfrm>
            <a:custGeom>
              <a:avLst/>
              <a:gdLst>
                <a:gd name="T0" fmla="*/ 31 w 31"/>
                <a:gd name="T1" fmla="*/ 23 h 30"/>
                <a:gd name="T2" fmla="*/ 24 w 31"/>
                <a:gd name="T3" fmla="*/ 30 h 30"/>
                <a:gd name="T4" fmla="*/ 8 w 31"/>
                <a:gd name="T5" fmla="*/ 30 h 30"/>
                <a:gd name="T6" fmla="*/ 0 w 31"/>
                <a:gd name="T7" fmla="*/ 23 h 30"/>
                <a:gd name="T8" fmla="*/ 0 w 31"/>
                <a:gd name="T9" fmla="*/ 7 h 30"/>
                <a:gd name="T10" fmla="*/ 8 w 31"/>
                <a:gd name="T11" fmla="*/ 0 h 30"/>
                <a:gd name="T12" fmla="*/ 24 w 31"/>
                <a:gd name="T13" fmla="*/ 0 h 30"/>
                <a:gd name="T14" fmla="*/ 31 w 31"/>
                <a:gd name="T15" fmla="*/ 7 h 30"/>
                <a:gd name="T16" fmla="*/ 31 w 31"/>
                <a:gd name="T17" fmla="*/ 23 h 30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31"/>
                <a:gd name="T28" fmla="*/ 0 h 30"/>
                <a:gd name="T29" fmla="*/ 31 w 31"/>
                <a:gd name="T30" fmla="*/ 30 h 30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31" h="30">
                  <a:moveTo>
                    <a:pt x="31" y="23"/>
                  </a:moveTo>
                  <a:cubicBezTo>
                    <a:pt x="31" y="27"/>
                    <a:pt x="28" y="30"/>
                    <a:pt x="24" y="30"/>
                  </a:cubicBezTo>
                  <a:cubicBezTo>
                    <a:pt x="8" y="30"/>
                    <a:pt x="8" y="30"/>
                    <a:pt x="8" y="30"/>
                  </a:cubicBezTo>
                  <a:cubicBezTo>
                    <a:pt x="4" y="30"/>
                    <a:pt x="0" y="27"/>
                    <a:pt x="0" y="23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0" y="3"/>
                    <a:pt x="4" y="0"/>
                    <a:pt x="8" y="0"/>
                  </a:cubicBezTo>
                  <a:cubicBezTo>
                    <a:pt x="24" y="0"/>
                    <a:pt x="24" y="0"/>
                    <a:pt x="24" y="0"/>
                  </a:cubicBezTo>
                  <a:cubicBezTo>
                    <a:pt x="28" y="0"/>
                    <a:pt x="31" y="3"/>
                    <a:pt x="31" y="7"/>
                  </a:cubicBezTo>
                  <a:lnTo>
                    <a:pt x="31" y="2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bevel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zh-CN" sz="1800" b="0" i="0" u="none" strike="noStrike" kern="1200" cap="none" spc="0" normalizeH="0" baseline="0" noProof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 panose="020F0502020204030204" pitchFamily="34" charset="0"/>
                <a:ea typeface="微软雅黑" panose="020B0503020204020204" pitchFamily="34" charset="-122"/>
                <a:cs typeface="+mn-cs"/>
                <a:sym typeface="宋体" panose="02010600030101010101" pitchFamily="2" charset="-122"/>
              </a:endParaRPr>
            </a:p>
          </p:txBody>
        </p:sp>
        <p:sp>
          <p:nvSpPr>
            <p:cNvPr id="25" name="Freeform 30"/>
            <p:cNvSpPr>
              <a:spLocks noChangeArrowheads="1"/>
            </p:cNvSpPr>
            <p:nvPr/>
          </p:nvSpPr>
          <p:spPr bwMode="auto">
            <a:xfrm>
              <a:off x="519516" y="116382"/>
              <a:ext cx="83987" cy="85186"/>
            </a:xfrm>
            <a:custGeom>
              <a:avLst/>
              <a:gdLst>
                <a:gd name="T0" fmla="*/ 30 w 30"/>
                <a:gd name="T1" fmla="*/ 23 h 30"/>
                <a:gd name="T2" fmla="*/ 23 w 30"/>
                <a:gd name="T3" fmla="*/ 30 h 30"/>
                <a:gd name="T4" fmla="*/ 7 w 30"/>
                <a:gd name="T5" fmla="*/ 30 h 30"/>
                <a:gd name="T6" fmla="*/ 0 w 30"/>
                <a:gd name="T7" fmla="*/ 23 h 30"/>
                <a:gd name="T8" fmla="*/ 0 w 30"/>
                <a:gd name="T9" fmla="*/ 7 h 30"/>
                <a:gd name="T10" fmla="*/ 7 w 30"/>
                <a:gd name="T11" fmla="*/ 0 h 30"/>
                <a:gd name="T12" fmla="*/ 23 w 30"/>
                <a:gd name="T13" fmla="*/ 0 h 30"/>
                <a:gd name="T14" fmla="*/ 30 w 30"/>
                <a:gd name="T15" fmla="*/ 7 h 30"/>
                <a:gd name="T16" fmla="*/ 30 w 30"/>
                <a:gd name="T17" fmla="*/ 23 h 30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30"/>
                <a:gd name="T28" fmla="*/ 0 h 30"/>
                <a:gd name="T29" fmla="*/ 30 w 30"/>
                <a:gd name="T30" fmla="*/ 30 h 30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30" h="30">
                  <a:moveTo>
                    <a:pt x="30" y="23"/>
                  </a:moveTo>
                  <a:cubicBezTo>
                    <a:pt x="30" y="27"/>
                    <a:pt x="27" y="30"/>
                    <a:pt x="23" y="30"/>
                  </a:cubicBezTo>
                  <a:cubicBezTo>
                    <a:pt x="7" y="30"/>
                    <a:pt x="7" y="30"/>
                    <a:pt x="7" y="30"/>
                  </a:cubicBezTo>
                  <a:cubicBezTo>
                    <a:pt x="3" y="30"/>
                    <a:pt x="0" y="27"/>
                    <a:pt x="0" y="23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0" y="3"/>
                    <a:pt x="3" y="0"/>
                    <a:pt x="7" y="0"/>
                  </a:cubicBezTo>
                  <a:cubicBezTo>
                    <a:pt x="23" y="0"/>
                    <a:pt x="23" y="0"/>
                    <a:pt x="23" y="0"/>
                  </a:cubicBezTo>
                  <a:cubicBezTo>
                    <a:pt x="27" y="0"/>
                    <a:pt x="30" y="3"/>
                    <a:pt x="30" y="7"/>
                  </a:cubicBezTo>
                  <a:lnTo>
                    <a:pt x="30" y="2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bevel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zh-CN" sz="1800" b="0" i="0" u="none" strike="noStrike" kern="1200" cap="none" spc="0" normalizeH="0" baseline="0" noProof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 panose="020F0502020204030204" pitchFamily="34" charset="0"/>
                <a:ea typeface="微软雅黑" panose="020B0503020204020204" pitchFamily="34" charset="-122"/>
                <a:cs typeface="+mn-cs"/>
                <a:sym typeface="宋体" panose="02010600030101010101" pitchFamily="2" charset="-122"/>
              </a:endParaRPr>
            </a:p>
          </p:txBody>
        </p:sp>
        <p:sp>
          <p:nvSpPr>
            <p:cNvPr id="26" name="Freeform 31"/>
            <p:cNvSpPr>
              <a:spLocks noChangeArrowheads="1"/>
            </p:cNvSpPr>
            <p:nvPr/>
          </p:nvSpPr>
          <p:spPr bwMode="auto">
            <a:xfrm>
              <a:off x="519516" y="274756"/>
              <a:ext cx="83987" cy="88786"/>
            </a:xfrm>
            <a:custGeom>
              <a:avLst/>
              <a:gdLst>
                <a:gd name="T0" fmla="*/ 30 w 30"/>
                <a:gd name="T1" fmla="*/ 24 h 31"/>
                <a:gd name="T2" fmla="*/ 23 w 30"/>
                <a:gd name="T3" fmla="*/ 31 h 31"/>
                <a:gd name="T4" fmla="*/ 7 w 30"/>
                <a:gd name="T5" fmla="*/ 31 h 31"/>
                <a:gd name="T6" fmla="*/ 0 w 30"/>
                <a:gd name="T7" fmla="*/ 24 h 31"/>
                <a:gd name="T8" fmla="*/ 0 w 30"/>
                <a:gd name="T9" fmla="*/ 8 h 31"/>
                <a:gd name="T10" fmla="*/ 7 w 30"/>
                <a:gd name="T11" fmla="*/ 0 h 31"/>
                <a:gd name="T12" fmla="*/ 23 w 30"/>
                <a:gd name="T13" fmla="*/ 0 h 31"/>
                <a:gd name="T14" fmla="*/ 30 w 30"/>
                <a:gd name="T15" fmla="*/ 8 h 31"/>
                <a:gd name="T16" fmla="*/ 30 w 30"/>
                <a:gd name="T17" fmla="*/ 24 h 31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30"/>
                <a:gd name="T28" fmla="*/ 0 h 31"/>
                <a:gd name="T29" fmla="*/ 30 w 30"/>
                <a:gd name="T30" fmla="*/ 31 h 31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30" h="31">
                  <a:moveTo>
                    <a:pt x="30" y="24"/>
                  </a:moveTo>
                  <a:cubicBezTo>
                    <a:pt x="30" y="28"/>
                    <a:pt x="27" y="31"/>
                    <a:pt x="23" y="31"/>
                  </a:cubicBezTo>
                  <a:cubicBezTo>
                    <a:pt x="7" y="31"/>
                    <a:pt x="7" y="31"/>
                    <a:pt x="7" y="31"/>
                  </a:cubicBezTo>
                  <a:cubicBezTo>
                    <a:pt x="3" y="31"/>
                    <a:pt x="0" y="28"/>
                    <a:pt x="0" y="24"/>
                  </a:cubicBezTo>
                  <a:cubicBezTo>
                    <a:pt x="0" y="8"/>
                    <a:pt x="0" y="8"/>
                    <a:pt x="0" y="8"/>
                  </a:cubicBezTo>
                  <a:cubicBezTo>
                    <a:pt x="0" y="4"/>
                    <a:pt x="3" y="0"/>
                    <a:pt x="7" y="0"/>
                  </a:cubicBezTo>
                  <a:cubicBezTo>
                    <a:pt x="23" y="0"/>
                    <a:pt x="23" y="0"/>
                    <a:pt x="23" y="0"/>
                  </a:cubicBezTo>
                  <a:cubicBezTo>
                    <a:pt x="27" y="0"/>
                    <a:pt x="30" y="4"/>
                    <a:pt x="30" y="8"/>
                  </a:cubicBezTo>
                  <a:lnTo>
                    <a:pt x="30" y="2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bevel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zh-CN" sz="1800" b="0" i="0" u="none" strike="noStrike" kern="1200" cap="none" spc="0" normalizeH="0" baseline="0" noProof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 panose="020F0502020204030204" pitchFamily="34" charset="0"/>
                <a:ea typeface="微软雅黑" panose="020B0503020204020204" pitchFamily="34" charset="-122"/>
                <a:cs typeface="+mn-cs"/>
                <a:sym typeface="宋体" panose="02010600030101010101" pitchFamily="2" charset="-122"/>
              </a:endParaRPr>
            </a:p>
          </p:txBody>
        </p:sp>
        <p:sp>
          <p:nvSpPr>
            <p:cNvPr id="27" name="Freeform 32"/>
            <p:cNvSpPr>
              <a:spLocks noChangeArrowheads="1"/>
            </p:cNvSpPr>
            <p:nvPr/>
          </p:nvSpPr>
          <p:spPr bwMode="auto">
            <a:xfrm>
              <a:off x="688689" y="116382"/>
              <a:ext cx="85186" cy="85186"/>
            </a:xfrm>
            <a:custGeom>
              <a:avLst/>
              <a:gdLst>
                <a:gd name="T0" fmla="*/ 30 w 30"/>
                <a:gd name="T1" fmla="*/ 23 h 30"/>
                <a:gd name="T2" fmla="*/ 23 w 30"/>
                <a:gd name="T3" fmla="*/ 30 h 30"/>
                <a:gd name="T4" fmla="*/ 7 w 30"/>
                <a:gd name="T5" fmla="*/ 30 h 30"/>
                <a:gd name="T6" fmla="*/ 0 w 30"/>
                <a:gd name="T7" fmla="*/ 23 h 30"/>
                <a:gd name="T8" fmla="*/ 0 w 30"/>
                <a:gd name="T9" fmla="*/ 7 h 30"/>
                <a:gd name="T10" fmla="*/ 7 w 30"/>
                <a:gd name="T11" fmla="*/ 0 h 30"/>
                <a:gd name="T12" fmla="*/ 23 w 30"/>
                <a:gd name="T13" fmla="*/ 0 h 30"/>
                <a:gd name="T14" fmla="*/ 30 w 30"/>
                <a:gd name="T15" fmla="*/ 7 h 30"/>
                <a:gd name="T16" fmla="*/ 30 w 30"/>
                <a:gd name="T17" fmla="*/ 23 h 30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30"/>
                <a:gd name="T28" fmla="*/ 0 h 30"/>
                <a:gd name="T29" fmla="*/ 30 w 30"/>
                <a:gd name="T30" fmla="*/ 30 h 30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30" h="30">
                  <a:moveTo>
                    <a:pt x="30" y="23"/>
                  </a:moveTo>
                  <a:cubicBezTo>
                    <a:pt x="30" y="27"/>
                    <a:pt x="27" y="30"/>
                    <a:pt x="23" y="30"/>
                  </a:cubicBezTo>
                  <a:cubicBezTo>
                    <a:pt x="7" y="30"/>
                    <a:pt x="7" y="30"/>
                    <a:pt x="7" y="30"/>
                  </a:cubicBezTo>
                  <a:cubicBezTo>
                    <a:pt x="3" y="30"/>
                    <a:pt x="0" y="27"/>
                    <a:pt x="0" y="23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0" y="3"/>
                    <a:pt x="3" y="0"/>
                    <a:pt x="7" y="0"/>
                  </a:cubicBezTo>
                  <a:cubicBezTo>
                    <a:pt x="23" y="0"/>
                    <a:pt x="23" y="0"/>
                    <a:pt x="23" y="0"/>
                  </a:cubicBezTo>
                  <a:cubicBezTo>
                    <a:pt x="27" y="0"/>
                    <a:pt x="30" y="3"/>
                    <a:pt x="30" y="7"/>
                  </a:cubicBezTo>
                  <a:lnTo>
                    <a:pt x="30" y="2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bevel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zh-CN" sz="1800" b="0" i="0" u="none" strike="noStrike" kern="1200" cap="none" spc="0" normalizeH="0" baseline="0" noProof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 panose="020F0502020204030204" pitchFamily="34" charset="0"/>
                <a:ea typeface="微软雅黑" panose="020B0503020204020204" pitchFamily="34" charset="-122"/>
                <a:cs typeface="+mn-cs"/>
                <a:sym typeface="宋体" panose="02010600030101010101" pitchFamily="2" charset="-122"/>
              </a:endParaRPr>
            </a:p>
          </p:txBody>
        </p:sp>
        <p:sp>
          <p:nvSpPr>
            <p:cNvPr id="28" name="Freeform 33"/>
            <p:cNvSpPr>
              <a:spLocks noChangeArrowheads="1"/>
            </p:cNvSpPr>
            <p:nvPr/>
          </p:nvSpPr>
          <p:spPr bwMode="auto">
            <a:xfrm>
              <a:off x="688689" y="274756"/>
              <a:ext cx="85186" cy="88786"/>
            </a:xfrm>
            <a:custGeom>
              <a:avLst/>
              <a:gdLst>
                <a:gd name="T0" fmla="*/ 30 w 30"/>
                <a:gd name="T1" fmla="*/ 24 h 31"/>
                <a:gd name="T2" fmla="*/ 23 w 30"/>
                <a:gd name="T3" fmla="*/ 31 h 31"/>
                <a:gd name="T4" fmla="*/ 7 w 30"/>
                <a:gd name="T5" fmla="*/ 31 h 31"/>
                <a:gd name="T6" fmla="*/ 0 w 30"/>
                <a:gd name="T7" fmla="*/ 24 h 31"/>
                <a:gd name="T8" fmla="*/ 0 w 30"/>
                <a:gd name="T9" fmla="*/ 8 h 31"/>
                <a:gd name="T10" fmla="*/ 7 w 30"/>
                <a:gd name="T11" fmla="*/ 0 h 31"/>
                <a:gd name="T12" fmla="*/ 23 w 30"/>
                <a:gd name="T13" fmla="*/ 0 h 31"/>
                <a:gd name="T14" fmla="*/ 30 w 30"/>
                <a:gd name="T15" fmla="*/ 8 h 31"/>
                <a:gd name="T16" fmla="*/ 30 w 30"/>
                <a:gd name="T17" fmla="*/ 24 h 31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30"/>
                <a:gd name="T28" fmla="*/ 0 h 31"/>
                <a:gd name="T29" fmla="*/ 30 w 30"/>
                <a:gd name="T30" fmla="*/ 31 h 31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30" h="31">
                  <a:moveTo>
                    <a:pt x="30" y="24"/>
                  </a:moveTo>
                  <a:cubicBezTo>
                    <a:pt x="30" y="28"/>
                    <a:pt x="27" y="31"/>
                    <a:pt x="23" y="31"/>
                  </a:cubicBezTo>
                  <a:cubicBezTo>
                    <a:pt x="7" y="31"/>
                    <a:pt x="7" y="31"/>
                    <a:pt x="7" y="31"/>
                  </a:cubicBezTo>
                  <a:cubicBezTo>
                    <a:pt x="3" y="31"/>
                    <a:pt x="0" y="28"/>
                    <a:pt x="0" y="24"/>
                  </a:cubicBezTo>
                  <a:cubicBezTo>
                    <a:pt x="0" y="8"/>
                    <a:pt x="0" y="8"/>
                    <a:pt x="0" y="8"/>
                  </a:cubicBezTo>
                  <a:cubicBezTo>
                    <a:pt x="0" y="4"/>
                    <a:pt x="3" y="0"/>
                    <a:pt x="7" y="0"/>
                  </a:cubicBezTo>
                  <a:cubicBezTo>
                    <a:pt x="23" y="0"/>
                    <a:pt x="23" y="0"/>
                    <a:pt x="23" y="0"/>
                  </a:cubicBezTo>
                  <a:cubicBezTo>
                    <a:pt x="27" y="0"/>
                    <a:pt x="30" y="4"/>
                    <a:pt x="30" y="8"/>
                  </a:cubicBezTo>
                  <a:lnTo>
                    <a:pt x="30" y="2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bevel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zh-CN" sz="1800" b="0" i="0" u="none" strike="noStrike" kern="1200" cap="none" spc="0" normalizeH="0" baseline="0" noProof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 panose="020F0502020204030204" pitchFamily="34" charset="0"/>
                <a:ea typeface="微软雅黑" panose="020B0503020204020204" pitchFamily="34" charset="-122"/>
                <a:cs typeface="+mn-cs"/>
                <a:sym typeface="宋体" panose="02010600030101010101" pitchFamily="2" charset="-122"/>
              </a:endParaRPr>
            </a:p>
          </p:txBody>
        </p:sp>
        <p:sp>
          <p:nvSpPr>
            <p:cNvPr id="29" name="Freeform 34"/>
            <p:cNvSpPr>
              <a:spLocks noChangeArrowheads="1"/>
            </p:cNvSpPr>
            <p:nvPr/>
          </p:nvSpPr>
          <p:spPr bwMode="auto">
            <a:xfrm>
              <a:off x="176371" y="436730"/>
              <a:ext cx="87586" cy="85186"/>
            </a:xfrm>
            <a:custGeom>
              <a:avLst/>
              <a:gdLst>
                <a:gd name="T0" fmla="*/ 31 w 31"/>
                <a:gd name="T1" fmla="*/ 23 h 30"/>
                <a:gd name="T2" fmla="*/ 24 w 31"/>
                <a:gd name="T3" fmla="*/ 30 h 30"/>
                <a:gd name="T4" fmla="*/ 8 w 31"/>
                <a:gd name="T5" fmla="*/ 30 h 30"/>
                <a:gd name="T6" fmla="*/ 0 w 31"/>
                <a:gd name="T7" fmla="*/ 23 h 30"/>
                <a:gd name="T8" fmla="*/ 0 w 31"/>
                <a:gd name="T9" fmla="*/ 7 h 30"/>
                <a:gd name="T10" fmla="*/ 8 w 31"/>
                <a:gd name="T11" fmla="*/ 0 h 30"/>
                <a:gd name="T12" fmla="*/ 24 w 31"/>
                <a:gd name="T13" fmla="*/ 0 h 30"/>
                <a:gd name="T14" fmla="*/ 31 w 31"/>
                <a:gd name="T15" fmla="*/ 7 h 30"/>
                <a:gd name="T16" fmla="*/ 31 w 31"/>
                <a:gd name="T17" fmla="*/ 23 h 30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31"/>
                <a:gd name="T28" fmla="*/ 0 h 30"/>
                <a:gd name="T29" fmla="*/ 31 w 31"/>
                <a:gd name="T30" fmla="*/ 30 h 30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31" h="30">
                  <a:moveTo>
                    <a:pt x="31" y="23"/>
                  </a:moveTo>
                  <a:cubicBezTo>
                    <a:pt x="31" y="27"/>
                    <a:pt x="28" y="30"/>
                    <a:pt x="24" y="30"/>
                  </a:cubicBezTo>
                  <a:cubicBezTo>
                    <a:pt x="8" y="30"/>
                    <a:pt x="8" y="30"/>
                    <a:pt x="8" y="30"/>
                  </a:cubicBezTo>
                  <a:cubicBezTo>
                    <a:pt x="4" y="30"/>
                    <a:pt x="0" y="27"/>
                    <a:pt x="0" y="23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0" y="3"/>
                    <a:pt x="4" y="0"/>
                    <a:pt x="8" y="0"/>
                  </a:cubicBezTo>
                  <a:cubicBezTo>
                    <a:pt x="24" y="0"/>
                    <a:pt x="24" y="0"/>
                    <a:pt x="24" y="0"/>
                  </a:cubicBezTo>
                  <a:cubicBezTo>
                    <a:pt x="28" y="0"/>
                    <a:pt x="31" y="3"/>
                    <a:pt x="31" y="7"/>
                  </a:cubicBezTo>
                  <a:lnTo>
                    <a:pt x="31" y="2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bevel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zh-CN" sz="1800" b="0" i="0" u="none" strike="noStrike" kern="1200" cap="none" spc="0" normalizeH="0" baseline="0" noProof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 panose="020F0502020204030204" pitchFamily="34" charset="0"/>
                <a:ea typeface="微软雅黑" panose="020B0503020204020204" pitchFamily="34" charset="-122"/>
                <a:cs typeface="+mn-cs"/>
                <a:sym typeface="宋体" panose="02010600030101010101" pitchFamily="2" charset="-122"/>
              </a:endParaRPr>
            </a:p>
          </p:txBody>
        </p:sp>
      </p:grpSp>
      <p:sp>
        <p:nvSpPr>
          <p:cNvPr id="30" name="Freeform 84"/>
          <p:cNvSpPr>
            <a:spLocks noChangeAspect="1" noEditPoints="1" noChangeArrowheads="1"/>
          </p:cNvSpPr>
          <p:nvPr/>
        </p:nvSpPr>
        <p:spPr bwMode="auto">
          <a:xfrm>
            <a:off x="7169827" y="4205438"/>
            <a:ext cx="333822" cy="333006"/>
          </a:xfrm>
          <a:custGeom>
            <a:avLst/>
            <a:gdLst>
              <a:gd name="T0" fmla="*/ 170 w 170"/>
              <a:gd name="T1" fmla="*/ 0 h 168"/>
              <a:gd name="T2" fmla="*/ 162 w 170"/>
              <a:gd name="T3" fmla="*/ 16 h 168"/>
              <a:gd name="T4" fmla="*/ 170 w 170"/>
              <a:gd name="T5" fmla="*/ 103 h 168"/>
              <a:gd name="T6" fmla="*/ 93 w 170"/>
              <a:gd name="T7" fmla="*/ 119 h 168"/>
              <a:gd name="T8" fmla="*/ 128 w 170"/>
              <a:gd name="T9" fmla="*/ 152 h 168"/>
              <a:gd name="T10" fmla="*/ 42 w 170"/>
              <a:gd name="T11" fmla="*/ 168 h 168"/>
              <a:gd name="T12" fmla="*/ 77 w 170"/>
              <a:gd name="T13" fmla="*/ 152 h 168"/>
              <a:gd name="T14" fmla="*/ 0 w 170"/>
              <a:gd name="T15" fmla="*/ 119 h 168"/>
              <a:gd name="T16" fmla="*/ 6 w 170"/>
              <a:gd name="T17" fmla="*/ 103 h 168"/>
              <a:gd name="T18" fmla="*/ 0 w 170"/>
              <a:gd name="T19" fmla="*/ 16 h 168"/>
              <a:gd name="T20" fmla="*/ 0 w 170"/>
              <a:gd name="T21" fmla="*/ 0 h 168"/>
              <a:gd name="T22" fmla="*/ 122 w 170"/>
              <a:gd name="T23" fmla="*/ 40 h 168"/>
              <a:gd name="T24" fmla="*/ 115 w 170"/>
              <a:gd name="T25" fmla="*/ 44 h 168"/>
              <a:gd name="T26" fmla="*/ 75 w 170"/>
              <a:gd name="T27" fmla="*/ 52 h 168"/>
              <a:gd name="T28" fmla="*/ 73 w 170"/>
              <a:gd name="T29" fmla="*/ 50 h 168"/>
              <a:gd name="T30" fmla="*/ 50 w 170"/>
              <a:gd name="T31" fmla="*/ 67 h 168"/>
              <a:gd name="T32" fmla="*/ 85 w 170"/>
              <a:gd name="T33" fmla="*/ 65 h 168"/>
              <a:gd name="T34" fmla="*/ 89 w 170"/>
              <a:gd name="T35" fmla="*/ 67 h 168"/>
              <a:gd name="T36" fmla="*/ 120 w 170"/>
              <a:gd name="T37" fmla="*/ 52 h 168"/>
              <a:gd name="T38" fmla="*/ 128 w 170"/>
              <a:gd name="T39" fmla="*/ 40 h 168"/>
              <a:gd name="T40" fmla="*/ 113 w 170"/>
              <a:gd name="T41" fmla="*/ 58 h 168"/>
              <a:gd name="T42" fmla="*/ 122 w 170"/>
              <a:gd name="T43" fmla="*/ 85 h 168"/>
              <a:gd name="T44" fmla="*/ 113 w 170"/>
              <a:gd name="T45" fmla="*/ 58 h 168"/>
              <a:gd name="T46" fmla="*/ 101 w 170"/>
              <a:gd name="T47" fmla="*/ 67 h 168"/>
              <a:gd name="T48" fmla="*/ 109 w 170"/>
              <a:gd name="T49" fmla="*/ 85 h 168"/>
              <a:gd name="T50" fmla="*/ 101 w 170"/>
              <a:gd name="T51" fmla="*/ 67 h 168"/>
              <a:gd name="T52" fmla="*/ 87 w 170"/>
              <a:gd name="T53" fmla="*/ 77 h 168"/>
              <a:gd name="T54" fmla="*/ 95 w 170"/>
              <a:gd name="T55" fmla="*/ 85 h 168"/>
              <a:gd name="T56" fmla="*/ 87 w 170"/>
              <a:gd name="T57" fmla="*/ 77 h 168"/>
              <a:gd name="T58" fmla="*/ 75 w 170"/>
              <a:gd name="T59" fmla="*/ 69 h 168"/>
              <a:gd name="T60" fmla="*/ 83 w 170"/>
              <a:gd name="T61" fmla="*/ 85 h 168"/>
              <a:gd name="T62" fmla="*/ 75 w 170"/>
              <a:gd name="T63" fmla="*/ 69 h 168"/>
              <a:gd name="T64" fmla="*/ 63 w 170"/>
              <a:gd name="T65" fmla="*/ 69 h 168"/>
              <a:gd name="T66" fmla="*/ 71 w 170"/>
              <a:gd name="T67" fmla="*/ 85 h 168"/>
              <a:gd name="T68" fmla="*/ 63 w 170"/>
              <a:gd name="T69" fmla="*/ 69 h 168"/>
              <a:gd name="T70" fmla="*/ 48 w 170"/>
              <a:gd name="T71" fmla="*/ 73 h 168"/>
              <a:gd name="T72" fmla="*/ 56 w 170"/>
              <a:gd name="T73" fmla="*/ 85 h 168"/>
              <a:gd name="T74" fmla="*/ 48 w 170"/>
              <a:gd name="T75" fmla="*/ 73 h 168"/>
              <a:gd name="T76" fmla="*/ 146 w 170"/>
              <a:gd name="T77" fmla="*/ 18 h 168"/>
              <a:gd name="T78" fmla="*/ 24 w 170"/>
              <a:gd name="T79" fmla="*/ 101 h 168"/>
              <a:gd name="T80" fmla="*/ 146 w 170"/>
              <a:gd name="T81" fmla="*/ 18 h 168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w 170"/>
              <a:gd name="T124" fmla="*/ 0 h 168"/>
              <a:gd name="T125" fmla="*/ 170 w 170"/>
              <a:gd name="T126" fmla="*/ 168 h 168"/>
            </a:gdLst>
            <a:ahLst/>
            <a:cxnLst>
              <a:cxn ang="T82">
                <a:pos x="T0" y="T1"/>
              </a:cxn>
              <a:cxn ang="T83">
                <a:pos x="T2" y="T3"/>
              </a:cxn>
              <a:cxn ang="T84">
                <a:pos x="T4" y="T5"/>
              </a:cxn>
              <a:cxn ang="T85">
                <a:pos x="T6" y="T7"/>
              </a:cxn>
              <a:cxn ang="T86">
                <a:pos x="T8" y="T9"/>
              </a:cxn>
              <a:cxn ang="T87">
                <a:pos x="T10" y="T11"/>
              </a:cxn>
              <a:cxn ang="T88">
                <a:pos x="T12" y="T13"/>
              </a:cxn>
              <a:cxn ang="T89">
                <a:pos x="T14" y="T15"/>
              </a:cxn>
              <a:cxn ang="T90">
                <a:pos x="T16" y="T17"/>
              </a:cxn>
              <a:cxn ang="T91">
                <a:pos x="T18" y="T19"/>
              </a:cxn>
              <a:cxn ang="T92">
                <a:pos x="T20" y="T21"/>
              </a:cxn>
              <a:cxn ang="T93">
                <a:pos x="T22" y="T23"/>
              </a:cxn>
              <a:cxn ang="T94">
                <a:pos x="T24" y="T25"/>
              </a:cxn>
              <a:cxn ang="T95">
                <a:pos x="T26" y="T27"/>
              </a:cxn>
              <a:cxn ang="T96">
                <a:pos x="T28" y="T29"/>
              </a:cxn>
              <a:cxn ang="T97">
                <a:pos x="T30" y="T31"/>
              </a:cxn>
              <a:cxn ang="T98">
                <a:pos x="T32" y="T33"/>
              </a:cxn>
              <a:cxn ang="T99">
                <a:pos x="T34" y="T35"/>
              </a:cxn>
              <a:cxn ang="T100">
                <a:pos x="T36" y="T37"/>
              </a:cxn>
              <a:cxn ang="T101">
                <a:pos x="T38" y="T39"/>
              </a:cxn>
              <a:cxn ang="T102">
                <a:pos x="T40" y="T41"/>
              </a:cxn>
              <a:cxn ang="T103">
                <a:pos x="T42" y="T43"/>
              </a:cxn>
              <a:cxn ang="T104">
                <a:pos x="T44" y="T45"/>
              </a:cxn>
              <a:cxn ang="T105">
                <a:pos x="T46" y="T47"/>
              </a:cxn>
              <a:cxn ang="T106">
                <a:pos x="T48" y="T49"/>
              </a:cxn>
              <a:cxn ang="T107">
                <a:pos x="T50" y="T51"/>
              </a:cxn>
              <a:cxn ang="T108">
                <a:pos x="T52" y="T53"/>
              </a:cxn>
              <a:cxn ang="T109">
                <a:pos x="T54" y="T55"/>
              </a:cxn>
              <a:cxn ang="T110">
                <a:pos x="T56" y="T57"/>
              </a:cxn>
              <a:cxn ang="T111">
                <a:pos x="T58" y="T59"/>
              </a:cxn>
              <a:cxn ang="T112">
                <a:pos x="T60" y="T61"/>
              </a:cxn>
              <a:cxn ang="T113">
                <a:pos x="T62" y="T63"/>
              </a:cxn>
              <a:cxn ang="T114">
                <a:pos x="T64" y="T65"/>
              </a:cxn>
              <a:cxn ang="T115">
                <a:pos x="T66" y="T67"/>
              </a:cxn>
              <a:cxn ang="T116">
                <a:pos x="T68" y="T69"/>
              </a:cxn>
              <a:cxn ang="T117">
                <a:pos x="T70" y="T71"/>
              </a:cxn>
              <a:cxn ang="T118">
                <a:pos x="T72" y="T73"/>
              </a:cxn>
              <a:cxn ang="T119">
                <a:pos x="T74" y="T75"/>
              </a:cxn>
              <a:cxn ang="T120">
                <a:pos x="T76" y="T77"/>
              </a:cxn>
              <a:cxn ang="T121">
                <a:pos x="T78" y="T79"/>
              </a:cxn>
              <a:cxn ang="T122">
                <a:pos x="T80" y="T81"/>
              </a:cxn>
            </a:cxnLst>
            <a:rect l="T123" t="T124" r="T125" b="T126"/>
            <a:pathLst>
              <a:path w="170" h="168">
                <a:moveTo>
                  <a:pt x="0" y="0"/>
                </a:moveTo>
                <a:lnTo>
                  <a:pt x="170" y="0"/>
                </a:lnTo>
                <a:lnTo>
                  <a:pt x="170" y="16"/>
                </a:lnTo>
                <a:lnTo>
                  <a:pt x="162" y="16"/>
                </a:lnTo>
                <a:lnTo>
                  <a:pt x="162" y="103"/>
                </a:lnTo>
                <a:lnTo>
                  <a:pt x="170" y="103"/>
                </a:lnTo>
                <a:lnTo>
                  <a:pt x="170" y="119"/>
                </a:lnTo>
                <a:lnTo>
                  <a:pt x="93" y="119"/>
                </a:lnTo>
                <a:lnTo>
                  <a:pt x="93" y="152"/>
                </a:lnTo>
                <a:lnTo>
                  <a:pt x="128" y="152"/>
                </a:lnTo>
                <a:lnTo>
                  <a:pt x="128" y="168"/>
                </a:lnTo>
                <a:lnTo>
                  <a:pt x="42" y="168"/>
                </a:lnTo>
                <a:lnTo>
                  <a:pt x="42" y="152"/>
                </a:lnTo>
                <a:lnTo>
                  <a:pt x="77" y="152"/>
                </a:lnTo>
                <a:lnTo>
                  <a:pt x="77" y="119"/>
                </a:lnTo>
                <a:lnTo>
                  <a:pt x="0" y="119"/>
                </a:lnTo>
                <a:lnTo>
                  <a:pt x="0" y="103"/>
                </a:lnTo>
                <a:lnTo>
                  <a:pt x="6" y="103"/>
                </a:lnTo>
                <a:lnTo>
                  <a:pt x="6" y="16"/>
                </a:lnTo>
                <a:lnTo>
                  <a:pt x="0" y="16"/>
                </a:lnTo>
                <a:lnTo>
                  <a:pt x="0" y="0"/>
                </a:lnTo>
                <a:lnTo>
                  <a:pt x="0" y="0"/>
                </a:lnTo>
                <a:close/>
                <a:moveTo>
                  <a:pt x="128" y="40"/>
                </a:moveTo>
                <a:lnTo>
                  <a:pt x="122" y="40"/>
                </a:lnTo>
                <a:lnTo>
                  <a:pt x="113" y="40"/>
                </a:lnTo>
                <a:lnTo>
                  <a:pt x="115" y="44"/>
                </a:lnTo>
                <a:lnTo>
                  <a:pt x="87" y="61"/>
                </a:lnTo>
                <a:lnTo>
                  <a:pt x="75" y="52"/>
                </a:lnTo>
                <a:lnTo>
                  <a:pt x="75" y="50"/>
                </a:lnTo>
                <a:lnTo>
                  <a:pt x="73" y="50"/>
                </a:lnTo>
                <a:lnTo>
                  <a:pt x="48" y="61"/>
                </a:lnTo>
                <a:lnTo>
                  <a:pt x="50" y="67"/>
                </a:lnTo>
                <a:lnTo>
                  <a:pt x="73" y="56"/>
                </a:lnTo>
                <a:lnTo>
                  <a:pt x="85" y="65"/>
                </a:lnTo>
                <a:lnTo>
                  <a:pt x="87" y="67"/>
                </a:lnTo>
                <a:lnTo>
                  <a:pt x="89" y="67"/>
                </a:lnTo>
                <a:lnTo>
                  <a:pt x="117" y="48"/>
                </a:lnTo>
                <a:lnTo>
                  <a:pt x="120" y="52"/>
                </a:lnTo>
                <a:lnTo>
                  <a:pt x="124" y="46"/>
                </a:lnTo>
                <a:lnTo>
                  <a:pt x="128" y="40"/>
                </a:lnTo>
                <a:lnTo>
                  <a:pt x="128" y="40"/>
                </a:lnTo>
                <a:close/>
                <a:moveTo>
                  <a:pt x="113" y="58"/>
                </a:moveTo>
                <a:lnTo>
                  <a:pt x="113" y="85"/>
                </a:lnTo>
                <a:lnTo>
                  <a:pt x="122" y="85"/>
                </a:lnTo>
                <a:lnTo>
                  <a:pt x="122" y="58"/>
                </a:lnTo>
                <a:lnTo>
                  <a:pt x="113" y="58"/>
                </a:lnTo>
                <a:lnTo>
                  <a:pt x="113" y="58"/>
                </a:lnTo>
                <a:close/>
                <a:moveTo>
                  <a:pt x="101" y="67"/>
                </a:moveTo>
                <a:lnTo>
                  <a:pt x="101" y="85"/>
                </a:lnTo>
                <a:lnTo>
                  <a:pt x="109" y="85"/>
                </a:lnTo>
                <a:lnTo>
                  <a:pt x="109" y="67"/>
                </a:lnTo>
                <a:lnTo>
                  <a:pt x="101" y="67"/>
                </a:lnTo>
                <a:lnTo>
                  <a:pt x="101" y="67"/>
                </a:lnTo>
                <a:close/>
                <a:moveTo>
                  <a:pt x="87" y="77"/>
                </a:moveTo>
                <a:lnTo>
                  <a:pt x="87" y="85"/>
                </a:lnTo>
                <a:lnTo>
                  <a:pt x="95" y="85"/>
                </a:lnTo>
                <a:lnTo>
                  <a:pt x="95" y="77"/>
                </a:lnTo>
                <a:lnTo>
                  <a:pt x="87" y="77"/>
                </a:lnTo>
                <a:lnTo>
                  <a:pt x="87" y="77"/>
                </a:lnTo>
                <a:close/>
                <a:moveTo>
                  <a:pt x="75" y="69"/>
                </a:moveTo>
                <a:lnTo>
                  <a:pt x="75" y="85"/>
                </a:lnTo>
                <a:lnTo>
                  <a:pt x="83" y="85"/>
                </a:lnTo>
                <a:lnTo>
                  <a:pt x="83" y="69"/>
                </a:lnTo>
                <a:lnTo>
                  <a:pt x="75" y="69"/>
                </a:lnTo>
                <a:lnTo>
                  <a:pt x="75" y="69"/>
                </a:lnTo>
                <a:close/>
                <a:moveTo>
                  <a:pt x="63" y="69"/>
                </a:moveTo>
                <a:lnTo>
                  <a:pt x="63" y="85"/>
                </a:lnTo>
                <a:lnTo>
                  <a:pt x="71" y="85"/>
                </a:lnTo>
                <a:lnTo>
                  <a:pt x="71" y="69"/>
                </a:lnTo>
                <a:lnTo>
                  <a:pt x="63" y="69"/>
                </a:lnTo>
                <a:lnTo>
                  <a:pt x="63" y="69"/>
                </a:lnTo>
                <a:close/>
                <a:moveTo>
                  <a:pt x="48" y="73"/>
                </a:moveTo>
                <a:lnTo>
                  <a:pt x="48" y="85"/>
                </a:lnTo>
                <a:lnTo>
                  <a:pt x="56" y="85"/>
                </a:lnTo>
                <a:lnTo>
                  <a:pt x="56" y="73"/>
                </a:lnTo>
                <a:lnTo>
                  <a:pt x="48" y="73"/>
                </a:lnTo>
                <a:lnTo>
                  <a:pt x="48" y="73"/>
                </a:lnTo>
                <a:close/>
                <a:moveTo>
                  <a:pt x="146" y="18"/>
                </a:moveTo>
                <a:lnTo>
                  <a:pt x="24" y="18"/>
                </a:lnTo>
                <a:lnTo>
                  <a:pt x="24" y="101"/>
                </a:lnTo>
                <a:lnTo>
                  <a:pt x="146" y="101"/>
                </a:lnTo>
                <a:lnTo>
                  <a:pt x="146" y="18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zh-CN" sz="1800" b="0" i="0" u="none" strike="noStrike" kern="1200" cap="none" spc="0" normalizeH="0" baseline="0" noProof="0">
              <a:ln>
                <a:noFill/>
              </a:ln>
              <a:solidFill>
                <a:srgbClr val="404040"/>
              </a:solidFill>
              <a:effectLst/>
              <a:uLnTx/>
              <a:uFillTx/>
              <a:latin typeface="Calibri" panose="020F0502020204030204" pitchFamily="34" charset="0"/>
              <a:ea typeface="微软雅黑" panose="020B0503020204020204" pitchFamily="34" charset="-122"/>
              <a:cs typeface="+mn-cs"/>
              <a:sym typeface="宋体" panose="02010600030101010101" pitchFamily="2" charset="-122"/>
            </a:endParaRPr>
          </a:p>
        </p:txBody>
      </p:sp>
      <p:sp>
        <p:nvSpPr>
          <p:cNvPr id="31" name="Freeform 9"/>
          <p:cNvSpPr>
            <a:spLocks noChangeAspect="1" noEditPoints="1" noChangeArrowheads="1"/>
          </p:cNvSpPr>
          <p:nvPr/>
        </p:nvSpPr>
        <p:spPr bwMode="auto">
          <a:xfrm>
            <a:off x="9150738" y="4205437"/>
            <a:ext cx="361886" cy="333007"/>
          </a:xfrm>
          <a:custGeom>
            <a:avLst/>
            <a:gdLst>
              <a:gd name="T0" fmla="*/ 141 w 181"/>
              <a:gd name="T1" fmla="*/ 0 h 165"/>
              <a:gd name="T2" fmla="*/ 149 w 181"/>
              <a:gd name="T3" fmla="*/ 8 h 165"/>
              <a:gd name="T4" fmla="*/ 134 w 181"/>
              <a:gd name="T5" fmla="*/ 47 h 165"/>
              <a:gd name="T6" fmla="*/ 33 w 181"/>
              <a:gd name="T7" fmla="*/ 14 h 165"/>
              <a:gd name="T8" fmla="*/ 39 w 181"/>
              <a:gd name="T9" fmla="*/ 20 h 165"/>
              <a:gd name="T10" fmla="*/ 51 w 181"/>
              <a:gd name="T11" fmla="*/ 31 h 165"/>
              <a:gd name="T12" fmla="*/ 33 w 181"/>
              <a:gd name="T13" fmla="*/ 39 h 165"/>
              <a:gd name="T14" fmla="*/ 39 w 181"/>
              <a:gd name="T15" fmla="*/ 45 h 165"/>
              <a:gd name="T16" fmla="*/ 51 w 181"/>
              <a:gd name="T17" fmla="*/ 55 h 165"/>
              <a:gd name="T18" fmla="*/ 33 w 181"/>
              <a:gd name="T19" fmla="*/ 63 h 165"/>
              <a:gd name="T20" fmla="*/ 39 w 181"/>
              <a:gd name="T21" fmla="*/ 67 h 165"/>
              <a:gd name="T22" fmla="*/ 51 w 181"/>
              <a:gd name="T23" fmla="*/ 77 h 165"/>
              <a:gd name="T24" fmla="*/ 33 w 181"/>
              <a:gd name="T25" fmla="*/ 86 h 165"/>
              <a:gd name="T26" fmla="*/ 39 w 181"/>
              <a:gd name="T27" fmla="*/ 90 h 165"/>
              <a:gd name="T28" fmla="*/ 51 w 181"/>
              <a:gd name="T29" fmla="*/ 100 h 165"/>
              <a:gd name="T30" fmla="*/ 33 w 181"/>
              <a:gd name="T31" fmla="*/ 110 h 165"/>
              <a:gd name="T32" fmla="*/ 39 w 181"/>
              <a:gd name="T33" fmla="*/ 116 h 165"/>
              <a:gd name="T34" fmla="*/ 51 w 181"/>
              <a:gd name="T35" fmla="*/ 126 h 165"/>
              <a:gd name="T36" fmla="*/ 33 w 181"/>
              <a:gd name="T37" fmla="*/ 134 h 165"/>
              <a:gd name="T38" fmla="*/ 33 w 181"/>
              <a:gd name="T39" fmla="*/ 151 h 165"/>
              <a:gd name="T40" fmla="*/ 134 w 181"/>
              <a:gd name="T41" fmla="*/ 118 h 165"/>
              <a:gd name="T42" fmla="*/ 149 w 181"/>
              <a:gd name="T43" fmla="*/ 157 h 165"/>
              <a:gd name="T44" fmla="*/ 141 w 181"/>
              <a:gd name="T45" fmla="*/ 165 h 165"/>
              <a:gd name="T46" fmla="*/ 19 w 181"/>
              <a:gd name="T47" fmla="*/ 165 h 165"/>
              <a:gd name="T48" fmla="*/ 19 w 181"/>
              <a:gd name="T49" fmla="*/ 146 h 165"/>
              <a:gd name="T50" fmla="*/ 0 w 181"/>
              <a:gd name="T51" fmla="*/ 132 h 165"/>
              <a:gd name="T52" fmla="*/ 19 w 181"/>
              <a:gd name="T53" fmla="*/ 120 h 165"/>
              <a:gd name="T54" fmla="*/ 0 w 181"/>
              <a:gd name="T55" fmla="*/ 108 h 165"/>
              <a:gd name="T56" fmla="*/ 19 w 181"/>
              <a:gd name="T57" fmla="*/ 98 h 165"/>
              <a:gd name="T58" fmla="*/ 0 w 181"/>
              <a:gd name="T59" fmla="*/ 83 h 165"/>
              <a:gd name="T60" fmla="*/ 19 w 181"/>
              <a:gd name="T61" fmla="*/ 75 h 165"/>
              <a:gd name="T62" fmla="*/ 0 w 181"/>
              <a:gd name="T63" fmla="*/ 61 h 165"/>
              <a:gd name="T64" fmla="*/ 19 w 181"/>
              <a:gd name="T65" fmla="*/ 51 h 165"/>
              <a:gd name="T66" fmla="*/ 0 w 181"/>
              <a:gd name="T67" fmla="*/ 39 h 165"/>
              <a:gd name="T68" fmla="*/ 19 w 181"/>
              <a:gd name="T69" fmla="*/ 8 h 165"/>
              <a:gd name="T70" fmla="*/ 27 w 181"/>
              <a:gd name="T71" fmla="*/ 0 h 165"/>
              <a:gd name="T72" fmla="*/ 63 w 181"/>
              <a:gd name="T73" fmla="*/ 79 h 165"/>
              <a:gd name="T74" fmla="*/ 84 w 181"/>
              <a:gd name="T75" fmla="*/ 88 h 165"/>
              <a:gd name="T76" fmla="*/ 63 w 181"/>
              <a:gd name="T77" fmla="*/ 79 h 165"/>
              <a:gd name="T78" fmla="*/ 63 w 181"/>
              <a:gd name="T79" fmla="*/ 61 h 165"/>
              <a:gd name="T80" fmla="*/ 100 w 181"/>
              <a:gd name="T81" fmla="*/ 69 h 165"/>
              <a:gd name="T82" fmla="*/ 63 w 181"/>
              <a:gd name="T83" fmla="*/ 61 h 165"/>
              <a:gd name="T84" fmla="*/ 63 w 181"/>
              <a:gd name="T85" fmla="*/ 45 h 165"/>
              <a:gd name="T86" fmla="*/ 116 w 181"/>
              <a:gd name="T87" fmla="*/ 53 h 165"/>
              <a:gd name="T88" fmla="*/ 63 w 181"/>
              <a:gd name="T89" fmla="*/ 45 h 165"/>
              <a:gd name="T90" fmla="*/ 63 w 181"/>
              <a:gd name="T91" fmla="*/ 29 h 165"/>
              <a:gd name="T92" fmla="*/ 116 w 181"/>
              <a:gd name="T93" fmla="*/ 35 h 165"/>
              <a:gd name="T94" fmla="*/ 63 w 181"/>
              <a:gd name="T95" fmla="*/ 29 h 165"/>
              <a:gd name="T96" fmla="*/ 84 w 181"/>
              <a:gd name="T97" fmla="*/ 130 h 165"/>
              <a:gd name="T98" fmla="*/ 106 w 181"/>
              <a:gd name="T99" fmla="*/ 130 h 165"/>
              <a:gd name="T100" fmla="*/ 86 w 181"/>
              <a:gd name="T101" fmla="*/ 108 h 165"/>
              <a:gd name="T102" fmla="*/ 84 w 181"/>
              <a:gd name="T103" fmla="*/ 130 h 165"/>
              <a:gd name="T104" fmla="*/ 161 w 181"/>
              <a:gd name="T105" fmla="*/ 37 h 165"/>
              <a:gd name="T106" fmla="*/ 116 w 181"/>
              <a:gd name="T107" fmla="*/ 120 h 165"/>
              <a:gd name="T108" fmla="*/ 161 w 181"/>
              <a:gd name="T109" fmla="*/ 37 h 165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60000 65536"/>
              <a:gd name="T157" fmla="*/ 0 60000 65536"/>
              <a:gd name="T158" fmla="*/ 0 60000 65536"/>
              <a:gd name="T159" fmla="*/ 0 60000 65536"/>
              <a:gd name="T160" fmla="*/ 0 60000 65536"/>
              <a:gd name="T161" fmla="*/ 0 60000 65536"/>
              <a:gd name="T162" fmla="*/ 0 60000 65536"/>
              <a:gd name="T163" fmla="*/ 0 60000 65536"/>
              <a:gd name="T164" fmla="*/ 0 60000 65536"/>
              <a:gd name="T165" fmla="*/ 0 w 181"/>
              <a:gd name="T166" fmla="*/ 0 h 165"/>
              <a:gd name="T167" fmla="*/ 181 w 181"/>
              <a:gd name="T168" fmla="*/ 165 h 165"/>
            </a:gdLst>
            <a:ahLst/>
            <a:cxnLst>
              <a:cxn ang="T110">
                <a:pos x="T0" y="T1"/>
              </a:cxn>
              <a:cxn ang="T111">
                <a:pos x="T2" y="T3"/>
              </a:cxn>
              <a:cxn ang="T112">
                <a:pos x="T4" y="T5"/>
              </a:cxn>
              <a:cxn ang="T113">
                <a:pos x="T6" y="T7"/>
              </a:cxn>
              <a:cxn ang="T114">
                <a:pos x="T8" y="T9"/>
              </a:cxn>
              <a:cxn ang="T115">
                <a:pos x="T10" y="T11"/>
              </a:cxn>
              <a:cxn ang="T116">
                <a:pos x="T12" y="T13"/>
              </a:cxn>
              <a:cxn ang="T117">
                <a:pos x="T14" y="T15"/>
              </a:cxn>
              <a:cxn ang="T118">
                <a:pos x="T16" y="T17"/>
              </a:cxn>
              <a:cxn ang="T119">
                <a:pos x="T18" y="T19"/>
              </a:cxn>
              <a:cxn ang="T120">
                <a:pos x="T20" y="T21"/>
              </a:cxn>
              <a:cxn ang="T121">
                <a:pos x="T22" y="T23"/>
              </a:cxn>
              <a:cxn ang="T122">
                <a:pos x="T24" y="T25"/>
              </a:cxn>
              <a:cxn ang="T123">
                <a:pos x="T26" y="T27"/>
              </a:cxn>
              <a:cxn ang="T124">
                <a:pos x="T28" y="T29"/>
              </a:cxn>
              <a:cxn ang="T125">
                <a:pos x="T30" y="T31"/>
              </a:cxn>
              <a:cxn ang="T126">
                <a:pos x="T32" y="T33"/>
              </a:cxn>
              <a:cxn ang="T127">
                <a:pos x="T34" y="T35"/>
              </a:cxn>
              <a:cxn ang="T128">
                <a:pos x="T36" y="T37"/>
              </a:cxn>
              <a:cxn ang="T129">
                <a:pos x="T38" y="T39"/>
              </a:cxn>
              <a:cxn ang="T130">
                <a:pos x="T40" y="T41"/>
              </a:cxn>
              <a:cxn ang="T131">
                <a:pos x="T42" y="T43"/>
              </a:cxn>
              <a:cxn ang="T132">
                <a:pos x="T44" y="T45"/>
              </a:cxn>
              <a:cxn ang="T133">
                <a:pos x="T46" y="T47"/>
              </a:cxn>
              <a:cxn ang="T134">
                <a:pos x="T48" y="T49"/>
              </a:cxn>
              <a:cxn ang="T135">
                <a:pos x="T50" y="T51"/>
              </a:cxn>
              <a:cxn ang="T136">
                <a:pos x="T52" y="T53"/>
              </a:cxn>
              <a:cxn ang="T137">
                <a:pos x="T54" y="T55"/>
              </a:cxn>
              <a:cxn ang="T138">
                <a:pos x="T56" y="T57"/>
              </a:cxn>
              <a:cxn ang="T139">
                <a:pos x="T58" y="T59"/>
              </a:cxn>
              <a:cxn ang="T140">
                <a:pos x="T60" y="T61"/>
              </a:cxn>
              <a:cxn ang="T141">
                <a:pos x="T62" y="T63"/>
              </a:cxn>
              <a:cxn ang="T142">
                <a:pos x="T64" y="T65"/>
              </a:cxn>
              <a:cxn ang="T143">
                <a:pos x="T66" y="T67"/>
              </a:cxn>
              <a:cxn ang="T144">
                <a:pos x="T68" y="T69"/>
              </a:cxn>
              <a:cxn ang="T145">
                <a:pos x="T70" y="T71"/>
              </a:cxn>
              <a:cxn ang="T146">
                <a:pos x="T72" y="T73"/>
              </a:cxn>
              <a:cxn ang="T147">
                <a:pos x="T74" y="T75"/>
              </a:cxn>
              <a:cxn ang="T148">
                <a:pos x="T76" y="T77"/>
              </a:cxn>
              <a:cxn ang="T149">
                <a:pos x="T78" y="T79"/>
              </a:cxn>
              <a:cxn ang="T150">
                <a:pos x="T80" y="T81"/>
              </a:cxn>
              <a:cxn ang="T151">
                <a:pos x="T82" y="T83"/>
              </a:cxn>
              <a:cxn ang="T152">
                <a:pos x="T84" y="T85"/>
              </a:cxn>
              <a:cxn ang="T153">
                <a:pos x="T86" y="T87"/>
              </a:cxn>
              <a:cxn ang="T154">
                <a:pos x="T88" y="T89"/>
              </a:cxn>
              <a:cxn ang="T155">
                <a:pos x="T90" y="T91"/>
              </a:cxn>
              <a:cxn ang="T156">
                <a:pos x="T92" y="T93"/>
              </a:cxn>
              <a:cxn ang="T157">
                <a:pos x="T94" y="T95"/>
              </a:cxn>
              <a:cxn ang="T158">
                <a:pos x="T96" y="T97"/>
              </a:cxn>
              <a:cxn ang="T159">
                <a:pos x="T98" y="T99"/>
              </a:cxn>
              <a:cxn ang="T160">
                <a:pos x="T100" y="T101"/>
              </a:cxn>
              <a:cxn ang="T161">
                <a:pos x="T102" y="T103"/>
              </a:cxn>
              <a:cxn ang="T162">
                <a:pos x="T104" y="T105"/>
              </a:cxn>
              <a:cxn ang="T163">
                <a:pos x="T106" y="T107"/>
              </a:cxn>
              <a:cxn ang="T164">
                <a:pos x="T108" y="T109"/>
              </a:cxn>
            </a:cxnLst>
            <a:rect l="T165" t="T166" r="T167" b="T168"/>
            <a:pathLst>
              <a:path w="181" h="165">
                <a:moveTo>
                  <a:pt x="27" y="0"/>
                </a:moveTo>
                <a:lnTo>
                  <a:pt x="141" y="0"/>
                </a:lnTo>
                <a:lnTo>
                  <a:pt x="149" y="0"/>
                </a:lnTo>
                <a:lnTo>
                  <a:pt x="149" y="8"/>
                </a:lnTo>
                <a:lnTo>
                  <a:pt x="149" y="35"/>
                </a:lnTo>
                <a:lnTo>
                  <a:pt x="134" y="47"/>
                </a:lnTo>
                <a:lnTo>
                  <a:pt x="134" y="14"/>
                </a:lnTo>
                <a:lnTo>
                  <a:pt x="33" y="14"/>
                </a:lnTo>
                <a:lnTo>
                  <a:pt x="33" y="25"/>
                </a:lnTo>
                <a:lnTo>
                  <a:pt x="39" y="20"/>
                </a:lnTo>
                <a:lnTo>
                  <a:pt x="47" y="18"/>
                </a:lnTo>
                <a:lnTo>
                  <a:pt x="51" y="31"/>
                </a:lnTo>
                <a:lnTo>
                  <a:pt x="45" y="35"/>
                </a:lnTo>
                <a:lnTo>
                  <a:pt x="33" y="39"/>
                </a:lnTo>
                <a:lnTo>
                  <a:pt x="33" y="47"/>
                </a:lnTo>
                <a:lnTo>
                  <a:pt x="39" y="45"/>
                </a:lnTo>
                <a:lnTo>
                  <a:pt x="47" y="41"/>
                </a:lnTo>
                <a:lnTo>
                  <a:pt x="51" y="55"/>
                </a:lnTo>
                <a:lnTo>
                  <a:pt x="45" y="57"/>
                </a:lnTo>
                <a:lnTo>
                  <a:pt x="33" y="63"/>
                </a:lnTo>
                <a:lnTo>
                  <a:pt x="33" y="71"/>
                </a:lnTo>
                <a:lnTo>
                  <a:pt x="39" y="67"/>
                </a:lnTo>
                <a:lnTo>
                  <a:pt x="47" y="65"/>
                </a:lnTo>
                <a:lnTo>
                  <a:pt x="51" y="77"/>
                </a:lnTo>
                <a:lnTo>
                  <a:pt x="45" y="81"/>
                </a:lnTo>
                <a:lnTo>
                  <a:pt x="33" y="86"/>
                </a:lnTo>
                <a:lnTo>
                  <a:pt x="33" y="94"/>
                </a:lnTo>
                <a:lnTo>
                  <a:pt x="39" y="90"/>
                </a:lnTo>
                <a:lnTo>
                  <a:pt x="47" y="88"/>
                </a:lnTo>
                <a:lnTo>
                  <a:pt x="51" y="100"/>
                </a:lnTo>
                <a:lnTo>
                  <a:pt x="45" y="104"/>
                </a:lnTo>
                <a:lnTo>
                  <a:pt x="33" y="110"/>
                </a:lnTo>
                <a:lnTo>
                  <a:pt x="33" y="118"/>
                </a:lnTo>
                <a:lnTo>
                  <a:pt x="39" y="116"/>
                </a:lnTo>
                <a:lnTo>
                  <a:pt x="47" y="112"/>
                </a:lnTo>
                <a:lnTo>
                  <a:pt x="51" y="126"/>
                </a:lnTo>
                <a:lnTo>
                  <a:pt x="45" y="128"/>
                </a:lnTo>
                <a:lnTo>
                  <a:pt x="33" y="134"/>
                </a:lnTo>
                <a:lnTo>
                  <a:pt x="33" y="146"/>
                </a:lnTo>
                <a:lnTo>
                  <a:pt x="33" y="151"/>
                </a:lnTo>
                <a:lnTo>
                  <a:pt x="134" y="151"/>
                </a:lnTo>
                <a:lnTo>
                  <a:pt x="134" y="118"/>
                </a:lnTo>
                <a:lnTo>
                  <a:pt x="149" y="106"/>
                </a:lnTo>
                <a:lnTo>
                  <a:pt x="149" y="157"/>
                </a:lnTo>
                <a:lnTo>
                  <a:pt x="149" y="165"/>
                </a:lnTo>
                <a:lnTo>
                  <a:pt x="141" y="165"/>
                </a:lnTo>
                <a:lnTo>
                  <a:pt x="27" y="165"/>
                </a:lnTo>
                <a:lnTo>
                  <a:pt x="19" y="165"/>
                </a:lnTo>
                <a:lnTo>
                  <a:pt x="19" y="157"/>
                </a:lnTo>
                <a:lnTo>
                  <a:pt x="19" y="146"/>
                </a:lnTo>
                <a:lnTo>
                  <a:pt x="4" y="146"/>
                </a:lnTo>
                <a:lnTo>
                  <a:pt x="0" y="132"/>
                </a:lnTo>
                <a:lnTo>
                  <a:pt x="19" y="124"/>
                </a:lnTo>
                <a:lnTo>
                  <a:pt x="19" y="120"/>
                </a:lnTo>
                <a:lnTo>
                  <a:pt x="4" y="120"/>
                </a:lnTo>
                <a:lnTo>
                  <a:pt x="0" y="108"/>
                </a:lnTo>
                <a:lnTo>
                  <a:pt x="19" y="100"/>
                </a:lnTo>
                <a:lnTo>
                  <a:pt x="19" y="98"/>
                </a:lnTo>
                <a:lnTo>
                  <a:pt x="4" y="98"/>
                </a:lnTo>
                <a:lnTo>
                  <a:pt x="0" y="83"/>
                </a:lnTo>
                <a:lnTo>
                  <a:pt x="19" y="77"/>
                </a:lnTo>
                <a:lnTo>
                  <a:pt x="19" y="75"/>
                </a:lnTo>
                <a:lnTo>
                  <a:pt x="4" y="75"/>
                </a:lnTo>
                <a:lnTo>
                  <a:pt x="0" y="61"/>
                </a:lnTo>
                <a:lnTo>
                  <a:pt x="19" y="53"/>
                </a:lnTo>
                <a:lnTo>
                  <a:pt x="19" y="51"/>
                </a:lnTo>
                <a:lnTo>
                  <a:pt x="4" y="51"/>
                </a:lnTo>
                <a:lnTo>
                  <a:pt x="0" y="39"/>
                </a:lnTo>
                <a:lnTo>
                  <a:pt x="19" y="31"/>
                </a:lnTo>
                <a:lnTo>
                  <a:pt x="19" y="8"/>
                </a:lnTo>
                <a:lnTo>
                  <a:pt x="19" y="0"/>
                </a:lnTo>
                <a:lnTo>
                  <a:pt x="27" y="0"/>
                </a:lnTo>
                <a:lnTo>
                  <a:pt x="27" y="0"/>
                </a:lnTo>
                <a:close/>
                <a:moveTo>
                  <a:pt x="63" y="79"/>
                </a:moveTo>
                <a:lnTo>
                  <a:pt x="63" y="88"/>
                </a:lnTo>
                <a:lnTo>
                  <a:pt x="84" y="88"/>
                </a:lnTo>
                <a:lnTo>
                  <a:pt x="84" y="79"/>
                </a:lnTo>
                <a:lnTo>
                  <a:pt x="63" y="79"/>
                </a:lnTo>
                <a:lnTo>
                  <a:pt x="63" y="79"/>
                </a:lnTo>
                <a:close/>
                <a:moveTo>
                  <a:pt x="63" y="61"/>
                </a:moveTo>
                <a:lnTo>
                  <a:pt x="63" y="69"/>
                </a:lnTo>
                <a:lnTo>
                  <a:pt x="100" y="69"/>
                </a:lnTo>
                <a:lnTo>
                  <a:pt x="100" y="61"/>
                </a:lnTo>
                <a:lnTo>
                  <a:pt x="63" y="61"/>
                </a:lnTo>
                <a:lnTo>
                  <a:pt x="63" y="61"/>
                </a:lnTo>
                <a:close/>
                <a:moveTo>
                  <a:pt x="63" y="45"/>
                </a:moveTo>
                <a:lnTo>
                  <a:pt x="63" y="53"/>
                </a:lnTo>
                <a:lnTo>
                  <a:pt x="116" y="53"/>
                </a:lnTo>
                <a:lnTo>
                  <a:pt x="116" y="45"/>
                </a:lnTo>
                <a:lnTo>
                  <a:pt x="63" y="45"/>
                </a:lnTo>
                <a:lnTo>
                  <a:pt x="63" y="45"/>
                </a:lnTo>
                <a:close/>
                <a:moveTo>
                  <a:pt x="63" y="29"/>
                </a:moveTo>
                <a:lnTo>
                  <a:pt x="63" y="35"/>
                </a:lnTo>
                <a:lnTo>
                  <a:pt x="116" y="35"/>
                </a:lnTo>
                <a:lnTo>
                  <a:pt x="116" y="29"/>
                </a:lnTo>
                <a:lnTo>
                  <a:pt x="63" y="29"/>
                </a:lnTo>
                <a:lnTo>
                  <a:pt x="63" y="29"/>
                </a:lnTo>
                <a:close/>
                <a:moveTo>
                  <a:pt x="84" y="130"/>
                </a:moveTo>
                <a:lnTo>
                  <a:pt x="96" y="130"/>
                </a:lnTo>
                <a:lnTo>
                  <a:pt x="106" y="130"/>
                </a:lnTo>
                <a:lnTo>
                  <a:pt x="96" y="118"/>
                </a:lnTo>
                <a:lnTo>
                  <a:pt x="86" y="108"/>
                </a:lnTo>
                <a:lnTo>
                  <a:pt x="86" y="120"/>
                </a:lnTo>
                <a:lnTo>
                  <a:pt x="84" y="130"/>
                </a:lnTo>
                <a:lnTo>
                  <a:pt x="84" y="130"/>
                </a:lnTo>
                <a:close/>
                <a:moveTo>
                  <a:pt x="161" y="37"/>
                </a:moveTo>
                <a:lnTo>
                  <a:pt x="96" y="100"/>
                </a:lnTo>
                <a:lnTo>
                  <a:pt x="116" y="120"/>
                </a:lnTo>
                <a:lnTo>
                  <a:pt x="181" y="57"/>
                </a:lnTo>
                <a:lnTo>
                  <a:pt x="161" y="37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zh-CN" sz="1800" b="0" i="0" u="none" strike="noStrike" kern="1200" cap="none" spc="0" normalizeH="0" baseline="0" noProof="0">
              <a:ln>
                <a:noFill/>
              </a:ln>
              <a:solidFill>
                <a:srgbClr val="404040"/>
              </a:solidFill>
              <a:effectLst/>
              <a:uLnTx/>
              <a:uFillTx/>
              <a:latin typeface="Calibri" panose="020F0502020204030204" pitchFamily="34" charset="0"/>
              <a:ea typeface="微软雅黑" panose="020B0503020204020204" pitchFamily="34" charset="-122"/>
              <a:cs typeface="+mn-cs"/>
              <a:sym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362737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theme/theme1.xml><?xml version="1.0" encoding="utf-8"?>
<a:theme xmlns:a="http://schemas.openxmlformats.org/drawingml/2006/main" name="夏雨家 https://xnwe.taobao.com/">
  <a:themeElements>
    <a:clrScheme name="MC-欧美风主题色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268F9C"/>
      </a:accent1>
      <a:accent2>
        <a:srgbClr val="2A566E"/>
      </a:accent2>
      <a:accent3>
        <a:srgbClr val="D71D49"/>
      </a:accent3>
      <a:accent4>
        <a:srgbClr val="268F9C"/>
      </a:accent4>
      <a:accent5>
        <a:srgbClr val="2A566E"/>
      </a:accent5>
      <a:accent6>
        <a:srgbClr val="D71D49"/>
      </a:accent6>
      <a:hlink>
        <a:srgbClr val="0563C1"/>
      </a:hlink>
      <a:folHlink>
        <a:srgbClr val="954F72"/>
      </a:folHlink>
    </a:clrScheme>
    <a:fontScheme name="Arial+微软雅黑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none" rtlCol="0" anchor="ctr">
        <a:spAutoFit/>
      </a:bodyPr>
      <a:lstStyle>
        <a:defPPr>
          <a:lnSpc>
            <a:spcPct val="120000"/>
          </a:lnSpc>
          <a:defRPr dirty="0" smtClean="0">
            <a:solidFill>
              <a:schemeClr val="tx1">
                <a:lumMod val="75000"/>
                <a:lumOff val="25000"/>
              </a:schemeClr>
            </a:soli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10390</TotalTime>
  <Words>539</Words>
  <Application>Microsoft Office PowerPoint</Application>
  <PresentationFormat>宽屏</PresentationFormat>
  <Paragraphs>89</Paragraphs>
  <Slides>10</Slides>
  <Notes>10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0" baseType="lpstr">
      <vt:lpstr>-apple-system</vt:lpstr>
      <vt:lpstr>等线</vt:lpstr>
      <vt:lpstr>微软雅黑</vt:lpstr>
      <vt:lpstr>Arial</vt:lpstr>
      <vt:lpstr>Calibri</vt:lpstr>
      <vt:lpstr>Cambria Math</vt:lpstr>
      <vt:lpstr>Lato</vt:lpstr>
      <vt:lpstr>Times New Roman</vt:lpstr>
      <vt:lpstr>Wingdings</vt:lpstr>
      <vt:lpstr>夏雨家 https://xnwe.taobao.com/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盈钢 邱</dc:creator>
  <cp:lastModifiedBy>盈钢 邱</cp:lastModifiedBy>
  <cp:revision>474</cp:revision>
  <dcterms:created xsi:type="dcterms:W3CDTF">2024-11-06T01:21:23Z</dcterms:created>
  <dcterms:modified xsi:type="dcterms:W3CDTF">2026-03-15T07:40:12Z</dcterms:modified>
</cp:coreProperties>
</file>