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3"/>
  </p:notesMasterIdLst>
  <p:handoutMasterIdLst>
    <p:handoutMasterId r:id="rId24"/>
  </p:handoutMasterIdLst>
  <p:sldIdLst>
    <p:sldId id="325" r:id="rId2"/>
    <p:sldId id="257" r:id="rId3"/>
    <p:sldId id="397" r:id="rId4"/>
    <p:sldId id="398" r:id="rId5"/>
    <p:sldId id="399" r:id="rId6"/>
    <p:sldId id="400" r:id="rId7"/>
    <p:sldId id="376" r:id="rId8"/>
    <p:sldId id="401" r:id="rId9"/>
    <p:sldId id="402" r:id="rId10"/>
    <p:sldId id="403" r:id="rId11"/>
    <p:sldId id="404" r:id="rId12"/>
    <p:sldId id="405" r:id="rId13"/>
    <p:sldId id="406" r:id="rId14"/>
    <p:sldId id="407" r:id="rId15"/>
    <p:sldId id="408" r:id="rId16"/>
    <p:sldId id="409" r:id="rId17"/>
    <p:sldId id="410" r:id="rId18"/>
    <p:sldId id="411" r:id="rId19"/>
    <p:sldId id="412" r:id="rId20"/>
    <p:sldId id="413" r:id="rId21"/>
    <p:sldId id="36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3EF657-181C-4883-9D5A-AB9F1355040F}">
          <p14:sldIdLst>
            <p14:sldId id="325"/>
            <p14:sldId id="257"/>
            <p14:sldId id="397"/>
            <p14:sldId id="398"/>
            <p14:sldId id="399"/>
            <p14:sldId id="400"/>
            <p14:sldId id="376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</p14:sldIdLst>
        </p14:section>
        <p14:section name="无标题节" id="{08A5B0D2-3CA2-424B-B4F8-10C774DBABE9}">
          <p14:sldIdLst>
            <p14:sldId id="409"/>
            <p14:sldId id="410"/>
            <p14:sldId id="411"/>
            <p14:sldId id="412"/>
            <p14:sldId id="413"/>
            <p14:sldId id="3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1D49"/>
    <a:srgbClr val="00B0F0"/>
    <a:srgbClr val="F2F2F2"/>
    <a:srgbClr val="FFC000"/>
    <a:srgbClr val="1AE43C"/>
    <a:srgbClr val="3333FF"/>
    <a:srgbClr val="268F9C"/>
    <a:srgbClr val="FFFFFF"/>
    <a:srgbClr val="F84AEC"/>
    <a:srgbClr val="FD0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0" autoAdjust="0"/>
    <p:restoredTop sz="79082" autoAdjust="0"/>
  </p:normalViewPr>
  <p:slideViewPr>
    <p:cSldViewPr snapToGrid="0">
      <p:cViewPr varScale="1">
        <p:scale>
          <a:sx n="67" d="100"/>
          <a:sy n="67" d="100"/>
        </p:scale>
        <p:origin x="145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528"/>
    </p:cViewPr>
  </p:sorter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1DED5E9-5E65-75DF-6F8F-9397969A99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928676-1620-BA72-09D4-E850F57216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A95C1-E06F-4CA8-8396-75D76C7FF345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7F4734-9C38-86A8-BFD7-397DAFBB16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611FE7-67FD-CA31-CFF8-018F6649C4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DBA3F-305F-43D9-8EEC-18859E489F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1739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u="none" dirty="0">
              <a:solidFill>
                <a:srgbClr val="2440B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4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641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816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438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1320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441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779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400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209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846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308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161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462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567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6309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366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697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97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747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67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10" name="幻灯片编号占位符 4">
            <a:extLst>
              <a:ext uri="{FF2B5EF4-FFF2-40B4-BE49-F238E27FC236}">
                <a16:creationId xmlns:a16="http://schemas.microsoft.com/office/drawing/2014/main" id="{2B8B9416-4EDE-A1A1-C0F2-77D74E32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5471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 smtClean="0"/>
              <a:t>‹#›</a:t>
            </a:fld>
            <a:endParaRPr lang="zh-CN" altLang="en-US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2024/12/29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 smtClean="0"/>
              <a:t>‹#›</a:t>
            </a:fld>
            <a:endParaRPr lang="zh-CN" altLang="en-US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5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11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75040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94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85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1070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60" r:id="rId11"/>
    <p:sldLayoutId id="2147483672" r:id="rId12"/>
    <p:sldLayoutId id="2147483673" r:id="rId13"/>
    <p:sldLayoutId id="2147483716" r:id="rId14"/>
    <p:sldLayoutId id="2147483717" r:id="rId15"/>
    <p:sldLayoutId id="2147483718" r:id="rId16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.png"/><Relationship Id="rId18" Type="http://schemas.openxmlformats.org/officeDocument/2006/relationships/image" Target="../media/image9.png"/><Relationship Id="rId3" Type="http://schemas.openxmlformats.org/officeDocument/2006/relationships/image" Target="../media/image13.png"/><Relationship Id="rId21" Type="http://schemas.openxmlformats.org/officeDocument/2006/relationships/image" Target="../media/image12.png"/><Relationship Id="rId7" Type="http://schemas.openxmlformats.org/officeDocument/2006/relationships/image" Target="../media/image6.svg"/><Relationship Id="rId12" Type="http://schemas.openxmlformats.org/officeDocument/2006/relationships/image" Target="../media/image2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5" Type="http://schemas.openxmlformats.org/officeDocument/2006/relationships/image" Target="../media/image6.png"/><Relationship Id="rId10" Type="http://schemas.openxmlformats.org/officeDocument/2006/relationships/image" Target="../media/image18.png"/><Relationship Id="rId19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png"/><Relationship Id="rId3" Type="http://schemas.openxmlformats.org/officeDocument/2006/relationships/image" Target="../media/image54.png"/><Relationship Id="rId7" Type="http://schemas.openxmlformats.org/officeDocument/2006/relationships/image" Target="../media/image58.sv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2.png"/><Relationship Id="rId1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5.png"/><Relationship Id="rId3" Type="http://schemas.openxmlformats.org/officeDocument/2006/relationships/image" Target="../media/image72.png"/><Relationship Id="rId21" Type="http://schemas.openxmlformats.org/officeDocument/2006/relationships/image" Target="../media/image90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12669" y="3863873"/>
            <a:ext cx="10966661" cy="45719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5170374" y="4178966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7179351" y="4178966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5861890" y="4178966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4557745" y="4178965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6538656" y="4178964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8D0E11D-9DF4-3F6F-4654-687E1E87F48B}"/>
              </a:ext>
            </a:extLst>
          </p:cNvPr>
          <p:cNvSpPr txBox="1"/>
          <p:nvPr/>
        </p:nvSpPr>
        <p:spPr>
          <a:xfrm>
            <a:off x="1849391" y="1537791"/>
            <a:ext cx="8422955" cy="104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 err="1"/>
              <a:t>AdaMerging</a:t>
            </a:r>
            <a:r>
              <a:rPr lang="en-US" altLang="zh-CN" sz="2800" dirty="0"/>
              <a:t>: Adaptive Model Merging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/>
              <a:t>For Multi-Task Learning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66D9E3F-D927-791F-1724-AD43A81C593F}"/>
              </a:ext>
            </a:extLst>
          </p:cNvPr>
          <p:cNvSpPr txBox="1"/>
          <p:nvPr/>
        </p:nvSpPr>
        <p:spPr>
          <a:xfrm>
            <a:off x="2268817" y="2513593"/>
            <a:ext cx="7721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作者：</a:t>
            </a:r>
            <a:r>
              <a:rPr lang="en-US" altLang="zh-CN" dirty="0"/>
              <a:t> </a:t>
            </a:r>
            <a:r>
              <a:rPr lang="en-US" altLang="zh-CN" dirty="0" err="1"/>
              <a:t>Enneng</a:t>
            </a:r>
            <a:r>
              <a:rPr lang="en-US" altLang="zh-CN" dirty="0"/>
              <a:t> Yang, </a:t>
            </a:r>
            <a:r>
              <a:rPr lang="en-US" altLang="zh-CN" dirty="0" err="1"/>
              <a:t>Zhenyi</a:t>
            </a:r>
            <a:r>
              <a:rPr lang="en-US" altLang="zh-CN" dirty="0"/>
              <a:t> Wang</a:t>
            </a:r>
            <a:r>
              <a:rPr lang="en-US" altLang="zh-CN" baseline="30000" dirty="0"/>
              <a:t>∗</a:t>
            </a:r>
            <a:r>
              <a:rPr lang="en-US" altLang="zh-CN" dirty="0"/>
              <a:t>, Li Shen</a:t>
            </a:r>
            <a:r>
              <a:rPr lang="en-US" altLang="zh-CN" baseline="30000" dirty="0"/>
              <a:t>∗</a:t>
            </a:r>
            <a:r>
              <a:rPr lang="en-US" altLang="zh-CN" dirty="0"/>
              <a:t>, </a:t>
            </a:r>
            <a:r>
              <a:rPr lang="en-US" altLang="zh-CN" dirty="0" err="1"/>
              <a:t>Shiwei</a:t>
            </a:r>
            <a:r>
              <a:rPr lang="en-US" altLang="zh-CN" dirty="0"/>
              <a:t> Liu, </a:t>
            </a:r>
          </a:p>
          <a:p>
            <a:pPr algn="ctr"/>
            <a:r>
              <a:rPr lang="en-US" altLang="zh-CN" dirty="0" err="1"/>
              <a:t>Guibing</a:t>
            </a:r>
            <a:r>
              <a:rPr lang="en-US" altLang="zh-CN" dirty="0"/>
              <a:t> Guo</a:t>
            </a:r>
            <a:r>
              <a:rPr lang="en-US" altLang="zh-CN" baseline="30000" dirty="0"/>
              <a:t>∗</a:t>
            </a:r>
            <a:r>
              <a:rPr lang="en-US" altLang="zh-CN" dirty="0"/>
              <a:t>, </a:t>
            </a:r>
            <a:r>
              <a:rPr lang="en-US" altLang="zh-CN" dirty="0" err="1"/>
              <a:t>Xingwei</a:t>
            </a:r>
            <a:r>
              <a:rPr lang="en-US" altLang="zh-CN" dirty="0"/>
              <a:t> Wang, </a:t>
            </a:r>
            <a:r>
              <a:rPr lang="en-US" altLang="zh-CN" dirty="0" err="1"/>
              <a:t>Dacheng</a:t>
            </a:r>
            <a:r>
              <a:rPr lang="en-US" altLang="zh-CN" dirty="0"/>
              <a:t> Tao</a:t>
            </a:r>
            <a:endParaRPr lang="zh-CN" altLang="en-US" dirty="0"/>
          </a:p>
        </p:txBody>
      </p:sp>
      <p:sp>
        <p:nvSpPr>
          <p:cNvPr id="2" name="TextBox 84">
            <a:extLst>
              <a:ext uri="{FF2B5EF4-FFF2-40B4-BE49-F238E27FC236}">
                <a16:creationId xmlns:a16="http://schemas.microsoft.com/office/drawing/2014/main" id="{476CEB15-460A-E38A-0E2E-6F32890F6F97}"/>
              </a:ext>
            </a:extLst>
          </p:cNvPr>
          <p:cNvSpPr txBox="1"/>
          <p:nvPr/>
        </p:nvSpPr>
        <p:spPr>
          <a:xfrm>
            <a:off x="4320764" y="4781343"/>
            <a:ext cx="3512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zh-CN" altLang="en-US" sz="1400" dirty="0"/>
              <a:t>汇报人：邱盈钢    日期：</a:t>
            </a:r>
            <a:r>
              <a:rPr lang="en-US" altLang="zh-CN" sz="1400" dirty="0"/>
              <a:t>2024</a:t>
            </a:r>
            <a:r>
              <a:rPr lang="zh-CN" altLang="en-US" sz="1400" dirty="0"/>
              <a:t>年</a:t>
            </a:r>
            <a:r>
              <a:rPr lang="en-US" altLang="zh-CN" sz="1400" dirty="0"/>
              <a:t>12</a:t>
            </a:r>
            <a:r>
              <a:rPr lang="zh-CN" altLang="en-US" sz="1400" dirty="0"/>
              <a:t>月</a:t>
            </a:r>
            <a:r>
              <a:rPr lang="en-US" altLang="zh-CN" sz="1400" dirty="0"/>
              <a:t>29</a:t>
            </a:r>
            <a:r>
              <a:rPr lang="zh-CN" altLang="en-US" sz="1400" dirty="0"/>
              <a:t>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E2D061-28BD-2CA1-B8C8-1C185FBA6713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2024</a:t>
            </a:r>
            <a:r>
              <a:rPr lang="zh-CN" altLang="en-US" dirty="0"/>
              <a:t>年 </a:t>
            </a:r>
            <a:r>
              <a:rPr lang="en-US" altLang="zh-CN" dirty="0"/>
              <a:t>ICLR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812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>
            <a:cxnSpLocks noChangeShapeType="1"/>
          </p:cNvCxnSpPr>
          <p:nvPr/>
        </p:nvCxnSpPr>
        <p:spPr bwMode="auto">
          <a:xfrm>
            <a:off x="538563" y="2433326"/>
            <a:ext cx="1104763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2496508" y="1581855"/>
            <a:ext cx="1559580" cy="748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2A566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1141350" y="1761447"/>
            <a:ext cx="1882892" cy="4613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A566E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A566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763" y="1570259"/>
            <a:ext cx="534802" cy="53480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C056637-90A2-0C27-BBD9-6EFEAD7640DD}"/>
              </a:ext>
            </a:extLst>
          </p:cNvPr>
          <p:cNvGrpSpPr/>
          <p:nvPr/>
        </p:nvGrpSpPr>
        <p:grpSpPr>
          <a:xfrm>
            <a:off x="2436937" y="3167182"/>
            <a:ext cx="731025" cy="729103"/>
            <a:chOff x="2436937" y="3175425"/>
            <a:chExt cx="731025" cy="729103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2436937" y="3175425"/>
              <a:ext cx="723330" cy="72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2436937" y="3175426"/>
              <a:ext cx="731025" cy="729102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2508862" y="3247348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TextBox 14"/>
            <p:cNvSpPr txBox="1">
              <a:spLocks noChangeArrowheads="1"/>
            </p:cNvSpPr>
            <p:nvPr/>
          </p:nvSpPr>
          <p:spPr bwMode="auto">
            <a:xfrm>
              <a:off x="2614630" y="3264273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3300170" y="3247589"/>
            <a:ext cx="321284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相关背景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30156E4-1C19-8C80-A404-B9F62E7A89E0}"/>
              </a:ext>
            </a:extLst>
          </p:cNvPr>
          <p:cNvGrpSpPr/>
          <p:nvPr/>
        </p:nvGrpSpPr>
        <p:grpSpPr>
          <a:xfrm>
            <a:off x="2436937" y="4427277"/>
            <a:ext cx="731025" cy="729103"/>
            <a:chOff x="2461213" y="4672959"/>
            <a:chExt cx="731025" cy="729103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461213" y="4672959"/>
              <a:ext cx="723330" cy="72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2461213" y="4672960"/>
              <a:ext cx="731025" cy="729102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Oval 6"/>
            <p:cNvSpPr>
              <a:spLocks noChangeArrowheads="1"/>
            </p:cNvSpPr>
            <p:nvPr/>
          </p:nvSpPr>
          <p:spPr bwMode="auto">
            <a:xfrm>
              <a:off x="2533138" y="4744882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" name="TextBox 19"/>
            <p:cNvSpPr txBox="1">
              <a:spLocks noChangeArrowheads="1"/>
            </p:cNvSpPr>
            <p:nvPr/>
          </p:nvSpPr>
          <p:spPr bwMode="auto">
            <a:xfrm>
              <a:off x="2604810" y="4761808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5" name="TextBox 20"/>
          <p:cNvSpPr txBox="1">
            <a:spLocks noChangeArrowheads="1"/>
          </p:cNvSpPr>
          <p:nvPr/>
        </p:nvSpPr>
        <p:spPr bwMode="auto">
          <a:xfrm>
            <a:off x="3300170" y="4499441"/>
            <a:ext cx="306405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AdaMerging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5E51B17-BA25-4FCC-88F0-584EABBDE948}"/>
              </a:ext>
            </a:extLst>
          </p:cNvPr>
          <p:cNvGrpSpPr/>
          <p:nvPr/>
        </p:nvGrpSpPr>
        <p:grpSpPr>
          <a:xfrm>
            <a:off x="6649459" y="3167182"/>
            <a:ext cx="731025" cy="729103"/>
            <a:chOff x="6649459" y="3167182"/>
            <a:chExt cx="731025" cy="729103"/>
          </a:xfrm>
        </p:grpSpPr>
        <p:sp>
          <p:nvSpPr>
            <p:cNvPr id="16" name="AutoShape 3"/>
            <p:cNvSpPr>
              <a:spLocks noChangeAspect="1" noChangeArrowheads="1" noTextEdit="1"/>
            </p:cNvSpPr>
            <p:nvPr/>
          </p:nvSpPr>
          <p:spPr bwMode="auto">
            <a:xfrm>
              <a:off x="6649460" y="3167183"/>
              <a:ext cx="723330" cy="7214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6649459" y="3167182"/>
              <a:ext cx="731025" cy="729103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6721384" y="3239103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9" name="TextBox 24"/>
            <p:cNvSpPr txBox="1">
              <a:spLocks noChangeArrowheads="1"/>
            </p:cNvSpPr>
            <p:nvPr/>
          </p:nvSpPr>
          <p:spPr bwMode="auto">
            <a:xfrm>
              <a:off x="6793057" y="3258144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0" name="TextBox 25"/>
          <p:cNvSpPr txBox="1">
            <a:spLocks noChangeArrowheads="1"/>
          </p:cNvSpPr>
          <p:nvPr/>
        </p:nvSpPr>
        <p:spPr bwMode="auto">
          <a:xfrm>
            <a:off x="7514646" y="3247589"/>
            <a:ext cx="2922869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A8F926A-5AB9-A68A-2FA7-0FD6C0776870}"/>
              </a:ext>
            </a:extLst>
          </p:cNvPr>
          <p:cNvGrpSpPr/>
          <p:nvPr/>
        </p:nvGrpSpPr>
        <p:grpSpPr>
          <a:xfrm>
            <a:off x="6673735" y="4427277"/>
            <a:ext cx="731025" cy="729102"/>
            <a:chOff x="6673735" y="4703228"/>
            <a:chExt cx="731025" cy="729102"/>
          </a:xfrm>
        </p:grpSpPr>
        <p:sp>
          <p:nvSpPr>
            <p:cNvPr id="21" name="Oval 5"/>
            <p:cNvSpPr>
              <a:spLocks noChangeArrowheads="1"/>
            </p:cNvSpPr>
            <p:nvPr/>
          </p:nvSpPr>
          <p:spPr bwMode="auto">
            <a:xfrm>
              <a:off x="6673735" y="4703228"/>
              <a:ext cx="731025" cy="729102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6745660" y="4766696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3" name="TextBox 29"/>
            <p:cNvSpPr txBox="1">
              <a:spLocks noChangeArrowheads="1"/>
            </p:cNvSpPr>
            <p:nvPr/>
          </p:nvSpPr>
          <p:spPr bwMode="auto">
            <a:xfrm>
              <a:off x="6817333" y="4760192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4" name="TextBox 30"/>
          <p:cNvSpPr txBox="1">
            <a:spLocks noChangeArrowheads="1"/>
          </p:cNvSpPr>
          <p:nvPr/>
        </p:nvSpPr>
        <p:spPr bwMode="auto">
          <a:xfrm>
            <a:off x="7514646" y="4499441"/>
            <a:ext cx="420110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</a:t>
            </a: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516407" y="2314882"/>
            <a:ext cx="534802" cy="14392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相关背景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0A7CB7-3E3A-D229-6BD5-CC9C09A23248}"/>
              </a:ext>
            </a:extLst>
          </p:cNvPr>
          <p:cNvSpPr txBox="1"/>
          <p:nvPr/>
        </p:nvSpPr>
        <p:spPr>
          <a:xfrm>
            <a:off x="603504" y="1226149"/>
            <a:ext cx="9966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传统多任务学习</a:t>
            </a:r>
            <a:r>
              <a:rPr lang="zh-CN" altLang="en-US" dirty="0">
                <a:latin typeface="+mn-ea"/>
              </a:rPr>
              <a:t>需要收集全部任务的数据，从头训练模型</a:t>
            </a:r>
            <a:endParaRPr lang="en-US" altLang="zh-CN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258883-198D-8A7C-17A7-946E89B3E1BA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829DF5-7FF9-A905-9165-BDD9CAB8EC65}"/>
              </a:ext>
            </a:extLst>
          </p:cNvPr>
          <p:cNvSpPr txBox="1"/>
          <p:nvPr/>
        </p:nvSpPr>
        <p:spPr>
          <a:xfrm>
            <a:off x="603504" y="4074241"/>
            <a:ext cx="9552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模型融合</a:t>
            </a:r>
            <a:r>
              <a:rPr lang="zh-CN" altLang="en-US" dirty="0">
                <a:latin typeface="+mn-ea"/>
              </a:rPr>
              <a:t>范式不需要训练数据（或只需要少量数据），只需要模型的权重</a:t>
            </a:r>
            <a:endParaRPr lang="en-US" altLang="zh-CN" b="1" dirty="0">
              <a:latin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47638F8-2384-2498-CB1B-C379788A3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412" y="2913315"/>
            <a:ext cx="1017556" cy="6444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7DBDC24-A8AA-842A-17D9-2208BBCB1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247" y="2924099"/>
            <a:ext cx="718272" cy="64487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B8F687E-0620-980D-AD31-D7F4A4A286D6}"/>
              </a:ext>
            </a:extLst>
          </p:cNvPr>
          <p:cNvSpPr/>
          <p:nvPr/>
        </p:nvSpPr>
        <p:spPr>
          <a:xfrm>
            <a:off x="827414" y="1977034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Pre-trained Model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DA241E8-B027-5B05-BBBC-AAF24A7C7DB0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3236736" y="2536867"/>
            <a:ext cx="379454" cy="376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8129CE3-19AB-CC3F-C8CD-9634D5FCC7FE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371383" y="2542092"/>
            <a:ext cx="530445" cy="382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5B06C07-4D99-3DDC-07CC-4978537B17FE}"/>
              </a:ext>
            </a:extLst>
          </p:cNvPr>
          <p:cNvSpPr txBox="1"/>
          <p:nvPr/>
        </p:nvSpPr>
        <p:spPr>
          <a:xfrm>
            <a:off x="2636605" y="1849440"/>
            <a:ext cx="84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+mn-ea"/>
              </a:rPr>
              <a:t>训练</a:t>
            </a:r>
            <a:endParaRPr lang="zh-CN" altLang="en-US" sz="1400" dirty="0"/>
          </a:p>
        </p:txBody>
      </p:sp>
      <p:sp>
        <p:nvSpPr>
          <p:cNvPr id="37" name="箭头: 下 36">
            <a:extLst>
              <a:ext uri="{FF2B5EF4-FFF2-40B4-BE49-F238E27FC236}">
                <a16:creationId xmlns:a16="http://schemas.microsoft.com/office/drawing/2014/main" id="{CAE98372-5201-783B-2A79-93C2A651C427}"/>
              </a:ext>
            </a:extLst>
          </p:cNvPr>
          <p:cNvSpPr/>
          <p:nvPr/>
        </p:nvSpPr>
        <p:spPr>
          <a:xfrm rot="16200000">
            <a:off x="2920711" y="1933945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9EDEE10-F3DF-2722-FA2C-2EB1962E6A39}"/>
              </a:ext>
            </a:extLst>
          </p:cNvPr>
          <p:cNvSpPr/>
          <p:nvPr/>
        </p:nvSpPr>
        <p:spPr>
          <a:xfrm>
            <a:off x="3788248" y="1977034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Multi-task Model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B201D39-4C00-845F-A5A4-F59B1326F4A3}"/>
              </a:ext>
            </a:extLst>
          </p:cNvPr>
          <p:cNvSpPr txBox="1"/>
          <p:nvPr/>
        </p:nvSpPr>
        <p:spPr>
          <a:xfrm>
            <a:off x="5522370" y="1720944"/>
            <a:ext cx="6106884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dirty="0"/>
              <a:t>🖥️</a:t>
            </a:r>
            <a:r>
              <a:rPr lang="en-US" altLang="zh-CN" dirty="0"/>
              <a:t>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资源消耗高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 需要大量的存储资源和训练时间开销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⚖️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数据不平衡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 数据量大的任务可能主导模型训练，弱化其他任务</a:t>
            </a:r>
          </a:p>
          <a:p>
            <a:pPr>
              <a:spcBef>
                <a:spcPts val="600"/>
              </a:spcBef>
            </a:pPr>
            <a:r>
              <a:rPr lang="zh-CN" altLang="en-US" dirty="0"/>
              <a:t>🔓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数据泄露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 在部分场景，数据是私有的，只能得到训练后模型的权重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FF7203B7-B041-49EE-4CEE-5490FA8B1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469" y="4572300"/>
            <a:ext cx="718272" cy="644872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8496C02E-F678-650F-F55D-B551EC8E550D}"/>
              </a:ext>
            </a:extLst>
          </p:cNvPr>
          <p:cNvSpPr/>
          <p:nvPr/>
        </p:nvSpPr>
        <p:spPr>
          <a:xfrm>
            <a:off x="827414" y="5346339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Pre-trained Model</a:t>
            </a:r>
            <a:endParaRPr lang="zh-CN" altLang="en-US" dirty="0"/>
          </a:p>
        </p:txBody>
      </p:sp>
      <p:sp>
        <p:nvSpPr>
          <p:cNvPr id="49" name="箭头: 下 48">
            <a:extLst>
              <a:ext uri="{FF2B5EF4-FFF2-40B4-BE49-F238E27FC236}">
                <a16:creationId xmlns:a16="http://schemas.microsoft.com/office/drawing/2014/main" id="{6C733576-2F1A-A2D9-9785-18C2BA668C5E}"/>
              </a:ext>
            </a:extLst>
          </p:cNvPr>
          <p:cNvSpPr/>
          <p:nvPr/>
        </p:nvSpPr>
        <p:spPr>
          <a:xfrm rot="15160145">
            <a:off x="2780070" y="4949782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55" name="箭头: 下 54">
            <a:extLst>
              <a:ext uri="{FF2B5EF4-FFF2-40B4-BE49-F238E27FC236}">
                <a16:creationId xmlns:a16="http://schemas.microsoft.com/office/drawing/2014/main" id="{D5C52529-79B1-1C17-C1EA-CF0FCD002F67}"/>
              </a:ext>
            </a:extLst>
          </p:cNvPr>
          <p:cNvSpPr/>
          <p:nvPr/>
        </p:nvSpPr>
        <p:spPr>
          <a:xfrm rot="17239886">
            <a:off x="2780071" y="5550878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5CF0C72A-F270-42FE-387E-389A40A35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30" y="6165827"/>
            <a:ext cx="1017556" cy="644400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CCEE2D19-5906-4B05-5E78-D47E4ED2EEEA}"/>
              </a:ext>
            </a:extLst>
          </p:cNvPr>
          <p:cNvSpPr/>
          <p:nvPr/>
        </p:nvSpPr>
        <p:spPr>
          <a:xfrm>
            <a:off x="3523633" y="4876003"/>
            <a:ext cx="1283751" cy="41917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 A</a:t>
            </a:r>
            <a:endParaRPr lang="zh-CN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14AECA3-4385-29D4-087A-1250E611228F}"/>
              </a:ext>
            </a:extLst>
          </p:cNvPr>
          <p:cNvSpPr/>
          <p:nvPr/>
        </p:nvSpPr>
        <p:spPr>
          <a:xfrm>
            <a:off x="3560392" y="5843391"/>
            <a:ext cx="1283751" cy="41917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 B</a:t>
            </a:r>
            <a:endParaRPr lang="zh-CN" altLang="en-US" dirty="0"/>
          </a:p>
        </p:txBody>
      </p:sp>
      <p:sp>
        <p:nvSpPr>
          <p:cNvPr id="60" name="箭头: 下 59">
            <a:extLst>
              <a:ext uri="{FF2B5EF4-FFF2-40B4-BE49-F238E27FC236}">
                <a16:creationId xmlns:a16="http://schemas.microsoft.com/office/drawing/2014/main" id="{E079D4CD-A875-AF20-D6C3-88ED4150225F}"/>
              </a:ext>
            </a:extLst>
          </p:cNvPr>
          <p:cNvSpPr/>
          <p:nvPr/>
        </p:nvSpPr>
        <p:spPr>
          <a:xfrm rot="15160145">
            <a:off x="5151466" y="5454145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61" name="箭头: 下 60">
            <a:extLst>
              <a:ext uri="{FF2B5EF4-FFF2-40B4-BE49-F238E27FC236}">
                <a16:creationId xmlns:a16="http://schemas.microsoft.com/office/drawing/2014/main" id="{25502EEF-2C52-D3D1-AC7D-E697BBB81D21}"/>
              </a:ext>
            </a:extLst>
          </p:cNvPr>
          <p:cNvSpPr/>
          <p:nvPr/>
        </p:nvSpPr>
        <p:spPr>
          <a:xfrm rot="17239886">
            <a:off x="5121685" y="4797878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8F4F78B-B64C-80F6-AAD0-6F405FD5A797}"/>
              </a:ext>
            </a:extLst>
          </p:cNvPr>
          <p:cNvSpPr/>
          <p:nvPr/>
        </p:nvSpPr>
        <p:spPr>
          <a:xfrm>
            <a:off x="5923829" y="5218594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Multi-task Model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3CD2050-7F26-37C8-9C43-AFF77A4A4724}"/>
              </a:ext>
            </a:extLst>
          </p:cNvPr>
          <p:cNvSpPr txBox="1"/>
          <p:nvPr/>
        </p:nvSpPr>
        <p:spPr>
          <a:xfrm>
            <a:off x="2712091" y="5464275"/>
            <a:ext cx="84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+mn-ea"/>
              </a:rPr>
              <a:t>训练</a:t>
            </a:r>
            <a:endParaRPr lang="zh-CN" altLang="en-US" sz="14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67A0E2A-4865-2F67-B1D4-F3003F72A2C2}"/>
              </a:ext>
            </a:extLst>
          </p:cNvPr>
          <p:cNvSpPr txBox="1"/>
          <p:nvPr/>
        </p:nvSpPr>
        <p:spPr>
          <a:xfrm>
            <a:off x="4801361" y="5368720"/>
            <a:ext cx="84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+mn-ea"/>
              </a:rPr>
              <a:t>融合</a:t>
            </a:r>
            <a:endParaRPr lang="zh-CN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60BD7DB-D03A-366A-CAA7-4DFAA2ADAA5E}"/>
                  </a:ext>
                </a:extLst>
              </p:cNvPr>
              <p:cNvSpPr txBox="1"/>
              <p:nvPr/>
            </p:nvSpPr>
            <p:spPr>
              <a:xfrm>
                <a:off x="5079587" y="5986004"/>
                <a:ext cx="7182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60BD7DB-D03A-366A-CAA7-4DFAA2ADA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587" y="5986004"/>
                <a:ext cx="71827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96B97A-7A33-008E-FC99-7EB0FB23EE4B}"/>
                  </a:ext>
                </a:extLst>
              </p:cNvPr>
              <p:cNvSpPr txBox="1"/>
              <p:nvPr/>
            </p:nvSpPr>
            <p:spPr>
              <a:xfrm>
                <a:off x="5020801" y="4721554"/>
                <a:ext cx="71827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96B97A-7A33-008E-FC99-7EB0FB23E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801" y="4721554"/>
                <a:ext cx="71827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38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6" grpId="0" animBg="1"/>
      <p:bldP spid="24" grpId="0"/>
      <p:bldP spid="37" grpId="0" animBg="1"/>
      <p:bldP spid="43" grpId="0" animBg="1"/>
      <p:bldP spid="48" grpId="0" animBg="1"/>
      <p:bldP spid="49" grpId="0" animBg="1"/>
      <p:bldP spid="55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/>
      <p:bldP spid="64" grpId="0"/>
      <p:bldP spid="2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相关背景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1F523D-0150-0759-4B59-A50F8711AA36}"/>
              </a:ext>
            </a:extLst>
          </p:cNvPr>
          <p:cNvSpPr txBox="1"/>
          <p:nvPr/>
        </p:nvSpPr>
        <p:spPr>
          <a:xfrm>
            <a:off x="603504" y="769583"/>
            <a:ext cx="3526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任务向量（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Task Vector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58BF47-8C8F-BB4F-7594-E717BD6CC2C7}"/>
              </a:ext>
            </a:extLst>
          </p:cNvPr>
          <p:cNvSpPr txBox="1"/>
          <p:nvPr/>
        </p:nvSpPr>
        <p:spPr>
          <a:xfrm>
            <a:off x="822093" y="1213007"/>
            <a:ext cx="4129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最简单的模型融合：参数平均</a:t>
            </a:r>
            <a:endParaRPr lang="en-US" altLang="zh-CN" dirty="0">
              <a:latin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D1DF475-16E4-D0E2-4EA4-5CD30D0C507B}"/>
              </a:ext>
            </a:extLst>
          </p:cNvPr>
          <p:cNvGrpSpPr/>
          <p:nvPr/>
        </p:nvGrpSpPr>
        <p:grpSpPr>
          <a:xfrm>
            <a:off x="1445390" y="1793768"/>
            <a:ext cx="1515258" cy="1026972"/>
            <a:chOff x="9763495" y="1703326"/>
            <a:chExt cx="1822488" cy="1026972"/>
          </a:xfrm>
          <a:solidFill>
            <a:schemeClr val="bg1">
              <a:lumMod val="50000"/>
            </a:schemeClr>
          </a:solidFill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AC4CBB3-8860-ABF1-323D-560E9F0718FA}"/>
                </a:ext>
              </a:extLst>
            </p:cNvPr>
            <p:cNvGrpSpPr/>
            <p:nvPr/>
          </p:nvGrpSpPr>
          <p:grpSpPr>
            <a:xfrm>
              <a:off x="10876955" y="1703812"/>
              <a:ext cx="145539" cy="1026000"/>
              <a:chOff x="8792817" y="1721414"/>
              <a:chExt cx="145539" cy="1026000"/>
            </a:xfrm>
            <a:grpFill/>
          </p:grpSpPr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0BB9C996-CA55-C9D6-514C-AC0BB7B31862}"/>
                  </a:ext>
                </a:extLst>
              </p:cNvPr>
              <p:cNvSpPr/>
              <p:nvPr/>
            </p:nvSpPr>
            <p:spPr>
              <a:xfrm>
                <a:off x="8794356" y="1721414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2E53438E-10D3-74EF-5D25-6217255A3823}"/>
                  </a:ext>
                </a:extLst>
              </p:cNvPr>
              <p:cNvSpPr/>
              <p:nvPr/>
            </p:nvSpPr>
            <p:spPr>
              <a:xfrm>
                <a:off x="8792817" y="2167065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B75C8657-F9AA-1554-1FA2-94D2AAC738C1}"/>
                  </a:ext>
                </a:extLst>
              </p:cNvPr>
              <p:cNvSpPr/>
              <p:nvPr/>
            </p:nvSpPr>
            <p:spPr>
              <a:xfrm>
                <a:off x="8792817" y="2603414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5C2B7D2-9964-FE23-6696-58FF54FC243B}"/>
                </a:ext>
              </a:extLst>
            </p:cNvPr>
            <p:cNvGrpSpPr/>
            <p:nvPr/>
          </p:nvGrpSpPr>
          <p:grpSpPr>
            <a:xfrm>
              <a:off x="9763495" y="1924027"/>
              <a:ext cx="144000" cy="585570"/>
              <a:chOff x="7743758" y="1982787"/>
              <a:chExt cx="144000" cy="585570"/>
            </a:xfrm>
            <a:grpFill/>
          </p:grpSpPr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BC3E3393-2FFA-719F-17AF-013DE87BAB14}"/>
                  </a:ext>
                </a:extLst>
              </p:cNvPr>
              <p:cNvSpPr/>
              <p:nvPr/>
            </p:nvSpPr>
            <p:spPr>
              <a:xfrm>
                <a:off x="7743758" y="1982787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91BC4178-8EBE-90DD-DEF0-BA9F35CF2E32}"/>
                  </a:ext>
                </a:extLst>
              </p:cNvPr>
              <p:cNvSpPr/>
              <p:nvPr/>
            </p:nvSpPr>
            <p:spPr>
              <a:xfrm>
                <a:off x="7743758" y="2424357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0C898E7-D22D-5DF0-03EE-36BA634BD52D}"/>
                </a:ext>
              </a:extLst>
            </p:cNvPr>
            <p:cNvGrpSpPr/>
            <p:nvPr/>
          </p:nvGrpSpPr>
          <p:grpSpPr>
            <a:xfrm>
              <a:off x="11435224" y="1924027"/>
              <a:ext cx="150759" cy="585570"/>
              <a:chOff x="9713661" y="1982787"/>
              <a:chExt cx="150759" cy="585570"/>
            </a:xfrm>
            <a:grpFill/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4B4E1E75-EC4A-CCDA-F719-26A7D8A58A8B}"/>
                  </a:ext>
                </a:extLst>
              </p:cNvPr>
              <p:cNvSpPr/>
              <p:nvPr/>
            </p:nvSpPr>
            <p:spPr>
              <a:xfrm>
                <a:off x="9713661" y="2424357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44CC590B-99E9-4E79-868A-51D5BAA92155}"/>
                  </a:ext>
                </a:extLst>
              </p:cNvPr>
              <p:cNvSpPr/>
              <p:nvPr/>
            </p:nvSpPr>
            <p:spPr>
              <a:xfrm>
                <a:off x="9720420" y="1982787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</p:grp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3780590-6167-A1FF-60BD-F8AFD00339A5}"/>
                </a:ext>
              </a:extLst>
            </p:cNvPr>
            <p:cNvSpPr/>
            <p:nvPr/>
          </p:nvSpPr>
          <p:spPr>
            <a:xfrm>
              <a:off x="10320225" y="1703326"/>
              <a:ext cx="144000" cy="144000"/>
            </a:xfrm>
            <a:prstGeom prst="ellipse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70AF14F-47F0-9AA7-1852-A0D342595894}"/>
                </a:ext>
              </a:extLst>
            </p:cNvPr>
            <p:cNvSpPr/>
            <p:nvPr/>
          </p:nvSpPr>
          <p:spPr>
            <a:xfrm>
              <a:off x="10320225" y="2586298"/>
              <a:ext cx="144000" cy="144000"/>
            </a:xfrm>
            <a:prstGeom prst="ellipse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119FFF0-20F3-490C-C059-F8A7F3AE0732}"/>
                </a:ext>
              </a:extLst>
            </p:cNvPr>
            <p:cNvSpPr/>
            <p:nvPr/>
          </p:nvSpPr>
          <p:spPr>
            <a:xfrm>
              <a:off x="10320225" y="2144812"/>
              <a:ext cx="144000" cy="144000"/>
            </a:xfrm>
            <a:prstGeom prst="ellipse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0C4A989E-251B-388B-2755-3CE9C65B602E}"/>
                </a:ext>
              </a:extLst>
            </p:cNvPr>
            <p:cNvCxnSpPr>
              <a:cxnSpLocks/>
              <a:stCxn id="51" idx="6"/>
              <a:endCxn id="14" idx="2"/>
            </p:cNvCxnSpPr>
            <p:nvPr/>
          </p:nvCxnSpPr>
          <p:spPr>
            <a:xfrm flipV="1">
              <a:off x="9907495" y="1775326"/>
              <a:ext cx="412730" cy="220701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BE4AD03C-2B09-1AEA-8BDF-67E0C7D2AE23}"/>
                </a:ext>
              </a:extLst>
            </p:cNvPr>
            <p:cNvCxnSpPr>
              <a:cxnSpLocks/>
              <a:stCxn id="51" idx="6"/>
              <a:endCxn id="19" idx="2"/>
            </p:cNvCxnSpPr>
            <p:nvPr/>
          </p:nvCxnSpPr>
          <p:spPr>
            <a:xfrm>
              <a:off x="9907495" y="1996027"/>
              <a:ext cx="412730" cy="22078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969E9DD2-251B-BA90-9BDD-76758EEEA6D5}"/>
                </a:ext>
              </a:extLst>
            </p:cNvPr>
            <p:cNvCxnSpPr>
              <a:cxnSpLocks/>
              <a:stCxn id="51" idx="6"/>
              <a:endCxn id="18" idx="2"/>
            </p:cNvCxnSpPr>
            <p:nvPr/>
          </p:nvCxnSpPr>
          <p:spPr>
            <a:xfrm>
              <a:off x="9907495" y="1996027"/>
              <a:ext cx="412730" cy="662271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90D7D9C-CC3F-127C-10CC-95D4311AD737}"/>
                </a:ext>
              </a:extLst>
            </p:cNvPr>
            <p:cNvCxnSpPr>
              <a:cxnSpLocks/>
              <a:stCxn id="52" idx="6"/>
              <a:endCxn id="14" idx="2"/>
            </p:cNvCxnSpPr>
            <p:nvPr/>
          </p:nvCxnSpPr>
          <p:spPr>
            <a:xfrm flipV="1">
              <a:off x="9907495" y="1775326"/>
              <a:ext cx="412730" cy="662271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8075598-5020-462F-52FF-1BE7C28DFC97}"/>
                </a:ext>
              </a:extLst>
            </p:cNvPr>
            <p:cNvCxnSpPr>
              <a:cxnSpLocks/>
              <a:stCxn id="52" idx="6"/>
              <a:endCxn id="19" idx="2"/>
            </p:cNvCxnSpPr>
            <p:nvPr/>
          </p:nvCxnSpPr>
          <p:spPr>
            <a:xfrm flipV="1">
              <a:off x="9907495" y="2216812"/>
              <a:ext cx="412730" cy="22078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E9336216-985A-9FFC-6D14-1F5813B6AA4B}"/>
                </a:ext>
              </a:extLst>
            </p:cNvPr>
            <p:cNvCxnSpPr>
              <a:cxnSpLocks/>
              <a:stCxn id="52" idx="6"/>
              <a:endCxn id="18" idx="2"/>
            </p:cNvCxnSpPr>
            <p:nvPr/>
          </p:nvCxnSpPr>
          <p:spPr>
            <a:xfrm>
              <a:off x="9907495" y="2437597"/>
              <a:ext cx="412730" cy="220701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CE0A4BF-1FE8-0E6D-A7B9-63085FB3FBB1}"/>
                </a:ext>
              </a:extLst>
            </p:cNvPr>
            <p:cNvCxnSpPr>
              <a:cxnSpLocks/>
              <a:stCxn id="14" idx="6"/>
              <a:endCxn id="53" idx="2"/>
            </p:cNvCxnSpPr>
            <p:nvPr/>
          </p:nvCxnSpPr>
          <p:spPr>
            <a:xfrm>
              <a:off x="10464225" y="1775326"/>
              <a:ext cx="414269" cy="48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1CE667F6-C110-9D28-E406-65B1D4AE747B}"/>
                </a:ext>
              </a:extLst>
            </p:cNvPr>
            <p:cNvCxnSpPr>
              <a:cxnSpLocks/>
              <a:stCxn id="14" idx="6"/>
              <a:endCxn id="56" idx="2"/>
            </p:cNvCxnSpPr>
            <p:nvPr/>
          </p:nvCxnSpPr>
          <p:spPr>
            <a:xfrm>
              <a:off x="10464225" y="1775326"/>
              <a:ext cx="412730" cy="88248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686FD688-D0D0-FDAD-7AEE-F94BCFDDE0B5}"/>
                </a:ext>
              </a:extLst>
            </p:cNvPr>
            <p:cNvCxnSpPr>
              <a:cxnSpLocks/>
              <a:stCxn id="14" idx="6"/>
              <a:endCxn id="54" idx="2"/>
            </p:cNvCxnSpPr>
            <p:nvPr/>
          </p:nvCxnSpPr>
          <p:spPr>
            <a:xfrm>
              <a:off x="10464225" y="1775326"/>
              <a:ext cx="412730" cy="446137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BA44703-B63C-BBB3-E61D-BC7B71330F4E}"/>
                </a:ext>
              </a:extLst>
            </p:cNvPr>
            <p:cNvCxnSpPr>
              <a:cxnSpLocks/>
              <a:stCxn id="19" idx="6"/>
              <a:endCxn id="54" idx="2"/>
            </p:cNvCxnSpPr>
            <p:nvPr/>
          </p:nvCxnSpPr>
          <p:spPr>
            <a:xfrm>
              <a:off x="10464225" y="2216812"/>
              <a:ext cx="412730" cy="4651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D40DAA34-A0EF-9EDB-0AB8-D810529A5181}"/>
                </a:ext>
              </a:extLst>
            </p:cNvPr>
            <p:cNvCxnSpPr>
              <a:cxnSpLocks/>
              <a:stCxn id="19" idx="6"/>
              <a:endCxn id="53" idx="2"/>
            </p:cNvCxnSpPr>
            <p:nvPr/>
          </p:nvCxnSpPr>
          <p:spPr>
            <a:xfrm flipV="1">
              <a:off x="10464225" y="1775812"/>
              <a:ext cx="414269" cy="441000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487F0BA-C445-2489-590E-C6351F31286C}"/>
                </a:ext>
              </a:extLst>
            </p:cNvPr>
            <p:cNvCxnSpPr>
              <a:cxnSpLocks/>
              <a:stCxn id="19" idx="6"/>
              <a:endCxn id="56" idx="2"/>
            </p:cNvCxnSpPr>
            <p:nvPr/>
          </p:nvCxnSpPr>
          <p:spPr>
            <a:xfrm>
              <a:off x="10464225" y="2216812"/>
              <a:ext cx="412730" cy="441000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EFC721F-FBEE-D7D6-7609-FBC99BA7EEA3}"/>
                </a:ext>
              </a:extLst>
            </p:cNvPr>
            <p:cNvCxnSpPr>
              <a:cxnSpLocks/>
              <a:stCxn id="18" idx="6"/>
              <a:endCxn id="53" idx="2"/>
            </p:cNvCxnSpPr>
            <p:nvPr/>
          </p:nvCxnSpPr>
          <p:spPr>
            <a:xfrm flipV="1">
              <a:off x="10464225" y="1775812"/>
              <a:ext cx="414269" cy="88248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4862E3DF-0D94-3F7E-67FF-6DA40F464737}"/>
                </a:ext>
              </a:extLst>
            </p:cNvPr>
            <p:cNvCxnSpPr>
              <a:cxnSpLocks/>
              <a:stCxn id="18" idx="6"/>
              <a:endCxn id="56" idx="2"/>
            </p:cNvCxnSpPr>
            <p:nvPr/>
          </p:nvCxnSpPr>
          <p:spPr>
            <a:xfrm flipV="1">
              <a:off x="10464225" y="2657812"/>
              <a:ext cx="412730" cy="48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0E6C088-D721-C1E0-1BA8-F209B2F7C01D}"/>
                </a:ext>
              </a:extLst>
            </p:cNvPr>
            <p:cNvCxnSpPr>
              <a:cxnSpLocks/>
              <a:stCxn id="18" idx="6"/>
              <a:endCxn id="54" idx="2"/>
            </p:cNvCxnSpPr>
            <p:nvPr/>
          </p:nvCxnSpPr>
          <p:spPr>
            <a:xfrm flipV="1">
              <a:off x="10464225" y="2221463"/>
              <a:ext cx="412730" cy="43683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B4E79CC-4A9B-6AEF-AD48-BE66FE8220B1}"/>
                </a:ext>
              </a:extLst>
            </p:cNvPr>
            <p:cNvCxnSpPr>
              <a:cxnSpLocks/>
              <a:stCxn id="53" idx="6"/>
              <a:endCxn id="50" idx="2"/>
            </p:cNvCxnSpPr>
            <p:nvPr/>
          </p:nvCxnSpPr>
          <p:spPr>
            <a:xfrm>
              <a:off x="11022494" y="1775812"/>
              <a:ext cx="419489" cy="22021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42886AC2-C833-6E8D-CA4A-047E7F836879}"/>
                </a:ext>
              </a:extLst>
            </p:cNvPr>
            <p:cNvCxnSpPr>
              <a:cxnSpLocks/>
              <a:stCxn id="53" idx="6"/>
              <a:endCxn id="45" idx="2"/>
            </p:cNvCxnSpPr>
            <p:nvPr/>
          </p:nvCxnSpPr>
          <p:spPr>
            <a:xfrm>
              <a:off x="11022494" y="1775812"/>
              <a:ext cx="412730" cy="66178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BB9B001A-EA5B-8228-C252-F394D0A86EA9}"/>
                </a:ext>
              </a:extLst>
            </p:cNvPr>
            <p:cNvCxnSpPr>
              <a:cxnSpLocks/>
              <a:stCxn id="54" idx="6"/>
              <a:endCxn id="50" idx="2"/>
            </p:cNvCxnSpPr>
            <p:nvPr/>
          </p:nvCxnSpPr>
          <p:spPr>
            <a:xfrm flipV="1">
              <a:off x="11020955" y="1996027"/>
              <a:ext cx="421028" cy="22543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B97BAEB7-46A6-18C9-8968-2F41D577E581}"/>
                </a:ext>
              </a:extLst>
            </p:cNvPr>
            <p:cNvCxnSpPr>
              <a:cxnSpLocks/>
              <a:stCxn id="54" idx="6"/>
              <a:endCxn id="45" idx="2"/>
            </p:cNvCxnSpPr>
            <p:nvPr/>
          </p:nvCxnSpPr>
          <p:spPr>
            <a:xfrm>
              <a:off x="11020955" y="2221463"/>
              <a:ext cx="414269" cy="216134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9723009E-C264-683D-29EC-EB0330FD6B24}"/>
                </a:ext>
              </a:extLst>
            </p:cNvPr>
            <p:cNvCxnSpPr>
              <a:cxnSpLocks/>
              <a:stCxn id="56" idx="6"/>
              <a:endCxn id="50" idx="2"/>
            </p:cNvCxnSpPr>
            <p:nvPr/>
          </p:nvCxnSpPr>
          <p:spPr>
            <a:xfrm flipV="1">
              <a:off x="11020955" y="1996027"/>
              <a:ext cx="421028" cy="66178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639478EB-48B6-F3A1-50CA-B660FEE561F4}"/>
                </a:ext>
              </a:extLst>
            </p:cNvPr>
            <p:cNvCxnSpPr>
              <a:cxnSpLocks/>
              <a:stCxn id="56" idx="6"/>
              <a:endCxn id="45" idx="2"/>
            </p:cNvCxnSpPr>
            <p:nvPr/>
          </p:nvCxnSpPr>
          <p:spPr>
            <a:xfrm flipV="1">
              <a:off x="11020955" y="2437597"/>
              <a:ext cx="414269" cy="22021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03EC9116-9BF1-AF4B-136E-54215BC5191A}"/>
              </a:ext>
            </a:extLst>
          </p:cNvPr>
          <p:cNvGrpSpPr/>
          <p:nvPr/>
        </p:nvGrpSpPr>
        <p:grpSpPr>
          <a:xfrm>
            <a:off x="1185115" y="2669290"/>
            <a:ext cx="1893977" cy="717957"/>
            <a:chOff x="1369298" y="2992262"/>
            <a:chExt cx="1893977" cy="717957"/>
          </a:xfrm>
        </p:grpSpPr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F67802F3-2D8C-A5DE-0727-38FB2FD8E867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 flipH="1">
              <a:off x="1817395" y="2998740"/>
              <a:ext cx="103479" cy="3241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4F1618AC-1676-A33C-5768-DCB3C0733942}"/>
                    </a:ext>
                  </a:extLst>
                </p:cNvPr>
                <p:cNvSpPr txBox="1"/>
                <p:nvPr/>
              </p:nvSpPr>
              <p:spPr>
                <a:xfrm>
                  <a:off x="1369298" y="3322909"/>
                  <a:ext cx="896194" cy="3740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5FF92552-5954-565A-3002-091CFFD971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298" y="3322909"/>
                  <a:ext cx="896194" cy="374077"/>
                </a:xfrm>
                <a:prstGeom prst="rect">
                  <a:avLst/>
                </a:prstGeom>
                <a:blipFill>
                  <a:blip r:embed="rId3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5BE6BFE5-7F58-BC1F-0E3E-9DC468131771}"/>
                    </a:ext>
                  </a:extLst>
                </p:cNvPr>
                <p:cNvSpPr txBox="1"/>
                <p:nvPr/>
              </p:nvSpPr>
              <p:spPr>
                <a:xfrm>
                  <a:off x="2156478" y="3327075"/>
                  <a:ext cx="518575" cy="3745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A7C85C3C-0BD7-6839-CAD0-CD38AA6BA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478" y="3327075"/>
                  <a:ext cx="518575" cy="374590"/>
                </a:xfrm>
                <a:prstGeom prst="rect">
                  <a:avLst/>
                </a:prstGeom>
                <a:blipFill>
                  <a:blip r:embed="rId4"/>
                  <a:stretch>
                    <a:fillRect l="-7059"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A2D902D0-2C21-A6F9-8564-CF9FFD7806B9}"/>
                    </a:ext>
                  </a:extLst>
                </p:cNvPr>
                <p:cNvSpPr txBox="1"/>
                <p:nvPr/>
              </p:nvSpPr>
              <p:spPr>
                <a:xfrm>
                  <a:off x="2744700" y="3334219"/>
                  <a:ext cx="518575" cy="3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227E8742-FC29-90AD-5723-DCF68874C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4700" y="3334219"/>
                  <a:ext cx="518575" cy="376000"/>
                </a:xfrm>
                <a:prstGeom prst="rect">
                  <a:avLst/>
                </a:prstGeom>
                <a:blipFill>
                  <a:blip r:embed="rId5"/>
                  <a:stretch>
                    <a:fillRect l="-5882" b="-16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2CFF3668-3A52-D4D0-F3DF-3BA039FEB1CD}"/>
                </a:ext>
              </a:extLst>
            </p:cNvPr>
            <p:cNvCxnSpPr>
              <a:cxnSpLocks/>
              <a:endCxn id="68" idx="0"/>
            </p:cNvCxnSpPr>
            <p:nvPr/>
          </p:nvCxnSpPr>
          <p:spPr>
            <a:xfrm>
              <a:off x="2415766" y="3108857"/>
              <a:ext cx="0" cy="218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92136BBA-5902-2DE1-1953-BF34346802CB}"/>
                </a:ext>
              </a:extLst>
            </p:cNvPr>
            <p:cNvCxnSpPr>
              <a:cxnSpLocks/>
              <a:endCxn id="69" idx="0"/>
            </p:cNvCxnSpPr>
            <p:nvPr/>
          </p:nvCxnSpPr>
          <p:spPr>
            <a:xfrm>
              <a:off x="2842290" y="2992262"/>
              <a:ext cx="161698" cy="3419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2" name="图形 71" descr="添加 纯色填充">
            <a:extLst>
              <a:ext uri="{FF2B5EF4-FFF2-40B4-BE49-F238E27FC236}">
                <a16:creationId xmlns:a16="http://schemas.microsoft.com/office/drawing/2014/main" id="{A29D3939-29AE-5F9B-69D5-CFF8A07385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3034204" y="2174642"/>
            <a:ext cx="369333" cy="309910"/>
          </a:xfrm>
          <a:prstGeom prst="rect">
            <a:avLst/>
          </a:prstGeom>
        </p:spPr>
      </p:pic>
      <p:grpSp>
        <p:nvGrpSpPr>
          <p:cNvPr id="73" name="组合 72">
            <a:extLst>
              <a:ext uri="{FF2B5EF4-FFF2-40B4-BE49-F238E27FC236}">
                <a16:creationId xmlns:a16="http://schemas.microsoft.com/office/drawing/2014/main" id="{35BBEDCC-DB32-A244-DB0F-0E2F8850E196}"/>
              </a:ext>
            </a:extLst>
          </p:cNvPr>
          <p:cNvGrpSpPr/>
          <p:nvPr/>
        </p:nvGrpSpPr>
        <p:grpSpPr>
          <a:xfrm>
            <a:off x="3562061" y="1781180"/>
            <a:ext cx="1515258" cy="1026972"/>
            <a:chOff x="9763495" y="1703326"/>
            <a:chExt cx="1822488" cy="1026972"/>
          </a:xfrm>
          <a:solidFill>
            <a:schemeClr val="bg1">
              <a:lumMod val="50000"/>
            </a:schemeClr>
          </a:solidFill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38BA5292-9976-0923-5D64-D00C2A30A2EA}"/>
                </a:ext>
              </a:extLst>
            </p:cNvPr>
            <p:cNvGrpSpPr/>
            <p:nvPr/>
          </p:nvGrpSpPr>
          <p:grpSpPr>
            <a:xfrm>
              <a:off x="10876955" y="1703812"/>
              <a:ext cx="145539" cy="1026000"/>
              <a:chOff x="8792817" y="1721414"/>
              <a:chExt cx="145539" cy="1026000"/>
            </a:xfrm>
            <a:grpFill/>
          </p:grpSpPr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89F48425-B9B8-4409-864E-D6BC63ABA48A}"/>
                  </a:ext>
                </a:extLst>
              </p:cNvPr>
              <p:cNvSpPr/>
              <p:nvPr/>
            </p:nvSpPr>
            <p:spPr>
              <a:xfrm>
                <a:off x="8794356" y="1721414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2F1EB62B-7673-BDAE-5185-00B6E10F88FA}"/>
                  </a:ext>
                </a:extLst>
              </p:cNvPr>
              <p:cNvSpPr/>
              <p:nvPr/>
            </p:nvSpPr>
            <p:spPr>
              <a:xfrm>
                <a:off x="8792817" y="2167065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2B40C653-7818-89CD-2BF9-68E9E466A991}"/>
                  </a:ext>
                </a:extLst>
              </p:cNvPr>
              <p:cNvSpPr/>
              <p:nvPr/>
            </p:nvSpPr>
            <p:spPr>
              <a:xfrm>
                <a:off x="8792817" y="2603414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4CDD3228-E8EA-54C1-6005-80149DFB65A6}"/>
                </a:ext>
              </a:extLst>
            </p:cNvPr>
            <p:cNvGrpSpPr/>
            <p:nvPr/>
          </p:nvGrpSpPr>
          <p:grpSpPr>
            <a:xfrm>
              <a:off x="9763495" y="1924027"/>
              <a:ext cx="144000" cy="585570"/>
              <a:chOff x="7743758" y="1982787"/>
              <a:chExt cx="144000" cy="585570"/>
            </a:xfrm>
            <a:grpFill/>
          </p:grpSpPr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1C8122B2-CFD6-EB37-9AD6-24141D1D92B8}"/>
                  </a:ext>
                </a:extLst>
              </p:cNvPr>
              <p:cNvSpPr/>
              <p:nvPr/>
            </p:nvSpPr>
            <p:spPr>
              <a:xfrm>
                <a:off x="7743758" y="1982787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A596EC9A-02AB-592F-9B3F-B08FCECF68F2}"/>
                  </a:ext>
                </a:extLst>
              </p:cNvPr>
              <p:cNvSpPr/>
              <p:nvPr/>
            </p:nvSpPr>
            <p:spPr>
              <a:xfrm>
                <a:off x="7743758" y="2424357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AD6B5CFF-4A76-5530-8ACD-17440895B6B6}"/>
                </a:ext>
              </a:extLst>
            </p:cNvPr>
            <p:cNvGrpSpPr/>
            <p:nvPr/>
          </p:nvGrpSpPr>
          <p:grpSpPr>
            <a:xfrm>
              <a:off x="11435224" y="1924027"/>
              <a:ext cx="150759" cy="585570"/>
              <a:chOff x="9713661" y="1982787"/>
              <a:chExt cx="150759" cy="585570"/>
            </a:xfrm>
            <a:grpFill/>
          </p:grpSpPr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A902067B-CFE0-C517-0489-F9AA72E9C63C}"/>
                  </a:ext>
                </a:extLst>
              </p:cNvPr>
              <p:cNvSpPr/>
              <p:nvPr/>
            </p:nvSpPr>
            <p:spPr>
              <a:xfrm>
                <a:off x="9713661" y="2424357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491086F4-EF56-852E-48B9-389FAC9B9B88}"/>
                  </a:ext>
                </a:extLst>
              </p:cNvPr>
              <p:cNvSpPr/>
              <p:nvPr/>
            </p:nvSpPr>
            <p:spPr>
              <a:xfrm>
                <a:off x="9720420" y="1982787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</p:grp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4207AB81-B24A-C4E3-2E4A-802692CA5C43}"/>
                </a:ext>
              </a:extLst>
            </p:cNvPr>
            <p:cNvSpPr/>
            <p:nvPr/>
          </p:nvSpPr>
          <p:spPr>
            <a:xfrm>
              <a:off x="10320225" y="1703326"/>
              <a:ext cx="144000" cy="144000"/>
            </a:xfrm>
            <a:prstGeom prst="ellipse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04D8E54B-BE1A-FE2F-A000-0965609BC635}"/>
                </a:ext>
              </a:extLst>
            </p:cNvPr>
            <p:cNvSpPr/>
            <p:nvPr/>
          </p:nvSpPr>
          <p:spPr>
            <a:xfrm>
              <a:off x="10320225" y="2586298"/>
              <a:ext cx="144000" cy="144000"/>
            </a:xfrm>
            <a:prstGeom prst="ellipse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8DF9ABBA-950C-1C37-AD93-5BECB16BC53C}"/>
                </a:ext>
              </a:extLst>
            </p:cNvPr>
            <p:cNvSpPr/>
            <p:nvPr/>
          </p:nvSpPr>
          <p:spPr>
            <a:xfrm>
              <a:off x="10320225" y="2144812"/>
              <a:ext cx="144000" cy="144000"/>
            </a:xfrm>
            <a:prstGeom prst="ellipse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9DD09914-A9CB-3E68-639D-99E10731CC90}"/>
                </a:ext>
              </a:extLst>
            </p:cNvPr>
            <p:cNvCxnSpPr>
              <a:cxnSpLocks/>
              <a:stCxn id="103" idx="6"/>
              <a:endCxn id="77" idx="2"/>
            </p:cNvCxnSpPr>
            <p:nvPr/>
          </p:nvCxnSpPr>
          <p:spPr>
            <a:xfrm flipV="1">
              <a:off x="9907495" y="1775326"/>
              <a:ext cx="412730" cy="220701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6CEB14F0-5F17-741B-C2AA-2C0AC99D1F04}"/>
                </a:ext>
              </a:extLst>
            </p:cNvPr>
            <p:cNvCxnSpPr>
              <a:cxnSpLocks/>
              <a:stCxn id="103" idx="6"/>
              <a:endCxn id="79" idx="2"/>
            </p:cNvCxnSpPr>
            <p:nvPr/>
          </p:nvCxnSpPr>
          <p:spPr>
            <a:xfrm>
              <a:off x="9907495" y="1996027"/>
              <a:ext cx="412730" cy="22078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1D5AB2E-5101-6D09-BB10-7E9C8ABA0DC6}"/>
                </a:ext>
              </a:extLst>
            </p:cNvPr>
            <p:cNvCxnSpPr>
              <a:cxnSpLocks/>
              <a:stCxn id="103" idx="6"/>
              <a:endCxn id="78" idx="2"/>
            </p:cNvCxnSpPr>
            <p:nvPr/>
          </p:nvCxnSpPr>
          <p:spPr>
            <a:xfrm>
              <a:off x="9907495" y="1996027"/>
              <a:ext cx="412730" cy="662271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B7D2228E-A0D6-F73C-0D9E-B46BADD23246}"/>
                </a:ext>
              </a:extLst>
            </p:cNvPr>
            <p:cNvCxnSpPr>
              <a:cxnSpLocks/>
              <a:stCxn id="104" idx="6"/>
              <a:endCxn id="77" idx="2"/>
            </p:cNvCxnSpPr>
            <p:nvPr/>
          </p:nvCxnSpPr>
          <p:spPr>
            <a:xfrm flipV="1">
              <a:off x="9907495" y="1775326"/>
              <a:ext cx="412730" cy="662271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F9014D0E-39EC-F760-2B39-379C9AEB90BE}"/>
                </a:ext>
              </a:extLst>
            </p:cNvPr>
            <p:cNvCxnSpPr>
              <a:cxnSpLocks/>
              <a:stCxn id="104" idx="6"/>
              <a:endCxn id="79" idx="2"/>
            </p:cNvCxnSpPr>
            <p:nvPr/>
          </p:nvCxnSpPr>
          <p:spPr>
            <a:xfrm flipV="1">
              <a:off x="9907495" y="2216812"/>
              <a:ext cx="412730" cy="22078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372BDD1F-835B-1C47-4BB0-9456FB2B5CFA}"/>
                </a:ext>
              </a:extLst>
            </p:cNvPr>
            <p:cNvCxnSpPr>
              <a:cxnSpLocks/>
              <a:stCxn id="104" idx="6"/>
              <a:endCxn id="78" idx="2"/>
            </p:cNvCxnSpPr>
            <p:nvPr/>
          </p:nvCxnSpPr>
          <p:spPr>
            <a:xfrm>
              <a:off x="9907495" y="2437597"/>
              <a:ext cx="412730" cy="220701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64943376-DB73-FFE5-6564-550E2E7ACB5F}"/>
                </a:ext>
              </a:extLst>
            </p:cNvPr>
            <p:cNvCxnSpPr>
              <a:cxnSpLocks/>
              <a:stCxn id="77" idx="6"/>
              <a:endCxn id="105" idx="2"/>
            </p:cNvCxnSpPr>
            <p:nvPr/>
          </p:nvCxnSpPr>
          <p:spPr>
            <a:xfrm>
              <a:off x="10464225" y="1775326"/>
              <a:ext cx="414269" cy="48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31E43B6F-D8EA-228C-0599-C6E221694F05}"/>
                </a:ext>
              </a:extLst>
            </p:cNvPr>
            <p:cNvCxnSpPr>
              <a:cxnSpLocks/>
              <a:stCxn id="77" idx="6"/>
              <a:endCxn id="107" idx="2"/>
            </p:cNvCxnSpPr>
            <p:nvPr/>
          </p:nvCxnSpPr>
          <p:spPr>
            <a:xfrm>
              <a:off x="10464225" y="1775326"/>
              <a:ext cx="412730" cy="88248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B96EBDF1-0150-E4E1-1EB4-5BF2934F351A}"/>
                </a:ext>
              </a:extLst>
            </p:cNvPr>
            <p:cNvCxnSpPr>
              <a:cxnSpLocks/>
              <a:stCxn id="77" idx="6"/>
              <a:endCxn id="106" idx="2"/>
            </p:cNvCxnSpPr>
            <p:nvPr/>
          </p:nvCxnSpPr>
          <p:spPr>
            <a:xfrm>
              <a:off x="10464225" y="1775326"/>
              <a:ext cx="412730" cy="446137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F4252AE1-1C66-50E1-B241-413E49659491}"/>
                </a:ext>
              </a:extLst>
            </p:cNvPr>
            <p:cNvCxnSpPr>
              <a:cxnSpLocks/>
              <a:stCxn id="79" idx="6"/>
              <a:endCxn id="106" idx="2"/>
            </p:cNvCxnSpPr>
            <p:nvPr/>
          </p:nvCxnSpPr>
          <p:spPr>
            <a:xfrm>
              <a:off x="10464225" y="2216812"/>
              <a:ext cx="412730" cy="4651"/>
            </a:xfrm>
            <a:prstGeom prst="line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B29A7555-DD98-2B95-4560-B76BE6179D50}"/>
                </a:ext>
              </a:extLst>
            </p:cNvPr>
            <p:cNvCxnSpPr>
              <a:cxnSpLocks/>
              <a:stCxn id="79" idx="6"/>
              <a:endCxn id="105" idx="2"/>
            </p:cNvCxnSpPr>
            <p:nvPr/>
          </p:nvCxnSpPr>
          <p:spPr>
            <a:xfrm flipV="1">
              <a:off x="10464225" y="1775812"/>
              <a:ext cx="414269" cy="441000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14D3F913-1BAA-4CD8-4AAE-29FBD602825E}"/>
                </a:ext>
              </a:extLst>
            </p:cNvPr>
            <p:cNvCxnSpPr>
              <a:cxnSpLocks/>
              <a:stCxn id="79" idx="6"/>
              <a:endCxn id="107" idx="2"/>
            </p:cNvCxnSpPr>
            <p:nvPr/>
          </p:nvCxnSpPr>
          <p:spPr>
            <a:xfrm>
              <a:off x="10464225" y="2216812"/>
              <a:ext cx="412730" cy="441000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35710E79-51AA-4D05-6DC1-5AE7DAFB0A57}"/>
                </a:ext>
              </a:extLst>
            </p:cNvPr>
            <p:cNvCxnSpPr>
              <a:cxnSpLocks/>
              <a:stCxn id="78" idx="6"/>
              <a:endCxn id="105" idx="2"/>
            </p:cNvCxnSpPr>
            <p:nvPr/>
          </p:nvCxnSpPr>
          <p:spPr>
            <a:xfrm flipV="1">
              <a:off x="10464225" y="1775812"/>
              <a:ext cx="414269" cy="88248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A3EC315C-1384-027E-66CA-F5D4AD8D666A}"/>
                </a:ext>
              </a:extLst>
            </p:cNvPr>
            <p:cNvCxnSpPr>
              <a:cxnSpLocks/>
              <a:stCxn id="78" idx="6"/>
              <a:endCxn id="107" idx="2"/>
            </p:cNvCxnSpPr>
            <p:nvPr/>
          </p:nvCxnSpPr>
          <p:spPr>
            <a:xfrm flipV="1">
              <a:off x="10464225" y="2657812"/>
              <a:ext cx="412730" cy="48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F4F44CC4-A470-B4B7-ABA4-3183744D27FC}"/>
                </a:ext>
              </a:extLst>
            </p:cNvPr>
            <p:cNvCxnSpPr>
              <a:cxnSpLocks/>
              <a:stCxn id="78" idx="6"/>
              <a:endCxn id="106" idx="2"/>
            </p:cNvCxnSpPr>
            <p:nvPr/>
          </p:nvCxnSpPr>
          <p:spPr>
            <a:xfrm flipV="1">
              <a:off x="10464225" y="2221463"/>
              <a:ext cx="412730" cy="43683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3AF1D3E8-3569-1026-0A51-EB2095E65530}"/>
                </a:ext>
              </a:extLst>
            </p:cNvPr>
            <p:cNvCxnSpPr>
              <a:cxnSpLocks/>
              <a:stCxn id="105" idx="6"/>
              <a:endCxn id="102" idx="2"/>
            </p:cNvCxnSpPr>
            <p:nvPr/>
          </p:nvCxnSpPr>
          <p:spPr>
            <a:xfrm>
              <a:off x="11022494" y="1775812"/>
              <a:ext cx="419489" cy="22021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7B163AC3-9ADC-72EB-E52C-11F273043028}"/>
                </a:ext>
              </a:extLst>
            </p:cNvPr>
            <p:cNvCxnSpPr>
              <a:cxnSpLocks/>
              <a:stCxn id="105" idx="6"/>
              <a:endCxn id="101" idx="2"/>
            </p:cNvCxnSpPr>
            <p:nvPr/>
          </p:nvCxnSpPr>
          <p:spPr>
            <a:xfrm>
              <a:off x="11022494" y="1775812"/>
              <a:ext cx="412730" cy="66178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80AA073C-B2A2-9601-B0A1-23505AC73A28}"/>
                </a:ext>
              </a:extLst>
            </p:cNvPr>
            <p:cNvCxnSpPr>
              <a:cxnSpLocks/>
              <a:stCxn id="106" idx="6"/>
              <a:endCxn id="102" idx="2"/>
            </p:cNvCxnSpPr>
            <p:nvPr/>
          </p:nvCxnSpPr>
          <p:spPr>
            <a:xfrm flipV="1">
              <a:off x="11020955" y="1996027"/>
              <a:ext cx="421028" cy="225436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C506E6B9-992E-D6EE-5CA9-3232BAE8A186}"/>
                </a:ext>
              </a:extLst>
            </p:cNvPr>
            <p:cNvCxnSpPr>
              <a:cxnSpLocks/>
              <a:stCxn id="106" idx="6"/>
              <a:endCxn id="101" idx="2"/>
            </p:cNvCxnSpPr>
            <p:nvPr/>
          </p:nvCxnSpPr>
          <p:spPr>
            <a:xfrm>
              <a:off x="11020955" y="2221463"/>
              <a:ext cx="414269" cy="216134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15C89BD9-D5EF-73F8-6BC1-2C7B6D1EFC70}"/>
                </a:ext>
              </a:extLst>
            </p:cNvPr>
            <p:cNvCxnSpPr>
              <a:cxnSpLocks/>
              <a:stCxn id="107" idx="6"/>
              <a:endCxn id="102" idx="2"/>
            </p:cNvCxnSpPr>
            <p:nvPr/>
          </p:nvCxnSpPr>
          <p:spPr>
            <a:xfrm flipV="1">
              <a:off x="11020955" y="1996027"/>
              <a:ext cx="421028" cy="66178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3A7F3B68-ED98-9C0E-1796-EA28193E4647}"/>
                </a:ext>
              </a:extLst>
            </p:cNvPr>
            <p:cNvCxnSpPr>
              <a:cxnSpLocks/>
              <a:stCxn id="107" idx="6"/>
              <a:endCxn id="101" idx="2"/>
            </p:cNvCxnSpPr>
            <p:nvPr/>
          </p:nvCxnSpPr>
          <p:spPr>
            <a:xfrm flipV="1">
              <a:off x="11020955" y="2437597"/>
              <a:ext cx="414269" cy="220215"/>
            </a:xfrm>
            <a:prstGeom prst="straightConnector1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B32DEB52-BF23-A499-463C-41D5B8D4DB13}"/>
              </a:ext>
            </a:extLst>
          </p:cNvPr>
          <p:cNvGrpSpPr/>
          <p:nvPr/>
        </p:nvGrpSpPr>
        <p:grpSpPr>
          <a:xfrm>
            <a:off x="3301786" y="2656702"/>
            <a:ext cx="1893977" cy="716547"/>
            <a:chOff x="3485969" y="2979674"/>
            <a:chExt cx="1893977" cy="716547"/>
          </a:xfrm>
        </p:grpSpPr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AFC85F3C-FFA3-E857-EDEE-A98400151076}"/>
                </a:ext>
              </a:extLst>
            </p:cNvPr>
            <p:cNvCxnSpPr>
              <a:cxnSpLocks/>
              <a:endCxn id="110" idx="0"/>
            </p:cNvCxnSpPr>
            <p:nvPr/>
          </p:nvCxnSpPr>
          <p:spPr>
            <a:xfrm flipH="1">
              <a:off x="3934066" y="2986152"/>
              <a:ext cx="103479" cy="3241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FD90914A-AC68-C447-E841-ECE0EC91AF95}"/>
                    </a:ext>
                  </a:extLst>
                </p:cNvPr>
                <p:cNvSpPr txBox="1"/>
                <p:nvPr/>
              </p:nvSpPr>
              <p:spPr>
                <a:xfrm>
                  <a:off x="3485969" y="3310321"/>
                  <a:ext cx="896194" cy="372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48FAA3E8-DE6E-5773-48F3-AA2BE6AFB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5969" y="3310321"/>
                  <a:ext cx="896194" cy="372666"/>
                </a:xfrm>
                <a:prstGeom prst="rect">
                  <a:avLst/>
                </a:prstGeom>
                <a:blipFill>
                  <a:blip r:embed="rId8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6293A124-4690-5FA9-F2B8-4F0A6D9AD954}"/>
                    </a:ext>
                  </a:extLst>
                </p:cNvPr>
                <p:cNvSpPr txBox="1"/>
                <p:nvPr/>
              </p:nvSpPr>
              <p:spPr>
                <a:xfrm>
                  <a:off x="4273149" y="3314487"/>
                  <a:ext cx="518575" cy="3731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CE78EE7F-50E0-C7B0-11F3-C3145302A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3149" y="3314487"/>
                  <a:ext cx="518575" cy="373179"/>
                </a:xfrm>
                <a:prstGeom prst="rect">
                  <a:avLst/>
                </a:prstGeom>
                <a:blipFill>
                  <a:blip r:embed="rId9"/>
                  <a:stretch>
                    <a:fillRect l="-7059"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6A810885-38B4-13A6-75C3-330FC67BA265}"/>
                    </a:ext>
                  </a:extLst>
                </p:cNvPr>
                <p:cNvSpPr txBox="1"/>
                <p:nvPr/>
              </p:nvSpPr>
              <p:spPr>
                <a:xfrm>
                  <a:off x="4861371" y="3321631"/>
                  <a:ext cx="518575" cy="3745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0" name="文本框 319">
                  <a:extLst>
                    <a:ext uri="{FF2B5EF4-FFF2-40B4-BE49-F238E27FC236}">
                      <a16:creationId xmlns:a16="http://schemas.microsoft.com/office/drawing/2014/main" id="{45A71843-22F8-4436-842D-FD1ACB57F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1371" y="3321631"/>
                  <a:ext cx="518575" cy="374590"/>
                </a:xfrm>
                <a:prstGeom prst="rect">
                  <a:avLst/>
                </a:prstGeom>
                <a:blipFill>
                  <a:blip r:embed="rId10"/>
                  <a:stretch>
                    <a:fillRect l="-5814"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68E92534-1A5E-6EEE-66DD-C28170903DE4}"/>
                </a:ext>
              </a:extLst>
            </p:cNvPr>
            <p:cNvCxnSpPr>
              <a:cxnSpLocks/>
              <a:endCxn id="111" idx="0"/>
            </p:cNvCxnSpPr>
            <p:nvPr/>
          </p:nvCxnSpPr>
          <p:spPr>
            <a:xfrm>
              <a:off x="4532437" y="3096269"/>
              <a:ext cx="0" cy="218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93D2BEF9-0126-C337-00C9-D54CEAA19EE2}"/>
                </a:ext>
              </a:extLst>
            </p:cNvPr>
            <p:cNvCxnSpPr>
              <a:cxnSpLocks/>
              <a:endCxn id="112" idx="0"/>
            </p:cNvCxnSpPr>
            <p:nvPr/>
          </p:nvCxnSpPr>
          <p:spPr>
            <a:xfrm>
              <a:off x="4958961" y="2979674"/>
              <a:ext cx="161698" cy="3419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BDE47BF3-732E-A052-220D-9624E04218E9}"/>
              </a:ext>
            </a:extLst>
          </p:cNvPr>
          <p:cNvGrpSpPr/>
          <p:nvPr/>
        </p:nvGrpSpPr>
        <p:grpSpPr>
          <a:xfrm>
            <a:off x="5195763" y="1770833"/>
            <a:ext cx="3393312" cy="1658167"/>
            <a:chOff x="5379946" y="2093805"/>
            <a:chExt cx="3393312" cy="1658167"/>
          </a:xfrm>
        </p:grpSpPr>
        <p:sp>
          <p:nvSpPr>
            <p:cNvPr id="116" name="箭头: 下 115">
              <a:extLst>
                <a:ext uri="{FF2B5EF4-FFF2-40B4-BE49-F238E27FC236}">
                  <a16:creationId xmlns:a16="http://schemas.microsoft.com/office/drawing/2014/main" id="{A4DFC56E-775E-D743-38E6-895290C64A9F}"/>
                </a:ext>
              </a:extLst>
            </p:cNvPr>
            <p:cNvSpPr/>
            <p:nvPr/>
          </p:nvSpPr>
          <p:spPr>
            <a:xfrm rot="16200000">
              <a:off x="5670152" y="2204602"/>
              <a:ext cx="412730" cy="79311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 dirty="0"/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7FEC023D-CE98-A813-42D7-3284345D0531}"/>
                </a:ext>
              </a:extLst>
            </p:cNvPr>
            <p:cNvSpPr txBox="1"/>
            <p:nvPr/>
          </p:nvSpPr>
          <p:spPr>
            <a:xfrm>
              <a:off x="5379946" y="2183552"/>
              <a:ext cx="9257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+mn-ea"/>
                </a:rPr>
                <a:t>参数平均</a:t>
              </a:r>
              <a:endParaRPr lang="zh-CN" altLang="en-US" sz="1400" dirty="0"/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8B25C33F-282D-F68D-F77A-8948685024E3}"/>
                </a:ext>
              </a:extLst>
            </p:cNvPr>
            <p:cNvGrpSpPr/>
            <p:nvPr/>
          </p:nvGrpSpPr>
          <p:grpSpPr>
            <a:xfrm>
              <a:off x="6543870" y="2093805"/>
              <a:ext cx="1515258" cy="1026972"/>
              <a:chOff x="9763495" y="1703326"/>
              <a:chExt cx="1822488" cy="1026972"/>
            </a:xfrm>
            <a:solidFill>
              <a:schemeClr val="bg1">
                <a:lumMod val="50000"/>
              </a:schemeClr>
            </a:solidFill>
          </p:grpSpPr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A1798119-562D-62C3-4508-FCAFFBFFD401}"/>
                  </a:ext>
                </a:extLst>
              </p:cNvPr>
              <p:cNvGrpSpPr/>
              <p:nvPr/>
            </p:nvGrpSpPr>
            <p:grpSpPr>
              <a:xfrm>
                <a:off x="10876955" y="1703812"/>
                <a:ext cx="145539" cy="1026000"/>
                <a:chOff x="8792817" y="1721414"/>
                <a:chExt cx="145539" cy="1026000"/>
              </a:xfrm>
              <a:grpFill/>
            </p:grpSpPr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00B2F329-9DDF-BDE1-0CA5-8E139D3BD603}"/>
                    </a:ext>
                  </a:extLst>
                </p:cNvPr>
                <p:cNvSpPr/>
                <p:nvPr/>
              </p:nvSpPr>
              <p:spPr>
                <a:xfrm>
                  <a:off x="8794356" y="1721414"/>
                  <a:ext cx="144000" cy="144000"/>
                </a:xfrm>
                <a:prstGeom prst="ellips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u="sng"/>
                </a:p>
              </p:txBody>
            </p:sp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1A8732D4-E05B-DCE2-1294-C424BE2DC2D3}"/>
                    </a:ext>
                  </a:extLst>
                </p:cNvPr>
                <p:cNvSpPr/>
                <p:nvPr/>
              </p:nvSpPr>
              <p:spPr>
                <a:xfrm>
                  <a:off x="8792817" y="2167065"/>
                  <a:ext cx="144000" cy="144000"/>
                </a:xfrm>
                <a:prstGeom prst="ellips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u="sng"/>
                </a:p>
              </p:txBody>
            </p:sp>
            <p:sp>
              <p:nvSpPr>
                <p:cNvPr id="156" name="椭圆 155">
                  <a:extLst>
                    <a:ext uri="{FF2B5EF4-FFF2-40B4-BE49-F238E27FC236}">
                      <a16:creationId xmlns:a16="http://schemas.microsoft.com/office/drawing/2014/main" id="{2411B3E0-091F-9458-A2FB-EF5A14007151}"/>
                    </a:ext>
                  </a:extLst>
                </p:cNvPr>
                <p:cNvSpPr/>
                <p:nvPr/>
              </p:nvSpPr>
              <p:spPr>
                <a:xfrm>
                  <a:off x="8792817" y="2603414"/>
                  <a:ext cx="144000" cy="144000"/>
                </a:xfrm>
                <a:prstGeom prst="ellips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u="sng"/>
                </a:p>
              </p:txBody>
            </p:sp>
          </p:grp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6E3B7EC2-6042-ED76-955D-C7674BF88471}"/>
                  </a:ext>
                </a:extLst>
              </p:cNvPr>
              <p:cNvGrpSpPr/>
              <p:nvPr/>
            </p:nvGrpSpPr>
            <p:grpSpPr>
              <a:xfrm>
                <a:off x="9763495" y="1924027"/>
                <a:ext cx="144000" cy="585570"/>
                <a:chOff x="7743758" y="1982787"/>
                <a:chExt cx="144000" cy="585570"/>
              </a:xfrm>
              <a:grpFill/>
            </p:grpSpPr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A5FD4FAD-F10A-853C-4D97-53EA484BCBF3}"/>
                    </a:ext>
                  </a:extLst>
                </p:cNvPr>
                <p:cNvSpPr/>
                <p:nvPr/>
              </p:nvSpPr>
              <p:spPr>
                <a:xfrm>
                  <a:off x="7743758" y="1982787"/>
                  <a:ext cx="144000" cy="144000"/>
                </a:xfrm>
                <a:prstGeom prst="ellips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u="sng"/>
                </a:p>
              </p:txBody>
            </p:sp>
            <p:sp>
              <p:nvSpPr>
                <p:cNvPr id="153" name="椭圆 152">
                  <a:extLst>
                    <a:ext uri="{FF2B5EF4-FFF2-40B4-BE49-F238E27FC236}">
                      <a16:creationId xmlns:a16="http://schemas.microsoft.com/office/drawing/2014/main" id="{4DCED918-3B76-CD57-7880-E63A99289175}"/>
                    </a:ext>
                  </a:extLst>
                </p:cNvPr>
                <p:cNvSpPr/>
                <p:nvPr/>
              </p:nvSpPr>
              <p:spPr>
                <a:xfrm>
                  <a:off x="7743758" y="2424357"/>
                  <a:ext cx="144000" cy="144000"/>
                </a:xfrm>
                <a:prstGeom prst="ellips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u="sng"/>
                </a:p>
              </p:txBody>
            </p:sp>
          </p:grpSp>
          <p:grpSp>
            <p:nvGrpSpPr>
              <p:cNvPr id="125" name="组合 124">
                <a:extLst>
                  <a:ext uri="{FF2B5EF4-FFF2-40B4-BE49-F238E27FC236}">
                    <a16:creationId xmlns:a16="http://schemas.microsoft.com/office/drawing/2014/main" id="{3C76F6A6-DF0E-B338-AA42-700404B09AD4}"/>
                  </a:ext>
                </a:extLst>
              </p:cNvPr>
              <p:cNvGrpSpPr/>
              <p:nvPr/>
            </p:nvGrpSpPr>
            <p:grpSpPr>
              <a:xfrm>
                <a:off x="11435224" y="1924027"/>
                <a:ext cx="150759" cy="585570"/>
                <a:chOff x="9713661" y="1982787"/>
                <a:chExt cx="150759" cy="585570"/>
              </a:xfrm>
              <a:grpFill/>
            </p:grpSpPr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9F3D833A-7672-7FD6-378B-97C6E76F50AC}"/>
                    </a:ext>
                  </a:extLst>
                </p:cNvPr>
                <p:cNvSpPr/>
                <p:nvPr/>
              </p:nvSpPr>
              <p:spPr>
                <a:xfrm>
                  <a:off x="9713661" y="2424357"/>
                  <a:ext cx="144000" cy="144000"/>
                </a:xfrm>
                <a:prstGeom prst="ellips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u="sng"/>
                </a:p>
              </p:txBody>
            </p:sp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E4F15C2E-002A-0960-B249-9D87F1D5D3BA}"/>
                    </a:ext>
                  </a:extLst>
                </p:cNvPr>
                <p:cNvSpPr/>
                <p:nvPr/>
              </p:nvSpPr>
              <p:spPr>
                <a:xfrm>
                  <a:off x="9720420" y="1982787"/>
                  <a:ext cx="144000" cy="144000"/>
                </a:xfrm>
                <a:prstGeom prst="ellips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u="sng"/>
                </a:p>
              </p:txBody>
            </p:sp>
          </p:grp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2B8E81CA-C97C-F3B3-12CE-523FD5489EB6}"/>
                  </a:ext>
                </a:extLst>
              </p:cNvPr>
              <p:cNvSpPr/>
              <p:nvPr/>
            </p:nvSpPr>
            <p:spPr>
              <a:xfrm>
                <a:off x="10320225" y="1703326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D5F061EE-FF7A-4134-3ACC-D4A808E65119}"/>
                  </a:ext>
                </a:extLst>
              </p:cNvPr>
              <p:cNvSpPr/>
              <p:nvPr/>
            </p:nvSpPr>
            <p:spPr>
              <a:xfrm>
                <a:off x="10320225" y="2586298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2C4D0AF4-46F5-4CF0-A2A1-6EAE65F24672}"/>
                  </a:ext>
                </a:extLst>
              </p:cNvPr>
              <p:cNvSpPr/>
              <p:nvPr/>
            </p:nvSpPr>
            <p:spPr>
              <a:xfrm>
                <a:off x="10320225" y="2144812"/>
                <a:ext cx="144000" cy="144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u="sng"/>
              </a:p>
            </p:txBody>
          </p:sp>
          <p:cxnSp>
            <p:nvCxnSpPr>
              <p:cNvPr id="129" name="直接箭头连接符 128">
                <a:extLst>
                  <a:ext uri="{FF2B5EF4-FFF2-40B4-BE49-F238E27FC236}">
                    <a16:creationId xmlns:a16="http://schemas.microsoft.com/office/drawing/2014/main" id="{88561637-B7ED-7255-7426-EBDDAF911824}"/>
                  </a:ext>
                </a:extLst>
              </p:cNvPr>
              <p:cNvCxnSpPr>
                <a:cxnSpLocks/>
                <a:stCxn id="152" idx="6"/>
                <a:endCxn id="126" idx="2"/>
              </p:cNvCxnSpPr>
              <p:nvPr/>
            </p:nvCxnSpPr>
            <p:spPr>
              <a:xfrm flipV="1">
                <a:off x="9907495" y="1775326"/>
                <a:ext cx="412730" cy="220701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>
                <a:extLst>
                  <a:ext uri="{FF2B5EF4-FFF2-40B4-BE49-F238E27FC236}">
                    <a16:creationId xmlns:a16="http://schemas.microsoft.com/office/drawing/2014/main" id="{819005C3-CCEE-7D17-3946-4A2D5C080A3F}"/>
                  </a:ext>
                </a:extLst>
              </p:cNvPr>
              <p:cNvCxnSpPr>
                <a:cxnSpLocks/>
                <a:stCxn id="152" idx="6"/>
                <a:endCxn id="128" idx="2"/>
              </p:cNvCxnSpPr>
              <p:nvPr/>
            </p:nvCxnSpPr>
            <p:spPr>
              <a:xfrm>
                <a:off x="9907495" y="1996027"/>
                <a:ext cx="412730" cy="220785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箭头连接符 130">
                <a:extLst>
                  <a:ext uri="{FF2B5EF4-FFF2-40B4-BE49-F238E27FC236}">
                    <a16:creationId xmlns:a16="http://schemas.microsoft.com/office/drawing/2014/main" id="{D61B7670-CBEE-6F58-C463-0F79FB577EA8}"/>
                  </a:ext>
                </a:extLst>
              </p:cNvPr>
              <p:cNvCxnSpPr>
                <a:cxnSpLocks/>
                <a:stCxn id="152" idx="6"/>
                <a:endCxn id="127" idx="2"/>
              </p:cNvCxnSpPr>
              <p:nvPr/>
            </p:nvCxnSpPr>
            <p:spPr>
              <a:xfrm>
                <a:off x="9907495" y="1996027"/>
                <a:ext cx="412730" cy="662271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B9730619-B132-DD74-CB88-5F68295B35C3}"/>
                  </a:ext>
                </a:extLst>
              </p:cNvPr>
              <p:cNvCxnSpPr>
                <a:cxnSpLocks/>
                <a:stCxn id="153" idx="6"/>
                <a:endCxn id="126" idx="2"/>
              </p:cNvCxnSpPr>
              <p:nvPr/>
            </p:nvCxnSpPr>
            <p:spPr>
              <a:xfrm flipV="1">
                <a:off x="9907495" y="1775326"/>
                <a:ext cx="412730" cy="662271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>
                <a:extLst>
                  <a:ext uri="{FF2B5EF4-FFF2-40B4-BE49-F238E27FC236}">
                    <a16:creationId xmlns:a16="http://schemas.microsoft.com/office/drawing/2014/main" id="{8FD14334-F8AD-6C0C-A4A7-4918E9E9B6F1}"/>
                  </a:ext>
                </a:extLst>
              </p:cNvPr>
              <p:cNvCxnSpPr>
                <a:cxnSpLocks/>
                <a:stCxn id="153" idx="6"/>
                <a:endCxn id="128" idx="2"/>
              </p:cNvCxnSpPr>
              <p:nvPr/>
            </p:nvCxnSpPr>
            <p:spPr>
              <a:xfrm flipV="1">
                <a:off x="9907495" y="2216812"/>
                <a:ext cx="412730" cy="220785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箭头连接符 133">
                <a:extLst>
                  <a:ext uri="{FF2B5EF4-FFF2-40B4-BE49-F238E27FC236}">
                    <a16:creationId xmlns:a16="http://schemas.microsoft.com/office/drawing/2014/main" id="{1CAF70F8-E20D-2074-0019-B9FCAF3E0CEB}"/>
                  </a:ext>
                </a:extLst>
              </p:cNvPr>
              <p:cNvCxnSpPr>
                <a:cxnSpLocks/>
                <a:stCxn id="153" idx="6"/>
                <a:endCxn id="127" idx="2"/>
              </p:cNvCxnSpPr>
              <p:nvPr/>
            </p:nvCxnSpPr>
            <p:spPr>
              <a:xfrm>
                <a:off x="9907495" y="2437597"/>
                <a:ext cx="412730" cy="220701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2EB3309C-5513-70C3-7AEA-EA02FEA6B74A}"/>
                  </a:ext>
                </a:extLst>
              </p:cNvPr>
              <p:cNvCxnSpPr>
                <a:cxnSpLocks/>
                <a:stCxn id="126" idx="6"/>
                <a:endCxn id="154" idx="2"/>
              </p:cNvCxnSpPr>
              <p:nvPr/>
            </p:nvCxnSpPr>
            <p:spPr>
              <a:xfrm>
                <a:off x="10464225" y="1775326"/>
                <a:ext cx="414269" cy="486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F8EB9D0D-4DBE-1990-99DB-EEB8186D6B76}"/>
                  </a:ext>
                </a:extLst>
              </p:cNvPr>
              <p:cNvCxnSpPr>
                <a:cxnSpLocks/>
                <a:stCxn id="126" idx="6"/>
                <a:endCxn id="156" idx="2"/>
              </p:cNvCxnSpPr>
              <p:nvPr/>
            </p:nvCxnSpPr>
            <p:spPr>
              <a:xfrm>
                <a:off x="10464225" y="1775326"/>
                <a:ext cx="412730" cy="882486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>
                <a:extLst>
                  <a:ext uri="{FF2B5EF4-FFF2-40B4-BE49-F238E27FC236}">
                    <a16:creationId xmlns:a16="http://schemas.microsoft.com/office/drawing/2014/main" id="{E3E4E65D-BE98-1F0D-3E77-846929746F2B}"/>
                  </a:ext>
                </a:extLst>
              </p:cNvPr>
              <p:cNvCxnSpPr>
                <a:cxnSpLocks/>
                <a:stCxn id="126" idx="6"/>
                <a:endCxn id="155" idx="2"/>
              </p:cNvCxnSpPr>
              <p:nvPr/>
            </p:nvCxnSpPr>
            <p:spPr>
              <a:xfrm>
                <a:off x="10464225" y="1775326"/>
                <a:ext cx="412730" cy="446137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E147BFC7-29A8-1F00-B4BF-A9D37D2D90A9}"/>
                  </a:ext>
                </a:extLst>
              </p:cNvPr>
              <p:cNvCxnSpPr>
                <a:cxnSpLocks/>
                <a:stCxn id="128" idx="6"/>
                <a:endCxn id="155" idx="2"/>
              </p:cNvCxnSpPr>
              <p:nvPr/>
            </p:nvCxnSpPr>
            <p:spPr>
              <a:xfrm>
                <a:off x="10464225" y="2216812"/>
                <a:ext cx="412730" cy="4651"/>
              </a:xfrm>
              <a:prstGeom prst="line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箭头连接符 138">
                <a:extLst>
                  <a:ext uri="{FF2B5EF4-FFF2-40B4-BE49-F238E27FC236}">
                    <a16:creationId xmlns:a16="http://schemas.microsoft.com/office/drawing/2014/main" id="{2F57206B-AA3A-4B61-19F8-007FCFF9C3C5}"/>
                  </a:ext>
                </a:extLst>
              </p:cNvPr>
              <p:cNvCxnSpPr>
                <a:cxnSpLocks/>
                <a:stCxn id="128" idx="6"/>
                <a:endCxn id="154" idx="2"/>
              </p:cNvCxnSpPr>
              <p:nvPr/>
            </p:nvCxnSpPr>
            <p:spPr>
              <a:xfrm flipV="1">
                <a:off x="10464225" y="1775812"/>
                <a:ext cx="414269" cy="441000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139">
                <a:extLst>
                  <a:ext uri="{FF2B5EF4-FFF2-40B4-BE49-F238E27FC236}">
                    <a16:creationId xmlns:a16="http://schemas.microsoft.com/office/drawing/2014/main" id="{C3A6D534-5C7F-9E9E-DF65-BED609227DBA}"/>
                  </a:ext>
                </a:extLst>
              </p:cNvPr>
              <p:cNvCxnSpPr>
                <a:cxnSpLocks/>
                <a:stCxn id="128" idx="6"/>
                <a:endCxn id="156" idx="2"/>
              </p:cNvCxnSpPr>
              <p:nvPr/>
            </p:nvCxnSpPr>
            <p:spPr>
              <a:xfrm>
                <a:off x="10464225" y="2216812"/>
                <a:ext cx="412730" cy="441000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6B227E1A-CD79-6C2B-68AC-96972925247F}"/>
                  </a:ext>
                </a:extLst>
              </p:cNvPr>
              <p:cNvCxnSpPr>
                <a:cxnSpLocks/>
                <a:stCxn id="127" idx="6"/>
                <a:endCxn id="154" idx="2"/>
              </p:cNvCxnSpPr>
              <p:nvPr/>
            </p:nvCxnSpPr>
            <p:spPr>
              <a:xfrm flipV="1">
                <a:off x="10464225" y="1775812"/>
                <a:ext cx="414269" cy="882486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箭头连接符 141">
                <a:extLst>
                  <a:ext uri="{FF2B5EF4-FFF2-40B4-BE49-F238E27FC236}">
                    <a16:creationId xmlns:a16="http://schemas.microsoft.com/office/drawing/2014/main" id="{7B0A4867-3260-1CA2-AB03-5E304CAE2BFC}"/>
                  </a:ext>
                </a:extLst>
              </p:cNvPr>
              <p:cNvCxnSpPr>
                <a:cxnSpLocks/>
                <a:stCxn id="127" idx="6"/>
                <a:endCxn id="156" idx="2"/>
              </p:cNvCxnSpPr>
              <p:nvPr/>
            </p:nvCxnSpPr>
            <p:spPr>
              <a:xfrm flipV="1">
                <a:off x="10464225" y="2657812"/>
                <a:ext cx="412730" cy="486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箭头连接符 142">
                <a:extLst>
                  <a:ext uri="{FF2B5EF4-FFF2-40B4-BE49-F238E27FC236}">
                    <a16:creationId xmlns:a16="http://schemas.microsoft.com/office/drawing/2014/main" id="{E0B05CC6-D3B2-7468-7E37-BBD2D4D00CF9}"/>
                  </a:ext>
                </a:extLst>
              </p:cNvPr>
              <p:cNvCxnSpPr>
                <a:cxnSpLocks/>
                <a:stCxn id="127" idx="6"/>
                <a:endCxn id="155" idx="2"/>
              </p:cNvCxnSpPr>
              <p:nvPr/>
            </p:nvCxnSpPr>
            <p:spPr>
              <a:xfrm flipV="1">
                <a:off x="10464225" y="2221463"/>
                <a:ext cx="412730" cy="436835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箭头连接符 143">
                <a:extLst>
                  <a:ext uri="{FF2B5EF4-FFF2-40B4-BE49-F238E27FC236}">
                    <a16:creationId xmlns:a16="http://schemas.microsoft.com/office/drawing/2014/main" id="{E5D88370-7DD3-EBDC-6553-5BA329E9098A}"/>
                  </a:ext>
                </a:extLst>
              </p:cNvPr>
              <p:cNvCxnSpPr>
                <a:cxnSpLocks/>
                <a:stCxn id="154" idx="6"/>
                <a:endCxn id="151" idx="2"/>
              </p:cNvCxnSpPr>
              <p:nvPr/>
            </p:nvCxnSpPr>
            <p:spPr>
              <a:xfrm>
                <a:off x="11022494" y="1775812"/>
                <a:ext cx="419489" cy="220215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9D0D4801-4A3C-7D5B-6182-0E2EFF57389C}"/>
                  </a:ext>
                </a:extLst>
              </p:cNvPr>
              <p:cNvCxnSpPr>
                <a:cxnSpLocks/>
                <a:stCxn id="154" idx="6"/>
                <a:endCxn id="150" idx="2"/>
              </p:cNvCxnSpPr>
              <p:nvPr/>
            </p:nvCxnSpPr>
            <p:spPr>
              <a:xfrm>
                <a:off x="11022494" y="1775812"/>
                <a:ext cx="412730" cy="661785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>
                <a:extLst>
                  <a:ext uri="{FF2B5EF4-FFF2-40B4-BE49-F238E27FC236}">
                    <a16:creationId xmlns:a16="http://schemas.microsoft.com/office/drawing/2014/main" id="{8EAF5954-3AD2-A920-5417-9122F254070B}"/>
                  </a:ext>
                </a:extLst>
              </p:cNvPr>
              <p:cNvCxnSpPr>
                <a:cxnSpLocks/>
                <a:stCxn id="155" idx="6"/>
                <a:endCxn id="151" idx="2"/>
              </p:cNvCxnSpPr>
              <p:nvPr/>
            </p:nvCxnSpPr>
            <p:spPr>
              <a:xfrm flipV="1">
                <a:off x="11020955" y="1996027"/>
                <a:ext cx="421028" cy="225436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箭头连接符 146">
                <a:extLst>
                  <a:ext uri="{FF2B5EF4-FFF2-40B4-BE49-F238E27FC236}">
                    <a16:creationId xmlns:a16="http://schemas.microsoft.com/office/drawing/2014/main" id="{91AC5BBD-F22B-D8F1-6BC6-22BFB271698C}"/>
                  </a:ext>
                </a:extLst>
              </p:cNvPr>
              <p:cNvCxnSpPr>
                <a:cxnSpLocks/>
                <a:stCxn id="155" idx="6"/>
                <a:endCxn id="150" idx="2"/>
              </p:cNvCxnSpPr>
              <p:nvPr/>
            </p:nvCxnSpPr>
            <p:spPr>
              <a:xfrm>
                <a:off x="11020955" y="2221463"/>
                <a:ext cx="414269" cy="216134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3BEDE96E-88B5-C548-542B-70F3970CE2FF}"/>
                  </a:ext>
                </a:extLst>
              </p:cNvPr>
              <p:cNvCxnSpPr>
                <a:cxnSpLocks/>
                <a:stCxn id="156" idx="6"/>
                <a:endCxn id="151" idx="2"/>
              </p:cNvCxnSpPr>
              <p:nvPr/>
            </p:nvCxnSpPr>
            <p:spPr>
              <a:xfrm flipV="1">
                <a:off x="11020955" y="1996027"/>
                <a:ext cx="421028" cy="661785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箭头连接符 148">
                <a:extLst>
                  <a:ext uri="{FF2B5EF4-FFF2-40B4-BE49-F238E27FC236}">
                    <a16:creationId xmlns:a16="http://schemas.microsoft.com/office/drawing/2014/main" id="{2B09DBF9-B1EC-5840-0DEA-8BB140D71C92}"/>
                  </a:ext>
                </a:extLst>
              </p:cNvPr>
              <p:cNvCxnSpPr>
                <a:cxnSpLocks/>
                <a:stCxn id="156" idx="6"/>
                <a:endCxn id="150" idx="2"/>
              </p:cNvCxnSpPr>
              <p:nvPr/>
            </p:nvCxnSpPr>
            <p:spPr>
              <a:xfrm flipV="1">
                <a:off x="11020955" y="2437597"/>
                <a:ext cx="414269" cy="220215"/>
              </a:xfrm>
              <a:prstGeom prst="straightConnector1">
                <a:avLst/>
              </a:prstGeom>
              <a:grpFill/>
              <a:ln w="19050">
                <a:solidFill>
                  <a:schemeClr val="bg1">
                    <a:lumMod val="50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EBFBCF95-D0D9-AA5E-EF4E-3B74451FEF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0508" y="2946974"/>
              <a:ext cx="196767" cy="2887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AC33E242-9DC9-F733-5287-B3925606438B}"/>
                    </a:ext>
                  </a:extLst>
                </p:cNvPr>
                <p:cNvSpPr txBox="1"/>
                <p:nvPr/>
              </p:nvSpPr>
              <p:spPr>
                <a:xfrm>
                  <a:off x="5980259" y="3268506"/>
                  <a:ext cx="2792999" cy="4834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𝑓𝑢𝑒𝑠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a14:m>
                  <a:r>
                    <a:rPr lang="en-US" altLang="zh-CN" dirty="0"/>
                    <a:t>)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404" name="文本框 403">
                  <a:extLst>
                    <a:ext uri="{FF2B5EF4-FFF2-40B4-BE49-F238E27FC236}">
                      <a16:creationId xmlns:a16="http://schemas.microsoft.com/office/drawing/2014/main" id="{54F31E18-E37B-1B7C-E93E-C3F8BE4137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0259" y="3268506"/>
                  <a:ext cx="2792999" cy="483466"/>
                </a:xfrm>
                <a:prstGeom prst="rect">
                  <a:avLst/>
                </a:prstGeom>
                <a:blipFill>
                  <a:blip r:embed="rId11"/>
                  <a:stretch>
                    <a:fillRect b="-75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9A6D667-9ED4-C576-B17B-6879581F8829}"/>
                </a:ext>
              </a:extLst>
            </p:cNvPr>
            <p:cNvCxnSpPr>
              <a:cxnSpLocks/>
              <a:endCxn id="120" idx="0"/>
            </p:cNvCxnSpPr>
            <p:nvPr/>
          </p:nvCxnSpPr>
          <p:spPr>
            <a:xfrm>
              <a:off x="7354201" y="3043640"/>
              <a:ext cx="22558" cy="2248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9C2FC119-0F8A-746C-10D5-6C3313E359CB}"/>
                </a:ext>
              </a:extLst>
            </p:cNvPr>
            <p:cNvCxnSpPr>
              <a:cxnSpLocks/>
            </p:cNvCxnSpPr>
            <p:nvPr/>
          </p:nvCxnSpPr>
          <p:spPr>
            <a:xfrm>
              <a:off x="7778935" y="2915271"/>
              <a:ext cx="273294" cy="3204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文本框 157">
            <a:extLst>
              <a:ext uri="{FF2B5EF4-FFF2-40B4-BE49-F238E27FC236}">
                <a16:creationId xmlns:a16="http://schemas.microsoft.com/office/drawing/2014/main" id="{32147482-00E7-D4F6-87F9-DF944511A3B0}"/>
              </a:ext>
            </a:extLst>
          </p:cNvPr>
          <p:cNvSpPr txBox="1"/>
          <p:nvPr/>
        </p:nvSpPr>
        <p:spPr>
          <a:xfrm>
            <a:off x="822092" y="3636242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新颖的范式：任务向量</a:t>
            </a:r>
            <a:endParaRPr lang="zh-CN" altLang="en-US" dirty="0"/>
          </a:p>
        </p:txBody>
      </p:sp>
      <p:pic>
        <p:nvPicPr>
          <p:cNvPr id="159" name="图片 158">
            <a:extLst>
              <a:ext uri="{FF2B5EF4-FFF2-40B4-BE49-F238E27FC236}">
                <a16:creationId xmlns:a16="http://schemas.microsoft.com/office/drawing/2014/main" id="{9BB70194-215E-B95D-4250-DE8A7A903A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1344" y="4212676"/>
            <a:ext cx="718272" cy="644872"/>
          </a:xfrm>
          <a:prstGeom prst="rect">
            <a:avLst/>
          </a:prstGeom>
        </p:spPr>
      </p:pic>
      <p:sp>
        <p:nvSpPr>
          <p:cNvPr id="160" name="矩形 159">
            <a:extLst>
              <a:ext uri="{FF2B5EF4-FFF2-40B4-BE49-F238E27FC236}">
                <a16:creationId xmlns:a16="http://schemas.microsoft.com/office/drawing/2014/main" id="{B80B279F-2B08-1EB1-EC94-015F4CBB337F}"/>
              </a:ext>
            </a:extLst>
          </p:cNvPr>
          <p:cNvSpPr/>
          <p:nvPr/>
        </p:nvSpPr>
        <p:spPr>
          <a:xfrm>
            <a:off x="751289" y="4986715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Pre-trained Model</a:t>
            </a:r>
            <a:endParaRPr lang="zh-CN" altLang="en-US" dirty="0"/>
          </a:p>
        </p:txBody>
      </p:sp>
      <p:sp>
        <p:nvSpPr>
          <p:cNvPr id="161" name="箭头: 下 160">
            <a:extLst>
              <a:ext uri="{FF2B5EF4-FFF2-40B4-BE49-F238E27FC236}">
                <a16:creationId xmlns:a16="http://schemas.microsoft.com/office/drawing/2014/main" id="{6178C6A7-8ABD-E293-7F92-203E9412C376}"/>
              </a:ext>
            </a:extLst>
          </p:cNvPr>
          <p:cNvSpPr/>
          <p:nvPr/>
        </p:nvSpPr>
        <p:spPr>
          <a:xfrm rot="15160145">
            <a:off x="2703945" y="4590158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162" name="箭头: 下 161">
            <a:extLst>
              <a:ext uri="{FF2B5EF4-FFF2-40B4-BE49-F238E27FC236}">
                <a16:creationId xmlns:a16="http://schemas.microsoft.com/office/drawing/2014/main" id="{9B34C381-F224-CC0F-F0D0-E66DBCB410A7}"/>
              </a:ext>
            </a:extLst>
          </p:cNvPr>
          <p:cNvSpPr/>
          <p:nvPr/>
        </p:nvSpPr>
        <p:spPr>
          <a:xfrm rot="17239886">
            <a:off x="2703946" y="5191254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pic>
        <p:nvPicPr>
          <p:cNvPr id="163" name="图片 162">
            <a:extLst>
              <a:ext uri="{FF2B5EF4-FFF2-40B4-BE49-F238E27FC236}">
                <a16:creationId xmlns:a16="http://schemas.microsoft.com/office/drawing/2014/main" id="{56FB8858-CA3E-F084-7ECE-8E4A3A1DD1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61505" y="5806203"/>
            <a:ext cx="1017556" cy="644400"/>
          </a:xfrm>
          <a:prstGeom prst="rect">
            <a:avLst/>
          </a:prstGeom>
        </p:spPr>
      </p:pic>
      <p:sp>
        <p:nvSpPr>
          <p:cNvPr id="164" name="矩形 163">
            <a:extLst>
              <a:ext uri="{FF2B5EF4-FFF2-40B4-BE49-F238E27FC236}">
                <a16:creationId xmlns:a16="http://schemas.microsoft.com/office/drawing/2014/main" id="{59B01EEE-8367-A77A-ABED-8FCD00747B52}"/>
              </a:ext>
            </a:extLst>
          </p:cNvPr>
          <p:cNvSpPr/>
          <p:nvPr/>
        </p:nvSpPr>
        <p:spPr>
          <a:xfrm>
            <a:off x="3447508" y="4516379"/>
            <a:ext cx="1283751" cy="41917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 A</a:t>
            </a:r>
            <a:endParaRPr lang="zh-CN" altLang="en-US" dirty="0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E570EAF4-A910-2678-D94D-9F6DE18EE420}"/>
              </a:ext>
            </a:extLst>
          </p:cNvPr>
          <p:cNvSpPr/>
          <p:nvPr/>
        </p:nvSpPr>
        <p:spPr>
          <a:xfrm>
            <a:off x="3484267" y="5483767"/>
            <a:ext cx="1283751" cy="41917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Model B</a:t>
            </a:r>
            <a:endParaRPr lang="zh-CN" altLang="en-US" dirty="0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372D0D33-9E4B-65E5-6C64-11E7DD5CB5BC}"/>
              </a:ext>
            </a:extLst>
          </p:cNvPr>
          <p:cNvSpPr txBox="1"/>
          <p:nvPr/>
        </p:nvSpPr>
        <p:spPr>
          <a:xfrm>
            <a:off x="2635966" y="5104651"/>
            <a:ext cx="848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+mn-ea"/>
              </a:rPr>
              <a:t>训练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AB1D8999-C22B-2143-2125-390334A3402B}"/>
                  </a:ext>
                </a:extLst>
              </p:cNvPr>
              <p:cNvSpPr txBox="1"/>
              <p:nvPr/>
            </p:nvSpPr>
            <p:spPr>
              <a:xfrm>
                <a:off x="4677188" y="4526072"/>
                <a:ext cx="718271" cy="37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AB1D8999-C22B-2143-2125-390334A34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188" y="4526072"/>
                <a:ext cx="718271" cy="3702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B8BBE40D-9936-BB41-012D-9F0188AD1D1E}"/>
                  </a:ext>
                </a:extLst>
              </p:cNvPr>
              <p:cNvSpPr txBox="1"/>
              <p:nvPr/>
            </p:nvSpPr>
            <p:spPr>
              <a:xfrm>
                <a:off x="4712563" y="5483767"/>
                <a:ext cx="718271" cy="370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B8BBE40D-9936-BB41-012D-9F0188AD1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563" y="5483767"/>
                <a:ext cx="718271" cy="370294"/>
              </a:xfrm>
              <a:prstGeom prst="rect">
                <a:avLst/>
              </a:prstGeom>
              <a:blipFill>
                <a:blip r:embed="rId1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2" name="椭圆 171">
            <a:extLst>
              <a:ext uri="{FF2B5EF4-FFF2-40B4-BE49-F238E27FC236}">
                <a16:creationId xmlns:a16="http://schemas.microsoft.com/office/drawing/2014/main" id="{51BB5057-BD9F-EB01-1210-EF51B8C2F54B}"/>
              </a:ext>
            </a:extLst>
          </p:cNvPr>
          <p:cNvSpPr/>
          <p:nvPr/>
        </p:nvSpPr>
        <p:spPr>
          <a:xfrm rot="236175">
            <a:off x="6984187" y="4344973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7986A52D-4F5E-24A0-B7D1-2AE40BEA32EA}"/>
              </a:ext>
            </a:extLst>
          </p:cNvPr>
          <p:cNvSpPr/>
          <p:nvPr/>
        </p:nvSpPr>
        <p:spPr>
          <a:xfrm rot="21139809">
            <a:off x="6115378" y="5334309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65D8F286-1543-1837-7118-C2B7009C5C73}"/>
              </a:ext>
            </a:extLst>
          </p:cNvPr>
          <p:cNvCxnSpPr>
            <a:stCxn id="173" idx="7"/>
            <a:endCxn id="172" idx="3"/>
          </p:cNvCxnSpPr>
          <p:nvPr/>
        </p:nvCxnSpPr>
        <p:spPr>
          <a:xfrm flipV="1">
            <a:off x="6332265" y="4568243"/>
            <a:ext cx="685147" cy="79364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78723ECB-9A7A-B6B9-B869-CEAC162E6CFF}"/>
                  </a:ext>
                </a:extLst>
              </p:cNvPr>
              <p:cNvSpPr txBox="1"/>
              <p:nvPr/>
            </p:nvSpPr>
            <p:spPr>
              <a:xfrm>
                <a:off x="7117301" y="4568243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78723ECB-9A7A-B6B9-B869-CEAC162E6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301" y="4568243"/>
                <a:ext cx="287866" cy="338554"/>
              </a:xfrm>
              <a:prstGeom prst="rect">
                <a:avLst/>
              </a:prstGeom>
              <a:blipFill>
                <a:blip r:embed="rId16"/>
                <a:stretch>
                  <a:fillRect r="-14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F56C2E3A-CC9D-5062-974E-165516BB32AD}"/>
                  </a:ext>
                </a:extLst>
              </p:cNvPr>
              <p:cNvSpPr txBox="1"/>
              <p:nvPr/>
            </p:nvSpPr>
            <p:spPr>
              <a:xfrm>
                <a:off x="5692334" y="5893043"/>
                <a:ext cx="223383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F56C2E3A-CC9D-5062-974E-165516BB3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334" y="5893043"/>
                <a:ext cx="2233830" cy="390748"/>
              </a:xfrm>
              <a:prstGeom prst="rect">
                <a:avLst/>
              </a:prstGeom>
              <a:blipFill>
                <a:blip r:embed="rId1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45A41DFF-5D5E-9B5F-F6D4-B3AA6133CB56}"/>
                  </a:ext>
                </a:extLst>
              </p:cNvPr>
              <p:cNvSpPr txBox="1"/>
              <p:nvPr/>
            </p:nvSpPr>
            <p:spPr>
              <a:xfrm>
                <a:off x="6299994" y="5486514"/>
                <a:ext cx="7182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45A41DFF-5D5E-9B5F-F6D4-B3AA6133C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994" y="5486514"/>
                <a:ext cx="718271" cy="357534"/>
              </a:xfrm>
              <a:prstGeom prst="rect">
                <a:avLst/>
              </a:prstGeom>
              <a:blipFill>
                <a:blip r:embed="rId18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椭圆 183">
            <a:extLst>
              <a:ext uri="{FF2B5EF4-FFF2-40B4-BE49-F238E27FC236}">
                <a16:creationId xmlns:a16="http://schemas.microsoft.com/office/drawing/2014/main" id="{41C4AC38-93FE-0D47-1377-E6E3E91CADC4}"/>
              </a:ext>
            </a:extLst>
          </p:cNvPr>
          <p:cNvSpPr/>
          <p:nvPr/>
        </p:nvSpPr>
        <p:spPr>
          <a:xfrm rot="632968">
            <a:off x="10245647" y="4736816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4C41B3F9-2365-C537-272D-D549DA054A6E}"/>
              </a:ext>
            </a:extLst>
          </p:cNvPr>
          <p:cNvSpPr/>
          <p:nvPr/>
        </p:nvSpPr>
        <p:spPr>
          <a:xfrm rot="949565">
            <a:off x="9300387" y="5305900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61EE0847-B4A0-5157-F97A-F74DF13DBE3A}"/>
              </a:ext>
            </a:extLst>
          </p:cNvPr>
          <p:cNvCxnSpPr>
            <a:stCxn id="185" idx="7"/>
            <a:endCxn id="184" idx="3"/>
          </p:cNvCxnSpPr>
          <p:nvPr/>
        </p:nvCxnSpPr>
        <p:spPr>
          <a:xfrm flipV="1">
            <a:off x="9553215" y="4947776"/>
            <a:ext cx="716141" cy="4272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24C69435-B70B-BF9D-924F-412A356CF638}"/>
                  </a:ext>
                </a:extLst>
              </p:cNvPr>
              <p:cNvSpPr txBox="1"/>
              <p:nvPr/>
            </p:nvSpPr>
            <p:spPr>
              <a:xfrm>
                <a:off x="9937239" y="4479732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24C69435-B70B-BF9D-924F-412A356CF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239" y="4479732"/>
                <a:ext cx="287866" cy="338554"/>
              </a:xfrm>
              <a:prstGeom prst="rect">
                <a:avLst/>
              </a:prstGeom>
              <a:blipFill>
                <a:blip r:embed="rId19"/>
                <a:stretch>
                  <a:fillRect r="-17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11840741-8297-B092-8ED3-F5347D70F666}"/>
                  </a:ext>
                </a:extLst>
              </p:cNvPr>
              <p:cNvSpPr txBox="1"/>
              <p:nvPr/>
            </p:nvSpPr>
            <p:spPr>
              <a:xfrm>
                <a:off x="8374741" y="5893043"/>
                <a:ext cx="223383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11840741-8297-B092-8ED3-F5347D70F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741" y="5893043"/>
                <a:ext cx="2233830" cy="390748"/>
              </a:xfrm>
              <a:prstGeom prst="rect">
                <a:avLst/>
              </a:prstGeom>
              <a:blipFill>
                <a:blip r:embed="rId20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AE6B869A-D227-C26B-A771-AA27889101F9}"/>
                  </a:ext>
                </a:extLst>
              </p:cNvPr>
              <p:cNvSpPr txBox="1"/>
              <p:nvPr/>
            </p:nvSpPr>
            <p:spPr>
              <a:xfrm>
                <a:off x="9076252" y="5489654"/>
                <a:ext cx="7182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AE6B869A-D227-C26B-A771-AA2788910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6252" y="5489654"/>
                <a:ext cx="718271" cy="357534"/>
              </a:xfrm>
              <a:prstGeom prst="rect">
                <a:avLst/>
              </a:prstGeom>
              <a:blipFill>
                <a:blip r:embed="rId21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文本框 194">
            <a:extLst>
              <a:ext uri="{FF2B5EF4-FFF2-40B4-BE49-F238E27FC236}">
                <a16:creationId xmlns:a16="http://schemas.microsoft.com/office/drawing/2014/main" id="{A3410140-DD8C-A4DD-001A-274B43C38AE7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92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8" grpId="0"/>
      <p:bldP spid="160" grpId="0" animBg="1"/>
      <p:bldP spid="161" grpId="0" animBg="1"/>
      <p:bldP spid="162" grpId="0" animBg="1"/>
      <p:bldP spid="164" grpId="0" animBg="1"/>
      <p:bldP spid="165" grpId="0" animBg="1"/>
      <p:bldP spid="166" grpId="0"/>
      <p:bldP spid="168" grpId="0"/>
      <p:bldP spid="169" grpId="0"/>
      <p:bldP spid="172" grpId="0" animBg="1"/>
      <p:bldP spid="173" grpId="0" animBg="1"/>
      <p:bldP spid="178" grpId="0"/>
      <p:bldP spid="179" grpId="0"/>
      <p:bldP spid="183" grpId="0"/>
      <p:bldP spid="184" grpId="0" animBg="1"/>
      <p:bldP spid="185" grpId="0" animBg="1"/>
      <p:bldP spid="187" grpId="0"/>
      <p:bldP spid="188" grpId="0"/>
      <p:bldP spid="18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相关背景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1F523D-0150-0759-4B59-A50F8711AA36}"/>
              </a:ext>
            </a:extLst>
          </p:cNvPr>
          <p:cNvSpPr txBox="1"/>
          <p:nvPr/>
        </p:nvSpPr>
        <p:spPr>
          <a:xfrm>
            <a:off x="603504" y="769583"/>
            <a:ext cx="4436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任务算术（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Task Arithmetic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58BF47-8C8F-BB4F-7594-E717BD6CC2C7}"/>
              </a:ext>
            </a:extLst>
          </p:cNvPr>
          <p:cNvSpPr txBox="1"/>
          <p:nvPr/>
        </p:nvSpPr>
        <p:spPr>
          <a:xfrm>
            <a:off x="795186" y="1205755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任务融合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BA035D-C6E0-EEB2-1BB9-1902D01D8CA1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3/16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362C9FF-B32B-7FC5-903D-EF108707666F}"/>
              </a:ext>
            </a:extLst>
          </p:cNvPr>
          <p:cNvSpPr/>
          <p:nvPr/>
        </p:nvSpPr>
        <p:spPr>
          <a:xfrm rot="1274678">
            <a:off x="1474242" y="2859176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10616B9-736D-9861-346B-8F7CA91BD087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1732742" y="2093110"/>
            <a:ext cx="643534" cy="84660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5E3292A-C524-8B22-ABBF-B318C02EA21F}"/>
                  </a:ext>
                </a:extLst>
              </p:cNvPr>
              <p:cNvSpPr txBox="1"/>
              <p:nvPr/>
            </p:nvSpPr>
            <p:spPr>
              <a:xfrm>
                <a:off x="1653102" y="2178092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5E3292A-C524-8B22-ABBF-B318C02EA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02" y="2178092"/>
                <a:ext cx="287866" cy="338554"/>
              </a:xfrm>
              <a:prstGeom prst="rect">
                <a:avLst/>
              </a:prstGeom>
              <a:blipFill>
                <a:blip r:embed="rId3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B4EAC9-0FAD-07ED-D26B-670C3EE723F0}"/>
                  </a:ext>
                </a:extLst>
              </p:cNvPr>
              <p:cNvSpPr txBox="1"/>
              <p:nvPr/>
            </p:nvSpPr>
            <p:spPr>
              <a:xfrm>
                <a:off x="1457464" y="3118978"/>
                <a:ext cx="7182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B4EAC9-0FAD-07ED-D26B-670C3EE72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464" y="3118978"/>
                <a:ext cx="718271" cy="357534"/>
              </a:xfrm>
              <a:prstGeom prst="rect">
                <a:avLst/>
              </a:prstGeom>
              <a:blipFill>
                <a:blip r:embed="rId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E0D5663-F52C-24B5-24B0-D02518078879}"/>
              </a:ext>
            </a:extLst>
          </p:cNvPr>
          <p:cNvCxnSpPr>
            <a:cxnSpLocks/>
            <a:stCxn id="13" idx="7"/>
          </p:cNvCxnSpPr>
          <p:nvPr/>
        </p:nvCxnSpPr>
        <p:spPr>
          <a:xfrm>
            <a:off x="1732742" y="2939711"/>
            <a:ext cx="1094596" cy="179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73352CA-4AEE-80C4-87F2-7D2A81ED24DD}"/>
              </a:ext>
            </a:extLst>
          </p:cNvPr>
          <p:cNvCxnSpPr>
            <a:cxnSpLocks/>
          </p:cNvCxnSpPr>
          <p:nvPr/>
        </p:nvCxnSpPr>
        <p:spPr>
          <a:xfrm>
            <a:off x="2397502" y="2092081"/>
            <a:ext cx="1136209" cy="232220"/>
          </a:xfrm>
          <a:prstGeom prst="straightConnector1">
            <a:avLst/>
          </a:prstGeom>
          <a:ln w="28575">
            <a:solidFill>
              <a:srgbClr val="D71D49">
                <a:alpha val="2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F9B66B8D-C8B8-9D1C-6528-204D2D4DE4EA}"/>
              </a:ext>
            </a:extLst>
          </p:cNvPr>
          <p:cNvCxnSpPr>
            <a:cxnSpLocks/>
          </p:cNvCxnSpPr>
          <p:nvPr/>
        </p:nvCxnSpPr>
        <p:spPr>
          <a:xfrm flipV="1">
            <a:off x="2869790" y="2325330"/>
            <a:ext cx="685147" cy="793648"/>
          </a:xfrm>
          <a:prstGeom prst="straightConnector1">
            <a:avLst/>
          </a:prstGeom>
          <a:ln w="38100">
            <a:solidFill>
              <a:srgbClr val="00B0F0">
                <a:alpha val="2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A88210D-4B80-61AA-C835-F12EA29E98FF}"/>
                  </a:ext>
                </a:extLst>
              </p:cNvPr>
              <p:cNvSpPr txBox="1"/>
              <p:nvPr/>
            </p:nvSpPr>
            <p:spPr>
              <a:xfrm>
                <a:off x="2074254" y="2962966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A88210D-4B80-61AA-C835-F12EA29E9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254" y="2962966"/>
                <a:ext cx="287866" cy="338554"/>
              </a:xfrm>
              <a:prstGeom prst="rect">
                <a:avLst/>
              </a:prstGeom>
              <a:blipFill>
                <a:blip r:embed="rId5"/>
                <a:stretch>
                  <a:fillRect r="-10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10616B9-736D-9861-346B-8F7CA91BD087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1732742" y="2356075"/>
            <a:ext cx="1757108" cy="583636"/>
          </a:xfrm>
          <a:prstGeom prst="straightConnector1">
            <a:avLst/>
          </a:prstGeom>
          <a:ln w="38100">
            <a:solidFill>
              <a:srgbClr val="1AE4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AA1B06D-26BA-AB8E-D286-BD35E365B1E0}"/>
                  </a:ext>
                </a:extLst>
              </p:cNvPr>
              <p:cNvSpPr txBox="1"/>
              <p:nvPr/>
            </p:nvSpPr>
            <p:spPr>
              <a:xfrm>
                <a:off x="2422525" y="2624320"/>
                <a:ext cx="1909575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𝑚𝑒𝑟𝑔𝑒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AA1B06D-26BA-AB8E-D286-BD35E365B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525" y="2624320"/>
                <a:ext cx="1909575" cy="358560"/>
              </a:xfrm>
              <a:prstGeom prst="rect">
                <a:avLst/>
              </a:prstGeom>
              <a:blipFill>
                <a:blip r:embed="rId6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矩形 63">
            <a:extLst>
              <a:ext uri="{FF2B5EF4-FFF2-40B4-BE49-F238E27FC236}">
                <a16:creationId xmlns:a16="http://schemas.microsoft.com/office/drawing/2014/main" id="{A4B90EC0-C90A-3007-0236-5DC7CF5FE9BF}"/>
              </a:ext>
            </a:extLst>
          </p:cNvPr>
          <p:cNvSpPr/>
          <p:nvPr/>
        </p:nvSpPr>
        <p:spPr>
          <a:xfrm>
            <a:off x="7785919" y="1914756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Multi-task Model</a:t>
            </a:r>
            <a:endParaRPr lang="zh-CN" altLang="en-US" dirty="0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2C638A5-023C-F160-BD25-9765980B1BF7}"/>
              </a:ext>
            </a:extLst>
          </p:cNvPr>
          <p:cNvSpPr/>
          <p:nvPr/>
        </p:nvSpPr>
        <p:spPr>
          <a:xfrm>
            <a:off x="4776244" y="1914756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Pre-trained Model</a:t>
            </a:r>
            <a:endParaRPr lang="zh-CN" altLang="en-US" dirty="0"/>
          </a:p>
        </p:txBody>
      </p:sp>
      <p:sp>
        <p:nvSpPr>
          <p:cNvPr id="167" name="箭头: 下 166">
            <a:extLst>
              <a:ext uri="{FF2B5EF4-FFF2-40B4-BE49-F238E27FC236}">
                <a16:creationId xmlns:a16="http://schemas.microsoft.com/office/drawing/2014/main" id="{88D084D6-DA21-74B3-844E-7EF5CD62093C}"/>
              </a:ext>
            </a:extLst>
          </p:cNvPr>
          <p:cNvSpPr/>
          <p:nvPr/>
        </p:nvSpPr>
        <p:spPr>
          <a:xfrm rot="16200000">
            <a:off x="6830721" y="1846740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FA6F3F3D-5A4F-25A5-360E-24F4EB6D952C}"/>
                  </a:ext>
                </a:extLst>
              </p:cNvPr>
              <p:cNvSpPr txBox="1"/>
              <p:nvPr/>
            </p:nvSpPr>
            <p:spPr>
              <a:xfrm>
                <a:off x="5920171" y="1669766"/>
                <a:ext cx="2233830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𝑚𝑒𝑟𝑔𝑒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FA6F3F3D-5A4F-25A5-360E-24F4EB6D9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171" y="1669766"/>
                <a:ext cx="2233830" cy="391902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1" name="图片 170">
            <a:extLst>
              <a:ext uri="{FF2B5EF4-FFF2-40B4-BE49-F238E27FC236}">
                <a16:creationId xmlns:a16="http://schemas.microsoft.com/office/drawing/2014/main" id="{48901AD1-C8A9-274D-2015-6D389B1B6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0701" y="2793778"/>
            <a:ext cx="1017556" cy="644400"/>
          </a:xfrm>
          <a:prstGeom prst="rect">
            <a:avLst/>
          </a:prstGeom>
        </p:spPr>
      </p:pic>
      <p:sp>
        <p:nvSpPr>
          <p:cNvPr id="180" name="文本框 179">
            <a:extLst>
              <a:ext uri="{FF2B5EF4-FFF2-40B4-BE49-F238E27FC236}">
                <a16:creationId xmlns:a16="http://schemas.microsoft.com/office/drawing/2014/main" id="{44FCD1DA-7784-7140-7B78-28C52FEEABF5}"/>
              </a:ext>
            </a:extLst>
          </p:cNvPr>
          <p:cNvSpPr txBox="1"/>
          <p:nvPr/>
        </p:nvSpPr>
        <p:spPr>
          <a:xfrm>
            <a:off x="7235159" y="1282596"/>
            <a:ext cx="128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Label 184</a:t>
            </a:r>
            <a:endParaRPr lang="zh-CN" altLang="en-US" sz="1400" b="1" dirty="0"/>
          </a:p>
        </p:txBody>
      </p:sp>
      <p:pic>
        <p:nvPicPr>
          <p:cNvPr id="181" name="图片 180">
            <a:extLst>
              <a:ext uri="{FF2B5EF4-FFF2-40B4-BE49-F238E27FC236}">
                <a16:creationId xmlns:a16="http://schemas.microsoft.com/office/drawing/2014/main" id="{BCB6F709-65F7-0611-A558-A707F37C89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8498" y="2815605"/>
            <a:ext cx="718272" cy="644872"/>
          </a:xfrm>
          <a:prstGeom prst="rect">
            <a:avLst/>
          </a:prstGeom>
        </p:spPr>
      </p:pic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A75ACED0-AA09-1474-6698-3EBAFBD699F4}"/>
              </a:ext>
            </a:extLst>
          </p:cNvPr>
          <p:cNvCxnSpPr>
            <a:cxnSpLocks/>
            <a:stCxn id="171" idx="0"/>
            <a:endCxn id="64" idx="2"/>
          </p:cNvCxnSpPr>
          <p:nvPr/>
        </p:nvCxnSpPr>
        <p:spPr>
          <a:xfrm flipV="1">
            <a:off x="7879479" y="2559628"/>
            <a:ext cx="662444" cy="234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1CFFAFF8-2C41-30F1-561B-8CEF02ADACAB}"/>
              </a:ext>
            </a:extLst>
          </p:cNvPr>
          <p:cNvCxnSpPr>
            <a:cxnSpLocks/>
            <a:stCxn id="64" idx="0"/>
            <a:endCxn id="180" idx="2"/>
          </p:cNvCxnSpPr>
          <p:nvPr/>
        </p:nvCxnSpPr>
        <p:spPr>
          <a:xfrm flipH="1" flipV="1">
            <a:off x="7877738" y="1590373"/>
            <a:ext cx="664185" cy="324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B0CADE23-CCDB-1731-8F2F-6A2F4862CE78}"/>
              </a:ext>
            </a:extLst>
          </p:cNvPr>
          <p:cNvCxnSpPr>
            <a:cxnSpLocks/>
            <a:stCxn id="181" idx="0"/>
            <a:endCxn id="64" idx="2"/>
          </p:cNvCxnSpPr>
          <p:nvPr/>
        </p:nvCxnSpPr>
        <p:spPr>
          <a:xfrm flipH="1" flipV="1">
            <a:off x="8541923" y="2559628"/>
            <a:ext cx="695711" cy="255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04884FD-1B96-F67D-851D-4F0FD22680CD}"/>
              </a:ext>
            </a:extLst>
          </p:cNvPr>
          <p:cNvSpPr txBox="1"/>
          <p:nvPr/>
        </p:nvSpPr>
        <p:spPr>
          <a:xfrm>
            <a:off x="8655348" y="1269884"/>
            <a:ext cx="128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Label 5</a:t>
            </a:r>
            <a:endParaRPr lang="zh-CN" altLang="en-US" sz="1400" b="1" dirty="0"/>
          </a:p>
        </p:txBody>
      </p:sp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233D772C-FBC2-FC98-398A-334500C33B12}"/>
              </a:ext>
            </a:extLst>
          </p:cNvPr>
          <p:cNvCxnSpPr>
            <a:cxnSpLocks/>
            <a:stCxn id="64" idx="0"/>
            <a:endCxn id="199" idx="2"/>
          </p:cNvCxnSpPr>
          <p:nvPr/>
        </p:nvCxnSpPr>
        <p:spPr>
          <a:xfrm flipV="1">
            <a:off x="8541923" y="1577661"/>
            <a:ext cx="756004" cy="337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>
            <a:extLst>
              <a:ext uri="{FF2B5EF4-FFF2-40B4-BE49-F238E27FC236}">
                <a16:creationId xmlns:a16="http://schemas.microsoft.com/office/drawing/2014/main" id="{534D50E0-272F-BB52-F284-6C646AC3D091}"/>
              </a:ext>
            </a:extLst>
          </p:cNvPr>
          <p:cNvSpPr txBox="1"/>
          <p:nvPr/>
        </p:nvSpPr>
        <p:spPr>
          <a:xfrm>
            <a:off x="795186" y="4020425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任务遗忘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8FD6573E-21D4-8575-E32C-1E8214590EEE}"/>
              </a:ext>
            </a:extLst>
          </p:cNvPr>
          <p:cNvSpPr/>
          <p:nvPr/>
        </p:nvSpPr>
        <p:spPr>
          <a:xfrm rot="732048">
            <a:off x="2222612" y="5185359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E8D27A6D-5EE0-65FA-339B-58981AF581DA}"/>
              </a:ext>
            </a:extLst>
          </p:cNvPr>
          <p:cNvCxnSpPr>
            <a:cxnSpLocks/>
            <a:stCxn id="206" idx="7"/>
          </p:cNvCxnSpPr>
          <p:nvPr/>
        </p:nvCxnSpPr>
        <p:spPr>
          <a:xfrm flipV="1">
            <a:off x="2471053" y="4800417"/>
            <a:ext cx="592187" cy="44673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13F38442-0ADA-4D54-3DD3-CED5E3ED71FA}"/>
                  </a:ext>
                </a:extLst>
              </p:cNvPr>
              <p:cNvSpPr txBox="1"/>
              <p:nvPr/>
            </p:nvSpPr>
            <p:spPr>
              <a:xfrm>
                <a:off x="2674208" y="5019810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13F38442-0ADA-4D54-3DD3-CED5E3ED7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208" y="5019810"/>
                <a:ext cx="287866" cy="338554"/>
              </a:xfrm>
              <a:prstGeom prst="rect">
                <a:avLst/>
              </a:prstGeom>
              <a:blipFill>
                <a:blip r:embed="rId10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B001D5D7-83A7-A0DF-244E-8D47DC3A2408}"/>
              </a:ext>
            </a:extLst>
          </p:cNvPr>
          <p:cNvCxnSpPr>
            <a:cxnSpLocks/>
            <a:stCxn id="206" idx="3"/>
          </p:cNvCxnSpPr>
          <p:nvPr/>
        </p:nvCxnSpPr>
        <p:spPr>
          <a:xfrm flipH="1">
            <a:off x="1710494" y="5393081"/>
            <a:ext cx="533677" cy="377607"/>
          </a:xfrm>
          <a:prstGeom prst="straightConnector1">
            <a:avLst/>
          </a:prstGeom>
          <a:ln w="38100">
            <a:solidFill>
              <a:srgbClr val="1AE4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4CEEF4DF-9843-10CD-EF19-82BA68D6F2D4}"/>
                  </a:ext>
                </a:extLst>
              </p:cNvPr>
              <p:cNvSpPr txBox="1"/>
              <p:nvPr/>
            </p:nvSpPr>
            <p:spPr>
              <a:xfrm>
                <a:off x="1839484" y="5506142"/>
                <a:ext cx="1655177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𝑓𝑜𝑟𝑔𝑒𝑡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4CEEF4DF-9843-10CD-EF19-82BA68D6F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484" y="5506142"/>
                <a:ext cx="1655177" cy="358560"/>
              </a:xfrm>
              <a:prstGeom prst="rect">
                <a:avLst/>
              </a:prstGeom>
              <a:blipFill>
                <a:blip r:embed="rId11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矩形 233">
            <a:extLst>
              <a:ext uri="{FF2B5EF4-FFF2-40B4-BE49-F238E27FC236}">
                <a16:creationId xmlns:a16="http://schemas.microsoft.com/office/drawing/2014/main" id="{7D728853-A24D-2606-C80E-90CA2CA8EAB8}"/>
              </a:ext>
            </a:extLst>
          </p:cNvPr>
          <p:cNvSpPr/>
          <p:nvPr/>
        </p:nvSpPr>
        <p:spPr>
          <a:xfrm>
            <a:off x="7785919" y="4844232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Multi-task Model</a:t>
            </a:r>
            <a:endParaRPr lang="zh-CN" altLang="en-US" dirty="0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F5D15938-623F-B375-220E-42B2338489B3}"/>
              </a:ext>
            </a:extLst>
          </p:cNvPr>
          <p:cNvSpPr/>
          <p:nvPr/>
        </p:nvSpPr>
        <p:spPr>
          <a:xfrm>
            <a:off x="4776244" y="4844232"/>
            <a:ext cx="1512008" cy="6448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Pre-trained Model</a:t>
            </a:r>
            <a:endParaRPr lang="zh-CN" altLang="en-US" dirty="0"/>
          </a:p>
        </p:txBody>
      </p:sp>
      <p:sp>
        <p:nvSpPr>
          <p:cNvPr id="236" name="箭头: 下 235">
            <a:extLst>
              <a:ext uri="{FF2B5EF4-FFF2-40B4-BE49-F238E27FC236}">
                <a16:creationId xmlns:a16="http://schemas.microsoft.com/office/drawing/2014/main" id="{5ED4B386-08FC-0189-E5F2-4B8D6E73B720}"/>
              </a:ext>
            </a:extLst>
          </p:cNvPr>
          <p:cNvSpPr/>
          <p:nvPr/>
        </p:nvSpPr>
        <p:spPr>
          <a:xfrm rot="16200000">
            <a:off x="6830721" y="4776216"/>
            <a:ext cx="412730" cy="79311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A3EF7963-86EA-5A1C-0B42-D6EEE75AEA23}"/>
                  </a:ext>
                </a:extLst>
              </p:cNvPr>
              <p:cNvSpPr txBox="1"/>
              <p:nvPr/>
            </p:nvSpPr>
            <p:spPr>
              <a:xfrm>
                <a:off x="5920171" y="4599242"/>
                <a:ext cx="2233830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𝑓𝑜𝑟𝑔𝑒𝑡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A3EF7963-86EA-5A1C-0B42-D6EEE75AE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171" y="4599242"/>
                <a:ext cx="2233830" cy="391902"/>
              </a:xfrm>
              <a:prstGeom prst="rect">
                <a:avLst/>
              </a:prstGeom>
              <a:blipFill>
                <a:blip r:embed="rId1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8" name="图片 237">
            <a:extLst>
              <a:ext uri="{FF2B5EF4-FFF2-40B4-BE49-F238E27FC236}">
                <a16:creationId xmlns:a16="http://schemas.microsoft.com/office/drawing/2014/main" id="{EFCF6DD6-7DD1-C357-0920-636CA0BEC5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3145" y="5805006"/>
            <a:ext cx="1017556" cy="644400"/>
          </a:xfrm>
          <a:prstGeom prst="rect">
            <a:avLst/>
          </a:prstGeom>
        </p:spPr>
      </p:pic>
      <p:sp>
        <p:nvSpPr>
          <p:cNvPr id="239" name="文本框 238">
            <a:extLst>
              <a:ext uri="{FF2B5EF4-FFF2-40B4-BE49-F238E27FC236}">
                <a16:creationId xmlns:a16="http://schemas.microsoft.com/office/drawing/2014/main" id="{9D85B6FB-4785-BA67-3C34-229EF3502ECF}"/>
              </a:ext>
            </a:extLst>
          </p:cNvPr>
          <p:cNvSpPr txBox="1"/>
          <p:nvPr/>
        </p:nvSpPr>
        <p:spPr>
          <a:xfrm>
            <a:off x="7899344" y="4199360"/>
            <a:ext cx="1285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Don’t know</a:t>
            </a:r>
            <a:endParaRPr lang="zh-CN" altLang="en-US" sz="1400" b="1" dirty="0"/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F9BB5F89-7260-8BD6-19C3-DDCF97AA2181}"/>
              </a:ext>
            </a:extLst>
          </p:cNvPr>
          <p:cNvCxnSpPr>
            <a:cxnSpLocks/>
            <a:stCxn id="238" idx="0"/>
            <a:endCxn id="234" idx="2"/>
          </p:cNvCxnSpPr>
          <p:nvPr/>
        </p:nvCxnSpPr>
        <p:spPr>
          <a:xfrm flipV="1">
            <a:off x="8541923" y="5489104"/>
            <a:ext cx="0" cy="315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FA0CF7DD-18FE-8373-E1A9-51800B47F51E}"/>
              </a:ext>
            </a:extLst>
          </p:cNvPr>
          <p:cNvCxnSpPr>
            <a:cxnSpLocks/>
            <a:stCxn id="234" idx="0"/>
            <a:endCxn id="239" idx="2"/>
          </p:cNvCxnSpPr>
          <p:nvPr/>
        </p:nvCxnSpPr>
        <p:spPr>
          <a:xfrm flipV="1">
            <a:off x="8541923" y="4507137"/>
            <a:ext cx="0" cy="337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6" grpId="0"/>
      <p:bldP spid="17" grpId="0"/>
      <p:bldP spid="47" grpId="0"/>
      <p:bldP spid="60" grpId="0"/>
      <p:bldP spid="64" grpId="0" animBg="1"/>
      <p:bldP spid="157" grpId="0" animBg="1"/>
      <p:bldP spid="167" grpId="0" animBg="1"/>
      <p:bldP spid="170" grpId="0"/>
      <p:bldP spid="180" grpId="0"/>
      <p:bldP spid="199" grpId="0"/>
      <p:bldP spid="205" grpId="0"/>
      <p:bldP spid="206" grpId="0" animBg="1"/>
      <p:bldP spid="211" grpId="0"/>
      <p:bldP spid="220" grpId="0"/>
      <p:bldP spid="234" grpId="0" animBg="1"/>
      <p:bldP spid="235" grpId="0" animBg="1"/>
      <p:bldP spid="236" grpId="0" animBg="1"/>
      <p:bldP spid="237" grpId="0"/>
      <p:bldP spid="2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相关背景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1F523D-0150-0759-4B59-A50F8711AA36}"/>
              </a:ext>
            </a:extLst>
          </p:cNvPr>
          <p:cNvSpPr txBox="1"/>
          <p:nvPr/>
        </p:nvSpPr>
        <p:spPr>
          <a:xfrm>
            <a:off x="603504" y="769583"/>
            <a:ext cx="4436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任务算术（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Task Arithmetic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58BF47-8C8F-BB4F-7594-E717BD6CC2C7}"/>
              </a:ext>
            </a:extLst>
          </p:cNvPr>
          <p:cNvSpPr txBox="1"/>
          <p:nvPr/>
        </p:nvSpPr>
        <p:spPr>
          <a:xfrm>
            <a:off x="881749" y="1177872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任务类比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BA035D-C6E0-EEB2-1BB9-1902D01D8CA1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4/16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362C9FF-B32B-7FC5-903D-EF108707666F}"/>
              </a:ext>
            </a:extLst>
          </p:cNvPr>
          <p:cNvSpPr/>
          <p:nvPr/>
        </p:nvSpPr>
        <p:spPr>
          <a:xfrm rot="2123036">
            <a:off x="1385404" y="3270628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10616B9-736D-9861-346B-8F7CA91BD087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1653408" y="2601220"/>
            <a:ext cx="740971" cy="78175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5E3292A-C524-8B22-ABBF-B318C02EA21F}"/>
                  </a:ext>
                </a:extLst>
              </p:cNvPr>
              <p:cNvSpPr txBox="1"/>
              <p:nvPr/>
            </p:nvSpPr>
            <p:spPr>
              <a:xfrm>
                <a:off x="1528913" y="2701540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5E3292A-C524-8B22-ABBF-B318C02EA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913" y="2701540"/>
                <a:ext cx="287866" cy="338554"/>
              </a:xfrm>
              <a:prstGeom prst="rect">
                <a:avLst/>
              </a:prstGeom>
              <a:blipFill>
                <a:blip r:embed="rId3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B4EAC9-0FAD-07ED-D26B-670C3EE723F0}"/>
                  </a:ext>
                </a:extLst>
              </p:cNvPr>
              <p:cNvSpPr txBox="1"/>
              <p:nvPr/>
            </p:nvSpPr>
            <p:spPr>
              <a:xfrm>
                <a:off x="1098508" y="3470701"/>
                <a:ext cx="7182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B4EAC9-0FAD-07ED-D26B-670C3EE72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508" y="3470701"/>
                <a:ext cx="718271" cy="357534"/>
              </a:xfrm>
              <a:prstGeom prst="rect">
                <a:avLst/>
              </a:prstGeom>
              <a:blipFill>
                <a:blip r:embed="rId4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E0D5663-F52C-24B5-24B0-D02518078879}"/>
              </a:ext>
            </a:extLst>
          </p:cNvPr>
          <p:cNvCxnSpPr>
            <a:cxnSpLocks/>
            <a:stCxn id="13" idx="7"/>
          </p:cNvCxnSpPr>
          <p:nvPr/>
        </p:nvCxnSpPr>
        <p:spPr>
          <a:xfrm>
            <a:off x="1653408" y="3382975"/>
            <a:ext cx="1028711" cy="5066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10616B9-736D-9861-346B-8F7CA91BD087}"/>
              </a:ext>
            </a:extLst>
          </p:cNvPr>
          <p:cNvCxnSpPr>
            <a:cxnSpLocks/>
          </p:cNvCxnSpPr>
          <p:nvPr/>
        </p:nvCxnSpPr>
        <p:spPr>
          <a:xfrm>
            <a:off x="2391399" y="2701540"/>
            <a:ext cx="275120" cy="1137044"/>
          </a:xfrm>
          <a:prstGeom prst="straightConnector1">
            <a:avLst/>
          </a:prstGeom>
          <a:ln w="38100">
            <a:solidFill>
              <a:srgbClr val="1AE43C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30EFD7D-7D22-9891-2F95-31C683567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646" y="1145040"/>
            <a:ext cx="1722714" cy="1722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B3DA1B-D333-1C25-45BD-1BCADF17C7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4114" y="1159091"/>
            <a:ext cx="1724400" cy="1724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982D7BF-86AC-0085-EC6D-C3C5F7767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0310" y="4026541"/>
            <a:ext cx="1714012" cy="17244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0ACAC32-EC88-4B5E-43D4-5D9CE2A17A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4114" y="4063778"/>
            <a:ext cx="1724400" cy="16499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1647375-8E21-47EC-2C2F-ED4004CF9094}"/>
                  </a:ext>
                </a:extLst>
              </p:cNvPr>
              <p:cNvSpPr txBox="1"/>
              <p:nvPr/>
            </p:nvSpPr>
            <p:spPr>
              <a:xfrm>
                <a:off x="6893383" y="2951615"/>
                <a:ext cx="2878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51647375-8E21-47EC-2C2F-ED4004CF9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383" y="2951615"/>
                <a:ext cx="287866" cy="400110"/>
              </a:xfrm>
              <a:prstGeom prst="rect">
                <a:avLst/>
              </a:prstGeom>
              <a:blipFill>
                <a:blip r:embed="rId9"/>
                <a:stretch>
                  <a:fillRect r="-29787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92E50D5-962F-A27F-235E-C39906B99B48}"/>
                  </a:ext>
                </a:extLst>
              </p:cNvPr>
              <p:cNvSpPr txBox="1"/>
              <p:nvPr/>
            </p:nvSpPr>
            <p:spPr>
              <a:xfrm>
                <a:off x="9992381" y="2931215"/>
                <a:ext cx="2878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92E50D5-962F-A27F-235E-C39906B99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381" y="2931215"/>
                <a:ext cx="287866" cy="400110"/>
              </a:xfrm>
              <a:prstGeom prst="rect">
                <a:avLst/>
              </a:prstGeom>
              <a:blipFill>
                <a:blip r:embed="rId10"/>
                <a:stretch>
                  <a:fillRect r="-34043"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B39AB9B-9350-D349-EE2B-99B6969C4DB9}"/>
                  </a:ext>
                </a:extLst>
              </p:cNvPr>
              <p:cNvSpPr txBox="1"/>
              <p:nvPr/>
            </p:nvSpPr>
            <p:spPr>
              <a:xfrm>
                <a:off x="6893383" y="5809153"/>
                <a:ext cx="2878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B39AB9B-9350-D349-EE2B-99B6969C4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383" y="5809153"/>
                <a:ext cx="287866" cy="400110"/>
              </a:xfrm>
              <a:prstGeom prst="rect">
                <a:avLst/>
              </a:prstGeom>
              <a:blipFill>
                <a:blip r:embed="rId11"/>
                <a:stretch>
                  <a:fillRect r="-31915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A88210D-4B80-61AA-C835-F12EA29E98FF}"/>
                  </a:ext>
                </a:extLst>
              </p:cNvPr>
              <p:cNvSpPr txBox="1"/>
              <p:nvPr/>
            </p:nvSpPr>
            <p:spPr>
              <a:xfrm>
                <a:off x="1776153" y="3489681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A88210D-4B80-61AA-C835-F12EA29E9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153" y="3489681"/>
                <a:ext cx="287866" cy="338554"/>
              </a:xfrm>
              <a:prstGeom prst="rect">
                <a:avLst/>
              </a:prstGeom>
              <a:blipFill>
                <a:blip r:embed="rId12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A5C3DEA-F57E-0678-10DC-77EC7EF43EBA}"/>
                  </a:ext>
                </a:extLst>
              </p:cNvPr>
              <p:cNvSpPr txBox="1"/>
              <p:nvPr/>
            </p:nvSpPr>
            <p:spPr>
              <a:xfrm>
                <a:off x="2420681" y="3025176"/>
                <a:ext cx="2058234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𝐴𝑛𝑎𝑙𝑜𝑔𝑖𝑒𝑠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A5C3DEA-F57E-0678-10DC-77EC7EF43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681" y="3025176"/>
                <a:ext cx="2058234" cy="358560"/>
              </a:xfrm>
              <a:prstGeom prst="rect">
                <a:avLst/>
              </a:prstGeom>
              <a:blipFill>
                <a:blip r:embed="rId13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椭圆 36">
            <a:extLst>
              <a:ext uri="{FF2B5EF4-FFF2-40B4-BE49-F238E27FC236}">
                <a16:creationId xmlns:a16="http://schemas.microsoft.com/office/drawing/2014/main" id="{75DCBFE2-4D7E-BEB6-E5EB-2BEDED35531D}"/>
              </a:ext>
            </a:extLst>
          </p:cNvPr>
          <p:cNvSpPr/>
          <p:nvPr/>
        </p:nvSpPr>
        <p:spPr>
          <a:xfrm rot="2402320">
            <a:off x="1383591" y="4944002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617DE3E2-FFC5-6EF7-42CF-A99293251BA9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1652975" y="4492141"/>
            <a:ext cx="738424" cy="575075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FC6826E-586C-5C36-5E02-75FF9CB41C69}"/>
                  </a:ext>
                </a:extLst>
              </p:cNvPr>
              <p:cNvSpPr txBox="1"/>
              <p:nvPr/>
            </p:nvSpPr>
            <p:spPr>
              <a:xfrm>
                <a:off x="1672846" y="4403893"/>
                <a:ext cx="2878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FC6826E-586C-5C36-5E02-75FF9CB41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846" y="4403893"/>
                <a:ext cx="287866" cy="400110"/>
              </a:xfrm>
              <a:prstGeom prst="rect">
                <a:avLst/>
              </a:prstGeom>
              <a:blipFill>
                <a:blip r:embed="rId14"/>
                <a:stretch>
                  <a:fillRect r="-31250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本框 55">
            <a:extLst>
              <a:ext uri="{FF2B5EF4-FFF2-40B4-BE49-F238E27FC236}">
                <a16:creationId xmlns:a16="http://schemas.microsoft.com/office/drawing/2014/main" id="{19065425-490A-5338-F26B-35A653458950}"/>
              </a:ext>
            </a:extLst>
          </p:cNvPr>
          <p:cNvSpPr txBox="1"/>
          <p:nvPr/>
        </p:nvSpPr>
        <p:spPr>
          <a:xfrm>
            <a:off x="1098508" y="1573121"/>
            <a:ext cx="3199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A</a:t>
            </a:r>
            <a:r>
              <a:rPr lang="zh-CN" altLang="en-US" sz="1600" dirty="0">
                <a:latin typeface="+mn-ea"/>
              </a:rPr>
              <a:t>对于</a:t>
            </a:r>
            <a:r>
              <a:rPr lang="en-US" altLang="zh-CN" sz="1600" dirty="0">
                <a:latin typeface="+mn-ea"/>
              </a:rPr>
              <a:t>B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类似于</a:t>
            </a:r>
            <a:r>
              <a:rPr lang="en-US" altLang="zh-CN" sz="1600" dirty="0">
                <a:latin typeface="+mn-ea"/>
              </a:rPr>
              <a:t>C</a:t>
            </a:r>
            <a:r>
              <a:rPr lang="zh-CN" altLang="en-US" sz="1600" dirty="0">
                <a:latin typeface="+mn-ea"/>
              </a:rPr>
              <a:t>对于</a:t>
            </a:r>
            <a:r>
              <a:rPr lang="en-US" altLang="zh-CN" sz="1600" dirty="0">
                <a:latin typeface="+mn-ea"/>
              </a:rPr>
              <a:t>D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ECD8A04-9A31-0E96-E0F7-EC7D65CCB874}"/>
                  </a:ext>
                </a:extLst>
              </p:cNvPr>
              <p:cNvSpPr txBox="1"/>
              <p:nvPr/>
            </p:nvSpPr>
            <p:spPr>
              <a:xfrm>
                <a:off x="9006366" y="5809153"/>
                <a:ext cx="25477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ECD8A04-9A31-0E96-E0F7-EC7D65CCB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366" y="5809153"/>
                <a:ext cx="2547761" cy="400110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D5E55BBD-5EDC-6826-23F7-7463E6121F06}"/>
              </a:ext>
            </a:extLst>
          </p:cNvPr>
          <p:cNvSpPr txBox="1"/>
          <p:nvPr/>
        </p:nvSpPr>
        <p:spPr>
          <a:xfrm>
            <a:off x="6571952" y="746602"/>
            <a:ext cx="930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任务</a:t>
            </a:r>
            <a:r>
              <a:rPr lang="en-US" altLang="zh-CN" dirty="0">
                <a:latin typeface="+mn-ea"/>
              </a:rPr>
              <a:t>A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CD40B9F-6448-33F3-7132-F489B0642117}"/>
              </a:ext>
            </a:extLst>
          </p:cNvPr>
          <p:cNvSpPr txBox="1"/>
          <p:nvPr/>
        </p:nvSpPr>
        <p:spPr>
          <a:xfrm>
            <a:off x="9670950" y="768625"/>
            <a:ext cx="930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任务</a:t>
            </a:r>
            <a:r>
              <a:rPr lang="en-US" altLang="zh-CN" dirty="0">
                <a:latin typeface="+mn-ea"/>
              </a:rPr>
              <a:t>B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5DB9AD9-21A0-7C5F-B765-904DE7DBDEBF}"/>
              </a:ext>
            </a:extLst>
          </p:cNvPr>
          <p:cNvSpPr txBox="1"/>
          <p:nvPr/>
        </p:nvSpPr>
        <p:spPr>
          <a:xfrm>
            <a:off x="6571952" y="3628103"/>
            <a:ext cx="930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任务</a:t>
            </a:r>
            <a:r>
              <a:rPr lang="en-US" altLang="zh-CN" dirty="0">
                <a:latin typeface="+mn-ea"/>
              </a:rPr>
              <a:t>C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CD57A56-56FB-3767-6485-55E293EB51A7}"/>
              </a:ext>
            </a:extLst>
          </p:cNvPr>
          <p:cNvSpPr txBox="1"/>
          <p:nvPr/>
        </p:nvSpPr>
        <p:spPr>
          <a:xfrm>
            <a:off x="9670950" y="3628103"/>
            <a:ext cx="930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任务</a:t>
            </a:r>
            <a:r>
              <a:rPr lang="en-US" altLang="zh-CN" dirty="0">
                <a:latin typeface="+mn-ea"/>
              </a:rPr>
              <a:t>D</a:t>
            </a:r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DAECE2BF-D02A-10C0-B23D-0E5B69F018FE}"/>
              </a:ext>
            </a:extLst>
          </p:cNvPr>
          <p:cNvCxnSpPr>
            <a:cxnSpLocks/>
          </p:cNvCxnSpPr>
          <p:nvPr/>
        </p:nvCxnSpPr>
        <p:spPr>
          <a:xfrm>
            <a:off x="2391399" y="4571063"/>
            <a:ext cx="275120" cy="1098666"/>
          </a:xfrm>
          <a:prstGeom prst="straightConnector1">
            <a:avLst/>
          </a:prstGeom>
          <a:ln w="38100">
            <a:solidFill>
              <a:srgbClr val="1AE43C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E5E70F5-C487-32B3-5F34-C6DD1CD75A20}"/>
              </a:ext>
            </a:extLst>
          </p:cNvPr>
          <p:cNvCxnSpPr>
            <a:cxnSpLocks/>
            <a:stCxn id="37" idx="7"/>
          </p:cNvCxnSpPr>
          <p:nvPr/>
        </p:nvCxnSpPr>
        <p:spPr>
          <a:xfrm>
            <a:off x="1652975" y="5067216"/>
            <a:ext cx="1013544" cy="640891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1E92DDEF-8DB2-B289-DC85-99A583927382}"/>
                  </a:ext>
                </a:extLst>
              </p:cNvPr>
              <p:cNvSpPr txBox="1"/>
              <p:nvPr/>
            </p:nvSpPr>
            <p:spPr>
              <a:xfrm>
                <a:off x="1871881" y="5318268"/>
                <a:ext cx="2878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1E92DDEF-8DB2-B289-DC85-99A583927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881" y="5318268"/>
                <a:ext cx="287866" cy="400110"/>
              </a:xfrm>
              <a:prstGeom prst="rect">
                <a:avLst/>
              </a:prstGeom>
              <a:blipFill>
                <a:blip r:embed="rId16"/>
                <a:stretch>
                  <a:fillRect r="-31915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87AD843-06E2-9108-6764-27351F08F735}"/>
                  </a:ext>
                </a:extLst>
              </p:cNvPr>
              <p:cNvSpPr txBox="1"/>
              <p:nvPr/>
            </p:nvSpPr>
            <p:spPr>
              <a:xfrm>
                <a:off x="2474967" y="4860994"/>
                <a:ext cx="1296224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𝐴𝑛𝑎𝑙𝑜𝑔𝑖𝑒𝑠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87AD843-06E2-9108-6764-27351F08F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967" y="4860994"/>
                <a:ext cx="1296224" cy="391902"/>
              </a:xfrm>
              <a:prstGeom prst="rect">
                <a:avLst/>
              </a:prstGeom>
              <a:blipFill>
                <a:blip r:embed="rId1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5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6" grpId="0"/>
      <p:bldP spid="17" grpId="0"/>
      <p:bldP spid="18" grpId="0"/>
      <p:bldP spid="19" grpId="0"/>
      <p:bldP spid="20" grpId="0"/>
      <p:bldP spid="26" grpId="0"/>
      <p:bldP spid="34" grpId="0"/>
      <p:bldP spid="37" grpId="0" animBg="1"/>
      <p:bldP spid="50" grpId="0"/>
      <p:bldP spid="56" grpId="0"/>
      <p:bldP spid="57" grpId="0"/>
      <p:bldP spid="59" grpId="0"/>
      <p:bldP spid="61" grpId="0"/>
      <p:bldP spid="62" grpId="0"/>
      <p:bldP spid="63" grpId="0"/>
      <p:bldP spid="74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相关背景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1F523D-0150-0759-4B59-A50F8711AA36}"/>
              </a:ext>
            </a:extLst>
          </p:cNvPr>
          <p:cNvSpPr txBox="1"/>
          <p:nvPr/>
        </p:nvSpPr>
        <p:spPr>
          <a:xfrm>
            <a:off x="603504" y="769583"/>
            <a:ext cx="4178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任务算术（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Task Arithmetic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258883-198D-8A7C-17A7-946E89B3E1BA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61A0E3-3A11-2D35-CCC7-4408253716D9}"/>
              </a:ext>
            </a:extLst>
          </p:cNvPr>
          <p:cNvSpPr txBox="1"/>
          <p:nvPr/>
        </p:nvSpPr>
        <p:spPr>
          <a:xfrm>
            <a:off x="881749" y="1177872"/>
            <a:ext cx="1800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优点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42FAC48-E829-42FD-BCA9-098FB4A67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568" y="1944646"/>
            <a:ext cx="1034620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1600" dirty="0">
                <a:latin typeface="+mn-ea"/>
              </a:rPr>
              <a:t>任务算术通过</a:t>
            </a:r>
            <a:r>
              <a:rPr lang="zh-CN" altLang="zh-CN" sz="1600" b="1" dirty="0">
                <a:latin typeface="+mn-ea"/>
              </a:rPr>
              <a:t>简单的权重操作</a:t>
            </a:r>
            <a:r>
              <a:rPr lang="zh-CN" altLang="zh-CN" sz="1600" dirty="0">
                <a:latin typeface="+mn-ea"/>
              </a:rPr>
              <a:t>编辑模型行为，无需重新训练整个模型或访问原始数据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064441-FB5F-F4A9-DAAA-4E0ED4EA761B}"/>
              </a:ext>
            </a:extLst>
          </p:cNvPr>
          <p:cNvSpPr txBox="1"/>
          <p:nvPr/>
        </p:nvSpPr>
        <p:spPr>
          <a:xfrm>
            <a:off x="1257683" y="2686822"/>
            <a:ext cx="7930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latin typeface="+mn-ea"/>
              </a:rPr>
              <a:t>相较于</a:t>
            </a:r>
            <a:r>
              <a:rPr lang="zh-CN" altLang="zh-CN" sz="1600" b="1" dirty="0">
                <a:latin typeface="+mn-ea"/>
              </a:rPr>
              <a:t>传统多任务学习</a:t>
            </a:r>
            <a:r>
              <a:rPr lang="zh-CN" altLang="zh-CN" sz="1600" dirty="0">
                <a:latin typeface="+mn-ea"/>
              </a:rPr>
              <a:t>中的联合训练，任务算术显著降低了时间和计算资源成本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E3F314-9E11-B879-7060-6F5FDE19A775}"/>
              </a:ext>
            </a:extLst>
          </p:cNvPr>
          <p:cNvSpPr txBox="1"/>
          <p:nvPr/>
        </p:nvSpPr>
        <p:spPr>
          <a:xfrm>
            <a:off x="1295568" y="3429000"/>
            <a:ext cx="924746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 sz="1600">
                <a:latin typeface="+mn-ea"/>
              </a:defRPr>
            </a:lvl1pPr>
          </a:lstStyle>
          <a:p>
            <a:r>
              <a:rPr lang="zh-CN" altLang="en-US" dirty="0"/>
              <a:t>可单独学习每个任务的</a:t>
            </a:r>
            <a:r>
              <a:rPr lang="zh-CN" altLang="en-US" b="1" dirty="0"/>
              <a:t>任务向量</a:t>
            </a:r>
            <a:r>
              <a:rPr lang="zh-CN" altLang="en-US" dirty="0"/>
              <a:t>，通过加减操作动态的学习任务与遗忘任务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BFFA02-8942-D03F-7BA2-D2BA96C8A098}"/>
              </a:ext>
            </a:extLst>
          </p:cNvPr>
          <p:cNvSpPr txBox="1"/>
          <p:nvPr/>
        </p:nvSpPr>
        <p:spPr>
          <a:xfrm>
            <a:off x="1158408" y="1573558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数据隐私性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413B20-62F1-FEA0-F6B5-0CA04D07CCAA}"/>
              </a:ext>
            </a:extLst>
          </p:cNvPr>
          <p:cNvSpPr txBox="1"/>
          <p:nvPr/>
        </p:nvSpPr>
        <p:spPr>
          <a:xfrm>
            <a:off x="1158408" y="2315734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资源消耗低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A44DD3-6ABC-E20E-8881-94151774728D}"/>
              </a:ext>
            </a:extLst>
          </p:cNvPr>
          <p:cNvSpPr txBox="1"/>
          <p:nvPr/>
        </p:nvSpPr>
        <p:spPr>
          <a:xfrm>
            <a:off x="1158408" y="3057910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可扩展性好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4AC551-7293-C0D9-D003-8C9B45076F03}"/>
              </a:ext>
            </a:extLst>
          </p:cNvPr>
          <p:cNvSpPr txBox="1"/>
          <p:nvPr/>
        </p:nvSpPr>
        <p:spPr>
          <a:xfrm>
            <a:off x="881749" y="3834381"/>
            <a:ext cx="1800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缺点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21368C5-4264-FC64-0619-8CCF1BFE88DC}"/>
              </a:ext>
            </a:extLst>
          </p:cNvPr>
          <p:cNvSpPr/>
          <p:nvPr/>
        </p:nvSpPr>
        <p:spPr>
          <a:xfrm rot="1274678">
            <a:off x="1231080" y="5166762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AFD204E-85B4-0667-1FF1-57117BCB5086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1489580" y="4400696"/>
            <a:ext cx="643534" cy="846601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860159-3486-6C21-FCD8-8047CB5EAB73}"/>
                  </a:ext>
                </a:extLst>
              </p:cNvPr>
              <p:cNvSpPr txBox="1"/>
              <p:nvPr/>
            </p:nvSpPr>
            <p:spPr>
              <a:xfrm>
                <a:off x="1409940" y="4485678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860159-3486-6C21-FCD8-8047CB5EA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940" y="4485678"/>
                <a:ext cx="287866" cy="338554"/>
              </a:xfrm>
              <a:prstGeom prst="rect">
                <a:avLst/>
              </a:prstGeom>
              <a:blipFill>
                <a:blip r:embed="rId3"/>
                <a:stretch>
                  <a:fillRect r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FC44622-42F8-2725-C744-4797B8DECA93}"/>
                  </a:ext>
                </a:extLst>
              </p:cNvPr>
              <p:cNvSpPr txBox="1"/>
              <p:nvPr/>
            </p:nvSpPr>
            <p:spPr>
              <a:xfrm>
                <a:off x="1214302" y="5426564"/>
                <a:ext cx="7182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FC44622-42F8-2725-C744-4797B8DEC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302" y="5426564"/>
                <a:ext cx="718271" cy="357534"/>
              </a:xfrm>
              <a:prstGeom prst="rect">
                <a:avLst/>
              </a:prstGeom>
              <a:blipFill>
                <a:blip r:embed="rId4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E0BC0D5-4E14-38A7-A99F-758A486A1ABF}"/>
              </a:ext>
            </a:extLst>
          </p:cNvPr>
          <p:cNvCxnSpPr>
            <a:cxnSpLocks/>
            <a:stCxn id="17" idx="7"/>
          </p:cNvCxnSpPr>
          <p:nvPr/>
        </p:nvCxnSpPr>
        <p:spPr>
          <a:xfrm>
            <a:off x="1489580" y="5247297"/>
            <a:ext cx="1094596" cy="1792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62637B6-1EA1-BBE3-1000-97CEEBE79F6D}"/>
              </a:ext>
            </a:extLst>
          </p:cNvPr>
          <p:cNvCxnSpPr>
            <a:cxnSpLocks/>
          </p:cNvCxnSpPr>
          <p:nvPr/>
        </p:nvCxnSpPr>
        <p:spPr>
          <a:xfrm>
            <a:off x="2154340" y="4399667"/>
            <a:ext cx="1136209" cy="232220"/>
          </a:xfrm>
          <a:prstGeom prst="straightConnector1">
            <a:avLst/>
          </a:prstGeom>
          <a:ln w="28575">
            <a:solidFill>
              <a:srgbClr val="D71D49">
                <a:alpha val="2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C15308B-71A4-2343-9564-B955F01B2172}"/>
              </a:ext>
            </a:extLst>
          </p:cNvPr>
          <p:cNvCxnSpPr>
            <a:cxnSpLocks/>
          </p:cNvCxnSpPr>
          <p:nvPr/>
        </p:nvCxnSpPr>
        <p:spPr>
          <a:xfrm flipV="1">
            <a:off x="2626628" y="4632916"/>
            <a:ext cx="685147" cy="793648"/>
          </a:xfrm>
          <a:prstGeom prst="straightConnector1">
            <a:avLst/>
          </a:prstGeom>
          <a:ln w="38100">
            <a:solidFill>
              <a:srgbClr val="00B0F0">
                <a:alpha val="2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DFAA26E-7B88-08AE-E5F2-240385E71870}"/>
                  </a:ext>
                </a:extLst>
              </p:cNvPr>
              <p:cNvSpPr txBox="1"/>
              <p:nvPr/>
            </p:nvSpPr>
            <p:spPr>
              <a:xfrm>
                <a:off x="1831092" y="5270552"/>
                <a:ext cx="2878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DFAA26E-7B88-08AE-E5F2-240385E71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092" y="5270552"/>
                <a:ext cx="287866" cy="338554"/>
              </a:xfrm>
              <a:prstGeom prst="rect">
                <a:avLst/>
              </a:prstGeom>
              <a:blipFill>
                <a:blip r:embed="rId5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A185312-66E4-520D-03BC-061655597A53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1489580" y="4663661"/>
            <a:ext cx="1757108" cy="583636"/>
          </a:xfrm>
          <a:prstGeom prst="straightConnector1">
            <a:avLst/>
          </a:prstGeom>
          <a:ln w="38100">
            <a:solidFill>
              <a:srgbClr val="1AE4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6F64703-D2B1-10EE-F503-66FE43C1FD5C}"/>
                  </a:ext>
                </a:extLst>
              </p:cNvPr>
              <p:cNvSpPr txBox="1"/>
              <p:nvPr/>
            </p:nvSpPr>
            <p:spPr>
              <a:xfrm>
                <a:off x="2179363" y="4931906"/>
                <a:ext cx="1909575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𝑚𝑒𝑟𝑔𝑒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6F64703-D2B1-10EE-F503-66FE43C1F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363" y="4931906"/>
                <a:ext cx="1909575" cy="358560"/>
              </a:xfrm>
              <a:prstGeom prst="rect">
                <a:avLst/>
              </a:prstGeom>
              <a:blipFill>
                <a:blip r:embed="rId6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98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2" grpId="0"/>
      <p:bldP spid="13" grpId="0"/>
      <p:bldP spid="14" grpId="0"/>
      <p:bldP spid="15" grpId="0"/>
      <p:bldP spid="16" grpId="0"/>
      <p:bldP spid="17" grpId="0" animBg="1"/>
      <p:bldP spid="19" grpId="0"/>
      <p:bldP spid="20" grpId="0"/>
      <p:bldP spid="24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71F881B-04B3-2A57-4914-6F07252C1C45}"/>
              </a:ext>
            </a:extLst>
          </p:cNvPr>
          <p:cNvCxnSpPr>
            <a:cxnSpLocks/>
          </p:cNvCxnSpPr>
          <p:nvPr/>
        </p:nvCxnSpPr>
        <p:spPr>
          <a:xfrm>
            <a:off x="1489580" y="5247297"/>
            <a:ext cx="1094596" cy="179267"/>
          </a:xfrm>
          <a:prstGeom prst="straightConnector1">
            <a:avLst/>
          </a:prstGeom>
          <a:ln w="28575">
            <a:solidFill>
              <a:srgbClr val="D71D49">
                <a:alpha val="34118"/>
              </a:srgbClr>
            </a:solidFill>
            <a:prstDash val="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相关背景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1F523D-0150-0759-4B59-A50F8711AA36}"/>
              </a:ext>
            </a:extLst>
          </p:cNvPr>
          <p:cNvSpPr txBox="1"/>
          <p:nvPr/>
        </p:nvSpPr>
        <p:spPr>
          <a:xfrm>
            <a:off x="603504" y="769583"/>
            <a:ext cx="4178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任务算术（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Task Arithmetic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258883-198D-8A7C-17A7-946E89B3E1BA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61A0E3-3A11-2D35-CCC7-4408253716D9}"/>
              </a:ext>
            </a:extLst>
          </p:cNvPr>
          <p:cNvSpPr txBox="1"/>
          <p:nvPr/>
        </p:nvSpPr>
        <p:spPr>
          <a:xfrm>
            <a:off x="881749" y="1177872"/>
            <a:ext cx="1800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优点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42FAC48-E829-42FD-BCA9-098FB4A67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568" y="1944646"/>
            <a:ext cx="1034620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1600" dirty="0">
                <a:latin typeface="+mn-ea"/>
              </a:rPr>
              <a:t>任务算术通过</a:t>
            </a:r>
            <a:r>
              <a:rPr lang="zh-CN" altLang="zh-CN" sz="1600" b="1" dirty="0">
                <a:latin typeface="+mn-ea"/>
              </a:rPr>
              <a:t>简单的权重操作</a:t>
            </a:r>
            <a:r>
              <a:rPr lang="zh-CN" altLang="zh-CN" sz="1600" dirty="0">
                <a:latin typeface="+mn-ea"/>
              </a:rPr>
              <a:t>编辑模型行为，无需重新训练整个模型或访问原始数据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064441-FB5F-F4A9-DAAA-4E0ED4EA761B}"/>
              </a:ext>
            </a:extLst>
          </p:cNvPr>
          <p:cNvSpPr txBox="1"/>
          <p:nvPr/>
        </p:nvSpPr>
        <p:spPr>
          <a:xfrm>
            <a:off x="1257683" y="2686822"/>
            <a:ext cx="7930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dirty="0">
                <a:latin typeface="+mn-ea"/>
              </a:rPr>
              <a:t>相较于</a:t>
            </a:r>
            <a:r>
              <a:rPr lang="zh-CN" altLang="zh-CN" sz="1600" b="1" dirty="0">
                <a:latin typeface="+mn-ea"/>
              </a:rPr>
              <a:t>传统多任务学习</a:t>
            </a:r>
            <a:r>
              <a:rPr lang="zh-CN" altLang="zh-CN" sz="1600" dirty="0">
                <a:latin typeface="+mn-ea"/>
              </a:rPr>
              <a:t>中的联合训练，任务算术显著降低了时间和计算资源成本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E3F314-9E11-B879-7060-6F5FDE19A775}"/>
              </a:ext>
            </a:extLst>
          </p:cNvPr>
          <p:cNvSpPr txBox="1"/>
          <p:nvPr/>
        </p:nvSpPr>
        <p:spPr>
          <a:xfrm>
            <a:off x="1295568" y="3429000"/>
            <a:ext cx="924746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 sz="1600">
                <a:latin typeface="+mn-ea"/>
              </a:defRPr>
            </a:lvl1pPr>
          </a:lstStyle>
          <a:p>
            <a:r>
              <a:rPr lang="zh-CN" altLang="en-US" dirty="0"/>
              <a:t>可单独学习每个任务的</a:t>
            </a:r>
            <a:r>
              <a:rPr lang="zh-CN" altLang="en-US" b="1" dirty="0"/>
              <a:t>任务向量</a:t>
            </a:r>
            <a:r>
              <a:rPr lang="zh-CN" altLang="en-US" dirty="0"/>
              <a:t>，通过加减操作动态的学习任务与遗忘任务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BFFA02-8942-D03F-7BA2-D2BA96C8A098}"/>
              </a:ext>
            </a:extLst>
          </p:cNvPr>
          <p:cNvSpPr txBox="1"/>
          <p:nvPr/>
        </p:nvSpPr>
        <p:spPr>
          <a:xfrm>
            <a:off x="1158408" y="1573558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数据隐私性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413B20-62F1-FEA0-F6B5-0CA04D07CCAA}"/>
              </a:ext>
            </a:extLst>
          </p:cNvPr>
          <p:cNvSpPr txBox="1"/>
          <p:nvPr/>
        </p:nvSpPr>
        <p:spPr>
          <a:xfrm>
            <a:off x="1158408" y="2315734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资源消耗低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A44DD3-6ABC-E20E-8881-94151774728D}"/>
              </a:ext>
            </a:extLst>
          </p:cNvPr>
          <p:cNvSpPr txBox="1"/>
          <p:nvPr/>
        </p:nvSpPr>
        <p:spPr>
          <a:xfrm>
            <a:off x="1158408" y="3057910"/>
            <a:ext cx="1800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可扩展性好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4AC551-7293-C0D9-D003-8C9B45076F03}"/>
              </a:ext>
            </a:extLst>
          </p:cNvPr>
          <p:cNvSpPr txBox="1"/>
          <p:nvPr/>
        </p:nvSpPr>
        <p:spPr>
          <a:xfrm>
            <a:off x="881749" y="3834381"/>
            <a:ext cx="1800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缺点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DFAA26E-7B88-08AE-E5F2-240385E71870}"/>
                  </a:ext>
                </a:extLst>
              </p:cNvPr>
              <p:cNvSpPr txBox="1"/>
              <p:nvPr/>
            </p:nvSpPr>
            <p:spPr>
              <a:xfrm>
                <a:off x="1295568" y="5270552"/>
                <a:ext cx="82339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DFAA26E-7B88-08AE-E5F2-240385E71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568" y="5270552"/>
                <a:ext cx="82339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>
            <a:extLst>
              <a:ext uri="{FF2B5EF4-FFF2-40B4-BE49-F238E27FC236}">
                <a16:creationId xmlns:a16="http://schemas.microsoft.com/office/drawing/2014/main" id="{C21368C5-4264-FC64-0619-8CCF1BFE88DC}"/>
              </a:ext>
            </a:extLst>
          </p:cNvPr>
          <p:cNvSpPr/>
          <p:nvPr/>
        </p:nvSpPr>
        <p:spPr>
          <a:xfrm rot="1274678">
            <a:off x="1231080" y="5166762"/>
            <a:ext cx="270000" cy="269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AFD204E-85B4-0667-1FF1-57117BCB5086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1489580" y="4663661"/>
            <a:ext cx="442993" cy="58363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860159-3486-6C21-FCD8-8047CB5EAB73}"/>
                  </a:ext>
                </a:extLst>
              </p:cNvPr>
              <p:cNvSpPr txBox="1"/>
              <p:nvPr/>
            </p:nvSpPr>
            <p:spPr>
              <a:xfrm>
                <a:off x="996066" y="4485678"/>
                <a:ext cx="70174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860159-3486-6C21-FCD8-8047CB5EA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66" y="4485678"/>
                <a:ext cx="70174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FC44622-42F8-2725-C744-4797B8DECA93}"/>
                  </a:ext>
                </a:extLst>
              </p:cNvPr>
              <p:cNvSpPr txBox="1"/>
              <p:nvPr/>
            </p:nvSpPr>
            <p:spPr>
              <a:xfrm>
                <a:off x="1214302" y="5426564"/>
                <a:ext cx="718271" cy="3575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FC44622-42F8-2725-C744-4797B8DEC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302" y="5426564"/>
                <a:ext cx="718271" cy="357534"/>
              </a:xfrm>
              <a:prstGeom prst="rect">
                <a:avLst/>
              </a:prstGeom>
              <a:blipFill>
                <a:blip r:embed="rId5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E0BC0D5-4E14-38A7-A99F-758A486A1ABF}"/>
              </a:ext>
            </a:extLst>
          </p:cNvPr>
          <p:cNvCxnSpPr>
            <a:cxnSpLocks/>
            <a:stCxn id="17" idx="7"/>
          </p:cNvCxnSpPr>
          <p:nvPr/>
        </p:nvCxnSpPr>
        <p:spPr>
          <a:xfrm>
            <a:off x="1489580" y="5247297"/>
            <a:ext cx="689783" cy="1019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62637B6-1EA1-BBE3-1000-97CEEBE79F6D}"/>
              </a:ext>
            </a:extLst>
          </p:cNvPr>
          <p:cNvCxnSpPr>
            <a:cxnSpLocks/>
          </p:cNvCxnSpPr>
          <p:nvPr/>
        </p:nvCxnSpPr>
        <p:spPr>
          <a:xfrm>
            <a:off x="1932573" y="4672202"/>
            <a:ext cx="507670" cy="123606"/>
          </a:xfrm>
          <a:prstGeom prst="straightConnector1">
            <a:avLst/>
          </a:prstGeom>
          <a:ln w="28575">
            <a:solidFill>
              <a:srgbClr val="D71D49">
                <a:alpha val="2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C15308B-71A4-2343-9564-B955F01B2172}"/>
              </a:ext>
            </a:extLst>
          </p:cNvPr>
          <p:cNvCxnSpPr>
            <a:cxnSpLocks/>
          </p:cNvCxnSpPr>
          <p:nvPr/>
        </p:nvCxnSpPr>
        <p:spPr>
          <a:xfrm flipV="1">
            <a:off x="2169819" y="4913354"/>
            <a:ext cx="401381" cy="415376"/>
          </a:xfrm>
          <a:prstGeom prst="straightConnector1">
            <a:avLst/>
          </a:prstGeom>
          <a:ln w="38100">
            <a:solidFill>
              <a:srgbClr val="00B0F0">
                <a:alpha val="20000"/>
              </a:srgb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A185312-66E4-520D-03BC-061655597A53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1489580" y="4824232"/>
            <a:ext cx="1137048" cy="423065"/>
          </a:xfrm>
          <a:prstGeom prst="straightConnector1">
            <a:avLst/>
          </a:prstGeom>
          <a:ln w="38100">
            <a:solidFill>
              <a:srgbClr val="1AE4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6F64703-D2B1-10EE-F503-66FE43C1FD5C}"/>
                  </a:ext>
                </a:extLst>
              </p:cNvPr>
              <p:cNvSpPr txBox="1"/>
              <p:nvPr/>
            </p:nvSpPr>
            <p:spPr>
              <a:xfrm>
                <a:off x="2179363" y="4931906"/>
                <a:ext cx="2292053" cy="358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𝑚𝑒𝑟𝑔𝑒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6F64703-D2B1-10EE-F503-66FE43C1F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363" y="4931906"/>
                <a:ext cx="2292053" cy="358560"/>
              </a:xfrm>
              <a:prstGeom prst="rect">
                <a:avLst/>
              </a:prstGeom>
              <a:blipFill>
                <a:blip r:embed="rId6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6DA88C9B-B7C5-C018-05DA-6DCDC51154A7}"/>
              </a:ext>
            </a:extLst>
          </p:cNvPr>
          <p:cNvSpPr txBox="1"/>
          <p:nvPr/>
        </p:nvSpPr>
        <p:spPr>
          <a:xfrm>
            <a:off x="4471416" y="4189728"/>
            <a:ext cx="6103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在实际实现过程中，融合过后的任务向量要乘一个缩放系数</a:t>
            </a:r>
            <a:endParaRPr lang="en-US" altLang="zh-CN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12F9F28-FB3C-2B63-2EAA-4CE8E3A7BBF6}"/>
              </a:ext>
            </a:extLst>
          </p:cNvPr>
          <p:cNvSpPr txBox="1"/>
          <p:nvPr/>
        </p:nvSpPr>
        <p:spPr>
          <a:xfrm>
            <a:off x="4471416" y="4605577"/>
            <a:ext cx="7389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这个缩放系数可以通过验证集数据在</a:t>
            </a:r>
            <a:r>
              <a:rPr lang="en-US" altLang="zh-CN" sz="1400" dirty="0"/>
              <a:t>{0,0.1,0.2,…,1}</a:t>
            </a:r>
            <a:r>
              <a:rPr lang="zh-CN" altLang="en-US" sz="1400" dirty="0"/>
              <a:t>搜索，也可以用经验确定（如</a:t>
            </a:r>
            <a:r>
              <a:rPr lang="en-US" altLang="zh-CN" sz="1400" dirty="0"/>
              <a:t>0.3</a:t>
            </a:r>
            <a:r>
              <a:rPr lang="zh-CN" altLang="en-US" sz="1400" dirty="0"/>
              <a:t>）</a:t>
            </a:r>
            <a:endParaRPr lang="en-US" altLang="zh-CN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33DA5A3-CDF8-790B-861A-07CB7F878478}"/>
              </a:ext>
            </a:extLst>
          </p:cNvPr>
          <p:cNvSpPr txBox="1"/>
          <p:nvPr/>
        </p:nvSpPr>
        <p:spPr>
          <a:xfrm>
            <a:off x="4471416" y="5039976"/>
            <a:ext cx="6103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相同的缩放系数会造成任务向量参数间的冲突</a:t>
            </a:r>
            <a:endParaRPr lang="en-US" altLang="zh-CN" sz="1400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6449511-05A1-5F06-A985-C18148EA695D}"/>
              </a:ext>
            </a:extLst>
          </p:cNvPr>
          <p:cNvSpPr txBox="1"/>
          <p:nvPr/>
        </p:nvSpPr>
        <p:spPr>
          <a:xfrm>
            <a:off x="4782312" y="6302199"/>
            <a:ext cx="7653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+mn-ea"/>
              </a:rPr>
              <a:t>正常</a:t>
            </a:r>
            <a:endParaRPr lang="zh-CN" altLang="en-US" sz="1050" b="1" dirty="0"/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AD0D43EE-AFA4-6D27-0FB1-F4AF49B14170}"/>
              </a:ext>
            </a:extLst>
          </p:cNvPr>
          <p:cNvGrpSpPr/>
          <p:nvPr/>
        </p:nvGrpSpPr>
        <p:grpSpPr>
          <a:xfrm>
            <a:off x="5765328" y="5592487"/>
            <a:ext cx="245280" cy="709712"/>
            <a:chOff x="5919300" y="5393908"/>
            <a:chExt cx="245280" cy="709712"/>
          </a:xfrm>
        </p:grpSpPr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8DD5FF23-D5B8-FC41-E628-6B4982CD5D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4580" y="5638800"/>
              <a:ext cx="0" cy="145298"/>
            </a:xfrm>
            <a:prstGeom prst="straightConnector1">
              <a:avLst/>
            </a:prstGeom>
            <a:ln w="127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57913E4F-D417-8C48-EE2D-38E8E87CC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9300" y="5393908"/>
              <a:ext cx="0" cy="39019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7D3EB090-57FF-8DFA-D150-579F007BD77E}"/>
                </a:ext>
              </a:extLst>
            </p:cNvPr>
            <p:cNvCxnSpPr>
              <a:cxnSpLocks/>
            </p:cNvCxnSpPr>
            <p:nvPr/>
          </p:nvCxnSpPr>
          <p:spPr>
            <a:xfrm>
              <a:off x="6058199" y="5784098"/>
              <a:ext cx="0" cy="31952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F40D1A2B-2BC0-B6ED-9916-C616B5D8D2C1}"/>
              </a:ext>
            </a:extLst>
          </p:cNvPr>
          <p:cNvGrpSpPr/>
          <p:nvPr/>
        </p:nvGrpSpPr>
        <p:grpSpPr>
          <a:xfrm>
            <a:off x="5061455" y="5559831"/>
            <a:ext cx="263353" cy="422846"/>
            <a:chOff x="5223047" y="5361252"/>
            <a:chExt cx="263353" cy="422846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1D6DB769-564D-2CE3-BD76-A9AAD5F196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3047" y="5361252"/>
              <a:ext cx="0" cy="422846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A3253DF5-81F8-283A-854C-E22C86CDD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0207" y="5426564"/>
              <a:ext cx="0" cy="35753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5F6B0061-B2E4-1CC4-A823-997E5D64E2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5393908"/>
              <a:ext cx="0" cy="390190"/>
            </a:xfrm>
            <a:prstGeom prst="straightConnector1">
              <a:avLst/>
            </a:prstGeom>
            <a:ln w="127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A51DDD1-914E-49C1-BEB4-8B8B33F606E5}"/>
              </a:ext>
            </a:extLst>
          </p:cNvPr>
          <p:cNvGrpSpPr/>
          <p:nvPr/>
        </p:nvGrpSpPr>
        <p:grpSpPr>
          <a:xfrm>
            <a:off x="6451128" y="5576159"/>
            <a:ext cx="260520" cy="406518"/>
            <a:chOff x="6612720" y="5377580"/>
            <a:chExt cx="260520" cy="406518"/>
          </a:xfrm>
        </p:grpSpPr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CF72524D-B298-519B-8FA0-59062DEF9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2720" y="5377580"/>
              <a:ext cx="0" cy="39019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78C1DEB8-E08D-934B-0827-356CDA45A0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1619" y="5670222"/>
              <a:ext cx="0" cy="11387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3E62E1CB-2590-F87C-7218-5FBD9C256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3240" y="5572675"/>
              <a:ext cx="0" cy="195095"/>
            </a:xfrm>
            <a:prstGeom prst="straightConnector1">
              <a:avLst/>
            </a:prstGeom>
            <a:ln w="127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343D49D1-824E-EEBF-A8A2-E1795F3D62EA}"/>
              </a:ext>
            </a:extLst>
          </p:cNvPr>
          <p:cNvCxnSpPr>
            <a:cxnSpLocks/>
          </p:cNvCxnSpPr>
          <p:nvPr/>
        </p:nvCxnSpPr>
        <p:spPr>
          <a:xfrm>
            <a:off x="4794456" y="5982677"/>
            <a:ext cx="2057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EF7F17F-6B32-7720-3545-7179E67A1E22}"/>
              </a:ext>
            </a:extLst>
          </p:cNvPr>
          <p:cNvSpPr txBox="1"/>
          <p:nvPr/>
        </p:nvSpPr>
        <p:spPr>
          <a:xfrm>
            <a:off x="5402880" y="6302199"/>
            <a:ext cx="1048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+mn-ea"/>
              </a:rPr>
              <a:t>符号冲突</a:t>
            </a:r>
            <a:endParaRPr lang="zh-CN" altLang="en-US" sz="1050" b="1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09AB8AC3-313F-8BC8-A0D1-17B673635EB8}"/>
              </a:ext>
            </a:extLst>
          </p:cNvPr>
          <p:cNvSpPr txBox="1"/>
          <p:nvPr/>
        </p:nvSpPr>
        <p:spPr>
          <a:xfrm>
            <a:off x="6125639" y="6302199"/>
            <a:ext cx="10482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latin typeface="+mn-ea"/>
              </a:rPr>
              <a:t>参数冗余</a:t>
            </a:r>
            <a:endParaRPr lang="zh-CN" altLang="en-US" sz="1050" b="1" dirty="0"/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A29EC447-1551-E522-8FCD-DB764F08EB33}"/>
              </a:ext>
            </a:extLst>
          </p:cNvPr>
          <p:cNvCxnSpPr>
            <a:cxnSpLocks/>
          </p:cNvCxnSpPr>
          <p:nvPr/>
        </p:nvCxnSpPr>
        <p:spPr>
          <a:xfrm>
            <a:off x="7111660" y="5521264"/>
            <a:ext cx="390190" cy="0"/>
          </a:xfrm>
          <a:prstGeom prst="straightConnector1">
            <a:avLst/>
          </a:prstGeom>
          <a:ln w="127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2748447C-8B0C-EB1E-D47D-0DFF915E4BB1}"/>
              </a:ext>
            </a:extLst>
          </p:cNvPr>
          <p:cNvCxnSpPr>
            <a:cxnSpLocks/>
          </p:cNvCxnSpPr>
          <p:nvPr/>
        </p:nvCxnSpPr>
        <p:spPr>
          <a:xfrm flipV="1">
            <a:off x="7127988" y="5683078"/>
            <a:ext cx="390190" cy="431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3BEA370A-51DE-61B2-143B-30C92F6CBE35}"/>
              </a:ext>
            </a:extLst>
          </p:cNvPr>
          <p:cNvCxnSpPr>
            <a:cxnSpLocks/>
          </p:cNvCxnSpPr>
          <p:nvPr/>
        </p:nvCxnSpPr>
        <p:spPr>
          <a:xfrm rot="5400000" flipV="1">
            <a:off x="7323083" y="5654110"/>
            <a:ext cx="0" cy="390190"/>
          </a:xfrm>
          <a:prstGeom prst="straightConnector1">
            <a:avLst/>
          </a:prstGeom>
          <a:ln w="12700">
            <a:solidFill>
              <a:srgbClr val="1AE43C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A32CB51E-A136-6AF9-877D-C7E665390240}"/>
              </a:ext>
            </a:extLst>
          </p:cNvPr>
          <p:cNvSpPr txBox="1"/>
          <p:nvPr/>
        </p:nvSpPr>
        <p:spPr>
          <a:xfrm>
            <a:off x="7323083" y="5403183"/>
            <a:ext cx="765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任务</a:t>
            </a:r>
            <a:r>
              <a:rPr lang="en-US" altLang="zh-CN" sz="900" b="1" dirty="0">
                <a:latin typeface="+mn-ea"/>
              </a:rPr>
              <a:t>A</a:t>
            </a:r>
            <a:endParaRPr lang="zh-CN" altLang="en-US" sz="900" b="1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AC8BAD7-193D-6CD9-9030-68717D2DF5D8}"/>
              </a:ext>
            </a:extLst>
          </p:cNvPr>
          <p:cNvSpPr txBox="1"/>
          <p:nvPr/>
        </p:nvSpPr>
        <p:spPr>
          <a:xfrm>
            <a:off x="7323083" y="5567153"/>
            <a:ext cx="765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任务</a:t>
            </a:r>
            <a:r>
              <a:rPr lang="en-US" altLang="zh-CN" sz="900" b="1" dirty="0">
                <a:latin typeface="+mn-ea"/>
              </a:rPr>
              <a:t>B</a:t>
            </a:r>
            <a:endParaRPr lang="zh-CN" altLang="en-US" sz="900" b="1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ACF6DA38-9ABA-1503-69B4-F26A9782D4B3}"/>
              </a:ext>
            </a:extLst>
          </p:cNvPr>
          <p:cNvSpPr txBox="1"/>
          <p:nvPr/>
        </p:nvSpPr>
        <p:spPr>
          <a:xfrm>
            <a:off x="7323083" y="5735517"/>
            <a:ext cx="7653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融合</a:t>
            </a:r>
            <a:endParaRPr lang="zh-CN" altLang="en-US" sz="900" b="1" dirty="0"/>
          </a:p>
        </p:txBody>
      </p:sp>
      <p:pic>
        <p:nvPicPr>
          <p:cNvPr id="133" name="图形 132" descr="碰撞 纯色填充">
            <a:extLst>
              <a:ext uri="{FF2B5EF4-FFF2-40B4-BE49-F238E27FC236}">
                <a16:creationId xmlns:a16="http://schemas.microsoft.com/office/drawing/2014/main" id="{876C2C23-C39B-10B7-E3B9-3A62C748D4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50383" y="5622748"/>
            <a:ext cx="679451" cy="679451"/>
          </a:xfrm>
          <a:prstGeom prst="rect">
            <a:avLst/>
          </a:prstGeom>
        </p:spPr>
      </p:pic>
      <p:sp>
        <p:nvSpPr>
          <p:cNvPr id="135" name="文本框 134">
            <a:extLst>
              <a:ext uri="{FF2B5EF4-FFF2-40B4-BE49-F238E27FC236}">
                <a16:creationId xmlns:a16="http://schemas.microsoft.com/office/drawing/2014/main" id="{649A400F-BE42-8D17-187B-847CFCA11782}"/>
              </a:ext>
            </a:extLst>
          </p:cNvPr>
          <p:cNvSpPr txBox="1"/>
          <p:nvPr/>
        </p:nvSpPr>
        <p:spPr>
          <a:xfrm>
            <a:off x="8749904" y="5740771"/>
            <a:ext cx="1109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权重系数不能简单的相同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F954CD3-6BB6-B1DB-DC60-F4A210CF6F4D}"/>
              </a:ext>
            </a:extLst>
          </p:cNvPr>
          <p:cNvCxnSpPr>
            <a:cxnSpLocks/>
          </p:cNvCxnSpPr>
          <p:nvPr/>
        </p:nvCxnSpPr>
        <p:spPr>
          <a:xfrm flipV="1">
            <a:off x="1489580" y="4400696"/>
            <a:ext cx="643534" cy="846601"/>
          </a:xfrm>
          <a:prstGeom prst="straightConnector1">
            <a:avLst/>
          </a:prstGeom>
          <a:ln w="38100">
            <a:solidFill>
              <a:srgbClr val="00B0F0">
                <a:alpha val="36078"/>
              </a:srgbClr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89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6" grpId="0"/>
      <p:bldP spid="88" grpId="0"/>
      <p:bldP spid="117" grpId="0"/>
      <p:bldP spid="118" grpId="0"/>
      <p:bldP spid="128" grpId="0"/>
      <p:bldP spid="130" grpId="0"/>
      <p:bldP spid="131" grpId="0"/>
      <p:bldP spid="1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258883-198D-8A7C-17A7-946E89B3E1BA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6/16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2C5B43-BBFB-D5BA-9C0D-D1B349B0D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59" y="1475484"/>
            <a:ext cx="5678217" cy="326294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FAA0D59-462E-8572-F741-2BCC145CCBEF}"/>
              </a:ext>
            </a:extLst>
          </p:cNvPr>
          <p:cNvSpPr txBox="1"/>
          <p:nvPr/>
        </p:nvSpPr>
        <p:spPr>
          <a:xfrm>
            <a:off x="603504" y="769583"/>
            <a:ext cx="770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权重搜索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CEAA280D-CB27-7CC9-7DF1-F984C2F31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686" y="1374280"/>
            <a:ext cx="3586640" cy="3465352"/>
          </a:xfrm>
          <a:prstGeom prst="rect">
            <a:avLst/>
          </a:prstGeom>
        </p:spPr>
      </p:pic>
      <p:sp>
        <p:nvSpPr>
          <p:cNvPr id="83" name="文本框 82">
            <a:extLst>
              <a:ext uri="{FF2B5EF4-FFF2-40B4-BE49-F238E27FC236}">
                <a16:creationId xmlns:a16="http://schemas.microsoft.com/office/drawing/2014/main" id="{B45EFD17-1489-44DD-053D-7FD1AC24798E}"/>
              </a:ext>
            </a:extLst>
          </p:cNvPr>
          <p:cNvSpPr txBox="1"/>
          <p:nvPr/>
        </p:nvSpPr>
        <p:spPr>
          <a:xfrm>
            <a:off x="1310810" y="4991535"/>
            <a:ext cx="4968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所有任务权重系数相同性能损失多！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3A8201F-5257-B424-0AE8-323BBF55E3B4}"/>
              </a:ext>
            </a:extLst>
          </p:cNvPr>
          <p:cNvSpPr txBox="1"/>
          <p:nvPr/>
        </p:nvSpPr>
        <p:spPr>
          <a:xfrm>
            <a:off x="1310810" y="5436819"/>
            <a:ext cx="5293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搜索不同任务的不同权重系数代价又太大！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3E68633-6C22-B925-67D0-91CF327BE734}"/>
              </a:ext>
            </a:extLst>
          </p:cNvPr>
          <p:cNvSpPr txBox="1"/>
          <p:nvPr/>
        </p:nvSpPr>
        <p:spPr>
          <a:xfrm>
            <a:off x="1310810" y="5882103"/>
            <a:ext cx="7304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暴力搜索不可取，需要自适应的学习权重系数的方法！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287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3" grpId="0"/>
      <p:bldP spid="84" grpId="0"/>
      <p:bldP spid="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258883-198D-8A7C-17A7-946E89B3E1BA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7/16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AA0D59-462E-8572-F741-2BCC145CCBEF}"/>
              </a:ext>
            </a:extLst>
          </p:cNvPr>
          <p:cNvSpPr txBox="1"/>
          <p:nvPr/>
        </p:nvSpPr>
        <p:spPr>
          <a:xfrm>
            <a:off x="603504" y="769583"/>
            <a:ext cx="770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数据隐私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33CB8F-E0CE-4034-7F01-9749FD8A3187}"/>
              </a:ext>
            </a:extLst>
          </p:cNvPr>
          <p:cNvSpPr txBox="1"/>
          <p:nvPr/>
        </p:nvSpPr>
        <p:spPr>
          <a:xfrm>
            <a:off x="889000" y="1213007"/>
            <a:ext cx="8478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在某些场景下，原始训练数据不可得（或者只能得到少许验证集数据）</a:t>
            </a:r>
            <a:endParaRPr lang="en-US" altLang="zh-CN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7FFB61-3D18-3ED9-9A71-8780FD2D4B5E}"/>
              </a:ext>
            </a:extLst>
          </p:cNvPr>
          <p:cNvSpPr txBox="1"/>
          <p:nvPr/>
        </p:nvSpPr>
        <p:spPr>
          <a:xfrm>
            <a:off x="889000" y="1730523"/>
            <a:ext cx="8935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可以从现实世界收集少量无标签数据，通过无监督学习自适应学习模型融合系数</a:t>
            </a:r>
            <a:endParaRPr lang="en-US" altLang="zh-CN" b="1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86D0761-5D5C-8A5E-2FA9-1B1250EB7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392" y="2881094"/>
            <a:ext cx="927926" cy="927926"/>
          </a:xfrm>
          <a:prstGeom prst="rect">
            <a:avLst/>
          </a:prstGeom>
        </p:spPr>
      </p:pic>
      <p:pic>
        <p:nvPicPr>
          <p:cNvPr id="12" name="图片 11" descr="形状&#10;&#10;中度可信度描述已自动生成">
            <a:extLst>
              <a:ext uri="{FF2B5EF4-FFF2-40B4-BE49-F238E27FC236}">
                <a16:creationId xmlns:a16="http://schemas.microsoft.com/office/drawing/2014/main" id="{D71FB49E-AEEE-303C-3AC1-C61C07BD6B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89" y="2937980"/>
            <a:ext cx="927926" cy="674855"/>
          </a:xfrm>
          <a:prstGeom prst="rect">
            <a:avLst/>
          </a:prstGeom>
        </p:spPr>
      </p:pic>
      <p:sp>
        <p:nvSpPr>
          <p:cNvPr id="13" name="箭头: 下 12">
            <a:extLst>
              <a:ext uri="{FF2B5EF4-FFF2-40B4-BE49-F238E27FC236}">
                <a16:creationId xmlns:a16="http://schemas.microsoft.com/office/drawing/2014/main" id="{ED35FEE8-4F4C-8C46-C6AA-3FD522104060}"/>
              </a:ext>
            </a:extLst>
          </p:cNvPr>
          <p:cNvSpPr/>
          <p:nvPr/>
        </p:nvSpPr>
        <p:spPr>
          <a:xfrm rot="16200000">
            <a:off x="3374240" y="2640734"/>
            <a:ext cx="412730" cy="140103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CC20B73-FE7E-C159-548E-ED5DFC10792D}"/>
                  </a:ext>
                </a:extLst>
              </p:cNvPr>
              <p:cNvSpPr txBox="1"/>
              <p:nvPr/>
            </p:nvSpPr>
            <p:spPr>
              <a:xfrm>
                <a:off x="3005176" y="2827110"/>
                <a:ext cx="115085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/>
                  <a:t>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14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CC20B73-FE7E-C159-548E-ED5DFC107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176" y="2827110"/>
                <a:ext cx="1150858" cy="307777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46E176EB-A7A9-E8E2-94E0-8672221C62C4}"/>
              </a:ext>
            </a:extLst>
          </p:cNvPr>
          <p:cNvSpPr txBox="1"/>
          <p:nvPr/>
        </p:nvSpPr>
        <p:spPr>
          <a:xfrm>
            <a:off x="1905623" y="2395972"/>
            <a:ext cx="861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有标签</a:t>
            </a:r>
            <a:endParaRPr lang="en-US" altLang="zh-CN" sz="1200" b="1" dirty="0"/>
          </a:p>
          <a:p>
            <a:pPr algn="ctr"/>
            <a:r>
              <a:rPr lang="zh-CN" altLang="en-US" sz="1200" b="1" dirty="0"/>
              <a:t>训练数据</a:t>
            </a:r>
          </a:p>
        </p:txBody>
      </p:sp>
      <p:pic>
        <p:nvPicPr>
          <p:cNvPr id="24" name="图形 23">
            <a:extLst>
              <a:ext uri="{FF2B5EF4-FFF2-40B4-BE49-F238E27FC236}">
                <a16:creationId xmlns:a16="http://schemas.microsoft.com/office/drawing/2014/main" id="{0B498913-0CBF-A297-EEFC-5D783E79C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26589" y="2439790"/>
            <a:ext cx="370294" cy="370294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BE0FC7D-88D6-CBFC-C56F-22A46327919B}"/>
              </a:ext>
            </a:extLst>
          </p:cNvPr>
          <p:cNvSpPr txBox="1"/>
          <p:nvPr/>
        </p:nvSpPr>
        <p:spPr>
          <a:xfrm>
            <a:off x="1905623" y="4951344"/>
            <a:ext cx="861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有标签</a:t>
            </a:r>
            <a:endParaRPr lang="en-US" altLang="zh-CN" sz="1200" b="1" dirty="0"/>
          </a:p>
          <a:p>
            <a:pPr algn="ctr"/>
            <a:r>
              <a:rPr lang="zh-CN" altLang="en-US" sz="1200" b="1" dirty="0"/>
              <a:t>训练数据</a:t>
            </a: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C056773E-6C1B-4D4E-55F4-27AF045B7C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26589" y="4995162"/>
            <a:ext cx="370294" cy="370294"/>
          </a:xfrm>
          <a:prstGeom prst="rect">
            <a:avLst/>
          </a:prstGeom>
        </p:spPr>
      </p:pic>
      <p:pic>
        <p:nvPicPr>
          <p:cNvPr id="28" name="图片 27" descr="形状&#10;&#10;中度可信度描述已自动生成">
            <a:extLst>
              <a:ext uri="{FF2B5EF4-FFF2-40B4-BE49-F238E27FC236}">
                <a16:creationId xmlns:a16="http://schemas.microsoft.com/office/drawing/2014/main" id="{13B31F0C-FA98-E074-34D5-9FB44BC4B9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89" y="4209818"/>
            <a:ext cx="927926" cy="674855"/>
          </a:xfrm>
          <a:prstGeom prst="rect">
            <a:avLst/>
          </a:prstGeom>
        </p:spPr>
      </p:pic>
      <p:sp>
        <p:nvSpPr>
          <p:cNvPr id="29" name="箭头: 下 28">
            <a:extLst>
              <a:ext uri="{FF2B5EF4-FFF2-40B4-BE49-F238E27FC236}">
                <a16:creationId xmlns:a16="http://schemas.microsoft.com/office/drawing/2014/main" id="{42A061B3-7F73-FC7E-1BB0-AB7B44E24EE9}"/>
              </a:ext>
            </a:extLst>
          </p:cNvPr>
          <p:cNvSpPr/>
          <p:nvPr/>
        </p:nvSpPr>
        <p:spPr>
          <a:xfrm rot="14685318">
            <a:off x="3450519" y="3477602"/>
            <a:ext cx="412730" cy="146228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4D6C57E-A15A-B193-821D-9F5DD7D160F7}"/>
                  </a:ext>
                </a:extLst>
              </p:cNvPr>
              <p:cNvSpPr txBox="1"/>
              <p:nvPr/>
            </p:nvSpPr>
            <p:spPr>
              <a:xfrm>
                <a:off x="2763637" y="3810172"/>
                <a:ext cx="115085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1" dirty="0"/>
                  <a:t>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4D6C57E-A15A-B193-821D-9F5DD7D16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637" y="3810172"/>
                <a:ext cx="1150858" cy="307777"/>
              </a:xfrm>
              <a:prstGeom prst="rect">
                <a:avLst/>
              </a:prstGeom>
              <a:blipFill>
                <a:blip r:embed="rId8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>
            <a:extLst>
              <a:ext uri="{FF2B5EF4-FFF2-40B4-BE49-F238E27FC236}">
                <a16:creationId xmlns:a16="http://schemas.microsoft.com/office/drawing/2014/main" id="{63F69F91-4310-D51C-0781-F2873D9EB2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7416" y="4984432"/>
            <a:ext cx="718272" cy="644872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88F2DC34-E0E9-57C3-CD65-C8164FD1BB77}"/>
              </a:ext>
            </a:extLst>
          </p:cNvPr>
          <p:cNvSpPr txBox="1"/>
          <p:nvPr/>
        </p:nvSpPr>
        <p:spPr>
          <a:xfrm rot="21447006">
            <a:off x="4281123" y="5728748"/>
            <a:ext cx="1150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无标签数据</a:t>
            </a:r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7C85C81C-63C1-D307-25B9-13E28BE66EA1}"/>
              </a:ext>
            </a:extLst>
          </p:cNvPr>
          <p:cNvSpPr/>
          <p:nvPr/>
        </p:nvSpPr>
        <p:spPr>
          <a:xfrm rot="10800000">
            <a:off x="4626990" y="3945652"/>
            <a:ext cx="412730" cy="88118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42DB747E-F466-3A3D-9686-EF66FD7D0415}"/>
              </a:ext>
            </a:extLst>
          </p:cNvPr>
          <p:cNvSpPr/>
          <p:nvPr/>
        </p:nvSpPr>
        <p:spPr>
          <a:xfrm rot="16200000">
            <a:off x="5889635" y="2640734"/>
            <a:ext cx="412730" cy="140103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BC5C4CE-2E27-BBC0-8AB3-8ACB51EEC4D9}"/>
              </a:ext>
            </a:extLst>
          </p:cNvPr>
          <p:cNvSpPr txBox="1"/>
          <p:nvPr/>
        </p:nvSpPr>
        <p:spPr>
          <a:xfrm>
            <a:off x="5481449" y="2876014"/>
            <a:ext cx="1150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无监督训练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DA6C248-CFA7-F142-B4A9-366104C1BC0A}"/>
                  </a:ext>
                </a:extLst>
              </p:cNvPr>
              <p:cNvSpPr txBox="1"/>
              <p:nvPr/>
            </p:nvSpPr>
            <p:spPr>
              <a:xfrm>
                <a:off x="6980649" y="3090741"/>
                <a:ext cx="11508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DA6C248-CFA7-F142-B4A9-366104C1B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649" y="3090741"/>
                <a:ext cx="1150858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048655FF-51CD-B3BF-1070-CA10E577E266}"/>
              </a:ext>
            </a:extLst>
          </p:cNvPr>
          <p:cNvGrpSpPr/>
          <p:nvPr/>
        </p:nvGrpSpPr>
        <p:grpSpPr>
          <a:xfrm>
            <a:off x="6632307" y="4595040"/>
            <a:ext cx="3986683" cy="1540832"/>
            <a:chOff x="6307143" y="4828625"/>
            <a:chExt cx="3986683" cy="1540832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245F6DD-4E17-5ABE-16EB-52EC92011F1E}"/>
                </a:ext>
              </a:extLst>
            </p:cNvPr>
            <p:cNvSpPr/>
            <p:nvPr/>
          </p:nvSpPr>
          <p:spPr>
            <a:xfrm rot="1274678">
              <a:off x="6334757" y="5752121"/>
              <a:ext cx="270000" cy="26951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F3BCEB1F-73F7-53E0-A124-71BBFD3CDD1D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 flipV="1">
              <a:off x="6593257" y="4828625"/>
              <a:ext cx="770950" cy="1004031"/>
            </a:xfrm>
            <a:prstGeom prst="straightConnector1">
              <a:avLst/>
            </a:prstGeom>
            <a:ln w="38100">
              <a:solidFill>
                <a:srgbClr val="00B0F0">
                  <a:alpha val="34902"/>
                </a:srgbClr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2FAE5AFD-2321-5A95-5AE8-4673FDA3034F}"/>
                    </a:ext>
                  </a:extLst>
                </p:cNvPr>
                <p:cNvSpPr txBox="1"/>
                <p:nvPr/>
              </p:nvSpPr>
              <p:spPr>
                <a:xfrm>
                  <a:off x="6307143" y="5215962"/>
                  <a:ext cx="28786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2FAE5AFD-2321-5A95-5AE8-4673FDA30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7143" y="5215962"/>
                  <a:ext cx="287866" cy="338554"/>
                </a:xfrm>
                <a:prstGeom prst="rect">
                  <a:avLst/>
                </a:prstGeom>
                <a:blipFill>
                  <a:blip r:embed="rId11"/>
                  <a:stretch>
                    <a:fillRect r="-829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EE15FBE-24B5-62B5-5588-24D421168658}"/>
                    </a:ext>
                  </a:extLst>
                </p:cNvPr>
                <p:cNvSpPr txBox="1"/>
                <p:nvPr/>
              </p:nvSpPr>
              <p:spPr>
                <a:xfrm>
                  <a:off x="6317979" y="6011923"/>
                  <a:ext cx="718271" cy="3575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EE15FBE-24B5-62B5-5588-24D421168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7979" y="6011923"/>
                  <a:ext cx="718271" cy="357534"/>
                </a:xfrm>
                <a:prstGeom prst="rect">
                  <a:avLst/>
                </a:prstGeom>
                <a:blipFill>
                  <a:blip r:embed="rId12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52B7366-930A-DCA8-2B32-DEFDDD7A70AF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>
              <a:off x="6593257" y="5832656"/>
              <a:ext cx="1437295" cy="259464"/>
            </a:xfrm>
            <a:prstGeom prst="straightConnector1">
              <a:avLst/>
            </a:prstGeom>
            <a:ln w="28575">
              <a:solidFill>
                <a:srgbClr val="D71D49">
                  <a:alpha val="36078"/>
                </a:srgbClr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A1C5C77A-F03C-80B6-093E-0224EB6E3328}"/>
                </a:ext>
              </a:extLst>
            </p:cNvPr>
            <p:cNvCxnSpPr>
              <a:cxnSpLocks/>
            </p:cNvCxnSpPr>
            <p:nvPr/>
          </p:nvCxnSpPr>
          <p:spPr>
            <a:xfrm>
              <a:off x="6981433" y="5260506"/>
              <a:ext cx="843348" cy="207099"/>
            </a:xfrm>
            <a:prstGeom prst="straightConnector1">
              <a:avLst/>
            </a:prstGeom>
            <a:ln w="28575">
              <a:solidFill>
                <a:srgbClr val="D71D49">
                  <a:alpha val="20000"/>
                </a:srgb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B879C324-50BB-DB5F-039A-C963F12E1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4874" y="5523135"/>
              <a:ext cx="331045" cy="439253"/>
            </a:xfrm>
            <a:prstGeom prst="straightConnector1">
              <a:avLst/>
            </a:prstGeom>
            <a:ln w="38100">
              <a:solidFill>
                <a:srgbClr val="00B0F0">
                  <a:alpha val="20000"/>
                </a:srgb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E675454-B091-3B95-B1A0-9654D3A402BB}"/>
                    </a:ext>
                  </a:extLst>
                </p:cNvPr>
                <p:cNvSpPr txBox="1"/>
                <p:nvPr/>
              </p:nvSpPr>
              <p:spPr>
                <a:xfrm>
                  <a:off x="6758974" y="5886071"/>
                  <a:ext cx="28786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9E675454-B091-3B95-B1A0-9654D3A40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974" y="5886071"/>
                  <a:ext cx="287866" cy="338554"/>
                </a:xfrm>
                <a:prstGeom prst="rect">
                  <a:avLst/>
                </a:prstGeom>
                <a:blipFill>
                  <a:blip r:embed="rId13"/>
                  <a:stretch>
                    <a:fillRect r="-872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4CF051DB-3AD6-35BD-6853-FD1561113DE0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 flipV="1">
              <a:off x="6593257" y="5500663"/>
              <a:ext cx="1231524" cy="331993"/>
            </a:xfrm>
            <a:prstGeom prst="straightConnector1">
              <a:avLst/>
            </a:prstGeom>
            <a:ln w="381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FB5F37A-C02C-B13D-3FE3-4A4FAC3F6FEC}"/>
                    </a:ext>
                  </a:extLst>
                </p:cNvPr>
                <p:cNvSpPr txBox="1"/>
                <p:nvPr/>
              </p:nvSpPr>
              <p:spPr>
                <a:xfrm>
                  <a:off x="7803177" y="5304854"/>
                  <a:ext cx="2490649" cy="3585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𝑚𝑒𝑟𝑔𝑒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FB5F37A-C02C-B13D-3FE3-4A4FAC3F6F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177" y="5304854"/>
                  <a:ext cx="2490649" cy="358560"/>
                </a:xfrm>
                <a:prstGeom prst="rect">
                  <a:avLst/>
                </a:prstGeom>
                <a:blipFill>
                  <a:blip r:embed="rId14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BBB5E830-5CF2-0AFE-3410-8A58F805BCA0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 flipV="1">
              <a:off x="6593257" y="5217246"/>
              <a:ext cx="470622" cy="615410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DBFA71CC-AFF0-0939-8AA3-F583C4C2AC58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>
              <a:off x="6593257" y="5832656"/>
              <a:ext cx="878554" cy="1462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81" name="箭头: 下 80">
            <a:extLst>
              <a:ext uri="{FF2B5EF4-FFF2-40B4-BE49-F238E27FC236}">
                <a16:creationId xmlns:a16="http://schemas.microsoft.com/office/drawing/2014/main" id="{AD45138B-CD32-9ED8-FA3C-2B3BC9175F3C}"/>
              </a:ext>
            </a:extLst>
          </p:cNvPr>
          <p:cNvSpPr/>
          <p:nvPr/>
        </p:nvSpPr>
        <p:spPr>
          <a:xfrm>
            <a:off x="7355379" y="3549310"/>
            <a:ext cx="412730" cy="88119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7252CB3-8B2A-35D8-8F60-0A5EE37ABBF4}"/>
              </a:ext>
            </a:extLst>
          </p:cNvPr>
          <p:cNvSpPr txBox="1"/>
          <p:nvPr/>
        </p:nvSpPr>
        <p:spPr>
          <a:xfrm>
            <a:off x="7541844" y="3791763"/>
            <a:ext cx="713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融合</a:t>
            </a:r>
          </a:p>
        </p:txBody>
      </p:sp>
    </p:spTree>
    <p:extLst>
      <p:ext uri="{BB962C8B-B14F-4D97-AF65-F5344CB8AC3E}">
        <p14:creationId xmlns:p14="http://schemas.microsoft.com/office/powerpoint/2010/main" val="247305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7" grpId="0"/>
      <p:bldP spid="13" grpId="0" animBg="1"/>
      <p:bldP spid="15" grpId="0"/>
      <p:bldP spid="20" grpId="0"/>
      <p:bldP spid="26" grpId="0"/>
      <p:bldP spid="29" grpId="0" animBg="1"/>
      <p:bldP spid="30" grpId="0"/>
      <p:bldP spid="33" grpId="0"/>
      <p:bldP spid="34" grpId="0" animBg="1"/>
      <p:bldP spid="36" grpId="0" animBg="1"/>
      <p:bldP spid="37" grpId="0"/>
      <p:bldP spid="38" grpId="0"/>
      <p:bldP spid="81" grpId="0" animBg="1"/>
      <p:bldP spid="8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3. </a:t>
            </a:r>
            <a:r>
              <a:rPr lang="en-US" altLang="zh-CN" sz="28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AdaMerging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258883-198D-8A7C-17A7-946E89B3E1BA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8/16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AA0D59-462E-8572-F741-2BCC145CCBEF}"/>
              </a:ext>
            </a:extLst>
          </p:cNvPr>
          <p:cNvSpPr txBox="1"/>
          <p:nvPr/>
        </p:nvSpPr>
        <p:spPr>
          <a:xfrm>
            <a:off x="603504" y="769583"/>
            <a:ext cx="770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无监督损失设计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BCAA7F6-2CCF-482D-CCA9-DA1C12B6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080" y="3620768"/>
            <a:ext cx="3941912" cy="294555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D8832B7-1F17-B042-DF4A-C5BB9C50D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609" y="3559946"/>
            <a:ext cx="3941912" cy="291208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2465769-AE66-177A-AD6D-1FC4E3F95480}"/>
              </a:ext>
            </a:extLst>
          </p:cNvPr>
          <p:cNvSpPr txBox="1"/>
          <p:nvPr/>
        </p:nvSpPr>
        <p:spPr>
          <a:xfrm>
            <a:off x="919480" y="1132439"/>
            <a:ext cx="8478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信息熵（不需要标签，无监督）</a:t>
            </a:r>
            <a:endParaRPr lang="en-US" altLang="zh-CN" b="1" dirty="0">
              <a:latin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AB8A52C-9A77-FECE-6862-25C7214F2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408" y="1499487"/>
            <a:ext cx="3298784" cy="77618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DEC7DB3-93AB-FA91-A6FB-E555A8CF0C9B}"/>
              </a:ext>
            </a:extLst>
          </p:cNvPr>
          <p:cNvSpPr txBox="1"/>
          <p:nvPr/>
        </p:nvSpPr>
        <p:spPr>
          <a:xfrm>
            <a:off x="4457192" y="1732548"/>
            <a:ext cx="74034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模型输出的确定性，确定性越高，信息熵越小，确定性越低，信息熵越大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EBBFB39-57DE-4AF4-6BDA-CC90B346B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408" y="2474541"/>
            <a:ext cx="3298784" cy="701869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142887EF-0415-15A4-7261-8C78FE16FC9E}"/>
              </a:ext>
            </a:extLst>
          </p:cNvPr>
          <p:cNvSpPr txBox="1"/>
          <p:nvPr/>
        </p:nvSpPr>
        <p:spPr>
          <a:xfrm>
            <a:off x="4457192" y="2613274"/>
            <a:ext cx="74034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68F9C"/>
                </a:solidFill>
                <a:latin typeface="+mn-ea"/>
              </a:rPr>
              <a:t>- </a:t>
            </a:r>
            <a:r>
              <a:rPr lang="zh-CN" altLang="en-US" sz="1600" b="1" dirty="0">
                <a:solidFill>
                  <a:srgbClr val="268F9C"/>
                </a:solidFill>
                <a:latin typeface="+mn-ea"/>
              </a:rPr>
              <a:t>模型对真实分布的接近性，越接近真实分布，交叉熵越低</a:t>
            </a:r>
            <a:endParaRPr lang="en-US" altLang="zh-CN" sz="1600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592F473-D618-D764-19DC-0DA544D33763}"/>
              </a:ext>
            </a:extLst>
          </p:cNvPr>
          <p:cNvSpPr txBox="1"/>
          <p:nvPr/>
        </p:nvSpPr>
        <p:spPr>
          <a:xfrm>
            <a:off x="919480" y="2120250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交叉熵（需要标签，有监督）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3905C5C-3E34-53FE-3217-A3DB1ECDA3CB}"/>
              </a:ext>
            </a:extLst>
          </p:cNvPr>
          <p:cNvSpPr txBox="1"/>
          <p:nvPr/>
        </p:nvSpPr>
        <p:spPr>
          <a:xfrm>
            <a:off x="919480" y="3190614"/>
            <a:ext cx="353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信息熵与交叉熵的关系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308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  <p:bldP spid="39" grpId="0"/>
      <p:bldP spid="41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8448B11-CC84-3D95-F0A8-5C9BF946B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476" y="4107930"/>
            <a:ext cx="4741760" cy="27644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1F4F9F-499A-0423-6163-069AA5DFB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1172208"/>
            <a:ext cx="3941912" cy="29455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3C5617-DF58-006F-3921-04B8849A7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929" y="1111386"/>
            <a:ext cx="3941912" cy="2912087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3. </a:t>
            </a:r>
            <a:r>
              <a:rPr lang="en-US" altLang="zh-CN" sz="28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AdaMerging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258883-198D-8A7C-17A7-946E89B3E1BA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9/16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AA0D59-462E-8572-F741-2BCC145CCBEF}"/>
              </a:ext>
            </a:extLst>
          </p:cNvPr>
          <p:cNvSpPr txBox="1"/>
          <p:nvPr/>
        </p:nvSpPr>
        <p:spPr>
          <a:xfrm>
            <a:off x="603504" y="769583"/>
            <a:ext cx="770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无监督损失设计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CBAF00-303F-699B-6739-77A24DCCDC0E}"/>
              </a:ext>
            </a:extLst>
          </p:cNvPr>
          <p:cNvSpPr txBox="1"/>
          <p:nvPr/>
        </p:nvSpPr>
        <p:spPr>
          <a:xfrm>
            <a:off x="1020064" y="4130858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斯皮尔曼系数</a:t>
            </a:r>
            <a:endParaRPr lang="zh-CN" altLang="en-US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FFA0BE8-16AE-C558-07E7-6AF9C62CB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389" y="4479651"/>
            <a:ext cx="439024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600" dirty="0">
                <a:latin typeface="+mn-ea"/>
              </a:rPr>
              <a:t>- </a:t>
            </a:r>
            <a:r>
              <a:rPr lang="zh-CN" altLang="en-US" sz="1600" dirty="0">
                <a:latin typeface="+mn-ea"/>
              </a:rPr>
              <a:t>用于评估两个变量间的单调关系，范围</a:t>
            </a:r>
            <a:r>
              <a:rPr lang="en-US" altLang="zh-CN" sz="1600" dirty="0">
                <a:latin typeface="+mn-ea"/>
              </a:rPr>
              <a:t>[-1,1]</a:t>
            </a:r>
            <a:endParaRPr lang="zh-CN" altLang="zh-CN" sz="1600" dirty="0">
              <a:latin typeface="+mn-ea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7451BD5-E5FA-9613-05CA-5A44FBB35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193" y="4881843"/>
            <a:ext cx="41755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600" dirty="0">
                <a:latin typeface="+mn-ea"/>
              </a:rPr>
              <a:t>- </a:t>
            </a:r>
            <a:r>
              <a:rPr lang="zh-CN" altLang="en-US" sz="1600" dirty="0">
                <a:latin typeface="+mn-ea"/>
              </a:rPr>
              <a:t>系数为</a:t>
            </a:r>
            <a:r>
              <a:rPr lang="en-US" altLang="zh-CN" sz="1600" dirty="0">
                <a:latin typeface="+mn-ea"/>
              </a:rPr>
              <a:t>1</a:t>
            </a:r>
            <a:r>
              <a:rPr lang="zh-CN" altLang="en-US" sz="1600" dirty="0">
                <a:latin typeface="+mn-ea"/>
              </a:rPr>
              <a:t>：</a:t>
            </a:r>
            <a:endParaRPr lang="en-US" altLang="zh-CN" sz="1600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E9DDC8-C8B9-11C5-A4E8-2253EDDEBFC0}"/>
              </a:ext>
            </a:extLst>
          </p:cNvPr>
          <p:cNvSpPr txBox="1"/>
          <p:nvPr/>
        </p:nvSpPr>
        <p:spPr>
          <a:xfrm>
            <a:off x="1266484" y="5284035"/>
            <a:ext cx="610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sz="1600" dirty="0">
                <a:latin typeface="+mn-ea"/>
              </a:rPr>
              <a:t>完全正单调关系（随着 𝑋</a:t>
            </a:r>
            <a:r>
              <a:rPr lang="en-US" altLang="zh-CN" sz="1600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增大，𝑌</a:t>
            </a:r>
            <a:r>
              <a:rPr lang="en-US" altLang="zh-CN" sz="1600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始终增大）</a:t>
            </a:r>
            <a:endParaRPr lang="zh-CN" altLang="zh-CN" sz="1600" dirty="0">
              <a:latin typeface="+mn-ea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B00A4B05-413F-031C-0B16-93BFC055C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408" y="5686227"/>
            <a:ext cx="41755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1600" dirty="0">
                <a:latin typeface="+mn-ea"/>
              </a:rPr>
              <a:t>- </a:t>
            </a:r>
            <a:r>
              <a:rPr lang="zh-CN" altLang="en-US" sz="1600" dirty="0">
                <a:latin typeface="+mn-ea"/>
              </a:rPr>
              <a:t>系数为</a:t>
            </a:r>
            <a:r>
              <a:rPr lang="en-US" altLang="zh-CN" sz="1600" dirty="0">
                <a:latin typeface="+mn-ea"/>
              </a:rPr>
              <a:t>-1</a:t>
            </a:r>
            <a:r>
              <a:rPr lang="zh-CN" altLang="en-US" sz="1600" dirty="0">
                <a:latin typeface="+mn-ea"/>
              </a:rPr>
              <a:t>：</a:t>
            </a:r>
            <a:endParaRPr lang="en-US" altLang="zh-CN" sz="16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33DF651-C08B-C4AD-06C7-21432294910B}"/>
                  </a:ext>
                </a:extLst>
              </p:cNvPr>
              <p:cNvSpPr txBox="1"/>
              <p:nvPr/>
            </p:nvSpPr>
            <p:spPr>
              <a:xfrm>
                <a:off x="1266484" y="6088417"/>
                <a:ext cx="61061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 sz="1600">
                    <a:latin typeface="+mn-ea"/>
                  </a:defRPr>
                </a:lvl1pPr>
              </a:lstStyle>
              <a:p>
                <a:r>
                  <a:rPr lang="zh-CN" altLang="en-US" dirty="0"/>
                  <a:t>完全负单调关系（随着 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增大，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始终减小）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33DF651-C08B-C4AD-06C7-214322949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484" y="6088417"/>
                <a:ext cx="6106160" cy="338554"/>
              </a:xfrm>
              <a:prstGeom prst="rect">
                <a:avLst/>
              </a:prstGeom>
              <a:blipFill>
                <a:blip r:embed="rId6"/>
                <a:stretch>
                  <a:fillRect l="-599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40562A9-2E7D-A5AC-5221-AE0323FA7E8A}"/>
              </a:ext>
            </a:extLst>
          </p:cNvPr>
          <p:cNvSpPr/>
          <p:nvPr/>
        </p:nvSpPr>
        <p:spPr>
          <a:xfrm>
            <a:off x="4108544" y="2880896"/>
            <a:ext cx="3246990" cy="150063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A73ACE8-5E44-D2F8-9294-088C672C0E43}"/>
                  </a:ext>
                </a:extLst>
              </p:cNvPr>
              <p:cNvSpPr txBox="1"/>
              <p:nvPr/>
            </p:nvSpPr>
            <p:spPr>
              <a:xfrm>
                <a:off x="4108544" y="3061494"/>
                <a:ext cx="3303981" cy="1124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/>
                  <a:t>用信息熵作为训练目标</a:t>
                </a:r>
                <a:endParaRPr lang="en-US" altLang="zh-CN" b="1" dirty="0"/>
              </a:p>
              <a:p>
                <a:pPr algn="ctr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𝒍𝒐𝒈𝑷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A73ACE8-5E44-D2F8-9294-088C672C0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544" y="3061494"/>
                <a:ext cx="3303981" cy="1124219"/>
              </a:xfrm>
              <a:prstGeom prst="rect">
                <a:avLst/>
              </a:prstGeom>
              <a:blipFill>
                <a:blip r:embed="rId7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08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20" grpId="0"/>
      <p:bldP spid="21" grpId="0"/>
      <p:bldP spid="25" grpId="0"/>
      <p:bldP spid="33" grpId="0" animBg="1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 170">
            <a:extLst>
              <a:ext uri="{FF2B5EF4-FFF2-40B4-BE49-F238E27FC236}">
                <a16:creationId xmlns:a16="http://schemas.microsoft.com/office/drawing/2014/main" id="{F3532544-E20D-FD9E-AC80-35B936DB743A}"/>
              </a:ext>
            </a:extLst>
          </p:cNvPr>
          <p:cNvSpPr/>
          <p:nvPr/>
        </p:nvSpPr>
        <p:spPr>
          <a:xfrm>
            <a:off x="2804542" y="5095401"/>
            <a:ext cx="8574657" cy="13698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E49A1D39-2BB8-1985-3809-F013849E8238}"/>
              </a:ext>
            </a:extLst>
          </p:cNvPr>
          <p:cNvSpPr/>
          <p:nvPr/>
        </p:nvSpPr>
        <p:spPr>
          <a:xfrm>
            <a:off x="2804543" y="3568689"/>
            <a:ext cx="8574657" cy="13698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3. </a:t>
            </a:r>
            <a:r>
              <a:rPr lang="en-US" altLang="zh-CN" sz="28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AdaMerging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AA0D59-462E-8572-F741-2BCC145CCBEF}"/>
              </a:ext>
            </a:extLst>
          </p:cNvPr>
          <p:cNvSpPr txBox="1"/>
          <p:nvPr/>
        </p:nvSpPr>
        <p:spPr>
          <a:xfrm>
            <a:off x="603504" y="769583"/>
            <a:ext cx="7707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训练的参数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4ECA0B-F677-D15E-2F23-F36863395E69}"/>
              </a:ext>
            </a:extLst>
          </p:cNvPr>
          <p:cNvSpPr txBox="1"/>
          <p:nvPr/>
        </p:nvSpPr>
        <p:spPr>
          <a:xfrm>
            <a:off x="908304" y="1138915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每个任务向量训练一个权重系数（</a:t>
            </a:r>
            <a:r>
              <a:rPr lang="en-US" altLang="zh-CN" b="1" dirty="0">
                <a:latin typeface="+mn-ea"/>
              </a:rPr>
              <a:t>Task-wise</a:t>
            </a:r>
            <a:r>
              <a:rPr lang="zh-CN" altLang="en-US" b="1" dirty="0">
                <a:latin typeface="+mn-ea"/>
              </a:rPr>
              <a:t>）</a:t>
            </a:r>
            <a:endParaRPr lang="zh-CN" altLang="en-US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17C6D2D-F500-04DD-DEEF-4BEBFB053FD2}"/>
              </a:ext>
            </a:extLst>
          </p:cNvPr>
          <p:cNvGrpSpPr/>
          <p:nvPr/>
        </p:nvGrpSpPr>
        <p:grpSpPr>
          <a:xfrm>
            <a:off x="1381158" y="1548299"/>
            <a:ext cx="1087778" cy="1343741"/>
            <a:chOff x="1227644" y="1592188"/>
            <a:chExt cx="1838373" cy="194800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8B29079-1745-1465-9985-AE88E739922A}"/>
                </a:ext>
              </a:extLst>
            </p:cNvPr>
            <p:cNvSpPr/>
            <p:nvPr/>
          </p:nvSpPr>
          <p:spPr>
            <a:xfrm rot="1274678">
              <a:off x="1245654" y="2759720"/>
              <a:ext cx="289833" cy="34073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059F26C0-259B-A934-B884-508BE485E8B0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 flipV="1">
              <a:off x="1523143" y="1592188"/>
              <a:ext cx="827582" cy="1269348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DA69ED2-47AE-D8E6-6441-4773D65F33CF}"/>
                    </a:ext>
                  </a:extLst>
                </p:cNvPr>
                <p:cNvSpPr txBox="1"/>
                <p:nvPr/>
              </p:nvSpPr>
              <p:spPr>
                <a:xfrm>
                  <a:off x="1320530" y="1846726"/>
                  <a:ext cx="309013" cy="3385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DA69ED2-47AE-D8E6-6441-4773D65F33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530" y="1846726"/>
                  <a:ext cx="309013" cy="338553"/>
                </a:xfrm>
                <a:prstGeom prst="rect">
                  <a:avLst/>
                </a:prstGeom>
                <a:blipFill>
                  <a:blip r:embed="rId3"/>
                  <a:stretch>
                    <a:fillRect r="-70000" b="-42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EAE9672-A645-0E7A-54F6-65125A1AA421}"/>
                    </a:ext>
                  </a:extLst>
                </p:cNvPr>
                <p:cNvSpPr txBox="1"/>
                <p:nvPr/>
              </p:nvSpPr>
              <p:spPr>
                <a:xfrm>
                  <a:off x="1227644" y="3088175"/>
                  <a:ext cx="771033" cy="4520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EAE9672-A645-0E7A-54F6-65125A1AA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7644" y="3088175"/>
                  <a:ext cx="771033" cy="452013"/>
                </a:xfrm>
                <a:prstGeom prst="rect">
                  <a:avLst/>
                </a:prstGeom>
                <a:blipFill>
                  <a:blip r:embed="rId4"/>
                  <a:stretch>
                    <a:fillRect r="-10811" b="-196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A75D04E-3129-027C-65C3-D6E91D4EA11C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>
              <a:off x="1523143" y="2861536"/>
              <a:ext cx="1542874" cy="3280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0AE37DE-3993-1F7E-F2B8-FE7169459178}"/>
                    </a:ext>
                  </a:extLst>
                </p:cNvPr>
                <p:cNvSpPr txBox="1"/>
                <p:nvPr/>
              </p:nvSpPr>
              <p:spPr>
                <a:xfrm>
                  <a:off x="1969126" y="2917605"/>
                  <a:ext cx="309013" cy="3385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0AE37DE-3993-1F7E-F2B8-FE7169459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9126" y="2917605"/>
                  <a:ext cx="309013" cy="338553"/>
                </a:xfrm>
                <a:prstGeom prst="rect">
                  <a:avLst/>
                </a:prstGeom>
                <a:blipFill>
                  <a:blip r:embed="rId5"/>
                  <a:stretch>
                    <a:fillRect r="-73333" b="-42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4010225F-0CFD-5423-475A-6A30CF905EF5}"/>
              </a:ext>
            </a:extLst>
          </p:cNvPr>
          <p:cNvGrpSpPr/>
          <p:nvPr/>
        </p:nvGrpSpPr>
        <p:grpSpPr>
          <a:xfrm>
            <a:off x="6739317" y="1446468"/>
            <a:ext cx="3678523" cy="1348996"/>
            <a:chOff x="7293670" y="1592188"/>
            <a:chExt cx="5722029" cy="1935469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5548B70-924C-EB4F-9BE3-FBF59D1DACDB}"/>
                </a:ext>
              </a:extLst>
            </p:cNvPr>
            <p:cNvSpPr/>
            <p:nvPr/>
          </p:nvSpPr>
          <p:spPr>
            <a:xfrm rot="1274678">
              <a:off x="7698269" y="2759720"/>
              <a:ext cx="289833" cy="34073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A85AD83-C17A-B09E-115C-0E0A16A2175C}"/>
                </a:ext>
              </a:extLst>
            </p:cNvPr>
            <p:cNvCxnSpPr>
              <a:cxnSpLocks/>
              <a:stCxn id="28" idx="7"/>
            </p:cNvCxnSpPr>
            <p:nvPr/>
          </p:nvCxnSpPr>
          <p:spPr>
            <a:xfrm flipV="1">
              <a:off x="7975758" y="1592188"/>
              <a:ext cx="827582" cy="1269348"/>
            </a:xfrm>
            <a:prstGeom prst="straightConnector1">
              <a:avLst/>
            </a:prstGeom>
            <a:ln w="38100">
              <a:solidFill>
                <a:srgbClr val="00B0F0">
                  <a:alpha val="34902"/>
                </a:srgbClr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2CC0C9C-CA12-DD20-D7D7-34CEC9F990A1}"/>
                    </a:ext>
                  </a:extLst>
                </p:cNvPr>
                <p:cNvSpPr txBox="1"/>
                <p:nvPr/>
              </p:nvSpPr>
              <p:spPr>
                <a:xfrm>
                  <a:off x="7394334" y="1936152"/>
                  <a:ext cx="309013" cy="4280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42CC0C9C-CA12-DD20-D7D7-34CEC9F99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4" y="1936152"/>
                  <a:ext cx="309013" cy="428018"/>
                </a:xfrm>
                <a:prstGeom prst="rect">
                  <a:avLst/>
                </a:prstGeom>
                <a:blipFill>
                  <a:blip r:embed="rId6"/>
                  <a:stretch>
                    <a:fillRect r="-160606" b="-102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E339C73-1098-B6C6-34AD-56969D0FE0DA}"/>
                    </a:ext>
                  </a:extLst>
                </p:cNvPr>
                <p:cNvSpPr txBox="1"/>
                <p:nvPr/>
              </p:nvSpPr>
              <p:spPr>
                <a:xfrm>
                  <a:off x="7293670" y="3075644"/>
                  <a:ext cx="771033" cy="4520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E339C73-1098-B6C6-34AD-56969D0FE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670" y="3075644"/>
                  <a:ext cx="771033" cy="452013"/>
                </a:xfrm>
                <a:prstGeom prst="rect">
                  <a:avLst/>
                </a:prstGeom>
                <a:blipFill>
                  <a:blip r:embed="rId7"/>
                  <a:stretch>
                    <a:fillRect r="-1235"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79335AB-012D-223B-A7CC-61838ECEB430}"/>
                </a:ext>
              </a:extLst>
            </p:cNvPr>
            <p:cNvCxnSpPr>
              <a:cxnSpLocks/>
              <a:stCxn id="28" idx="7"/>
            </p:cNvCxnSpPr>
            <p:nvPr/>
          </p:nvCxnSpPr>
          <p:spPr>
            <a:xfrm>
              <a:off x="7975758" y="2861536"/>
              <a:ext cx="1542874" cy="328028"/>
            </a:xfrm>
            <a:prstGeom prst="straightConnector1">
              <a:avLst/>
            </a:prstGeom>
            <a:ln w="28575">
              <a:solidFill>
                <a:srgbClr val="D71D49">
                  <a:alpha val="36078"/>
                </a:srgbClr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129AEF6D-78DA-85A9-1A2E-BB1946AFB886}"/>
                </a:ext>
              </a:extLst>
            </p:cNvPr>
            <p:cNvCxnSpPr>
              <a:cxnSpLocks/>
            </p:cNvCxnSpPr>
            <p:nvPr/>
          </p:nvCxnSpPr>
          <p:spPr>
            <a:xfrm>
              <a:off x="8392448" y="2138194"/>
              <a:ext cx="905298" cy="261825"/>
            </a:xfrm>
            <a:prstGeom prst="straightConnector1">
              <a:avLst/>
            </a:prstGeom>
            <a:ln w="28575">
              <a:solidFill>
                <a:srgbClr val="D71D49">
                  <a:alpha val="20000"/>
                </a:srgb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332DB3E-3620-23D4-6B32-38FC38EC72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4340" y="2470224"/>
              <a:ext cx="355363" cy="555327"/>
            </a:xfrm>
            <a:prstGeom prst="straightConnector1">
              <a:avLst/>
            </a:prstGeom>
            <a:ln w="38100">
              <a:solidFill>
                <a:srgbClr val="00B0F0">
                  <a:alpha val="20000"/>
                </a:srgb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A608C2B-48CE-8BB6-A767-392245EE463F}"/>
                    </a:ext>
                  </a:extLst>
                </p:cNvPr>
                <p:cNvSpPr txBox="1"/>
                <p:nvPr/>
              </p:nvSpPr>
              <p:spPr>
                <a:xfrm>
                  <a:off x="8057670" y="2972550"/>
                  <a:ext cx="916202" cy="4857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A608C2B-48CE-8BB6-A767-392245EE4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7670" y="2972550"/>
                  <a:ext cx="916202" cy="48574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7E004F32-AF38-9401-F896-D3CDD18E2D5D}"/>
                </a:ext>
              </a:extLst>
            </p:cNvPr>
            <p:cNvCxnSpPr>
              <a:cxnSpLocks/>
              <a:stCxn id="28" idx="7"/>
            </p:cNvCxnSpPr>
            <p:nvPr/>
          </p:nvCxnSpPr>
          <p:spPr>
            <a:xfrm flipV="1">
              <a:off x="7975758" y="2441813"/>
              <a:ext cx="1321988" cy="419723"/>
            </a:xfrm>
            <a:prstGeom prst="straightConnector1">
              <a:avLst/>
            </a:prstGeom>
            <a:ln w="381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2AD113D3-3A30-2A0B-8990-716AFFB13C82}"/>
                    </a:ext>
                  </a:extLst>
                </p:cNvPr>
                <p:cNvSpPr txBox="1"/>
                <p:nvPr/>
              </p:nvSpPr>
              <p:spPr>
                <a:xfrm>
                  <a:off x="9274556" y="2194261"/>
                  <a:ext cx="3741143" cy="5144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𝑚𝑒𝑟𝑔𝑒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2AD113D3-3A30-2A0B-8990-716AFFB13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4556" y="2194261"/>
                  <a:ext cx="3741143" cy="514443"/>
                </a:xfrm>
                <a:prstGeom prst="rect">
                  <a:avLst/>
                </a:prstGeom>
                <a:blipFill>
                  <a:blip r:embed="rId9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C6A4D88D-AD6A-4CA0-FCFB-CFA0D6EDFA8A}"/>
                </a:ext>
              </a:extLst>
            </p:cNvPr>
            <p:cNvCxnSpPr>
              <a:cxnSpLocks/>
              <a:stCxn id="28" idx="7"/>
            </p:cNvCxnSpPr>
            <p:nvPr/>
          </p:nvCxnSpPr>
          <p:spPr>
            <a:xfrm flipV="1">
              <a:off x="7975758" y="2083503"/>
              <a:ext cx="505193" cy="778033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5AFC4E5E-EB82-6622-C618-C05F4DF6AF27}"/>
                </a:ext>
              </a:extLst>
            </p:cNvPr>
            <p:cNvCxnSpPr>
              <a:cxnSpLocks/>
              <a:stCxn id="28" idx="7"/>
            </p:cNvCxnSpPr>
            <p:nvPr/>
          </p:nvCxnSpPr>
          <p:spPr>
            <a:xfrm>
              <a:off x="7975758" y="2861536"/>
              <a:ext cx="943090" cy="18484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2" name="箭头: 下 41">
            <a:extLst>
              <a:ext uri="{FF2B5EF4-FFF2-40B4-BE49-F238E27FC236}">
                <a16:creationId xmlns:a16="http://schemas.microsoft.com/office/drawing/2014/main" id="{B6CC3C7F-96C4-FC68-10A8-416D91C949EF}"/>
              </a:ext>
            </a:extLst>
          </p:cNvPr>
          <p:cNvSpPr/>
          <p:nvPr/>
        </p:nvSpPr>
        <p:spPr>
          <a:xfrm rot="16200000">
            <a:off x="3346675" y="1665176"/>
            <a:ext cx="347196" cy="9581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D4F89C0-F3DB-D49F-A4DA-0E8210AB35B6}"/>
                  </a:ext>
                </a:extLst>
              </p:cNvPr>
              <p:cNvSpPr txBox="1"/>
              <p:nvPr/>
            </p:nvSpPr>
            <p:spPr>
              <a:xfrm>
                <a:off x="4266064" y="1909722"/>
                <a:ext cx="9586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D4F89C0-F3DB-D49F-A4DA-0E8210AB3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064" y="1909722"/>
                <a:ext cx="958642" cy="369332"/>
              </a:xfrm>
              <a:prstGeom prst="rect">
                <a:avLst/>
              </a:prstGeom>
              <a:blipFill>
                <a:blip r:embed="rId10"/>
                <a:stretch>
                  <a:fillRect l="-5732" b="-16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箭头: 下 43">
            <a:extLst>
              <a:ext uri="{FF2B5EF4-FFF2-40B4-BE49-F238E27FC236}">
                <a16:creationId xmlns:a16="http://schemas.microsoft.com/office/drawing/2014/main" id="{9F5E41BA-D003-E1C5-BFB5-3B11B8A9314A}"/>
              </a:ext>
            </a:extLst>
          </p:cNvPr>
          <p:cNvSpPr/>
          <p:nvPr/>
        </p:nvSpPr>
        <p:spPr>
          <a:xfrm rot="16200000">
            <a:off x="5796375" y="1603082"/>
            <a:ext cx="347196" cy="9581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C240C99-6E53-FDC1-31C2-5F481C6BDD1E}"/>
              </a:ext>
            </a:extLst>
          </p:cNvPr>
          <p:cNvSpPr txBox="1"/>
          <p:nvPr/>
        </p:nvSpPr>
        <p:spPr>
          <a:xfrm>
            <a:off x="908304" y="3037919"/>
            <a:ext cx="677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对每个任务的每一层都训练一个权重系数（</a:t>
            </a:r>
            <a:r>
              <a:rPr lang="en-US" altLang="zh-CN" b="1" dirty="0">
                <a:latin typeface="+mn-ea"/>
              </a:rPr>
              <a:t>Layer-wise</a:t>
            </a:r>
            <a:r>
              <a:rPr lang="zh-CN" altLang="en-US" b="1" dirty="0">
                <a:latin typeface="+mn-ea"/>
              </a:rPr>
              <a:t>）</a:t>
            </a:r>
            <a:endParaRPr lang="zh-CN" altLang="en-US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0EB73F3-95D0-E831-59B5-D13A84351B98}"/>
              </a:ext>
            </a:extLst>
          </p:cNvPr>
          <p:cNvGrpSpPr/>
          <p:nvPr/>
        </p:nvGrpSpPr>
        <p:grpSpPr>
          <a:xfrm>
            <a:off x="2806696" y="3649140"/>
            <a:ext cx="1435784" cy="1268335"/>
            <a:chOff x="979890" y="1375762"/>
            <a:chExt cx="2475614" cy="2313843"/>
          </a:xfrm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36181601-19A1-98DE-D2AF-4E63B555339F}"/>
                </a:ext>
              </a:extLst>
            </p:cNvPr>
            <p:cNvSpPr/>
            <p:nvPr/>
          </p:nvSpPr>
          <p:spPr>
            <a:xfrm rot="1274678">
              <a:off x="1245654" y="2759720"/>
              <a:ext cx="289833" cy="34073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D4E71048-A2F3-D108-066E-49A7D6E1FBE9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 flipV="1">
              <a:off x="1527335" y="1375762"/>
              <a:ext cx="957219" cy="1481331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E57FEAD-0410-2D73-B6B7-C6720ABD3201}"/>
                    </a:ext>
                  </a:extLst>
                </p:cNvPr>
                <p:cNvSpPr txBox="1"/>
                <p:nvPr/>
              </p:nvSpPr>
              <p:spPr>
                <a:xfrm>
                  <a:off x="1304148" y="1764075"/>
                  <a:ext cx="309012" cy="6410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E57FEAD-0410-2D73-B6B7-C6720ABD3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148" y="1764075"/>
                  <a:ext cx="309012" cy="641024"/>
                </a:xfrm>
                <a:prstGeom prst="rect">
                  <a:avLst/>
                </a:prstGeom>
                <a:blipFill>
                  <a:blip r:embed="rId11"/>
                  <a:stretch>
                    <a:fillRect r="-70000" b="-1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DAD989BF-05BE-DBCA-F45D-E03944B77B2C}"/>
                    </a:ext>
                  </a:extLst>
                </p:cNvPr>
                <p:cNvSpPr txBox="1"/>
                <p:nvPr/>
              </p:nvSpPr>
              <p:spPr>
                <a:xfrm>
                  <a:off x="979890" y="3012434"/>
                  <a:ext cx="771033" cy="6771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DAD989BF-05BE-DBCA-F45D-E03944B77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890" y="3012434"/>
                  <a:ext cx="771033" cy="677171"/>
                </a:xfrm>
                <a:prstGeom prst="rect">
                  <a:avLst/>
                </a:prstGeom>
                <a:blipFill>
                  <a:blip r:embed="rId12"/>
                  <a:stretch>
                    <a:fillRect r="-10811"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5A65D5CE-B655-592B-FCF1-C8393CF3738F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>
              <a:off x="1527335" y="2857093"/>
              <a:ext cx="1928169" cy="43159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A90F6EC-6D0B-1C68-1457-DCD05B62B211}"/>
                    </a:ext>
                  </a:extLst>
                </p:cNvPr>
                <p:cNvSpPr txBox="1"/>
                <p:nvPr/>
              </p:nvSpPr>
              <p:spPr>
                <a:xfrm>
                  <a:off x="2071852" y="2973392"/>
                  <a:ext cx="309012" cy="6419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AA90F6EC-6D0B-1C68-1457-DCD05B62B2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852" y="2973392"/>
                  <a:ext cx="309012" cy="641960"/>
                </a:xfrm>
                <a:prstGeom prst="rect">
                  <a:avLst/>
                </a:prstGeom>
                <a:blipFill>
                  <a:blip r:embed="rId13"/>
                  <a:stretch>
                    <a:fillRect r="-73333" b="-17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34D59F8-C38E-5E77-46A1-0658135D30C1}"/>
              </a:ext>
            </a:extLst>
          </p:cNvPr>
          <p:cNvGrpSpPr/>
          <p:nvPr/>
        </p:nvGrpSpPr>
        <p:grpSpPr>
          <a:xfrm>
            <a:off x="7489206" y="3641650"/>
            <a:ext cx="3635994" cy="1235123"/>
            <a:chOff x="7446408" y="1852214"/>
            <a:chExt cx="4631560" cy="1650052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56745859-0521-1CEC-8BDD-97D41C7A3C18}"/>
                </a:ext>
              </a:extLst>
            </p:cNvPr>
            <p:cNvSpPr/>
            <p:nvPr/>
          </p:nvSpPr>
          <p:spPr>
            <a:xfrm rot="1274678">
              <a:off x="7698269" y="2759720"/>
              <a:ext cx="289833" cy="34073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53D30974-3727-A28E-EFF5-412A5BD2FBFA}"/>
                </a:ext>
              </a:extLst>
            </p:cNvPr>
            <p:cNvCxnSpPr>
              <a:cxnSpLocks/>
              <a:stCxn id="56" idx="7"/>
            </p:cNvCxnSpPr>
            <p:nvPr/>
          </p:nvCxnSpPr>
          <p:spPr>
            <a:xfrm flipV="1">
              <a:off x="7980316" y="1852214"/>
              <a:ext cx="650477" cy="1004536"/>
            </a:xfrm>
            <a:prstGeom prst="straightConnector1">
              <a:avLst/>
            </a:prstGeom>
            <a:ln w="38100">
              <a:solidFill>
                <a:srgbClr val="00B0F0">
                  <a:alpha val="34902"/>
                </a:srgbClr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5643D7E9-E71C-E4DB-2C12-F9A5D312F1E9}"/>
                    </a:ext>
                  </a:extLst>
                </p:cNvPr>
                <p:cNvSpPr txBox="1"/>
                <p:nvPr/>
              </p:nvSpPr>
              <p:spPr>
                <a:xfrm>
                  <a:off x="7613848" y="2037308"/>
                  <a:ext cx="723820" cy="4694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5643D7E9-E71C-E4DB-2C12-F9A5D312F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3848" y="2037308"/>
                  <a:ext cx="723820" cy="469420"/>
                </a:xfrm>
                <a:prstGeom prst="rect">
                  <a:avLst/>
                </a:prstGeom>
                <a:blipFill>
                  <a:blip r:embed="rId14"/>
                  <a:stretch>
                    <a:fillRect b="-17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60D93E53-3DBC-AC14-0145-AB9A714AD497}"/>
                    </a:ext>
                  </a:extLst>
                </p:cNvPr>
                <p:cNvSpPr txBox="1"/>
                <p:nvPr/>
              </p:nvSpPr>
              <p:spPr>
                <a:xfrm>
                  <a:off x="7446408" y="3061010"/>
                  <a:ext cx="771032" cy="4412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60D93E53-3DBC-AC14-0145-AB9A714AD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6408" y="3061010"/>
                  <a:ext cx="771032" cy="441256"/>
                </a:xfrm>
                <a:prstGeom prst="rect">
                  <a:avLst/>
                </a:prstGeom>
                <a:blipFill>
                  <a:blip r:embed="rId15"/>
                  <a:stretch>
                    <a:fillRect b="-148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809F2F0A-9EA5-3F11-E306-E8FD084D8A44}"/>
                </a:ext>
              </a:extLst>
            </p:cNvPr>
            <p:cNvCxnSpPr>
              <a:cxnSpLocks/>
              <a:stCxn id="56" idx="7"/>
            </p:cNvCxnSpPr>
            <p:nvPr/>
          </p:nvCxnSpPr>
          <p:spPr>
            <a:xfrm>
              <a:off x="7975758" y="2861536"/>
              <a:ext cx="1542874" cy="328028"/>
            </a:xfrm>
            <a:prstGeom prst="straightConnector1">
              <a:avLst/>
            </a:prstGeom>
            <a:ln w="28575">
              <a:solidFill>
                <a:srgbClr val="D71D49">
                  <a:alpha val="36078"/>
                </a:srgbClr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229A995B-C306-B808-B6A5-01B048324C4A}"/>
                </a:ext>
              </a:extLst>
            </p:cNvPr>
            <p:cNvCxnSpPr>
              <a:cxnSpLocks/>
            </p:cNvCxnSpPr>
            <p:nvPr/>
          </p:nvCxnSpPr>
          <p:spPr>
            <a:xfrm>
              <a:off x="8392448" y="2138194"/>
              <a:ext cx="905298" cy="261825"/>
            </a:xfrm>
            <a:prstGeom prst="straightConnector1">
              <a:avLst/>
            </a:prstGeom>
            <a:ln w="28575">
              <a:solidFill>
                <a:srgbClr val="D71D49">
                  <a:alpha val="20000"/>
                </a:srgb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E6FB6FC-0D4A-0C11-969A-D65E0F76D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4340" y="2470224"/>
              <a:ext cx="355363" cy="555327"/>
            </a:xfrm>
            <a:prstGeom prst="straightConnector1">
              <a:avLst/>
            </a:prstGeom>
            <a:ln w="38100">
              <a:solidFill>
                <a:srgbClr val="00B0F0">
                  <a:alpha val="20000"/>
                </a:srgb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DF055F78-18E7-3731-2BBA-4F21E336808E}"/>
                    </a:ext>
                  </a:extLst>
                </p:cNvPr>
                <p:cNvSpPr txBox="1"/>
                <p:nvPr/>
              </p:nvSpPr>
              <p:spPr>
                <a:xfrm>
                  <a:off x="8153648" y="2929885"/>
                  <a:ext cx="649692" cy="4701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DF055F78-18E7-3731-2BBA-4F21E3368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3648" y="2929885"/>
                  <a:ext cx="649692" cy="470106"/>
                </a:xfrm>
                <a:prstGeom prst="rect">
                  <a:avLst/>
                </a:prstGeom>
                <a:blipFill>
                  <a:blip r:embed="rId16"/>
                  <a:stretch>
                    <a:fillRect r="-16867" b="-1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259DC74B-757F-E1EE-1434-899C4513F141}"/>
                </a:ext>
              </a:extLst>
            </p:cNvPr>
            <p:cNvCxnSpPr>
              <a:cxnSpLocks/>
              <a:stCxn id="56" idx="7"/>
            </p:cNvCxnSpPr>
            <p:nvPr/>
          </p:nvCxnSpPr>
          <p:spPr>
            <a:xfrm flipV="1">
              <a:off x="7975758" y="2441813"/>
              <a:ext cx="1321988" cy="419723"/>
            </a:xfrm>
            <a:prstGeom prst="straightConnector1">
              <a:avLst/>
            </a:prstGeom>
            <a:ln w="381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BF1BEAA-4D7A-2EE5-A105-8C03D3F3B1FC}"/>
                    </a:ext>
                  </a:extLst>
                </p:cNvPr>
                <p:cNvSpPr txBox="1"/>
                <p:nvPr/>
              </p:nvSpPr>
              <p:spPr>
                <a:xfrm>
                  <a:off x="9274554" y="2121894"/>
                  <a:ext cx="2803414" cy="5032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𝑚𝑒𝑟𝑔𝑒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BF1BEAA-4D7A-2EE5-A105-8C03D3F3B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4554" y="2121894"/>
                  <a:ext cx="2803414" cy="503257"/>
                </a:xfrm>
                <a:prstGeom prst="rect">
                  <a:avLst/>
                </a:prstGeom>
                <a:blipFill>
                  <a:blip r:embed="rId17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4C033C09-E541-19B1-BA8E-26B8D6327881}"/>
                </a:ext>
              </a:extLst>
            </p:cNvPr>
            <p:cNvCxnSpPr>
              <a:cxnSpLocks/>
              <a:stCxn id="56" idx="7"/>
            </p:cNvCxnSpPr>
            <p:nvPr/>
          </p:nvCxnSpPr>
          <p:spPr>
            <a:xfrm flipV="1">
              <a:off x="7975758" y="2083503"/>
              <a:ext cx="505193" cy="778033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090E1FAD-08AA-5F78-A487-544B05B48B6E}"/>
                </a:ext>
              </a:extLst>
            </p:cNvPr>
            <p:cNvCxnSpPr>
              <a:cxnSpLocks/>
              <a:stCxn id="56" idx="7"/>
            </p:cNvCxnSpPr>
            <p:nvPr/>
          </p:nvCxnSpPr>
          <p:spPr>
            <a:xfrm>
              <a:off x="7975758" y="2861536"/>
              <a:ext cx="943090" cy="18484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68" name="箭头: 下 67">
            <a:extLst>
              <a:ext uri="{FF2B5EF4-FFF2-40B4-BE49-F238E27FC236}">
                <a16:creationId xmlns:a16="http://schemas.microsoft.com/office/drawing/2014/main" id="{BA962508-5D09-88C9-E9FB-6A815A74D62C}"/>
              </a:ext>
            </a:extLst>
          </p:cNvPr>
          <p:cNvSpPr/>
          <p:nvPr/>
        </p:nvSpPr>
        <p:spPr>
          <a:xfrm rot="16200000">
            <a:off x="4513391" y="3782775"/>
            <a:ext cx="347196" cy="9581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BBD0165-9D54-1177-A483-7DD2ECAF6D32}"/>
                  </a:ext>
                </a:extLst>
              </p:cNvPr>
              <p:cNvSpPr txBox="1"/>
              <p:nvPr/>
            </p:nvSpPr>
            <p:spPr>
              <a:xfrm>
                <a:off x="5388994" y="4037266"/>
                <a:ext cx="958642" cy="389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BBD0165-9D54-1177-A483-7DD2ECAF6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994" y="4037266"/>
                <a:ext cx="958642" cy="389274"/>
              </a:xfrm>
              <a:prstGeom prst="rect">
                <a:avLst/>
              </a:prstGeom>
              <a:blipFill>
                <a:blip r:embed="rId18"/>
                <a:stretch>
                  <a:fillRect l="-5732" b="-15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箭头: 下 69">
            <a:extLst>
              <a:ext uri="{FF2B5EF4-FFF2-40B4-BE49-F238E27FC236}">
                <a16:creationId xmlns:a16="http://schemas.microsoft.com/office/drawing/2014/main" id="{F5635469-7D7D-D9AD-678C-08657C950AD9}"/>
              </a:ext>
            </a:extLst>
          </p:cNvPr>
          <p:cNvSpPr/>
          <p:nvPr/>
        </p:nvSpPr>
        <p:spPr>
          <a:xfrm rot="16200000">
            <a:off x="6781256" y="3761017"/>
            <a:ext cx="347196" cy="9581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8DF6A1A-F6BA-0476-6822-FB31642D0915}"/>
              </a:ext>
            </a:extLst>
          </p:cNvPr>
          <p:cNvGrpSpPr/>
          <p:nvPr/>
        </p:nvGrpSpPr>
        <p:grpSpPr>
          <a:xfrm>
            <a:off x="2927897" y="5354639"/>
            <a:ext cx="1168366" cy="952777"/>
            <a:chOff x="979890" y="2022794"/>
            <a:chExt cx="2014526" cy="1738166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19DA389C-1AE5-4958-DC6B-22691711D56E}"/>
                </a:ext>
              </a:extLst>
            </p:cNvPr>
            <p:cNvSpPr/>
            <p:nvPr/>
          </p:nvSpPr>
          <p:spPr>
            <a:xfrm rot="1274678">
              <a:off x="1245654" y="2759720"/>
              <a:ext cx="289833" cy="34073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552ED5F6-CFBB-6B80-DEF3-BC0DAEC54A01}"/>
                </a:ext>
              </a:extLst>
            </p:cNvPr>
            <p:cNvCxnSpPr>
              <a:cxnSpLocks/>
              <a:stCxn id="72" idx="7"/>
            </p:cNvCxnSpPr>
            <p:nvPr/>
          </p:nvCxnSpPr>
          <p:spPr>
            <a:xfrm flipV="1">
              <a:off x="1527335" y="2585200"/>
              <a:ext cx="294584" cy="271894"/>
            </a:xfrm>
            <a:prstGeom prst="straightConnector1">
              <a:avLst/>
            </a:prstGeom>
            <a:ln w="38100">
              <a:solidFill>
                <a:srgbClr val="3333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4356FB0B-E195-5C83-63E0-25C511342705}"/>
                    </a:ext>
                  </a:extLst>
                </p:cNvPr>
                <p:cNvSpPr txBox="1"/>
                <p:nvPr/>
              </p:nvSpPr>
              <p:spPr>
                <a:xfrm>
                  <a:off x="997040" y="2022794"/>
                  <a:ext cx="309012" cy="7146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4356FB0B-E195-5C83-63E0-25C511342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040" y="2022794"/>
                  <a:ext cx="309012" cy="714603"/>
                </a:xfrm>
                <a:prstGeom prst="rect">
                  <a:avLst/>
                </a:prstGeom>
                <a:blipFill>
                  <a:blip r:embed="rId19"/>
                  <a:stretch>
                    <a:fillRect r="-896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53F541F-CD08-D139-065B-467738F3C34D}"/>
                    </a:ext>
                  </a:extLst>
                </p:cNvPr>
                <p:cNvSpPr txBox="1"/>
                <p:nvPr/>
              </p:nvSpPr>
              <p:spPr>
                <a:xfrm>
                  <a:off x="979890" y="3012434"/>
                  <a:ext cx="771033" cy="748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53F541F-CD08-D139-065B-467738F3C3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890" y="3012434"/>
                  <a:ext cx="771033" cy="748526"/>
                </a:xfrm>
                <a:prstGeom prst="rect">
                  <a:avLst/>
                </a:prstGeom>
                <a:blipFill>
                  <a:blip r:embed="rId20"/>
                  <a:stretch>
                    <a:fillRect r="-10811" b="-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D2B9C6E2-2254-48ED-FA1F-2007FB8F0A0F}"/>
                </a:ext>
              </a:extLst>
            </p:cNvPr>
            <p:cNvCxnSpPr>
              <a:cxnSpLocks/>
              <a:stCxn id="72" idx="7"/>
            </p:cNvCxnSpPr>
            <p:nvPr/>
          </p:nvCxnSpPr>
          <p:spPr>
            <a:xfrm>
              <a:off x="1527335" y="2857094"/>
              <a:ext cx="1467081" cy="39681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4B809828-11D7-196C-46C4-92C7079D2114}"/>
                    </a:ext>
                  </a:extLst>
                </p:cNvPr>
                <p:cNvSpPr txBox="1"/>
                <p:nvPr/>
              </p:nvSpPr>
              <p:spPr>
                <a:xfrm>
                  <a:off x="1742840" y="2930090"/>
                  <a:ext cx="309012" cy="7150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4B809828-11D7-196C-46C4-92C7079D2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2840" y="2930090"/>
                  <a:ext cx="309012" cy="715072"/>
                </a:xfrm>
                <a:prstGeom prst="rect">
                  <a:avLst/>
                </a:prstGeom>
                <a:blipFill>
                  <a:blip r:embed="rId21"/>
                  <a:stretch>
                    <a:fillRect r="-896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1" name="箭头: 下 90">
            <a:extLst>
              <a:ext uri="{FF2B5EF4-FFF2-40B4-BE49-F238E27FC236}">
                <a16:creationId xmlns:a16="http://schemas.microsoft.com/office/drawing/2014/main" id="{EC9D74AD-A8D3-5AE9-1776-2270540D3AAA}"/>
              </a:ext>
            </a:extLst>
          </p:cNvPr>
          <p:cNvSpPr/>
          <p:nvPr/>
        </p:nvSpPr>
        <p:spPr>
          <a:xfrm rot="16200000">
            <a:off x="4500123" y="5337456"/>
            <a:ext cx="347196" cy="9581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5A3018B-1FFA-55E5-F34E-13CBE343DF97}"/>
                  </a:ext>
                </a:extLst>
              </p:cNvPr>
              <p:cNvSpPr txBox="1"/>
              <p:nvPr/>
            </p:nvSpPr>
            <p:spPr>
              <a:xfrm>
                <a:off x="5116961" y="5557933"/>
                <a:ext cx="1494621" cy="437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b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5A3018B-1FFA-55E5-F34E-13CBE343D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961" y="5557933"/>
                <a:ext cx="1494621" cy="437043"/>
              </a:xfrm>
              <a:prstGeom prst="rect">
                <a:avLst/>
              </a:prstGeom>
              <a:blipFill>
                <a:blip r:embed="rId22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箭头: 下 92">
            <a:extLst>
              <a:ext uri="{FF2B5EF4-FFF2-40B4-BE49-F238E27FC236}">
                <a16:creationId xmlns:a16="http://schemas.microsoft.com/office/drawing/2014/main" id="{FA533FE9-30B7-E37D-9ADE-B394EAFFD367}"/>
              </a:ext>
            </a:extLst>
          </p:cNvPr>
          <p:cNvSpPr/>
          <p:nvPr/>
        </p:nvSpPr>
        <p:spPr>
          <a:xfrm rot="16200000">
            <a:off x="6777894" y="5311747"/>
            <a:ext cx="347196" cy="9581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D79FB78-EFED-5D32-C2EE-756634E7DE1B}"/>
              </a:ext>
            </a:extLst>
          </p:cNvPr>
          <p:cNvGrpSpPr/>
          <p:nvPr/>
        </p:nvGrpSpPr>
        <p:grpSpPr>
          <a:xfrm>
            <a:off x="7529433" y="5362078"/>
            <a:ext cx="2065290" cy="982670"/>
            <a:chOff x="7529433" y="5362078"/>
            <a:chExt cx="2065290" cy="982670"/>
          </a:xfrm>
        </p:grpSpPr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C5897C01-66A8-9DBC-179D-EABEA9C625D4}"/>
                </a:ext>
              </a:extLst>
            </p:cNvPr>
            <p:cNvSpPr/>
            <p:nvPr/>
          </p:nvSpPr>
          <p:spPr>
            <a:xfrm rot="1274678">
              <a:off x="7683568" y="5795918"/>
              <a:ext cx="168095" cy="18677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F4BD34CB-5454-1728-8021-F877974D4F52}"/>
                </a:ext>
              </a:extLst>
            </p:cNvPr>
            <p:cNvCxnSpPr>
              <a:cxnSpLocks/>
              <a:stCxn id="111" idx="7"/>
            </p:cNvCxnSpPr>
            <p:nvPr/>
          </p:nvCxnSpPr>
          <p:spPr>
            <a:xfrm flipV="1">
              <a:off x="7846935" y="5700254"/>
              <a:ext cx="170850" cy="149039"/>
            </a:xfrm>
            <a:prstGeom prst="straightConnector1">
              <a:avLst/>
            </a:prstGeom>
            <a:ln w="38100">
              <a:solidFill>
                <a:srgbClr val="3333FF">
                  <a:alpha val="34902"/>
                </a:srgb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A1CD9738-C11C-9C57-EE48-40F0AB97754A}"/>
                    </a:ext>
                  </a:extLst>
                </p:cNvPr>
                <p:cNvSpPr txBox="1"/>
                <p:nvPr/>
              </p:nvSpPr>
              <p:spPr>
                <a:xfrm>
                  <a:off x="7550362" y="5362078"/>
                  <a:ext cx="850864" cy="3917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0∗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A1CD9738-C11C-9C57-EE48-40F0AB977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0362" y="5362078"/>
                  <a:ext cx="850864" cy="3917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21B84FAB-C36A-8FB3-D5D6-3ABD41BA10BE}"/>
                    </a:ext>
                  </a:extLst>
                </p:cNvPr>
                <p:cNvSpPr txBox="1"/>
                <p:nvPr/>
              </p:nvSpPr>
              <p:spPr>
                <a:xfrm>
                  <a:off x="7529433" y="5934443"/>
                  <a:ext cx="447177" cy="4103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21B84FAB-C36A-8FB3-D5D6-3ABD41BA1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9433" y="5934443"/>
                  <a:ext cx="447177" cy="410305"/>
                </a:xfrm>
                <a:prstGeom prst="rect">
                  <a:avLst/>
                </a:prstGeom>
                <a:blipFill>
                  <a:blip r:embed="rId24"/>
                  <a:stretch>
                    <a:fillRect r="-12329" b="-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C9B19641-DF3A-00C7-AF3B-202FFCC154AC}"/>
                </a:ext>
              </a:extLst>
            </p:cNvPr>
            <p:cNvCxnSpPr>
              <a:cxnSpLocks/>
              <a:stCxn id="111" idx="7"/>
            </p:cNvCxnSpPr>
            <p:nvPr/>
          </p:nvCxnSpPr>
          <p:spPr>
            <a:xfrm>
              <a:off x="7846935" y="5849293"/>
              <a:ext cx="850864" cy="21751"/>
            </a:xfrm>
            <a:prstGeom prst="straightConnector1">
              <a:avLst/>
            </a:prstGeom>
            <a:ln w="28575">
              <a:solidFill>
                <a:srgbClr val="FFC000">
                  <a:alpha val="36863"/>
                </a:srgbClr>
              </a:solidFill>
              <a:prstDash val="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37275CF1-01F5-0146-968D-09C5BB449018}"/>
                    </a:ext>
                  </a:extLst>
                </p:cNvPr>
                <p:cNvSpPr txBox="1"/>
                <p:nvPr/>
              </p:nvSpPr>
              <p:spPr>
                <a:xfrm>
                  <a:off x="7905686" y="5872643"/>
                  <a:ext cx="1689037" cy="411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𝑚𝑒𝑟𝑔𝑒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37275CF1-01F5-0146-968D-09C5BB449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5686" y="5872643"/>
                  <a:ext cx="1689037" cy="411331"/>
                </a:xfrm>
                <a:prstGeom prst="rect">
                  <a:avLst/>
                </a:prstGeom>
                <a:blipFill>
                  <a:blip r:embed="rId25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C5C04543-A7E3-4E48-62B5-3274323F6628}"/>
                </a:ext>
              </a:extLst>
            </p:cNvPr>
            <p:cNvCxnSpPr>
              <a:cxnSpLocks/>
              <a:stCxn id="111" idx="7"/>
            </p:cNvCxnSpPr>
            <p:nvPr/>
          </p:nvCxnSpPr>
          <p:spPr>
            <a:xfrm>
              <a:off x="7846935" y="5849293"/>
              <a:ext cx="650182" cy="28860"/>
            </a:xfrm>
            <a:prstGeom prst="straightConnector1">
              <a:avLst/>
            </a:prstGeom>
            <a:ln w="38100">
              <a:solidFill>
                <a:srgbClr val="1AE43C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623FBA47-4DAA-98E2-F46C-320979738D4A}"/>
              </a:ext>
            </a:extLst>
          </p:cNvPr>
          <p:cNvGrpSpPr/>
          <p:nvPr/>
        </p:nvGrpSpPr>
        <p:grpSpPr>
          <a:xfrm>
            <a:off x="9525158" y="5612486"/>
            <a:ext cx="1302924" cy="389274"/>
            <a:chOff x="4097307" y="3849011"/>
            <a:chExt cx="1302924" cy="389274"/>
          </a:xfrm>
        </p:grpSpPr>
        <p:sp>
          <p:nvSpPr>
            <p:cNvPr id="125" name="矩形: 圆角 124">
              <a:extLst>
                <a:ext uri="{FF2B5EF4-FFF2-40B4-BE49-F238E27FC236}">
                  <a16:creationId xmlns:a16="http://schemas.microsoft.com/office/drawing/2014/main" id="{0DE390EB-49E2-2714-A454-38067544A0EC}"/>
                </a:ext>
              </a:extLst>
            </p:cNvPr>
            <p:cNvSpPr/>
            <p:nvPr/>
          </p:nvSpPr>
          <p:spPr>
            <a:xfrm>
              <a:off x="4102926" y="3849011"/>
              <a:ext cx="1291687" cy="389274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514D54A0-6293-43A0-1C79-C4CBCC2DCB85}"/>
                </a:ext>
              </a:extLst>
            </p:cNvPr>
            <p:cNvSpPr txBox="1"/>
            <p:nvPr/>
          </p:nvSpPr>
          <p:spPr>
            <a:xfrm>
              <a:off x="4097307" y="3889760"/>
              <a:ext cx="13029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减少冲突</a:t>
              </a:r>
              <a:endParaRPr lang="en-US" altLang="zh-CN" sz="1400" b="1" dirty="0"/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0893885B-2E07-54DC-05D7-3C7C1BA471C6}"/>
              </a:ext>
            </a:extLst>
          </p:cNvPr>
          <p:cNvGrpSpPr/>
          <p:nvPr/>
        </p:nvGrpSpPr>
        <p:grpSpPr>
          <a:xfrm>
            <a:off x="944857" y="3510835"/>
            <a:ext cx="1212241" cy="1440321"/>
            <a:chOff x="669022" y="3984298"/>
            <a:chExt cx="1455170" cy="15587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矩形: 圆角 127">
                  <a:extLst>
                    <a:ext uri="{FF2B5EF4-FFF2-40B4-BE49-F238E27FC236}">
                      <a16:creationId xmlns:a16="http://schemas.microsoft.com/office/drawing/2014/main" id="{17DDDD0B-07F8-5200-C253-3A08C5BD8C90}"/>
                    </a:ext>
                  </a:extLst>
                </p:cNvPr>
                <p:cNvSpPr/>
                <p:nvPr/>
              </p:nvSpPr>
              <p:spPr>
                <a:xfrm>
                  <a:off x="669022" y="4853407"/>
                  <a:ext cx="1076960" cy="342339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𝐿𝑎𝑦𝑒𝑟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8" name="矩形: 圆角 127">
                  <a:extLst>
                    <a:ext uri="{FF2B5EF4-FFF2-40B4-BE49-F238E27FC236}">
                      <a16:creationId xmlns:a16="http://schemas.microsoft.com/office/drawing/2014/main" id="{17DDDD0B-07F8-5200-C253-3A08C5BD8C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022" y="4853407"/>
                  <a:ext cx="1076960" cy="342339"/>
                </a:xfrm>
                <a:prstGeom prst="roundRect">
                  <a:avLst/>
                </a:prstGeom>
                <a:blipFill>
                  <a:blip r:embed="rId26"/>
                  <a:stretch>
                    <a:fillRect l="-5369" b="-22222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矩形: 圆角 128">
                  <a:extLst>
                    <a:ext uri="{FF2B5EF4-FFF2-40B4-BE49-F238E27FC236}">
                      <a16:creationId xmlns:a16="http://schemas.microsoft.com/office/drawing/2014/main" id="{BC0F78E5-77D0-85D1-0C97-DFA2178387AA}"/>
                    </a:ext>
                  </a:extLst>
                </p:cNvPr>
                <p:cNvSpPr/>
                <p:nvPr/>
              </p:nvSpPr>
              <p:spPr>
                <a:xfrm>
                  <a:off x="669022" y="4282526"/>
                  <a:ext cx="1076960" cy="342339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𝐿𝑎𝑦𝑒𝑟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9" name="矩形: 圆角 128">
                  <a:extLst>
                    <a:ext uri="{FF2B5EF4-FFF2-40B4-BE49-F238E27FC236}">
                      <a16:creationId xmlns:a16="http://schemas.microsoft.com/office/drawing/2014/main" id="{BC0F78E5-77D0-85D1-0C97-DFA2178387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022" y="4282526"/>
                  <a:ext cx="1076960" cy="342339"/>
                </a:xfrm>
                <a:prstGeom prst="roundRect">
                  <a:avLst/>
                </a:prstGeom>
                <a:blipFill>
                  <a:blip r:embed="rId27"/>
                  <a:stretch>
                    <a:fillRect l="-6040" b="-24074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19D9EA5C-AB3F-BD4C-76A4-E5383F211305}"/>
                </a:ext>
              </a:extLst>
            </p:cNvPr>
            <p:cNvCxnSpPr>
              <a:stCxn id="128" idx="0"/>
              <a:endCxn id="129" idx="2"/>
            </p:cNvCxnSpPr>
            <p:nvPr/>
          </p:nvCxnSpPr>
          <p:spPr>
            <a:xfrm flipV="1">
              <a:off x="1207502" y="4624865"/>
              <a:ext cx="0" cy="2285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12258A20-A56A-1FF4-2627-797C5DAC1451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flipV="1">
              <a:off x="1207502" y="5195746"/>
              <a:ext cx="0" cy="268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B3CCD5B7-AB8A-A9C6-EA18-EE1AD3EB9EEA}"/>
                </a:ext>
              </a:extLst>
            </p:cNvPr>
            <p:cNvCxnSpPr>
              <a:cxnSpLocks/>
              <a:stCxn id="129" idx="0"/>
            </p:cNvCxnSpPr>
            <p:nvPr/>
          </p:nvCxnSpPr>
          <p:spPr>
            <a:xfrm flipV="1">
              <a:off x="1207502" y="4059622"/>
              <a:ext cx="0" cy="22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B76E0CE3-8891-2B77-B2ED-B75412546C56}"/>
                </a:ext>
              </a:extLst>
            </p:cNvPr>
            <p:cNvSpPr txBox="1"/>
            <p:nvPr/>
          </p:nvSpPr>
          <p:spPr>
            <a:xfrm>
              <a:off x="1154959" y="4553668"/>
              <a:ext cx="969233" cy="399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/>
                <a:t>······</a:t>
              </a:r>
              <a:endParaRPr lang="zh-CN" altLang="en-US" b="1" dirty="0"/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0CF01B7B-D0AA-2B34-FD55-D415C7523627}"/>
                </a:ext>
              </a:extLst>
            </p:cNvPr>
            <p:cNvSpPr txBox="1"/>
            <p:nvPr/>
          </p:nvSpPr>
          <p:spPr>
            <a:xfrm>
              <a:off x="1177685" y="3984298"/>
              <a:ext cx="835922" cy="399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/>
                <a:t>······</a:t>
              </a:r>
              <a:endParaRPr lang="zh-CN" altLang="en-US" b="1" dirty="0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346F88BD-25EE-D6F7-9E7D-3A799C5EBF70}"/>
                </a:ext>
              </a:extLst>
            </p:cNvPr>
            <p:cNvSpPr txBox="1"/>
            <p:nvPr/>
          </p:nvSpPr>
          <p:spPr>
            <a:xfrm>
              <a:off x="1177685" y="5143362"/>
              <a:ext cx="835922" cy="399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/>
                <a:t>······</a:t>
              </a:r>
              <a:endParaRPr lang="zh-CN" altLang="en-US" b="1" dirty="0"/>
            </a:p>
          </p:txBody>
        </p: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E4A0621C-E267-87AC-786C-597ADE8A9843}"/>
              </a:ext>
            </a:extLst>
          </p:cNvPr>
          <p:cNvGrpSpPr/>
          <p:nvPr/>
        </p:nvGrpSpPr>
        <p:grpSpPr>
          <a:xfrm>
            <a:off x="896971" y="5198230"/>
            <a:ext cx="1212241" cy="1440321"/>
            <a:chOff x="669022" y="3984298"/>
            <a:chExt cx="1455170" cy="15587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矩形: 圆角 149">
                  <a:extLst>
                    <a:ext uri="{FF2B5EF4-FFF2-40B4-BE49-F238E27FC236}">
                      <a16:creationId xmlns:a16="http://schemas.microsoft.com/office/drawing/2014/main" id="{11C6A872-5AC7-97D6-4BDF-4D3B61EFC04A}"/>
                    </a:ext>
                  </a:extLst>
                </p:cNvPr>
                <p:cNvSpPr/>
                <p:nvPr/>
              </p:nvSpPr>
              <p:spPr>
                <a:xfrm>
                  <a:off x="669022" y="4853407"/>
                  <a:ext cx="1076960" cy="342339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𝐿𝑎𝑦𝑒𝑟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0" name="矩形: 圆角 149">
                  <a:extLst>
                    <a:ext uri="{FF2B5EF4-FFF2-40B4-BE49-F238E27FC236}">
                      <a16:creationId xmlns:a16="http://schemas.microsoft.com/office/drawing/2014/main" id="{11C6A872-5AC7-97D6-4BDF-4D3B61EFC0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022" y="4853407"/>
                  <a:ext cx="1076960" cy="342339"/>
                </a:xfrm>
                <a:prstGeom prst="roundRect">
                  <a:avLst/>
                </a:prstGeom>
                <a:blipFill>
                  <a:blip r:embed="rId28"/>
                  <a:stretch>
                    <a:fillRect l="-5369" b="-22222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矩形: 圆角 150">
                  <a:extLst>
                    <a:ext uri="{FF2B5EF4-FFF2-40B4-BE49-F238E27FC236}">
                      <a16:creationId xmlns:a16="http://schemas.microsoft.com/office/drawing/2014/main" id="{1CC4E4C6-A161-85E0-BC4B-016080FC65C2}"/>
                    </a:ext>
                  </a:extLst>
                </p:cNvPr>
                <p:cNvSpPr/>
                <p:nvPr/>
              </p:nvSpPr>
              <p:spPr>
                <a:xfrm>
                  <a:off x="669022" y="4282526"/>
                  <a:ext cx="1076960" cy="342339"/>
                </a:xfrm>
                <a:prstGeom prst="roundRect">
                  <a:avLst/>
                </a:prstGeom>
                <a:ln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𝐿𝑎𝑦𝑒𝑟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1" name="矩形: 圆角 150">
                  <a:extLst>
                    <a:ext uri="{FF2B5EF4-FFF2-40B4-BE49-F238E27FC236}">
                      <a16:creationId xmlns:a16="http://schemas.microsoft.com/office/drawing/2014/main" id="{1CC4E4C6-A161-85E0-BC4B-016080FC65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022" y="4282526"/>
                  <a:ext cx="1076960" cy="342339"/>
                </a:xfrm>
                <a:prstGeom prst="roundRect">
                  <a:avLst/>
                </a:prstGeom>
                <a:blipFill>
                  <a:blip r:embed="rId29"/>
                  <a:stretch>
                    <a:fillRect l="-6040" b="-22222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4D40215E-D27C-438A-BEC8-A022BBC0084F}"/>
                </a:ext>
              </a:extLst>
            </p:cNvPr>
            <p:cNvCxnSpPr>
              <a:stCxn id="150" idx="0"/>
              <a:endCxn id="151" idx="2"/>
            </p:cNvCxnSpPr>
            <p:nvPr/>
          </p:nvCxnSpPr>
          <p:spPr>
            <a:xfrm flipV="1">
              <a:off x="1207502" y="4624865"/>
              <a:ext cx="0" cy="2285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E63BAE18-A0F2-AD80-7C25-3B86500CC66E}"/>
                </a:ext>
              </a:extLst>
            </p:cNvPr>
            <p:cNvCxnSpPr>
              <a:cxnSpLocks/>
              <a:endCxn id="150" idx="2"/>
            </p:cNvCxnSpPr>
            <p:nvPr/>
          </p:nvCxnSpPr>
          <p:spPr>
            <a:xfrm flipV="1">
              <a:off x="1207502" y="5195746"/>
              <a:ext cx="0" cy="268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9BBC18D5-F6B4-FA59-DC1D-6934E7510636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1207502" y="4059622"/>
              <a:ext cx="0" cy="2229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A8A6284F-3412-E0F0-8379-BF8E9A99B0DC}"/>
                </a:ext>
              </a:extLst>
            </p:cNvPr>
            <p:cNvSpPr txBox="1"/>
            <p:nvPr/>
          </p:nvSpPr>
          <p:spPr>
            <a:xfrm>
              <a:off x="1154959" y="4553668"/>
              <a:ext cx="969233" cy="399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/>
                <a:t>······</a:t>
              </a:r>
              <a:endParaRPr lang="zh-CN" altLang="en-US" b="1" dirty="0"/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E76C86A4-3B93-7B5D-53CE-18056675125F}"/>
                </a:ext>
              </a:extLst>
            </p:cNvPr>
            <p:cNvSpPr txBox="1"/>
            <p:nvPr/>
          </p:nvSpPr>
          <p:spPr>
            <a:xfrm>
              <a:off x="1177685" y="3984298"/>
              <a:ext cx="835922" cy="399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/>
                <a:t>······</a:t>
              </a:r>
              <a:endParaRPr lang="zh-CN" altLang="en-US" b="1" dirty="0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7765C49D-7677-A828-9D8B-66167A41DAEC}"/>
                </a:ext>
              </a:extLst>
            </p:cNvPr>
            <p:cNvSpPr txBox="1"/>
            <p:nvPr/>
          </p:nvSpPr>
          <p:spPr>
            <a:xfrm>
              <a:off x="1177685" y="5143362"/>
              <a:ext cx="835922" cy="399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/>
                <a:t>······</a:t>
              </a:r>
              <a:endParaRPr lang="zh-CN" altLang="en-US" b="1" dirty="0"/>
            </a:p>
          </p:txBody>
        </p:sp>
      </p:grpSp>
      <p:sp>
        <p:nvSpPr>
          <p:cNvPr id="158" name="文本框 157">
            <a:extLst>
              <a:ext uri="{FF2B5EF4-FFF2-40B4-BE49-F238E27FC236}">
                <a16:creationId xmlns:a16="http://schemas.microsoft.com/office/drawing/2014/main" id="{231F1144-C94B-F9A0-C410-225BBC894A09}"/>
              </a:ext>
            </a:extLst>
          </p:cNvPr>
          <p:cNvSpPr txBox="1"/>
          <p:nvPr/>
        </p:nvSpPr>
        <p:spPr>
          <a:xfrm>
            <a:off x="-13785" y="4044937"/>
            <a:ext cx="9586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Model 1</a:t>
            </a:r>
            <a:endParaRPr lang="zh-CN" altLang="en-US" sz="1400" b="1" dirty="0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4313C25-4569-BEA2-98EC-D4B81F38D660}"/>
              </a:ext>
            </a:extLst>
          </p:cNvPr>
          <p:cNvSpPr txBox="1"/>
          <p:nvPr/>
        </p:nvSpPr>
        <p:spPr>
          <a:xfrm>
            <a:off x="-74495" y="5702361"/>
            <a:ext cx="9586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Model 2</a:t>
            </a:r>
            <a:endParaRPr lang="zh-CN" altLang="en-US" sz="1400" b="1" dirty="0"/>
          </a:p>
        </p:txBody>
      </p: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3BAE748C-11E9-FB35-4E7C-C787C0835A22}"/>
              </a:ext>
            </a:extLst>
          </p:cNvPr>
          <p:cNvCxnSpPr>
            <a:cxnSpLocks/>
            <a:stCxn id="150" idx="3"/>
          </p:cNvCxnSpPr>
          <p:nvPr/>
        </p:nvCxnSpPr>
        <p:spPr>
          <a:xfrm flipV="1">
            <a:off x="1794141" y="4519934"/>
            <a:ext cx="971926" cy="16395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810760E4-1742-6E18-BC84-6D66FCF13FF6}"/>
              </a:ext>
            </a:extLst>
          </p:cNvPr>
          <p:cNvCxnSpPr>
            <a:cxnSpLocks/>
            <a:stCxn id="128" idx="3"/>
            <a:endCxn id="170" idx="1"/>
          </p:cNvCxnSpPr>
          <p:nvPr/>
        </p:nvCxnSpPr>
        <p:spPr>
          <a:xfrm flipV="1">
            <a:off x="1842027" y="4253637"/>
            <a:ext cx="962516" cy="2184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61FA1DCE-7C65-0C41-D664-7897E879C871}"/>
              </a:ext>
            </a:extLst>
          </p:cNvPr>
          <p:cNvCxnSpPr>
            <a:cxnSpLocks/>
            <a:stCxn id="129" idx="3"/>
          </p:cNvCxnSpPr>
          <p:nvPr/>
        </p:nvCxnSpPr>
        <p:spPr>
          <a:xfrm>
            <a:off x="1842027" y="3944564"/>
            <a:ext cx="943413" cy="15921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395AB905-0A7C-FF53-FF8E-14ED8A2C3632}"/>
              </a:ext>
            </a:extLst>
          </p:cNvPr>
          <p:cNvCxnSpPr>
            <a:cxnSpLocks/>
            <a:stCxn id="151" idx="3"/>
            <a:endCxn id="171" idx="1"/>
          </p:cNvCxnSpPr>
          <p:nvPr/>
        </p:nvCxnSpPr>
        <p:spPr>
          <a:xfrm>
            <a:off x="1794141" y="5631959"/>
            <a:ext cx="1010401" cy="1483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FC0A45C-7740-6CF1-9554-307A542C96E0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11/16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51E744-86BE-648E-2DB1-32439DBC98DE}"/>
              </a:ext>
            </a:extLst>
          </p:cNvPr>
          <p:cNvSpPr txBox="1"/>
          <p:nvPr/>
        </p:nvSpPr>
        <p:spPr>
          <a:xfrm>
            <a:off x="2994756" y="1720163"/>
            <a:ext cx="1002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训练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E2423C-0C76-855D-0BD5-2A2AE24BBA99}"/>
              </a:ext>
            </a:extLst>
          </p:cNvPr>
          <p:cNvSpPr txBox="1"/>
          <p:nvPr/>
        </p:nvSpPr>
        <p:spPr>
          <a:xfrm>
            <a:off x="5399831" y="1681478"/>
            <a:ext cx="1002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融合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70C82E-32B8-ECD0-E3F1-20F938E34359}"/>
              </a:ext>
            </a:extLst>
          </p:cNvPr>
          <p:cNvSpPr txBox="1"/>
          <p:nvPr/>
        </p:nvSpPr>
        <p:spPr>
          <a:xfrm>
            <a:off x="4132609" y="3846285"/>
            <a:ext cx="1002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训练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EEC1E8-01FD-0F86-E8D0-CAAE6A9E1D2C}"/>
              </a:ext>
            </a:extLst>
          </p:cNvPr>
          <p:cNvSpPr txBox="1"/>
          <p:nvPr/>
        </p:nvSpPr>
        <p:spPr>
          <a:xfrm>
            <a:off x="6416377" y="3829393"/>
            <a:ext cx="1002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融合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4308C2-D97F-0691-9C13-EE05968BF782}"/>
              </a:ext>
            </a:extLst>
          </p:cNvPr>
          <p:cNvSpPr txBox="1"/>
          <p:nvPr/>
        </p:nvSpPr>
        <p:spPr>
          <a:xfrm>
            <a:off x="4135190" y="5407024"/>
            <a:ext cx="1002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训练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0FEE49-7EC4-89AA-1A83-D6C307C0B530}"/>
              </a:ext>
            </a:extLst>
          </p:cNvPr>
          <p:cNvSpPr txBox="1"/>
          <p:nvPr/>
        </p:nvSpPr>
        <p:spPr>
          <a:xfrm>
            <a:off x="6418958" y="5390132"/>
            <a:ext cx="1002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融合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1274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0" grpId="0" animBg="1"/>
      <p:bldP spid="11" grpId="0"/>
      <p:bldP spid="2" grpId="0"/>
      <p:bldP spid="42" grpId="0" animBg="1"/>
      <p:bldP spid="43" grpId="0"/>
      <p:bldP spid="44" grpId="0" animBg="1"/>
      <p:bldP spid="47" grpId="0"/>
      <p:bldP spid="68" grpId="0" animBg="1"/>
      <p:bldP spid="69" grpId="0"/>
      <p:bldP spid="70" grpId="0" animBg="1"/>
      <p:bldP spid="91" grpId="0" animBg="1"/>
      <p:bldP spid="92" grpId="0"/>
      <p:bldP spid="93" grpId="0" animBg="1"/>
      <p:bldP spid="158" grpId="0"/>
      <p:bldP spid="159" grpId="0"/>
      <p:bldP spid="7" grpId="0"/>
      <p:bldP spid="9" grpId="0"/>
      <p:bldP spid="12" grpId="0"/>
      <p:bldP spid="13" grpId="0"/>
      <p:bldP spid="15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AA0D59-462E-8572-F741-2BCC145CCBEF}"/>
              </a:ext>
            </a:extLst>
          </p:cNvPr>
          <p:cNvSpPr txBox="1"/>
          <p:nvPr/>
        </p:nvSpPr>
        <p:spPr>
          <a:xfrm>
            <a:off x="603504" y="769583"/>
            <a:ext cx="1906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实验设置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13F022-93D0-8B24-2528-53430337B6A8}"/>
              </a:ext>
            </a:extLst>
          </p:cNvPr>
          <p:cNvSpPr txBox="1"/>
          <p:nvPr/>
        </p:nvSpPr>
        <p:spPr>
          <a:xfrm>
            <a:off x="1020064" y="4333911"/>
            <a:ext cx="2759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数据集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E9F0FD-8998-EF2F-5A37-968BD619139A}"/>
              </a:ext>
            </a:extLst>
          </p:cNvPr>
          <p:cNvSpPr txBox="1"/>
          <p:nvPr/>
        </p:nvSpPr>
        <p:spPr>
          <a:xfrm>
            <a:off x="816088" y="4867102"/>
            <a:ext cx="6222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Stanford Cars</a:t>
            </a:r>
            <a:r>
              <a:rPr lang="zh-CN" altLang="en-US" dirty="0"/>
              <a:t>：包含</a:t>
            </a:r>
            <a:r>
              <a:rPr lang="en-US" altLang="zh-CN" dirty="0"/>
              <a:t>196</a:t>
            </a:r>
            <a:r>
              <a:rPr lang="zh-CN" altLang="en-US" dirty="0"/>
              <a:t>种车型，用于车辆分类和识别任务研究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8A4B63-D25E-2D61-F992-3AF96F0F3639}"/>
              </a:ext>
            </a:extLst>
          </p:cNvPr>
          <p:cNvSpPr txBox="1"/>
          <p:nvPr/>
        </p:nvSpPr>
        <p:spPr>
          <a:xfrm>
            <a:off x="1020064" y="1124188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模型：</a:t>
            </a:r>
            <a:r>
              <a:rPr lang="en-US" altLang="zh-CN" b="1" dirty="0">
                <a:latin typeface="+mn-ea"/>
              </a:rPr>
              <a:t>CLIP</a:t>
            </a:r>
            <a:endParaRPr lang="zh-CN" altLang="en-US" dirty="0"/>
          </a:p>
        </p:txBody>
      </p:sp>
      <p:pic>
        <p:nvPicPr>
          <p:cNvPr id="2050" name="Picture 2" descr="CLIP模型结构">
            <a:extLst>
              <a:ext uri="{FF2B5EF4-FFF2-40B4-BE49-F238E27FC236}">
                <a16:creationId xmlns:a16="http://schemas.microsoft.com/office/drawing/2014/main" id="{5AB7E912-B3C6-FDD5-ED8D-46DD93DA4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700" y="750752"/>
            <a:ext cx="5640005" cy="376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726B570-1FE5-BB39-BCC3-30F58365CA5E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11/16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454641-3187-30EF-A13D-DF32400E5FB6}"/>
              </a:ext>
            </a:extLst>
          </p:cNvPr>
          <p:cNvSpPr txBox="1"/>
          <p:nvPr/>
        </p:nvSpPr>
        <p:spPr>
          <a:xfrm>
            <a:off x="1344449" y="1456105"/>
            <a:ext cx="2729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</a:t>
            </a:r>
            <a:r>
              <a:rPr lang="zh-CN" altLang="en-US" dirty="0"/>
              <a:t>文本编码器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1C7EF0-E9D7-6D04-44C3-D126AA4377B6}"/>
              </a:ext>
            </a:extLst>
          </p:cNvPr>
          <p:cNvSpPr txBox="1"/>
          <p:nvPr/>
        </p:nvSpPr>
        <p:spPr>
          <a:xfrm>
            <a:off x="1556512" y="1763085"/>
            <a:ext cx="34523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zh-CN" altLang="en-US" dirty="0"/>
              <a:t>基于</a:t>
            </a:r>
            <a:r>
              <a:rPr lang="en-US" altLang="zh-CN" dirty="0"/>
              <a:t>Transformer</a:t>
            </a:r>
            <a:r>
              <a:rPr lang="zh-CN" altLang="en-US" dirty="0"/>
              <a:t>，将所有所有标签编码成一个特征向量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93F0BC-53E2-9212-556B-0ABC14E5A5BF}"/>
              </a:ext>
            </a:extLst>
          </p:cNvPr>
          <p:cNvSpPr txBox="1"/>
          <p:nvPr/>
        </p:nvSpPr>
        <p:spPr>
          <a:xfrm>
            <a:off x="1344449" y="2316286"/>
            <a:ext cx="4449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</a:t>
            </a:r>
            <a:r>
              <a:rPr lang="zh-CN" altLang="en-US" dirty="0"/>
              <a:t>图像编码器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CEC455D-3ABC-E97A-DB94-D06866CF97A5}"/>
              </a:ext>
            </a:extLst>
          </p:cNvPr>
          <p:cNvSpPr txBox="1"/>
          <p:nvPr/>
        </p:nvSpPr>
        <p:spPr>
          <a:xfrm>
            <a:off x="1556512" y="2623266"/>
            <a:ext cx="34523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zh-CN" altLang="en-US" dirty="0"/>
              <a:t>基于</a:t>
            </a:r>
            <a:r>
              <a:rPr lang="en-US" altLang="zh-CN" dirty="0" err="1"/>
              <a:t>ViT</a:t>
            </a:r>
            <a:r>
              <a:rPr lang="zh-CN" altLang="en-US" dirty="0"/>
              <a:t>，将所有所有图像编码成一个特征向量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3629C0-8D02-9D9E-DC97-AF9F08404FBE}"/>
              </a:ext>
            </a:extLst>
          </p:cNvPr>
          <p:cNvSpPr txBox="1"/>
          <p:nvPr/>
        </p:nvSpPr>
        <p:spPr>
          <a:xfrm>
            <a:off x="1344448" y="3176467"/>
            <a:ext cx="38282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</a:t>
            </a:r>
            <a:r>
              <a:rPr lang="zh-CN" altLang="en-US" dirty="0"/>
              <a:t>输出标签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8920EE6-31D3-AA07-4ACA-D6BDFB2B6CEF}"/>
              </a:ext>
            </a:extLst>
          </p:cNvPr>
          <p:cNvSpPr txBox="1"/>
          <p:nvPr/>
        </p:nvSpPr>
        <p:spPr>
          <a:xfrm>
            <a:off x="1556512" y="3483446"/>
            <a:ext cx="3664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zh-CN" altLang="en-US" dirty="0"/>
              <a:t>图像特征向量与标签特征向量计算余弦相似度，图像输出标签为相似度最高的向量对应的文本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8F6EAED-B562-84C6-E98A-26BF1CFFC8AB}"/>
              </a:ext>
            </a:extLst>
          </p:cNvPr>
          <p:cNvSpPr txBox="1"/>
          <p:nvPr/>
        </p:nvSpPr>
        <p:spPr>
          <a:xfrm>
            <a:off x="816087" y="5242042"/>
            <a:ext cx="594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</a:t>
            </a:r>
            <a:r>
              <a:rPr lang="en-US" altLang="zh-CN" dirty="0" err="1"/>
              <a:t>EuroSAT</a:t>
            </a:r>
            <a:r>
              <a:rPr lang="zh-CN" altLang="en-US" dirty="0"/>
              <a:t>：基于卫星影像，含</a:t>
            </a:r>
            <a:r>
              <a:rPr lang="en-US" altLang="zh-CN" dirty="0"/>
              <a:t>10</a:t>
            </a:r>
            <a:r>
              <a:rPr lang="zh-CN" altLang="en-US" dirty="0"/>
              <a:t>类土地类型，用于遥感分类。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65A8F8-8464-E897-22C9-61849A44C296}"/>
              </a:ext>
            </a:extLst>
          </p:cNvPr>
          <p:cNvSpPr txBox="1"/>
          <p:nvPr/>
        </p:nvSpPr>
        <p:spPr>
          <a:xfrm>
            <a:off x="7068669" y="4867102"/>
            <a:ext cx="44222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DTD</a:t>
            </a:r>
            <a:r>
              <a:rPr lang="zh-CN" altLang="en-US" dirty="0"/>
              <a:t>：包含</a:t>
            </a:r>
            <a:r>
              <a:rPr lang="en-US" altLang="zh-CN" dirty="0"/>
              <a:t>47</a:t>
            </a:r>
            <a:r>
              <a:rPr lang="zh-CN" altLang="en-US" dirty="0"/>
              <a:t>类纹理，用于纹理分类研究。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A94F385-999D-ADCB-4494-1C904D38FFCE}"/>
              </a:ext>
            </a:extLst>
          </p:cNvPr>
          <p:cNvSpPr txBox="1"/>
          <p:nvPr/>
        </p:nvSpPr>
        <p:spPr>
          <a:xfrm>
            <a:off x="816087" y="5616982"/>
            <a:ext cx="47414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MNIST</a:t>
            </a:r>
            <a:r>
              <a:rPr lang="zh-CN" altLang="en-US" dirty="0"/>
              <a:t>：包含</a:t>
            </a:r>
            <a:r>
              <a:rPr lang="en-US" altLang="zh-CN" dirty="0"/>
              <a:t>10</a:t>
            </a:r>
            <a:r>
              <a:rPr lang="zh-CN" altLang="en-US" dirty="0"/>
              <a:t>类手写数字，用于数字识别。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606F439-7ADC-DE63-F22E-5E9ED1D29DB4}"/>
              </a:ext>
            </a:extLst>
          </p:cNvPr>
          <p:cNvSpPr txBox="1"/>
          <p:nvPr/>
        </p:nvSpPr>
        <p:spPr>
          <a:xfrm>
            <a:off x="816087" y="5991921"/>
            <a:ext cx="594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GTSRB</a:t>
            </a:r>
            <a:r>
              <a:rPr lang="zh-CN" altLang="en-US" dirty="0"/>
              <a:t>：包含</a:t>
            </a:r>
            <a:r>
              <a:rPr lang="en-US" altLang="zh-CN" dirty="0"/>
              <a:t>43</a:t>
            </a:r>
            <a:r>
              <a:rPr lang="zh-CN" altLang="en-US" dirty="0"/>
              <a:t>类交通标志，用于交通标志分类和检测研究。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8482512-C17A-5332-A8E0-AB7ACAA4A86C}"/>
              </a:ext>
            </a:extLst>
          </p:cNvPr>
          <p:cNvSpPr txBox="1"/>
          <p:nvPr/>
        </p:nvSpPr>
        <p:spPr>
          <a:xfrm>
            <a:off x="7038189" y="5247055"/>
            <a:ext cx="594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RESISC45</a:t>
            </a:r>
            <a:r>
              <a:rPr lang="zh-CN" altLang="en-US" dirty="0"/>
              <a:t>：含</a:t>
            </a:r>
            <a:r>
              <a:rPr lang="en-US" altLang="zh-CN" dirty="0"/>
              <a:t>45</a:t>
            </a:r>
            <a:r>
              <a:rPr lang="zh-CN" altLang="en-US" dirty="0"/>
              <a:t>类遥感图像，用于场景分类研究。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B55DDC7-A7BA-A046-ADAE-FDFBB4AB3FA8}"/>
              </a:ext>
            </a:extLst>
          </p:cNvPr>
          <p:cNvSpPr txBox="1"/>
          <p:nvPr/>
        </p:nvSpPr>
        <p:spPr>
          <a:xfrm>
            <a:off x="7038188" y="5991921"/>
            <a:ext cx="594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SVHN</a:t>
            </a:r>
            <a:r>
              <a:rPr lang="zh-CN" altLang="en-US" dirty="0"/>
              <a:t>：含</a:t>
            </a:r>
            <a:r>
              <a:rPr lang="en-US" altLang="zh-CN" dirty="0"/>
              <a:t>10</a:t>
            </a:r>
            <a:r>
              <a:rPr lang="zh-CN" altLang="en-US" dirty="0"/>
              <a:t>类街景数字，用于数字识别。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D162DD9-A146-D88C-5AB3-2420ED2DE599}"/>
              </a:ext>
            </a:extLst>
          </p:cNvPr>
          <p:cNvSpPr txBox="1"/>
          <p:nvPr/>
        </p:nvSpPr>
        <p:spPr>
          <a:xfrm>
            <a:off x="7038189" y="5621708"/>
            <a:ext cx="594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+mn-ea"/>
              </a:defRPr>
            </a:lvl1pPr>
          </a:lstStyle>
          <a:p>
            <a:r>
              <a:rPr lang="en-US" altLang="zh-CN" dirty="0"/>
              <a:t>- SUN397</a:t>
            </a:r>
            <a:r>
              <a:rPr lang="zh-CN" altLang="en-US" dirty="0"/>
              <a:t>：含</a:t>
            </a:r>
            <a:r>
              <a:rPr lang="en-US" altLang="zh-CN" dirty="0"/>
              <a:t>397</a:t>
            </a:r>
            <a:r>
              <a:rPr lang="zh-CN" altLang="en-US" dirty="0"/>
              <a:t>类场景，用于场景分类与识别研究。</a:t>
            </a:r>
          </a:p>
        </p:txBody>
      </p:sp>
    </p:spTree>
    <p:extLst>
      <p:ext uri="{BB962C8B-B14F-4D97-AF65-F5344CB8AC3E}">
        <p14:creationId xmlns:p14="http://schemas.microsoft.com/office/powerpoint/2010/main" val="64828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  <p:bldP spid="7" grpId="0"/>
      <p:bldP spid="12" grpId="0"/>
      <p:bldP spid="15" grpId="0"/>
      <p:bldP spid="18" grpId="0"/>
      <p:bldP spid="19" grpId="0"/>
      <p:bldP spid="20" grpId="0"/>
      <p:bldP spid="23" grpId="0"/>
      <p:bldP spid="24" grpId="0"/>
      <p:bldP spid="27" grpId="0"/>
      <p:bldP spid="78" grpId="0"/>
      <p:bldP spid="80" grpId="0"/>
      <p:bldP spid="82" grpId="0"/>
      <p:bldP spid="85" grpId="0"/>
      <p:bldP spid="8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6B570-1FE5-BB39-BCC3-30F58365CA5E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12/16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4D8904-44C5-E10E-62F1-345E86920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830"/>
            <a:ext cx="12192000" cy="408778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23B41DD-4E0F-57B4-B400-A2BEFEA371B3}"/>
              </a:ext>
            </a:extLst>
          </p:cNvPr>
          <p:cNvSpPr txBox="1"/>
          <p:nvPr/>
        </p:nvSpPr>
        <p:spPr>
          <a:xfrm>
            <a:off x="603504" y="769583"/>
            <a:ext cx="382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模型融合结果（</a:t>
            </a:r>
            <a:r>
              <a:rPr lang="en-US" altLang="zh-CN" b="1" dirty="0" err="1">
                <a:solidFill>
                  <a:srgbClr val="268F9C"/>
                </a:solidFill>
                <a:latin typeface="+mn-ea"/>
              </a:rPr>
              <a:t>ViT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-B/32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8FD5DA-18A3-DC6F-C14B-88A84391EEA9}"/>
              </a:ext>
            </a:extLst>
          </p:cNvPr>
          <p:cNvSpPr/>
          <p:nvPr/>
        </p:nvSpPr>
        <p:spPr>
          <a:xfrm>
            <a:off x="106680" y="4033520"/>
            <a:ext cx="11978640" cy="94488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D8B485-9371-B548-CBE9-7E6A82012EA2}"/>
              </a:ext>
            </a:extLst>
          </p:cNvPr>
          <p:cNvSpPr/>
          <p:nvPr/>
        </p:nvSpPr>
        <p:spPr>
          <a:xfrm>
            <a:off x="106680" y="3569776"/>
            <a:ext cx="11978640" cy="23006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215F24-6D19-8EBE-1C36-4C6795D35051}"/>
              </a:ext>
            </a:extLst>
          </p:cNvPr>
          <p:cNvSpPr/>
          <p:nvPr/>
        </p:nvSpPr>
        <p:spPr>
          <a:xfrm>
            <a:off x="106680" y="1920240"/>
            <a:ext cx="11978640" cy="75378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F872B25-8BA3-AEFB-CE47-CB8FF0B55B81}"/>
                  </a:ext>
                </a:extLst>
              </p:cNvPr>
              <p:cNvSpPr txBox="1"/>
              <p:nvPr/>
            </p:nvSpPr>
            <p:spPr>
              <a:xfrm>
                <a:off x="271272" y="5094626"/>
                <a:ext cx="740343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latin typeface="+mn-ea"/>
                  </a:rPr>
                  <a:t>- </a:t>
                </a:r>
                <a:r>
                  <a:rPr lang="zh-CN" altLang="en-US" sz="1600" b="1" dirty="0">
                    <a:latin typeface="+mn-ea"/>
                  </a:rPr>
                  <a:t>传统多任务学习</a:t>
                </a:r>
                <a:r>
                  <a:rPr lang="zh-CN" altLang="en-US" sz="1600" dirty="0">
                    <a:latin typeface="+mn-ea"/>
                  </a:rPr>
                  <a:t>是</a:t>
                </a:r>
                <a:r>
                  <a:rPr lang="zh-CN" altLang="en-US" sz="1600" b="1" dirty="0">
                    <a:latin typeface="+mn-ea"/>
                  </a:rPr>
                  <a:t>单任务学习</a:t>
                </a:r>
                <a:r>
                  <a:rPr lang="zh-CN" altLang="en-US" sz="1600" dirty="0">
                    <a:latin typeface="+mn-ea"/>
                  </a:rPr>
                  <a:t>平均性能的</a:t>
                </a:r>
                <a:r>
                  <a:rPr lang="en-US" altLang="zh-CN" sz="1600" b="1" dirty="0">
                    <a:latin typeface="+mn-ea"/>
                  </a:rPr>
                  <a:t>98.23%</a:t>
                </a:r>
                <a:r>
                  <a:rPr lang="zh-CN" altLang="en-US" sz="1600" b="1" dirty="0">
                    <a:latin typeface="+mn-ea"/>
                  </a:rPr>
                  <a:t>（</a:t>
                </a:r>
                <a:r>
                  <a:rPr lang="en-US" altLang="zh-CN" sz="1600" b="1" dirty="0"/>
                  <a:t> 88.9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altLang="zh-CN" sz="1600" b="1" dirty="0">
                    <a:latin typeface="+mn-ea"/>
                  </a:rPr>
                  <a:t>90.5</a:t>
                </a:r>
                <a:r>
                  <a:rPr lang="zh-CN" altLang="en-US" sz="1600" b="1" dirty="0">
                    <a:latin typeface="+mn-ea"/>
                  </a:rPr>
                  <a:t>）</a:t>
                </a:r>
                <a:endParaRPr lang="en-US" altLang="zh-CN" sz="16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F872B25-8BA3-AEFB-CE47-CB8FF0B55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72" y="5094626"/>
                <a:ext cx="7403436" cy="338554"/>
              </a:xfrm>
              <a:prstGeom prst="rect">
                <a:avLst/>
              </a:prstGeom>
              <a:blipFill>
                <a:blip r:embed="rId4"/>
                <a:stretch>
                  <a:fillRect l="-494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2328752-8927-5F7F-B2F4-01E77A5691EA}"/>
                  </a:ext>
                </a:extLst>
              </p:cNvPr>
              <p:cNvSpPr txBox="1"/>
              <p:nvPr/>
            </p:nvSpPr>
            <p:spPr>
              <a:xfrm>
                <a:off x="271272" y="5474471"/>
                <a:ext cx="993952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latin typeface="+mn-ea"/>
                  </a:rPr>
                  <a:t>- </a:t>
                </a:r>
                <a:r>
                  <a:rPr lang="zh-CN" altLang="en-US" sz="1600" b="1" dirty="0">
                    <a:latin typeface="+mn-ea"/>
                  </a:rPr>
                  <a:t>简单的任务算术</a:t>
                </a:r>
                <a:r>
                  <a:rPr lang="zh-CN" altLang="en-US" sz="1600" dirty="0">
                    <a:latin typeface="+mn-ea"/>
                  </a:rPr>
                  <a:t>是</a:t>
                </a:r>
                <a:r>
                  <a:rPr lang="zh-CN" altLang="en-US" sz="1600" b="1" dirty="0">
                    <a:latin typeface="+mn-ea"/>
                  </a:rPr>
                  <a:t>单任务学习</a:t>
                </a:r>
                <a:r>
                  <a:rPr lang="zh-CN" altLang="en-US" sz="1600" dirty="0">
                    <a:latin typeface="+mn-ea"/>
                  </a:rPr>
                  <a:t>平均性能的</a:t>
                </a:r>
                <a:r>
                  <a:rPr lang="en-US" altLang="zh-CN" sz="1600" b="1" dirty="0">
                    <a:latin typeface="+mn-ea"/>
                  </a:rPr>
                  <a:t>76.35%</a:t>
                </a:r>
                <a:r>
                  <a:rPr lang="zh-CN" altLang="en-US" sz="1600" b="1" dirty="0">
                    <a:latin typeface="+mn-ea"/>
                  </a:rPr>
                  <a:t>（</a:t>
                </a:r>
                <a:r>
                  <a:rPr lang="en-US" altLang="zh-CN" sz="1600" b="1" dirty="0">
                    <a:latin typeface="+mn-ea"/>
                  </a:rPr>
                  <a:t>69.1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altLang="zh-CN" sz="1600" b="1" dirty="0">
                    <a:latin typeface="+mn-ea"/>
                  </a:rPr>
                  <a:t>90.5</a:t>
                </a:r>
                <a:r>
                  <a:rPr lang="zh-CN" altLang="en-US" sz="1600" b="1" dirty="0">
                    <a:latin typeface="+mn-ea"/>
                  </a:rPr>
                  <a:t>），</a:t>
                </a:r>
                <a:r>
                  <a:rPr lang="zh-CN" altLang="en-US" sz="1600" dirty="0">
                    <a:latin typeface="+mn-ea"/>
                  </a:rPr>
                  <a:t>比</a:t>
                </a:r>
                <a:r>
                  <a:rPr lang="zh-CN" altLang="en-US" sz="1600" b="1" dirty="0">
                    <a:latin typeface="+mn-ea"/>
                  </a:rPr>
                  <a:t>传统多任务学习</a:t>
                </a:r>
                <a:r>
                  <a:rPr lang="zh-CN" altLang="en-US" sz="1600" dirty="0">
                    <a:latin typeface="+mn-ea"/>
                  </a:rPr>
                  <a:t>低</a:t>
                </a:r>
                <a:r>
                  <a:rPr lang="en-US" altLang="zh-CN" sz="1600" b="1" dirty="0">
                    <a:latin typeface="+mn-ea"/>
                  </a:rPr>
                  <a:t>21.85%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2328752-8927-5F7F-B2F4-01E77A569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72" y="5474471"/>
                <a:ext cx="9939528" cy="338554"/>
              </a:xfrm>
              <a:prstGeom prst="rect">
                <a:avLst/>
              </a:prstGeom>
              <a:blipFill>
                <a:blip r:embed="rId5"/>
                <a:stretch>
                  <a:fillRect l="-368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A367885-3A0C-8B18-7982-D944B18D6B65}"/>
                  </a:ext>
                </a:extLst>
              </p:cNvPr>
              <p:cNvSpPr txBox="1"/>
              <p:nvPr/>
            </p:nvSpPr>
            <p:spPr>
              <a:xfrm>
                <a:off x="271272" y="5854316"/>
                <a:ext cx="111892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latin typeface="+mn-ea"/>
                  </a:rPr>
                  <a:t>- Task-wise</a:t>
                </a:r>
                <a:r>
                  <a:rPr lang="zh-CN" altLang="en-US" sz="1600" b="1" dirty="0">
                    <a:latin typeface="+mn-ea"/>
                  </a:rPr>
                  <a:t> </a:t>
                </a:r>
                <a:r>
                  <a:rPr lang="en-US" altLang="zh-CN" sz="1600" b="1" dirty="0" err="1">
                    <a:latin typeface="+mn-ea"/>
                  </a:rPr>
                  <a:t>AdaMerging</a:t>
                </a:r>
                <a:r>
                  <a:rPr lang="zh-CN" altLang="en-US" sz="1600" dirty="0">
                    <a:latin typeface="+mn-ea"/>
                  </a:rPr>
                  <a:t>是</a:t>
                </a:r>
                <a:r>
                  <a:rPr lang="zh-CN" altLang="en-US" sz="1600" b="1" dirty="0">
                    <a:latin typeface="+mn-ea"/>
                  </a:rPr>
                  <a:t>单任务学习</a:t>
                </a:r>
                <a:r>
                  <a:rPr lang="zh-CN" altLang="en-US" sz="1600" dirty="0">
                    <a:latin typeface="+mn-ea"/>
                  </a:rPr>
                  <a:t>平均性能的</a:t>
                </a:r>
                <a:r>
                  <a:rPr lang="en-US" altLang="zh-CN" sz="1600" b="1" dirty="0">
                    <a:latin typeface="+mn-ea"/>
                  </a:rPr>
                  <a:t>78.56%</a:t>
                </a:r>
                <a:r>
                  <a:rPr lang="zh-CN" altLang="en-US" sz="1600" b="1" dirty="0">
                    <a:latin typeface="+mn-ea"/>
                  </a:rPr>
                  <a:t>（</a:t>
                </a:r>
                <a:r>
                  <a:rPr lang="en-US" altLang="zh-CN" sz="1600" b="1" dirty="0">
                    <a:latin typeface="+mn-ea"/>
                  </a:rPr>
                  <a:t>71.1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altLang="zh-CN" sz="1600" b="1" dirty="0">
                    <a:latin typeface="+mn-ea"/>
                  </a:rPr>
                  <a:t>90.5</a:t>
                </a:r>
                <a:r>
                  <a:rPr lang="zh-CN" altLang="en-US" sz="1600" b="1" dirty="0">
                    <a:latin typeface="+mn-ea"/>
                  </a:rPr>
                  <a:t>），</a:t>
                </a:r>
                <a:r>
                  <a:rPr lang="zh-CN" altLang="en-US" sz="1600" dirty="0">
                    <a:latin typeface="+mn-ea"/>
                  </a:rPr>
                  <a:t>比</a:t>
                </a:r>
                <a:r>
                  <a:rPr lang="zh-CN" altLang="en-US" sz="1600" b="1" dirty="0">
                    <a:latin typeface="+mn-ea"/>
                  </a:rPr>
                  <a:t>任务向量</a:t>
                </a:r>
                <a:r>
                  <a:rPr lang="zh-CN" altLang="en-US" sz="1600" dirty="0">
                    <a:latin typeface="+mn-ea"/>
                  </a:rPr>
                  <a:t>高</a:t>
                </a:r>
                <a:r>
                  <a:rPr lang="en-US" altLang="zh-CN" sz="1600" b="1" dirty="0">
                    <a:latin typeface="+mn-ea"/>
                  </a:rPr>
                  <a:t>2.21%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A367885-3A0C-8B18-7982-D944B18D6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72" y="5854316"/>
                <a:ext cx="11189208" cy="338554"/>
              </a:xfrm>
              <a:prstGeom prst="rect">
                <a:avLst/>
              </a:prstGeom>
              <a:blipFill>
                <a:blip r:embed="rId6"/>
                <a:stretch>
                  <a:fillRect l="-327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A44A386-1FE3-7515-2D7F-5E99C8841FC5}"/>
                  </a:ext>
                </a:extLst>
              </p:cNvPr>
              <p:cNvSpPr txBox="1"/>
              <p:nvPr/>
            </p:nvSpPr>
            <p:spPr>
              <a:xfrm>
                <a:off x="271272" y="6234161"/>
                <a:ext cx="111892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latin typeface="+mn-ea"/>
                  </a:rPr>
                  <a:t>- Layer-wise</a:t>
                </a:r>
                <a:r>
                  <a:rPr lang="zh-CN" altLang="en-US" sz="1600" b="1" dirty="0">
                    <a:latin typeface="+mn-ea"/>
                  </a:rPr>
                  <a:t> </a:t>
                </a:r>
                <a:r>
                  <a:rPr lang="en-US" altLang="zh-CN" sz="1600" b="1" dirty="0" err="1">
                    <a:latin typeface="+mn-ea"/>
                  </a:rPr>
                  <a:t>AdaMerging</a:t>
                </a:r>
                <a:r>
                  <a:rPr lang="zh-CN" altLang="en-US" sz="1600" dirty="0">
                    <a:latin typeface="+mn-ea"/>
                  </a:rPr>
                  <a:t>是</a:t>
                </a:r>
                <a:r>
                  <a:rPr lang="zh-CN" altLang="en-US" sz="1600" b="1" dirty="0">
                    <a:latin typeface="+mn-ea"/>
                  </a:rPr>
                  <a:t>单任务学习</a:t>
                </a:r>
                <a:r>
                  <a:rPr lang="zh-CN" altLang="en-US" sz="1600" dirty="0">
                    <a:latin typeface="+mn-ea"/>
                  </a:rPr>
                  <a:t>平均性能的</a:t>
                </a:r>
                <a:r>
                  <a:rPr lang="en-US" altLang="zh-CN" sz="1600" b="1" dirty="0">
                    <a:latin typeface="+mn-ea"/>
                  </a:rPr>
                  <a:t>88.51%</a:t>
                </a:r>
                <a:r>
                  <a:rPr lang="zh-CN" altLang="en-US" sz="1600" b="1" dirty="0">
                    <a:latin typeface="+mn-ea"/>
                  </a:rPr>
                  <a:t>（</a:t>
                </a:r>
                <a:r>
                  <a:rPr lang="en-US" altLang="zh-CN" sz="1600" b="1" dirty="0">
                    <a:latin typeface="+mn-ea"/>
                  </a:rPr>
                  <a:t>80.1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altLang="zh-CN" sz="1600" b="1" dirty="0">
                    <a:latin typeface="+mn-ea"/>
                  </a:rPr>
                  <a:t>90.5</a:t>
                </a:r>
                <a:r>
                  <a:rPr lang="zh-CN" altLang="en-US" sz="1600" b="1" dirty="0">
                    <a:latin typeface="+mn-ea"/>
                  </a:rPr>
                  <a:t>），</a:t>
                </a:r>
                <a:r>
                  <a:rPr lang="zh-CN" altLang="en-US" sz="1600" dirty="0">
                    <a:latin typeface="+mn-ea"/>
                  </a:rPr>
                  <a:t>比</a:t>
                </a:r>
                <a:r>
                  <a:rPr lang="zh-CN" altLang="en-US" sz="1600" b="1" dirty="0">
                    <a:latin typeface="+mn-ea"/>
                  </a:rPr>
                  <a:t>任务向量</a:t>
                </a:r>
                <a:r>
                  <a:rPr lang="zh-CN" altLang="en-US" sz="1600" dirty="0">
                    <a:latin typeface="+mn-ea"/>
                  </a:rPr>
                  <a:t>高</a:t>
                </a:r>
                <a:r>
                  <a:rPr lang="en-US" altLang="zh-CN" sz="1600" b="1" dirty="0">
                    <a:latin typeface="+mn-ea"/>
                  </a:rPr>
                  <a:t>12.16%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A44A386-1FE3-7515-2D7F-5E99C8841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72" y="6234161"/>
                <a:ext cx="11189208" cy="338554"/>
              </a:xfrm>
              <a:prstGeom prst="rect">
                <a:avLst/>
              </a:prstGeom>
              <a:blipFill>
                <a:blip r:embed="rId7"/>
                <a:stretch>
                  <a:fillRect l="-327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51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  <p:bldP spid="14" grpId="0" animBg="1"/>
      <p:bldP spid="16" grpId="0" animBg="1"/>
      <p:bldP spid="17" grpId="0"/>
      <p:bldP spid="21" grpId="0"/>
      <p:bldP spid="22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7DDE6D4-356C-8660-8106-3BD9B3AE3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" y="1262957"/>
            <a:ext cx="11978640" cy="3580746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6B570-1FE5-BB39-BCC3-30F58365CA5E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13/16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3B41DD-4E0F-57B4-B400-A2BEFEA371B3}"/>
              </a:ext>
            </a:extLst>
          </p:cNvPr>
          <p:cNvSpPr txBox="1"/>
          <p:nvPr/>
        </p:nvSpPr>
        <p:spPr>
          <a:xfrm>
            <a:off x="603504" y="769583"/>
            <a:ext cx="382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模型融合结果（</a:t>
            </a:r>
            <a:r>
              <a:rPr lang="en-US" altLang="zh-CN" b="1" dirty="0" err="1">
                <a:solidFill>
                  <a:srgbClr val="268F9C"/>
                </a:solidFill>
                <a:latin typeface="+mn-ea"/>
              </a:rPr>
              <a:t>ViT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-L/14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8FD5DA-18A3-DC6F-C14B-88A84391EEA9}"/>
              </a:ext>
            </a:extLst>
          </p:cNvPr>
          <p:cNvSpPr/>
          <p:nvPr/>
        </p:nvSpPr>
        <p:spPr>
          <a:xfrm>
            <a:off x="193040" y="4269368"/>
            <a:ext cx="11892280" cy="48655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D8B485-9371-B548-CBE9-7E6A82012EA2}"/>
              </a:ext>
            </a:extLst>
          </p:cNvPr>
          <p:cNvSpPr/>
          <p:nvPr/>
        </p:nvSpPr>
        <p:spPr>
          <a:xfrm>
            <a:off x="193040" y="3691742"/>
            <a:ext cx="11892280" cy="24563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215F24-6D19-8EBE-1C36-4C6795D35051}"/>
              </a:ext>
            </a:extLst>
          </p:cNvPr>
          <p:cNvSpPr/>
          <p:nvPr/>
        </p:nvSpPr>
        <p:spPr>
          <a:xfrm>
            <a:off x="193040" y="2106313"/>
            <a:ext cx="11892280" cy="67894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F872B25-8BA3-AEFB-CE47-CB8FF0B55B81}"/>
              </a:ext>
            </a:extLst>
          </p:cNvPr>
          <p:cNvSpPr txBox="1"/>
          <p:nvPr/>
        </p:nvSpPr>
        <p:spPr>
          <a:xfrm>
            <a:off x="271272" y="5094626"/>
            <a:ext cx="74034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传统多任务学习</a:t>
            </a:r>
            <a:r>
              <a:rPr lang="zh-CN" altLang="en-US" sz="1600" dirty="0">
                <a:latin typeface="+mn-ea"/>
              </a:rPr>
              <a:t>是</a:t>
            </a:r>
            <a:r>
              <a:rPr lang="zh-CN" altLang="en-US" sz="1600" b="1" dirty="0">
                <a:latin typeface="+mn-ea"/>
              </a:rPr>
              <a:t>单任务学习</a:t>
            </a:r>
            <a:r>
              <a:rPr lang="zh-CN" altLang="en-US" sz="1600" dirty="0">
                <a:latin typeface="+mn-ea"/>
              </a:rPr>
              <a:t>平均性能的</a:t>
            </a:r>
            <a:r>
              <a:rPr lang="en-US" altLang="zh-CN" sz="1600" b="1" dirty="0">
                <a:latin typeface="+mn-ea"/>
              </a:rPr>
              <a:t>99.25%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328752-8927-5F7F-B2F4-01E77A5691EA}"/>
              </a:ext>
            </a:extLst>
          </p:cNvPr>
          <p:cNvSpPr txBox="1"/>
          <p:nvPr/>
        </p:nvSpPr>
        <p:spPr>
          <a:xfrm>
            <a:off x="271272" y="5506883"/>
            <a:ext cx="9939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简单的任务算术</a:t>
            </a:r>
            <a:r>
              <a:rPr lang="zh-CN" altLang="en-US" sz="1600" dirty="0">
                <a:latin typeface="+mn-ea"/>
              </a:rPr>
              <a:t>是</a:t>
            </a:r>
            <a:r>
              <a:rPr lang="zh-CN" altLang="en-US" sz="1600" b="1" dirty="0">
                <a:latin typeface="+mn-ea"/>
              </a:rPr>
              <a:t>单任务学习</a:t>
            </a:r>
            <a:r>
              <a:rPr lang="zh-CN" altLang="en-US" sz="1600" dirty="0">
                <a:latin typeface="+mn-ea"/>
              </a:rPr>
              <a:t>平均性能的</a:t>
            </a:r>
            <a:r>
              <a:rPr lang="en-US" altLang="zh-CN" sz="1600" b="1" dirty="0">
                <a:latin typeface="+mn-ea"/>
              </a:rPr>
              <a:t>89.70%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dirty="0">
                <a:latin typeface="+mn-ea"/>
              </a:rPr>
              <a:t>比</a:t>
            </a:r>
            <a:r>
              <a:rPr lang="zh-CN" altLang="en-US" sz="1600" b="1" dirty="0">
                <a:latin typeface="+mn-ea"/>
              </a:rPr>
              <a:t>传统多任务学习</a:t>
            </a:r>
            <a:r>
              <a:rPr lang="zh-CN" altLang="en-US" sz="1600" dirty="0">
                <a:latin typeface="+mn-ea"/>
              </a:rPr>
              <a:t>低</a:t>
            </a:r>
            <a:r>
              <a:rPr lang="en-US" altLang="zh-CN" sz="1600" b="1" dirty="0">
                <a:latin typeface="+mn-ea"/>
              </a:rPr>
              <a:t>9.5%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A44A386-1FE3-7515-2D7F-5E99C8841FC5}"/>
              </a:ext>
            </a:extLst>
          </p:cNvPr>
          <p:cNvSpPr txBox="1"/>
          <p:nvPr/>
        </p:nvSpPr>
        <p:spPr>
          <a:xfrm>
            <a:off x="271272" y="5919140"/>
            <a:ext cx="11189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Layer-wise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AdaMerging</a:t>
            </a:r>
            <a:r>
              <a:rPr lang="zh-CN" altLang="en-US" sz="1600" dirty="0">
                <a:latin typeface="+mn-ea"/>
              </a:rPr>
              <a:t>是</a:t>
            </a:r>
            <a:r>
              <a:rPr lang="zh-CN" altLang="en-US" sz="1600" b="1" dirty="0">
                <a:latin typeface="+mn-ea"/>
              </a:rPr>
              <a:t>单任务学习</a:t>
            </a:r>
            <a:r>
              <a:rPr lang="zh-CN" altLang="en-US" sz="1600" dirty="0">
                <a:latin typeface="+mn-ea"/>
              </a:rPr>
              <a:t>平均性能的</a:t>
            </a:r>
            <a:r>
              <a:rPr lang="en-US" altLang="zh-CN" sz="1600" b="1" dirty="0">
                <a:latin typeface="+mn-ea"/>
              </a:rPr>
              <a:t>96.39%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dirty="0">
                <a:latin typeface="+mn-ea"/>
              </a:rPr>
              <a:t>比</a:t>
            </a:r>
            <a:r>
              <a:rPr lang="zh-CN" altLang="en-US" sz="1600" b="1" dirty="0">
                <a:latin typeface="+mn-ea"/>
              </a:rPr>
              <a:t>任务向量</a:t>
            </a:r>
            <a:r>
              <a:rPr lang="zh-CN" altLang="en-US" sz="1600" dirty="0">
                <a:latin typeface="+mn-ea"/>
              </a:rPr>
              <a:t>高</a:t>
            </a:r>
            <a:r>
              <a:rPr lang="en-US" altLang="zh-CN" sz="1600" b="1" dirty="0">
                <a:latin typeface="+mn-ea"/>
              </a:rPr>
              <a:t>6.96%</a:t>
            </a:r>
            <a:r>
              <a:rPr lang="zh-CN" altLang="en-US" sz="1600" dirty="0">
                <a:latin typeface="+mn-ea"/>
              </a:rPr>
              <a:t>，比</a:t>
            </a:r>
            <a:r>
              <a:rPr lang="zh-CN" altLang="en-US" sz="1600" b="1" dirty="0">
                <a:latin typeface="+mn-ea"/>
              </a:rPr>
              <a:t>传统多任务学习</a:t>
            </a:r>
            <a:r>
              <a:rPr lang="zh-CN" altLang="en-US" sz="1600" dirty="0">
                <a:latin typeface="+mn-ea"/>
              </a:rPr>
              <a:t>低</a:t>
            </a:r>
            <a:r>
              <a:rPr lang="en-US" altLang="zh-CN" sz="1600" b="1" dirty="0">
                <a:latin typeface="+mn-ea"/>
              </a:rPr>
              <a:t>2.86%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D41327C-A952-CF8A-368C-C90FCB3C3CFE}"/>
              </a:ext>
            </a:extLst>
          </p:cNvPr>
          <p:cNvSpPr/>
          <p:nvPr/>
        </p:nvSpPr>
        <p:spPr>
          <a:xfrm>
            <a:off x="3749037" y="2563069"/>
            <a:ext cx="4926331" cy="208623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A45AB6-5201-6EE7-2846-C789A829C779}"/>
              </a:ext>
            </a:extLst>
          </p:cNvPr>
          <p:cNvSpPr txBox="1"/>
          <p:nvPr/>
        </p:nvSpPr>
        <p:spPr>
          <a:xfrm>
            <a:off x="4050956" y="2713636"/>
            <a:ext cx="4322493" cy="1785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zh-CN" altLang="en-US" b="1" dirty="0"/>
              <a:t>模型越大，模型融合方法越有效！</a:t>
            </a:r>
            <a:endParaRPr lang="en-US" altLang="zh-CN" b="1" dirty="0"/>
          </a:p>
          <a:p>
            <a:pPr marL="285750" indent="-285750" algn="just">
              <a:spcBef>
                <a:spcPts val="1200"/>
              </a:spcBef>
              <a:buFontTx/>
              <a:buChar char="-"/>
            </a:pPr>
            <a:r>
              <a:rPr lang="zh-CN" altLang="en-US" b="1" dirty="0"/>
              <a:t>参数多，参数子空间更多，</a:t>
            </a:r>
            <a:endParaRPr lang="en-US" altLang="zh-CN" b="1" dirty="0"/>
          </a:p>
          <a:p>
            <a:pPr marL="285750" indent="-285750" algn="just">
              <a:spcBef>
                <a:spcPts val="1200"/>
              </a:spcBef>
              <a:buFontTx/>
              <a:buChar char="-"/>
            </a:pPr>
            <a:r>
              <a:rPr lang="zh-CN" altLang="en-US" b="1" dirty="0"/>
              <a:t>更多的子空间能学习到的特征越丰富，不同的任务向量在子空间冲突的概率越小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322712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  <p:bldP spid="14" grpId="0" animBg="1"/>
      <p:bldP spid="16" grpId="0" animBg="1"/>
      <p:bldP spid="17" grpId="0"/>
      <p:bldP spid="21" grpId="0"/>
      <p:bldP spid="25" grpId="0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6B570-1FE5-BB39-BCC3-30F58365CA5E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14/16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B42592-422D-CBB5-B9C3-C89EF853F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840" y="1004414"/>
            <a:ext cx="7142480" cy="33132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092301-2F64-C19C-EA74-51CE1BE0D5F9}"/>
              </a:ext>
            </a:extLst>
          </p:cNvPr>
          <p:cNvSpPr txBox="1"/>
          <p:nvPr/>
        </p:nvSpPr>
        <p:spPr>
          <a:xfrm>
            <a:off x="603504" y="769583"/>
            <a:ext cx="382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算法效率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CA05B3-0F0B-5F1B-982C-A8B64694ED85}"/>
              </a:ext>
            </a:extLst>
          </p:cNvPr>
          <p:cNvSpPr txBox="1"/>
          <p:nvPr/>
        </p:nvSpPr>
        <p:spPr>
          <a:xfrm>
            <a:off x="1046648" y="4337581"/>
            <a:ext cx="7759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只需要</a:t>
            </a:r>
            <a:r>
              <a:rPr lang="en-US" altLang="zh-CN" sz="1600" b="1" dirty="0">
                <a:latin typeface="+mn-ea"/>
              </a:rPr>
              <a:t>5%</a:t>
            </a:r>
            <a:r>
              <a:rPr lang="zh-CN" altLang="en-US" sz="1600" b="1" dirty="0">
                <a:latin typeface="+mn-ea"/>
              </a:rPr>
              <a:t>的测试数据，就能达到用所有测试数据训练的性能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AB87AA-08DA-3C42-48F0-04A997AE2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36" y="4781005"/>
            <a:ext cx="10963275" cy="14763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A48A420-EA8B-C43A-2271-72C3AB03965D}"/>
              </a:ext>
            </a:extLst>
          </p:cNvPr>
          <p:cNvSpPr txBox="1"/>
          <p:nvPr/>
        </p:nvSpPr>
        <p:spPr>
          <a:xfrm>
            <a:off x="1046648" y="6365392"/>
            <a:ext cx="7759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只需要两小时，就能达到最优的性能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127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6B570-1FE5-BB39-BCC3-30F58365CA5E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15/16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092301-2F64-C19C-EA74-51CE1BE0D5F9}"/>
              </a:ext>
            </a:extLst>
          </p:cNvPr>
          <p:cNvSpPr txBox="1"/>
          <p:nvPr/>
        </p:nvSpPr>
        <p:spPr>
          <a:xfrm>
            <a:off x="603504" y="769583"/>
            <a:ext cx="2820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算法鲁棒性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8EAD249-D4FE-F98E-2113-873176054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792" y="1213007"/>
            <a:ext cx="7288008" cy="507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2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6B570-1FE5-BB39-BCC3-30F58365CA5E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15/16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092301-2F64-C19C-EA74-51CE1BE0D5F9}"/>
              </a:ext>
            </a:extLst>
          </p:cNvPr>
          <p:cNvSpPr txBox="1"/>
          <p:nvPr/>
        </p:nvSpPr>
        <p:spPr>
          <a:xfrm>
            <a:off x="603504" y="769583"/>
            <a:ext cx="2820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算法鲁棒性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6017A0-AAB9-5F36-6E3D-8DF5EFD50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880" y="757362"/>
            <a:ext cx="2179376" cy="15165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FB444C7-CDA1-318F-0006-1E1169B50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61" y="1334452"/>
            <a:ext cx="9877425" cy="43719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21DEE00-486E-35AF-CEF8-80AF21ABD4C9}"/>
              </a:ext>
            </a:extLst>
          </p:cNvPr>
          <p:cNvSpPr txBox="1"/>
          <p:nvPr/>
        </p:nvSpPr>
        <p:spPr>
          <a:xfrm>
            <a:off x="1091021" y="5749863"/>
            <a:ext cx="7759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dirty="0">
                <a:latin typeface="+mn-ea"/>
              </a:rPr>
              <a:t>无论在何种数据损坏的情况下，</a:t>
            </a:r>
            <a:r>
              <a:rPr lang="en-US" altLang="zh-CN" sz="1600" b="1" dirty="0" err="1">
                <a:latin typeface="+mn-ea"/>
              </a:rPr>
              <a:t>AdaMerging</a:t>
            </a:r>
            <a:r>
              <a:rPr lang="zh-CN" altLang="en-US" sz="1600" b="1" dirty="0">
                <a:latin typeface="+mn-ea"/>
              </a:rPr>
              <a:t>都优于</a:t>
            </a:r>
            <a:r>
              <a:rPr lang="en-US" altLang="zh-CN" sz="1600" b="1" dirty="0">
                <a:latin typeface="+mn-ea"/>
              </a:rPr>
              <a:t>Task Arithmetic</a:t>
            </a:r>
          </a:p>
        </p:txBody>
      </p:sp>
    </p:spTree>
    <p:extLst>
      <p:ext uri="{BB962C8B-B14F-4D97-AF65-F5344CB8AC3E}">
        <p14:creationId xmlns:p14="http://schemas.microsoft.com/office/powerpoint/2010/main" val="3647284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6B570-1FE5-BB39-BCC3-30F58365CA5E}"/>
              </a:ext>
            </a:extLst>
          </p:cNvPr>
          <p:cNvSpPr txBox="1"/>
          <p:nvPr/>
        </p:nvSpPr>
        <p:spPr>
          <a:xfrm>
            <a:off x="10907486" y="6449406"/>
            <a:ext cx="9531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16/16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092301-2F64-C19C-EA74-51CE1BE0D5F9}"/>
              </a:ext>
            </a:extLst>
          </p:cNvPr>
          <p:cNvSpPr txBox="1"/>
          <p:nvPr/>
        </p:nvSpPr>
        <p:spPr>
          <a:xfrm>
            <a:off x="603504" y="769583"/>
            <a:ext cx="3592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权重系数分析（</a:t>
            </a:r>
            <a:r>
              <a:rPr lang="en-US" altLang="zh-CN" b="1" dirty="0" err="1">
                <a:solidFill>
                  <a:srgbClr val="268F9C"/>
                </a:solidFill>
                <a:latin typeface="+mn-ea"/>
              </a:rPr>
              <a:t>ViT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-L/14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96B5D1-7DA6-5BD6-A63F-E6148BC81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27" y="1332361"/>
            <a:ext cx="11743745" cy="380859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C6FC21E-A310-5038-EBB7-54C22AE39E8C}"/>
              </a:ext>
            </a:extLst>
          </p:cNvPr>
          <p:cNvSpPr txBox="1"/>
          <p:nvPr/>
        </p:nvSpPr>
        <p:spPr>
          <a:xfrm>
            <a:off x="948780" y="5073516"/>
            <a:ext cx="7759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dirty="0">
                <a:latin typeface="+mn-ea"/>
              </a:rPr>
              <a:t>越靠近</a:t>
            </a:r>
            <a:r>
              <a:rPr lang="zh-CN" altLang="en-US" sz="1600" b="1" dirty="0">
                <a:latin typeface="+mn-ea"/>
              </a:rPr>
              <a:t>输入层，</a:t>
            </a:r>
            <a:r>
              <a:rPr lang="zh-CN" altLang="en-US" sz="1600" dirty="0">
                <a:latin typeface="+mn-ea"/>
              </a:rPr>
              <a:t>所学习到的</a:t>
            </a:r>
            <a:r>
              <a:rPr lang="zh-CN" altLang="en-US" sz="1600" b="1" dirty="0">
                <a:latin typeface="+mn-ea"/>
              </a:rPr>
              <a:t>权重系数越小，</a:t>
            </a:r>
            <a:r>
              <a:rPr lang="zh-CN" altLang="en-US" sz="1600" dirty="0">
                <a:latin typeface="+mn-ea"/>
              </a:rPr>
              <a:t>说明模型更依赖于</a:t>
            </a:r>
            <a:r>
              <a:rPr lang="zh-CN" altLang="en-US" sz="1600" b="1" dirty="0">
                <a:latin typeface="+mn-ea"/>
              </a:rPr>
              <a:t>预训练模型参数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771F8E-E4FC-5B4B-F310-C161C55C9074}"/>
              </a:ext>
            </a:extLst>
          </p:cNvPr>
          <p:cNvSpPr txBox="1"/>
          <p:nvPr/>
        </p:nvSpPr>
        <p:spPr>
          <a:xfrm>
            <a:off x="948780" y="5573581"/>
            <a:ext cx="79920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dirty="0">
                <a:latin typeface="+mn-ea"/>
              </a:rPr>
              <a:t>越靠近</a:t>
            </a:r>
            <a:r>
              <a:rPr lang="zh-CN" altLang="en-US" sz="1600" b="1" dirty="0">
                <a:latin typeface="+mn-ea"/>
              </a:rPr>
              <a:t>输出层，</a:t>
            </a:r>
            <a:r>
              <a:rPr lang="zh-CN" altLang="en-US" sz="1600" dirty="0">
                <a:latin typeface="+mn-ea"/>
              </a:rPr>
              <a:t>所学习到的</a:t>
            </a:r>
            <a:r>
              <a:rPr lang="zh-CN" altLang="en-US" sz="1600" b="1" dirty="0">
                <a:latin typeface="+mn-ea"/>
              </a:rPr>
              <a:t>权重系数越大，</a:t>
            </a:r>
            <a:r>
              <a:rPr lang="zh-CN" altLang="en-US" sz="1600" dirty="0">
                <a:latin typeface="+mn-ea"/>
              </a:rPr>
              <a:t>说明模型更依赖于</a:t>
            </a:r>
            <a:r>
              <a:rPr lang="zh-CN" altLang="en-US" sz="1600" b="1" dirty="0">
                <a:latin typeface="+mn-ea"/>
              </a:rPr>
              <a:t>任务向量对应的参数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E5F4F2-0A0A-5D57-4B09-0C349B7B508D}"/>
              </a:ext>
            </a:extLst>
          </p:cNvPr>
          <p:cNvSpPr txBox="1"/>
          <p:nvPr/>
        </p:nvSpPr>
        <p:spPr>
          <a:xfrm>
            <a:off x="948780" y="6073646"/>
            <a:ext cx="79920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dirty="0">
                <a:latin typeface="+mn-ea"/>
              </a:rPr>
              <a:t>原因为浅层通常提取通用特征，深层通常提取与任务相关的高级语义特征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66872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456034"/>
            <a:ext cx="3696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谢谢倾听</a:t>
            </a:r>
            <a:endParaRPr lang="en-US" altLang="zh-CN" sz="3600" dirty="0">
              <a:latin typeface="Lato" panose="020F0502020204030203" pitchFamily="34" charset="0"/>
              <a:ea typeface="+mj-ea"/>
            </a:endParaRPr>
          </a:p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请大家批评指正</a:t>
            </a:r>
            <a:endParaRPr lang="en-US" altLang="zh-CN" sz="3600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2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烟灰色玻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8483</TotalTime>
  <Words>1496</Words>
  <Application>Microsoft Office PowerPoint</Application>
  <PresentationFormat>宽屏</PresentationFormat>
  <Paragraphs>309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-apple-system</vt:lpstr>
      <vt:lpstr>等线</vt:lpstr>
      <vt:lpstr>微软雅黑</vt:lpstr>
      <vt:lpstr>Arial</vt:lpstr>
      <vt:lpstr>Calibri</vt:lpstr>
      <vt:lpstr>Cambria Math</vt:lpstr>
      <vt:lpstr>Lato</vt:lpstr>
      <vt:lpstr>Wingdings</vt:lpstr>
      <vt:lpstr>夏雨家 https://xnwe.taobao.com/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777</cp:revision>
  <dcterms:created xsi:type="dcterms:W3CDTF">2024-11-06T01:21:23Z</dcterms:created>
  <dcterms:modified xsi:type="dcterms:W3CDTF">2024-12-29T12:58:11Z</dcterms:modified>
</cp:coreProperties>
</file>