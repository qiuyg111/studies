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8"/>
  </p:notesMasterIdLst>
  <p:sldIdLst>
    <p:sldId id="321" r:id="rId3"/>
    <p:sldId id="257" r:id="rId4"/>
    <p:sldId id="256" r:id="rId5"/>
    <p:sldId id="314" r:id="rId6"/>
    <p:sldId id="366" r:id="rId7"/>
    <p:sldId id="323" r:id="rId8"/>
    <p:sldId id="322" r:id="rId9"/>
    <p:sldId id="324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92" r:id="rId22"/>
    <p:sldId id="393" r:id="rId23"/>
    <p:sldId id="380" r:id="rId24"/>
    <p:sldId id="379" r:id="rId25"/>
    <p:sldId id="381" r:id="rId26"/>
    <p:sldId id="382" r:id="rId27"/>
    <p:sldId id="383" r:id="rId28"/>
    <p:sldId id="384" r:id="rId29"/>
    <p:sldId id="386" r:id="rId30"/>
    <p:sldId id="385" r:id="rId31"/>
    <p:sldId id="387" r:id="rId32"/>
    <p:sldId id="388" r:id="rId33"/>
    <p:sldId id="389" r:id="rId34"/>
    <p:sldId id="390" r:id="rId35"/>
    <p:sldId id="391" r:id="rId36"/>
    <p:sldId id="365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D5E7"/>
    <a:srgbClr val="9D7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0" autoAdjust="0"/>
    <p:restoredTop sz="79082" autoAdjust="0"/>
  </p:normalViewPr>
  <p:slideViewPr>
    <p:cSldViewPr snapToGrid="0">
      <p:cViewPr varScale="1">
        <p:scale>
          <a:sx n="67" d="100"/>
          <a:sy n="67" d="100"/>
        </p:scale>
        <p:origin x="874" y="48"/>
      </p:cViewPr>
      <p:guideLst/>
    </p:cSldViewPr>
  </p:slideViewPr>
  <p:outlineViewPr>
    <p:cViewPr>
      <p:scale>
        <a:sx n="33" d="100"/>
        <a:sy n="33" d="100"/>
      </p:scale>
      <p:origin x="0" y="-4037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6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26F91-231C-F436-C0FF-E58C781D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D1F1DF-3D58-0A8D-7DE3-DEF525B1C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228F2C-DAFE-AB42-D8B1-DBCDF4901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9026B6-BDB9-0760-E274-F89F90DA5F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857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91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170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zh-CN" altLang="en-US" b="0" i="0" dirty="0">
                <a:effectLst/>
                <a:latin typeface="-apple-system"/>
              </a:rPr>
              <a:t>首先是线性微调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033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999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710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理解漏洞检测、</a:t>
            </a:r>
            <a:r>
              <a:rPr lang="en-US" altLang="zh-CN" dirty="0"/>
              <a:t>clone </a:t>
            </a:r>
            <a:r>
              <a:rPr lang="zh-CN" altLang="en-US"/>
              <a:t>检测、代码搜索和生成（代码生成，摘要生成）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472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122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02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203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20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034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596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19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031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1912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181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2456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611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6494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3800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32974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411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0805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8553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3429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0304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0953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344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3563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8654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2711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67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6C215-5202-13EF-42AF-A0A9C951B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F25953-F854-3CD5-858F-C403A54C6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47CF4D-D227-4B53-3391-D2EE2F96C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DA3839-6774-2743-E5EA-9FE66A55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79D8E2-AAB5-1158-68F9-129C6067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697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7F8B6-EF5E-7934-C1E4-A170A981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2BBDC9-CD9A-4614-2BB8-9B442CB9B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CE65A1-2640-87E1-6EB5-A47EB983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0C6186-A309-071F-9D6D-3A956870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CFF29-6BC1-ED68-4080-CB5AA1DB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612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4A8A0-1C9E-1896-9FCD-2228FA28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2C4BEF-03A3-1BD6-822E-384F165A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3B2A3A-7985-39D8-49FC-B62A7723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F9F086-CD04-1AE0-6D3F-D5BE192F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1FFDE6-2600-2037-E72F-8E17B205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979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468E1-6F43-A9CF-30BA-2718FFACB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465BEE-FE2C-D652-388D-1D349568A4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CCE943-5841-70FA-0127-E2515ABD3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273E1B-E403-0995-1C40-F136149D1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CB5688-EA6E-BFE9-25A7-431578DD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2BD814-18D9-6ED2-D8D4-C3D2590E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69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22F2A-1C5E-AC1A-E47B-F6F3358D7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7D888B-5DDB-DE4F-6F66-779FF090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C8609A-2D41-8C7E-C29E-B618DAA02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1D8510-90A9-77E1-20F8-74CC6B692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5A3A84-BDF0-5868-14A0-123D8495A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AAE97F-7764-CE07-15D0-3F629A399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966376-ADEF-856D-28FD-BEA510D9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82E1F6-0CBB-5892-58E1-4FFA666C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850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CE427-E94B-E359-C2B3-38E71F2F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0E0A5D-509E-0A83-4401-8D888DDC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AD27F2-B936-C9B9-023A-F1711C86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C15ECA-C57F-3BB2-0C61-2BD7027EB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0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DF4F3B-DD6F-4055-AA1C-E21523BE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8F76B1-CE70-E77E-698D-201AA3126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B93997-E13F-71AB-B43C-A3014081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745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66521-7A95-9550-7ADC-591C6439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86AA5-5C7E-F91A-0812-3FEEC9B16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3F7B44-0CA6-CC8D-A3F3-A092A3959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517518-CEB5-1A5F-6430-5DC4CF64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ADE44D-6CD3-6BCE-FEF1-7ADC1E19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8E2461-ABB5-405A-2F5C-340B38F8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967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FDE62-04AD-97E0-68A0-C8FD7131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533CE6-5D41-B1B5-1165-1B299E936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EB6630-1035-3B11-A235-1FDCF8FBF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A3E1FF-AC45-4937-186D-1234C097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D95A55-CDF0-4783-AA3F-8AB9BC18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870F37-CCFA-9E32-629E-FE525C7B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583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209F4-05C9-79A3-7870-EDF81E45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4534E5-D9E3-D03D-DBAE-DA7E7BC59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4C496E-ABF1-C3BE-08D0-D809AE01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B8BE24-5954-0F53-E5B1-2C37148E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38BA0D-929C-4CDB-00FC-FF054581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748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C75FAC-FF1C-4599-197D-AC0B0C755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CD6CB0-A85A-9CBD-A31C-311703EA2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83493A-F9C0-FFDC-DECA-48197F6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634631-F2A8-9A24-1307-F9BDBB1D0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A83160-A335-69E1-4DF0-491967907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048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5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8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78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927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298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4917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5609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0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  <a:t>2024/11/30</a:t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/>
              <a:t>‹#›</a:t>
            </a:fld>
            <a:endParaRPr lang="zh-CN" alt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371256-C293-7018-0C27-1E50A372C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476A28-6FBE-7B70-91CE-7E7019C5D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C265EC-9F55-4D20-01A4-3A78E6243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C5532-29E1-4962-B89A-5E66037076ED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8AB6A4-366B-213A-A843-66A51A55F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81CC7A-9C06-0FA2-1880-EEE90A223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36419-CD13-42A3-8088-E2C6F1FBB0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77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6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8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3799-56BC-1721-CCC5-4F9C8AE2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5025EA-C510-B2D4-9C13-987D7341752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>
            <a:extLst>
              <a:ext uri="{FF2B5EF4-FFF2-40B4-BE49-F238E27FC236}">
                <a16:creationId xmlns:a16="http://schemas.microsoft.com/office/drawing/2014/main" id="{694C5BD6-8148-1792-B20E-178C398FED9E}"/>
              </a:ext>
            </a:extLst>
          </p:cNvPr>
          <p:cNvSpPr txBox="1"/>
          <p:nvPr/>
        </p:nvSpPr>
        <p:spPr>
          <a:xfrm>
            <a:off x="5142583" y="2614328"/>
            <a:ext cx="7303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3600" b="1" dirty="0">
                <a:latin typeface="+mj-ea"/>
                <a:ea typeface="+mj-ea"/>
              </a:rPr>
              <a:t>模型融合</a:t>
            </a:r>
            <a:r>
              <a:rPr lang="en-US" altLang="zh-CN" sz="3600" b="1" dirty="0">
                <a:latin typeface="+mj-ea"/>
                <a:ea typeface="+mj-ea"/>
              </a:rPr>
              <a:t>During Merge</a:t>
            </a:r>
            <a:r>
              <a:rPr lang="zh-CN" altLang="en-US" sz="3600" b="1" dirty="0">
                <a:latin typeface="+mj-ea"/>
                <a:ea typeface="+mj-ea"/>
              </a:rPr>
              <a:t>方法</a:t>
            </a:r>
            <a:endParaRPr lang="en-US" altLang="zh-CN" sz="3600" b="1" dirty="0">
              <a:latin typeface="+mj-ea"/>
              <a:ea typeface="+mj-ea"/>
            </a:endParaRPr>
          </a:p>
          <a:p>
            <a:pPr lvl="0" algn="ctr">
              <a:defRPr/>
            </a:pPr>
            <a:r>
              <a:rPr lang="zh-CN" altLang="en-US" sz="3600" b="1" dirty="0">
                <a:latin typeface="+mj-ea"/>
                <a:ea typeface="+mj-ea"/>
              </a:rPr>
              <a:t>论文阅读报告</a:t>
            </a:r>
            <a:endParaRPr lang="en-US" altLang="zh-CN" sz="3600" b="1" dirty="0">
              <a:latin typeface="+mj-ea"/>
              <a:ea typeface="+mj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B8DEA75-CB92-6935-D189-F116DC0F2751}"/>
              </a:ext>
            </a:extLst>
          </p:cNvPr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812DCD59-2A21-127E-C6E0-4E2B48A8974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4993C0E4-5FE3-EA5B-77E1-1D46E5597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CA545872-B65F-8A97-AD68-8C70E834D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99D65965-C08B-10F7-FB64-9DC268D0D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>
              <a:extLst>
                <a:ext uri="{FF2B5EF4-FFF2-40B4-BE49-F238E27FC236}">
                  <a16:creationId xmlns:a16="http://schemas.microsoft.com/office/drawing/2014/main" id="{1F0A4445-FDE3-E1E2-56D7-E77F52D77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E30BEF5-6F88-B6EF-BF9F-72DC6400D0B7}"/>
              </a:ext>
            </a:extLst>
          </p:cNvPr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30ED5BA2-C969-03E4-27A7-904798C32DE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>
              <a:extLst>
                <a:ext uri="{FF2B5EF4-FFF2-40B4-BE49-F238E27FC236}">
                  <a16:creationId xmlns:a16="http://schemas.microsoft.com/office/drawing/2014/main" id="{18A32CC3-BBDE-D027-B752-8CB2D9E2A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8B4535-F665-2746-CDE3-E0BF1E937588}"/>
              </a:ext>
            </a:extLst>
          </p:cNvPr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>
              <a:extLst>
                <a:ext uri="{FF2B5EF4-FFF2-40B4-BE49-F238E27FC236}">
                  <a16:creationId xmlns:a16="http://schemas.microsoft.com/office/drawing/2014/main" id="{DBAC8F9C-E557-FA06-87A2-CD40B2A2AD0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>
              <a:extLst>
                <a:ext uri="{FF2B5EF4-FFF2-40B4-BE49-F238E27FC236}">
                  <a16:creationId xmlns:a16="http://schemas.microsoft.com/office/drawing/2014/main" id="{59F087C0-842E-A639-490E-37B33ECAB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16DA54DC-66B0-A798-8AE4-642BB1738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E6429012-747F-9029-BB8A-2C7314774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879C25E2-714F-3416-0177-C171B2235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4B35CFD7-5269-55D3-183F-BDC4DE488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BED9CF6D-BED0-8A95-BB97-3A5486158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74A73CB8-C9BF-A1A8-B2CF-A4A9B8401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36D3CD9D-AC8C-EB4A-E701-06BBC001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E60FB2C9-8CD1-C67F-309C-B67BD5230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1FEC72C5-4A8B-A3C8-16B3-EEDDAFE82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>
            <a:extLst>
              <a:ext uri="{FF2B5EF4-FFF2-40B4-BE49-F238E27FC236}">
                <a16:creationId xmlns:a16="http://schemas.microsoft.com/office/drawing/2014/main" id="{6797AD06-53C4-8BC3-1136-48D01A5E6ADD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>
            <a:extLst>
              <a:ext uri="{FF2B5EF4-FFF2-40B4-BE49-F238E27FC236}">
                <a16:creationId xmlns:a16="http://schemas.microsoft.com/office/drawing/2014/main" id="{BEC44DA7-8778-505C-C233-98FF112E3044}"/>
              </a:ext>
            </a:extLst>
          </p:cNvPr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2" name="TextBox 84">
            <a:extLst>
              <a:ext uri="{FF2B5EF4-FFF2-40B4-BE49-F238E27FC236}">
                <a16:creationId xmlns:a16="http://schemas.microsoft.com/office/drawing/2014/main" id="{42674401-C06A-9652-9E0F-B10545C3FA80}"/>
              </a:ext>
            </a:extLst>
          </p:cNvPr>
          <p:cNvSpPr txBox="1"/>
          <p:nvPr/>
        </p:nvSpPr>
        <p:spPr>
          <a:xfrm>
            <a:off x="6908794" y="4881983"/>
            <a:ext cx="3615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汇报人：邱盈钢    日期：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69664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>
            <a:cxnSpLocks noChangeShapeType="1"/>
          </p:cNvCxnSpPr>
          <p:nvPr/>
        </p:nvCxnSpPr>
        <p:spPr bwMode="auto">
          <a:xfrm>
            <a:off x="538563" y="2433326"/>
            <a:ext cx="1104763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2496508" y="1581855"/>
            <a:ext cx="1559580" cy="748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2A566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</a:p>
        </p:txBody>
      </p:sp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1141350" y="1761447"/>
            <a:ext cx="1882892" cy="4613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A566E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2A566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763" y="1570259"/>
            <a:ext cx="534802" cy="53480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C056637-90A2-0C27-BBD9-6EFEAD7640DD}"/>
              </a:ext>
            </a:extLst>
          </p:cNvPr>
          <p:cNvGrpSpPr/>
          <p:nvPr/>
        </p:nvGrpSpPr>
        <p:grpSpPr>
          <a:xfrm>
            <a:off x="2436937" y="3167182"/>
            <a:ext cx="731025" cy="729103"/>
            <a:chOff x="2436937" y="3175425"/>
            <a:chExt cx="731025" cy="729103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2436937" y="3175425"/>
              <a:ext cx="723330" cy="7214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2436937" y="3175426"/>
              <a:ext cx="731025" cy="729102"/>
            </a:xfrm>
            <a:prstGeom prst="ellipse">
              <a:avLst/>
            </a:pr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2508862" y="3247348"/>
              <a:ext cx="602133" cy="60020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9" name="TextBox 14"/>
            <p:cNvSpPr txBox="1">
              <a:spLocks noChangeArrowheads="1"/>
            </p:cNvSpPr>
            <p:nvPr/>
          </p:nvSpPr>
          <p:spPr bwMode="auto">
            <a:xfrm>
              <a:off x="2614630" y="3264273"/>
              <a:ext cx="443287" cy="5844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3300170" y="3247589"/>
            <a:ext cx="3212844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融合中方法概述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30156E4-1C19-8C80-A404-B9F62E7A89E0}"/>
              </a:ext>
            </a:extLst>
          </p:cNvPr>
          <p:cNvGrpSpPr/>
          <p:nvPr/>
        </p:nvGrpSpPr>
        <p:grpSpPr>
          <a:xfrm>
            <a:off x="2436937" y="4427277"/>
            <a:ext cx="731025" cy="729103"/>
            <a:chOff x="2461213" y="4672959"/>
            <a:chExt cx="731025" cy="729103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/>
          </p:nvSpPr>
          <p:spPr bwMode="auto">
            <a:xfrm>
              <a:off x="2461213" y="4672959"/>
              <a:ext cx="723330" cy="7214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2" name="Oval 5"/>
            <p:cNvSpPr>
              <a:spLocks noChangeArrowheads="1"/>
            </p:cNvSpPr>
            <p:nvPr/>
          </p:nvSpPr>
          <p:spPr bwMode="auto">
            <a:xfrm>
              <a:off x="2461213" y="4672960"/>
              <a:ext cx="731025" cy="729102"/>
            </a:xfrm>
            <a:prstGeom prst="ellipse">
              <a:avLst/>
            </a:pr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3" name="Oval 6"/>
            <p:cNvSpPr>
              <a:spLocks noChangeArrowheads="1"/>
            </p:cNvSpPr>
            <p:nvPr/>
          </p:nvSpPr>
          <p:spPr bwMode="auto">
            <a:xfrm>
              <a:off x="2533138" y="4744882"/>
              <a:ext cx="602133" cy="60020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4" name="TextBox 19"/>
            <p:cNvSpPr txBox="1">
              <a:spLocks noChangeArrowheads="1"/>
            </p:cNvSpPr>
            <p:nvPr/>
          </p:nvSpPr>
          <p:spPr bwMode="auto">
            <a:xfrm>
              <a:off x="2604810" y="4761808"/>
              <a:ext cx="443287" cy="5844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5" name="TextBox 20"/>
          <p:cNvSpPr txBox="1">
            <a:spLocks noChangeArrowheads="1"/>
          </p:cNvSpPr>
          <p:nvPr/>
        </p:nvSpPr>
        <p:spPr bwMode="auto">
          <a:xfrm>
            <a:off x="3300169" y="4499441"/>
            <a:ext cx="3335605" cy="10772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基于子空间的融合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5E51B17-BA25-4FCC-88F0-584EABBDE948}"/>
              </a:ext>
            </a:extLst>
          </p:cNvPr>
          <p:cNvGrpSpPr/>
          <p:nvPr/>
        </p:nvGrpSpPr>
        <p:grpSpPr>
          <a:xfrm>
            <a:off x="6649459" y="3167182"/>
            <a:ext cx="731025" cy="729103"/>
            <a:chOff x="6649459" y="3167182"/>
            <a:chExt cx="731025" cy="729103"/>
          </a:xfrm>
        </p:grpSpPr>
        <p:sp>
          <p:nvSpPr>
            <p:cNvPr id="16" name="AutoShape 3"/>
            <p:cNvSpPr>
              <a:spLocks noChangeAspect="1" noChangeArrowheads="1" noTextEdit="1"/>
            </p:cNvSpPr>
            <p:nvPr/>
          </p:nvSpPr>
          <p:spPr bwMode="auto">
            <a:xfrm>
              <a:off x="6649460" y="3167183"/>
              <a:ext cx="723330" cy="7214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7" name="Oval 5"/>
            <p:cNvSpPr>
              <a:spLocks noChangeArrowheads="1"/>
            </p:cNvSpPr>
            <p:nvPr/>
          </p:nvSpPr>
          <p:spPr bwMode="auto">
            <a:xfrm>
              <a:off x="6649459" y="3167182"/>
              <a:ext cx="731025" cy="729103"/>
            </a:xfrm>
            <a:prstGeom prst="ellipse">
              <a:avLst/>
            </a:pr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6721384" y="3239103"/>
              <a:ext cx="602133" cy="60020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9" name="TextBox 24"/>
            <p:cNvSpPr txBox="1">
              <a:spLocks noChangeArrowheads="1"/>
            </p:cNvSpPr>
            <p:nvPr/>
          </p:nvSpPr>
          <p:spPr bwMode="auto">
            <a:xfrm>
              <a:off x="6793057" y="3258144"/>
              <a:ext cx="443287" cy="5844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0" name="TextBox 25"/>
          <p:cNvSpPr txBox="1">
            <a:spLocks noChangeArrowheads="1"/>
          </p:cNvSpPr>
          <p:nvPr/>
        </p:nvSpPr>
        <p:spPr bwMode="auto">
          <a:xfrm>
            <a:off x="7514646" y="3247589"/>
            <a:ext cx="3092394" cy="10772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基于权重系数的融合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A8F926A-5AB9-A68A-2FA7-0FD6C0776870}"/>
              </a:ext>
            </a:extLst>
          </p:cNvPr>
          <p:cNvGrpSpPr/>
          <p:nvPr/>
        </p:nvGrpSpPr>
        <p:grpSpPr>
          <a:xfrm>
            <a:off x="6673735" y="4427277"/>
            <a:ext cx="731025" cy="729102"/>
            <a:chOff x="6673735" y="4703228"/>
            <a:chExt cx="731025" cy="729102"/>
          </a:xfrm>
        </p:grpSpPr>
        <p:sp>
          <p:nvSpPr>
            <p:cNvPr id="21" name="Oval 5"/>
            <p:cNvSpPr>
              <a:spLocks noChangeArrowheads="1"/>
            </p:cNvSpPr>
            <p:nvPr/>
          </p:nvSpPr>
          <p:spPr bwMode="auto">
            <a:xfrm>
              <a:off x="6673735" y="4703228"/>
              <a:ext cx="731025" cy="729102"/>
            </a:xfrm>
            <a:prstGeom prst="ellipse">
              <a:avLst/>
            </a:pr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2" name="Oval 6"/>
            <p:cNvSpPr>
              <a:spLocks noChangeArrowheads="1"/>
            </p:cNvSpPr>
            <p:nvPr/>
          </p:nvSpPr>
          <p:spPr bwMode="auto">
            <a:xfrm>
              <a:off x="6745660" y="4766696"/>
              <a:ext cx="602133" cy="60020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3" name="TextBox 29"/>
            <p:cNvSpPr txBox="1">
              <a:spLocks noChangeArrowheads="1"/>
            </p:cNvSpPr>
            <p:nvPr/>
          </p:nvSpPr>
          <p:spPr bwMode="auto">
            <a:xfrm>
              <a:off x="6817333" y="4760192"/>
              <a:ext cx="443287" cy="5844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4" name="TextBox 30"/>
          <p:cNvSpPr txBox="1">
            <a:spLocks noChangeArrowheads="1"/>
          </p:cNvSpPr>
          <p:nvPr/>
        </p:nvSpPr>
        <p:spPr bwMode="auto">
          <a:xfrm>
            <a:off x="7514646" y="4499441"/>
            <a:ext cx="3183834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基于路由的融合</a:t>
            </a: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516407" y="2314882"/>
            <a:ext cx="534802" cy="14392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4EBDA05-530F-41D7-A177-04D2214870F6}"/>
              </a:ext>
            </a:extLst>
          </p:cNvPr>
          <p:cNvGrpSpPr/>
          <p:nvPr/>
        </p:nvGrpSpPr>
        <p:grpSpPr>
          <a:xfrm>
            <a:off x="2436937" y="5679129"/>
            <a:ext cx="731025" cy="729102"/>
            <a:chOff x="2461213" y="5679129"/>
            <a:chExt cx="731025" cy="729102"/>
          </a:xfrm>
        </p:grpSpPr>
        <p:sp>
          <p:nvSpPr>
            <p:cNvPr id="26" name="AutoShape 3">
              <a:extLst>
                <a:ext uri="{FF2B5EF4-FFF2-40B4-BE49-F238E27FC236}">
                  <a16:creationId xmlns:a16="http://schemas.microsoft.com/office/drawing/2014/main" id="{1A0D5EF0-44DD-FC3A-5739-20B1995806E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461213" y="5682978"/>
              <a:ext cx="723330" cy="7214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7" name="Oval 5">
              <a:extLst>
                <a:ext uri="{FF2B5EF4-FFF2-40B4-BE49-F238E27FC236}">
                  <a16:creationId xmlns:a16="http://schemas.microsoft.com/office/drawing/2014/main" id="{3285C52B-9687-1149-D352-F58C8387A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213" y="5679129"/>
              <a:ext cx="731025" cy="729102"/>
            </a:xfrm>
            <a:prstGeom prst="ellipse">
              <a:avLst/>
            </a:prstGeom>
            <a:solidFill>
              <a:schemeClr val="bg2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8" name="Oval 6">
              <a:extLst>
                <a:ext uri="{FF2B5EF4-FFF2-40B4-BE49-F238E27FC236}">
                  <a16:creationId xmlns:a16="http://schemas.microsoft.com/office/drawing/2014/main" id="{FAF23AA8-2BB5-2E25-3ACB-ACE427E5B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3138" y="5743576"/>
              <a:ext cx="602133" cy="60020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9" name="TextBox 19">
              <a:extLst>
                <a:ext uri="{FF2B5EF4-FFF2-40B4-BE49-F238E27FC236}">
                  <a16:creationId xmlns:a16="http://schemas.microsoft.com/office/drawing/2014/main" id="{A7F5EE2F-BDC9-4BA6-4EEB-FE310BB49D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4810" y="5751453"/>
              <a:ext cx="443287" cy="5844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200" noProof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4" name="TextBox 20">
            <a:extLst>
              <a:ext uri="{FF2B5EF4-FFF2-40B4-BE49-F238E27FC236}">
                <a16:creationId xmlns:a16="http://schemas.microsoft.com/office/drawing/2014/main" id="{786728F9-1CE5-68CE-B5B2-07E1C3F55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0170" y="5751293"/>
            <a:ext cx="1490906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noProof="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/>
          <p:cNvSpPr txBox="1"/>
          <p:nvPr/>
        </p:nvSpPr>
        <p:spPr>
          <a:xfrm>
            <a:off x="4633624" y="2857716"/>
            <a:ext cx="7680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600" dirty="0">
                <a:latin typeface="Lato" panose="020F0502020204030203" pitchFamily="34" charset="0"/>
              </a:rPr>
              <a:t>1.</a:t>
            </a:r>
            <a:r>
              <a:rPr lang="zh-CN" altLang="en-US" sz="3600" dirty="0">
                <a:latin typeface="Lato" panose="020F0502020204030203" pitchFamily="34" charset="0"/>
              </a:rPr>
              <a:t>融合中方法概述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741065" y="3837410"/>
            <a:ext cx="5863771" cy="57767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融合中方法概述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18E477-A31D-8C7D-8472-4719E826BDD8}"/>
              </a:ext>
            </a:extLst>
          </p:cNvPr>
          <p:cNvSpPr txBox="1"/>
          <p:nvPr/>
        </p:nvSpPr>
        <p:spPr>
          <a:xfrm>
            <a:off x="718738" y="822376"/>
            <a:ext cx="11385632" cy="9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268F9C"/>
                </a:solidFill>
                <a:latin typeface="+mn-ea"/>
              </a:rPr>
              <a:t>方法主要分类</a:t>
            </a:r>
            <a:endParaRPr lang="en-US" altLang="zh-CN" sz="2000" dirty="0">
              <a:solidFill>
                <a:srgbClr val="191B1F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基础方法</a:t>
            </a:r>
            <a:r>
              <a:rPr lang="zh-CN" altLang="en-US" b="1" i="0" dirty="0">
                <a:solidFill>
                  <a:schemeClr val="accent1"/>
                </a:solidFill>
                <a:effectLst/>
                <a:latin typeface="+mn-ea"/>
              </a:rPr>
              <a:t>：</a:t>
            </a:r>
            <a:r>
              <a:rPr lang="zh-CN" altLang="en-US" i="0" dirty="0">
                <a:effectLst/>
                <a:latin typeface="+mn-ea"/>
              </a:rPr>
              <a:t>任务算术（</a:t>
            </a:r>
            <a:r>
              <a:rPr lang="en-US" altLang="zh-CN" i="0" dirty="0">
                <a:effectLst/>
                <a:latin typeface="+mn-ea"/>
              </a:rPr>
              <a:t>task arithmetic</a:t>
            </a:r>
            <a:r>
              <a:rPr lang="zh-CN" altLang="en-US" i="0" dirty="0">
                <a:effectLst/>
                <a:latin typeface="+mn-ea"/>
              </a:rPr>
              <a:t>），直接将任务向量进行相加，每个任务向量具有相同的缩放系数</a:t>
            </a:r>
            <a:endParaRPr lang="en-US" altLang="zh-CN" i="0" dirty="0">
              <a:effectLst/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72F32D-5A5E-BFDC-54C6-C4F11141543E}"/>
              </a:ext>
            </a:extLst>
          </p:cNvPr>
          <p:cNvSpPr txBox="1"/>
          <p:nvPr/>
        </p:nvSpPr>
        <p:spPr>
          <a:xfrm>
            <a:off x="718738" y="2936684"/>
            <a:ext cx="971685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基于权重系数的融合：</a:t>
            </a:r>
            <a:r>
              <a:rPr lang="zh-CN" altLang="en-US" dirty="0">
                <a:latin typeface="+mn-ea"/>
              </a:rPr>
              <a:t>寻找每个任务向量最优的权重系数，然后将任务向量进行加权平均</a:t>
            </a:r>
            <a:endParaRPr lang="en-US" altLang="zh-CN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8CC095B-FCCB-C02B-6B93-7523EF116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053" y="4603965"/>
            <a:ext cx="1377646" cy="16668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B4F3CCD-F548-585C-AA14-CB6D516B8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269" y="4568729"/>
            <a:ext cx="1282308" cy="170211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1689E04-A2F1-F3F9-19CF-55D8FC7E97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6836" y="4957047"/>
            <a:ext cx="1377647" cy="12755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86F1CDF-958F-7C56-2D92-BE8A8906C64B}"/>
                  </a:ext>
                </a:extLst>
              </p:cNvPr>
              <p:cNvSpPr txBox="1"/>
              <p:nvPr/>
            </p:nvSpPr>
            <p:spPr>
              <a:xfrm>
                <a:off x="2866243" y="1957564"/>
                <a:ext cx="6109334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𝑚𝑒𝑟𝑔𝑒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86F1CDF-958F-7C56-2D92-BE8A8906C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243" y="1957564"/>
                <a:ext cx="6109334" cy="764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0C0544D-9AA2-FC24-51D2-94EB588778DC}"/>
                  </a:ext>
                </a:extLst>
              </p:cNvPr>
              <p:cNvSpPr txBox="1"/>
              <p:nvPr/>
            </p:nvSpPr>
            <p:spPr>
              <a:xfrm>
                <a:off x="2866243" y="3610207"/>
                <a:ext cx="6109334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𝑚𝑒𝑟𝑔𝑒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0C0544D-9AA2-FC24-51D2-94EB58877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243" y="3610207"/>
                <a:ext cx="6109334" cy="7645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33B5E9EA-1E41-4B83-30CA-F8C9E8F75DA0}"/>
              </a:ext>
            </a:extLst>
          </p:cNvPr>
          <p:cNvSpPr txBox="1"/>
          <p:nvPr/>
        </p:nvSpPr>
        <p:spPr>
          <a:xfrm>
            <a:off x="2615012" y="6285566"/>
            <a:ext cx="1581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ea"/>
              </a:rPr>
              <a:t>(a)</a:t>
            </a:r>
            <a:r>
              <a:rPr lang="zh-CN" altLang="en-US" sz="1400" dirty="0">
                <a:latin typeface="+mn-ea"/>
              </a:rPr>
              <a:t> 任务向量</a:t>
            </a:r>
            <a:endParaRPr lang="zh-CN" altLang="en-US" sz="14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FF7B879-B0E9-4FE3-27D7-C793A9226885}"/>
              </a:ext>
            </a:extLst>
          </p:cNvPr>
          <p:cNvSpPr txBox="1"/>
          <p:nvPr/>
        </p:nvSpPr>
        <p:spPr>
          <a:xfrm>
            <a:off x="5079394" y="6290416"/>
            <a:ext cx="1581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ea"/>
              </a:rPr>
              <a:t>(b)</a:t>
            </a:r>
            <a:r>
              <a:rPr lang="zh-CN" altLang="en-US" sz="1400" dirty="0">
                <a:latin typeface="+mn-ea"/>
              </a:rPr>
              <a:t> 直接相加</a:t>
            </a:r>
            <a:endParaRPr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C4F0AD-1329-4A8D-8077-35FF8FAD28FD}"/>
              </a:ext>
            </a:extLst>
          </p:cNvPr>
          <p:cNvSpPr txBox="1"/>
          <p:nvPr/>
        </p:nvSpPr>
        <p:spPr>
          <a:xfrm>
            <a:off x="7543776" y="6270840"/>
            <a:ext cx="1581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ea"/>
              </a:rPr>
              <a:t>(b)</a:t>
            </a:r>
            <a:r>
              <a:rPr lang="zh-CN" altLang="en-US" sz="1400" dirty="0">
                <a:latin typeface="+mn-ea"/>
              </a:rPr>
              <a:t> 根据权重相加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14234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融合中方法概述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18E477-A31D-8C7D-8472-4719E826BDD8}"/>
              </a:ext>
            </a:extLst>
          </p:cNvPr>
          <p:cNvSpPr txBox="1"/>
          <p:nvPr/>
        </p:nvSpPr>
        <p:spPr>
          <a:xfrm>
            <a:off x="718738" y="1307940"/>
            <a:ext cx="11385632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chemeClr val="accent1"/>
                </a:solidFill>
                <a:effectLst/>
                <a:latin typeface="+mn-ea"/>
              </a:rPr>
              <a:t>基于子空间的融合：</a:t>
            </a:r>
            <a:r>
              <a:rPr lang="zh-CN" altLang="en-US" i="0" dirty="0">
                <a:effectLst/>
                <a:latin typeface="+mn-ea"/>
              </a:rPr>
              <a:t>不同任务向量在参数空间的某些维度上具有干扰，将</a:t>
            </a:r>
            <a:r>
              <a:rPr lang="zh-CN" altLang="en-US" dirty="0">
                <a:latin typeface="+mn-ea"/>
              </a:rPr>
              <a:t>具有干扰的子空间裁剪掉</a:t>
            </a:r>
            <a:r>
              <a:rPr lang="zh-CN" altLang="en-US" i="0" dirty="0">
                <a:effectLst/>
                <a:latin typeface="+mn-ea"/>
              </a:rPr>
              <a:t>，以减少干扰，然后再合并</a:t>
            </a:r>
            <a:endParaRPr lang="en-US" altLang="zh-CN" i="0" dirty="0">
              <a:effectLst/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72F32D-5A5E-BFDC-54C6-C4F11141543E}"/>
              </a:ext>
            </a:extLst>
          </p:cNvPr>
          <p:cNvSpPr txBox="1"/>
          <p:nvPr/>
        </p:nvSpPr>
        <p:spPr>
          <a:xfrm>
            <a:off x="718738" y="2205547"/>
            <a:ext cx="11473262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基于路由的融合：</a:t>
            </a:r>
            <a:r>
              <a:rPr lang="zh-CN" altLang="en-US" dirty="0">
                <a:latin typeface="+mn-ea"/>
              </a:rPr>
              <a:t>似于混合专家模型，在推理时通过路由动态的确定参数合并的权重分布，然后根据路由的得到的权重系数加权平均得到的最优参数，在对输入进行输出</a:t>
            </a:r>
            <a:endParaRPr lang="en-US" altLang="zh-CN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3B5E9EA-1E41-4B83-30CA-F8C9E8F75DA0}"/>
              </a:ext>
            </a:extLst>
          </p:cNvPr>
          <p:cNvSpPr txBox="1"/>
          <p:nvPr/>
        </p:nvSpPr>
        <p:spPr>
          <a:xfrm>
            <a:off x="2179804" y="6095451"/>
            <a:ext cx="20150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ea"/>
              </a:rPr>
              <a:t>(a)</a:t>
            </a:r>
            <a:r>
              <a:rPr lang="zh-CN" altLang="en-US" sz="1400" dirty="0">
                <a:latin typeface="+mn-ea"/>
              </a:rPr>
              <a:t> 基于子空间的融合</a:t>
            </a:r>
            <a:endParaRPr lang="zh-CN" alt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C4F0AD-1329-4A8D-8077-35FF8FAD28FD}"/>
              </a:ext>
            </a:extLst>
          </p:cNvPr>
          <p:cNvSpPr txBox="1"/>
          <p:nvPr/>
        </p:nvSpPr>
        <p:spPr>
          <a:xfrm>
            <a:off x="7492296" y="6095451"/>
            <a:ext cx="1857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+mn-ea"/>
              </a:rPr>
              <a:t>(b)</a:t>
            </a:r>
            <a:r>
              <a:rPr lang="zh-CN" altLang="en-US" sz="1400" dirty="0">
                <a:latin typeface="+mn-ea"/>
              </a:rPr>
              <a:t> 基于路由的融合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D366F8-7A92-E447-C45E-BBE0A44925FC}"/>
              </a:ext>
            </a:extLst>
          </p:cNvPr>
          <p:cNvSpPr txBox="1"/>
          <p:nvPr/>
        </p:nvSpPr>
        <p:spPr>
          <a:xfrm>
            <a:off x="718738" y="751638"/>
            <a:ext cx="610933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268F9C"/>
                </a:solidFill>
                <a:latin typeface="+mn-ea"/>
              </a:rPr>
              <a:t>方法主要分类</a:t>
            </a:r>
            <a:endParaRPr lang="en-US" altLang="zh-CN" sz="1800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0772225-6C5B-5B45-4976-36AAEDF21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408" y="3671785"/>
            <a:ext cx="3624088" cy="223521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B10F4DE-BC58-B7D8-BD5E-F94C2A0C7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330" y="3692403"/>
            <a:ext cx="4368967" cy="221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3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/>
          <p:cNvSpPr txBox="1"/>
          <p:nvPr/>
        </p:nvSpPr>
        <p:spPr>
          <a:xfrm>
            <a:off x="6625590" y="2809757"/>
            <a:ext cx="489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600" dirty="0">
                <a:latin typeface="Lato" panose="020F0502020204030203" pitchFamily="34" charset="0"/>
              </a:rPr>
              <a:t>2.</a:t>
            </a:r>
            <a:r>
              <a:rPr lang="zh-CN" altLang="en-US" sz="3600" dirty="0">
                <a:latin typeface="Lato" panose="020F0502020204030203" pitchFamily="34" charset="0"/>
              </a:rPr>
              <a:t>基于权重系数的融合</a:t>
            </a:r>
            <a:endParaRPr lang="en-US" altLang="zh-CN" sz="3600" b="1" dirty="0"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41065" y="3837410"/>
            <a:ext cx="5863771" cy="57767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193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ADAMERGING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61A101-762A-2FE8-FA72-204A960D222F}"/>
              </a:ext>
            </a:extLst>
          </p:cNvPr>
          <p:cNvSpPr txBox="1"/>
          <p:nvPr/>
        </p:nvSpPr>
        <p:spPr>
          <a:xfrm>
            <a:off x="583384" y="1446602"/>
            <a:ext cx="114792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背景：</a:t>
            </a:r>
            <a:r>
              <a:rPr lang="zh-CN" altLang="en-US" dirty="0">
                <a:latin typeface="+mn-ea"/>
              </a:rPr>
              <a:t>在任务算术中，每个任务向量具有相同的权重系数，也可以通过网格搜索不同的权重组合，但是随着合并的模型变多，开销也指数级增长。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FA4310-BA37-B08D-987A-17335B9AF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12" y="2457137"/>
            <a:ext cx="6448425" cy="37055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B2A5006-B36F-BC03-197F-3087FCC973B8}"/>
              </a:ext>
            </a:extLst>
          </p:cNvPr>
          <p:cNvSpPr txBox="1"/>
          <p:nvPr/>
        </p:nvSpPr>
        <p:spPr>
          <a:xfrm>
            <a:off x="583384" y="912674"/>
            <a:ext cx="10050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论文：</a:t>
            </a:r>
            <a:r>
              <a:rPr lang="en-US" altLang="zh-CN" dirty="0">
                <a:latin typeface="+mn-ea"/>
              </a:rPr>
              <a:t>ADAMERGING: Adaptive Model Merging for Muti-Task Learning</a:t>
            </a:r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BBA194B-0DF3-A202-13CA-A4D8B2FBC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090143"/>
              </p:ext>
            </p:extLst>
          </p:nvPr>
        </p:nvGraphicFramePr>
        <p:xfrm>
          <a:off x="7898922" y="2255161"/>
          <a:ext cx="36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">
                  <a:extLst>
                    <a:ext uri="{9D8B030D-6E8A-4147-A177-3AD203B41FA5}">
                      <a16:colId xmlns:a16="http://schemas.microsoft.com/office/drawing/2014/main" val="642702933"/>
                    </a:ext>
                  </a:extLst>
                </a:gridCol>
                <a:gridCol w="400000">
                  <a:extLst>
                    <a:ext uri="{9D8B030D-6E8A-4147-A177-3AD203B41FA5}">
                      <a16:colId xmlns:a16="http://schemas.microsoft.com/office/drawing/2014/main" val="471158406"/>
                    </a:ext>
                  </a:extLst>
                </a:gridCol>
                <a:gridCol w="400000">
                  <a:extLst>
                    <a:ext uri="{9D8B030D-6E8A-4147-A177-3AD203B41FA5}">
                      <a16:colId xmlns:a16="http://schemas.microsoft.com/office/drawing/2014/main" val="1885369094"/>
                    </a:ext>
                  </a:extLst>
                </a:gridCol>
                <a:gridCol w="400000">
                  <a:extLst>
                    <a:ext uri="{9D8B030D-6E8A-4147-A177-3AD203B41FA5}">
                      <a16:colId xmlns:a16="http://schemas.microsoft.com/office/drawing/2014/main" val="1106810261"/>
                    </a:ext>
                  </a:extLst>
                </a:gridCol>
                <a:gridCol w="400000">
                  <a:extLst>
                    <a:ext uri="{9D8B030D-6E8A-4147-A177-3AD203B41FA5}">
                      <a16:colId xmlns:a16="http://schemas.microsoft.com/office/drawing/2014/main" val="2517860363"/>
                    </a:ext>
                  </a:extLst>
                </a:gridCol>
                <a:gridCol w="400000">
                  <a:extLst>
                    <a:ext uri="{9D8B030D-6E8A-4147-A177-3AD203B41FA5}">
                      <a16:colId xmlns:a16="http://schemas.microsoft.com/office/drawing/2014/main" val="289967277"/>
                    </a:ext>
                  </a:extLst>
                </a:gridCol>
                <a:gridCol w="400000">
                  <a:extLst>
                    <a:ext uri="{9D8B030D-6E8A-4147-A177-3AD203B41FA5}">
                      <a16:colId xmlns:a16="http://schemas.microsoft.com/office/drawing/2014/main" val="1533333255"/>
                    </a:ext>
                  </a:extLst>
                </a:gridCol>
                <a:gridCol w="400000">
                  <a:extLst>
                    <a:ext uri="{9D8B030D-6E8A-4147-A177-3AD203B41FA5}">
                      <a16:colId xmlns:a16="http://schemas.microsoft.com/office/drawing/2014/main" val="498874257"/>
                    </a:ext>
                  </a:extLst>
                </a:gridCol>
                <a:gridCol w="400000">
                  <a:extLst>
                    <a:ext uri="{9D8B030D-6E8A-4147-A177-3AD203B41FA5}">
                      <a16:colId xmlns:a16="http://schemas.microsoft.com/office/drawing/2014/main" val="213203242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76891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30919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13887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64506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8811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242628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05313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51457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61576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436BAA2-5DA6-EDB4-0DD8-D66505680A87}"/>
                  </a:ext>
                </a:extLst>
              </p:cNvPr>
              <p:cNvSpPr txBox="1"/>
              <p:nvPr/>
            </p:nvSpPr>
            <p:spPr>
              <a:xfrm>
                <a:off x="8604455" y="6184090"/>
                <a:ext cx="23060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436BAA2-5DA6-EDB4-0DD8-D66505680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4455" y="6184090"/>
                <a:ext cx="23060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AC28EEC-8181-885F-5493-4541CE19059B}"/>
                  </a:ext>
                </a:extLst>
              </p:cNvPr>
              <p:cNvSpPr txBox="1"/>
              <p:nvPr/>
            </p:nvSpPr>
            <p:spPr>
              <a:xfrm>
                <a:off x="6964046" y="3865686"/>
                <a:ext cx="7170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AC28EEC-8181-885F-5493-4541CE190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4046" y="3865686"/>
                <a:ext cx="7170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9EC42D6-9DAB-A48A-7D7B-B57CA8EDA5F2}"/>
                  </a:ext>
                </a:extLst>
              </p:cNvPr>
              <p:cNvSpPr txBox="1"/>
              <p:nvPr/>
            </p:nvSpPr>
            <p:spPr>
              <a:xfrm>
                <a:off x="759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9EC42D6-9DAB-A48A-7D7B-B57CA8EDA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456" y="5854897"/>
                <a:ext cx="602932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5CCD45A-F19E-B3AA-9AF6-1105ABDCA96F}"/>
                  </a:ext>
                </a:extLst>
              </p:cNvPr>
              <p:cNvSpPr txBox="1"/>
              <p:nvPr/>
            </p:nvSpPr>
            <p:spPr>
              <a:xfrm>
                <a:off x="795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5CCD45A-F19E-B3AA-9AF6-1105ABDCA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456" y="5854897"/>
                <a:ext cx="60293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5772472-4E0A-5651-EBC9-8A29090051AE}"/>
                  </a:ext>
                </a:extLst>
              </p:cNvPr>
              <p:cNvSpPr txBox="1"/>
              <p:nvPr/>
            </p:nvSpPr>
            <p:spPr>
              <a:xfrm>
                <a:off x="831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5772472-4E0A-5651-EBC9-8A2909005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56" y="5854897"/>
                <a:ext cx="60293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E77FA9C-9696-7FA8-F45B-735A74E7F09E}"/>
                  </a:ext>
                </a:extLst>
              </p:cNvPr>
              <p:cNvSpPr txBox="1"/>
              <p:nvPr/>
            </p:nvSpPr>
            <p:spPr>
              <a:xfrm>
                <a:off x="867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E77FA9C-9696-7FA8-F45B-735A74E7F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456" y="5854897"/>
                <a:ext cx="60293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C08E698-4FFD-49CE-F93F-EA74E11DBBDD}"/>
                  </a:ext>
                </a:extLst>
              </p:cNvPr>
              <p:cNvSpPr txBox="1"/>
              <p:nvPr/>
            </p:nvSpPr>
            <p:spPr>
              <a:xfrm>
                <a:off x="903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C08E698-4FFD-49CE-F93F-EA74E11DB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456" y="5854897"/>
                <a:ext cx="60293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BAB4DF1-6FCC-8D14-658D-F03B474F98B6}"/>
                  </a:ext>
                </a:extLst>
              </p:cNvPr>
              <p:cNvSpPr txBox="1"/>
              <p:nvPr/>
            </p:nvSpPr>
            <p:spPr>
              <a:xfrm>
                <a:off x="939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BAB4DF1-6FCC-8D14-658D-F03B474F9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7456" y="5854897"/>
                <a:ext cx="602932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CC234E-C095-0536-806B-AE56A44D0DF8}"/>
                  </a:ext>
                </a:extLst>
              </p:cNvPr>
              <p:cNvSpPr txBox="1"/>
              <p:nvPr/>
            </p:nvSpPr>
            <p:spPr>
              <a:xfrm>
                <a:off x="975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CC234E-C095-0536-806B-AE56A44D0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456" y="5854897"/>
                <a:ext cx="602932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CE203E0-E553-C9C5-5679-662AEDC024A8}"/>
                  </a:ext>
                </a:extLst>
              </p:cNvPr>
              <p:cNvSpPr txBox="1"/>
              <p:nvPr/>
            </p:nvSpPr>
            <p:spPr>
              <a:xfrm>
                <a:off x="1011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CE203E0-E553-C9C5-5679-662AEDC02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7456" y="5854897"/>
                <a:ext cx="60293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5CAA15D-3C89-4D4A-5E4B-9C22A51AA928}"/>
                  </a:ext>
                </a:extLst>
              </p:cNvPr>
              <p:cNvSpPr txBox="1"/>
              <p:nvPr/>
            </p:nvSpPr>
            <p:spPr>
              <a:xfrm>
                <a:off x="1047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5CAA15D-3C89-4D4A-5E4B-9C22A51AA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456" y="5854897"/>
                <a:ext cx="602932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A1A536B-75FA-04F6-92B4-14B50A224CA1}"/>
                  </a:ext>
                </a:extLst>
              </p:cNvPr>
              <p:cNvSpPr txBox="1"/>
              <p:nvPr/>
            </p:nvSpPr>
            <p:spPr>
              <a:xfrm>
                <a:off x="1083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A1A536B-75FA-04F6-92B4-14B50A224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7456" y="5854897"/>
                <a:ext cx="602932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F298403-B30A-C453-F642-6882C4598E9D}"/>
                  </a:ext>
                </a:extLst>
              </p:cNvPr>
              <p:cNvSpPr txBox="1"/>
              <p:nvPr/>
            </p:nvSpPr>
            <p:spPr>
              <a:xfrm>
                <a:off x="11197456" y="5854897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1.0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F298403-B30A-C453-F642-6882C4598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7456" y="5854897"/>
                <a:ext cx="602932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AE2FBC6-9CCA-49D2-FF16-1BB780690D04}"/>
                  </a:ext>
                </a:extLst>
              </p:cNvPr>
              <p:cNvSpPr txBox="1"/>
              <p:nvPr/>
            </p:nvSpPr>
            <p:spPr>
              <a:xfrm>
                <a:off x="7379652" y="5701008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AE2FBC6-9CCA-49D2-FF16-1BB780690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5701008"/>
                <a:ext cx="602932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37D736E-3245-5B1B-D296-23B7F9585AFF}"/>
                  </a:ext>
                </a:extLst>
              </p:cNvPr>
              <p:cNvSpPr txBox="1"/>
              <p:nvPr/>
            </p:nvSpPr>
            <p:spPr>
              <a:xfrm>
                <a:off x="7379652" y="5341038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37D736E-3245-5B1B-D296-23B7F9585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5341038"/>
                <a:ext cx="602932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A4927CE-1DAE-CE6C-21FE-BB7974F385FE}"/>
                  </a:ext>
                </a:extLst>
              </p:cNvPr>
              <p:cNvSpPr txBox="1"/>
              <p:nvPr/>
            </p:nvSpPr>
            <p:spPr>
              <a:xfrm>
                <a:off x="7379652" y="4981064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A4927CE-1DAE-CE6C-21FE-BB7974F38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4981064"/>
                <a:ext cx="602932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3865AB8-A446-B567-C9BB-AEEED7FC5F45}"/>
                  </a:ext>
                </a:extLst>
              </p:cNvPr>
              <p:cNvSpPr txBox="1"/>
              <p:nvPr/>
            </p:nvSpPr>
            <p:spPr>
              <a:xfrm>
                <a:off x="7379652" y="4621090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3865AB8-A446-B567-C9BB-AEEED7FC5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4621090"/>
                <a:ext cx="602932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48CFFE5-E21A-1128-0C81-EBC052EA269D}"/>
                  </a:ext>
                </a:extLst>
              </p:cNvPr>
              <p:cNvSpPr txBox="1"/>
              <p:nvPr/>
            </p:nvSpPr>
            <p:spPr>
              <a:xfrm>
                <a:off x="7379652" y="4261116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48CFFE5-E21A-1128-0C81-EBC052EA2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4261116"/>
                <a:ext cx="602932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B6F9F03-52FE-2B58-8229-A6DBF021525B}"/>
                  </a:ext>
                </a:extLst>
              </p:cNvPr>
              <p:cNvSpPr txBox="1"/>
              <p:nvPr/>
            </p:nvSpPr>
            <p:spPr>
              <a:xfrm>
                <a:off x="7379652" y="3901142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B6F9F03-52FE-2B58-8229-A6DBF0215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3901142"/>
                <a:ext cx="602932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F0CAA5B-B0FC-A269-9792-18EAC20D0482}"/>
                  </a:ext>
                </a:extLst>
              </p:cNvPr>
              <p:cNvSpPr txBox="1"/>
              <p:nvPr/>
            </p:nvSpPr>
            <p:spPr>
              <a:xfrm>
                <a:off x="7379652" y="3541168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F0CAA5B-B0FC-A269-9792-18EAC20D0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3541168"/>
                <a:ext cx="602932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71A883D-D207-700C-53CB-13C82EC29708}"/>
                  </a:ext>
                </a:extLst>
              </p:cNvPr>
              <p:cNvSpPr txBox="1"/>
              <p:nvPr/>
            </p:nvSpPr>
            <p:spPr>
              <a:xfrm>
                <a:off x="7379652" y="3181194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71A883D-D207-700C-53CB-13C82EC29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3181194"/>
                <a:ext cx="602932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EC559A2-FED3-A05E-6C69-189247954DB5}"/>
                  </a:ext>
                </a:extLst>
              </p:cNvPr>
              <p:cNvSpPr txBox="1"/>
              <p:nvPr/>
            </p:nvSpPr>
            <p:spPr>
              <a:xfrm>
                <a:off x="7379652" y="2821220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EC559A2-FED3-A05E-6C69-189247954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2821220"/>
                <a:ext cx="602932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D88B7EF-19AB-5AA0-00BC-485ACD10696C}"/>
                  </a:ext>
                </a:extLst>
              </p:cNvPr>
              <p:cNvSpPr txBox="1"/>
              <p:nvPr/>
            </p:nvSpPr>
            <p:spPr>
              <a:xfrm>
                <a:off x="7379652" y="2461246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D88B7EF-19AB-5AA0-00BC-485ACD106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2461246"/>
                <a:ext cx="602932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FF1B85D-C569-5A20-BF80-91381A1E989E}"/>
                  </a:ext>
                </a:extLst>
              </p:cNvPr>
              <p:cNvSpPr txBox="1"/>
              <p:nvPr/>
            </p:nvSpPr>
            <p:spPr>
              <a:xfrm>
                <a:off x="7379652" y="2101272"/>
                <a:ext cx="60293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1.0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FF1B85D-C569-5A20-BF80-91381A1E9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652" y="2101272"/>
                <a:ext cx="602932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52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ADAMERGING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5521D9-2456-A13F-0A85-5D861B06BF87}"/>
              </a:ext>
            </a:extLst>
          </p:cNvPr>
          <p:cNvSpPr txBox="1"/>
          <p:nvPr/>
        </p:nvSpPr>
        <p:spPr>
          <a:xfrm>
            <a:off x="343852" y="871215"/>
            <a:ext cx="1203483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方法：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每个任务向量权重系数相同时会损害模型性能，格搜索又太花费时间和资源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直接通过训练自动的获得每个任务向量的权重系数</a:t>
            </a:r>
            <a:endParaRPr lang="en-US" altLang="zh-CN" dirty="0"/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权重系数分为求每个任务向量的权重系数（</a:t>
            </a:r>
            <a:r>
              <a:rPr lang="en-US" altLang="zh-CN" dirty="0"/>
              <a:t>Task-wise</a:t>
            </a:r>
            <a:r>
              <a:rPr lang="zh-CN" altLang="en-US" dirty="0"/>
              <a:t>）、求每个任务向量每一层的权重系数（</a:t>
            </a:r>
            <a:r>
              <a:rPr lang="en-US" altLang="zh-CN" dirty="0"/>
              <a:t>Layer-wise 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5A8931-7032-E16A-235F-D3B81F084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901" y="3075325"/>
            <a:ext cx="2839560" cy="29127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BAF7898-2192-5A05-10A6-4540F14AD0DB}"/>
              </a:ext>
            </a:extLst>
          </p:cNvPr>
          <p:cNvSpPr txBox="1"/>
          <p:nvPr/>
        </p:nvSpPr>
        <p:spPr>
          <a:xfrm>
            <a:off x="2586770" y="5918051"/>
            <a:ext cx="1710910" cy="78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/>
              <a:t>(a) </a:t>
            </a:r>
            <a:r>
              <a:rPr lang="zh-CN" altLang="en-US" sz="1600" dirty="0"/>
              <a:t>为每个任务向量分配权重系数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97742E-2227-A2BC-0E7D-AEFEAEE0B137}"/>
              </a:ext>
            </a:extLst>
          </p:cNvPr>
          <p:cNvSpPr txBox="1"/>
          <p:nvPr/>
        </p:nvSpPr>
        <p:spPr>
          <a:xfrm>
            <a:off x="7495016" y="5918051"/>
            <a:ext cx="2488134" cy="78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/>
              <a:t>(b) </a:t>
            </a:r>
            <a:r>
              <a:rPr lang="zh-CN" altLang="en-US" sz="1600" dirty="0"/>
              <a:t>为每个任务向量每一层分配权重系数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0D2887-C494-96C4-60CB-4C87A8038C7B}"/>
              </a:ext>
            </a:extLst>
          </p:cNvPr>
          <p:cNvSpPr/>
          <p:nvPr/>
        </p:nvSpPr>
        <p:spPr>
          <a:xfrm>
            <a:off x="6451076" y="5077348"/>
            <a:ext cx="104394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Layer 1</a:t>
            </a:r>
            <a:endParaRPr lang="zh-CN" altLang="en-US" sz="16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E7438F-0E9F-102B-816B-A7BD53280FF8}"/>
              </a:ext>
            </a:extLst>
          </p:cNvPr>
          <p:cNvSpPr/>
          <p:nvPr/>
        </p:nvSpPr>
        <p:spPr>
          <a:xfrm>
            <a:off x="8042568" y="5077348"/>
            <a:ext cx="104394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Layer 2</a:t>
            </a:r>
            <a:endParaRPr lang="zh-CN" altLang="en-US" sz="16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72E973-93E2-04F9-0286-4EC419941E4D}"/>
              </a:ext>
            </a:extLst>
          </p:cNvPr>
          <p:cNvSpPr/>
          <p:nvPr/>
        </p:nvSpPr>
        <p:spPr>
          <a:xfrm>
            <a:off x="10387261" y="5077348"/>
            <a:ext cx="1043940" cy="548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Layer N</a:t>
            </a:r>
            <a:endParaRPr lang="zh-CN" altLang="en-US" sz="16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70481F7-8A48-8AB2-1B45-6716B7BF6174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7495016" y="5351668"/>
            <a:ext cx="547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9A1131C-9DF1-4D49-012C-F5D4BA754616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9086508" y="5351668"/>
            <a:ext cx="13007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38CABD3-D1E0-766E-718A-83F9C437BB97}"/>
              </a:ext>
            </a:extLst>
          </p:cNvPr>
          <p:cNvSpPr txBox="1"/>
          <p:nvPr/>
        </p:nvSpPr>
        <p:spPr>
          <a:xfrm>
            <a:off x="9382802" y="5065335"/>
            <a:ext cx="916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······</a:t>
            </a:r>
            <a:endParaRPr lang="zh-CN" altLang="en-US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25BC317-BBBB-7D8C-410C-CE2D9B283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568" y="3099590"/>
            <a:ext cx="1835441" cy="1882747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15A8931-7032-E16A-235F-D3B81F084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46184"/>
            <a:ext cx="1835441" cy="1882747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EFADFA3F-D5AF-3543-8763-AB4920A2C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421" y="3103788"/>
            <a:ext cx="1835441" cy="18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2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 animBg="1"/>
      <p:bldP spid="15" grpId="0" animBg="1"/>
      <p:bldP spid="16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ADAMERGING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05521D9-2456-A13F-0A85-5D861B06BF87}"/>
                  </a:ext>
                </a:extLst>
              </p:cNvPr>
              <p:cNvSpPr txBox="1"/>
              <p:nvPr/>
            </p:nvSpPr>
            <p:spPr>
              <a:xfrm>
                <a:off x="309562" y="908804"/>
                <a:ext cx="11771948" cy="2869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spcAft>
                    <a:spcPts val="1200"/>
                  </a:spcAft>
                  <a:defRPr b="1">
                    <a:solidFill>
                      <a:srgbClr val="268F9C"/>
                    </a:solidFill>
                    <a:latin typeface="+mn-ea"/>
                  </a:defRPr>
                </a:lvl1pPr>
                <a:lvl2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  <a:defRPr>
                    <a:latin typeface="+mn-ea"/>
                  </a:defRPr>
                </a:lvl2pPr>
              </a:lstStyle>
              <a:p>
                <a:r>
                  <a:rPr lang="zh-CN" altLang="en-US" dirty="0"/>
                  <a:t>训练目标损失函数：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首先，作者分析了损失函数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与模型输出熵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⁡(</m:t>
                    </m:r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之间的关系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作者发现模型输出熵越小，则损失函数越小，反之，模型熵越大，损失函数越大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除此之外，作者还计算了模型输出熵与损失函数之间的</a:t>
                </a:r>
                <a:r>
                  <a:rPr lang="en-US" altLang="zh-CN" dirty="0"/>
                  <a:t>Spearman</a:t>
                </a:r>
                <a:r>
                  <a:rPr lang="zh-CN" altLang="en-US" dirty="0"/>
                  <a:t>系数，系数越大，说明两个变量间的单调关系越明显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基于以上发现，模型使用无标签测试训练集进行无监督训练，训练目标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lim>
                        </m:limLow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𝑀𝑇𝐿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𝑀𝑇𝐿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05521D9-2456-A13F-0A85-5D861B06B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62" y="908804"/>
                <a:ext cx="11771948" cy="2869696"/>
              </a:xfrm>
              <a:prstGeom prst="rect">
                <a:avLst/>
              </a:prstGeom>
              <a:blipFill>
                <a:blip r:embed="rId3"/>
                <a:stretch>
                  <a:fillRect l="-466" t="-1062" b="-19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ED0A7125-F69E-3E0E-8B1F-F8D42A1DE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82" y="3777342"/>
            <a:ext cx="5313913" cy="30818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7F8922F-C1D5-C8D1-116D-A2FBDB96C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524" y="3777342"/>
            <a:ext cx="5313914" cy="310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1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ADAMERGING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5521D9-2456-A13F-0A85-5D861B06BF87}"/>
              </a:ext>
            </a:extLst>
          </p:cNvPr>
          <p:cNvSpPr txBox="1"/>
          <p:nvPr/>
        </p:nvSpPr>
        <p:spPr>
          <a:xfrm>
            <a:off x="343852" y="930556"/>
            <a:ext cx="1203483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Aft>
                <a:spcPts val="1200"/>
              </a:spcAft>
              <a:defRPr b="1">
                <a:solidFill>
                  <a:srgbClr val="268F9C"/>
                </a:solidFill>
                <a:latin typeface="+mn-ea"/>
              </a:defRPr>
            </a:lvl1pPr>
            <a:lvl2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>
                <a:latin typeface="+mn-ea"/>
              </a:defRPr>
            </a:lvl2pPr>
          </a:lstStyle>
          <a:p>
            <a:r>
              <a:rPr lang="zh-CN" altLang="en-US" dirty="0"/>
              <a:t>实验：</a:t>
            </a:r>
            <a:endParaRPr lang="en-US" altLang="zh-CN" dirty="0"/>
          </a:p>
          <a:p>
            <a:pPr marL="1085850" lvl="1" indent="-342900"/>
            <a:r>
              <a:rPr lang="zh-CN" altLang="en-US" dirty="0"/>
              <a:t>使用</a:t>
            </a:r>
            <a:r>
              <a:rPr lang="en-US" altLang="zh-CN" dirty="0"/>
              <a:t>CLIP</a:t>
            </a:r>
            <a:r>
              <a:rPr lang="zh-CN" altLang="en-US" dirty="0"/>
              <a:t>模型在八个不同的图像分类任务上进行微调，然后用不同方法合并，并评估他们的准确率</a:t>
            </a:r>
            <a:endParaRPr lang="en-US" altLang="zh-CN" dirty="0"/>
          </a:p>
          <a:p>
            <a:pPr marL="1085850" lvl="1" indent="-342900"/>
            <a:r>
              <a:rPr lang="en-US" altLang="zh-CN" dirty="0" err="1"/>
              <a:t>AdaMerging</a:t>
            </a:r>
            <a:r>
              <a:rPr lang="zh-CN" altLang="en-US" dirty="0"/>
              <a:t>使用的是</a:t>
            </a:r>
            <a:r>
              <a:rPr lang="en-US" altLang="zh-CN" dirty="0"/>
              <a:t>Task Arithmetic</a:t>
            </a:r>
            <a:r>
              <a:rPr lang="zh-CN" altLang="en-US" dirty="0"/>
              <a:t>，</a:t>
            </a:r>
            <a:r>
              <a:rPr lang="en-US" altLang="zh-CN" dirty="0" err="1"/>
              <a:t>AdaMerging</a:t>
            </a:r>
            <a:r>
              <a:rPr lang="en-US" altLang="zh-CN" dirty="0"/>
              <a:t>++</a:t>
            </a:r>
            <a:r>
              <a:rPr lang="zh-CN" altLang="en-US" dirty="0"/>
              <a:t>使用的</a:t>
            </a:r>
            <a:r>
              <a:rPr lang="en-US" altLang="zh-CN" dirty="0"/>
              <a:t>TIES</a:t>
            </a:r>
            <a:r>
              <a:rPr lang="zh-CN" altLang="en-US" dirty="0"/>
              <a:t>（后面会讲）</a:t>
            </a:r>
            <a:endParaRPr lang="en-US" altLang="zh-CN" dirty="0"/>
          </a:p>
          <a:p>
            <a:pPr marL="1085850" lvl="1" indent="-342900"/>
            <a:r>
              <a:rPr lang="zh-CN" altLang="en-US" dirty="0"/>
              <a:t>从表格中可以看出，相较于任务算术性能提高了</a:t>
            </a:r>
            <a:r>
              <a:rPr lang="en-US" altLang="zh-CN" dirty="0"/>
              <a:t>11%</a:t>
            </a:r>
            <a:r>
              <a:rPr lang="zh-CN" altLang="en-US" dirty="0"/>
              <a:t>，大大减少的与融合前模型性能之间的差距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C17576-9E11-7E7E-7477-7927C55A6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11" y="2931799"/>
            <a:ext cx="11781577" cy="352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7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ADAMERGING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5521D9-2456-A13F-0A85-5D861B06BF87}"/>
              </a:ext>
            </a:extLst>
          </p:cNvPr>
          <p:cNvSpPr txBox="1"/>
          <p:nvPr/>
        </p:nvSpPr>
        <p:spPr>
          <a:xfrm>
            <a:off x="309562" y="930556"/>
            <a:ext cx="1203483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Aft>
                <a:spcPts val="1200"/>
              </a:spcAft>
              <a:defRPr b="1">
                <a:solidFill>
                  <a:srgbClr val="268F9C"/>
                </a:solidFill>
                <a:latin typeface="+mn-ea"/>
              </a:defRPr>
            </a:lvl1pPr>
            <a:lvl2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>
                <a:latin typeface="+mn-ea"/>
              </a:defRPr>
            </a:lvl2pPr>
          </a:lstStyle>
          <a:p>
            <a:r>
              <a:rPr lang="zh-CN" altLang="en-US" dirty="0"/>
              <a:t>实验：</a:t>
            </a:r>
            <a:endParaRPr lang="en-US" altLang="zh-CN" dirty="0"/>
          </a:p>
          <a:p>
            <a:pPr marL="1085850" lvl="1" indent="-342900"/>
            <a:r>
              <a:rPr lang="zh-CN" altLang="en-US" dirty="0"/>
              <a:t>作者还对使用不同测试集数据量（</a:t>
            </a:r>
            <a:r>
              <a:rPr lang="en-US" altLang="zh-CN" dirty="0"/>
              <a:t>0.1%</a:t>
            </a:r>
            <a:r>
              <a:rPr lang="zh-CN" altLang="en-US" dirty="0"/>
              <a:t>、</a:t>
            </a:r>
            <a:r>
              <a:rPr lang="en-US" altLang="zh-CN" dirty="0"/>
              <a:t>1%</a:t>
            </a:r>
            <a:r>
              <a:rPr lang="zh-CN" altLang="en-US" dirty="0"/>
              <a:t>、</a:t>
            </a:r>
            <a:r>
              <a:rPr lang="en-US" altLang="zh-CN" dirty="0"/>
              <a:t>5%</a:t>
            </a:r>
            <a:r>
              <a:rPr lang="zh-CN" altLang="en-US" dirty="0"/>
              <a:t>、</a:t>
            </a:r>
            <a:r>
              <a:rPr lang="en-US" altLang="zh-CN" dirty="0"/>
              <a:t>100%</a:t>
            </a:r>
            <a:r>
              <a:rPr lang="zh-CN" altLang="en-US" dirty="0"/>
              <a:t>）来无监督训练合并权重</a:t>
            </a:r>
            <a:endParaRPr lang="en-US" altLang="zh-CN" dirty="0"/>
          </a:p>
          <a:p>
            <a:pPr marL="1085850" lvl="1" indent="-342900"/>
            <a:r>
              <a:rPr lang="zh-CN" altLang="en-US" dirty="0"/>
              <a:t>从实验可以看出，只是用</a:t>
            </a:r>
            <a:r>
              <a:rPr lang="en-US" altLang="zh-CN" dirty="0"/>
              <a:t>5%</a:t>
            </a:r>
            <a:r>
              <a:rPr lang="zh-CN" altLang="en-US" dirty="0"/>
              <a:t>的数据量，</a:t>
            </a:r>
            <a:r>
              <a:rPr lang="zh-CN" altLang="en-US"/>
              <a:t>就能差不多达到</a:t>
            </a:r>
            <a:r>
              <a:rPr lang="zh-CN" altLang="en-US" dirty="0"/>
              <a:t>与使用</a:t>
            </a:r>
            <a:r>
              <a:rPr lang="en-US" altLang="zh-CN" dirty="0"/>
              <a:t>100%</a:t>
            </a:r>
            <a:r>
              <a:rPr lang="zh-CN" altLang="en-US" dirty="0"/>
              <a:t>数据量进行训练的效果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7D0C13-A72D-5387-91D6-934CB625B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835" y="2443162"/>
            <a:ext cx="843915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2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</a:t>
            </a:r>
            <a:r>
              <a:rPr lang="en-US" altLang="zh-CN" sz="2800" dirty="0" err="1">
                <a:solidFill>
                  <a:srgbClr val="000000"/>
                </a:solidFill>
              </a:rPr>
              <a:t>aTLAS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5521D9-2456-A13F-0A85-5D861B06BF87}"/>
              </a:ext>
            </a:extLst>
          </p:cNvPr>
          <p:cNvSpPr txBox="1"/>
          <p:nvPr/>
        </p:nvSpPr>
        <p:spPr>
          <a:xfrm>
            <a:off x="309562" y="1374928"/>
            <a:ext cx="1203483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Aft>
                <a:spcPts val="1200"/>
              </a:spcAft>
              <a:defRPr b="1">
                <a:solidFill>
                  <a:srgbClr val="268F9C"/>
                </a:solidFill>
                <a:latin typeface="+mn-ea"/>
              </a:defRPr>
            </a:lvl1pPr>
            <a:lvl2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  <a:defRPr>
                <a:latin typeface="+mn-ea"/>
              </a:defRPr>
            </a:lvl2pPr>
          </a:lstStyle>
          <a:p>
            <a:r>
              <a:rPr lang="zh-CN" altLang="en-US" dirty="0"/>
              <a:t>方法：</a:t>
            </a:r>
            <a:endParaRPr lang="en-US" altLang="zh-CN" dirty="0"/>
          </a:p>
          <a:p>
            <a:pPr marL="1028700" lvl="1"/>
            <a:r>
              <a:rPr lang="zh-CN" altLang="en-US" dirty="0"/>
              <a:t>与</a:t>
            </a:r>
            <a:r>
              <a:rPr lang="en-US" altLang="zh-CN" dirty="0" err="1"/>
              <a:t>AdaMerging</a:t>
            </a:r>
            <a:r>
              <a:rPr lang="zh-CN" altLang="en-US" dirty="0"/>
              <a:t>类似，也是使用可训练的权重系数进行融合</a:t>
            </a:r>
            <a:endParaRPr lang="en-US" altLang="zh-CN" dirty="0"/>
          </a:p>
          <a:p>
            <a:pPr marL="1028700" lvl="1"/>
            <a:r>
              <a:rPr lang="en-US" altLang="zh-CN" dirty="0" err="1"/>
              <a:t>AdaMerging</a:t>
            </a:r>
            <a:r>
              <a:rPr lang="zh-CN" altLang="en-US" dirty="0"/>
              <a:t>使用的无监督方法，在测试集上微调，不需要数据标签</a:t>
            </a:r>
            <a:endParaRPr lang="en-US" altLang="zh-CN" dirty="0"/>
          </a:p>
          <a:p>
            <a:pPr marL="1028700" lvl="1"/>
            <a:r>
              <a:rPr lang="en-US" altLang="zh-CN" dirty="0" err="1"/>
              <a:t>aTLAS</a:t>
            </a:r>
            <a:r>
              <a:rPr lang="zh-CN" altLang="en-US" dirty="0"/>
              <a:t>使用监督学习方法，在验证集上进行微调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2EE3EBA-6FF6-BBC6-5B4F-802E351BB002}"/>
                  </a:ext>
                </a:extLst>
              </p:cNvPr>
              <p:cNvSpPr txBox="1"/>
              <p:nvPr/>
            </p:nvSpPr>
            <p:spPr>
              <a:xfrm>
                <a:off x="309562" y="3195518"/>
                <a:ext cx="10251758" cy="1231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b="1" dirty="0">
                    <a:solidFill>
                      <a:srgbClr val="268F9C"/>
                    </a:solidFill>
                    <a:latin typeface="+mn-ea"/>
                  </a:rPr>
                  <a:t>损失函数：</a:t>
                </a:r>
                <a:endParaRPr lang="en-US" altLang="zh-CN" b="1" dirty="0">
                  <a:solidFill>
                    <a:srgbClr val="268F9C"/>
                  </a:solidFill>
                  <a:latin typeface="+mn-ea"/>
                </a:endParaRPr>
              </a:p>
              <a:p>
                <a:pPr marL="102870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直接使用有监督微调损失函数，如交叉熵函数等</a:t>
                </a:r>
                <a:endParaRPr lang="en-US" altLang="zh-CN" dirty="0">
                  <a:latin typeface="+mn-ea"/>
                </a:endParaRPr>
              </a:p>
              <a:p>
                <a:pPr marL="102870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代表可学习参数，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代表参数的切分粒度，一般以每一层的参数为标准，可以调整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2EE3EBA-6FF6-BBC6-5B4F-802E351BB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62" y="3195518"/>
                <a:ext cx="10251758" cy="1231106"/>
              </a:xfrm>
              <a:prstGeom prst="rect">
                <a:avLst/>
              </a:prstGeom>
              <a:blipFill>
                <a:blip r:embed="rId3"/>
                <a:stretch>
                  <a:fillRect l="-535" t="-2475" b="-6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15A555-F75C-FE46-FC7B-F395C5D0AC3E}"/>
                  </a:ext>
                </a:extLst>
              </p:cNvPr>
              <p:cNvSpPr txBox="1"/>
              <p:nvPr/>
            </p:nvSpPr>
            <p:spPr>
              <a:xfrm>
                <a:off x="1158408" y="4585221"/>
                <a:ext cx="6591132" cy="848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lim>
                      </m:limLow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[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15A555-F75C-FE46-FC7B-F395C5D0A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408" y="4585221"/>
                <a:ext cx="6591132" cy="8485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A1877DA-8AE7-F890-A5E6-C17BC83AC809}"/>
                  </a:ext>
                </a:extLst>
              </p:cNvPr>
              <p:cNvSpPr txBox="1"/>
              <p:nvPr/>
            </p:nvSpPr>
            <p:spPr>
              <a:xfrm>
                <a:off x="1158408" y="5592321"/>
                <a:ext cx="6591132" cy="1112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A1877DA-8AE7-F890-A5E6-C17BC83AC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408" y="5592321"/>
                <a:ext cx="6591132" cy="11128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0868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论文：</a:t>
            </a:r>
            <a:r>
              <a:rPr lang="en-US" altLang="zh-CN" dirty="0">
                <a:latin typeface="+mn-ea"/>
              </a:rPr>
              <a:t>Knowledge Composition using Task Vectors with Learned Anisotropic Scaling</a:t>
            </a:r>
          </a:p>
        </p:txBody>
      </p:sp>
    </p:spTree>
    <p:extLst>
      <p:ext uri="{BB962C8B-B14F-4D97-AF65-F5344CB8AC3E}">
        <p14:creationId xmlns:p14="http://schemas.microsoft.com/office/powerpoint/2010/main" val="305888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 Fisher 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05521D9-2456-A13F-0A85-5D861B06BF87}"/>
                  </a:ext>
                </a:extLst>
              </p:cNvPr>
              <p:cNvSpPr txBox="1"/>
              <p:nvPr/>
            </p:nvSpPr>
            <p:spPr>
              <a:xfrm>
                <a:off x="309562" y="1374928"/>
                <a:ext cx="11783378" cy="35089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spcAft>
                    <a:spcPts val="1200"/>
                  </a:spcAft>
                  <a:defRPr b="1">
                    <a:solidFill>
                      <a:srgbClr val="268F9C"/>
                    </a:solidFill>
                    <a:latin typeface="+mn-ea"/>
                  </a:defRPr>
                </a:lvl1pPr>
                <a:lvl2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  <a:defRPr>
                    <a:latin typeface="+mn-ea"/>
                  </a:defRPr>
                </a:lvl2pPr>
              </a:lstStyle>
              <a:p>
                <a:r>
                  <a:rPr lang="zh-CN" altLang="en-US" dirty="0"/>
                  <a:t>方法：</a:t>
                </a:r>
                <a:endParaRPr lang="en-US" altLang="zh-CN" dirty="0"/>
              </a:p>
              <a:p>
                <a:pPr marL="1028700" lvl="1"/>
                <a:r>
                  <a:rPr lang="zh-CN" altLang="en-US" dirty="0"/>
                  <a:t>参数平均相当于直接用相同的高斯分布（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Gausian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）近似后验分布</a:t>
                </a:r>
                <a:endParaRPr lang="en-US" altLang="zh-CN" dirty="0"/>
              </a:p>
              <a:p>
                <a:pPr marL="1028700" lvl="1"/>
                <a:r>
                  <a:rPr lang="zh-CN" altLang="en-US" dirty="0"/>
                  <a:t>最优参数相当于去每个模型联合后验分布（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dirty="0"/>
                  <a:t>）概率最大值，结果就为直接平均</a:t>
                </a:r>
                <a:endParaRPr lang="en-US" altLang="zh-CN" dirty="0"/>
              </a:p>
              <a:p>
                <a:pPr marL="1028700" lvl="1"/>
                <a:r>
                  <a:rPr lang="zh-CN" altLang="en-US" dirty="0"/>
                  <a:t>作者使用更精确的</a:t>
                </a:r>
                <a:r>
                  <a:rPr lang="en-US" altLang="zh-CN" dirty="0"/>
                  <a:t>Laplace</a:t>
                </a:r>
                <a:r>
                  <a:rPr lang="zh-CN" altLang="en-US" dirty="0"/>
                  <a:t>估计来近似参数后验分布，近似后的分布为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Gausian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 是模型的</a:t>
                </a:r>
                <a:r>
                  <a:rPr lang="en-US" altLang="zh-CN" dirty="0"/>
                  <a:t>Fisher</a:t>
                </a:r>
                <a:r>
                  <a:rPr lang="zh-CN" altLang="en-US" dirty="0"/>
                  <a:t>矩阵</a:t>
                </a:r>
                <a:endParaRPr lang="en-US" altLang="zh-CN" dirty="0"/>
              </a:p>
              <a:p>
                <a:pPr marL="1028700" lvl="1"/>
                <a:r>
                  <a:rPr lang="en-US" altLang="zh-CN" dirty="0"/>
                  <a:t>Fisher</a:t>
                </a:r>
                <a:r>
                  <a:rPr lang="zh-CN" altLang="en-US" dirty="0"/>
                  <a:t>矩阵等价于模型的二阶导数，代表估计参数的精度，</a:t>
                </a:r>
                <a:r>
                  <a:rPr lang="en-US" altLang="zh-CN" dirty="0"/>
                  <a:t>Fisher</a:t>
                </a:r>
                <a:r>
                  <a:rPr lang="zh-CN" altLang="en-US" dirty="0"/>
                  <a:t>矩阵越大，代表正态分布尖峰越尖，所估计的参数越精确，反之，则代表所估计的参数可能性越低。</a:t>
                </a:r>
                <a:endParaRPr lang="en-US" altLang="zh-CN" dirty="0"/>
              </a:p>
              <a:p>
                <a:pPr marL="1028700" lvl="1"/>
                <a:r>
                  <a:rPr lang="zh-CN" altLang="en-US" dirty="0"/>
                  <a:t>此时最优参数是</a:t>
                </a:r>
                <a:endParaRPr lang="en-US" altLang="zh-CN" dirty="0"/>
              </a:p>
              <a:p>
                <a:pPr marL="1028700" lvl="1"/>
                <a:endParaRPr lang="en-US" altLang="zh-CN" dirty="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05521D9-2456-A13F-0A85-5D861B06B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62" y="1374928"/>
                <a:ext cx="11783378" cy="3508974"/>
              </a:xfrm>
              <a:prstGeom prst="rect">
                <a:avLst/>
              </a:prstGeom>
              <a:blipFill>
                <a:blip r:embed="rId3"/>
                <a:stretch>
                  <a:fillRect l="-466" t="-1043" r="-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0868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论文：</a:t>
            </a:r>
            <a:r>
              <a:rPr lang="en-US" altLang="zh-CN" dirty="0">
                <a:latin typeface="+mn-ea"/>
              </a:rPr>
              <a:t>Merging Models with Fisher-Weighted Averaging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701F6E-1103-6A4A-AD18-36BF682BF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66" y="3880953"/>
            <a:ext cx="3755914" cy="28352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A4975D9-C8A3-E823-B478-6DE9EB990015}"/>
                  </a:ext>
                </a:extLst>
              </p:cNvPr>
              <p:cNvSpPr txBox="1"/>
              <p:nvPr/>
            </p:nvSpPr>
            <p:spPr>
              <a:xfrm>
                <a:off x="1429535" y="4525264"/>
                <a:ext cx="6172200" cy="84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A4975D9-C8A3-E823-B478-6DE9EB990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535" y="4525264"/>
                <a:ext cx="6172200" cy="84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1A28BBA2-519F-CE62-1A17-93AF115377A5}"/>
              </a:ext>
            </a:extLst>
          </p:cNvPr>
          <p:cNvSpPr txBox="1"/>
          <p:nvPr/>
        </p:nvSpPr>
        <p:spPr>
          <a:xfrm>
            <a:off x="-13334" y="5481372"/>
            <a:ext cx="6505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14450" lvl="1" indent="-285750" algn="just">
              <a:buFont typeface="Arial" panose="020B0604020202020204" pitchFamily="34" charset="0"/>
              <a:buChar char="•"/>
            </a:pPr>
            <a:r>
              <a:rPr lang="zh-CN" altLang="en-US" dirty="0"/>
              <a:t>此公式的意思是，模型对应的</a:t>
            </a:r>
            <a:r>
              <a:rPr lang="en-US" altLang="zh-CN" dirty="0"/>
              <a:t>Fisher</a:t>
            </a:r>
            <a:r>
              <a:rPr lang="zh-CN" altLang="en-US" dirty="0"/>
              <a:t>矩阵值越大，那么说明所估计的参数越精确，一点波动就会造成模型精度大幅下降，因此，</a:t>
            </a:r>
            <a:r>
              <a:rPr lang="zh-CN" altLang="en-US" b="1" dirty="0"/>
              <a:t>对齐分配的权重应该尽可能的大</a:t>
            </a:r>
            <a:r>
              <a:rPr lang="zh-CN" altLang="en-US" dirty="0"/>
              <a:t>，防止其变化程度太大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7171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/>
          <p:cNvSpPr txBox="1"/>
          <p:nvPr/>
        </p:nvSpPr>
        <p:spPr>
          <a:xfrm>
            <a:off x="6625590" y="2809757"/>
            <a:ext cx="489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600" dirty="0">
                <a:latin typeface="Lato" panose="020F0502020204030203" pitchFamily="34" charset="0"/>
              </a:rPr>
              <a:t>3.</a:t>
            </a:r>
            <a:r>
              <a:rPr lang="zh-CN" altLang="en-US" sz="3600" dirty="0">
                <a:latin typeface="Lato" panose="020F0502020204030203" pitchFamily="34" charset="0"/>
              </a:rPr>
              <a:t>基于子空间的融合</a:t>
            </a:r>
            <a:endParaRPr lang="en-US" altLang="zh-CN" sz="3600" b="1" dirty="0"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41065" y="3837410"/>
            <a:ext cx="5863771" cy="57767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985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TIES-Merging (</a:t>
            </a:r>
            <a:r>
              <a:rPr lang="en-US" altLang="zh-CN" sz="2800" dirty="0" err="1"/>
              <a:t>TrIm</a:t>
            </a:r>
            <a:r>
              <a:rPr lang="en-US" altLang="zh-CN" sz="2800" dirty="0"/>
              <a:t>, Elect Sign &amp; Merge)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0868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论文：</a:t>
            </a:r>
            <a:r>
              <a:rPr lang="en-US" altLang="zh-CN" dirty="0">
                <a:latin typeface="+mn-ea"/>
              </a:rPr>
              <a:t>TIES-MERGING: Resolving Interference When Merging Models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0BA65B-8C4A-5970-45A3-52B5FF4799E7}"/>
              </a:ext>
            </a:extLst>
          </p:cNvPr>
          <p:cNvSpPr txBox="1"/>
          <p:nvPr/>
        </p:nvSpPr>
        <p:spPr>
          <a:xfrm>
            <a:off x="309562" y="1381470"/>
            <a:ext cx="1147926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背景：</a:t>
            </a:r>
            <a:r>
              <a:rPr lang="zh-CN" altLang="en-US" dirty="0">
                <a:latin typeface="+mn-ea"/>
              </a:rPr>
              <a:t>在任务算术中，并没有考虑参数之间的干扰</a:t>
            </a:r>
            <a:endParaRPr lang="en-US" altLang="zh-CN" dirty="0">
              <a:latin typeface="+mn-ea"/>
            </a:endParaRPr>
          </a:p>
          <a:p>
            <a:pPr marL="1200150" lvl="2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参数冗余：一些参数再微调时只有些许改变，对性能影响不大，但对模型合并会造成较大影响</a:t>
            </a:r>
            <a:endParaRPr lang="en-US" altLang="zh-CN" dirty="0">
              <a:latin typeface="+mn-ea"/>
            </a:endParaRPr>
          </a:p>
          <a:p>
            <a:pPr marL="1200150" lvl="2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符号冲突：不同模型在同一参数上可能符号不同，这是直接合并会缩小该参数的大小，对模型的性能造成影响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4CF024C-E29F-39BF-F891-703FFC95C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349" y="2889575"/>
            <a:ext cx="6071685" cy="372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7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TIES-Merging (</a:t>
            </a:r>
            <a:r>
              <a:rPr lang="en-US" altLang="zh-CN" sz="2800" dirty="0" err="1"/>
              <a:t>TrIm</a:t>
            </a:r>
            <a:r>
              <a:rPr lang="en-US" altLang="zh-CN" sz="2800" dirty="0"/>
              <a:t>, Elect Sign &amp; Merge)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086897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参数冗余：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作者首先证明了微调后的参数大多是冗余的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如图，仅仅保留前任务向量中</a:t>
            </a:r>
            <a:r>
              <a:rPr lang="en-US" altLang="zh-CN" dirty="0">
                <a:latin typeface="+mn-ea"/>
              </a:rPr>
              <a:t>10%</a:t>
            </a:r>
            <a:r>
              <a:rPr lang="zh-CN" altLang="en-US" dirty="0">
                <a:latin typeface="+mn-ea"/>
              </a:rPr>
              <a:t>大的参数但却轻微损失模型性能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但冗余参数在直接平均是却会显著影响其他模型中的参数大小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因此，在合并时，只需要保留前</a:t>
            </a:r>
            <a:r>
              <a:rPr lang="en-US" altLang="zh-CN" dirty="0">
                <a:latin typeface="+mn-ea"/>
              </a:rPr>
              <a:t>10%</a:t>
            </a:r>
            <a:r>
              <a:rPr lang="zh-CN" altLang="en-US" dirty="0">
                <a:latin typeface="+mn-ea"/>
              </a:rPr>
              <a:t>大的参数，其他参数全都置为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，且不参与平均</a:t>
            </a:r>
            <a:endParaRPr lang="en-US" altLang="zh-CN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EE0562-2CA7-7726-FCCB-7EC3BEE5D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60" y="3429000"/>
            <a:ext cx="5614988" cy="2703086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A1E28A1-51EB-1678-A95A-D0D5B9B6F656}"/>
              </a:ext>
            </a:extLst>
          </p:cNvPr>
          <p:cNvGrpSpPr/>
          <p:nvPr/>
        </p:nvGrpSpPr>
        <p:grpSpPr>
          <a:xfrm>
            <a:off x="6435653" y="3091388"/>
            <a:ext cx="5308092" cy="3256883"/>
            <a:chOff x="6435653" y="3091388"/>
            <a:chExt cx="5308092" cy="3256883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D3E2574-97AD-11C8-70EA-FF85892FB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5653" y="3091388"/>
              <a:ext cx="5308092" cy="3256883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65D5119-A368-A996-6445-ECB7A6EEC986}"/>
                </a:ext>
              </a:extLst>
            </p:cNvPr>
            <p:cNvSpPr/>
            <p:nvPr/>
          </p:nvSpPr>
          <p:spPr>
            <a:xfrm>
              <a:off x="7223760" y="3829050"/>
              <a:ext cx="537210" cy="177165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7CA2962-65AA-3C88-27DF-3ACA3E9B2F8B}"/>
                </a:ext>
              </a:extLst>
            </p:cNvPr>
            <p:cNvSpPr/>
            <p:nvPr/>
          </p:nvSpPr>
          <p:spPr>
            <a:xfrm>
              <a:off x="10382250" y="3829050"/>
              <a:ext cx="537210" cy="177165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698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TIES-Merging (</a:t>
            </a:r>
            <a:r>
              <a:rPr lang="en-US" altLang="zh-CN" sz="2800" dirty="0" err="1"/>
              <a:t>TrIm</a:t>
            </a:r>
            <a:r>
              <a:rPr lang="en-US" altLang="zh-CN" sz="2800" dirty="0"/>
              <a:t>, Elect Sign &amp; Merge)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086897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符号冲突：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作者探究了修剪过后的参数上符号有冲突的比例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如图所示，随着需要合并的模型数量增加，参数符号冲突的比率依次增大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符号有冲突的参数在合并后会使得合并后的参数数值缩小，显著影响性能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因此，作者只保留了与大体符号趋势一样的参数，也就是和所有参数相加后的值的符号一致的参数</a:t>
            </a:r>
            <a:endParaRPr lang="en-US" altLang="zh-CN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ECA724-6D3F-B5CA-5DAB-D2312E4B6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88" y="3977166"/>
            <a:ext cx="5288112" cy="2419350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48D526C4-85A7-613D-C976-DEF16A25542E}"/>
              </a:ext>
            </a:extLst>
          </p:cNvPr>
          <p:cNvGrpSpPr/>
          <p:nvPr/>
        </p:nvGrpSpPr>
        <p:grpSpPr>
          <a:xfrm>
            <a:off x="6362702" y="3429000"/>
            <a:ext cx="5115909" cy="3138966"/>
            <a:chOff x="6362702" y="3429000"/>
            <a:chExt cx="5115909" cy="313896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C740EF7-D851-6495-E5F2-430DE4E20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62702" y="3429000"/>
              <a:ext cx="5115909" cy="3138966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D07D3AE-0035-0C37-7A8C-789C2FBBDD5B}"/>
                </a:ext>
              </a:extLst>
            </p:cNvPr>
            <p:cNvSpPr/>
            <p:nvPr/>
          </p:nvSpPr>
          <p:spPr>
            <a:xfrm>
              <a:off x="7772400" y="4154582"/>
              <a:ext cx="457200" cy="2051907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ED19DA7-3D88-2760-A2BE-7800B121928D}"/>
                </a:ext>
              </a:extLst>
            </p:cNvPr>
            <p:cNvSpPr/>
            <p:nvPr/>
          </p:nvSpPr>
          <p:spPr>
            <a:xfrm>
              <a:off x="10862310" y="4154581"/>
              <a:ext cx="457200" cy="2051907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048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TIES-Merging (</a:t>
            </a:r>
            <a:r>
              <a:rPr lang="en-US" altLang="zh-CN" sz="2800" dirty="0" err="1"/>
              <a:t>TrIm</a:t>
            </a:r>
            <a:r>
              <a:rPr lang="en-US" altLang="zh-CN" sz="2800" dirty="0"/>
              <a:t>, Elect Sign &amp; Merge)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0868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算法流程：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CBCBE2-836A-72C7-71A0-D4956CA4D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1931670"/>
            <a:ext cx="11705808" cy="417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35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TIES-Merging (</a:t>
            </a:r>
            <a:r>
              <a:rPr lang="en-US" altLang="zh-CN" sz="2800" dirty="0" err="1"/>
              <a:t>TrIm</a:t>
            </a:r>
            <a:r>
              <a:rPr lang="en-US" altLang="zh-CN" sz="2800" dirty="0"/>
              <a:t>, Elect Sign &amp; Merge)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3D106DF-6EF5-4AC3-56F0-8521F98092C4}"/>
                  </a:ext>
                </a:extLst>
              </p:cNvPr>
              <p:cNvSpPr txBox="1"/>
              <p:nvPr/>
            </p:nvSpPr>
            <p:spPr>
              <a:xfrm>
                <a:off x="309562" y="846999"/>
                <a:ext cx="10868978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b="1" dirty="0">
                    <a:solidFill>
                      <a:srgbClr val="268F9C"/>
                    </a:solidFill>
                    <a:latin typeface="+mn-ea"/>
                  </a:rPr>
                  <a:t>实验：</a:t>
                </a:r>
                <a:endParaRPr lang="en-US" altLang="zh-CN" b="1" dirty="0">
                  <a:solidFill>
                    <a:srgbClr val="268F9C"/>
                  </a:solidFill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在</a:t>
                </a:r>
                <a:r>
                  <a:rPr lang="en-US" altLang="zh-CN" dirty="0">
                    <a:latin typeface="+mn-ea"/>
                  </a:rPr>
                  <a:t>NLP</a:t>
                </a:r>
                <a:r>
                  <a:rPr lang="zh-CN" altLang="en-US" dirty="0">
                    <a:latin typeface="+mn-ea"/>
                  </a:rPr>
                  <a:t>和</a:t>
                </a:r>
                <a:r>
                  <a:rPr lang="en-US" altLang="zh-CN" dirty="0">
                    <a:latin typeface="+mn-ea"/>
                  </a:rPr>
                  <a:t>Vision</a:t>
                </a:r>
                <a:r>
                  <a:rPr lang="zh-CN" altLang="en-US" dirty="0">
                    <a:latin typeface="+mn-ea"/>
                  </a:rPr>
                  <a:t>分别使用</a:t>
                </a:r>
                <a:r>
                  <a:rPr lang="en-US" altLang="zh-CN" dirty="0">
                    <a:latin typeface="+mn-ea"/>
                  </a:rPr>
                  <a:t>T5</a:t>
                </a:r>
                <a:r>
                  <a:rPr lang="zh-CN" altLang="en-US" dirty="0">
                    <a:latin typeface="+mn-ea"/>
                  </a:rPr>
                  <a:t>和</a:t>
                </a:r>
                <a:r>
                  <a:rPr lang="en-US" altLang="zh-CN" dirty="0">
                    <a:latin typeface="+mn-ea"/>
                  </a:rPr>
                  <a:t>CLIP</a:t>
                </a:r>
                <a:r>
                  <a:rPr lang="zh-CN" altLang="en-US" dirty="0">
                    <a:latin typeface="+mn-ea"/>
                  </a:rPr>
                  <a:t>进行实验</a:t>
                </a:r>
                <a:endParaRPr lang="en-US" altLang="zh-CN" dirty="0"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在没有验证集的情况下，</a:t>
                </a:r>
                <a:r>
                  <a:rPr lang="en-US" altLang="zh-CN" dirty="0">
                    <a:latin typeface="+mn-ea"/>
                  </a:rPr>
                  <a:t>Task Arithmetic</a:t>
                </a:r>
                <a:r>
                  <a:rPr lang="zh-CN" altLang="en-US" dirty="0">
                    <a:latin typeface="+mn-ea"/>
                  </a:rPr>
                  <a:t>使用权重系数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latin typeface="+mn-ea"/>
                  </a:rPr>
                  <a:t>TIES</a:t>
                </a:r>
                <a:r>
                  <a:rPr lang="zh-CN" altLang="en-US" dirty="0">
                    <a:latin typeface="+mn-ea"/>
                  </a:rPr>
                  <a:t>使用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+mn-ea"/>
                  </a:rPr>
                  <a:t>并保留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𝑡𝑜𝑝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−20%</m:t>
                    </m:r>
                  </m:oMath>
                </a14:m>
                <a:r>
                  <a:rPr lang="zh-CN" altLang="en-US" dirty="0">
                    <a:latin typeface="+mn-ea"/>
                  </a:rPr>
                  <a:t>的参数</a:t>
                </a:r>
                <a:endParaRPr lang="en-US" altLang="zh-CN" dirty="0"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有验证集的情况下，就从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∈[0.8, 3]</m:t>
                    </m:r>
                  </m:oMath>
                </a14:m>
                <a:r>
                  <a:rPr lang="zh-CN" altLang="en-US" dirty="0">
                    <a:latin typeface="+mn-ea"/>
                  </a:rPr>
                  <a:t>之间和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∈{10,20,30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𝑡𝑜𝑝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%)</m:t>
                    </m:r>
                  </m:oMath>
                </a14:m>
                <a:r>
                  <a:rPr lang="zh-CN" altLang="en-US" dirty="0">
                    <a:latin typeface="+mn-ea"/>
                  </a:rPr>
                  <a:t>中选择最优的超参数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3D106DF-6EF5-4AC3-56F0-8521F9809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62" y="846999"/>
                <a:ext cx="10868978" cy="1938992"/>
              </a:xfrm>
              <a:prstGeom prst="rect">
                <a:avLst/>
              </a:prstGeom>
              <a:blipFill>
                <a:blip r:embed="rId3"/>
                <a:stretch>
                  <a:fillRect l="-505" t="-1887" b="-40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70BADC2-A47D-CCAE-121E-2776CA0C1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" y="2857026"/>
            <a:ext cx="114681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94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DARE</a:t>
            </a:r>
            <a:r>
              <a:rPr lang="zh-CN" altLang="en-US" sz="2800" dirty="0"/>
              <a:t>（</a:t>
            </a:r>
            <a:r>
              <a:rPr lang="en-US" altLang="zh-CN" sz="2800" dirty="0"/>
              <a:t>Drop And </a:t>
            </a:r>
            <a:r>
              <a:rPr lang="en-US" altLang="zh-CN" sz="2800" dirty="0" err="1"/>
              <a:t>REscale</a:t>
            </a:r>
            <a:r>
              <a:rPr lang="zh-CN" altLang="en-US" sz="2800" dirty="0"/>
              <a:t>）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1882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论文：</a:t>
            </a:r>
            <a:r>
              <a:rPr lang="en-US" altLang="zh-CN" dirty="0">
                <a:latin typeface="+mn-ea"/>
              </a:rPr>
              <a:t>Language Models are Super Mario: Absorbing Abilities from Homologous Models as a Free Lunch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4FADBB7-F481-04AC-D335-56384B93BA8F}"/>
                  </a:ext>
                </a:extLst>
              </p:cNvPr>
              <p:cNvSpPr txBox="1"/>
              <p:nvPr/>
            </p:nvSpPr>
            <p:spPr>
              <a:xfrm>
                <a:off x="309562" y="1367839"/>
                <a:ext cx="11737658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268F9C"/>
                    </a:solidFill>
                    <a:latin typeface="+mn-ea"/>
                  </a:rPr>
                  <a:t>方法：</a:t>
                </a:r>
                <a:endParaRPr lang="en-US" altLang="zh-CN" b="1" dirty="0">
                  <a:solidFill>
                    <a:srgbClr val="268F9C"/>
                  </a:solidFill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在大语言模型中，微调后的参数变化一般很小，一般在</a:t>
                </a:r>
                <a:r>
                  <a:rPr lang="en-US" altLang="zh-CN" dirty="0">
                    <a:latin typeface="+mn-ea"/>
                  </a:rPr>
                  <a:t>0.002</a:t>
                </a:r>
                <a:r>
                  <a:rPr lang="zh-CN" altLang="en-US" dirty="0">
                    <a:latin typeface="+mn-ea"/>
                  </a:rPr>
                  <a:t>以内，为了减少不同模型间参数的冗余，作者提出了</a:t>
                </a:r>
                <a:r>
                  <a:rPr lang="en-US" altLang="zh-CN" dirty="0">
                    <a:latin typeface="+mn-ea"/>
                  </a:rPr>
                  <a:t>DARE</a:t>
                </a:r>
                <a:r>
                  <a:rPr lang="zh-CN" altLang="en-US" dirty="0">
                    <a:latin typeface="+mn-ea"/>
                  </a:rPr>
                  <a:t>方法，先删除</a:t>
                </a:r>
                <a:r>
                  <a:rPr lang="en-US" altLang="zh-CN" dirty="0">
                    <a:latin typeface="+mn-ea"/>
                  </a:rPr>
                  <a:t>(Drop)</a:t>
                </a:r>
                <a:r>
                  <a:rPr lang="zh-CN" altLang="en-US" dirty="0">
                    <a:latin typeface="+mn-ea"/>
                  </a:rPr>
                  <a:t>，再重放缩</a:t>
                </a:r>
                <a:r>
                  <a:rPr lang="en-US" altLang="zh-CN" dirty="0">
                    <a:latin typeface="+mn-ea"/>
                  </a:rPr>
                  <a:t>(Rescale)</a:t>
                </a: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作者以一定概率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 删除一个参数，即将这个参数置为零，删除概率越大，参数越稀疏，参数冗余越小</a:t>
                </a:r>
                <a:endParaRPr lang="en-US" altLang="zh-CN" dirty="0"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然后再将参数放缩到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1/(1−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的大小以近似原始的输出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4FADBB7-F481-04AC-D335-56384B93B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62" y="1367839"/>
                <a:ext cx="11737658" cy="1785104"/>
              </a:xfrm>
              <a:prstGeom prst="rect">
                <a:avLst/>
              </a:prstGeom>
              <a:blipFill>
                <a:blip r:embed="rId3"/>
                <a:stretch>
                  <a:fillRect l="-468" t="-1706" b="-4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DCD85560-7418-FB46-EA2D-F4A98357687D}"/>
              </a:ext>
            </a:extLst>
          </p:cNvPr>
          <p:cNvGrpSpPr/>
          <p:nvPr/>
        </p:nvGrpSpPr>
        <p:grpSpPr>
          <a:xfrm>
            <a:off x="1585962" y="3894035"/>
            <a:ext cx="2845514" cy="1744716"/>
            <a:chOff x="1254492" y="3936833"/>
            <a:chExt cx="2845514" cy="1744716"/>
          </a:xfrm>
        </p:grpSpPr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E488A982-B212-E8BE-E9BC-94A560F0E018}"/>
                </a:ext>
              </a:extLst>
            </p:cNvPr>
            <p:cNvCxnSpPr>
              <a:cxnSpLocks/>
              <a:stCxn id="23" idx="6"/>
              <a:endCxn id="14" idx="2"/>
            </p:cNvCxnSpPr>
            <p:nvPr/>
          </p:nvCxnSpPr>
          <p:spPr>
            <a:xfrm>
              <a:off x="2348566" y="4812183"/>
              <a:ext cx="609722" cy="74167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44A5127F-076B-ABDB-94C6-D3273FB8FC32}"/>
                </a:ext>
              </a:extLst>
            </p:cNvPr>
            <p:cNvCxnSpPr>
              <a:cxnSpLocks/>
              <a:stCxn id="22" idx="6"/>
              <a:endCxn id="14" idx="2"/>
            </p:cNvCxnSpPr>
            <p:nvPr/>
          </p:nvCxnSpPr>
          <p:spPr>
            <a:xfrm flipV="1">
              <a:off x="2348566" y="5553853"/>
              <a:ext cx="609722" cy="5795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DC87549-8F91-1ABF-6C82-EAFC70205D8B}"/>
                </a:ext>
              </a:extLst>
            </p:cNvPr>
            <p:cNvCxnSpPr>
              <a:cxnSpLocks/>
              <a:stCxn id="22" idx="6"/>
              <a:endCxn id="15" idx="2"/>
            </p:cNvCxnSpPr>
            <p:nvPr/>
          </p:nvCxnSpPr>
          <p:spPr>
            <a:xfrm flipV="1">
              <a:off x="2348566" y="4784911"/>
              <a:ext cx="609684" cy="77473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3B35F2F-167D-6CB5-13EB-924404075497}"/>
                </a:ext>
              </a:extLst>
            </p:cNvPr>
            <p:cNvSpPr/>
            <p:nvPr/>
          </p:nvSpPr>
          <p:spPr>
            <a:xfrm>
              <a:off x="2958288" y="5431952"/>
              <a:ext cx="224839" cy="2438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7843301-9FCF-5685-3903-8F0EA5C27B02}"/>
                </a:ext>
              </a:extLst>
            </p:cNvPr>
            <p:cNvSpPr/>
            <p:nvPr/>
          </p:nvSpPr>
          <p:spPr>
            <a:xfrm>
              <a:off x="2958294" y="4663005"/>
              <a:ext cx="224839" cy="2438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561C8B5-345E-1CA3-2A87-60EDDFE76992}"/>
                </a:ext>
              </a:extLst>
            </p:cNvPr>
            <p:cNvSpPr/>
            <p:nvPr/>
          </p:nvSpPr>
          <p:spPr>
            <a:xfrm>
              <a:off x="2958294" y="3936833"/>
              <a:ext cx="224839" cy="243802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19BD1E3-ADC1-F237-D21D-E9CD97B7F31E}"/>
                </a:ext>
              </a:extLst>
            </p:cNvPr>
            <p:cNvSpPr/>
            <p:nvPr/>
          </p:nvSpPr>
          <p:spPr>
            <a:xfrm>
              <a:off x="1254492" y="4316480"/>
              <a:ext cx="224832" cy="24380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4AC5FEB-57E0-1637-BB77-91BE8F6024D8}"/>
                </a:ext>
              </a:extLst>
            </p:cNvPr>
            <p:cNvSpPr/>
            <p:nvPr/>
          </p:nvSpPr>
          <p:spPr>
            <a:xfrm>
              <a:off x="1254492" y="5064088"/>
              <a:ext cx="224832" cy="24380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E68205C-6BDF-124B-1F9A-C455F31E41C4}"/>
                </a:ext>
              </a:extLst>
            </p:cNvPr>
            <p:cNvSpPr/>
            <p:nvPr/>
          </p:nvSpPr>
          <p:spPr>
            <a:xfrm>
              <a:off x="3864621" y="5064087"/>
              <a:ext cx="224829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699F2A9-28A9-A6E1-6881-A6518235E4F7}"/>
                </a:ext>
              </a:extLst>
            </p:cNvPr>
            <p:cNvSpPr/>
            <p:nvPr/>
          </p:nvSpPr>
          <p:spPr>
            <a:xfrm>
              <a:off x="3875177" y="4316480"/>
              <a:ext cx="224829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98FCC85-2592-BD9F-DF5F-4E33F6FF8C66}"/>
                </a:ext>
              </a:extLst>
            </p:cNvPr>
            <p:cNvSpPr/>
            <p:nvPr/>
          </p:nvSpPr>
          <p:spPr>
            <a:xfrm>
              <a:off x="2123734" y="3942816"/>
              <a:ext cx="224832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4DD237BE-9A13-BA44-37AE-E33401AF1E9D}"/>
                </a:ext>
              </a:extLst>
            </p:cNvPr>
            <p:cNvSpPr/>
            <p:nvPr/>
          </p:nvSpPr>
          <p:spPr>
            <a:xfrm>
              <a:off x="2123734" y="5437747"/>
              <a:ext cx="224832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2B7D66B6-6564-0E79-FA38-12EA8E1F53E9}"/>
                </a:ext>
              </a:extLst>
            </p:cNvPr>
            <p:cNvSpPr/>
            <p:nvPr/>
          </p:nvSpPr>
          <p:spPr>
            <a:xfrm>
              <a:off x="2123734" y="4690282"/>
              <a:ext cx="224832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A1B5EBF-9055-ABFA-514E-E4C72234CDCE}"/>
                </a:ext>
              </a:extLst>
            </p:cNvPr>
            <p:cNvCxnSpPr>
              <a:cxnSpLocks/>
              <a:stCxn id="17" idx="6"/>
              <a:endCxn id="21" idx="2"/>
            </p:cNvCxnSpPr>
            <p:nvPr/>
          </p:nvCxnSpPr>
          <p:spPr>
            <a:xfrm flipV="1">
              <a:off x="1479324" y="4064717"/>
              <a:ext cx="644410" cy="37366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A551134A-1474-843F-3A6E-12ED464D988A}"/>
                </a:ext>
              </a:extLst>
            </p:cNvPr>
            <p:cNvCxnSpPr>
              <a:cxnSpLocks/>
              <a:stCxn id="17" idx="6"/>
              <a:endCxn id="23" idx="2"/>
            </p:cNvCxnSpPr>
            <p:nvPr/>
          </p:nvCxnSpPr>
          <p:spPr>
            <a:xfrm>
              <a:off x="1479324" y="4438379"/>
              <a:ext cx="644410" cy="373804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F270A1A1-3CDE-9C2B-E8D6-1F9F1F67EC9C}"/>
                </a:ext>
              </a:extLst>
            </p:cNvPr>
            <p:cNvCxnSpPr>
              <a:cxnSpLocks/>
              <a:stCxn id="17" idx="6"/>
              <a:endCxn id="22" idx="2"/>
            </p:cNvCxnSpPr>
            <p:nvPr/>
          </p:nvCxnSpPr>
          <p:spPr>
            <a:xfrm>
              <a:off x="1479324" y="4438379"/>
              <a:ext cx="644410" cy="112126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5B5FE543-8339-F4ED-859D-8E88C08B7F93}"/>
                </a:ext>
              </a:extLst>
            </p:cNvPr>
            <p:cNvCxnSpPr>
              <a:cxnSpLocks/>
              <a:stCxn id="18" idx="6"/>
              <a:endCxn id="21" idx="2"/>
            </p:cNvCxnSpPr>
            <p:nvPr/>
          </p:nvCxnSpPr>
          <p:spPr>
            <a:xfrm flipV="1">
              <a:off x="1479324" y="4064717"/>
              <a:ext cx="644410" cy="112126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D8E711B-FA24-A7C0-C8D9-17C7D4E0CB94}"/>
                </a:ext>
              </a:extLst>
            </p:cNvPr>
            <p:cNvCxnSpPr>
              <a:cxnSpLocks/>
              <a:stCxn id="18" idx="6"/>
              <a:endCxn id="23" idx="2"/>
            </p:cNvCxnSpPr>
            <p:nvPr/>
          </p:nvCxnSpPr>
          <p:spPr>
            <a:xfrm flipV="1">
              <a:off x="1479324" y="4812183"/>
              <a:ext cx="644410" cy="373804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55D3AC3-6889-B303-B2C3-551BD164854D}"/>
                </a:ext>
              </a:extLst>
            </p:cNvPr>
            <p:cNvCxnSpPr>
              <a:cxnSpLocks/>
              <a:stCxn id="18" idx="6"/>
              <a:endCxn id="22" idx="2"/>
            </p:cNvCxnSpPr>
            <p:nvPr/>
          </p:nvCxnSpPr>
          <p:spPr>
            <a:xfrm>
              <a:off x="1479324" y="5185987"/>
              <a:ext cx="644410" cy="37366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A4300527-80F2-E16B-E39E-C23E489CF07F}"/>
                </a:ext>
              </a:extLst>
            </p:cNvPr>
            <p:cNvCxnSpPr>
              <a:cxnSpLocks/>
              <a:stCxn id="21" idx="6"/>
              <a:endCxn id="14" idx="2"/>
            </p:cNvCxnSpPr>
            <p:nvPr/>
          </p:nvCxnSpPr>
          <p:spPr>
            <a:xfrm>
              <a:off x="2348566" y="4064717"/>
              <a:ext cx="609722" cy="1489136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94407E7-6039-D94B-A8F2-1AB11ACE45EE}"/>
                </a:ext>
              </a:extLst>
            </p:cNvPr>
            <p:cNvCxnSpPr>
              <a:cxnSpLocks/>
              <a:stCxn id="21" idx="6"/>
              <a:endCxn id="16" idx="2"/>
            </p:cNvCxnSpPr>
            <p:nvPr/>
          </p:nvCxnSpPr>
          <p:spPr>
            <a:xfrm flipV="1">
              <a:off x="2348566" y="4058734"/>
              <a:ext cx="609684" cy="5983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431973D-02A7-26AC-4EDC-50E7025BF693}"/>
                </a:ext>
              </a:extLst>
            </p:cNvPr>
            <p:cNvCxnSpPr>
              <a:cxnSpLocks/>
              <a:stCxn id="21" idx="6"/>
              <a:endCxn id="15" idx="2"/>
            </p:cNvCxnSpPr>
            <p:nvPr/>
          </p:nvCxnSpPr>
          <p:spPr>
            <a:xfrm>
              <a:off x="2348566" y="4064715"/>
              <a:ext cx="609684" cy="72019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9451162-5F69-09BC-42E7-B80DF2552C5C}"/>
                </a:ext>
              </a:extLst>
            </p:cNvPr>
            <p:cNvCxnSpPr>
              <a:cxnSpLocks/>
              <a:stCxn id="23" idx="6"/>
              <a:endCxn id="15" idx="2"/>
            </p:cNvCxnSpPr>
            <p:nvPr/>
          </p:nvCxnSpPr>
          <p:spPr>
            <a:xfrm flipV="1">
              <a:off x="2348566" y="4784907"/>
              <a:ext cx="609684" cy="27274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C15E803-CE52-2DAA-8357-985007F0ADFB}"/>
                </a:ext>
              </a:extLst>
            </p:cNvPr>
            <p:cNvCxnSpPr>
              <a:cxnSpLocks/>
              <a:stCxn id="23" idx="6"/>
              <a:endCxn id="16" idx="2"/>
            </p:cNvCxnSpPr>
            <p:nvPr/>
          </p:nvCxnSpPr>
          <p:spPr>
            <a:xfrm flipV="1">
              <a:off x="2348566" y="4058734"/>
              <a:ext cx="609684" cy="75344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36FCBF3D-6F91-A06B-7B32-095FA45D16B5}"/>
                </a:ext>
              </a:extLst>
            </p:cNvPr>
            <p:cNvCxnSpPr>
              <a:cxnSpLocks/>
              <a:stCxn id="22" idx="6"/>
              <a:endCxn id="16" idx="2"/>
            </p:cNvCxnSpPr>
            <p:nvPr/>
          </p:nvCxnSpPr>
          <p:spPr>
            <a:xfrm flipV="1">
              <a:off x="2348566" y="4058734"/>
              <a:ext cx="609684" cy="1500914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12132A4B-91E7-9497-BDA5-4E7E440417A2}"/>
                </a:ext>
              </a:extLst>
            </p:cNvPr>
            <p:cNvCxnSpPr>
              <a:cxnSpLocks/>
              <a:stCxn id="14" idx="6"/>
              <a:endCxn id="20" idx="2"/>
            </p:cNvCxnSpPr>
            <p:nvPr/>
          </p:nvCxnSpPr>
          <p:spPr>
            <a:xfrm flipV="1">
              <a:off x="3183128" y="4438380"/>
              <a:ext cx="692051" cy="111547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E1996534-E575-5314-C029-F23F5ED5802D}"/>
                </a:ext>
              </a:extLst>
            </p:cNvPr>
            <p:cNvCxnSpPr>
              <a:cxnSpLocks/>
              <a:stCxn id="14" idx="6"/>
              <a:endCxn id="19" idx="2"/>
            </p:cNvCxnSpPr>
            <p:nvPr/>
          </p:nvCxnSpPr>
          <p:spPr>
            <a:xfrm flipV="1">
              <a:off x="3183128" y="5185988"/>
              <a:ext cx="681495" cy="36786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4EA22A4A-BC82-C09B-F4E2-3BF6F99D123E}"/>
                </a:ext>
              </a:extLst>
            </p:cNvPr>
            <p:cNvCxnSpPr>
              <a:cxnSpLocks/>
              <a:stCxn id="15" idx="6"/>
              <a:endCxn id="20" idx="2"/>
            </p:cNvCxnSpPr>
            <p:nvPr/>
          </p:nvCxnSpPr>
          <p:spPr>
            <a:xfrm flipV="1">
              <a:off x="3183087" y="4438379"/>
              <a:ext cx="692091" cy="34653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BEF03AD8-B09B-BBF5-2662-1A2D8119BFDD}"/>
                </a:ext>
              </a:extLst>
            </p:cNvPr>
            <p:cNvCxnSpPr>
              <a:cxnSpLocks/>
              <a:stCxn id="15" idx="6"/>
              <a:endCxn id="19" idx="2"/>
            </p:cNvCxnSpPr>
            <p:nvPr/>
          </p:nvCxnSpPr>
          <p:spPr>
            <a:xfrm>
              <a:off x="3183093" y="4784911"/>
              <a:ext cx="681538" cy="4010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781C3842-7CC9-CEBF-F929-2A89C76DF38F}"/>
                </a:ext>
              </a:extLst>
            </p:cNvPr>
            <p:cNvCxnSpPr>
              <a:cxnSpLocks/>
              <a:stCxn id="16" idx="6"/>
              <a:endCxn id="20" idx="2"/>
            </p:cNvCxnSpPr>
            <p:nvPr/>
          </p:nvCxnSpPr>
          <p:spPr>
            <a:xfrm>
              <a:off x="3183089" y="4058734"/>
              <a:ext cx="692090" cy="379647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C518D7C2-8E96-162C-7E96-AED5E0945631}"/>
                </a:ext>
              </a:extLst>
            </p:cNvPr>
            <p:cNvCxnSpPr>
              <a:cxnSpLocks/>
              <a:stCxn id="16" idx="6"/>
              <a:endCxn id="19" idx="2"/>
            </p:cNvCxnSpPr>
            <p:nvPr/>
          </p:nvCxnSpPr>
          <p:spPr>
            <a:xfrm>
              <a:off x="3183089" y="4058734"/>
              <a:ext cx="681534" cy="1127254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1389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DARE</a:t>
            </a:r>
            <a:r>
              <a:rPr lang="zh-CN" altLang="en-US" sz="2800" dirty="0"/>
              <a:t>（</a:t>
            </a:r>
            <a:r>
              <a:rPr lang="en-US" altLang="zh-CN" sz="2800" dirty="0"/>
              <a:t>Drop And </a:t>
            </a:r>
            <a:r>
              <a:rPr lang="en-US" altLang="zh-CN" sz="2800" dirty="0" err="1"/>
              <a:t>REscale</a:t>
            </a:r>
            <a:r>
              <a:rPr lang="zh-CN" altLang="en-US" sz="2800" dirty="0"/>
              <a:t>）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1882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论文：</a:t>
            </a:r>
            <a:r>
              <a:rPr lang="en-US" altLang="zh-CN" dirty="0">
                <a:latin typeface="+mn-ea"/>
              </a:rPr>
              <a:t>Language Models are Super Mario: Absorbing Abilities from Homologous Models as a Free Lunch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4FADBB7-F481-04AC-D335-56384B93BA8F}"/>
                  </a:ext>
                </a:extLst>
              </p:cNvPr>
              <p:cNvSpPr txBox="1"/>
              <p:nvPr/>
            </p:nvSpPr>
            <p:spPr>
              <a:xfrm>
                <a:off x="309562" y="1367839"/>
                <a:ext cx="11737658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268F9C"/>
                    </a:solidFill>
                    <a:latin typeface="+mn-ea"/>
                  </a:rPr>
                  <a:t>方法：</a:t>
                </a:r>
                <a:endParaRPr lang="en-US" altLang="zh-CN" b="1" dirty="0">
                  <a:solidFill>
                    <a:srgbClr val="268F9C"/>
                  </a:solidFill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在大语言模型中，微调后的参数变化一般很小，一般在</a:t>
                </a:r>
                <a:r>
                  <a:rPr lang="en-US" altLang="zh-CN" dirty="0">
                    <a:latin typeface="+mn-ea"/>
                  </a:rPr>
                  <a:t>0.0002</a:t>
                </a:r>
                <a:r>
                  <a:rPr lang="zh-CN" altLang="en-US" dirty="0">
                    <a:latin typeface="+mn-ea"/>
                  </a:rPr>
                  <a:t>以内，为了减少不同模型间参数的冗余，作者提出了</a:t>
                </a:r>
                <a:r>
                  <a:rPr lang="en-US" altLang="zh-CN" dirty="0">
                    <a:latin typeface="+mn-ea"/>
                  </a:rPr>
                  <a:t>DARE</a:t>
                </a:r>
                <a:r>
                  <a:rPr lang="zh-CN" altLang="en-US" dirty="0">
                    <a:latin typeface="+mn-ea"/>
                  </a:rPr>
                  <a:t>方法，先删除</a:t>
                </a:r>
                <a:r>
                  <a:rPr lang="en-US" altLang="zh-CN" dirty="0">
                    <a:latin typeface="+mn-ea"/>
                  </a:rPr>
                  <a:t>(Drop)</a:t>
                </a:r>
                <a:r>
                  <a:rPr lang="zh-CN" altLang="en-US" dirty="0">
                    <a:latin typeface="+mn-ea"/>
                  </a:rPr>
                  <a:t>，再重放缩</a:t>
                </a:r>
                <a:r>
                  <a:rPr lang="en-US" altLang="zh-CN" dirty="0">
                    <a:latin typeface="+mn-ea"/>
                  </a:rPr>
                  <a:t>(Rescale)</a:t>
                </a: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作者以一定概率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 删除一个参数，即将这个参数置为零，删除概率越大，参数越稀疏，参数冗余越小</a:t>
                </a:r>
                <a:endParaRPr lang="en-US" altLang="zh-CN" dirty="0"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然后再将参数放缩到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1/(1−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的大小以近似原始的输出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4FADBB7-F481-04AC-D335-56384B93B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62" y="1367839"/>
                <a:ext cx="11737658" cy="1785104"/>
              </a:xfrm>
              <a:prstGeom prst="rect">
                <a:avLst/>
              </a:prstGeom>
              <a:blipFill>
                <a:blip r:embed="rId3"/>
                <a:stretch>
                  <a:fillRect l="-468" t="-1706" r="-312" b="-4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DCD85560-7418-FB46-EA2D-F4A98357687D}"/>
              </a:ext>
            </a:extLst>
          </p:cNvPr>
          <p:cNvGrpSpPr/>
          <p:nvPr/>
        </p:nvGrpSpPr>
        <p:grpSpPr>
          <a:xfrm>
            <a:off x="1585962" y="3894035"/>
            <a:ext cx="2845514" cy="1744716"/>
            <a:chOff x="1254492" y="3936833"/>
            <a:chExt cx="2845514" cy="1744716"/>
          </a:xfrm>
        </p:grpSpPr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E488A982-B212-E8BE-E9BC-94A560F0E018}"/>
                </a:ext>
              </a:extLst>
            </p:cNvPr>
            <p:cNvCxnSpPr>
              <a:cxnSpLocks/>
              <a:stCxn id="23" idx="6"/>
              <a:endCxn id="14" idx="2"/>
            </p:cNvCxnSpPr>
            <p:nvPr/>
          </p:nvCxnSpPr>
          <p:spPr>
            <a:xfrm>
              <a:off x="2348566" y="4812183"/>
              <a:ext cx="609722" cy="74167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44A5127F-076B-ABDB-94C6-D3273FB8FC32}"/>
                </a:ext>
              </a:extLst>
            </p:cNvPr>
            <p:cNvCxnSpPr>
              <a:cxnSpLocks/>
              <a:stCxn id="22" idx="6"/>
              <a:endCxn id="14" idx="2"/>
            </p:cNvCxnSpPr>
            <p:nvPr/>
          </p:nvCxnSpPr>
          <p:spPr>
            <a:xfrm flipV="1">
              <a:off x="2348566" y="5553853"/>
              <a:ext cx="609722" cy="5795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DC87549-8F91-1ABF-6C82-EAFC70205D8B}"/>
                </a:ext>
              </a:extLst>
            </p:cNvPr>
            <p:cNvCxnSpPr>
              <a:cxnSpLocks/>
              <a:stCxn id="22" idx="6"/>
              <a:endCxn id="15" idx="2"/>
            </p:cNvCxnSpPr>
            <p:nvPr/>
          </p:nvCxnSpPr>
          <p:spPr>
            <a:xfrm flipV="1">
              <a:off x="2348566" y="4784911"/>
              <a:ext cx="609684" cy="77473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03B35F2F-167D-6CB5-13EB-924404075497}"/>
                </a:ext>
              </a:extLst>
            </p:cNvPr>
            <p:cNvSpPr/>
            <p:nvPr/>
          </p:nvSpPr>
          <p:spPr>
            <a:xfrm>
              <a:off x="2958288" y="5431952"/>
              <a:ext cx="224839" cy="2438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7843301-9FCF-5685-3903-8F0EA5C27B02}"/>
                </a:ext>
              </a:extLst>
            </p:cNvPr>
            <p:cNvSpPr/>
            <p:nvPr/>
          </p:nvSpPr>
          <p:spPr>
            <a:xfrm>
              <a:off x="2958294" y="4663005"/>
              <a:ext cx="224839" cy="24380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561C8B5-345E-1CA3-2A87-60EDDFE76992}"/>
                </a:ext>
              </a:extLst>
            </p:cNvPr>
            <p:cNvSpPr/>
            <p:nvPr/>
          </p:nvSpPr>
          <p:spPr>
            <a:xfrm>
              <a:off x="2958294" y="3936833"/>
              <a:ext cx="224839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19BD1E3-ADC1-F237-D21D-E9CD97B7F31E}"/>
                </a:ext>
              </a:extLst>
            </p:cNvPr>
            <p:cNvSpPr/>
            <p:nvPr/>
          </p:nvSpPr>
          <p:spPr>
            <a:xfrm>
              <a:off x="1254492" y="4316480"/>
              <a:ext cx="224832" cy="24380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4AC5FEB-57E0-1637-BB77-91BE8F6024D8}"/>
                </a:ext>
              </a:extLst>
            </p:cNvPr>
            <p:cNvSpPr/>
            <p:nvPr/>
          </p:nvSpPr>
          <p:spPr>
            <a:xfrm>
              <a:off x="1254492" y="5064088"/>
              <a:ext cx="224832" cy="24380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7E68205C-6BDF-124B-1F9A-C455F31E41C4}"/>
                </a:ext>
              </a:extLst>
            </p:cNvPr>
            <p:cNvSpPr/>
            <p:nvPr/>
          </p:nvSpPr>
          <p:spPr>
            <a:xfrm>
              <a:off x="3864621" y="5064087"/>
              <a:ext cx="224829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699F2A9-28A9-A6E1-6881-A6518235E4F7}"/>
                </a:ext>
              </a:extLst>
            </p:cNvPr>
            <p:cNvSpPr/>
            <p:nvPr/>
          </p:nvSpPr>
          <p:spPr>
            <a:xfrm>
              <a:off x="3875177" y="4316480"/>
              <a:ext cx="224829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98FCC85-2592-BD9F-DF5F-4E33F6FF8C66}"/>
                </a:ext>
              </a:extLst>
            </p:cNvPr>
            <p:cNvSpPr/>
            <p:nvPr/>
          </p:nvSpPr>
          <p:spPr>
            <a:xfrm>
              <a:off x="2123734" y="3942816"/>
              <a:ext cx="224832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4DD237BE-9A13-BA44-37AE-E33401AF1E9D}"/>
                </a:ext>
              </a:extLst>
            </p:cNvPr>
            <p:cNvSpPr/>
            <p:nvPr/>
          </p:nvSpPr>
          <p:spPr>
            <a:xfrm>
              <a:off x="2123734" y="5437747"/>
              <a:ext cx="224832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2B7D66B6-6564-0E79-FA38-12EA8E1F53E9}"/>
                </a:ext>
              </a:extLst>
            </p:cNvPr>
            <p:cNvSpPr/>
            <p:nvPr/>
          </p:nvSpPr>
          <p:spPr>
            <a:xfrm>
              <a:off x="2123734" y="4690282"/>
              <a:ext cx="224832" cy="24380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u="sng"/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A1B5EBF-9055-ABFA-514E-E4C72234CDCE}"/>
                </a:ext>
              </a:extLst>
            </p:cNvPr>
            <p:cNvCxnSpPr>
              <a:cxnSpLocks/>
              <a:stCxn id="17" idx="6"/>
              <a:endCxn id="21" idx="2"/>
            </p:cNvCxnSpPr>
            <p:nvPr/>
          </p:nvCxnSpPr>
          <p:spPr>
            <a:xfrm flipV="1">
              <a:off x="1479324" y="4064717"/>
              <a:ext cx="644410" cy="37366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A551134A-1474-843F-3A6E-12ED464D988A}"/>
                </a:ext>
              </a:extLst>
            </p:cNvPr>
            <p:cNvCxnSpPr>
              <a:cxnSpLocks/>
              <a:stCxn id="17" idx="6"/>
              <a:endCxn id="23" idx="2"/>
            </p:cNvCxnSpPr>
            <p:nvPr/>
          </p:nvCxnSpPr>
          <p:spPr>
            <a:xfrm>
              <a:off x="1479324" y="4438379"/>
              <a:ext cx="644410" cy="373804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F270A1A1-3CDE-9C2B-E8D6-1F9F1F67EC9C}"/>
                </a:ext>
              </a:extLst>
            </p:cNvPr>
            <p:cNvCxnSpPr>
              <a:cxnSpLocks/>
              <a:stCxn id="17" idx="6"/>
              <a:endCxn id="22" idx="2"/>
            </p:cNvCxnSpPr>
            <p:nvPr/>
          </p:nvCxnSpPr>
          <p:spPr>
            <a:xfrm>
              <a:off x="1479324" y="4438379"/>
              <a:ext cx="644410" cy="112126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5B5FE543-8339-F4ED-859D-8E88C08B7F93}"/>
                </a:ext>
              </a:extLst>
            </p:cNvPr>
            <p:cNvCxnSpPr>
              <a:cxnSpLocks/>
              <a:stCxn id="18" idx="6"/>
              <a:endCxn id="21" idx="2"/>
            </p:cNvCxnSpPr>
            <p:nvPr/>
          </p:nvCxnSpPr>
          <p:spPr>
            <a:xfrm flipV="1">
              <a:off x="1479324" y="4064717"/>
              <a:ext cx="644410" cy="112126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D8E711B-FA24-A7C0-C8D9-17C7D4E0CB94}"/>
                </a:ext>
              </a:extLst>
            </p:cNvPr>
            <p:cNvCxnSpPr>
              <a:cxnSpLocks/>
              <a:stCxn id="18" idx="6"/>
              <a:endCxn id="23" idx="2"/>
            </p:cNvCxnSpPr>
            <p:nvPr/>
          </p:nvCxnSpPr>
          <p:spPr>
            <a:xfrm flipV="1">
              <a:off x="1479324" y="4812183"/>
              <a:ext cx="644410" cy="373804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55D3AC3-6889-B303-B2C3-551BD164854D}"/>
                </a:ext>
              </a:extLst>
            </p:cNvPr>
            <p:cNvCxnSpPr>
              <a:cxnSpLocks/>
              <a:stCxn id="18" idx="6"/>
              <a:endCxn id="22" idx="2"/>
            </p:cNvCxnSpPr>
            <p:nvPr/>
          </p:nvCxnSpPr>
          <p:spPr>
            <a:xfrm>
              <a:off x="1479324" y="5185987"/>
              <a:ext cx="644410" cy="37366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A4300527-80F2-E16B-E39E-C23E489CF07F}"/>
                </a:ext>
              </a:extLst>
            </p:cNvPr>
            <p:cNvCxnSpPr>
              <a:cxnSpLocks/>
              <a:stCxn id="21" idx="6"/>
              <a:endCxn id="14" idx="2"/>
            </p:cNvCxnSpPr>
            <p:nvPr/>
          </p:nvCxnSpPr>
          <p:spPr>
            <a:xfrm>
              <a:off x="2348566" y="4064717"/>
              <a:ext cx="609722" cy="1489136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94407E7-6039-D94B-A8F2-1AB11ACE45EE}"/>
                </a:ext>
              </a:extLst>
            </p:cNvPr>
            <p:cNvCxnSpPr>
              <a:cxnSpLocks/>
              <a:stCxn id="21" idx="6"/>
              <a:endCxn id="16" idx="2"/>
            </p:cNvCxnSpPr>
            <p:nvPr/>
          </p:nvCxnSpPr>
          <p:spPr>
            <a:xfrm flipV="1">
              <a:off x="2348566" y="4058734"/>
              <a:ext cx="609684" cy="5983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431973D-02A7-26AC-4EDC-50E7025BF693}"/>
                </a:ext>
              </a:extLst>
            </p:cNvPr>
            <p:cNvCxnSpPr>
              <a:cxnSpLocks/>
              <a:stCxn id="21" idx="6"/>
              <a:endCxn id="15" idx="2"/>
            </p:cNvCxnSpPr>
            <p:nvPr/>
          </p:nvCxnSpPr>
          <p:spPr>
            <a:xfrm>
              <a:off x="2348566" y="4064715"/>
              <a:ext cx="609684" cy="72019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9451162-5F69-09BC-42E7-B80DF2552C5C}"/>
                </a:ext>
              </a:extLst>
            </p:cNvPr>
            <p:cNvCxnSpPr>
              <a:cxnSpLocks/>
              <a:stCxn id="23" idx="6"/>
              <a:endCxn id="15" idx="2"/>
            </p:cNvCxnSpPr>
            <p:nvPr/>
          </p:nvCxnSpPr>
          <p:spPr>
            <a:xfrm flipV="1">
              <a:off x="2348566" y="4784907"/>
              <a:ext cx="609684" cy="27274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C15E803-CE52-2DAA-8357-985007F0ADFB}"/>
                </a:ext>
              </a:extLst>
            </p:cNvPr>
            <p:cNvCxnSpPr>
              <a:cxnSpLocks/>
              <a:stCxn id="23" idx="6"/>
              <a:endCxn id="16" idx="2"/>
            </p:cNvCxnSpPr>
            <p:nvPr/>
          </p:nvCxnSpPr>
          <p:spPr>
            <a:xfrm flipV="1">
              <a:off x="2348566" y="4058734"/>
              <a:ext cx="609684" cy="75344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36FCBF3D-6F91-A06B-7B32-095FA45D16B5}"/>
                </a:ext>
              </a:extLst>
            </p:cNvPr>
            <p:cNvCxnSpPr>
              <a:cxnSpLocks/>
              <a:stCxn id="22" idx="6"/>
              <a:endCxn id="16" idx="2"/>
            </p:cNvCxnSpPr>
            <p:nvPr/>
          </p:nvCxnSpPr>
          <p:spPr>
            <a:xfrm flipV="1">
              <a:off x="2348566" y="4058734"/>
              <a:ext cx="609684" cy="1500914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12132A4B-91E7-9497-BDA5-4E7E440417A2}"/>
                </a:ext>
              </a:extLst>
            </p:cNvPr>
            <p:cNvCxnSpPr>
              <a:cxnSpLocks/>
              <a:stCxn id="14" idx="6"/>
              <a:endCxn id="20" idx="2"/>
            </p:cNvCxnSpPr>
            <p:nvPr/>
          </p:nvCxnSpPr>
          <p:spPr>
            <a:xfrm flipV="1">
              <a:off x="3183128" y="4438380"/>
              <a:ext cx="692051" cy="111547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E1996534-E575-5314-C029-F23F5ED5802D}"/>
                </a:ext>
              </a:extLst>
            </p:cNvPr>
            <p:cNvCxnSpPr>
              <a:cxnSpLocks/>
              <a:stCxn id="14" idx="6"/>
              <a:endCxn id="19" idx="2"/>
            </p:cNvCxnSpPr>
            <p:nvPr/>
          </p:nvCxnSpPr>
          <p:spPr>
            <a:xfrm flipV="1">
              <a:off x="3183128" y="5185988"/>
              <a:ext cx="681495" cy="367865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4EA22A4A-BC82-C09B-F4E2-3BF6F99D123E}"/>
                </a:ext>
              </a:extLst>
            </p:cNvPr>
            <p:cNvCxnSpPr>
              <a:cxnSpLocks/>
              <a:stCxn id="15" idx="6"/>
              <a:endCxn id="20" idx="2"/>
            </p:cNvCxnSpPr>
            <p:nvPr/>
          </p:nvCxnSpPr>
          <p:spPr>
            <a:xfrm flipV="1">
              <a:off x="3183087" y="4438379"/>
              <a:ext cx="692091" cy="346530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BEF03AD8-B09B-BBF5-2662-1A2D8119BFDD}"/>
                </a:ext>
              </a:extLst>
            </p:cNvPr>
            <p:cNvCxnSpPr>
              <a:cxnSpLocks/>
              <a:stCxn id="15" idx="6"/>
              <a:endCxn id="19" idx="2"/>
            </p:cNvCxnSpPr>
            <p:nvPr/>
          </p:nvCxnSpPr>
          <p:spPr>
            <a:xfrm>
              <a:off x="3183093" y="4784911"/>
              <a:ext cx="681538" cy="401077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781C3842-7CC9-CEBF-F929-2A89C76DF38F}"/>
                </a:ext>
              </a:extLst>
            </p:cNvPr>
            <p:cNvCxnSpPr>
              <a:cxnSpLocks/>
              <a:stCxn id="16" idx="6"/>
              <a:endCxn id="20" idx="2"/>
            </p:cNvCxnSpPr>
            <p:nvPr/>
          </p:nvCxnSpPr>
          <p:spPr>
            <a:xfrm>
              <a:off x="3183089" y="4058734"/>
              <a:ext cx="692090" cy="379647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C518D7C2-8E96-162C-7E96-AED5E0945631}"/>
                </a:ext>
              </a:extLst>
            </p:cNvPr>
            <p:cNvCxnSpPr>
              <a:cxnSpLocks/>
              <a:stCxn id="16" idx="6"/>
              <a:endCxn id="19" idx="2"/>
            </p:cNvCxnSpPr>
            <p:nvPr/>
          </p:nvCxnSpPr>
          <p:spPr>
            <a:xfrm>
              <a:off x="3183089" y="4058734"/>
              <a:ext cx="681534" cy="1127254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03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DARE</a:t>
            </a:r>
            <a:r>
              <a:rPr lang="zh-CN" altLang="en-US" sz="2800" dirty="0"/>
              <a:t>（</a:t>
            </a:r>
            <a:r>
              <a:rPr lang="en-US" altLang="zh-CN" sz="2800" dirty="0"/>
              <a:t>Drop And </a:t>
            </a:r>
            <a:r>
              <a:rPr lang="en-US" altLang="zh-CN" sz="2800" dirty="0" err="1"/>
              <a:t>REscale</a:t>
            </a:r>
            <a:r>
              <a:rPr lang="zh-CN" altLang="en-US" sz="2800" dirty="0"/>
              <a:t>）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1882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论文：</a:t>
            </a:r>
            <a:r>
              <a:rPr lang="en-US" altLang="zh-CN" dirty="0">
                <a:latin typeface="+mn-ea"/>
              </a:rPr>
              <a:t>Language Models are Super Mario: Absorbing Abilities from Homologous Models as a Free Lunch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4FADBB7-F481-04AC-D335-56384B93BA8F}"/>
                  </a:ext>
                </a:extLst>
              </p:cNvPr>
              <p:cNvSpPr txBox="1"/>
              <p:nvPr/>
            </p:nvSpPr>
            <p:spPr>
              <a:xfrm>
                <a:off x="309562" y="1367839"/>
                <a:ext cx="11737658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268F9C"/>
                    </a:solidFill>
                    <a:latin typeface="+mn-ea"/>
                  </a:rPr>
                  <a:t>方法：</a:t>
                </a:r>
                <a:endParaRPr lang="en-US" altLang="zh-CN" b="1" dirty="0">
                  <a:solidFill>
                    <a:srgbClr val="268F9C"/>
                  </a:solidFill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在大语言模型中，微调后的参数变化一般很小，一般在</a:t>
                </a:r>
                <a:r>
                  <a:rPr lang="en-US" altLang="zh-CN" dirty="0">
                    <a:latin typeface="+mn-ea"/>
                  </a:rPr>
                  <a:t>0.002</a:t>
                </a:r>
                <a:r>
                  <a:rPr lang="zh-CN" altLang="en-US" dirty="0">
                    <a:latin typeface="+mn-ea"/>
                  </a:rPr>
                  <a:t>以内，为了减少不同模型间参数的冗余，作者提出了</a:t>
                </a:r>
                <a:r>
                  <a:rPr lang="en-US" altLang="zh-CN" dirty="0">
                    <a:latin typeface="+mn-ea"/>
                  </a:rPr>
                  <a:t>DARE</a:t>
                </a:r>
                <a:r>
                  <a:rPr lang="zh-CN" altLang="en-US" dirty="0">
                    <a:latin typeface="+mn-ea"/>
                  </a:rPr>
                  <a:t>方法，先删除</a:t>
                </a:r>
                <a:r>
                  <a:rPr lang="en-US" altLang="zh-CN" dirty="0">
                    <a:latin typeface="+mn-ea"/>
                  </a:rPr>
                  <a:t>(Drop)</a:t>
                </a:r>
                <a:r>
                  <a:rPr lang="zh-CN" altLang="en-US" dirty="0">
                    <a:latin typeface="+mn-ea"/>
                  </a:rPr>
                  <a:t>，再重放缩</a:t>
                </a:r>
                <a:r>
                  <a:rPr lang="en-US" altLang="zh-CN" dirty="0">
                    <a:latin typeface="+mn-ea"/>
                  </a:rPr>
                  <a:t>(Rescale)</a:t>
                </a: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作者以一定概率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+mn-ea"/>
                  </a:rPr>
                  <a:t> 删除一个参数，即将这个参数置为零，删除概率越大，参数越稀疏，参数冗余越小</a:t>
                </a:r>
                <a:endParaRPr lang="en-US" altLang="zh-CN" dirty="0"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然后再将参数放缩到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1/(1−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的大小以近似原始的输出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4FADBB7-F481-04AC-D335-56384B93B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62" y="1367839"/>
                <a:ext cx="11737658" cy="1785104"/>
              </a:xfrm>
              <a:prstGeom prst="rect">
                <a:avLst/>
              </a:prstGeom>
              <a:blipFill>
                <a:blip r:embed="rId3"/>
                <a:stretch>
                  <a:fillRect l="-468" t="-1706" b="-4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CB715AD3-7080-66F0-8843-0DB987C59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08" y="3150270"/>
            <a:ext cx="5220653" cy="353317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2614389-5AEE-459A-88B1-B4A24696B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369" y="3304451"/>
            <a:ext cx="4561523" cy="3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7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DARE</a:t>
            </a:r>
            <a:r>
              <a:rPr lang="zh-CN" altLang="en-US" sz="2800" dirty="0"/>
              <a:t>（</a:t>
            </a:r>
            <a:r>
              <a:rPr lang="en-US" altLang="zh-CN" sz="2800" dirty="0"/>
              <a:t>Drop And </a:t>
            </a:r>
            <a:r>
              <a:rPr lang="en-US" altLang="zh-CN" sz="2800" dirty="0" err="1"/>
              <a:t>REscale</a:t>
            </a:r>
            <a:r>
              <a:rPr lang="zh-CN" altLang="en-US" sz="2800" dirty="0"/>
              <a:t>）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3165158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实验：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作者融合</a:t>
            </a: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个从 </a:t>
            </a:r>
            <a:r>
              <a:rPr lang="en-US" altLang="zh-CN" dirty="0">
                <a:latin typeface="+mn-ea"/>
              </a:rPr>
              <a:t>Llama-2-13b </a:t>
            </a:r>
            <a:r>
              <a:rPr lang="zh-CN" altLang="en-US" dirty="0">
                <a:latin typeface="+mn-ea"/>
              </a:rPr>
              <a:t>微调而来模型</a:t>
            </a:r>
            <a:endParaRPr lang="en-US" altLang="zh-CN" dirty="0"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LM</a:t>
            </a:r>
            <a:r>
              <a:rPr lang="zh-CN" altLang="en-US" dirty="0">
                <a:latin typeface="+mn-ea"/>
              </a:rPr>
              <a:t>代表</a:t>
            </a:r>
            <a:r>
              <a:rPr lang="en-US" altLang="zh-CN" dirty="0">
                <a:latin typeface="+mn-ea"/>
              </a:rPr>
              <a:t>WizardLM-13B</a:t>
            </a:r>
            <a:r>
              <a:rPr lang="zh-CN" altLang="en-US" dirty="0">
                <a:latin typeface="+mn-ea"/>
              </a:rPr>
              <a:t>，他在指令遵循和代码生成方面效果很好</a:t>
            </a:r>
            <a:endParaRPr lang="en-US" altLang="zh-CN" dirty="0"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Math</a:t>
            </a:r>
            <a:r>
              <a:rPr lang="zh-CN" altLang="en-US" dirty="0">
                <a:latin typeface="+mn-ea"/>
              </a:rPr>
              <a:t>代表</a:t>
            </a:r>
            <a:r>
              <a:rPr lang="en-US" altLang="zh-CN" dirty="0">
                <a:latin typeface="+mn-ea"/>
              </a:rPr>
              <a:t>WizardMath-13B</a:t>
            </a:r>
            <a:r>
              <a:rPr lang="zh-CN" altLang="en-US" dirty="0">
                <a:latin typeface="+mn-ea"/>
              </a:rPr>
              <a:t>，他在数学推理方面效果很好</a:t>
            </a:r>
            <a:endParaRPr lang="en-US" altLang="zh-CN" dirty="0"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ea"/>
              </a:rPr>
              <a:t>Code</a:t>
            </a:r>
            <a:r>
              <a:rPr lang="zh-CN" altLang="en-US" dirty="0">
                <a:latin typeface="+mn-ea"/>
              </a:rPr>
              <a:t>代表</a:t>
            </a:r>
            <a:r>
              <a:rPr lang="en-US" altLang="zh-CN" dirty="0">
                <a:latin typeface="+mn-ea"/>
              </a:rPr>
              <a:t>llama-2-13b-code-alpaca</a:t>
            </a:r>
            <a:r>
              <a:rPr lang="zh-CN" altLang="en-US" dirty="0">
                <a:latin typeface="+mn-ea"/>
              </a:rPr>
              <a:t>，他在代码生成上效果很好，但不如</a:t>
            </a:r>
            <a:r>
              <a:rPr lang="en-US" altLang="zh-CN" dirty="0">
                <a:latin typeface="+mn-ea"/>
              </a:rPr>
              <a:t>LM</a:t>
            </a:r>
            <a:r>
              <a:rPr lang="zh-CN" altLang="en-US" dirty="0">
                <a:latin typeface="+mn-ea"/>
              </a:rPr>
              <a:t>的效果好</a:t>
            </a:r>
            <a:endParaRPr lang="en-US" altLang="zh-CN" dirty="0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2A3F89-E41A-ED23-DF38-E0A02E56A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916" y="846999"/>
            <a:ext cx="8475970" cy="567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6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DARE</a:t>
            </a:r>
            <a:r>
              <a:rPr lang="zh-CN" altLang="en-US" sz="2800" dirty="0"/>
              <a:t>（</a:t>
            </a:r>
            <a:r>
              <a:rPr lang="en-US" altLang="zh-CN" sz="2800" dirty="0"/>
              <a:t>Drop And </a:t>
            </a:r>
            <a:r>
              <a:rPr lang="en-US" altLang="zh-CN" sz="2800" dirty="0" err="1"/>
              <a:t>REscale</a:t>
            </a:r>
            <a:r>
              <a:rPr lang="zh-CN" altLang="en-US" sz="2800" dirty="0"/>
              <a:t>）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66712" y="846999"/>
            <a:ext cx="57292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实验：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作者还强调了放缩的重要性</a:t>
            </a:r>
            <a:endParaRPr lang="en-US" altLang="zh-CN" dirty="0"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由图可以看出，相较于只删除不放缩来说，删除并放缩在</a:t>
            </a:r>
            <a:r>
              <a:rPr lang="en-US" altLang="zh-CN" dirty="0">
                <a:latin typeface="+mn-ea"/>
              </a:rPr>
              <a:t>p</a:t>
            </a:r>
            <a:r>
              <a:rPr lang="zh-CN" altLang="en-US" dirty="0">
                <a:latin typeface="+mn-ea"/>
              </a:rPr>
              <a:t>为</a:t>
            </a:r>
            <a:r>
              <a:rPr lang="en-US" altLang="zh-CN" dirty="0">
                <a:latin typeface="+mn-ea"/>
              </a:rPr>
              <a:t>90%</a:t>
            </a:r>
            <a:r>
              <a:rPr lang="zh-CN" altLang="en-US" dirty="0">
                <a:latin typeface="+mn-ea"/>
              </a:rPr>
              <a:t>时还能保持很好的性能，</a:t>
            </a:r>
            <a:endParaRPr lang="en-US" altLang="zh-CN" dirty="0"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而只删除不放缩的方法则随着</a:t>
            </a:r>
            <a:r>
              <a:rPr lang="en-US" altLang="zh-CN" dirty="0">
                <a:latin typeface="+mn-ea"/>
              </a:rPr>
              <a:t>p</a:t>
            </a:r>
            <a:r>
              <a:rPr lang="zh-CN" altLang="en-US" dirty="0">
                <a:latin typeface="+mn-ea"/>
              </a:rPr>
              <a:t>增大而减小</a:t>
            </a:r>
            <a:endParaRPr lang="en-US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2B771D-CC25-9C2E-8CA1-6BFC55C14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156" y="1063947"/>
            <a:ext cx="5633132" cy="564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6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DARE</a:t>
            </a:r>
            <a:r>
              <a:rPr lang="zh-CN" altLang="en-US" sz="2800" dirty="0"/>
              <a:t>（</a:t>
            </a:r>
            <a:r>
              <a:rPr lang="en-US" altLang="zh-CN" sz="2800" dirty="0"/>
              <a:t>Drop And </a:t>
            </a:r>
            <a:r>
              <a:rPr lang="en-US" altLang="zh-CN" sz="2800" dirty="0" err="1"/>
              <a:t>REscale</a:t>
            </a:r>
            <a:r>
              <a:rPr lang="zh-CN" altLang="en-US" sz="2800" dirty="0"/>
              <a:t>）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66712" y="846999"/>
            <a:ext cx="1164621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实验：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作者还探究了</a:t>
            </a:r>
            <a:r>
              <a:rPr lang="en-US" altLang="zh-CN" dirty="0">
                <a:latin typeface="+mn-ea"/>
              </a:rPr>
              <a:t>DARE</a:t>
            </a:r>
            <a:r>
              <a:rPr lang="zh-CN" altLang="en-US" dirty="0">
                <a:latin typeface="+mn-ea"/>
              </a:rPr>
              <a:t>的适用范围</a:t>
            </a:r>
            <a:endParaRPr lang="en-US" altLang="zh-CN" dirty="0"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作者使用</a:t>
            </a:r>
            <a:r>
              <a:rPr lang="en-US" altLang="zh-CN" dirty="0">
                <a:latin typeface="+mn-ea"/>
              </a:rPr>
              <a:t>WizardCoder-Python-13B</a:t>
            </a:r>
            <a:r>
              <a:rPr lang="zh-CN" altLang="en-US" dirty="0">
                <a:latin typeface="+mn-ea"/>
              </a:rPr>
              <a:t>进行实验，该模型从</a:t>
            </a:r>
            <a:r>
              <a:rPr lang="en-US" altLang="zh-CN" dirty="0">
                <a:latin typeface="+mn-ea"/>
              </a:rPr>
              <a:t>CodeLlama-13b-Python</a:t>
            </a:r>
            <a:r>
              <a:rPr lang="zh-CN" altLang="en-US" dirty="0">
                <a:latin typeface="+mn-ea"/>
              </a:rPr>
              <a:t>微调而来，而</a:t>
            </a:r>
            <a:r>
              <a:rPr lang="en-US" altLang="zh-CN" dirty="0">
                <a:latin typeface="+mn-ea"/>
              </a:rPr>
              <a:t>CodeLlama-13b-Python</a:t>
            </a:r>
            <a:r>
              <a:rPr lang="zh-CN" altLang="en-US" dirty="0">
                <a:latin typeface="+mn-ea"/>
              </a:rPr>
              <a:t>在</a:t>
            </a:r>
            <a:r>
              <a:rPr lang="en-US" altLang="zh-CN" dirty="0">
                <a:latin typeface="+mn-ea"/>
              </a:rPr>
              <a:t>Llama-2-13b</a:t>
            </a:r>
            <a:r>
              <a:rPr lang="zh-CN" altLang="en-US" dirty="0">
                <a:latin typeface="+mn-ea"/>
              </a:rPr>
              <a:t>的基础上继续训练了</a:t>
            </a:r>
            <a:r>
              <a:rPr lang="en-US" altLang="zh-CN" dirty="0">
                <a:latin typeface="+mn-ea"/>
              </a:rPr>
              <a:t>500B</a:t>
            </a:r>
            <a:r>
              <a:rPr lang="zh-CN" altLang="en-US" dirty="0">
                <a:latin typeface="+mn-ea"/>
              </a:rPr>
              <a:t>的数据</a:t>
            </a:r>
            <a:endParaRPr lang="en-US" altLang="zh-CN" dirty="0"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此时，</a:t>
            </a:r>
            <a:r>
              <a:rPr lang="en-US" altLang="zh-CN" dirty="0">
                <a:latin typeface="+mn-ea"/>
              </a:rPr>
              <a:t> WizardCoder-Python-13B</a:t>
            </a:r>
            <a:r>
              <a:rPr lang="zh-CN" altLang="en-US" dirty="0">
                <a:latin typeface="+mn-ea"/>
              </a:rPr>
              <a:t>相较于</a:t>
            </a:r>
            <a:r>
              <a:rPr lang="en-US" altLang="zh-CN" dirty="0">
                <a:latin typeface="+mn-ea"/>
              </a:rPr>
              <a:t>Llama-2-13b</a:t>
            </a:r>
            <a:r>
              <a:rPr lang="zh-CN" altLang="en-US" dirty="0">
                <a:latin typeface="+mn-ea"/>
              </a:rPr>
              <a:t>的差距在大多数情况下大于</a:t>
            </a:r>
            <a:r>
              <a:rPr lang="en-US" altLang="zh-CN" dirty="0">
                <a:latin typeface="+mn-ea"/>
              </a:rPr>
              <a:t>0.01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这时，尽管只有</a:t>
            </a:r>
            <a:r>
              <a:rPr lang="en-US" altLang="zh-CN" dirty="0">
                <a:latin typeface="+mn-ea"/>
              </a:rPr>
              <a:t>10%</a:t>
            </a:r>
            <a:r>
              <a:rPr lang="zh-CN" altLang="en-US" dirty="0">
                <a:latin typeface="+mn-ea"/>
              </a:rPr>
              <a:t>的</a:t>
            </a:r>
            <a:r>
              <a:rPr lang="en-US" altLang="zh-CN" dirty="0">
                <a:latin typeface="+mn-ea"/>
              </a:rPr>
              <a:t>drop</a:t>
            </a:r>
            <a:r>
              <a:rPr lang="zh-CN" altLang="en-US" dirty="0">
                <a:latin typeface="+mn-ea"/>
              </a:rPr>
              <a:t>概率，</a:t>
            </a:r>
            <a:r>
              <a:rPr lang="en-US" altLang="zh-CN" dirty="0">
                <a:latin typeface="+mn-ea"/>
              </a:rPr>
              <a:t> WizardCoder-Python-13B</a:t>
            </a:r>
            <a:r>
              <a:rPr lang="zh-CN" altLang="en-US" dirty="0">
                <a:latin typeface="+mn-ea"/>
              </a:rPr>
              <a:t>的性能急速下降到零</a:t>
            </a:r>
            <a:endParaRPr lang="en-US" altLang="zh-CN" dirty="0"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C578BE-2696-FC80-13D5-02F07E777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143" y="3218559"/>
            <a:ext cx="7385115" cy="3611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DC794CF-66BC-2829-290D-CC68D3BB9947}"/>
                  </a:ext>
                </a:extLst>
              </p:cNvPr>
              <p:cNvSpPr txBox="1"/>
              <p:nvPr/>
            </p:nvSpPr>
            <p:spPr>
              <a:xfrm>
                <a:off x="341742" y="3429000"/>
                <a:ext cx="4123401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通过可视化参数变化，分布，作者发现，大多数相较于原始预训练模型的差距大多小于</a:t>
                </a:r>
                <a:r>
                  <a:rPr lang="en-US" altLang="zh-CN" dirty="0">
                    <a:latin typeface="+mn-ea"/>
                  </a:rPr>
                  <a:t>0.0002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除了</a:t>
                </a:r>
                <a:r>
                  <a:rPr lang="en-US" altLang="zh-CN" dirty="0">
                    <a:latin typeface="+mn-ea"/>
                  </a:rPr>
                  <a:t>WizardCoder-Python-13B</a:t>
                </a:r>
                <a:r>
                  <a:rPr lang="zh-CN" altLang="en-US" dirty="0">
                    <a:latin typeface="+mn-ea"/>
                  </a:rPr>
                  <a:t>与</a:t>
                </a:r>
                <a:r>
                  <a:rPr lang="en-US" altLang="zh-CN" dirty="0">
                    <a:latin typeface="+mn-ea"/>
                  </a:rPr>
                  <a:t>Llama-2-13B</a:t>
                </a:r>
                <a:r>
                  <a:rPr lang="zh-CN" altLang="en-US" dirty="0">
                    <a:latin typeface="+mn-ea"/>
                  </a:rPr>
                  <a:t>，因为</a:t>
                </a:r>
                <a:r>
                  <a:rPr lang="en-US" altLang="zh-CN" dirty="0">
                    <a:latin typeface="+mn-ea"/>
                  </a:rPr>
                  <a:t>WizardCoder-Python-13B</a:t>
                </a:r>
                <a:r>
                  <a:rPr lang="zh-CN" altLang="en-US" dirty="0">
                    <a:latin typeface="+mn-ea"/>
                  </a:rPr>
                  <a:t>不是在</a:t>
                </a:r>
                <a:r>
                  <a:rPr lang="en-US" altLang="zh-CN" dirty="0">
                    <a:latin typeface="+mn-ea"/>
                  </a:rPr>
                  <a:t>Llama-2-13B</a:t>
                </a:r>
                <a:r>
                  <a:rPr lang="zh-CN" altLang="en-US" dirty="0">
                    <a:latin typeface="+mn-ea"/>
                  </a:rPr>
                  <a:t>的基础上微调的到的</a:t>
                </a:r>
                <a:endParaRPr lang="en-US" altLang="zh-CN" dirty="0">
                  <a:latin typeface="+mn-ea"/>
                </a:endParaRP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因此作者得出结论，只有相较于原始模型的差距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𝟎𝟎𝟎𝟐</m:t>
                    </m:r>
                  </m:oMath>
                </a14:m>
                <a:r>
                  <a:rPr lang="zh-CN" altLang="en-US" b="1" dirty="0">
                    <a:latin typeface="+mn-ea"/>
                  </a:rPr>
                  <a:t>时，</a:t>
                </a:r>
                <a:r>
                  <a:rPr lang="en-US" altLang="zh-CN" b="1" dirty="0">
                    <a:latin typeface="+mn-ea"/>
                  </a:rPr>
                  <a:t>DARE</a:t>
                </a:r>
                <a:r>
                  <a:rPr lang="zh-CN" altLang="en-US" b="1" dirty="0">
                    <a:latin typeface="+mn-ea"/>
                  </a:rPr>
                  <a:t>才起作用</a:t>
                </a:r>
                <a:endParaRPr lang="en-US" altLang="zh-CN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DC794CF-66BC-2829-290D-CC68D3BB9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42" y="3429000"/>
                <a:ext cx="4123401" cy="3170099"/>
              </a:xfrm>
              <a:prstGeom prst="rect">
                <a:avLst/>
              </a:prstGeom>
              <a:blipFill>
                <a:blip r:embed="rId4"/>
                <a:stretch>
                  <a:fillRect l="-888" t="-1154" r="-148" b="-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00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/>
          <p:cNvSpPr txBox="1"/>
          <p:nvPr/>
        </p:nvSpPr>
        <p:spPr>
          <a:xfrm>
            <a:off x="6625590" y="2809757"/>
            <a:ext cx="489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600" dirty="0">
                <a:latin typeface="Lato" panose="020F0502020204030203" pitchFamily="34" charset="0"/>
              </a:rPr>
              <a:t>4.</a:t>
            </a:r>
            <a:r>
              <a:rPr lang="zh-CN" altLang="en-US" sz="3600" dirty="0">
                <a:latin typeface="Lato" panose="020F0502020204030203" pitchFamily="34" charset="0"/>
              </a:rPr>
              <a:t>基于路由的融合</a:t>
            </a:r>
            <a:endParaRPr lang="en-US" altLang="zh-CN" sz="3600" b="1" dirty="0"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41065" y="3837410"/>
            <a:ext cx="5863771" cy="57767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948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Twin-Merging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0868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论文：</a:t>
            </a:r>
            <a:r>
              <a:rPr lang="en-US" altLang="zh-CN" dirty="0">
                <a:latin typeface="+mn-ea"/>
              </a:rPr>
              <a:t>Twin-Merging: Dynamic Integration of Modular Expertise in Model Merging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0BA65B-8C4A-5970-45A3-52B5FF4799E7}"/>
              </a:ext>
            </a:extLst>
          </p:cNvPr>
          <p:cNvSpPr txBox="1"/>
          <p:nvPr/>
        </p:nvSpPr>
        <p:spPr>
          <a:xfrm>
            <a:off x="309562" y="1381470"/>
            <a:ext cx="1147926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背景：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1200150" lvl="2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之前的方法都是静态合并，即在推理时，任务向量的权重系数不会改变</a:t>
            </a:r>
            <a:endParaRPr lang="en-US" altLang="zh-CN" dirty="0"/>
          </a:p>
          <a:p>
            <a:pPr marL="1200150" lvl="2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但是在推理时，不同任务之间会有干扰，因此要选择不同的权重系数来缓解干扰</a:t>
            </a:r>
            <a:endParaRPr lang="en-US" altLang="zh-CN" dirty="0"/>
          </a:p>
          <a:p>
            <a:pPr marL="1200150" lvl="2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借鉴</a:t>
            </a:r>
            <a:r>
              <a:rPr lang="en-US" altLang="zh-CN" dirty="0" err="1"/>
              <a:t>MoE</a:t>
            </a:r>
            <a:r>
              <a:rPr lang="zh-CN" altLang="en-US" dirty="0"/>
              <a:t>（混合专家）方法，在推理时，利用路由模块，动态的确定模型合并系数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D93A6A-369B-DA23-6C30-468FFE16C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910" y="3543044"/>
            <a:ext cx="4240530" cy="30001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C42F20-F01B-59EE-77E1-BE1512309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051" y="3343941"/>
            <a:ext cx="3928110" cy="326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2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Twin-Merging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086897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知识模块化：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作者将知识分为共享知识和专有知识，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共享知识对所有的任务都有利，专有知识只对特定的任务有利，对其他的任务来说是有害的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首先，作者强调了共享知识的重要性，如图，随着微调轮数增加时，微调模型持续忘掉预训练模型的知识（灾难性遗忘），即使微调模型性能变化很小，合并后的性能也随着训练而降低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其次，作者还强调了专有知识的重要性，作者将任务向量进行</a:t>
            </a:r>
            <a:r>
              <a:rPr lang="en-US" altLang="zh-CN" dirty="0">
                <a:latin typeface="+mn-ea"/>
              </a:rPr>
              <a:t>SVD</a:t>
            </a:r>
            <a:r>
              <a:rPr lang="zh-CN" altLang="en-US" dirty="0">
                <a:latin typeface="+mn-ea"/>
              </a:rPr>
              <a:t>压缩，发现计算只保留</a:t>
            </a:r>
            <a:r>
              <a:rPr lang="en-US" altLang="zh-CN" dirty="0">
                <a:latin typeface="+mn-ea"/>
              </a:rPr>
              <a:t>90%</a:t>
            </a:r>
            <a:r>
              <a:rPr lang="zh-CN" altLang="en-US" dirty="0">
                <a:latin typeface="+mn-ea"/>
              </a:rPr>
              <a:t>的信息，还是能够恢复微调模型的性能</a:t>
            </a:r>
            <a:endParaRPr lang="en-US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98D9CC-13A4-A036-CEF2-0E163841E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878" y="4014955"/>
            <a:ext cx="5161122" cy="22534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4F8B3A-AF03-ACEF-69F1-9F1C80709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747" y="4014956"/>
            <a:ext cx="4808375" cy="225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4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Twin-Merging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3D106DF-6EF5-4AC3-56F0-8521F98092C4}"/>
                  </a:ext>
                </a:extLst>
              </p:cNvPr>
              <p:cNvSpPr txBox="1"/>
              <p:nvPr/>
            </p:nvSpPr>
            <p:spPr>
              <a:xfrm>
                <a:off x="309562" y="846999"/>
                <a:ext cx="11882438" cy="29258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b="1" dirty="0">
                    <a:solidFill>
                      <a:srgbClr val="268F9C"/>
                    </a:solidFill>
                    <a:latin typeface="+mn-ea"/>
                  </a:rPr>
                  <a:t>方法：</a:t>
                </a:r>
                <a:endParaRPr lang="en-US" altLang="zh-CN" b="1" dirty="0">
                  <a:solidFill>
                    <a:srgbClr val="268F9C"/>
                  </a:solidFill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首先，对知识进行分解，共享知识使用一个合并算法（如</a:t>
                </a:r>
                <a:r>
                  <a:rPr lang="en-US" altLang="zh-CN" dirty="0">
                    <a:latin typeface="+mn-ea"/>
                  </a:rPr>
                  <a:t>Task Arithmetic</a:t>
                </a:r>
                <a:r>
                  <a:rPr lang="zh-CN" altLang="en-US" dirty="0">
                    <a:latin typeface="+mn-ea"/>
                  </a:rPr>
                  <a:t>、</a:t>
                </a:r>
                <a:r>
                  <a:rPr lang="en-US" altLang="zh-CN" dirty="0">
                    <a:latin typeface="+mn-ea"/>
                  </a:rPr>
                  <a:t>TIES</a:t>
                </a:r>
                <a:r>
                  <a:rPr lang="zh-CN" altLang="en-US" dirty="0">
                    <a:latin typeface="+mn-ea"/>
                  </a:rPr>
                  <a:t>等）合并任务向量所得的参数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𝑀𝑒𝑟𝑔𝑒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 表示</a:t>
                </a:r>
                <a:endParaRPr lang="en-US" altLang="zh-CN" dirty="0"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专有知识则用微调参数共享知识参数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 表示</a:t>
                </a:r>
                <a:endParaRPr lang="en-US" altLang="zh-CN" dirty="0"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接着，对专有知识进行压缩，以减少推理时的资源消耗，用</a:t>
                </a:r>
                <a:r>
                  <a:rPr lang="en-US" altLang="zh-CN" dirty="0">
                    <a:latin typeface="+mn-ea"/>
                  </a:rPr>
                  <a:t>SVD</a:t>
                </a:r>
                <a:r>
                  <a:rPr lang="zh-CN" altLang="en-US" dirty="0">
                    <a:latin typeface="+mn-ea"/>
                  </a:rPr>
                  <a:t>进行压缩，对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进行</a:t>
                </a:r>
                <a:r>
                  <a:rPr lang="en-US" altLang="zh-CN" dirty="0">
                    <a:latin typeface="+mn-ea"/>
                  </a:rPr>
                  <a:t>SVD</a:t>
                </a:r>
                <a:r>
                  <a:rPr lang="zh-CN" altLang="en-US" dirty="0">
                    <a:latin typeface="+mn-ea"/>
                  </a:rPr>
                  <a:t>分解得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𝛴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altLang="zh-CN" i="1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，只保留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top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i="1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的奇异值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𝛴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n-ea"/>
                  </a:rPr>
                  <a:t> ，以达到压缩参数的目的</a:t>
                </a:r>
                <a:endParaRPr lang="en-US" altLang="zh-CN" dirty="0">
                  <a:latin typeface="+mn-ea"/>
                </a:endParaRPr>
              </a:p>
              <a:p>
                <a:pPr marL="742950" lvl="1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+mn-ea"/>
                  </a:rPr>
                  <a:t>最后在推理时，前一层的隐层状态输入</a:t>
                </a:r>
                <a:r>
                  <a:rPr lang="en-US" altLang="zh-CN" dirty="0">
                    <a:latin typeface="+mn-ea"/>
                  </a:rPr>
                  <a:t>Router</a:t>
                </a:r>
                <a:r>
                  <a:rPr lang="zh-CN" altLang="en-US" dirty="0">
                    <a:latin typeface="+mn-ea"/>
                  </a:rPr>
                  <a:t>当中，以确定专有知识合并系数，然后将专有知识和共享知识进行合并来对输入进行输出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3D106DF-6EF5-4AC3-56F0-8521F9809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62" y="846999"/>
                <a:ext cx="11882438" cy="2925801"/>
              </a:xfrm>
              <a:prstGeom prst="rect">
                <a:avLst/>
              </a:prstGeom>
              <a:blipFill>
                <a:blip r:embed="rId3"/>
                <a:stretch>
                  <a:fillRect l="-462" t="-1250" b="-22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72FBC05D-40E2-30A9-4825-BC341B0F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3" y="4043430"/>
            <a:ext cx="4117657" cy="268019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2D7422A-B559-C279-9176-7B70A518F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7331" y="4066983"/>
            <a:ext cx="3550919" cy="2656646"/>
          </a:xfrm>
          <a:prstGeom prst="rect">
            <a:avLst/>
          </a:prstGeom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8DD7EF98-1ABF-66B3-2F45-84A9A33FD515}"/>
              </a:ext>
            </a:extLst>
          </p:cNvPr>
          <p:cNvGrpSpPr/>
          <p:nvPr/>
        </p:nvGrpSpPr>
        <p:grpSpPr>
          <a:xfrm>
            <a:off x="9684068" y="4278430"/>
            <a:ext cx="960120" cy="1827285"/>
            <a:chOff x="9684068" y="4278430"/>
            <a:chExt cx="960120" cy="18272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24549F81-A06D-596E-5648-42BF1084958F}"/>
                    </a:ext>
                  </a:extLst>
                </p:cNvPr>
                <p:cNvSpPr/>
                <p:nvPr/>
              </p:nvSpPr>
              <p:spPr>
                <a:xfrm>
                  <a:off x="9684068" y="4980626"/>
                  <a:ext cx="960120" cy="422894"/>
                </a:xfrm>
                <a:prstGeom prst="rect">
                  <a:avLst/>
                </a:prstGeom>
                <a:solidFill>
                  <a:srgbClr val="E1D5E7"/>
                </a:solidFill>
                <a:ln w="28575">
                  <a:solidFill>
                    <a:srgbClr val="9D7DAD"/>
                  </a:solidFill>
                </a:ln>
                <a:effectLst>
                  <a:softEdge rad="0"/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800" dirty="0"/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24549F81-A06D-596E-5648-42BF108495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4068" y="4980626"/>
                  <a:ext cx="960120" cy="42289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>
                  <a:solidFill>
                    <a:srgbClr val="9D7DAD"/>
                  </a:solidFill>
                </a:ln>
                <a:effectLst>
                  <a:softEdge rad="0"/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FFE4A555-9E99-226D-3219-E9E7BC6BF94D}"/>
                    </a:ext>
                  </a:extLst>
                </p:cNvPr>
                <p:cNvSpPr/>
                <p:nvPr/>
              </p:nvSpPr>
              <p:spPr>
                <a:xfrm>
                  <a:off x="9792653" y="5682821"/>
                  <a:ext cx="742950" cy="422894"/>
                </a:xfrm>
                <a:prstGeom prst="rect">
                  <a:avLst/>
                </a:prstGeom>
                <a:solidFill>
                  <a:schemeClr val="bg2"/>
                </a:solidFill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/>
                    <a:t>I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𝑛𝑝𝑢𝑡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12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𝑖𝑑𝑑𝑒𝑛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FFE4A555-9E99-226D-3219-E9E7BC6BF9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2653" y="5682821"/>
                  <a:ext cx="742950" cy="422894"/>
                </a:xfrm>
                <a:prstGeom prst="rect">
                  <a:avLst/>
                </a:prstGeom>
                <a:blipFill>
                  <a:blip r:embed="rId7"/>
                  <a:stretch>
                    <a:fillRect t="-4167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79B9CE24-CC9C-7784-B742-FD549DC7759D}"/>
                    </a:ext>
                  </a:extLst>
                </p:cNvPr>
                <p:cNvSpPr/>
                <p:nvPr/>
              </p:nvSpPr>
              <p:spPr>
                <a:xfrm>
                  <a:off x="9789796" y="4278430"/>
                  <a:ext cx="748665" cy="422894"/>
                </a:xfrm>
                <a:prstGeom prst="rect">
                  <a:avLst/>
                </a:prstGeom>
                <a:solidFill>
                  <a:schemeClr val="bg2"/>
                </a:solidFill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200" dirty="0"/>
                    <a:t>Out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𝑝𝑢𝑡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12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𝑖𝑑𝑑𝑒𝑛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79B9CE24-CC9C-7784-B742-FD549DC775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9796" y="4278430"/>
                  <a:ext cx="748665" cy="422894"/>
                </a:xfrm>
                <a:prstGeom prst="rect">
                  <a:avLst/>
                </a:prstGeom>
                <a:blipFill>
                  <a:blip r:embed="rId8"/>
                  <a:stretch>
                    <a:fillRect t="-4225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4F8D08D8-D3B5-8447-C668-5BF29E759612}"/>
                </a:ext>
              </a:extLst>
            </p:cNvPr>
            <p:cNvCxnSpPr>
              <a:cxnSpLocks/>
              <a:stCxn id="20" idx="0"/>
              <a:endCxn id="19" idx="2"/>
            </p:cNvCxnSpPr>
            <p:nvPr/>
          </p:nvCxnSpPr>
          <p:spPr>
            <a:xfrm flipV="1">
              <a:off x="10164128" y="5403520"/>
              <a:ext cx="0" cy="2793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91C7B47-98FD-D6B0-D17B-82D30EC61F0D}"/>
                </a:ext>
              </a:extLst>
            </p:cNvPr>
            <p:cNvCxnSpPr>
              <a:cxnSpLocks/>
              <a:stCxn id="19" idx="0"/>
              <a:endCxn id="22" idx="2"/>
            </p:cNvCxnSpPr>
            <p:nvPr/>
          </p:nvCxnSpPr>
          <p:spPr>
            <a:xfrm flipV="1">
              <a:off x="10164128" y="4701324"/>
              <a:ext cx="1" cy="2793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111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Twin-Merging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188243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实验：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作者在</a:t>
            </a:r>
            <a:r>
              <a:rPr lang="en-US" altLang="zh-CN" dirty="0">
                <a:latin typeface="+mn-ea"/>
              </a:rPr>
              <a:t>8</a:t>
            </a:r>
            <a:r>
              <a:rPr lang="zh-CN" altLang="en-US" dirty="0">
                <a:latin typeface="+mn-ea"/>
              </a:rPr>
              <a:t>个语言理解任务和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个语言生成任务上进行了实验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评价指标使用归一化评价指标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由表格可得到作者的方法保持了相当多的性能，甚至在生产任务上还提升了微调模型的模型</a:t>
            </a:r>
            <a:endParaRPr lang="en-US" altLang="zh-CN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0D23AB-EE8C-18DB-FDC1-C1500851D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87" y="2741084"/>
            <a:ext cx="10852378" cy="396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7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Twin-Merging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18824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实验：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作者还探究了，随着任务数量的增多，模型性能的变化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可以看出，随着任务数量的增加，其他模型的性能都会逐渐下降的预训练模型的性能，而本文的方法却保持着很好的性能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随着任务数量的增加，本文的方法的资源使用率上升的也较少</a:t>
            </a:r>
            <a:endParaRPr lang="en-US" altLang="zh-CN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DB97D0-B835-E3DB-B675-EE81B451B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447" y="3337088"/>
            <a:ext cx="9905003" cy="313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9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en-US" altLang="zh-CN" sz="2800" dirty="0"/>
              <a:t>Twin-Merging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188243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实验：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作者还分析了推理时，</a:t>
            </a:r>
            <a:r>
              <a:rPr lang="en-US" altLang="zh-CN" dirty="0">
                <a:latin typeface="+mn-ea"/>
              </a:rPr>
              <a:t>Router</a:t>
            </a:r>
            <a:r>
              <a:rPr lang="zh-CN" altLang="en-US" dirty="0">
                <a:latin typeface="+mn-ea"/>
              </a:rPr>
              <a:t>输出的权重变化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对于</a:t>
            </a:r>
            <a:r>
              <a:rPr lang="en-US" altLang="zh-CN" dirty="0">
                <a:latin typeface="+mn-ea"/>
              </a:rPr>
              <a:t>QNLI</a:t>
            </a:r>
            <a:r>
              <a:rPr lang="zh-CN" altLang="en-US" dirty="0">
                <a:latin typeface="+mn-ea"/>
              </a:rPr>
              <a:t>的输入来说，其目标是确认句子中是否包含答案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下面的图是包含不同专有知识的</a:t>
            </a:r>
            <a:r>
              <a:rPr lang="en-US" altLang="zh-CN" dirty="0">
                <a:latin typeface="+mn-ea"/>
              </a:rPr>
              <a:t>Router</a:t>
            </a:r>
            <a:r>
              <a:rPr lang="zh-CN" altLang="en-US" dirty="0">
                <a:latin typeface="+mn-ea"/>
              </a:rPr>
              <a:t>对</a:t>
            </a:r>
            <a:r>
              <a:rPr lang="en-US" altLang="zh-CN" dirty="0">
                <a:latin typeface="+mn-ea"/>
              </a:rPr>
              <a:t>QNLI</a:t>
            </a:r>
            <a:r>
              <a:rPr lang="zh-CN" altLang="en-US" dirty="0">
                <a:latin typeface="+mn-ea"/>
              </a:rPr>
              <a:t>输入的权重分布（从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CoLA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>
                <a:latin typeface="+mn-ea"/>
              </a:rPr>
              <a:t>SST-2)</a:t>
            </a:r>
            <a:r>
              <a:rPr lang="zh-CN" altLang="en-US" dirty="0">
                <a:latin typeface="+mn-ea"/>
              </a:rPr>
              <a:t>依次增加到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CoLA</a:t>
            </a:r>
            <a:r>
              <a:rPr lang="en-US" altLang="zh-CN" dirty="0">
                <a:latin typeface="+mn-ea"/>
              </a:rPr>
              <a:t>, SST-2, MRPC, STS-B, QQP, MNLI, and QNLI)</a:t>
            </a:r>
            <a:r>
              <a:rPr lang="zh-CN" altLang="en-US" dirty="0">
                <a:latin typeface="+mn-ea"/>
              </a:rPr>
              <a:t>）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可以看出，当模型只含有</a:t>
            </a:r>
            <a:r>
              <a:rPr lang="en-US" altLang="zh-CN" dirty="0" err="1">
                <a:latin typeface="+mn-ea"/>
              </a:rPr>
              <a:t>CoLA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SST-2</a:t>
            </a:r>
            <a:r>
              <a:rPr lang="zh-CN" altLang="en-US" dirty="0">
                <a:latin typeface="+mn-ea"/>
              </a:rPr>
              <a:t>的专有知识时，模型会给</a:t>
            </a:r>
            <a:r>
              <a:rPr lang="en-US" altLang="zh-CN" dirty="0" err="1">
                <a:latin typeface="+mn-ea"/>
              </a:rPr>
              <a:t>CoLA</a:t>
            </a:r>
            <a:r>
              <a:rPr lang="zh-CN" altLang="en-US" dirty="0">
                <a:latin typeface="+mn-ea"/>
              </a:rPr>
              <a:t>分配较多权重，因为</a:t>
            </a:r>
            <a:r>
              <a:rPr lang="en-US" altLang="zh-CN" dirty="0" err="1">
                <a:latin typeface="+mn-ea"/>
              </a:rPr>
              <a:t>CoLA</a:t>
            </a:r>
            <a:r>
              <a:rPr lang="zh-CN" altLang="en-US" dirty="0">
                <a:latin typeface="+mn-ea"/>
              </a:rPr>
              <a:t>是确定句子和单词关系的任务，而</a:t>
            </a:r>
            <a:r>
              <a:rPr lang="en-US" altLang="zh-CN" dirty="0">
                <a:latin typeface="+mn-ea"/>
              </a:rPr>
              <a:t>SST-2</a:t>
            </a:r>
            <a:r>
              <a:rPr lang="zh-CN" altLang="en-US" dirty="0">
                <a:latin typeface="+mn-ea"/>
              </a:rPr>
              <a:t>是感情分析相关的任务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当模型包含</a:t>
            </a:r>
            <a:r>
              <a:rPr lang="en-US" altLang="zh-CN" dirty="0">
                <a:latin typeface="+mn-ea"/>
              </a:rPr>
              <a:t>QNLI</a:t>
            </a:r>
            <a:r>
              <a:rPr lang="zh-CN" altLang="en-US" dirty="0">
                <a:latin typeface="+mn-ea"/>
              </a:rPr>
              <a:t>的专有知识时，那模型直接利用</a:t>
            </a:r>
            <a:r>
              <a:rPr lang="en-US" altLang="zh-CN" dirty="0">
                <a:latin typeface="+mn-ea"/>
              </a:rPr>
              <a:t>QNLI</a:t>
            </a:r>
            <a:r>
              <a:rPr lang="zh-CN" altLang="en-US" dirty="0">
                <a:latin typeface="+mn-ea"/>
              </a:rPr>
              <a:t>的知识</a:t>
            </a:r>
            <a:endParaRPr lang="en-US" altLang="zh-CN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B1062B-EA2A-ED75-3C29-C625D5C55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715" y="4193228"/>
            <a:ext cx="9132570" cy="237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/>
          <p:cNvSpPr txBox="1"/>
          <p:nvPr/>
        </p:nvSpPr>
        <p:spPr>
          <a:xfrm>
            <a:off x="6625590" y="2809757"/>
            <a:ext cx="489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600" dirty="0">
                <a:latin typeface="Lato" panose="020F0502020204030203" pitchFamily="34" charset="0"/>
              </a:rPr>
              <a:t>5.</a:t>
            </a:r>
            <a:r>
              <a:rPr lang="zh-CN" altLang="en-US" sz="3600" dirty="0">
                <a:latin typeface="Lato" panose="020F0502020204030203" pitchFamily="34" charset="0"/>
              </a:rPr>
              <a:t>总结</a:t>
            </a:r>
            <a:endParaRPr lang="en-US" altLang="zh-CN" sz="3600" b="1" dirty="0"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41065" y="3837410"/>
            <a:ext cx="5863771" cy="57767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322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zh-CN" altLang="en-US" sz="2800" dirty="0"/>
              <a:t>总结</a:t>
            </a:r>
            <a:endParaRPr lang="zh-CN" altLang="en-US" sz="2800" dirty="0">
              <a:solidFill>
                <a:srgbClr val="0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D106DF-6EF5-4AC3-56F0-8521F98092C4}"/>
              </a:ext>
            </a:extLst>
          </p:cNvPr>
          <p:cNvSpPr txBox="1"/>
          <p:nvPr/>
        </p:nvSpPr>
        <p:spPr>
          <a:xfrm>
            <a:off x="309562" y="846999"/>
            <a:ext cx="1188243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接下来的工作：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软工方面的知识还比较缺乏，接下来要学习软工方面的知识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大模型相关的代码能力还需要加强</a:t>
            </a:r>
            <a:endParaRPr lang="en-US" altLang="zh-CN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375EE3-A870-9D73-FED3-EAD366881786}"/>
              </a:ext>
            </a:extLst>
          </p:cNvPr>
          <p:cNvSpPr txBox="1"/>
          <p:nvPr/>
        </p:nvSpPr>
        <p:spPr>
          <a:xfrm>
            <a:off x="309562" y="2229613"/>
            <a:ext cx="1157763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想法：</a:t>
            </a:r>
            <a:endParaRPr lang="en-US" altLang="zh-CN" b="1" dirty="0">
              <a:solidFill>
                <a:srgbClr val="268F9C"/>
              </a:solidFill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目前想法还比较欠缺，主要对软工领域的任务还不太了解</a:t>
            </a:r>
            <a:endParaRPr lang="en-US" altLang="zh-CN" dirty="0">
              <a:latin typeface="+mn-ea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之前看到铭阳哥和尚文哥的一个工作，是使用上下文学习来生成多意图注释，可不可用模型融合的方法来实现类似的功能或类似的任务？</a:t>
            </a:r>
          </a:p>
        </p:txBody>
      </p:sp>
    </p:spTree>
    <p:extLst>
      <p:ext uri="{BB962C8B-B14F-4D97-AF65-F5344CB8AC3E}">
        <p14:creationId xmlns:p14="http://schemas.microsoft.com/office/powerpoint/2010/main" val="147652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/>
          <p:cNvSpPr txBox="1"/>
          <p:nvPr/>
        </p:nvSpPr>
        <p:spPr>
          <a:xfrm>
            <a:off x="6625590" y="2456034"/>
            <a:ext cx="3696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3600" dirty="0">
                <a:latin typeface="Lato" panose="020F0502020204030203" pitchFamily="34" charset="0"/>
                <a:ea typeface="+mj-ea"/>
              </a:rPr>
              <a:t>谢谢聆听</a:t>
            </a:r>
            <a:endParaRPr lang="en-US" altLang="zh-CN" sz="3600" dirty="0">
              <a:latin typeface="Lato" panose="020F0502020204030203" pitchFamily="34" charset="0"/>
              <a:ea typeface="+mj-ea"/>
            </a:endParaRPr>
          </a:p>
          <a:p>
            <a:pPr lvl="0" algn="ctr">
              <a:defRPr/>
            </a:pPr>
            <a:r>
              <a:rPr lang="zh-CN" altLang="en-US" sz="3600" dirty="0">
                <a:latin typeface="Lato" panose="020F0502020204030203" pitchFamily="34" charset="0"/>
                <a:ea typeface="+mj-ea"/>
              </a:rPr>
              <a:t>请老师批评指正</a:t>
            </a:r>
            <a:endParaRPr lang="en-US" altLang="zh-CN" sz="3600" dirty="0"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41065" y="3837410"/>
            <a:ext cx="5863771" cy="57767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27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5587</TotalTime>
  <Words>2716</Words>
  <Application>Microsoft Office PowerPoint</Application>
  <PresentationFormat>宽屏</PresentationFormat>
  <Paragraphs>257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-apple-system</vt:lpstr>
      <vt:lpstr>等线</vt:lpstr>
      <vt:lpstr>等线 Light</vt:lpstr>
      <vt:lpstr>微软雅黑</vt:lpstr>
      <vt:lpstr>Arial</vt:lpstr>
      <vt:lpstr>Calibri</vt:lpstr>
      <vt:lpstr>Cambria Math</vt:lpstr>
      <vt:lpstr>Lato</vt:lpstr>
      <vt:lpstr>Office 主题​​</vt:lpstr>
      <vt:lpstr>夏雨家 https://xnwe.taobao.com/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盈钢 邱</cp:lastModifiedBy>
  <cp:revision>500</cp:revision>
  <dcterms:created xsi:type="dcterms:W3CDTF">2024-11-06T01:21:23Z</dcterms:created>
  <dcterms:modified xsi:type="dcterms:W3CDTF">2024-11-30T13:13:04Z</dcterms:modified>
</cp:coreProperties>
</file>