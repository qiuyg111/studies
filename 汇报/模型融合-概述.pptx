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3"/>
  </p:notesMasterIdLst>
  <p:sldIdLst>
    <p:sldId id="387" r:id="rId2"/>
    <p:sldId id="388" r:id="rId3"/>
    <p:sldId id="389" r:id="rId4"/>
    <p:sldId id="391" r:id="rId5"/>
    <p:sldId id="390" r:id="rId6"/>
    <p:sldId id="392" r:id="rId7"/>
    <p:sldId id="393" r:id="rId8"/>
    <p:sldId id="397" r:id="rId9"/>
    <p:sldId id="398" r:id="rId10"/>
    <p:sldId id="396" r:id="rId11"/>
    <p:sldId id="394" r:id="rId12"/>
    <p:sldId id="399" r:id="rId13"/>
    <p:sldId id="400" r:id="rId14"/>
    <p:sldId id="401" r:id="rId15"/>
    <p:sldId id="402" r:id="rId16"/>
    <p:sldId id="403" r:id="rId17"/>
    <p:sldId id="395" r:id="rId18"/>
    <p:sldId id="404" r:id="rId19"/>
    <p:sldId id="405" r:id="rId20"/>
    <p:sldId id="406" r:id="rId21"/>
    <p:sldId id="36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E43C"/>
    <a:srgbClr val="2A566E"/>
    <a:srgbClr val="268F9C"/>
    <a:srgbClr val="D71D4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0" autoAdjust="0"/>
    <p:restoredTop sz="79058" autoAdjust="0"/>
  </p:normalViewPr>
  <p:slideViewPr>
    <p:cSldViewPr snapToGrid="0">
      <p:cViewPr varScale="1">
        <p:scale>
          <a:sx n="82" d="100"/>
          <a:sy n="82" d="100"/>
        </p:scale>
        <p:origin x="878" y="72"/>
      </p:cViewPr>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2025/7/16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40950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89016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04257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13546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09269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31422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3702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23617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43948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74860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22370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46811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28461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3165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79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595585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22104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43879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90214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2035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21</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2025/7/16</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多任务学习</a:t>
            </a:r>
            <a:endParaRPr lang="en-US" altLang="zh-CN" b="1" dirty="0">
              <a:solidFill>
                <a:srgbClr val="268F9C"/>
              </a:solidFill>
              <a:latin typeface="+mn-ea"/>
            </a:endParaRPr>
          </a:p>
        </p:txBody>
      </p:sp>
      <p:sp>
        <p:nvSpPr>
          <p:cNvPr id="11" name="文本框 10">
            <a:extLst>
              <a:ext uri="{FF2B5EF4-FFF2-40B4-BE49-F238E27FC236}">
                <a16:creationId xmlns:a16="http://schemas.microsoft.com/office/drawing/2014/main" id="{D7C2D91F-295A-B712-B9BB-298A9094640C}"/>
              </a:ext>
            </a:extLst>
          </p:cNvPr>
          <p:cNvSpPr txBox="1"/>
          <p:nvPr/>
        </p:nvSpPr>
        <p:spPr>
          <a:xfrm>
            <a:off x="717778" y="1148246"/>
            <a:ext cx="6106884" cy="33855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sz="1600" dirty="0">
                <a:latin typeface="+mn-ea"/>
              </a:rPr>
              <a:t>一般方法对不同任务微调得到多个微调权重</a:t>
            </a:r>
            <a:endParaRPr lang="en-US" altLang="zh-CN" sz="1600" dirty="0">
              <a:latin typeface="+mn-ea"/>
            </a:endParaRPr>
          </a:p>
        </p:txBody>
      </p:sp>
      <p:sp>
        <p:nvSpPr>
          <p:cNvPr id="13" name="文本框 12">
            <a:extLst>
              <a:ext uri="{FF2B5EF4-FFF2-40B4-BE49-F238E27FC236}">
                <a16:creationId xmlns:a16="http://schemas.microsoft.com/office/drawing/2014/main" id="{1DA819D7-6710-1D88-907C-A5D80F9F038B}"/>
              </a:ext>
            </a:extLst>
          </p:cNvPr>
          <p:cNvSpPr txBox="1"/>
          <p:nvPr/>
        </p:nvSpPr>
        <p:spPr>
          <a:xfrm>
            <a:off x="717778" y="1538146"/>
            <a:ext cx="6106884" cy="33855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sz="1600" dirty="0">
                <a:latin typeface="+mn-ea"/>
              </a:rPr>
              <a:t>经典多任务学习</a:t>
            </a:r>
            <a:endParaRPr lang="en-US" altLang="zh-CN" sz="1600" dirty="0">
              <a:latin typeface="+mn-ea"/>
            </a:endParaRPr>
          </a:p>
        </p:txBody>
      </p:sp>
      <p:sp>
        <p:nvSpPr>
          <p:cNvPr id="14" name="文本框 13">
            <a:extLst>
              <a:ext uri="{FF2B5EF4-FFF2-40B4-BE49-F238E27FC236}">
                <a16:creationId xmlns:a16="http://schemas.microsoft.com/office/drawing/2014/main" id="{0108D767-FC87-7AE6-DECE-1D9AADAD635A}"/>
              </a:ext>
            </a:extLst>
          </p:cNvPr>
          <p:cNvSpPr txBox="1"/>
          <p:nvPr/>
        </p:nvSpPr>
        <p:spPr>
          <a:xfrm>
            <a:off x="1019468" y="1928046"/>
            <a:ext cx="6106884" cy="338554"/>
          </a:xfrm>
          <a:prstGeom prst="rect">
            <a:avLst/>
          </a:prstGeom>
          <a:noFill/>
        </p:spPr>
        <p:txBody>
          <a:bodyPr wrap="square">
            <a:spAutoFit/>
          </a:bodyPr>
          <a:lstStyle/>
          <a:p>
            <a:pPr>
              <a:spcAft>
                <a:spcPts val="1200"/>
              </a:spcAft>
            </a:pPr>
            <a:r>
              <a:rPr lang="zh-CN" altLang="en-US" sz="1600" dirty="0">
                <a:latin typeface="+mn-ea"/>
              </a:rPr>
              <a:t>数据隐私问题，不能获取全部的训练数据</a:t>
            </a:r>
            <a:endParaRPr lang="en-US" altLang="zh-CN" sz="1600" dirty="0">
              <a:latin typeface="+mn-ea"/>
            </a:endParaRPr>
          </a:p>
        </p:txBody>
      </p:sp>
      <p:sp>
        <p:nvSpPr>
          <p:cNvPr id="16" name="文本框 15">
            <a:extLst>
              <a:ext uri="{FF2B5EF4-FFF2-40B4-BE49-F238E27FC236}">
                <a16:creationId xmlns:a16="http://schemas.microsoft.com/office/drawing/2014/main" id="{6320965A-6AAE-037E-3778-6047C0DD3CC2}"/>
              </a:ext>
            </a:extLst>
          </p:cNvPr>
          <p:cNvSpPr txBox="1"/>
          <p:nvPr/>
        </p:nvSpPr>
        <p:spPr>
          <a:xfrm>
            <a:off x="1019468" y="2317946"/>
            <a:ext cx="6106884" cy="338554"/>
          </a:xfrm>
          <a:prstGeom prst="rect">
            <a:avLst/>
          </a:prstGeom>
          <a:noFill/>
        </p:spPr>
        <p:txBody>
          <a:bodyPr wrap="square">
            <a:spAutoFit/>
          </a:bodyPr>
          <a:lstStyle/>
          <a:p>
            <a:pPr>
              <a:spcAft>
                <a:spcPts val="1200"/>
              </a:spcAft>
            </a:pPr>
            <a:r>
              <a:rPr lang="zh-CN" altLang="en-US" sz="1600" dirty="0">
                <a:latin typeface="+mn-ea"/>
              </a:rPr>
              <a:t>数据不平衡</a:t>
            </a:r>
            <a:endParaRPr lang="en-US" altLang="zh-CN" sz="1600" dirty="0">
              <a:latin typeface="+mn-ea"/>
            </a:endParaRPr>
          </a:p>
        </p:txBody>
      </p:sp>
      <p:sp>
        <p:nvSpPr>
          <p:cNvPr id="18" name="文本框 17">
            <a:extLst>
              <a:ext uri="{FF2B5EF4-FFF2-40B4-BE49-F238E27FC236}">
                <a16:creationId xmlns:a16="http://schemas.microsoft.com/office/drawing/2014/main" id="{2791CE60-5C69-46CA-C89F-2855F891C348}"/>
              </a:ext>
            </a:extLst>
          </p:cNvPr>
          <p:cNvSpPr txBox="1"/>
          <p:nvPr/>
        </p:nvSpPr>
        <p:spPr>
          <a:xfrm>
            <a:off x="1019467" y="2707846"/>
            <a:ext cx="8787005" cy="369332"/>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dirty="0"/>
              <a:t>负迁移</a:t>
            </a:r>
            <a:r>
              <a:rPr lang="zh-CN" altLang="en-US" dirty="0"/>
              <a:t>：一些任务之间的不兼容性导致联合训练后模型的性能比单独训练时还差</a:t>
            </a:r>
          </a:p>
        </p:txBody>
      </p:sp>
      <p:sp>
        <p:nvSpPr>
          <p:cNvPr id="19" name="文本框 18">
            <a:extLst>
              <a:ext uri="{FF2B5EF4-FFF2-40B4-BE49-F238E27FC236}">
                <a16:creationId xmlns:a16="http://schemas.microsoft.com/office/drawing/2014/main" id="{1AE69D35-2B61-28D9-0065-D299572BC6E7}"/>
              </a:ext>
            </a:extLst>
          </p:cNvPr>
          <p:cNvSpPr txBox="1"/>
          <p:nvPr/>
        </p:nvSpPr>
        <p:spPr>
          <a:xfrm>
            <a:off x="717778" y="3128445"/>
            <a:ext cx="2554156" cy="33855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sz="1600" dirty="0">
                <a:latin typeface="+mn-ea"/>
              </a:rPr>
              <a:t>持续学习</a:t>
            </a:r>
            <a:endParaRPr lang="en-US" altLang="zh-CN" sz="1600" dirty="0">
              <a:latin typeface="+mn-ea"/>
            </a:endParaRPr>
          </a:p>
        </p:txBody>
      </p:sp>
      <p:sp>
        <p:nvSpPr>
          <p:cNvPr id="20" name="文本框 19">
            <a:extLst>
              <a:ext uri="{FF2B5EF4-FFF2-40B4-BE49-F238E27FC236}">
                <a16:creationId xmlns:a16="http://schemas.microsoft.com/office/drawing/2014/main" id="{F27CCCC2-38EC-C76F-2B22-DD73625B6C17}"/>
              </a:ext>
            </a:extLst>
          </p:cNvPr>
          <p:cNvSpPr txBox="1"/>
          <p:nvPr/>
        </p:nvSpPr>
        <p:spPr>
          <a:xfrm>
            <a:off x="1019468" y="3518266"/>
            <a:ext cx="2554156" cy="369332"/>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灾难性遗忘</a:t>
            </a:r>
          </a:p>
        </p:txBody>
      </p:sp>
      <p:sp>
        <p:nvSpPr>
          <p:cNvPr id="25" name="文本框 24">
            <a:extLst>
              <a:ext uri="{FF2B5EF4-FFF2-40B4-BE49-F238E27FC236}">
                <a16:creationId xmlns:a16="http://schemas.microsoft.com/office/drawing/2014/main" id="{E8F7DBCA-EC18-A52B-0CF6-62D1D4748E95}"/>
              </a:ext>
            </a:extLst>
          </p:cNvPr>
          <p:cNvSpPr txBox="1"/>
          <p:nvPr/>
        </p:nvSpPr>
        <p:spPr>
          <a:xfrm>
            <a:off x="643534" y="4032053"/>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模型融合</a:t>
            </a:r>
            <a:endParaRPr lang="en-US" altLang="zh-CN" b="1" dirty="0">
              <a:solidFill>
                <a:srgbClr val="268F9C"/>
              </a:solidFill>
              <a:latin typeface="+mn-ea"/>
            </a:endParaRPr>
          </a:p>
        </p:txBody>
      </p:sp>
      <p:sp>
        <p:nvSpPr>
          <p:cNvPr id="26" name="文本框 25">
            <a:extLst>
              <a:ext uri="{FF2B5EF4-FFF2-40B4-BE49-F238E27FC236}">
                <a16:creationId xmlns:a16="http://schemas.microsoft.com/office/drawing/2014/main" id="{5278D658-349F-9B81-6F99-ABA7F67E06E4}"/>
              </a:ext>
            </a:extLst>
          </p:cNvPr>
          <p:cNvSpPr txBox="1"/>
          <p:nvPr/>
        </p:nvSpPr>
        <p:spPr>
          <a:xfrm>
            <a:off x="1025688" y="4445273"/>
            <a:ext cx="6410810" cy="338554"/>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可以有效地解决上诉问题</a:t>
            </a:r>
          </a:p>
        </p:txBody>
      </p:sp>
      <p:sp>
        <p:nvSpPr>
          <p:cNvPr id="27" name="文本框 26">
            <a:extLst>
              <a:ext uri="{FF2B5EF4-FFF2-40B4-BE49-F238E27FC236}">
                <a16:creationId xmlns:a16="http://schemas.microsoft.com/office/drawing/2014/main" id="{A43CEB68-6728-3BCA-2D06-292B06BD1D8B}"/>
              </a:ext>
            </a:extLst>
          </p:cNvPr>
          <p:cNvSpPr txBox="1"/>
          <p:nvPr/>
        </p:nvSpPr>
        <p:spPr>
          <a:xfrm>
            <a:off x="1025688" y="4811853"/>
            <a:ext cx="6410810" cy="338554"/>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在软工领域，对模型融合的有效性的了解还甚少</a:t>
            </a:r>
          </a:p>
        </p:txBody>
      </p:sp>
    </p:spTree>
    <p:extLst>
      <p:ext uri="{BB962C8B-B14F-4D97-AF65-F5344CB8AC3E}">
        <p14:creationId xmlns:p14="http://schemas.microsoft.com/office/powerpoint/2010/main" val="1494654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研究问题</a:t>
            </a:r>
            <a:endParaRPr lang="en-US" altLang="zh-CN" b="1" dirty="0">
              <a:solidFill>
                <a:srgbClr val="268F9C"/>
              </a:solidFill>
              <a:latin typeface="+mn-ea"/>
            </a:endParaRPr>
          </a:p>
        </p:txBody>
      </p:sp>
      <p:sp>
        <p:nvSpPr>
          <p:cNvPr id="4" name="文本框 3">
            <a:extLst>
              <a:ext uri="{FF2B5EF4-FFF2-40B4-BE49-F238E27FC236}">
                <a16:creationId xmlns:a16="http://schemas.microsoft.com/office/drawing/2014/main" id="{5BC10C6E-A720-8BAB-7025-C910EA5DC9A8}"/>
              </a:ext>
            </a:extLst>
          </p:cNvPr>
          <p:cNvSpPr txBox="1"/>
          <p:nvPr/>
        </p:nvSpPr>
        <p:spPr>
          <a:xfrm>
            <a:off x="688134" y="1254473"/>
            <a:ext cx="6106884" cy="369332"/>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en-US" altLang="zh-CN" dirty="0"/>
              <a:t>RQ1. </a:t>
            </a:r>
            <a:r>
              <a:rPr lang="zh-CN" altLang="zh-CN" dirty="0"/>
              <a:t>模型融合能够实现多编程语言学习吗？</a:t>
            </a:r>
            <a:endParaRPr lang="zh-CN" altLang="en-US" dirty="0"/>
          </a:p>
        </p:txBody>
      </p:sp>
      <p:grpSp>
        <p:nvGrpSpPr>
          <p:cNvPr id="31" name="组合 30">
            <a:extLst>
              <a:ext uri="{FF2B5EF4-FFF2-40B4-BE49-F238E27FC236}">
                <a16:creationId xmlns:a16="http://schemas.microsoft.com/office/drawing/2014/main" id="{6F21FE8B-1C1C-613B-FBDB-CCC99CD34963}"/>
              </a:ext>
            </a:extLst>
          </p:cNvPr>
          <p:cNvGrpSpPr/>
          <p:nvPr/>
        </p:nvGrpSpPr>
        <p:grpSpPr>
          <a:xfrm>
            <a:off x="1005374" y="1643785"/>
            <a:ext cx="9323614" cy="666312"/>
            <a:chOff x="1005374" y="1643785"/>
            <a:chExt cx="9323614" cy="666312"/>
          </a:xfrm>
        </p:grpSpPr>
        <p:sp>
          <p:nvSpPr>
            <p:cNvPr id="6" name="Rectangle 2">
              <a:extLst>
                <a:ext uri="{FF2B5EF4-FFF2-40B4-BE49-F238E27FC236}">
                  <a16:creationId xmlns:a16="http://schemas.microsoft.com/office/drawing/2014/main" id="{81345E25-E5AD-6733-E52B-18D7B9D3EFD4}"/>
                </a:ext>
              </a:extLst>
            </p:cNvPr>
            <p:cNvSpPr>
              <a:spLocks noChangeArrowheads="1"/>
            </p:cNvSpPr>
            <p:nvPr/>
          </p:nvSpPr>
          <p:spPr bwMode="auto">
            <a:xfrm>
              <a:off x="1005374" y="1643785"/>
              <a:ext cx="7090403" cy="307777"/>
            </a:xfrm>
            <a:prstGeom prst="rect">
              <a:avLst/>
            </a:prstGeom>
            <a:noFill/>
          </p:spPr>
          <p:txBody>
            <a:bodyPr wrap="square">
              <a:spAutoFit/>
            </a:bodyPr>
            <a:lstStyle/>
            <a:p>
              <a:pPr>
                <a:spcAft>
                  <a:spcPts val="1200"/>
                </a:spcAft>
              </a:pPr>
              <a:r>
                <a:rPr lang="zh-CN" altLang="en-US" sz="1400" dirty="0">
                  <a:latin typeface="+mn-ea"/>
                </a:rPr>
                <a:t>一个项目通常需要多个编程语言实现，因此多编程语言学习非常有必要 </a:t>
              </a:r>
            </a:p>
          </p:txBody>
        </p:sp>
        <p:sp>
          <p:nvSpPr>
            <p:cNvPr id="9" name="文本框 8">
              <a:extLst>
                <a:ext uri="{FF2B5EF4-FFF2-40B4-BE49-F238E27FC236}">
                  <a16:creationId xmlns:a16="http://schemas.microsoft.com/office/drawing/2014/main" id="{91FE4255-1319-8B90-3170-A7B839DEAA55}"/>
                </a:ext>
              </a:extLst>
            </p:cNvPr>
            <p:cNvSpPr txBox="1"/>
            <p:nvPr/>
          </p:nvSpPr>
          <p:spPr>
            <a:xfrm>
              <a:off x="1005374" y="2002320"/>
              <a:ext cx="9323614"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sz="1400" dirty="0"/>
                <a:t>在</a:t>
              </a:r>
              <a:r>
                <a:rPr lang="zh-CN" altLang="zh-CN" sz="1400" dirty="0"/>
                <a:t>代码理解任务</a:t>
              </a:r>
              <a:r>
                <a:rPr lang="zh-CN" altLang="en-US" sz="1400" dirty="0"/>
                <a:t>、</a:t>
              </a:r>
              <a:r>
                <a:rPr lang="zh-CN" altLang="zh-CN" sz="1400" dirty="0"/>
                <a:t>代码修复</a:t>
              </a:r>
              <a:r>
                <a:rPr lang="zh-CN" altLang="en-US" sz="1400" dirty="0"/>
                <a:t>进行了实证研究</a:t>
              </a:r>
            </a:p>
          </p:txBody>
        </p:sp>
      </p:grpSp>
      <p:sp>
        <p:nvSpPr>
          <p:cNvPr id="12" name="文本框 11">
            <a:extLst>
              <a:ext uri="{FF2B5EF4-FFF2-40B4-BE49-F238E27FC236}">
                <a16:creationId xmlns:a16="http://schemas.microsoft.com/office/drawing/2014/main" id="{8E274EBF-AC76-9C59-A43F-12BCD06E07AB}"/>
              </a:ext>
            </a:extLst>
          </p:cNvPr>
          <p:cNvSpPr txBox="1"/>
          <p:nvPr/>
        </p:nvSpPr>
        <p:spPr>
          <a:xfrm>
            <a:off x="688134" y="2584106"/>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a:latin typeface="+mn-ea"/>
              </a:defRPr>
            </a:lvl1pPr>
          </a:lstStyle>
          <a:p>
            <a:r>
              <a:rPr lang="en-US" altLang="zh-CN"/>
              <a:t>RQ2. </a:t>
            </a:r>
            <a:r>
              <a:rPr lang="zh-CN" altLang="zh-CN"/>
              <a:t>模型</a:t>
            </a:r>
            <a:r>
              <a:rPr lang="zh-CN" altLang="zh-CN" dirty="0"/>
              <a:t>融合能够实现多任务学习吗？</a:t>
            </a:r>
            <a:endParaRPr lang="zh-CN" altLang="en-US" dirty="0"/>
          </a:p>
        </p:txBody>
      </p:sp>
      <p:grpSp>
        <p:nvGrpSpPr>
          <p:cNvPr id="30" name="组合 29">
            <a:extLst>
              <a:ext uri="{FF2B5EF4-FFF2-40B4-BE49-F238E27FC236}">
                <a16:creationId xmlns:a16="http://schemas.microsoft.com/office/drawing/2014/main" id="{5730AACA-785D-AA2C-0A07-3A906C2829CC}"/>
              </a:ext>
            </a:extLst>
          </p:cNvPr>
          <p:cNvGrpSpPr/>
          <p:nvPr/>
        </p:nvGrpSpPr>
        <p:grpSpPr>
          <a:xfrm>
            <a:off x="1005374" y="2993743"/>
            <a:ext cx="9323614" cy="1049331"/>
            <a:chOff x="1005374" y="2993743"/>
            <a:chExt cx="9323614" cy="1049331"/>
          </a:xfrm>
        </p:grpSpPr>
        <p:sp>
          <p:nvSpPr>
            <p:cNvPr id="17" name="文本框 16">
              <a:extLst>
                <a:ext uri="{FF2B5EF4-FFF2-40B4-BE49-F238E27FC236}">
                  <a16:creationId xmlns:a16="http://schemas.microsoft.com/office/drawing/2014/main" id="{81EFC15E-BFE9-A7A2-4A2E-C78169C158AB}"/>
                </a:ext>
              </a:extLst>
            </p:cNvPr>
            <p:cNvSpPr txBox="1"/>
            <p:nvPr/>
          </p:nvSpPr>
          <p:spPr>
            <a:xfrm>
              <a:off x="1005374" y="2993743"/>
              <a:ext cx="9323614"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zh-CN" dirty="0"/>
                <a:t>探究了在</a:t>
              </a:r>
              <a:r>
                <a:rPr lang="en-US" altLang="zh-CN" dirty="0"/>
                <a:t>Java</a:t>
              </a:r>
              <a:r>
                <a:rPr lang="zh-CN" altLang="zh-CN" dirty="0"/>
                <a:t>语言环境下的代码理解任务（代码搜索、漏洞检测、克隆检测）的融合性能</a:t>
              </a:r>
              <a:endParaRPr lang="zh-CN" altLang="en-US" dirty="0"/>
            </a:p>
          </p:txBody>
        </p:sp>
        <p:sp>
          <p:nvSpPr>
            <p:cNvPr id="22" name="文本框 21">
              <a:extLst>
                <a:ext uri="{FF2B5EF4-FFF2-40B4-BE49-F238E27FC236}">
                  <a16:creationId xmlns:a16="http://schemas.microsoft.com/office/drawing/2014/main" id="{BCC178BF-9195-A683-73FD-06495097AD35}"/>
                </a:ext>
              </a:extLst>
            </p:cNvPr>
            <p:cNvSpPr txBox="1"/>
            <p:nvPr/>
          </p:nvSpPr>
          <p:spPr>
            <a:xfrm>
              <a:off x="1005374" y="3376654"/>
              <a:ext cx="9057692"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zh-CN" dirty="0"/>
                <a:t>探究了在</a:t>
              </a:r>
              <a:r>
                <a:rPr lang="en-US" altLang="zh-CN" dirty="0"/>
                <a:t>Python</a:t>
              </a:r>
              <a:r>
                <a:rPr lang="zh-CN" altLang="zh-CN" dirty="0"/>
                <a:t>语言环境下的代码生成式任务（代码修复、代码生成、代码摘要生成）的融合性能</a:t>
              </a:r>
              <a:endParaRPr lang="zh-CN" altLang="en-US" dirty="0"/>
            </a:p>
          </p:txBody>
        </p:sp>
        <p:sp>
          <p:nvSpPr>
            <p:cNvPr id="24" name="文本框 23">
              <a:extLst>
                <a:ext uri="{FF2B5EF4-FFF2-40B4-BE49-F238E27FC236}">
                  <a16:creationId xmlns:a16="http://schemas.microsoft.com/office/drawing/2014/main" id="{131F491E-BB1B-10CE-E1C3-85DAAB910107}"/>
                </a:ext>
              </a:extLst>
            </p:cNvPr>
            <p:cNvSpPr txBox="1"/>
            <p:nvPr/>
          </p:nvSpPr>
          <p:spPr>
            <a:xfrm>
              <a:off x="1005374" y="3735297"/>
              <a:ext cx="8689132"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探究了模型融合技术是否能够</a:t>
              </a:r>
              <a:r>
                <a:rPr lang="zh-CN" altLang="zh-CN" dirty="0"/>
                <a:t>融合</a:t>
              </a:r>
              <a:r>
                <a:rPr lang="zh-CN" altLang="en-US" dirty="0"/>
                <a:t>代码</a:t>
              </a:r>
              <a:r>
                <a:rPr lang="zh-CN" altLang="zh-CN" dirty="0"/>
                <a:t>生成式任务和代码理解任务</a:t>
              </a:r>
              <a:endParaRPr lang="zh-CN" altLang="en-US" dirty="0"/>
            </a:p>
          </p:txBody>
        </p:sp>
      </p:grpSp>
      <p:sp>
        <p:nvSpPr>
          <p:cNvPr id="29" name="文本框 28">
            <a:extLst>
              <a:ext uri="{FF2B5EF4-FFF2-40B4-BE49-F238E27FC236}">
                <a16:creationId xmlns:a16="http://schemas.microsoft.com/office/drawing/2014/main" id="{526A82A1-9869-F0BF-15EE-DE27468FC72B}"/>
              </a:ext>
            </a:extLst>
          </p:cNvPr>
          <p:cNvSpPr txBox="1"/>
          <p:nvPr/>
        </p:nvSpPr>
        <p:spPr>
          <a:xfrm>
            <a:off x="688134" y="4443616"/>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a:latin typeface="+mn-ea"/>
              </a:defRPr>
            </a:lvl1pPr>
          </a:lstStyle>
          <a:p>
            <a:r>
              <a:rPr lang="en-US" altLang="zh-CN" dirty="0"/>
              <a:t>RQ3. </a:t>
            </a:r>
            <a:r>
              <a:rPr lang="zh-CN" altLang="zh-CN" dirty="0"/>
              <a:t>我们如何提升模型融合在软工任务上的性能？</a:t>
            </a:r>
            <a:endParaRPr lang="zh-CN" altLang="en-US" dirty="0"/>
          </a:p>
        </p:txBody>
      </p:sp>
      <p:sp>
        <p:nvSpPr>
          <p:cNvPr id="33" name="文本框 32">
            <a:extLst>
              <a:ext uri="{FF2B5EF4-FFF2-40B4-BE49-F238E27FC236}">
                <a16:creationId xmlns:a16="http://schemas.microsoft.com/office/drawing/2014/main" id="{B3FDD697-576E-C8E5-1F0B-B528BDAD613F}"/>
              </a:ext>
            </a:extLst>
          </p:cNvPr>
          <p:cNvSpPr txBox="1"/>
          <p:nvPr/>
        </p:nvSpPr>
        <p:spPr>
          <a:xfrm>
            <a:off x="1005374" y="4874935"/>
            <a:ext cx="8614487"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zh-CN" dirty="0"/>
              <a:t>基于</a:t>
            </a:r>
            <a:r>
              <a:rPr lang="en-US" altLang="zh-CN" dirty="0"/>
              <a:t>RQ1</a:t>
            </a:r>
            <a:r>
              <a:rPr lang="zh-CN" altLang="zh-CN" dirty="0"/>
              <a:t>于</a:t>
            </a:r>
            <a:r>
              <a:rPr lang="en-US" altLang="zh-CN" dirty="0"/>
              <a:t>RQ2</a:t>
            </a:r>
            <a:r>
              <a:rPr lang="zh-CN" altLang="zh-CN" dirty="0"/>
              <a:t>中结果以及分析，改进现有方法，以提升软工任务模型融合的性能</a:t>
            </a:r>
            <a:endParaRPr lang="zh-CN" altLang="en-US" dirty="0"/>
          </a:p>
        </p:txBody>
      </p:sp>
    </p:spTree>
    <p:extLst>
      <p:ext uri="{BB962C8B-B14F-4D97-AF65-F5344CB8AC3E}">
        <p14:creationId xmlns:p14="http://schemas.microsoft.com/office/powerpoint/2010/main" val="3997380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模型融合技术设计</a:t>
            </a:r>
            <a:endParaRPr lang="en-US" altLang="zh-CN" b="1" dirty="0">
              <a:solidFill>
                <a:srgbClr val="268F9C"/>
              </a:solidFill>
              <a:latin typeface="+mn-ea"/>
            </a:endParaRPr>
          </a:p>
        </p:txBody>
      </p:sp>
      <p:sp>
        <p:nvSpPr>
          <p:cNvPr id="2" name="文本框 1">
            <a:extLst>
              <a:ext uri="{FF2B5EF4-FFF2-40B4-BE49-F238E27FC236}">
                <a16:creationId xmlns:a16="http://schemas.microsoft.com/office/drawing/2014/main" id="{F400197A-3C76-482A-2494-04E695B38E81}"/>
              </a:ext>
            </a:extLst>
          </p:cNvPr>
          <p:cNvSpPr txBox="1"/>
          <p:nvPr/>
        </p:nvSpPr>
        <p:spPr>
          <a:xfrm>
            <a:off x="688134" y="1185597"/>
            <a:ext cx="5225625" cy="338554"/>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采用</a:t>
            </a:r>
            <a:r>
              <a:rPr lang="en-US" altLang="zh-CN" dirty="0" err="1"/>
              <a:t>LoRA</a:t>
            </a:r>
            <a:r>
              <a:rPr lang="zh-CN" altLang="en-US" dirty="0"/>
              <a:t>进行微调，融合的目标为微调后的</a:t>
            </a:r>
            <a:r>
              <a:rPr lang="en-US" altLang="zh-CN" dirty="0" err="1"/>
              <a:t>LoRA</a:t>
            </a:r>
            <a:r>
              <a:rPr lang="zh-CN" altLang="en-US" dirty="0"/>
              <a:t>参数</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C844C24-2C3E-0F0E-E5BC-984CFC24C64D}"/>
                  </a:ext>
                </a:extLst>
              </p:cNvPr>
              <p:cNvSpPr txBox="1"/>
              <p:nvPr/>
            </p:nvSpPr>
            <p:spPr>
              <a:xfrm>
                <a:off x="688134" y="1638352"/>
                <a:ext cx="7214896" cy="370294"/>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b="1" dirty="0"/>
                  <a:t>任务算术</a:t>
                </a:r>
                <a:r>
                  <a:rPr lang="zh-CN" altLang="en-US" b="1" dirty="0"/>
                  <a:t>：</a:t>
                </a:r>
                <a14:m>
                  <m:oMath xmlns:m="http://schemas.openxmlformats.org/officeDocument/2006/math">
                    <m:d>
                      <m:dPr>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2</m:t>
                                </m:r>
                              </m:sub>
                            </m:sSub>
                          </m:e>
                        </m:d>
                        <m:r>
                          <a:rPr lang="en-US" altLang="zh-CN">
                            <a:latin typeface="Cambria Math" panose="02040503050406030204" pitchFamily="18" charset="0"/>
                          </a:rPr>
                          <m:t>,...,</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𝑁</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𝐵</m:t>
                                </m:r>
                              </m:e>
                              <m:sub>
                                <m:r>
                                  <a:rPr lang="en-US" altLang="zh-CN">
                                    <a:latin typeface="Cambria Math" panose="02040503050406030204" pitchFamily="18" charset="0"/>
                                  </a:rPr>
                                  <m:t>𝑁</m:t>
                                </m:r>
                              </m:sub>
                            </m:sSub>
                          </m:e>
                        </m:d>
                      </m:e>
                    </m:d>
                  </m:oMath>
                </a14:m>
                <a:r>
                  <a:rPr lang="zh-CN" altLang="en-US" dirty="0"/>
                  <a:t>，</a:t>
                </a:r>
                <a:r>
                  <a:rPr lang="zh-CN" altLang="zh-CN" dirty="0"/>
                  <a:t>直接将</a:t>
                </a:r>
                <a:r>
                  <a:rPr lang="en-US" altLang="zh-CN" dirty="0" err="1"/>
                  <a:t>LoRA</a:t>
                </a:r>
                <a:r>
                  <a:rPr lang="zh-CN" altLang="zh-CN" dirty="0"/>
                  <a:t>参数相加得到融合参数</a:t>
                </a:r>
                <a:endParaRPr lang="zh-CN" altLang="en-US" dirty="0"/>
              </a:p>
            </p:txBody>
          </p:sp>
        </mc:Choice>
        <mc:Fallback xmlns="">
          <p:sp>
            <p:nvSpPr>
              <p:cNvPr id="7" name="文本框 6">
                <a:extLst>
                  <a:ext uri="{FF2B5EF4-FFF2-40B4-BE49-F238E27FC236}">
                    <a16:creationId xmlns:a16="http://schemas.microsoft.com/office/drawing/2014/main" id="{8C844C24-2C3E-0F0E-E5BC-984CFC24C64D}"/>
                  </a:ext>
                </a:extLst>
              </p:cNvPr>
              <p:cNvSpPr txBox="1">
                <a:spLocks noRot="1" noChangeAspect="1" noMove="1" noResize="1" noEditPoints="1" noAdjustHandles="1" noChangeArrowheads="1" noChangeShapeType="1" noTextEdit="1"/>
              </p:cNvSpPr>
              <p:nvPr/>
            </p:nvSpPr>
            <p:spPr>
              <a:xfrm>
                <a:off x="688134" y="1638352"/>
                <a:ext cx="7214896" cy="370294"/>
              </a:xfrm>
              <a:prstGeom prst="rect">
                <a:avLst/>
              </a:prstGeom>
              <a:blipFill>
                <a:blip r:embed="rId3"/>
                <a:stretch>
                  <a:fillRect l="-338"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1CF436F-6DFC-49E5-2031-741D9873E2A1}"/>
                  </a:ext>
                </a:extLst>
              </p:cNvPr>
              <p:cNvSpPr txBox="1"/>
              <p:nvPr/>
            </p:nvSpPr>
            <p:spPr>
              <a:xfrm>
                <a:off x="1046195" y="2073834"/>
                <a:ext cx="2937977" cy="7044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1400" i="1" smtClean="0">
                              <a:solidFill>
                                <a:srgbClr val="836967"/>
                              </a:solidFill>
                              <a:latin typeface="Cambria Math" panose="02040503050406030204" pitchFamily="18" charset="0"/>
                            </a:rPr>
                          </m:ctrlPr>
                        </m:sSubPr>
                        <m:e>
                          <m:r>
                            <a:rPr lang="zh-CN" altLang="en-US" sz="1400" i="1">
                              <a:latin typeface="Cambria Math" panose="02040503050406030204" pitchFamily="18" charset="0"/>
                            </a:rPr>
                            <m:t>𝐴</m:t>
                          </m:r>
                        </m:e>
                        <m:sub>
                          <m:r>
                            <a:rPr lang="zh-CN" altLang="en-US" sz="1400" i="1">
                              <a:latin typeface="Cambria Math" panose="02040503050406030204" pitchFamily="18" charset="0"/>
                            </a:rPr>
                            <m:t>𝑓𝑢𝑠𝑖𝑜𝑛</m:t>
                          </m:r>
                        </m:sub>
                      </m:sSub>
                      <m:r>
                        <a:rPr lang="zh-CN" altLang="en-US" sz="1400" i="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0">
                              <a:latin typeface="Cambria Math" panose="02040503050406030204" pitchFamily="18" charset="0"/>
                            </a:rPr>
                            <m:t>1</m:t>
                          </m:r>
                        </m:sub>
                        <m:sup>
                          <m:r>
                            <a:rPr lang="zh-CN" altLang="en-US" sz="1400" i="1">
                              <a:latin typeface="Cambria Math" panose="02040503050406030204" pitchFamily="18" charset="0"/>
                            </a:rPr>
                            <m:t>𝑖</m:t>
                          </m:r>
                        </m:sup>
                        <m:e>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𝐴</m:t>
                              </m:r>
                            </m:e>
                            <m:sub>
                              <m:r>
                                <a:rPr lang="zh-CN" altLang="en-US" sz="1400" i="1">
                                  <a:latin typeface="Cambria Math" panose="02040503050406030204" pitchFamily="18" charset="0"/>
                                </a:rPr>
                                <m:t>𝑖</m:t>
                              </m:r>
                            </m:sub>
                          </m:sSub>
                        </m:e>
                      </m:nary>
                      <m:r>
                        <a:rPr lang="zh-CN" altLang="en-US" sz="1400" i="0">
                          <a:latin typeface="Cambria Math" panose="02040503050406030204" pitchFamily="18" charset="0"/>
                        </a:rPr>
                        <m:t>,</m:t>
                      </m:r>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𝐵</m:t>
                          </m:r>
                        </m:e>
                        <m:sub>
                          <m:r>
                            <a:rPr lang="zh-CN" altLang="en-US" sz="1400" i="1">
                              <a:latin typeface="Cambria Math" panose="02040503050406030204" pitchFamily="18" charset="0"/>
                            </a:rPr>
                            <m:t>𝑓𝑢𝑠𝑖𝑜𝑛</m:t>
                          </m:r>
                        </m:sub>
                      </m:sSub>
                      <m:r>
                        <a:rPr lang="zh-CN" altLang="en-US" sz="1400" i="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0">
                              <a:latin typeface="Cambria Math" panose="02040503050406030204" pitchFamily="18" charset="0"/>
                            </a:rPr>
                            <m:t>1</m:t>
                          </m:r>
                        </m:sub>
                        <m:sup>
                          <m:r>
                            <a:rPr lang="zh-CN" altLang="en-US" sz="1400" i="1">
                              <a:latin typeface="Cambria Math" panose="02040503050406030204" pitchFamily="18" charset="0"/>
                            </a:rPr>
                            <m:t>𝑖</m:t>
                          </m:r>
                        </m:sup>
                        <m:e>
                          <m:sSub>
                            <m:sSubPr>
                              <m:ctrlPr>
                                <a:rPr lang="zh-CN" altLang="en-US" sz="1400" i="1">
                                  <a:solidFill>
                                    <a:srgbClr val="836967"/>
                                  </a:solidFill>
                                  <a:latin typeface="Cambria Math" panose="02040503050406030204" pitchFamily="18" charset="0"/>
                                </a:rPr>
                              </m:ctrlPr>
                            </m:sSubPr>
                            <m:e>
                              <m:r>
                                <a:rPr lang="zh-CN" altLang="en-US" sz="1400" i="1">
                                  <a:latin typeface="Cambria Math" panose="02040503050406030204" pitchFamily="18" charset="0"/>
                                </a:rPr>
                                <m:t>𝐵</m:t>
                              </m:r>
                            </m:e>
                            <m:sub>
                              <m:r>
                                <a:rPr lang="zh-CN" altLang="en-US" sz="1400" i="1">
                                  <a:latin typeface="Cambria Math" panose="02040503050406030204" pitchFamily="18" charset="0"/>
                                </a:rPr>
                                <m:t>𝑖</m:t>
                              </m:r>
                            </m:sub>
                          </m:sSub>
                        </m:e>
                      </m:nary>
                    </m:oMath>
                  </m:oMathPara>
                </a14:m>
                <a:endParaRPr lang="zh-CN" altLang="en-US" sz="1400" dirty="0"/>
              </a:p>
            </p:txBody>
          </p:sp>
        </mc:Choice>
        <mc:Fallback xmlns="">
          <p:sp>
            <p:nvSpPr>
              <p:cNvPr id="16" name="文本框 15">
                <a:extLst>
                  <a:ext uri="{FF2B5EF4-FFF2-40B4-BE49-F238E27FC236}">
                    <a16:creationId xmlns:a16="http://schemas.microsoft.com/office/drawing/2014/main" id="{31CF436F-6DFC-49E5-2031-741D9873E2A1}"/>
                  </a:ext>
                </a:extLst>
              </p:cNvPr>
              <p:cNvSpPr txBox="1">
                <a:spLocks noRot="1" noChangeAspect="1" noMove="1" noResize="1" noEditPoints="1" noAdjustHandles="1" noChangeArrowheads="1" noChangeShapeType="1" noTextEdit="1"/>
              </p:cNvSpPr>
              <p:nvPr/>
            </p:nvSpPr>
            <p:spPr>
              <a:xfrm>
                <a:off x="1046195" y="2073834"/>
                <a:ext cx="2937977" cy="70448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DE66E32-112E-DD14-CD92-6F413AB4E6C9}"/>
                  </a:ext>
                </a:extLst>
              </p:cNvPr>
              <p:cNvSpPr txBox="1"/>
              <p:nvPr/>
            </p:nvSpPr>
            <p:spPr>
              <a:xfrm>
                <a:off x="3771220" y="2095218"/>
                <a:ext cx="6106884" cy="661720"/>
              </a:xfrm>
              <a:prstGeom prst="rect">
                <a:avLst/>
              </a:prstGeom>
              <a:noFill/>
            </p:spPr>
            <p:txBody>
              <a:bodyPr wrap="square">
                <a:spAutoFit/>
              </a:bodyPr>
              <a:lstStyle>
                <a:defPPr>
                  <a:defRPr lang="zh-CN"/>
                </a:defPPr>
                <a:lvl1pPr>
                  <a:spcAft>
                    <a:spcPts val="1200"/>
                  </a:spcAft>
                  <a:defRPr sz="1600">
                    <a:latin typeface="+mn-ea"/>
                  </a:defRPr>
                </a:lvl1pPr>
              </a:lstStyle>
              <a:p>
                <a:pPr>
                  <a:spcAft>
                    <a:spcPts val="600"/>
                  </a:spcAft>
                </a:pPr>
                <a:r>
                  <a:rPr lang="zh-CN" altLang="zh-CN" dirty="0"/>
                  <a:t>为每一个任务</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𝑇</m:t>
                        </m:r>
                      </m:e>
                      <m:sub>
                        <m:r>
                          <a:rPr lang="en-US" altLang="zh-CN">
                            <a:latin typeface="Cambria Math" panose="02040503050406030204" pitchFamily="18" charset="0"/>
                          </a:rPr>
                          <m:t>𝑘</m:t>
                        </m:r>
                      </m:sub>
                    </m:sSub>
                  </m:oMath>
                </a14:m>
                <a:r>
                  <a:rPr lang="zh-CN" altLang="zh-CN" dirty="0"/>
                  <a:t>搜索得到一个融合系数</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α</m:t>
                        </m:r>
                      </m:e>
                      <m:sub>
                        <m:r>
                          <a:rPr lang="en-US" altLang="zh-CN">
                            <a:latin typeface="Cambria Math" panose="02040503050406030204" pitchFamily="18" charset="0"/>
                          </a:rPr>
                          <m:t>𝑘</m:t>
                        </m:r>
                      </m:sub>
                    </m:sSub>
                  </m:oMath>
                </a14:m>
                <a:endParaRPr lang="en-US" altLang="zh-CN" dirty="0"/>
              </a:p>
              <a:p>
                <a:pPr>
                  <a:spcAft>
                    <a:spcPts val="600"/>
                  </a:spcAft>
                </a:pP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𝑇</m:t>
                        </m:r>
                      </m:e>
                      <m:sub>
                        <m:r>
                          <a:rPr lang="en-US" altLang="zh-CN">
                            <a:latin typeface="Cambria Math" panose="02040503050406030204" pitchFamily="18" charset="0"/>
                          </a:rPr>
                          <m:t>𝑘</m:t>
                        </m:r>
                      </m:sub>
                    </m:sSub>
                  </m:oMath>
                </a14:m>
                <a:r>
                  <a:rPr lang="zh-CN" altLang="zh-CN" dirty="0"/>
                  <a:t>推理时的参数为融合参数乘以相应的融合系数</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α</m:t>
                        </m:r>
                      </m:e>
                      <m:sub>
                        <m:r>
                          <a:rPr lang="en-US" altLang="zh-CN">
                            <a:latin typeface="Cambria Math" panose="02040503050406030204" pitchFamily="18" charset="0"/>
                          </a:rPr>
                          <m:t>𝑘</m:t>
                        </m:r>
                      </m:sub>
                    </m:sSub>
                  </m:oMath>
                </a14:m>
                <a:r>
                  <a:rPr lang="zh-CN" altLang="zh-CN" dirty="0"/>
                  <a:t>。</a:t>
                </a:r>
                <a:endParaRPr lang="zh-CN" altLang="en-US" dirty="0"/>
              </a:p>
            </p:txBody>
          </p:sp>
        </mc:Choice>
        <mc:Fallback xmlns="">
          <p:sp>
            <p:nvSpPr>
              <p:cNvPr id="19" name="文本框 18">
                <a:extLst>
                  <a:ext uri="{FF2B5EF4-FFF2-40B4-BE49-F238E27FC236}">
                    <a16:creationId xmlns:a16="http://schemas.microsoft.com/office/drawing/2014/main" id="{BDE66E32-112E-DD14-CD92-6F413AB4E6C9}"/>
                  </a:ext>
                </a:extLst>
              </p:cNvPr>
              <p:cNvSpPr txBox="1">
                <a:spLocks noRot="1" noChangeAspect="1" noMove="1" noResize="1" noEditPoints="1" noAdjustHandles="1" noChangeArrowheads="1" noChangeShapeType="1" noTextEdit="1"/>
              </p:cNvSpPr>
              <p:nvPr/>
            </p:nvSpPr>
            <p:spPr>
              <a:xfrm>
                <a:off x="3771220" y="2095218"/>
                <a:ext cx="6106884" cy="661720"/>
              </a:xfrm>
              <a:prstGeom prst="rect">
                <a:avLst/>
              </a:prstGeom>
              <a:blipFill>
                <a:blip r:embed="rId5"/>
                <a:stretch>
                  <a:fillRect l="-599" t="-2778" b="-12037"/>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3F8B9FE5-2478-1154-1D09-487C2AB47F18}"/>
              </a:ext>
            </a:extLst>
          </p:cNvPr>
          <p:cNvSpPr txBox="1"/>
          <p:nvPr/>
        </p:nvSpPr>
        <p:spPr>
          <a:xfrm>
            <a:off x="688132" y="2843510"/>
            <a:ext cx="9594203"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en-US" altLang="zh-CN" dirty="0"/>
              <a:t>TIES Merging</a:t>
            </a:r>
            <a:r>
              <a:rPr lang="zh-CN" altLang="en-US" dirty="0"/>
              <a:t>：</a:t>
            </a:r>
            <a:r>
              <a:rPr lang="zh-CN" altLang="en-US" b="0" dirty="0"/>
              <a:t>传统的模型融合方法在整合多个微调模型时，常常会因参数干扰而导致性能下降</a:t>
            </a:r>
          </a:p>
        </p:txBody>
      </p:sp>
      <p:sp>
        <p:nvSpPr>
          <p:cNvPr id="25" name="文本框 24">
            <a:extLst>
              <a:ext uri="{FF2B5EF4-FFF2-40B4-BE49-F238E27FC236}">
                <a16:creationId xmlns:a16="http://schemas.microsoft.com/office/drawing/2014/main" id="{50123177-2FA3-8F54-81C1-B3D6D8A214C7}"/>
              </a:ext>
            </a:extLst>
          </p:cNvPr>
          <p:cNvSpPr txBox="1"/>
          <p:nvPr/>
        </p:nvSpPr>
        <p:spPr>
          <a:xfrm>
            <a:off x="887574" y="3217287"/>
            <a:ext cx="914283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pPr marL="0" indent="0">
              <a:buNone/>
            </a:pPr>
            <a:r>
              <a:rPr lang="zh-CN" altLang="zh-CN" b="0" dirty="0"/>
              <a:t>（</a:t>
            </a:r>
            <a:r>
              <a:rPr lang="en-US" altLang="zh-CN" b="0" dirty="0"/>
              <a:t>1</a:t>
            </a:r>
            <a:r>
              <a:rPr lang="zh-CN" altLang="zh-CN" b="0" dirty="0"/>
              <a:t>）去除冗余参数（</a:t>
            </a:r>
            <a:r>
              <a:rPr lang="en-US" altLang="zh-CN" b="0" dirty="0"/>
              <a:t>2</a:t>
            </a:r>
            <a:r>
              <a:rPr lang="zh-CN" altLang="zh-CN" b="0" dirty="0"/>
              <a:t>）符号选择（</a:t>
            </a:r>
            <a:r>
              <a:rPr lang="en-US" altLang="zh-CN" b="0" dirty="0"/>
              <a:t>3</a:t>
            </a:r>
            <a:r>
              <a:rPr lang="zh-CN" altLang="zh-CN" b="0" dirty="0"/>
              <a:t>）非重叠融合</a:t>
            </a:r>
            <a:endParaRPr lang="zh-CN" altLang="en-US" b="0" dirty="0"/>
          </a:p>
        </p:txBody>
      </p:sp>
      <p:sp>
        <p:nvSpPr>
          <p:cNvPr id="26" name="文本框 25">
            <a:extLst>
              <a:ext uri="{FF2B5EF4-FFF2-40B4-BE49-F238E27FC236}">
                <a16:creationId xmlns:a16="http://schemas.microsoft.com/office/drawing/2014/main" id="{E91F474B-3DC4-7E65-B756-F047D12C77C1}"/>
              </a:ext>
            </a:extLst>
          </p:cNvPr>
          <p:cNvSpPr txBox="1"/>
          <p:nvPr/>
        </p:nvSpPr>
        <p:spPr>
          <a:xfrm>
            <a:off x="688134" y="3678374"/>
            <a:ext cx="627250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可学习融合系数：</a:t>
            </a:r>
            <a:r>
              <a:rPr lang="zh-CN" altLang="en-US" b="0" dirty="0"/>
              <a:t>为每一层的</a:t>
            </a:r>
            <a:r>
              <a:rPr lang="en-US" altLang="zh-CN" b="0" dirty="0"/>
              <a:t>lora</a:t>
            </a:r>
            <a:r>
              <a:rPr lang="zh-CN" altLang="en-US" b="0" dirty="0"/>
              <a:t>参数分配一个融合系数</a:t>
            </a: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E9E6D72-2E99-F582-30B1-D1E9B09E564C}"/>
                  </a:ext>
                </a:extLst>
              </p:cNvPr>
              <p:cNvSpPr txBox="1"/>
              <p:nvPr/>
            </p:nvSpPr>
            <p:spPr>
              <a:xfrm>
                <a:off x="1046195" y="4052151"/>
                <a:ext cx="6106884" cy="698140"/>
              </a:xfrm>
              <a:prstGeom prst="rect">
                <a:avLst/>
              </a:prstGeom>
              <a:noFill/>
            </p:spPr>
            <p:txBody>
              <a:bodyPr wrap="square">
                <a:spAutoFit/>
              </a:bodyPr>
              <a:lstStyle>
                <a:defPPr>
                  <a:defRPr lang="zh-CN"/>
                </a:defPPr>
                <a:lvl1pPr>
                  <a:defRPr sz="1400" i="1">
                    <a:solidFill>
                      <a:srgbClr val="836967"/>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Sup>
                        <m:sSubSupPr>
                          <m:ctrlPr>
                            <a:rPr lang="zh-CN" altLang="en-US" i="1" smtClean="0">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𝐴</m:t>
                          </m:r>
                        </m:e>
                        <m:sub>
                          <m:r>
                            <a:rPr lang="zh-CN" altLang="en-US">
                              <a:solidFill>
                                <a:schemeClr val="tx1"/>
                              </a:solidFill>
                              <a:latin typeface="Cambria Math" panose="02040503050406030204" pitchFamily="18" charset="0"/>
                            </a:rPr>
                            <m:t>𝑓𝑢𝑠𝑖𝑜𝑛</m:t>
                          </m:r>
                        </m:sub>
                        <m:sup>
                          <m:r>
                            <a:rPr lang="zh-CN" altLang="en-US">
                              <a:solidFill>
                                <a:schemeClr val="tx1"/>
                              </a:solidFill>
                              <a:latin typeface="Cambria Math" panose="02040503050406030204" pitchFamily="18" charset="0"/>
                            </a:rPr>
                            <m:t>𝑙</m:t>
                          </m:r>
                        </m:sup>
                      </m:sSubSup>
                      <m:r>
                        <a:rPr lang="zh-CN" altLang="en-US">
                          <a:solidFill>
                            <a:schemeClr val="tx1"/>
                          </a:solidFill>
                          <a:latin typeface="Cambria Math" panose="02040503050406030204" pitchFamily="18" charset="0"/>
                        </a:rPr>
                        <m:t>=</m:t>
                      </m:r>
                      <m:nary>
                        <m:naryPr>
                          <m:chr m:val="∑"/>
                          <m:limLoc m:val="undOvr"/>
                          <m:ctrlPr>
                            <a:rPr lang="zh-CN" altLang="en-US" i="1">
                              <a:solidFill>
                                <a:schemeClr val="tx1"/>
                              </a:solidFill>
                              <a:latin typeface="Cambria Math" panose="02040503050406030204" pitchFamily="18" charset="0"/>
                            </a:rPr>
                          </m:ctrlPr>
                        </m:naryPr>
                        <m:sub>
                          <m:r>
                            <a:rPr lang="zh-CN" altLang="en-US">
                              <a:solidFill>
                                <a:schemeClr val="tx1"/>
                              </a:solidFill>
                              <a:latin typeface="Cambria Math" panose="02040503050406030204" pitchFamily="18" charset="0"/>
                            </a:rPr>
                            <m:t>𝑖</m:t>
                          </m:r>
                          <m:r>
                            <a:rPr lang="zh-CN" altLang="en-US">
                              <a:solidFill>
                                <a:schemeClr val="tx1"/>
                              </a:solidFill>
                              <a:latin typeface="Cambria Math" panose="02040503050406030204" pitchFamily="18" charset="0"/>
                            </a:rPr>
                            <m:t>=1</m:t>
                          </m:r>
                        </m:sub>
                        <m:sup>
                          <m:r>
                            <a:rPr lang="zh-CN" altLang="en-US">
                              <a:solidFill>
                                <a:schemeClr val="tx1"/>
                              </a:solidFill>
                              <a:latin typeface="Cambria Math" panose="02040503050406030204" pitchFamily="18" charset="0"/>
                            </a:rPr>
                            <m:t>𝑁</m:t>
                          </m:r>
                        </m:sup>
                        <m:e>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𝛼</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𝐴</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e>
                      </m:nary>
                      <m:r>
                        <a:rPr lang="zh-CN" altLang="en-US">
                          <a:solidFill>
                            <a:schemeClr val="tx1"/>
                          </a:solidFill>
                          <a:latin typeface="Cambria Math" panose="02040503050406030204" pitchFamily="18" charset="0"/>
                        </a:rPr>
                        <m:t>,  </m:t>
                      </m:r>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𝐵</m:t>
                          </m:r>
                        </m:e>
                        <m:sub>
                          <m:r>
                            <a:rPr lang="zh-CN" altLang="en-US">
                              <a:solidFill>
                                <a:schemeClr val="tx1"/>
                              </a:solidFill>
                              <a:latin typeface="Cambria Math" panose="02040503050406030204" pitchFamily="18" charset="0"/>
                            </a:rPr>
                            <m:t>𝑓𝑢𝑠𝑖𝑜𝑛</m:t>
                          </m:r>
                        </m:sub>
                        <m:sup>
                          <m:r>
                            <a:rPr lang="zh-CN" altLang="en-US">
                              <a:solidFill>
                                <a:schemeClr val="tx1"/>
                              </a:solidFill>
                              <a:latin typeface="Cambria Math" panose="02040503050406030204" pitchFamily="18" charset="0"/>
                            </a:rPr>
                            <m:t>𝑙</m:t>
                          </m:r>
                        </m:sup>
                      </m:sSubSup>
                      <m:r>
                        <a:rPr lang="zh-CN" altLang="en-US">
                          <a:solidFill>
                            <a:schemeClr val="tx1"/>
                          </a:solidFill>
                          <a:latin typeface="Cambria Math" panose="02040503050406030204" pitchFamily="18" charset="0"/>
                        </a:rPr>
                        <m:t>=</m:t>
                      </m:r>
                      <m:nary>
                        <m:naryPr>
                          <m:chr m:val="∑"/>
                          <m:limLoc m:val="undOvr"/>
                          <m:ctrlPr>
                            <a:rPr lang="zh-CN" altLang="en-US" i="1">
                              <a:solidFill>
                                <a:schemeClr val="tx1"/>
                              </a:solidFill>
                              <a:latin typeface="Cambria Math" panose="02040503050406030204" pitchFamily="18" charset="0"/>
                            </a:rPr>
                          </m:ctrlPr>
                        </m:naryPr>
                        <m:sub>
                          <m:r>
                            <a:rPr lang="zh-CN" altLang="en-US">
                              <a:solidFill>
                                <a:schemeClr val="tx1"/>
                              </a:solidFill>
                              <a:latin typeface="Cambria Math" panose="02040503050406030204" pitchFamily="18" charset="0"/>
                            </a:rPr>
                            <m:t>𝑖</m:t>
                          </m:r>
                          <m:r>
                            <a:rPr lang="zh-CN" altLang="en-US">
                              <a:solidFill>
                                <a:schemeClr val="tx1"/>
                              </a:solidFill>
                              <a:latin typeface="Cambria Math" panose="02040503050406030204" pitchFamily="18" charset="0"/>
                            </a:rPr>
                            <m:t>=1</m:t>
                          </m:r>
                        </m:sub>
                        <m:sup>
                          <m:r>
                            <a:rPr lang="zh-CN" altLang="en-US">
                              <a:solidFill>
                                <a:schemeClr val="tx1"/>
                              </a:solidFill>
                              <a:latin typeface="Cambria Math" panose="02040503050406030204" pitchFamily="18" charset="0"/>
                            </a:rPr>
                            <m:t>𝑁</m:t>
                          </m:r>
                        </m:sup>
                        <m:e>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𝛽</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sSubSup>
                            <m:sSubSupPr>
                              <m:ctrlPr>
                                <a:rPr lang="zh-CN" altLang="en-US" i="1">
                                  <a:solidFill>
                                    <a:schemeClr val="tx1"/>
                                  </a:solidFill>
                                  <a:latin typeface="Cambria Math" panose="02040503050406030204" pitchFamily="18" charset="0"/>
                                </a:rPr>
                              </m:ctrlPr>
                            </m:sSubSupPr>
                            <m:e>
                              <m:r>
                                <a:rPr lang="zh-CN" altLang="en-US">
                                  <a:solidFill>
                                    <a:schemeClr val="tx1"/>
                                  </a:solidFill>
                                  <a:latin typeface="Cambria Math" panose="02040503050406030204" pitchFamily="18" charset="0"/>
                                </a:rPr>
                                <m:t>𝐵</m:t>
                              </m:r>
                            </m:e>
                            <m:sub>
                              <m:r>
                                <a:rPr lang="zh-CN" altLang="en-US">
                                  <a:solidFill>
                                    <a:schemeClr val="tx1"/>
                                  </a:solidFill>
                                  <a:latin typeface="Cambria Math" panose="02040503050406030204" pitchFamily="18" charset="0"/>
                                </a:rPr>
                                <m:t>𝑖</m:t>
                              </m:r>
                            </m:sub>
                            <m:sup>
                              <m:r>
                                <a:rPr lang="zh-CN" altLang="en-US">
                                  <a:solidFill>
                                    <a:schemeClr val="tx1"/>
                                  </a:solidFill>
                                  <a:latin typeface="Cambria Math" panose="02040503050406030204" pitchFamily="18" charset="0"/>
                                </a:rPr>
                                <m:t>𝑙</m:t>
                              </m:r>
                            </m:sup>
                          </m:sSubSup>
                        </m:e>
                      </m:nary>
                    </m:oMath>
                  </m:oMathPara>
                </a14:m>
                <a:endParaRPr lang="zh-CN" altLang="en-US" dirty="0">
                  <a:solidFill>
                    <a:schemeClr val="tx1"/>
                  </a:solidFill>
                </a:endParaRPr>
              </a:p>
            </p:txBody>
          </p:sp>
        </mc:Choice>
        <mc:Fallback xmlns="">
          <p:sp>
            <p:nvSpPr>
              <p:cNvPr id="28" name="文本框 27">
                <a:extLst>
                  <a:ext uri="{FF2B5EF4-FFF2-40B4-BE49-F238E27FC236}">
                    <a16:creationId xmlns:a16="http://schemas.microsoft.com/office/drawing/2014/main" id="{7E9E6D72-2E99-F582-30B1-D1E9B09E564C}"/>
                  </a:ext>
                </a:extLst>
              </p:cNvPr>
              <p:cNvSpPr txBox="1">
                <a:spLocks noRot="1" noChangeAspect="1" noMove="1" noResize="1" noEditPoints="1" noAdjustHandles="1" noChangeArrowheads="1" noChangeShapeType="1" noTextEdit="1"/>
              </p:cNvSpPr>
              <p:nvPr/>
            </p:nvSpPr>
            <p:spPr>
              <a:xfrm>
                <a:off x="1046195" y="4052151"/>
                <a:ext cx="6106884" cy="698140"/>
              </a:xfrm>
              <a:prstGeom prst="rect">
                <a:avLst/>
              </a:prstGeom>
              <a:blipFill>
                <a:blip r:embed="rId6"/>
                <a:stretch>
                  <a:fillRect/>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CCFF4E79-BEA6-3ABC-52C0-501A319C641D}"/>
              </a:ext>
            </a:extLst>
          </p:cNvPr>
          <p:cNvSpPr txBox="1"/>
          <p:nvPr/>
        </p:nvSpPr>
        <p:spPr>
          <a:xfrm>
            <a:off x="688133" y="4877328"/>
            <a:ext cx="10704545"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基于掩码的方法</a:t>
            </a:r>
            <a:r>
              <a:rPr lang="zh-CN" altLang="en-US" dirty="0"/>
              <a:t>：</a:t>
            </a:r>
            <a:r>
              <a:rPr lang="zh-CN" altLang="en-US" b="0" dirty="0"/>
              <a:t>为每个任务引入一个特殊的掩码矩阵</a:t>
            </a:r>
          </a:p>
        </p:txBody>
      </p:sp>
      <p:sp>
        <p:nvSpPr>
          <p:cNvPr id="36" name="文本框 35">
            <a:extLst>
              <a:ext uri="{FF2B5EF4-FFF2-40B4-BE49-F238E27FC236}">
                <a16:creationId xmlns:a16="http://schemas.microsoft.com/office/drawing/2014/main" id="{F9997ED0-7D9E-BB1A-609C-61F68EF3ABBA}"/>
              </a:ext>
            </a:extLst>
          </p:cNvPr>
          <p:cNvSpPr txBox="1"/>
          <p:nvPr/>
        </p:nvSpPr>
        <p:spPr>
          <a:xfrm>
            <a:off x="887574" y="5272137"/>
            <a:ext cx="6106884" cy="338554"/>
          </a:xfrm>
          <a:prstGeom prst="rect">
            <a:avLst/>
          </a:prstGeom>
          <a:noFill/>
        </p:spPr>
        <p:txBody>
          <a:bodyPr wrap="square">
            <a:spAutoFit/>
          </a:bodyPr>
          <a:lstStyle>
            <a:defPPr>
              <a:defRPr lang="zh-CN"/>
            </a:defPPr>
            <a:lvl1pPr indent="0">
              <a:spcAft>
                <a:spcPts val="1200"/>
              </a:spcAft>
              <a:buFont typeface="Arial" panose="020B0604020202020204" pitchFamily="34" charset="0"/>
              <a:buNone/>
              <a:defRPr sz="1600" b="0">
                <a:latin typeface="+mn-ea"/>
              </a:defRPr>
            </a:lvl1pPr>
          </a:lstStyle>
          <a:p>
            <a:r>
              <a:rPr lang="zh-CN" altLang="en-US" dirty="0"/>
              <a:t>（</a:t>
            </a:r>
            <a:r>
              <a:rPr lang="en-US" altLang="zh-CN" dirty="0"/>
              <a:t>1</a:t>
            </a:r>
            <a:r>
              <a:rPr lang="zh-CN" altLang="en-US" dirty="0"/>
              <a:t>）</a:t>
            </a:r>
            <a:r>
              <a:rPr lang="zh-CN" altLang="zh-CN" dirty="0"/>
              <a:t>保留绝对值最大的元素</a:t>
            </a:r>
            <a:endParaRPr lang="zh-CN" altLang="en-US" dirty="0"/>
          </a:p>
        </p:txBody>
      </p:sp>
      <p:sp>
        <p:nvSpPr>
          <p:cNvPr id="38" name="文本框 37">
            <a:extLst>
              <a:ext uri="{FF2B5EF4-FFF2-40B4-BE49-F238E27FC236}">
                <a16:creationId xmlns:a16="http://schemas.microsoft.com/office/drawing/2014/main" id="{7588F699-4556-85B7-B02D-CE83DFBCA1C9}"/>
              </a:ext>
            </a:extLst>
          </p:cNvPr>
          <p:cNvSpPr txBox="1"/>
          <p:nvPr/>
        </p:nvSpPr>
        <p:spPr>
          <a:xfrm>
            <a:off x="887574" y="5641625"/>
            <a:ext cx="11033592" cy="338554"/>
          </a:xfrm>
          <a:prstGeom prst="rect">
            <a:avLst/>
          </a:prstGeom>
          <a:noFill/>
        </p:spPr>
        <p:txBody>
          <a:bodyPr wrap="square">
            <a:spAutoFit/>
          </a:bodyPr>
          <a:lstStyle>
            <a:defPPr>
              <a:defRPr lang="zh-CN"/>
            </a:defPPr>
            <a:lvl1pPr indent="0">
              <a:spcAft>
                <a:spcPts val="1200"/>
              </a:spcAft>
              <a:buFont typeface="Arial" panose="020B0604020202020204" pitchFamily="34" charset="0"/>
              <a:buNone/>
              <a:defRPr sz="1600" b="0">
                <a:latin typeface="+mn-ea"/>
              </a:defRPr>
            </a:lvl1pPr>
          </a:lstStyle>
          <a:p>
            <a:r>
              <a:rPr lang="zh-CN" altLang="en-US" dirty="0"/>
              <a:t>（</a:t>
            </a:r>
            <a:r>
              <a:rPr lang="en-US" altLang="zh-CN" dirty="0"/>
              <a:t>2</a:t>
            </a:r>
            <a:r>
              <a:rPr lang="zh-CN" altLang="en-US" dirty="0"/>
              <a:t>）</a:t>
            </a:r>
            <a:r>
              <a:rPr lang="zh-CN" altLang="zh-CN" dirty="0"/>
              <a:t>融合参数的每一个维度构造</a:t>
            </a:r>
            <a:r>
              <a:rPr lang="en-US" altLang="zh-CN" dirty="0"/>
              <a:t>1bit</a:t>
            </a:r>
            <a:r>
              <a:rPr lang="zh-CN" altLang="zh-CN" dirty="0"/>
              <a:t>掩码，用于掩盖掉融合参数中与原始微调参数差距过大的维度</a:t>
            </a:r>
            <a:endParaRPr lang="zh-CN" altLang="en-US" dirty="0"/>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AAD50A0-9ADA-92E4-1292-D356C2461518}"/>
                  </a:ext>
                </a:extLst>
              </p:cNvPr>
              <p:cNvSpPr txBox="1"/>
              <p:nvPr/>
            </p:nvSpPr>
            <p:spPr>
              <a:xfrm>
                <a:off x="1426419" y="6083943"/>
                <a:ext cx="3306023" cy="411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𝑚</m:t>
                          </m:r>
                        </m:e>
                        <m:sub>
                          <m:r>
                            <a:rPr lang="zh-CN" altLang="en-US" i="1">
                              <a:latin typeface="Cambria Math" panose="02040503050406030204" pitchFamily="18" charset="0"/>
                            </a:rPr>
                            <m:t>𝑖</m:t>
                          </m:r>
                        </m:sub>
                      </m:sSub>
                      <m:r>
                        <a:rPr lang="zh-CN" altLang="en-US" i="0">
                          <a:latin typeface="Cambria Math" panose="02040503050406030204" pitchFamily="18" charset="0"/>
                        </a:rPr>
                        <m:t>=1</m:t>
                      </m:r>
                      <m:d>
                        <m:dPr>
                          <m:begChr m:val="{"/>
                          <m:endChr m:val="}"/>
                          <m:ctrlPr>
                            <a:rPr lang="zh-CN" altLang="en-US" i="1">
                              <a:latin typeface="Cambria Math" panose="02040503050406030204" pitchFamily="18" charset="0"/>
                            </a:rPr>
                          </m:ctrlPr>
                        </m:dPr>
                        <m:e>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𝑓𝑢𝑠𝑖𝑜𝑛</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e>
                      </m:d>
                    </m:oMath>
                  </m:oMathPara>
                </a14:m>
                <a:endParaRPr lang="zh-CN" altLang="en-US" dirty="0"/>
              </a:p>
            </p:txBody>
          </p:sp>
        </mc:Choice>
        <mc:Fallback xmlns="">
          <p:sp>
            <p:nvSpPr>
              <p:cNvPr id="40" name="文本框 39">
                <a:extLst>
                  <a:ext uri="{FF2B5EF4-FFF2-40B4-BE49-F238E27FC236}">
                    <a16:creationId xmlns:a16="http://schemas.microsoft.com/office/drawing/2014/main" id="{7AAD50A0-9ADA-92E4-1292-D356C2461518}"/>
                  </a:ext>
                </a:extLst>
              </p:cNvPr>
              <p:cNvSpPr txBox="1">
                <a:spLocks noRot="1" noChangeAspect="1" noMove="1" noResize="1" noEditPoints="1" noAdjustHandles="1" noChangeArrowheads="1" noChangeShapeType="1" noTextEdit="1"/>
              </p:cNvSpPr>
              <p:nvPr/>
            </p:nvSpPr>
            <p:spPr>
              <a:xfrm>
                <a:off x="1426419" y="6083943"/>
                <a:ext cx="3306023" cy="411331"/>
              </a:xfrm>
              <a:prstGeom prst="rect">
                <a:avLst/>
              </a:prstGeom>
              <a:blipFill>
                <a:blip r:embed="rId7"/>
                <a:stretch>
                  <a:fillRect b="-10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11180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数据集</a:t>
            </a:r>
            <a:endParaRPr lang="en-US" altLang="zh-CN" b="1" dirty="0">
              <a:solidFill>
                <a:srgbClr val="268F9C"/>
              </a:solidFill>
              <a:latin typeface="+mn-ea"/>
            </a:endParaRPr>
          </a:p>
        </p:txBody>
      </p:sp>
      <p:sp>
        <p:nvSpPr>
          <p:cNvPr id="9" name="文本框 8">
            <a:extLst>
              <a:ext uri="{FF2B5EF4-FFF2-40B4-BE49-F238E27FC236}">
                <a16:creationId xmlns:a16="http://schemas.microsoft.com/office/drawing/2014/main" id="{7A4AA175-B0EC-09E8-CA26-802460283BBE}"/>
              </a:ext>
            </a:extLst>
          </p:cNvPr>
          <p:cNvSpPr txBox="1"/>
          <p:nvPr/>
        </p:nvSpPr>
        <p:spPr>
          <a:xfrm>
            <a:off x="717778" y="1583826"/>
            <a:ext cx="3966189" cy="369332"/>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代码搜索：</a:t>
            </a:r>
            <a:r>
              <a:rPr lang="en-US" altLang="zh-CN" sz="1800" b="0" dirty="0">
                <a:effectLst/>
                <a:latin typeface="Times New Roman" panose="02020603050405020304" pitchFamily="18" charset="0"/>
                <a:ea typeface="宋体" panose="02010600030101010101" pitchFamily="2" charset="-122"/>
              </a:rPr>
              <a:t> </a:t>
            </a:r>
            <a:endParaRPr lang="zh-CN" altLang="en-US" b="0" dirty="0"/>
          </a:p>
        </p:txBody>
      </p:sp>
      <p:sp>
        <p:nvSpPr>
          <p:cNvPr id="17" name="文本框 16">
            <a:extLst>
              <a:ext uri="{FF2B5EF4-FFF2-40B4-BE49-F238E27FC236}">
                <a16:creationId xmlns:a16="http://schemas.microsoft.com/office/drawing/2014/main" id="{3E0E9513-006D-6544-F9DB-43EC902247CE}"/>
              </a:ext>
            </a:extLst>
          </p:cNvPr>
          <p:cNvSpPr txBox="1"/>
          <p:nvPr/>
        </p:nvSpPr>
        <p:spPr>
          <a:xfrm>
            <a:off x="717778" y="2706493"/>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代码漏洞检测</a:t>
            </a:r>
            <a:endParaRPr lang="zh-CN" altLang="en-US" dirty="0"/>
          </a:p>
        </p:txBody>
      </p:sp>
      <p:sp>
        <p:nvSpPr>
          <p:cNvPr id="20" name="文本框 19">
            <a:extLst>
              <a:ext uri="{FF2B5EF4-FFF2-40B4-BE49-F238E27FC236}">
                <a16:creationId xmlns:a16="http://schemas.microsoft.com/office/drawing/2014/main" id="{0B27C47F-F8C4-A142-8844-0D2328B21B01}"/>
              </a:ext>
            </a:extLst>
          </p:cNvPr>
          <p:cNvSpPr txBox="1"/>
          <p:nvPr/>
        </p:nvSpPr>
        <p:spPr>
          <a:xfrm>
            <a:off x="998375" y="3090974"/>
            <a:ext cx="6106884"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dirty="0"/>
              <a:t>给定一个代码，让大模型回答</a:t>
            </a:r>
            <a:r>
              <a:rPr lang="en-US" altLang="zh-CN" sz="1400" dirty="0"/>
              <a:t>”yes”</a:t>
            </a:r>
            <a:r>
              <a:rPr lang="zh-CN" altLang="zh-CN" sz="1400" dirty="0"/>
              <a:t>（代码包含漏洞）或</a:t>
            </a:r>
            <a:r>
              <a:rPr lang="en-US" altLang="zh-CN" sz="1400" dirty="0"/>
              <a:t>”no”</a:t>
            </a:r>
            <a:endParaRPr lang="zh-CN" altLang="en-US" sz="1400" dirty="0"/>
          </a:p>
        </p:txBody>
      </p:sp>
      <p:sp>
        <p:nvSpPr>
          <p:cNvPr id="27" name="文本框 26">
            <a:extLst>
              <a:ext uri="{FF2B5EF4-FFF2-40B4-BE49-F238E27FC236}">
                <a16:creationId xmlns:a16="http://schemas.microsoft.com/office/drawing/2014/main" id="{0C15A0FE-FBBF-7BCD-437A-BA65AD7E2A3C}"/>
              </a:ext>
            </a:extLst>
          </p:cNvPr>
          <p:cNvSpPr txBox="1"/>
          <p:nvPr/>
        </p:nvSpPr>
        <p:spPr>
          <a:xfrm>
            <a:off x="998375" y="3444678"/>
            <a:ext cx="6106884"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dirty="0"/>
              <a:t>微调的损失函数为标准的因果语言建模损失</a:t>
            </a:r>
            <a:endParaRPr lang="zh-CN" altLang="en-US" sz="1400" dirty="0"/>
          </a:p>
        </p:txBody>
      </p:sp>
      <p:sp>
        <p:nvSpPr>
          <p:cNvPr id="30" name="文本框 29">
            <a:extLst>
              <a:ext uri="{FF2B5EF4-FFF2-40B4-BE49-F238E27FC236}">
                <a16:creationId xmlns:a16="http://schemas.microsoft.com/office/drawing/2014/main" id="{DC2A47A5-6510-B36F-089A-A6993D0E92DA}"/>
              </a:ext>
            </a:extLst>
          </p:cNvPr>
          <p:cNvSpPr txBox="1"/>
          <p:nvPr/>
        </p:nvSpPr>
        <p:spPr>
          <a:xfrm>
            <a:off x="717778" y="3798382"/>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代码克隆检测：</a:t>
            </a:r>
            <a:endParaRPr lang="zh-CN" altLang="en-US" dirty="0"/>
          </a:p>
        </p:txBody>
      </p:sp>
      <p:sp>
        <p:nvSpPr>
          <p:cNvPr id="31" name="文本框 30">
            <a:extLst>
              <a:ext uri="{FF2B5EF4-FFF2-40B4-BE49-F238E27FC236}">
                <a16:creationId xmlns:a16="http://schemas.microsoft.com/office/drawing/2014/main" id="{0590CC96-6E5D-06C0-9457-CD4412ECEB0C}"/>
              </a:ext>
            </a:extLst>
          </p:cNvPr>
          <p:cNvSpPr txBox="1"/>
          <p:nvPr/>
        </p:nvSpPr>
        <p:spPr>
          <a:xfrm>
            <a:off x="998375" y="4182863"/>
            <a:ext cx="8675137" cy="307777"/>
          </a:xfrm>
          <a:prstGeom prst="rect">
            <a:avLst/>
          </a:prstGeom>
          <a:noFill/>
        </p:spPr>
        <p:txBody>
          <a:bodyPr wrap="square">
            <a:spAutoFit/>
          </a:bodyPr>
          <a:lstStyle/>
          <a:p>
            <a:r>
              <a:rPr lang="zh-CN" altLang="en-US" sz="1400" b="0" dirty="0"/>
              <a:t>对于两个待检测代码片段，得到他们的代码嵌入</a:t>
            </a:r>
            <a:endParaRPr lang="zh-CN" altLang="en-US" sz="1400" dirty="0"/>
          </a:p>
        </p:txBody>
      </p:sp>
      <p:sp>
        <p:nvSpPr>
          <p:cNvPr id="33" name="文本框 32">
            <a:extLst>
              <a:ext uri="{FF2B5EF4-FFF2-40B4-BE49-F238E27FC236}">
                <a16:creationId xmlns:a16="http://schemas.microsoft.com/office/drawing/2014/main" id="{B983BC7E-27F9-E53C-955D-9B7859DE85D9}"/>
              </a:ext>
            </a:extLst>
          </p:cNvPr>
          <p:cNvSpPr txBox="1"/>
          <p:nvPr/>
        </p:nvSpPr>
        <p:spPr>
          <a:xfrm>
            <a:off x="998375" y="4536567"/>
            <a:ext cx="6106884" cy="307777"/>
          </a:xfrm>
          <a:prstGeom prst="rect">
            <a:avLst/>
          </a:prstGeom>
          <a:noFill/>
        </p:spPr>
        <p:txBody>
          <a:bodyPr wrap="square">
            <a:spAutoFit/>
          </a:bodyPr>
          <a:lstStyle>
            <a:defPPr>
              <a:defRPr lang="zh-CN"/>
            </a:defPPr>
            <a:lvl1pPr>
              <a:defRPr sz="1400" b="0"/>
            </a:lvl1pPr>
          </a:lstStyle>
          <a:p>
            <a:r>
              <a:rPr lang="zh-CN" altLang="zh-CN" dirty="0"/>
              <a:t>计算他们的余弦相似度</a:t>
            </a:r>
            <a:r>
              <a:rPr lang="zh-CN" altLang="en-US" dirty="0"/>
              <a:t>并进行进行归一化，作为克隆概率</a:t>
            </a:r>
          </a:p>
        </p:txBody>
      </p:sp>
      <p:sp>
        <p:nvSpPr>
          <p:cNvPr id="37" name="文本框 36">
            <a:extLst>
              <a:ext uri="{FF2B5EF4-FFF2-40B4-BE49-F238E27FC236}">
                <a16:creationId xmlns:a16="http://schemas.microsoft.com/office/drawing/2014/main" id="{A74F4015-F656-6D52-22BD-743C886F0B47}"/>
              </a:ext>
            </a:extLst>
          </p:cNvPr>
          <p:cNvSpPr txBox="1"/>
          <p:nvPr/>
        </p:nvSpPr>
        <p:spPr>
          <a:xfrm>
            <a:off x="998375" y="4890271"/>
            <a:ext cx="6106884" cy="307777"/>
          </a:xfrm>
          <a:prstGeom prst="rect">
            <a:avLst/>
          </a:prstGeom>
          <a:noFill/>
        </p:spPr>
        <p:txBody>
          <a:bodyPr wrap="square">
            <a:spAutoFit/>
          </a:bodyPr>
          <a:lstStyle>
            <a:defPPr>
              <a:defRPr lang="zh-CN"/>
            </a:defPPr>
            <a:lvl1pPr>
              <a:defRPr sz="1400" b="0"/>
            </a:lvl1pPr>
          </a:lstStyle>
          <a:p>
            <a:r>
              <a:rPr lang="zh-CN" altLang="zh-CN" dirty="0"/>
              <a:t>使用二元交叉熵函数作为损失函数对模型进行微调</a:t>
            </a:r>
            <a:endParaRPr lang="zh-CN" altLang="en-US" dirty="0"/>
          </a:p>
        </p:txBody>
      </p:sp>
      <p:sp>
        <p:nvSpPr>
          <p:cNvPr id="41" name="文本框 40">
            <a:extLst>
              <a:ext uri="{FF2B5EF4-FFF2-40B4-BE49-F238E27FC236}">
                <a16:creationId xmlns:a16="http://schemas.microsoft.com/office/drawing/2014/main" id="{3F46BF24-C557-8D37-2A1B-B9B882C52B0B}"/>
              </a:ext>
            </a:extLst>
          </p:cNvPr>
          <p:cNvSpPr txBox="1"/>
          <p:nvPr/>
        </p:nvSpPr>
        <p:spPr>
          <a:xfrm>
            <a:off x="998375" y="5243975"/>
            <a:ext cx="7921690" cy="307777"/>
          </a:xfrm>
          <a:prstGeom prst="rect">
            <a:avLst/>
          </a:prstGeom>
          <a:noFill/>
        </p:spPr>
        <p:txBody>
          <a:bodyPr wrap="square">
            <a:spAutoFit/>
          </a:bodyPr>
          <a:lstStyle>
            <a:defPPr>
              <a:defRPr lang="zh-CN"/>
            </a:defPPr>
            <a:lvl1pPr>
              <a:defRPr sz="1400" b="0"/>
            </a:lvl1pPr>
          </a:lstStyle>
          <a:p>
            <a:r>
              <a:rPr lang="zh-CN" altLang="zh-CN" dirty="0"/>
              <a:t>在推理时，如果两个代码片段余弦相似度大于</a:t>
            </a:r>
            <a:r>
              <a:rPr lang="en-US" altLang="zh-CN" dirty="0"/>
              <a:t>0.5</a:t>
            </a:r>
            <a:r>
              <a:rPr lang="zh-CN" altLang="zh-CN" dirty="0"/>
              <a:t>，则认为这两个代码片段为克隆的</a:t>
            </a:r>
            <a:endParaRPr lang="zh-CN" altLang="en-US" dirty="0"/>
          </a:p>
        </p:txBody>
      </p:sp>
      <p:sp>
        <p:nvSpPr>
          <p:cNvPr id="42" name="文本框 41">
            <a:extLst>
              <a:ext uri="{FF2B5EF4-FFF2-40B4-BE49-F238E27FC236}">
                <a16:creationId xmlns:a16="http://schemas.microsoft.com/office/drawing/2014/main" id="{FA090B4B-590F-063E-D151-9A84C5B36EBA}"/>
              </a:ext>
            </a:extLst>
          </p:cNvPr>
          <p:cNvSpPr txBox="1"/>
          <p:nvPr/>
        </p:nvSpPr>
        <p:spPr>
          <a:xfrm>
            <a:off x="717778" y="5597679"/>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摘要生成、代码修复、代码生成：</a:t>
            </a:r>
          </a:p>
        </p:txBody>
      </p:sp>
      <p:sp>
        <p:nvSpPr>
          <p:cNvPr id="44" name="文本框 43">
            <a:extLst>
              <a:ext uri="{FF2B5EF4-FFF2-40B4-BE49-F238E27FC236}">
                <a16:creationId xmlns:a16="http://schemas.microsoft.com/office/drawing/2014/main" id="{AAF17D71-7858-EA04-5639-D2B52C38D5C0}"/>
              </a:ext>
            </a:extLst>
          </p:cNvPr>
          <p:cNvSpPr txBox="1"/>
          <p:nvPr/>
        </p:nvSpPr>
        <p:spPr>
          <a:xfrm>
            <a:off x="998375" y="5982157"/>
            <a:ext cx="6106884" cy="307777"/>
          </a:xfrm>
          <a:prstGeom prst="rect">
            <a:avLst/>
          </a:prstGeom>
          <a:noFill/>
        </p:spPr>
        <p:txBody>
          <a:bodyPr wrap="square">
            <a:spAutoFit/>
          </a:bodyPr>
          <a:lstStyle>
            <a:defPPr>
              <a:defRPr lang="zh-CN"/>
            </a:defPPr>
            <a:lvl1pPr>
              <a:defRPr sz="1400" b="0"/>
            </a:lvl1pPr>
          </a:lstStyle>
          <a:p>
            <a:r>
              <a:rPr lang="zh-CN" altLang="zh-CN" dirty="0"/>
              <a:t>微调的损失函数为标准的因果语言建模损失。</a:t>
            </a:r>
          </a:p>
        </p:txBody>
      </p:sp>
      <p:sp>
        <p:nvSpPr>
          <p:cNvPr id="4" name="文本框 3">
            <a:extLst>
              <a:ext uri="{FF2B5EF4-FFF2-40B4-BE49-F238E27FC236}">
                <a16:creationId xmlns:a16="http://schemas.microsoft.com/office/drawing/2014/main" id="{E624C1FF-7DA9-59BB-008B-31F64247AAA0}"/>
              </a:ext>
            </a:extLst>
          </p:cNvPr>
          <p:cNvSpPr txBox="1"/>
          <p:nvPr/>
        </p:nvSpPr>
        <p:spPr>
          <a:xfrm>
            <a:off x="998375" y="1999085"/>
            <a:ext cx="7473821"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zh-CN" dirty="0"/>
              <a:t>使用</a:t>
            </a:r>
            <a:r>
              <a:rPr lang="en-US" altLang="zh-CN" dirty="0"/>
              <a:t> Code </a:t>
            </a:r>
            <a:r>
              <a:rPr lang="en-US" altLang="zh-CN" dirty="0" err="1"/>
              <a:t>LLaMA</a:t>
            </a:r>
            <a:r>
              <a:rPr lang="en-US" altLang="zh-CN" dirty="0"/>
              <a:t> </a:t>
            </a:r>
            <a:r>
              <a:rPr lang="zh-CN" altLang="zh-CN" dirty="0"/>
              <a:t>最后一层中</a:t>
            </a:r>
            <a:r>
              <a:rPr lang="en-US" altLang="zh-CN" dirty="0"/>
              <a:t> &lt;</a:t>
            </a:r>
            <a:r>
              <a:rPr lang="en-US" altLang="zh-CN" dirty="0" err="1"/>
              <a:t>eos</a:t>
            </a:r>
            <a:r>
              <a:rPr lang="en-US" altLang="zh-CN" dirty="0"/>
              <a:t>&gt; token </a:t>
            </a:r>
            <a:r>
              <a:rPr lang="zh-CN" altLang="zh-CN" dirty="0"/>
              <a:t>的隐藏状态作为整个句子的嵌入表示</a:t>
            </a:r>
            <a:endParaRPr lang="zh-CN" altLang="en-US" dirty="0"/>
          </a:p>
        </p:txBody>
      </p:sp>
      <p:sp>
        <p:nvSpPr>
          <p:cNvPr id="6" name="Rectangle 1">
            <a:extLst>
              <a:ext uri="{FF2B5EF4-FFF2-40B4-BE49-F238E27FC236}">
                <a16:creationId xmlns:a16="http://schemas.microsoft.com/office/drawing/2014/main" id="{95C7368B-D039-4CC2-38DA-BCB7FB5E036F}"/>
              </a:ext>
            </a:extLst>
          </p:cNvPr>
          <p:cNvSpPr>
            <a:spLocks noChangeArrowheads="1"/>
          </p:cNvSpPr>
          <p:nvPr/>
        </p:nvSpPr>
        <p:spPr bwMode="auto">
          <a:xfrm>
            <a:off x="998375" y="2352789"/>
            <a:ext cx="2970685" cy="307777"/>
          </a:xfrm>
          <a:prstGeom prst="rect">
            <a:avLst/>
          </a:prstGeom>
          <a:noFill/>
        </p:spPr>
        <p:txBody>
          <a:bodyPr wrap="square">
            <a:spAutoFit/>
          </a:bodyPr>
          <a:lstStyle/>
          <a:p>
            <a:pPr>
              <a:spcAft>
                <a:spcPts val="1200"/>
              </a:spcAft>
            </a:pPr>
            <a:r>
              <a:rPr lang="zh-CN" altLang="en-US" sz="1400" dirty="0">
                <a:latin typeface="+mn-ea"/>
              </a:rPr>
              <a:t>使用 </a:t>
            </a:r>
            <a:r>
              <a:rPr lang="en-US" altLang="zh-CN" sz="1400" dirty="0" err="1">
                <a:latin typeface="+mn-ea"/>
              </a:rPr>
              <a:t>InfoNCE</a:t>
            </a:r>
            <a:r>
              <a:rPr lang="en-US" altLang="zh-CN" sz="1400" dirty="0">
                <a:latin typeface="+mn-ea"/>
              </a:rPr>
              <a:t>[36] </a:t>
            </a:r>
            <a:r>
              <a:rPr lang="zh-CN" altLang="en-US" sz="1400" dirty="0">
                <a:latin typeface="+mn-ea"/>
              </a:rPr>
              <a:t>对模型进行微调 </a:t>
            </a:r>
          </a:p>
        </p:txBody>
      </p:sp>
      <p:sp>
        <p:nvSpPr>
          <p:cNvPr id="7" name="Rectangle 2">
            <a:extLst>
              <a:ext uri="{FF2B5EF4-FFF2-40B4-BE49-F238E27FC236}">
                <a16:creationId xmlns:a16="http://schemas.microsoft.com/office/drawing/2014/main" id="{27B0A595-68A4-4953-FECD-43037849EDF8}"/>
              </a:ext>
            </a:extLst>
          </p:cNvPr>
          <p:cNvSpPr>
            <a:spLocks noChangeArrowheads="1"/>
          </p:cNvSpPr>
          <p:nvPr/>
        </p:nvSpPr>
        <p:spPr bwMode="auto">
          <a:xfrm>
            <a:off x="717778" y="1216656"/>
            <a:ext cx="9807153" cy="338554"/>
          </a:xfrm>
          <a:prstGeom prst="rect">
            <a:avLst/>
          </a:prstGeom>
          <a:noFill/>
        </p:spPr>
        <p:txBody>
          <a:bodyPr wrap="square">
            <a:spAutoFit/>
          </a:bodyPr>
          <a:lstStyle/>
          <a:p>
            <a:pPr>
              <a:spcAft>
                <a:spcPts val="1200"/>
              </a:spcAft>
            </a:pPr>
            <a:r>
              <a:rPr lang="zh-CN" altLang="en-US" sz="1600" dirty="0">
                <a:latin typeface="+mn-ea"/>
              </a:rPr>
              <a:t>对</a:t>
            </a:r>
            <a:r>
              <a:rPr lang="en-US" altLang="zh-CN" sz="1600" dirty="0">
                <a:latin typeface="+mn-ea"/>
              </a:rPr>
              <a:t>Code Llama</a:t>
            </a:r>
            <a:r>
              <a:rPr lang="zh-CN" altLang="en-US" sz="1600" dirty="0">
                <a:latin typeface="+mn-ea"/>
              </a:rPr>
              <a:t>进行微调。我们使用指令微调来对各个任务进行微调，微调使用的模板遵循</a:t>
            </a:r>
            <a:r>
              <a:rPr lang="en-US" altLang="zh-CN" sz="1600" dirty="0">
                <a:latin typeface="+mn-ea"/>
              </a:rPr>
              <a:t>alpaca </a:t>
            </a:r>
          </a:p>
        </p:txBody>
      </p:sp>
    </p:spTree>
    <p:extLst>
      <p:ext uri="{BB962C8B-B14F-4D97-AF65-F5344CB8AC3E}">
        <p14:creationId xmlns:p14="http://schemas.microsoft.com/office/powerpoint/2010/main" val="3363128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数据集以及评价指标</a:t>
            </a:r>
            <a:endParaRPr lang="en-US" altLang="zh-CN" b="1" dirty="0">
              <a:solidFill>
                <a:srgbClr val="268F9C"/>
              </a:solidFill>
              <a:latin typeface="+mn-ea"/>
            </a:endParaRPr>
          </a:p>
        </p:txBody>
      </p:sp>
      <p:sp>
        <p:nvSpPr>
          <p:cNvPr id="5" name="文本框 4">
            <a:extLst>
              <a:ext uri="{FF2B5EF4-FFF2-40B4-BE49-F238E27FC236}">
                <a16:creationId xmlns:a16="http://schemas.microsoft.com/office/drawing/2014/main" id="{43B43370-15B7-07AE-1275-73EB926CB389}"/>
              </a:ext>
            </a:extLst>
          </p:cNvPr>
          <p:cNvSpPr txBox="1"/>
          <p:nvPr/>
        </p:nvSpPr>
        <p:spPr>
          <a:xfrm>
            <a:off x="717778" y="1148246"/>
            <a:ext cx="6106884" cy="338554"/>
          </a:xfrm>
          <a:prstGeom prst="rect">
            <a:avLst/>
          </a:prstGeom>
          <a:noFill/>
        </p:spPr>
        <p:txBody>
          <a:bodyPr wrap="square">
            <a:spAutoFit/>
          </a:bodyPr>
          <a:lstStyle>
            <a:defPPr>
              <a:defRPr lang="zh-CN"/>
            </a:defPPr>
            <a:lvl1pPr>
              <a:spcAft>
                <a:spcPts val="1200"/>
              </a:spcAft>
              <a:defRPr sz="1600">
                <a:latin typeface="+mn-ea"/>
              </a:defRPr>
            </a:lvl1pPr>
          </a:lstStyle>
          <a:p>
            <a:r>
              <a:rPr lang="zh-CN" altLang="en-US" dirty="0"/>
              <a:t>对</a:t>
            </a:r>
            <a:r>
              <a:rPr lang="en-US" altLang="zh-CN" dirty="0"/>
              <a:t>Code Llama</a:t>
            </a:r>
            <a:r>
              <a:rPr lang="zh-CN" altLang="en-US" dirty="0"/>
              <a:t>进行微调，</a:t>
            </a:r>
            <a:r>
              <a:rPr lang="zh-CN" altLang="zh-CN" dirty="0"/>
              <a:t>微调使用的模板遵循</a:t>
            </a:r>
            <a:r>
              <a:rPr lang="en-US" altLang="zh-CN" dirty="0"/>
              <a:t>alpaca</a:t>
            </a:r>
            <a:endParaRPr lang="zh-CN" altLang="en-US" dirty="0"/>
          </a:p>
        </p:txBody>
      </p:sp>
      <p:graphicFrame>
        <p:nvGraphicFramePr>
          <p:cNvPr id="74" name="表格 73">
            <a:extLst>
              <a:ext uri="{FF2B5EF4-FFF2-40B4-BE49-F238E27FC236}">
                <a16:creationId xmlns:a16="http://schemas.microsoft.com/office/drawing/2014/main" id="{47EDFC7F-9D05-A411-D61A-8A82BC645BA6}"/>
              </a:ext>
            </a:extLst>
          </p:cNvPr>
          <p:cNvGraphicFramePr>
            <a:graphicFrameLocks noGrp="1"/>
          </p:cNvGraphicFramePr>
          <p:nvPr>
            <p:extLst>
              <p:ext uri="{D42A27DB-BD31-4B8C-83A1-F6EECF244321}">
                <p14:modId xmlns:p14="http://schemas.microsoft.com/office/powerpoint/2010/main" val="1943229123"/>
              </p:ext>
            </p:extLst>
          </p:nvPr>
        </p:nvGraphicFramePr>
        <p:xfrm>
          <a:off x="393607" y="5343222"/>
          <a:ext cx="5517457" cy="1463040"/>
        </p:xfrm>
        <a:graphic>
          <a:graphicData uri="http://schemas.openxmlformats.org/drawingml/2006/table">
            <a:tbl>
              <a:tblPr firstRow="1" firstCol="1" bandRow="1"/>
              <a:tblGrid>
                <a:gridCol w="919022">
                  <a:extLst>
                    <a:ext uri="{9D8B030D-6E8A-4147-A177-3AD203B41FA5}">
                      <a16:colId xmlns:a16="http://schemas.microsoft.com/office/drawing/2014/main" val="1364616639"/>
                    </a:ext>
                  </a:extLst>
                </a:gridCol>
                <a:gridCol w="919687">
                  <a:extLst>
                    <a:ext uri="{9D8B030D-6E8A-4147-A177-3AD203B41FA5}">
                      <a16:colId xmlns:a16="http://schemas.microsoft.com/office/drawing/2014/main" val="2862826222"/>
                    </a:ext>
                  </a:extLst>
                </a:gridCol>
                <a:gridCol w="919687">
                  <a:extLst>
                    <a:ext uri="{9D8B030D-6E8A-4147-A177-3AD203B41FA5}">
                      <a16:colId xmlns:a16="http://schemas.microsoft.com/office/drawing/2014/main" val="2836269270"/>
                    </a:ext>
                  </a:extLst>
                </a:gridCol>
                <a:gridCol w="919687">
                  <a:extLst>
                    <a:ext uri="{9D8B030D-6E8A-4147-A177-3AD203B41FA5}">
                      <a16:colId xmlns:a16="http://schemas.microsoft.com/office/drawing/2014/main" val="1396184071"/>
                    </a:ext>
                  </a:extLst>
                </a:gridCol>
                <a:gridCol w="919687">
                  <a:extLst>
                    <a:ext uri="{9D8B030D-6E8A-4147-A177-3AD203B41FA5}">
                      <a16:colId xmlns:a16="http://schemas.microsoft.com/office/drawing/2014/main" val="3577737048"/>
                    </a:ext>
                  </a:extLst>
                </a:gridCol>
                <a:gridCol w="919687">
                  <a:extLst>
                    <a:ext uri="{9D8B030D-6E8A-4147-A177-3AD203B41FA5}">
                      <a16:colId xmlns:a16="http://schemas.microsoft.com/office/drawing/2014/main" val="1533145939"/>
                    </a:ext>
                  </a:extLst>
                </a:gridCol>
              </a:tblGrid>
              <a:tr h="85516">
                <a:tc rowSpan="2">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Task</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gridSpan="2">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2186646976"/>
                  </a:ext>
                </a:extLst>
              </a:tr>
              <a:tr h="85516">
                <a:tc vMerge="1">
                  <a:txBody>
                    <a:bodyPr/>
                    <a:lstStyle/>
                    <a:p>
                      <a:endParaRPr lang="zh-CN" altLang="en-US"/>
                    </a:p>
                  </a:txBody>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106801"/>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Python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49331320"/>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Java</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454451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15328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26909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574448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299525039"/>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Javascript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123889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8253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6483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8861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183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153037266"/>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Go</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317832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14242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14291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13085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294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878671020"/>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Ruby</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48791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2209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2279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5153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343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371509427"/>
                  </a:ext>
                </a:extLst>
              </a:tr>
              <a:tr h="85516">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PHP</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523712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26015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28391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3,595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191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2372611"/>
                  </a:ext>
                </a:extLst>
              </a:tr>
            </a:tbl>
          </a:graphicData>
        </a:graphic>
      </p:graphicFrame>
      <p:graphicFrame>
        <p:nvGraphicFramePr>
          <p:cNvPr id="76" name="表格 75">
            <a:extLst>
              <a:ext uri="{FF2B5EF4-FFF2-40B4-BE49-F238E27FC236}">
                <a16:creationId xmlns:a16="http://schemas.microsoft.com/office/drawing/2014/main" id="{6C06A021-A992-158A-8E82-2E84FA06D524}"/>
              </a:ext>
            </a:extLst>
          </p:cNvPr>
          <p:cNvGraphicFramePr>
            <a:graphicFrameLocks noGrp="1"/>
          </p:cNvGraphicFramePr>
          <p:nvPr>
            <p:extLst>
              <p:ext uri="{D42A27DB-BD31-4B8C-83A1-F6EECF244321}">
                <p14:modId xmlns:p14="http://schemas.microsoft.com/office/powerpoint/2010/main" val="848992112"/>
              </p:ext>
            </p:extLst>
          </p:nvPr>
        </p:nvGraphicFramePr>
        <p:xfrm>
          <a:off x="6252674" y="5366448"/>
          <a:ext cx="5057193" cy="1280160"/>
        </p:xfrm>
        <a:graphic>
          <a:graphicData uri="http://schemas.openxmlformats.org/drawingml/2006/table">
            <a:tbl>
              <a:tblPr firstRow="1" firstCol="1" bandRow="1"/>
              <a:tblGrid>
                <a:gridCol w="1726525">
                  <a:extLst>
                    <a:ext uri="{9D8B030D-6E8A-4147-A177-3AD203B41FA5}">
                      <a16:colId xmlns:a16="http://schemas.microsoft.com/office/drawing/2014/main" val="3322382126"/>
                    </a:ext>
                  </a:extLst>
                </a:gridCol>
                <a:gridCol w="1109548">
                  <a:extLst>
                    <a:ext uri="{9D8B030D-6E8A-4147-A177-3AD203B41FA5}">
                      <a16:colId xmlns:a16="http://schemas.microsoft.com/office/drawing/2014/main" val="2184402659"/>
                    </a:ext>
                  </a:extLst>
                </a:gridCol>
                <a:gridCol w="1110560">
                  <a:extLst>
                    <a:ext uri="{9D8B030D-6E8A-4147-A177-3AD203B41FA5}">
                      <a16:colId xmlns:a16="http://schemas.microsoft.com/office/drawing/2014/main" val="1119765497"/>
                    </a:ext>
                  </a:extLst>
                </a:gridCol>
                <a:gridCol w="1110560">
                  <a:extLst>
                    <a:ext uri="{9D8B030D-6E8A-4147-A177-3AD203B41FA5}">
                      <a16:colId xmlns:a16="http://schemas.microsoft.com/office/drawing/2014/main" val="2174961211"/>
                    </a:ext>
                  </a:extLst>
                </a:gridCol>
              </a:tblGrid>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8910601"/>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450203071"/>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Vulnerability Detection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70008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7825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7135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3061570627"/>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Clone Detection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901058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980363840"/>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Generation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50661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164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735191258"/>
                  </a:ext>
                </a:extLst>
              </a:tr>
              <a:tr h="143052">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450884284"/>
                  </a:ext>
                </a:extLst>
              </a:tr>
              <a:tr h="143052">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Code Summarization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251820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13914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14918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5139708"/>
                  </a:ext>
                </a:extLst>
              </a:tr>
            </a:tbl>
          </a:graphicData>
        </a:graphic>
      </p:graphicFrame>
      <p:grpSp>
        <p:nvGrpSpPr>
          <p:cNvPr id="88" name="组合 87">
            <a:extLst>
              <a:ext uri="{FF2B5EF4-FFF2-40B4-BE49-F238E27FC236}">
                <a16:creationId xmlns:a16="http://schemas.microsoft.com/office/drawing/2014/main" id="{F3D6C57F-05BF-0156-950B-5F080D6D9A29}"/>
              </a:ext>
            </a:extLst>
          </p:cNvPr>
          <p:cNvGrpSpPr/>
          <p:nvPr/>
        </p:nvGrpSpPr>
        <p:grpSpPr>
          <a:xfrm>
            <a:off x="688134" y="1431924"/>
            <a:ext cx="4815275" cy="1435914"/>
            <a:chOff x="688134" y="1431924"/>
            <a:chExt cx="4815275" cy="1435914"/>
          </a:xfrm>
        </p:grpSpPr>
        <p:sp>
          <p:nvSpPr>
            <p:cNvPr id="9" name="文本框 8">
              <a:extLst>
                <a:ext uri="{FF2B5EF4-FFF2-40B4-BE49-F238E27FC236}">
                  <a16:creationId xmlns:a16="http://schemas.microsoft.com/office/drawing/2014/main" id="{7A4AA175-B0EC-09E8-CA26-802460283BBE}"/>
                </a:ext>
              </a:extLst>
            </p:cNvPr>
            <p:cNvSpPr txBox="1"/>
            <p:nvPr/>
          </p:nvSpPr>
          <p:spPr>
            <a:xfrm>
              <a:off x="688134" y="1431924"/>
              <a:ext cx="3182418" cy="369332"/>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代码搜索：</a:t>
              </a:r>
              <a:r>
                <a:rPr lang="en-US" altLang="zh-CN" sz="1800" b="0" dirty="0" err="1">
                  <a:effectLst/>
                  <a:latin typeface="Times New Roman" panose="02020603050405020304" pitchFamily="18" charset="0"/>
                  <a:ea typeface="宋体" panose="02010600030101010101" pitchFamily="2" charset="-122"/>
                </a:rPr>
                <a:t>CodeSearchNet</a:t>
              </a:r>
              <a:r>
                <a:rPr lang="en-US" altLang="zh-CN" sz="1800" dirty="0">
                  <a:effectLst/>
                  <a:latin typeface="Times New Roman" panose="02020603050405020304" pitchFamily="18" charset="0"/>
                  <a:ea typeface="宋体" panose="02010600030101010101" pitchFamily="2" charset="-122"/>
                </a:rPr>
                <a:t> </a:t>
              </a:r>
              <a:endParaRPr lang="zh-CN" altLang="en-US" b="0" dirty="0"/>
            </a:p>
          </p:txBody>
        </p:sp>
        <p:sp>
          <p:nvSpPr>
            <p:cNvPr id="12" name="Rectangle 1">
              <a:extLst>
                <a:ext uri="{FF2B5EF4-FFF2-40B4-BE49-F238E27FC236}">
                  <a16:creationId xmlns:a16="http://schemas.microsoft.com/office/drawing/2014/main" id="{2FED317A-A84F-1F89-D9BB-596F6E235366}"/>
                </a:ext>
              </a:extLst>
            </p:cNvPr>
            <p:cNvSpPr>
              <a:spLocks noChangeArrowheads="1"/>
            </p:cNvSpPr>
            <p:nvPr/>
          </p:nvSpPr>
          <p:spPr bwMode="auto">
            <a:xfrm>
              <a:off x="968730" y="2060905"/>
              <a:ext cx="4534679"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46" name="文本框 45">
              <a:extLst>
                <a:ext uri="{FF2B5EF4-FFF2-40B4-BE49-F238E27FC236}">
                  <a16:creationId xmlns:a16="http://schemas.microsoft.com/office/drawing/2014/main" id="{A72F9D61-CBFA-9982-4C34-10743A918CEA}"/>
                </a:ext>
              </a:extLst>
            </p:cNvPr>
            <p:cNvSpPr txBox="1"/>
            <p:nvPr/>
          </p:nvSpPr>
          <p:spPr>
            <a:xfrm>
              <a:off x="968730" y="1777192"/>
              <a:ext cx="4367212" cy="307777"/>
            </a:xfrm>
            <a:prstGeom prst="rect">
              <a:avLst/>
            </a:prstGeom>
            <a:noFill/>
          </p:spPr>
          <p:txBody>
            <a:bodyPr wrap="square">
              <a:spAutoFit/>
            </a:bodyPr>
            <a:lstStyle>
              <a:defPPr>
                <a:defRPr lang="zh-CN"/>
              </a:defPPr>
              <a:lvl1pPr>
                <a:defRPr sz="1400" b="0"/>
              </a:lvl1pPr>
            </a:lstStyle>
            <a:p>
              <a:r>
                <a:rPr lang="en-US" altLang="zh-CN" dirty="0"/>
                <a:t>RQ1</a:t>
              </a:r>
              <a:r>
                <a:rPr lang="zh-CN" altLang="zh-CN" dirty="0"/>
                <a:t>中，</a:t>
              </a:r>
              <a:r>
                <a:rPr lang="zh-CN" altLang="en-US" dirty="0"/>
                <a:t>融合</a:t>
              </a:r>
              <a:r>
                <a:rPr lang="zh-CN" altLang="zh-CN" dirty="0"/>
                <a:t>该数据</a:t>
              </a:r>
              <a:r>
                <a:rPr lang="en-US" altLang="zh-CN" dirty="0"/>
                <a:t>6</a:t>
              </a:r>
              <a:r>
                <a:rPr lang="zh-CN" altLang="zh-CN" dirty="0"/>
                <a:t>种语言子集微调得到的参数</a:t>
              </a:r>
              <a:endParaRPr lang="zh-CN" altLang="en-US" dirty="0"/>
            </a:p>
          </p:txBody>
        </p:sp>
        <p:sp>
          <p:nvSpPr>
            <p:cNvPr id="78" name="文本框 77">
              <a:extLst>
                <a:ext uri="{FF2B5EF4-FFF2-40B4-BE49-F238E27FC236}">
                  <a16:creationId xmlns:a16="http://schemas.microsoft.com/office/drawing/2014/main" id="{06CFD579-BD1D-6DC3-786C-8A723D9B9A32}"/>
                </a:ext>
              </a:extLst>
            </p:cNvPr>
            <p:cNvSpPr txBox="1"/>
            <p:nvPr/>
          </p:nvSpPr>
          <p:spPr>
            <a:xfrm>
              <a:off x="968730" y="2560061"/>
              <a:ext cx="3949180"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MRR</a:t>
              </a:r>
              <a:r>
                <a:rPr lang="zh-CN" altLang="zh-CN" dirty="0"/>
                <a:t> （</a:t>
              </a:r>
              <a:r>
                <a:rPr lang="en-US" altLang="zh-CN" dirty="0"/>
                <a:t>Mean Reciprocal Rank</a:t>
              </a:r>
              <a:r>
                <a:rPr lang="zh-CN" altLang="zh-CN" dirty="0"/>
                <a:t>）</a:t>
              </a:r>
              <a:endParaRPr lang="zh-CN" altLang="en-US" dirty="0"/>
            </a:p>
          </p:txBody>
        </p:sp>
      </p:grpSp>
      <p:grpSp>
        <p:nvGrpSpPr>
          <p:cNvPr id="89" name="组合 88">
            <a:extLst>
              <a:ext uri="{FF2B5EF4-FFF2-40B4-BE49-F238E27FC236}">
                <a16:creationId xmlns:a16="http://schemas.microsoft.com/office/drawing/2014/main" id="{CBAFF98B-466A-B985-79D4-5F1DF94CFF64}"/>
              </a:ext>
            </a:extLst>
          </p:cNvPr>
          <p:cNvGrpSpPr/>
          <p:nvPr/>
        </p:nvGrpSpPr>
        <p:grpSpPr>
          <a:xfrm>
            <a:off x="5335942" y="1431924"/>
            <a:ext cx="7212565" cy="1287467"/>
            <a:chOff x="5335942" y="1428284"/>
            <a:chExt cx="7212565" cy="1287467"/>
          </a:xfrm>
        </p:grpSpPr>
        <p:sp>
          <p:nvSpPr>
            <p:cNvPr id="17" name="文本框 16">
              <a:extLst>
                <a:ext uri="{FF2B5EF4-FFF2-40B4-BE49-F238E27FC236}">
                  <a16:creationId xmlns:a16="http://schemas.microsoft.com/office/drawing/2014/main" id="{3E0E9513-006D-6544-F9DB-43EC902247CE}"/>
                </a:ext>
              </a:extLst>
            </p:cNvPr>
            <p:cNvSpPr txBox="1"/>
            <p:nvPr/>
          </p:nvSpPr>
          <p:spPr>
            <a:xfrm>
              <a:off x="5335942" y="1428284"/>
              <a:ext cx="7212565" cy="646331"/>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代码漏洞检测</a:t>
              </a:r>
              <a:r>
                <a:rPr lang="zh-CN" altLang="en-US" dirty="0"/>
                <a:t>：</a:t>
              </a:r>
              <a:r>
                <a:rPr lang="en-US" altLang="zh-CN" dirty="0"/>
                <a:t>《</a:t>
              </a:r>
              <a:r>
                <a:rPr lang="en-US" altLang="zh-CN" sz="1800" b="0" dirty="0">
                  <a:effectLst/>
                  <a:latin typeface="Times New Roman" panose="02020603050405020304" pitchFamily="18" charset="0"/>
                  <a:ea typeface="宋体" panose="02010600030101010101" pitchFamily="2" charset="-122"/>
                </a:rPr>
                <a:t>Benchmarking Large Language Models for Multi-Language Software Vulnerability Detection》</a:t>
              </a:r>
              <a:endParaRPr lang="zh-CN" altLang="en-US" b="0" dirty="0"/>
            </a:p>
          </p:txBody>
        </p:sp>
        <p:sp>
          <p:nvSpPr>
            <p:cNvPr id="47" name="Rectangle 1">
              <a:extLst>
                <a:ext uri="{FF2B5EF4-FFF2-40B4-BE49-F238E27FC236}">
                  <a16:creationId xmlns:a16="http://schemas.microsoft.com/office/drawing/2014/main" id="{455903F1-302C-963C-9F32-31210C3830E2}"/>
                </a:ext>
              </a:extLst>
            </p:cNvPr>
            <p:cNvSpPr>
              <a:spLocks noChangeArrowheads="1"/>
            </p:cNvSpPr>
            <p:nvPr/>
          </p:nvSpPr>
          <p:spPr bwMode="auto">
            <a:xfrm>
              <a:off x="5643853" y="2081610"/>
              <a:ext cx="6355314" cy="307777"/>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80" name="文本框 79">
              <a:extLst>
                <a:ext uri="{FF2B5EF4-FFF2-40B4-BE49-F238E27FC236}">
                  <a16:creationId xmlns:a16="http://schemas.microsoft.com/office/drawing/2014/main" id="{B546C51E-AE76-9E5E-5237-B45350CC418E}"/>
                </a:ext>
              </a:extLst>
            </p:cNvPr>
            <p:cNvSpPr txBox="1"/>
            <p:nvPr/>
          </p:nvSpPr>
          <p:spPr>
            <a:xfrm>
              <a:off x="5643853" y="2407974"/>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Accuracy</a:t>
              </a:r>
              <a:r>
                <a:rPr lang="zh-CN" altLang="zh-CN" dirty="0"/>
                <a:t>、</a:t>
              </a:r>
              <a:r>
                <a:rPr lang="en-US" altLang="zh-CN" dirty="0"/>
                <a:t>Precision</a:t>
              </a:r>
              <a:r>
                <a:rPr lang="zh-CN" altLang="zh-CN" dirty="0"/>
                <a:t>、</a:t>
              </a:r>
              <a:r>
                <a:rPr lang="en-US" altLang="zh-CN" dirty="0"/>
                <a:t>Recall</a:t>
              </a:r>
              <a:r>
                <a:rPr lang="zh-CN" altLang="zh-CN" dirty="0"/>
                <a:t>和</a:t>
              </a:r>
              <a:r>
                <a:rPr lang="en-US" altLang="zh-CN" dirty="0"/>
                <a:t>F1-score</a:t>
              </a:r>
              <a:endParaRPr lang="zh-CN" altLang="en-US" dirty="0"/>
            </a:p>
          </p:txBody>
        </p:sp>
      </p:grpSp>
      <p:grpSp>
        <p:nvGrpSpPr>
          <p:cNvPr id="87" name="组合 86">
            <a:extLst>
              <a:ext uri="{FF2B5EF4-FFF2-40B4-BE49-F238E27FC236}">
                <a16:creationId xmlns:a16="http://schemas.microsoft.com/office/drawing/2014/main" id="{AB2FC78F-D558-D1D1-9E6D-3055FEBDCF79}"/>
              </a:ext>
            </a:extLst>
          </p:cNvPr>
          <p:cNvGrpSpPr/>
          <p:nvPr/>
        </p:nvGrpSpPr>
        <p:grpSpPr>
          <a:xfrm>
            <a:off x="688134" y="2843774"/>
            <a:ext cx="6585076" cy="1121423"/>
            <a:chOff x="688134" y="2843774"/>
            <a:chExt cx="6585076" cy="1121423"/>
          </a:xfrm>
        </p:grpSpPr>
        <p:sp>
          <p:nvSpPr>
            <p:cNvPr id="30" name="文本框 29">
              <a:extLst>
                <a:ext uri="{FF2B5EF4-FFF2-40B4-BE49-F238E27FC236}">
                  <a16:creationId xmlns:a16="http://schemas.microsoft.com/office/drawing/2014/main" id="{DC2A47A5-6510-B36F-089A-A6993D0E92DA}"/>
                </a:ext>
              </a:extLst>
            </p:cNvPr>
            <p:cNvSpPr txBox="1"/>
            <p:nvPr/>
          </p:nvSpPr>
          <p:spPr>
            <a:xfrm>
              <a:off x="688134" y="2843774"/>
              <a:ext cx="3949180"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zh-CN" dirty="0"/>
                <a:t>代码克隆检测：</a:t>
              </a:r>
              <a:r>
                <a:rPr lang="en-US" altLang="zh-CN" b="0" dirty="0" err="1"/>
                <a:t>BigCloneBench</a:t>
              </a:r>
              <a:endParaRPr lang="zh-CN" altLang="en-US" b="0" dirty="0"/>
            </a:p>
          </p:txBody>
        </p:sp>
        <p:sp>
          <p:nvSpPr>
            <p:cNvPr id="48" name="Rectangle 1">
              <a:extLst>
                <a:ext uri="{FF2B5EF4-FFF2-40B4-BE49-F238E27FC236}">
                  <a16:creationId xmlns:a16="http://schemas.microsoft.com/office/drawing/2014/main" id="{4E7AE352-FA55-8EF4-ADF0-7D9B87EDEFFC}"/>
                </a:ext>
              </a:extLst>
            </p:cNvPr>
            <p:cNvSpPr>
              <a:spLocks noChangeArrowheads="1"/>
            </p:cNvSpPr>
            <p:nvPr/>
          </p:nvSpPr>
          <p:spPr bwMode="auto">
            <a:xfrm>
              <a:off x="998374" y="3158264"/>
              <a:ext cx="4534679"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Java</a:t>
              </a:r>
              <a:r>
                <a:rPr lang="zh-CN" altLang="en-US" sz="1400" dirty="0">
                  <a:latin typeface="+mn-ea"/>
                </a:rPr>
                <a:t>语言数据集微调的到的参数与其他任务的微调参数进行融合</a:t>
              </a:r>
            </a:p>
          </p:txBody>
        </p:sp>
        <p:sp>
          <p:nvSpPr>
            <p:cNvPr id="81" name="文本框 80">
              <a:extLst>
                <a:ext uri="{FF2B5EF4-FFF2-40B4-BE49-F238E27FC236}">
                  <a16:creationId xmlns:a16="http://schemas.microsoft.com/office/drawing/2014/main" id="{CC5D1463-E2DD-B065-AB74-D4D8A62AA49E}"/>
                </a:ext>
              </a:extLst>
            </p:cNvPr>
            <p:cNvSpPr txBox="1"/>
            <p:nvPr/>
          </p:nvSpPr>
          <p:spPr>
            <a:xfrm>
              <a:off x="998374" y="3657420"/>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Accuracy</a:t>
              </a:r>
              <a:r>
                <a:rPr lang="zh-CN" altLang="zh-CN" dirty="0"/>
                <a:t>、</a:t>
              </a:r>
              <a:r>
                <a:rPr lang="en-US" altLang="zh-CN" dirty="0"/>
                <a:t>Precision</a:t>
              </a:r>
              <a:r>
                <a:rPr lang="zh-CN" altLang="zh-CN" dirty="0"/>
                <a:t>、</a:t>
              </a:r>
              <a:r>
                <a:rPr lang="en-US" altLang="zh-CN" dirty="0"/>
                <a:t>Recall</a:t>
              </a:r>
              <a:r>
                <a:rPr lang="zh-CN" altLang="zh-CN" dirty="0"/>
                <a:t>和</a:t>
              </a:r>
              <a:r>
                <a:rPr lang="en-US" altLang="zh-CN" dirty="0"/>
                <a:t>F1-score</a:t>
              </a:r>
              <a:endParaRPr lang="zh-CN" altLang="en-US" dirty="0"/>
            </a:p>
          </p:txBody>
        </p:sp>
      </p:grpSp>
      <p:grpSp>
        <p:nvGrpSpPr>
          <p:cNvPr id="90" name="组合 89">
            <a:extLst>
              <a:ext uri="{FF2B5EF4-FFF2-40B4-BE49-F238E27FC236}">
                <a16:creationId xmlns:a16="http://schemas.microsoft.com/office/drawing/2014/main" id="{AC8ED70C-33DA-39CF-1C04-34842B8C2DDE}"/>
              </a:ext>
            </a:extLst>
          </p:cNvPr>
          <p:cNvGrpSpPr/>
          <p:nvPr/>
        </p:nvGrpSpPr>
        <p:grpSpPr>
          <a:xfrm>
            <a:off x="5335942" y="2843774"/>
            <a:ext cx="7074257" cy="978182"/>
            <a:chOff x="5335942" y="2884557"/>
            <a:chExt cx="7074257" cy="978182"/>
          </a:xfrm>
        </p:grpSpPr>
        <p:sp>
          <p:nvSpPr>
            <p:cNvPr id="50" name="文本框 49">
              <a:extLst>
                <a:ext uri="{FF2B5EF4-FFF2-40B4-BE49-F238E27FC236}">
                  <a16:creationId xmlns:a16="http://schemas.microsoft.com/office/drawing/2014/main" id="{3BCB1EF0-4140-CFF9-7E2F-49DA2E8E08DC}"/>
                </a:ext>
              </a:extLst>
            </p:cNvPr>
            <p:cNvSpPr txBox="1"/>
            <p:nvPr/>
          </p:nvSpPr>
          <p:spPr>
            <a:xfrm>
              <a:off x="5335942" y="2884557"/>
              <a:ext cx="6106884"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摘要生成：</a:t>
              </a:r>
              <a:r>
                <a:rPr lang="en-US" altLang="zh-CN" b="0" dirty="0" err="1"/>
                <a:t>CodeXGLUE</a:t>
              </a:r>
              <a:endParaRPr lang="zh-CN" altLang="en-US" b="0" dirty="0"/>
            </a:p>
          </p:txBody>
        </p:sp>
        <p:sp>
          <p:nvSpPr>
            <p:cNvPr id="51" name="Rectangle 1">
              <a:extLst>
                <a:ext uri="{FF2B5EF4-FFF2-40B4-BE49-F238E27FC236}">
                  <a16:creationId xmlns:a16="http://schemas.microsoft.com/office/drawing/2014/main" id="{45F0CE10-572C-C182-CB9F-FC8AA6B306EF}"/>
                </a:ext>
              </a:extLst>
            </p:cNvPr>
            <p:cNvSpPr>
              <a:spLocks noChangeArrowheads="1"/>
            </p:cNvSpPr>
            <p:nvPr/>
          </p:nvSpPr>
          <p:spPr bwMode="auto">
            <a:xfrm>
              <a:off x="5643853" y="3222817"/>
              <a:ext cx="6766346" cy="307777"/>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83" name="文本框 82">
              <a:extLst>
                <a:ext uri="{FF2B5EF4-FFF2-40B4-BE49-F238E27FC236}">
                  <a16:creationId xmlns:a16="http://schemas.microsoft.com/office/drawing/2014/main" id="{BAA12042-4995-6799-B115-19915B6E7A6E}"/>
                </a:ext>
              </a:extLst>
            </p:cNvPr>
            <p:cNvSpPr txBox="1"/>
            <p:nvPr/>
          </p:nvSpPr>
          <p:spPr>
            <a:xfrm>
              <a:off x="5643853" y="3554962"/>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BLEU</a:t>
              </a:r>
              <a:r>
                <a:rPr lang="zh-CN" altLang="zh-CN" dirty="0"/>
                <a:t> （</a:t>
              </a:r>
              <a:r>
                <a:rPr lang="en-US" altLang="zh-CN" dirty="0"/>
                <a:t>Bilingual Evaluation Understudy</a:t>
              </a:r>
              <a:r>
                <a:rPr lang="zh-CN" altLang="zh-CN" dirty="0"/>
                <a:t>）</a:t>
              </a:r>
              <a:endParaRPr lang="zh-CN" altLang="en-US" dirty="0"/>
            </a:p>
          </p:txBody>
        </p:sp>
      </p:grpSp>
      <p:grpSp>
        <p:nvGrpSpPr>
          <p:cNvPr id="86" name="组合 85">
            <a:extLst>
              <a:ext uri="{FF2B5EF4-FFF2-40B4-BE49-F238E27FC236}">
                <a16:creationId xmlns:a16="http://schemas.microsoft.com/office/drawing/2014/main" id="{C57CE98C-DFC1-74AB-2A22-F5737119112D}"/>
              </a:ext>
            </a:extLst>
          </p:cNvPr>
          <p:cNvGrpSpPr/>
          <p:nvPr/>
        </p:nvGrpSpPr>
        <p:grpSpPr>
          <a:xfrm>
            <a:off x="711456" y="3941133"/>
            <a:ext cx="6561754" cy="1405138"/>
            <a:chOff x="711456" y="3941133"/>
            <a:chExt cx="6561754" cy="1405138"/>
          </a:xfrm>
        </p:grpSpPr>
        <p:sp>
          <p:nvSpPr>
            <p:cNvPr id="53" name="文本框 52">
              <a:extLst>
                <a:ext uri="{FF2B5EF4-FFF2-40B4-BE49-F238E27FC236}">
                  <a16:creationId xmlns:a16="http://schemas.microsoft.com/office/drawing/2014/main" id="{C805571B-D1B3-C068-513A-2298B8874009}"/>
                </a:ext>
              </a:extLst>
            </p:cNvPr>
            <p:cNvSpPr txBox="1"/>
            <p:nvPr/>
          </p:nvSpPr>
          <p:spPr>
            <a:xfrm>
              <a:off x="711456" y="3941133"/>
              <a:ext cx="3854222"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代码修复：</a:t>
              </a:r>
              <a:r>
                <a:rPr lang="en-US" altLang="zh-CN" dirty="0" err="1"/>
                <a:t>XCodeEval</a:t>
              </a:r>
              <a:endParaRPr lang="zh-CN" altLang="en-US" dirty="0"/>
            </a:p>
          </p:txBody>
        </p:sp>
        <p:sp>
          <p:nvSpPr>
            <p:cNvPr id="54" name="Rectangle 1">
              <a:extLst>
                <a:ext uri="{FF2B5EF4-FFF2-40B4-BE49-F238E27FC236}">
                  <a16:creationId xmlns:a16="http://schemas.microsoft.com/office/drawing/2014/main" id="{6091382B-88EB-BD93-4A00-5AD95E9904DE}"/>
                </a:ext>
              </a:extLst>
            </p:cNvPr>
            <p:cNvSpPr>
              <a:spLocks noChangeArrowheads="1"/>
            </p:cNvSpPr>
            <p:nvPr/>
          </p:nvSpPr>
          <p:spPr bwMode="auto">
            <a:xfrm>
              <a:off x="1000704" y="4539336"/>
              <a:ext cx="4411051"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55" name="文本框 54">
              <a:extLst>
                <a:ext uri="{FF2B5EF4-FFF2-40B4-BE49-F238E27FC236}">
                  <a16:creationId xmlns:a16="http://schemas.microsoft.com/office/drawing/2014/main" id="{61EB352F-B5EC-150D-C227-C00BF377DBC7}"/>
                </a:ext>
              </a:extLst>
            </p:cNvPr>
            <p:cNvSpPr txBox="1"/>
            <p:nvPr/>
          </p:nvSpPr>
          <p:spPr>
            <a:xfrm>
              <a:off x="1000704" y="4255623"/>
              <a:ext cx="4411051" cy="307777"/>
            </a:xfrm>
            <a:prstGeom prst="rect">
              <a:avLst/>
            </a:prstGeom>
            <a:noFill/>
          </p:spPr>
          <p:txBody>
            <a:bodyPr wrap="square">
              <a:spAutoFit/>
            </a:bodyPr>
            <a:lstStyle>
              <a:defPPr>
                <a:defRPr lang="zh-CN"/>
              </a:defPPr>
              <a:lvl1pPr>
                <a:defRPr sz="1400" b="0"/>
              </a:lvl1pPr>
            </a:lstStyle>
            <a:p>
              <a:r>
                <a:rPr lang="en-US" altLang="zh-CN" dirty="0"/>
                <a:t>RQ1</a:t>
              </a:r>
              <a:r>
                <a:rPr lang="zh-CN" altLang="zh-CN" dirty="0"/>
                <a:t>中，</a:t>
              </a:r>
              <a:r>
                <a:rPr lang="zh-CN" altLang="en-US" dirty="0"/>
                <a:t>融合</a:t>
              </a:r>
              <a:r>
                <a:rPr lang="zh-CN" altLang="zh-CN" dirty="0"/>
                <a:t>该数据</a:t>
              </a:r>
              <a:r>
                <a:rPr lang="en-US" altLang="zh-CN" dirty="0"/>
                <a:t>6</a:t>
              </a:r>
              <a:r>
                <a:rPr lang="zh-CN" altLang="zh-CN" dirty="0"/>
                <a:t>种语言子集微调得到的参数</a:t>
              </a:r>
              <a:endParaRPr lang="zh-CN" altLang="en-US" dirty="0"/>
            </a:p>
          </p:txBody>
        </p:sp>
        <p:sp>
          <p:nvSpPr>
            <p:cNvPr id="85" name="文本框 84">
              <a:extLst>
                <a:ext uri="{FF2B5EF4-FFF2-40B4-BE49-F238E27FC236}">
                  <a16:creationId xmlns:a16="http://schemas.microsoft.com/office/drawing/2014/main" id="{8F26ED48-2DC5-3926-4596-3AE4A3C69824}"/>
                </a:ext>
              </a:extLst>
            </p:cNvPr>
            <p:cNvSpPr txBox="1"/>
            <p:nvPr/>
          </p:nvSpPr>
          <p:spPr>
            <a:xfrm>
              <a:off x="998374" y="5038494"/>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pass@5</a:t>
              </a:r>
              <a:endParaRPr lang="zh-CN" altLang="en-US" dirty="0"/>
            </a:p>
          </p:txBody>
        </p:sp>
      </p:grpSp>
      <p:grpSp>
        <p:nvGrpSpPr>
          <p:cNvPr id="92" name="组合 91">
            <a:extLst>
              <a:ext uri="{FF2B5EF4-FFF2-40B4-BE49-F238E27FC236}">
                <a16:creationId xmlns:a16="http://schemas.microsoft.com/office/drawing/2014/main" id="{E68C0FDA-3E3B-35F9-80F6-0DC0589807C0}"/>
              </a:ext>
            </a:extLst>
          </p:cNvPr>
          <p:cNvGrpSpPr/>
          <p:nvPr/>
        </p:nvGrpSpPr>
        <p:grpSpPr>
          <a:xfrm>
            <a:off x="5356935" y="3941133"/>
            <a:ext cx="6848672" cy="1107412"/>
            <a:chOff x="5356935" y="4112937"/>
            <a:chExt cx="6848672" cy="1107412"/>
          </a:xfrm>
        </p:grpSpPr>
        <p:sp>
          <p:nvSpPr>
            <p:cNvPr id="42" name="文本框 41">
              <a:extLst>
                <a:ext uri="{FF2B5EF4-FFF2-40B4-BE49-F238E27FC236}">
                  <a16:creationId xmlns:a16="http://schemas.microsoft.com/office/drawing/2014/main" id="{FA090B4B-590F-063E-D151-9A84C5B36EBA}"/>
                </a:ext>
              </a:extLst>
            </p:cNvPr>
            <p:cNvSpPr txBox="1"/>
            <p:nvPr/>
          </p:nvSpPr>
          <p:spPr>
            <a:xfrm>
              <a:off x="5356935" y="4112937"/>
              <a:ext cx="6848672" cy="338554"/>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600" b="1">
                  <a:latin typeface="+mn-ea"/>
                </a:defRPr>
              </a:lvl1pPr>
            </a:lstStyle>
            <a:p>
              <a:r>
                <a:rPr lang="zh-CN" altLang="en-US" dirty="0"/>
                <a:t>代码生成：</a:t>
              </a:r>
              <a:r>
                <a:rPr lang="en-US" altLang="zh-CN" b="0" dirty="0"/>
                <a:t>Self-OSS-Instruct-SC2-ExecFilter-50K</a:t>
              </a:r>
              <a:r>
                <a:rPr lang="zh-CN" altLang="en-US" b="0" dirty="0"/>
                <a:t>、</a:t>
              </a:r>
              <a:r>
                <a:rPr lang="en-US" altLang="zh-CN" b="0" dirty="0" err="1"/>
                <a:t>HumanEval</a:t>
              </a:r>
              <a:endParaRPr lang="zh-CN" altLang="en-US" b="0" dirty="0"/>
            </a:p>
          </p:txBody>
        </p:sp>
        <p:sp>
          <p:nvSpPr>
            <p:cNvPr id="56" name="Rectangle 1">
              <a:extLst>
                <a:ext uri="{FF2B5EF4-FFF2-40B4-BE49-F238E27FC236}">
                  <a16:creationId xmlns:a16="http://schemas.microsoft.com/office/drawing/2014/main" id="{E0D1564A-35F9-4C63-134B-97EEF118644E}"/>
                </a:ext>
              </a:extLst>
            </p:cNvPr>
            <p:cNvSpPr>
              <a:spLocks noChangeArrowheads="1"/>
            </p:cNvSpPr>
            <p:nvPr/>
          </p:nvSpPr>
          <p:spPr bwMode="auto">
            <a:xfrm>
              <a:off x="5635689" y="4416053"/>
              <a:ext cx="4386555" cy="523220"/>
            </a:xfrm>
            <a:prstGeom prst="rect">
              <a:avLst/>
            </a:prstGeom>
            <a:noFill/>
          </p:spPr>
          <p:txBody>
            <a:bodyPr wrap="square">
              <a:spAutoFit/>
            </a:bodyPr>
            <a:lstStyle/>
            <a:p>
              <a:pPr>
                <a:spcAft>
                  <a:spcPts val="1200"/>
                </a:spcAft>
              </a:pPr>
              <a:r>
                <a:rPr lang="en-US" altLang="zh-CN" sz="1400" dirty="0">
                  <a:latin typeface="+mn-ea"/>
                </a:rPr>
                <a:t>RQ2</a:t>
              </a:r>
              <a:r>
                <a:rPr lang="zh-CN" altLang="en-US" sz="1400" dirty="0">
                  <a:latin typeface="+mn-ea"/>
                </a:rPr>
                <a:t>中，使用</a:t>
              </a:r>
              <a:r>
                <a:rPr lang="en-US" altLang="zh-CN" sz="1400" dirty="0">
                  <a:latin typeface="+mn-ea"/>
                </a:rPr>
                <a:t>python</a:t>
              </a:r>
              <a:r>
                <a:rPr lang="zh-CN" altLang="en-US" sz="1400" dirty="0">
                  <a:latin typeface="+mn-ea"/>
                </a:rPr>
                <a:t>语言数据集微调的到的参数与其他任务的微调参数进行融合</a:t>
              </a:r>
            </a:p>
          </p:txBody>
        </p:sp>
        <p:sp>
          <p:nvSpPr>
            <p:cNvPr id="91" name="文本框 90">
              <a:extLst>
                <a:ext uri="{FF2B5EF4-FFF2-40B4-BE49-F238E27FC236}">
                  <a16:creationId xmlns:a16="http://schemas.microsoft.com/office/drawing/2014/main" id="{93239FFE-FF3E-6675-094A-BE3396B68BA4}"/>
                </a:ext>
              </a:extLst>
            </p:cNvPr>
            <p:cNvSpPr txBox="1"/>
            <p:nvPr/>
          </p:nvSpPr>
          <p:spPr>
            <a:xfrm>
              <a:off x="5643853" y="4912572"/>
              <a:ext cx="6274836" cy="307777"/>
            </a:xfrm>
            <a:prstGeom prst="rect">
              <a:avLst/>
            </a:prstGeom>
            <a:noFill/>
          </p:spPr>
          <p:txBody>
            <a:bodyPr wrap="square">
              <a:spAutoFit/>
            </a:bodyPr>
            <a:lstStyle>
              <a:defPPr>
                <a:defRPr lang="zh-CN"/>
              </a:defPPr>
              <a:lvl1pPr>
                <a:spcAft>
                  <a:spcPts val="1200"/>
                </a:spcAft>
                <a:defRPr sz="1400">
                  <a:latin typeface="+mn-ea"/>
                </a:defRPr>
              </a:lvl1pPr>
            </a:lstStyle>
            <a:p>
              <a:r>
                <a:rPr lang="zh-CN" altLang="en-US" dirty="0"/>
                <a:t>评价指标：</a:t>
              </a:r>
              <a:r>
                <a:rPr lang="en-US" altLang="zh-CN" dirty="0"/>
                <a:t>pass@5</a:t>
              </a:r>
              <a:endParaRPr lang="zh-CN" altLang="en-US" dirty="0"/>
            </a:p>
          </p:txBody>
        </p:sp>
      </p:grpSp>
    </p:spTree>
    <p:extLst>
      <p:ext uri="{BB962C8B-B14F-4D97-AF65-F5344CB8AC3E}">
        <p14:creationId xmlns:p14="http://schemas.microsoft.com/office/powerpoint/2010/main" val="1219655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2</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研究设计</a:t>
            </a:r>
          </a:p>
        </p:txBody>
      </p:sp>
      <p:sp>
        <p:nvSpPr>
          <p:cNvPr id="8" name="文本框 7">
            <a:extLst>
              <a:ext uri="{FF2B5EF4-FFF2-40B4-BE49-F238E27FC236}">
                <a16:creationId xmlns:a16="http://schemas.microsoft.com/office/drawing/2014/main" id="{DCF45219-C5A5-888B-6E1E-92D70983F0C7}"/>
              </a:ext>
            </a:extLst>
          </p:cNvPr>
          <p:cNvSpPr txBox="1"/>
          <p:nvPr/>
        </p:nvSpPr>
        <p:spPr>
          <a:xfrm>
            <a:off x="435553" y="778914"/>
            <a:ext cx="3306023"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实验设置</a:t>
            </a:r>
            <a:endParaRPr lang="en-US" altLang="zh-CN" b="1" dirty="0">
              <a:solidFill>
                <a:srgbClr val="268F9C"/>
              </a:solidFill>
              <a:latin typeface="+mn-ea"/>
            </a:endParaRPr>
          </a:p>
        </p:txBody>
      </p:sp>
      <p:sp>
        <p:nvSpPr>
          <p:cNvPr id="4" name="文本框 3">
            <a:extLst>
              <a:ext uri="{FF2B5EF4-FFF2-40B4-BE49-F238E27FC236}">
                <a16:creationId xmlns:a16="http://schemas.microsoft.com/office/drawing/2014/main" id="{1377A7FE-99BC-35EA-FAC6-671BAD5C1D74}"/>
              </a:ext>
            </a:extLst>
          </p:cNvPr>
          <p:cNvSpPr txBox="1"/>
          <p:nvPr/>
        </p:nvSpPr>
        <p:spPr>
          <a:xfrm>
            <a:off x="647456" y="1159106"/>
            <a:ext cx="8314255" cy="307777"/>
          </a:xfrm>
          <a:prstGeom prst="rect">
            <a:avLst/>
          </a:prstGeom>
          <a:noFill/>
        </p:spPr>
        <p:txBody>
          <a:bodyPr wrap="square">
            <a:spAutoFit/>
          </a:bodyPr>
          <a:lstStyle>
            <a:defPPr>
              <a:defRPr lang="zh-CN"/>
            </a:defPPr>
            <a:lvl1pPr>
              <a:spcAft>
                <a:spcPts val="1200"/>
              </a:spcAft>
              <a:defRPr sz="1600">
                <a:latin typeface="+mn-ea"/>
              </a:defRPr>
            </a:lvl1pPr>
          </a:lstStyle>
          <a:p>
            <a:r>
              <a:rPr lang="zh-CN" altLang="zh-CN" sz="1400"/>
              <a:t>所有的实验在</a:t>
            </a:r>
            <a:r>
              <a:rPr lang="en-US" altLang="zh-CN" sz="1400"/>
              <a:t>4</a:t>
            </a:r>
            <a:r>
              <a:rPr lang="zh-CN" altLang="zh-CN" sz="1400"/>
              <a:t>张</a:t>
            </a:r>
            <a:r>
              <a:rPr lang="en-US" altLang="zh-CN" sz="1400"/>
              <a:t>V100</a:t>
            </a:r>
            <a:r>
              <a:rPr lang="zh-CN" altLang="zh-CN" sz="1400"/>
              <a:t>进行</a:t>
            </a:r>
            <a:endParaRPr lang="zh-CN" altLang="en-US" sz="14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7AF8CC0-30B6-E70F-B157-1EF7F31E55BA}"/>
                  </a:ext>
                </a:extLst>
              </p:cNvPr>
              <p:cNvSpPr txBox="1"/>
              <p:nvPr/>
            </p:nvSpPr>
            <p:spPr>
              <a:xfrm>
                <a:off x="647456" y="1818421"/>
                <a:ext cx="11374697"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en-US" altLang="zh-CN" sz="1400" dirty="0" err="1"/>
                  <a:t>LoRA</a:t>
                </a:r>
                <a:r>
                  <a:rPr lang="zh-CN" altLang="zh-CN" sz="1400" dirty="0"/>
                  <a:t>的秩</a:t>
                </a:r>
                <a14:m>
                  <m:oMath xmlns:m="http://schemas.openxmlformats.org/officeDocument/2006/math">
                    <m:r>
                      <a:rPr lang="en-US" altLang="zh-CN" sz="1400">
                        <a:latin typeface="Cambria Math" panose="02040503050406030204" pitchFamily="18" charset="0"/>
                      </a:rPr>
                      <m:t>𝑟</m:t>
                    </m:r>
                  </m:oMath>
                </a14:m>
                <a:r>
                  <a:rPr lang="zh-CN" altLang="zh-CN" sz="1400" dirty="0"/>
                  <a:t>为</a:t>
                </a:r>
                <a:r>
                  <a:rPr lang="en-US" altLang="zh-CN" sz="1400" dirty="0"/>
                  <a:t>32</a:t>
                </a:r>
                <a:r>
                  <a:rPr lang="zh-CN" altLang="zh-CN" sz="1400" dirty="0"/>
                  <a:t>，</a:t>
                </a:r>
                <a14:m>
                  <m:oMath xmlns:m="http://schemas.openxmlformats.org/officeDocument/2006/math">
                    <m:r>
                      <m:rPr>
                        <m:sty m:val="p"/>
                      </m:rPr>
                      <a:rPr lang="en-US" altLang="zh-CN" sz="1400">
                        <a:latin typeface="Cambria Math" panose="02040503050406030204" pitchFamily="18" charset="0"/>
                      </a:rPr>
                      <m:t>α</m:t>
                    </m:r>
                  </m:oMath>
                </a14:m>
                <a:r>
                  <a:rPr lang="zh-CN" altLang="zh-CN" sz="1400" dirty="0"/>
                  <a:t>为</a:t>
                </a:r>
                <a:r>
                  <a:rPr lang="en-US" altLang="zh-CN" sz="1400" dirty="0"/>
                  <a:t>64</a:t>
                </a:r>
                <a:r>
                  <a:rPr lang="zh-CN" altLang="zh-CN" sz="1400" dirty="0"/>
                  <a:t>，设置</a:t>
                </a:r>
                <a:r>
                  <a:rPr lang="en-US" altLang="zh-CN" sz="1400" dirty="0"/>
                  <a:t>Lora</a:t>
                </a:r>
                <a:r>
                  <a:rPr lang="zh-CN" altLang="zh-CN" sz="1400" dirty="0"/>
                  <a:t>层为</a:t>
                </a:r>
                <a:r>
                  <a:rPr lang="en-US" altLang="zh-CN" sz="1400" dirty="0"/>
                  <a:t>["</a:t>
                </a:r>
                <a:r>
                  <a:rPr lang="en-US" altLang="zh-CN" sz="1400" dirty="0" err="1"/>
                  <a:t>q_proj</a:t>
                </a:r>
                <a:r>
                  <a:rPr lang="en-US" altLang="zh-CN" sz="1400" dirty="0"/>
                  <a:t>", "</a:t>
                </a:r>
                <a:r>
                  <a:rPr lang="en-US" altLang="zh-CN" sz="1400" dirty="0" err="1"/>
                  <a:t>v_proj</a:t>
                </a:r>
                <a:r>
                  <a:rPr lang="en-US" altLang="zh-CN" sz="1400" dirty="0"/>
                  <a:t>", "</a:t>
                </a:r>
                <a:r>
                  <a:rPr lang="en-US" altLang="zh-CN" sz="1400" dirty="0" err="1"/>
                  <a:t>k_proj</a:t>
                </a:r>
                <a:r>
                  <a:rPr lang="en-US" altLang="zh-CN" sz="1400" dirty="0"/>
                  <a:t>", "</a:t>
                </a:r>
                <a:r>
                  <a:rPr lang="en-US" altLang="zh-CN" sz="1400" dirty="0" err="1"/>
                  <a:t>o_proj</a:t>
                </a:r>
                <a:r>
                  <a:rPr lang="en-US" altLang="zh-CN" sz="1400" dirty="0"/>
                  <a:t>", "</a:t>
                </a:r>
                <a:r>
                  <a:rPr lang="en-US" altLang="zh-CN" sz="1400" dirty="0" err="1"/>
                  <a:t>up_proj</a:t>
                </a:r>
                <a:r>
                  <a:rPr lang="en-US" altLang="zh-CN" sz="1400" dirty="0"/>
                  <a:t>", "</a:t>
                </a:r>
                <a:r>
                  <a:rPr lang="en-US" altLang="zh-CN" sz="1400" dirty="0" err="1"/>
                  <a:t>down_proj</a:t>
                </a:r>
                <a:r>
                  <a:rPr lang="en-US" altLang="zh-CN" sz="1400" dirty="0"/>
                  <a:t>", "</a:t>
                </a:r>
                <a:r>
                  <a:rPr lang="en-US" altLang="zh-CN" sz="1400" dirty="0" err="1"/>
                  <a:t>gate_proj</a:t>
                </a:r>
                <a:r>
                  <a:rPr lang="en-US" altLang="zh-CN" sz="1400" dirty="0"/>
                  <a:t>"]</a:t>
                </a:r>
                <a:endParaRPr lang="zh-CN" altLang="en-US" sz="1400" dirty="0"/>
              </a:p>
            </p:txBody>
          </p:sp>
        </mc:Choice>
        <mc:Fallback xmlns="">
          <p:sp>
            <p:nvSpPr>
              <p:cNvPr id="7" name="文本框 6">
                <a:extLst>
                  <a:ext uri="{FF2B5EF4-FFF2-40B4-BE49-F238E27FC236}">
                    <a16:creationId xmlns:a16="http://schemas.microsoft.com/office/drawing/2014/main" id="{57AF8CC0-30B6-E70F-B157-1EF7F31E55BA}"/>
                  </a:ext>
                </a:extLst>
              </p:cNvPr>
              <p:cNvSpPr txBox="1">
                <a:spLocks noRot="1" noChangeAspect="1" noMove="1" noResize="1" noEditPoints="1" noAdjustHandles="1" noChangeArrowheads="1" noChangeShapeType="1" noTextEdit="1"/>
              </p:cNvSpPr>
              <p:nvPr/>
            </p:nvSpPr>
            <p:spPr>
              <a:xfrm>
                <a:off x="647456" y="1818421"/>
                <a:ext cx="11374697" cy="307777"/>
              </a:xfrm>
              <a:prstGeom prst="rect">
                <a:avLst/>
              </a:prstGeom>
              <a:blipFill>
                <a:blip r:embed="rId3"/>
                <a:stretch>
                  <a:fillRect l="-54" t="-1961" b="-1960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6ADD6A8-B15B-C09D-482A-FBBB73B6F9FA}"/>
              </a:ext>
            </a:extLst>
          </p:cNvPr>
          <p:cNvSpPr txBox="1"/>
          <p:nvPr/>
        </p:nvSpPr>
        <p:spPr>
          <a:xfrm>
            <a:off x="647456" y="2506517"/>
            <a:ext cx="10866520"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代码搜索任务中，</a:t>
            </a:r>
            <a:r>
              <a:rPr lang="en-US" altLang="zh-CN" sz="1400" dirty="0"/>
              <a:t>Rudy</a:t>
            </a:r>
            <a:r>
              <a:rPr lang="zh-CN" altLang="zh-CN" sz="1400" dirty="0"/>
              <a:t>数据集训练</a:t>
            </a:r>
            <a:r>
              <a:rPr lang="en-US" altLang="zh-CN" sz="1400" dirty="0"/>
              <a:t>5</a:t>
            </a:r>
            <a:r>
              <a:rPr lang="zh-CN" altLang="zh-CN" sz="1400" dirty="0"/>
              <a:t>个轮次，</a:t>
            </a:r>
            <a:r>
              <a:rPr lang="en-US" altLang="zh-CN" sz="1400" dirty="0"/>
              <a:t>JavaScript</a:t>
            </a:r>
            <a:r>
              <a:rPr lang="zh-CN" altLang="zh-CN" sz="1400" dirty="0"/>
              <a:t>训练两个轮次，其他语言数据集均训练一个轮次。</a:t>
            </a:r>
            <a:endParaRPr lang="zh-CN" altLang="en-US" sz="1400" dirty="0"/>
          </a:p>
        </p:txBody>
      </p:sp>
      <p:sp>
        <p:nvSpPr>
          <p:cNvPr id="14" name="文本框 13">
            <a:extLst>
              <a:ext uri="{FF2B5EF4-FFF2-40B4-BE49-F238E27FC236}">
                <a16:creationId xmlns:a16="http://schemas.microsoft.com/office/drawing/2014/main" id="{C6B840B0-FC08-347A-2302-7AABF77800CD}"/>
              </a:ext>
            </a:extLst>
          </p:cNvPr>
          <p:cNvSpPr txBox="1"/>
          <p:nvPr/>
        </p:nvSpPr>
        <p:spPr>
          <a:xfrm>
            <a:off x="647456" y="2850565"/>
            <a:ext cx="10721554"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代码修复任务</a:t>
            </a:r>
            <a:r>
              <a:rPr lang="zh-CN" altLang="zh-CN" sz="1400"/>
              <a:t>中，</a:t>
            </a:r>
            <a:r>
              <a:rPr lang="en-US" altLang="zh-CN" sz="1400"/>
              <a:t>Ruby</a:t>
            </a:r>
            <a:r>
              <a:rPr lang="zh-CN" altLang="zh-CN" sz="1400"/>
              <a:t>、</a:t>
            </a:r>
            <a:r>
              <a:rPr lang="en-US" altLang="zh-CN" sz="1400"/>
              <a:t>PHP</a:t>
            </a:r>
            <a:r>
              <a:rPr lang="zh-CN" altLang="zh-CN" sz="1400"/>
              <a:t>、</a:t>
            </a:r>
            <a:r>
              <a:rPr lang="en-US" altLang="zh-CN" sz="1400"/>
              <a:t>JavaScript</a:t>
            </a:r>
            <a:r>
              <a:rPr lang="zh-CN" altLang="zh-CN" sz="1400"/>
              <a:t>、</a:t>
            </a:r>
            <a:r>
              <a:rPr lang="en-US" altLang="zh-CN" sz="1400" dirty="0"/>
              <a:t>Go</a:t>
            </a:r>
            <a:r>
              <a:rPr lang="zh-CN" altLang="zh-CN" sz="1400" dirty="0"/>
              <a:t>数据</a:t>
            </a:r>
            <a:r>
              <a:rPr lang="zh-CN" altLang="zh-CN" sz="1400"/>
              <a:t>集训练</a:t>
            </a:r>
            <a:r>
              <a:rPr lang="en-US" altLang="zh-CN" sz="1400" dirty="0"/>
              <a:t>5</a:t>
            </a:r>
            <a:r>
              <a:rPr lang="zh-CN" altLang="zh-CN" sz="1400" dirty="0"/>
              <a:t>个轮次，其他语言数据集训练一个轮次。</a:t>
            </a:r>
            <a:endParaRPr lang="zh-CN" altLang="en-US" sz="1400" dirty="0"/>
          </a:p>
        </p:txBody>
      </p:sp>
      <p:sp>
        <p:nvSpPr>
          <p:cNvPr id="16" name="文本框 15">
            <a:extLst>
              <a:ext uri="{FF2B5EF4-FFF2-40B4-BE49-F238E27FC236}">
                <a16:creationId xmlns:a16="http://schemas.microsoft.com/office/drawing/2014/main" id="{B281D95E-5F34-0414-B87E-9A1B28EF2768}"/>
              </a:ext>
            </a:extLst>
          </p:cNvPr>
          <p:cNvSpPr txBox="1"/>
          <p:nvPr/>
        </p:nvSpPr>
        <p:spPr>
          <a:xfrm>
            <a:off x="647456" y="3194611"/>
            <a:ext cx="10721554" cy="307777"/>
          </a:xfrm>
          <a:prstGeom prst="rect">
            <a:avLst/>
          </a:prstGeom>
          <a:noFill/>
        </p:spPr>
        <p:txBody>
          <a:bodyPr wrap="square">
            <a:spAutoFit/>
          </a:bodyPr>
          <a:lstStyle>
            <a:defPPr>
              <a:defRPr lang="zh-CN"/>
            </a:defPPr>
            <a:lvl1pPr>
              <a:spcAft>
                <a:spcPts val="1200"/>
              </a:spcAft>
              <a:defRPr sz="1600">
                <a:latin typeface="+mn-ea"/>
              </a:defRPr>
            </a:lvl1pPr>
          </a:lstStyle>
          <a:p>
            <a:pPr marL="285750" indent="-285750">
              <a:buFont typeface="Arial" panose="020B0604020202020204" pitchFamily="34" charset="0"/>
              <a:buChar char="•"/>
            </a:pPr>
            <a:r>
              <a:rPr lang="zh-CN" altLang="zh-CN" sz="1400" dirty="0"/>
              <a:t>漏洞检测、摘要生成、代码生成任务均训练</a:t>
            </a:r>
            <a:r>
              <a:rPr lang="en-US" altLang="zh-CN" sz="1400" dirty="0"/>
              <a:t>5</a:t>
            </a:r>
            <a:r>
              <a:rPr lang="zh-CN" altLang="zh-CN" sz="1400" dirty="0"/>
              <a:t>个轮次。代码克隆检测训练</a:t>
            </a:r>
            <a:r>
              <a:rPr lang="en-US" altLang="zh-CN" sz="1400" dirty="0"/>
              <a:t>1</a:t>
            </a:r>
            <a:r>
              <a:rPr lang="zh-CN" altLang="zh-CN" sz="1400" dirty="0"/>
              <a:t>个轮次。</a:t>
            </a:r>
            <a:endParaRPr lang="zh-CN" altLang="en-US" sz="1400" dirty="0"/>
          </a:p>
        </p:txBody>
      </p:sp>
      <p:sp>
        <p:nvSpPr>
          <p:cNvPr id="19" name="文本框 18">
            <a:extLst>
              <a:ext uri="{FF2B5EF4-FFF2-40B4-BE49-F238E27FC236}">
                <a16:creationId xmlns:a16="http://schemas.microsoft.com/office/drawing/2014/main" id="{66182E6C-00A7-0BEB-D79A-2859D8AB88A3}"/>
              </a:ext>
            </a:extLst>
          </p:cNvPr>
          <p:cNvSpPr txBox="1"/>
          <p:nvPr/>
        </p:nvSpPr>
        <p:spPr>
          <a:xfrm>
            <a:off x="647456" y="2162469"/>
            <a:ext cx="6106884"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dirty="0"/>
              <a:t>所有任务的微调学习率为</a:t>
            </a:r>
            <a:r>
              <a:rPr lang="en-US" altLang="zh-CN" dirty="0"/>
              <a:t>8e-5</a:t>
            </a:r>
            <a:r>
              <a:rPr lang="zh-CN" altLang="zh-CN" dirty="0"/>
              <a:t>，批大小为</a:t>
            </a:r>
            <a:r>
              <a:rPr lang="en-US" altLang="zh-CN" dirty="0"/>
              <a:t>64</a:t>
            </a:r>
            <a:r>
              <a:rPr lang="zh-CN" altLang="zh-CN" dirty="0"/>
              <a:t>。</a:t>
            </a:r>
            <a:endParaRPr lang="zh-CN" altLang="en-US" dirty="0"/>
          </a:p>
        </p:txBody>
      </p:sp>
      <p:sp>
        <p:nvSpPr>
          <p:cNvPr id="21" name="文本框 20">
            <a:extLst>
              <a:ext uri="{FF2B5EF4-FFF2-40B4-BE49-F238E27FC236}">
                <a16:creationId xmlns:a16="http://schemas.microsoft.com/office/drawing/2014/main" id="{E7940122-DF9E-F674-D422-BEADB64D7EA8}"/>
              </a:ext>
            </a:extLst>
          </p:cNvPr>
          <p:cNvSpPr txBox="1"/>
          <p:nvPr/>
        </p:nvSpPr>
        <p:spPr>
          <a:xfrm>
            <a:off x="647456" y="1469536"/>
            <a:ext cx="6106884" cy="338554"/>
          </a:xfrm>
          <a:prstGeom prst="rect">
            <a:avLst/>
          </a:prstGeom>
          <a:noFill/>
        </p:spPr>
        <p:txBody>
          <a:bodyPr wrap="square">
            <a:spAutoFit/>
          </a:bodyPr>
          <a:lstStyle/>
          <a:p>
            <a:r>
              <a:rPr lang="zh-CN" altLang="en-US" sz="1600" b="1" dirty="0">
                <a:solidFill>
                  <a:srgbClr val="268F9C"/>
                </a:solidFill>
                <a:latin typeface="+mn-ea"/>
              </a:rPr>
              <a:t>微调参数设置</a:t>
            </a:r>
            <a:endParaRPr lang="en-US" altLang="zh-CN" sz="1600" b="1" dirty="0">
              <a:solidFill>
                <a:srgbClr val="268F9C"/>
              </a:solidFill>
              <a:latin typeface="+mn-ea"/>
            </a:endParaRPr>
          </a:p>
        </p:txBody>
      </p:sp>
      <p:sp>
        <p:nvSpPr>
          <p:cNvPr id="22" name="文本框 21">
            <a:extLst>
              <a:ext uri="{FF2B5EF4-FFF2-40B4-BE49-F238E27FC236}">
                <a16:creationId xmlns:a16="http://schemas.microsoft.com/office/drawing/2014/main" id="{ADBCBF9C-4F98-AD2B-552D-3C4FF2D0A24A}"/>
              </a:ext>
            </a:extLst>
          </p:cNvPr>
          <p:cNvSpPr txBox="1"/>
          <p:nvPr/>
        </p:nvSpPr>
        <p:spPr>
          <a:xfrm>
            <a:off x="647456" y="3541012"/>
            <a:ext cx="6106884" cy="338554"/>
          </a:xfrm>
          <a:prstGeom prst="rect">
            <a:avLst/>
          </a:prstGeom>
          <a:noFill/>
        </p:spPr>
        <p:txBody>
          <a:bodyPr wrap="square">
            <a:spAutoFit/>
          </a:bodyPr>
          <a:lstStyle/>
          <a:p>
            <a:r>
              <a:rPr lang="zh-CN" altLang="en-US" sz="1600" b="1" dirty="0">
                <a:solidFill>
                  <a:srgbClr val="268F9C"/>
                </a:solidFill>
                <a:latin typeface="+mn-ea"/>
              </a:rPr>
              <a:t>模型融合参数设置</a:t>
            </a:r>
            <a:endParaRPr lang="en-US" altLang="zh-CN" sz="1600" b="1" dirty="0">
              <a:solidFill>
                <a:srgbClr val="268F9C"/>
              </a:solidFill>
              <a:latin typeface="+mn-ea"/>
            </a:endParaRPr>
          </a:p>
        </p:txBody>
      </p:sp>
      <p:sp>
        <p:nvSpPr>
          <p:cNvPr id="24" name="文本框 23">
            <a:extLst>
              <a:ext uri="{FF2B5EF4-FFF2-40B4-BE49-F238E27FC236}">
                <a16:creationId xmlns:a16="http://schemas.microsoft.com/office/drawing/2014/main" id="{789E9456-1842-1DF8-76C7-B8702CAA424F}"/>
              </a:ext>
            </a:extLst>
          </p:cNvPr>
          <p:cNvSpPr txBox="1"/>
          <p:nvPr/>
        </p:nvSpPr>
        <p:spPr>
          <a:xfrm>
            <a:off x="714589" y="3926853"/>
            <a:ext cx="309230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b="1" dirty="0"/>
              <a:t>任务算术、</a:t>
            </a:r>
            <a:r>
              <a:rPr lang="en-US" altLang="zh-CN" b="1" dirty="0"/>
              <a:t>ties-merging</a:t>
            </a:r>
            <a:r>
              <a:rPr lang="zh-CN" altLang="zh-CN" b="1" dirty="0"/>
              <a:t>：</a:t>
            </a:r>
            <a:endParaRPr lang="zh-CN" altLang="en-US" b="1"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E724848-C182-B336-FE2E-6522C5AAEEE5}"/>
                  </a:ext>
                </a:extLst>
              </p:cNvPr>
              <p:cNvSpPr txBox="1"/>
              <p:nvPr/>
            </p:nvSpPr>
            <p:spPr>
              <a:xfrm>
                <a:off x="1015046" y="4257053"/>
                <a:ext cx="10498930"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dirty="0"/>
                  <a:t>从验证集中随机采样</a:t>
                </a:r>
                <a:r>
                  <a:rPr lang="en-US" altLang="zh-CN" dirty="0"/>
                  <a:t>5000</a:t>
                </a:r>
                <a:r>
                  <a:rPr lang="zh-CN" altLang="zh-CN" dirty="0"/>
                  <a:t>个样本进行搜索</a:t>
                </a:r>
                <a:r>
                  <a:rPr lang="en-US" altLang="zh-CN" dirty="0"/>
                  <a:t>(</a:t>
                </a:r>
                <a:r>
                  <a:rPr lang="zh-CN" altLang="zh-CN" dirty="0"/>
                  <a:t>若没有验证集，则从训练集中采样</a:t>
                </a:r>
                <a:r>
                  <a:rPr lang="en-US" altLang="zh-CN" dirty="0"/>
                  <a:t>)</a:t>
                </a:r>
                <a:r>
                  <a:rPr lang="zh-CN" altLang="en-US" dirty="0"/>
                  <a:t>，用于搜索缩放融合系数</a:t>
                </a:r>
                <a14:m>
                  <m:oMath xmlns:m="http://schemas.openxmlformats.org/officeDocument/2006/math">
                    <m:r>
                      <a:rPr lang="en-US" altLang="zh-CN" dirty="0">
                        <a:latin typeface="Cambria Math" panose="02040503050406030204" pitchFamily="18" charset="0"/>
                      </a:rPr>
                      <m:t>𝛼</m:t>
                    </m:r>
                  </m:oMath>
                </a14:m>
                <a:endParaRPr lang="zh-CN" altLang="en-US" dirty="0"/>
              </a:p>
            </p:txBody>
          </p:sp>
        </mc:Choice>
        <mc:Fallback xmlns="">
          <p:sp>
            <p:nvSpPr>
              <p:cNvPr id="26" name="文本框 25">
                <a:extLst>
                  <a:ext uri="{FF2B5EF4-FFF2-40B4-BE49-F238E27FC236}">
                    <a16:creationId xmlns:a16="http://schemas.microsoft.com/office/drawing/2014/main" id="{8E724848-C182-B336-FE2E-6522C5AAEEE5}"/>
                  </a:ext>
                </a:extLst>
              </p:cNvPr>
              <p:cNvSpPr txBox="1">
                <a:spLocks noRot="1" noChangeAspect="1" noMove="1" noResize="1" noEditPoints="1" noAdjustHandles="1" noChangeArrowheads="1" noChangeShapeType="1" noTextEdit="1"/>
              </p:cNvSpPr>
              <p:nvPr/>
            </p:nvSpPr>
            <p:spPr>
              <a:xfrm>
                <a:off x="1015046" y="4257053"/>
                <a:ext cx="10498930" cy="307777"/>
              </a:xfrm>
              <a:prstGeom prst="rect">
                <a:avLst/>
              </a:prstGeom>
              <a:blipFill>
                <a:blip r:embed="rId4"/>
                <a:stretch>
                  <a:fillRect l="-174" t="-1961"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DE9883F-6688-B6A8-C5FD-024324F53DE8}"/>
                  </a:ext>
                </a:extLst>
              </p:cNvPr>
              <p:cNvSpPr txBox="1"/>
              <p:nvPr/>
            </p:nvSpPr>
            <p:spPr>
              <a:xfrm>
                <a:off x="1015046" y="4535724"/>
                <a:ext cx="9369925"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a:t>对于</a:t>
                </a:r>
                <a:r>
                  <a:rPr lang="en-US" altLang="zh-CN" dirty="0"/>
                  <a:t>RQ1</a:t>
                </a:r>
                <a:r>
                  <a:rPr lang="zh-CN" altLang="zh-CN" dirty="0"/>
                  <a:t>，因为每个任务搜索得到的最优融合系数基本一致，因此每个任务使用相同的放缩系数</a:t>
                </a:r>
                <a14:m>
                  <m:oMath xmlns:m="http://schemas.openxmlformats.org/officeDocument/2006/math">
                    <m:r>
                      <m:rPr>
                        <m:sty m:val="p"/>
                      </m:rPr>
                      <a:rPr lang="en-US" altLang="zh-CN">
                        <a:latin typeface="Cambria Math" panose="02040503050406030204" pitchFamily="18" charset="0"/>
                      </a:rPr>
                      <m:t>α</m:t>
                    </m:r>
                  </m:oMath>
                </a14:m>
                <a:endParaRPr lang="zh-CN" altLang="en-US" dirty="0"/>
              </a:p>
            </p:txBody>
          </p:sp>
        </mc:Choice>
        <mc:Fallback xmlns="">
          <p:sp>
            <p:nvSpPr>
              <p:cNvPr id="28" name="文本框 27">
                <a:extLst>
                  <a:ext uri="{FF2B5EF4-FFF2-40B4-BE49-F238E27FC236}">
                    <a16:creationId xmlns:a16="http://schemas.microsoft.com/office/drawing/2014/main" id="{EDE9883F-6688-B6A8-C5FD-024324F53DE8}"/>
                  </a:ext>
                </a:extLst>
              </p:cNvPr>
              <p:cNvSpPr txBox="1">
                <a:spLocks noRot="1" noChangeAspect="1" noMove="1" noResize="1" noEditPoints="1" noAdjustHandles="1" noChangeArrowheads="1" noChangeShapeType="1" noTextEdit="1"/>
              </p:cNvSpPr>
              <p:nvPr/>
            </p:nvSpPr>
            <p:spPr>
              <a:xfrm>
                <a:off x="1015046" y="4535724"/>
                <a:ext cx="9369925" cy="307777"/>
              </a:xfrm>
              <a:prstGeom prst="rect">
                <a:avLst/>
              </a:prstGeom>
              <a:blipFill>
                <a:blip r:embed="rId5"/>
                <a:stretch>
                  <a:fillRect l="-195" t="-3922" b="-19608"/>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353BC26A-7F0D-05AD-5CB8-B379376D0899}"/>
              </a:ext>
            </a:extLst>
          </p:cNvPr>
          <p:cNvSpPr txBox="1"/>
          <p:nvPr/>
        </p:nvSpPr>
        <p:spPr>
          <a:xfrm>
            <a:off x="1015046" y="4814395"/>
            <a:ext cx="9080676"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zh-CN" dirty="0"/>
              <a:t>对于</a:t>
            </a:r>
            <a:r>
              <a:rPr lang="en-US" altLang="zh-CN" dirty="0"/>
              <a:t>RQ2</a:t>
            </a:r>
            <a:r>
              <a:rPr lang="zh-CN" altLang="zh-CN" dirty="0"/>
              <a:t>，不同任务的最优融合系数差距很大，因此，我们为每个不同的任务搜索使用不同的融合系数。</a:t>
            </a:r>
            <a:endParaRPr lang="zh-CN" altLang="en-US" dirty="0"/>
          </a:p>
        </p:txBody>
      </p:sp>
      <p:sp>
        <p:nvSpPr>
          <p:cNvPr id="33" name="文本框 32">
            <a:extLst>
              <a:ext uri="{FF2B5EF4-FFF2-40B4-BE49-F238E27FC236}">
                <a16:creationId xmlns:a16="http://schemas.microsoft.com/office/drawing/2014/main" id="{F2478C9A-3488-E62A-0DA1-615A4FA5F5D1}"/>
              </a:ext>
            </a:extLst>
          </p:cNvPr>
          <p:cNvSpPr txBox="1"/>
          <p:nvPr/>
        </p:nvSpPr>
        <p:spPr>
          <a:xfrm>
            <a:off x="1015046" y="5093065"/>
            <a:ext cx="11176954"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pPr marL="0" indent="0">
              <a:buNone/>
            </a:pPr>
            <a:r>
              <a:rPr lang="zh-CN" altLang="en-US" dirty="0"/>
              <a:t>任务算术搜索的空间为</a:t>
            </a:r>
            <a:r>
              <a:rPr lang="en-US" altLang="zh-CN" dirty="0"/>
              <a:t>[0.1,1]</a:t>
            </a:r>
            <a:r>
              <a:rPr lang="zh-CN" altLang="en-US" dirty="0"/>
              <a:t>，搜索间隔都为</a:t>
            </a:r>
            <a:r>
              <a:rPr lang="en-US" altLang="zh-CN" dirty="0"/>
              <a:t>0.1</a:t>
            </a:r>
            <a:r>
              <a:rPr lang="zh-CN" altLang="en-US" dirty="0"/>
              <a:t>；对于</a:t>
            </a:r>
            <a:r>
              <a:rPr lang="en-US" altLang="zh-CN" dirty="0"/>
              <a:t>ties-merging</a:t>
            </a:r>
            <a:r>
              <a:rPr lang="zh-CN" altLang="en-US" dirty="0"/>
              <a:t>，其保留前</a:t>
            </a:r>
            <a:r>
              <a:rPr lang="en-US" altLang="zh-CN" dirty="0"/>
              <a:t>70%</a:t>
            </a:r>
            <a:r>
              <a:rPr lang="zh-CN" altLang="en-US" dirty="0"/>
              <a:t>大的参数，搜索空间为</a:t>
            </a:r>
            <a:r>
              <a:rPr lang="en-US" altLang="zh-CN" dirty="0"/>
              <a:t>[0.5,2.5]</a:t>
            </a:r>
            <a:r>
              <a:rPr lang="zh-CN" altLang="en-US" dirty="0"/>
              <a:t>，搜索间隔为</a:t>
            </a:r>
            <a:r>
              <a:rPr lang="en-US" altLang="zh-CN" dirty="0"/>
              <a:t>0.1</a:t>
            </a:r>
            <a:r>
              <a:rPr lang="zh-CN" altLang="en-US" dirty="0"/>
              <a:t>。</a:t>
            </a:r>
            <a:endParaRPr lang="zh-CN" altLang="zh-CN" dirty="0"/>
          </a:p>
        </p:txBody>
      </p:sp>
      <p:sp>
        <p:nvSpPr>
          <p:cNvPr id="34" name="文本框 33">
            <a:extLst>
              <a:ext uri="{FF2B5EF4-FFF2-40B4-BE49-F238E27FC236}">
                <a16:creationId xmlns:a16="http://schemas.microsoft.com/office/drawing/2014/main" id="{6D22C86B-6402-3DD7-E0C9-434FDE6DAD28}"/>
              </a:ext>
            </a:extLst>
          </p:cNvPr>
          <p:cNvSpPr txBox="1"/>
          <p:nvPr/>
        </p:nvSpPr>
        <p:spPr>
          <a:xfrm>
            <a:off x="714588" y="5449707"/>
            <a:ext cx="309230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en-US" b="1" dirty="0"/>
              <a:t>可学习融合系数</a:t>
            </a:r>
            <a:r>
              <a:rPr lang="zh-CN" altLang="zh-CN" b="1" dirty="0"/>
              <a:t>：</a:t>
            </a:r>
            <a:endParaRPr lang="zh-CN" altLang="en-US" b="1" dirty="0"/>
          </a:p>
        </p:txBody>
      </p:sp>
      <p:sp>
        <p:nvSpPr>
          <p:cNvPr id="36" name="文本框 35">
            <a:extLst>
              <a:ext uri="{FF2B5EF4-FFF2-40B4-BE49-F238E27FC236}">
                <a16:creationId xmlns:a16="http://schemas.microsoft.com/office/drawing/2014/main" id="{5F55EE82-E61D-5231-89A9-533EF530DE5F}"/>
              </a:ext>
            </a:extLst>
          </p:cNvPr>
          <p:cNvSpPr txBox="1"/>
          <p:nvPr/>
        </p:nvSpPr>
        <p:spPr>
          <a:xfrm>
            <a:off x="1015046" y="5728964"/>
            <a:ext cx="7370067"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dirty="0"/>
              <a:t>从每个任务的训练集中随机采样</a:t>
            </a:r>
            <a:r>
              <a:rPr lang="en-US" altLang="zh-CN" dirty="0"/>
              <a:t>5000</a:t>
            </a:r>
            <a:r>
              <a:rPr lang="zh-CN" altLang="zh-CN" dirty="0"/>
              <a:t>个样本</a:t>
            </a:r>
            <a:r>
              <a:rPr lang="zh-CN" altLang="en-US" dirty="0"/>
              <a:t>（</a:t>
            </a:r>
            <a:r>
              <a:rPr lang="zh-CN" altLang="zh-CN" dirty="0"/>
              <a:t>远远小于训练样本总数</a:t>
            </a:r>
            <a:r>
              <a:rPr lang="zh-CN" altLang="en-US" dirty="0"/>
              <a:t>）</a:t>
            </a:r>
            <a:r>
              <a:rPr lang="zh-CN" altLang="zh-CN" dirty="0"/>
              <a:t>进行训练</a:t>
            </a:r>
            <a:endParaRPr lang="zh-CN" altLang="en-US" dirty="0"/>
          </a:p>
        </p:txBody>
      </p:sp>
      <p:sp>
        <p:nvSpPr>
          <p:cNvPr id="38" name="文本框 37">
            <a:extLst>
              <a:ext uri="{FF2B5EF4-FFF2-40B4-BE49-F238E27FC236}">
                <a16:creationId xmlns:a16="http://schemas.microsoft.com/office/drawing/2014/main" id="{FBF60A57-E2DF-C42C-072E-CBA7932803C5}"/>
              </a:ext>
            </a:extLst>
          </p:cNvPr>
          <p:cNvSpPr txBox="1"/>
          <p:nvPr/>
        </p:nvSpPr>
        <p:spPr>
          <a:xfrm>
            <a:off x="1015046" y="6004448"/>
            <a:ext cx="8446195"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a:t>对于</a:t>
            </a:r>
            <a:r>
              <a:rPr lang="en-US" altLang="zh-CN" dirty="0"/>
              <a:t>RQ1</a:t>
            </a:r>
            <a:r>
              <a:rPr lang="zh-CN" altLang="zh-CN" dirty="0"/>
              <a:t>，初始化融合系数为搜索方法中搜索得到的最优值，学习</a:t>
            </a:r>
            <a:r>
              <a:rPr lang="zh-CN" altLang="zh-CN"/>
              <a:t>率为</a:t>
            </a:r>
            <a:r>
              <a:rPr lang="en-US" altLang="zh-CN" dirty="0"/>
              <a:t>0.001</a:t>
            </a:r>
            <a:r>
              <a:rPr lang="zh-CN" altLang="zh-CN"/>
              <a:t>，训练</a:t>
            </a:r>
            <a:r>
              <a:rPr lang="en-US" altLang="zh-CN" dirty="0"/>
              <a:t>3</a:t>
            </a:r>
            <a:r>
              <a:rPr lang="zh-CN" altLang="zh-CN" dirty="0"/>
              <a:t>个轮次。</a:t>
            </a:r>
            <a:endParaRPr lang="zh-CN" altLang="en-US" dirty="0"/>
          </a:p>
        </p:txBody>
      </p:sp>
      <p:sp>
        <p:nvSpPr>
          <p:cNvPr id="40" name="文本框 39">
            <a:extLst>
              <a:ext uri="{FF2B5EF4-FFF2-40B4-BE49-F238E27FC236}">
                <a16:creationId xmlns:a16="http://schemas.microsoft.com/office/drawing/2014/main" id="{B441480E-2132-4601-7DA2-F8C6FFFB8B58}"/>
              </a:ext>
            </a:extLst>
          </p:cNvPr>
          <p:cNvSpPr txBox="1"/>
          <p:nvPr/>
        </p:nvSpPr>
        <p:spPr>
          <a:xfrm>
            <a:off x="1015046" y="6279932"/>
            <a:ext cx="8740451" cy="307777"/>
          </a:xfrm>
          <a:prstGeom prst="rect">
            <a:avLst/>
          </a:prstGeom>
          <a:noFill/>
        </p:spPr>
        <p:txBody>
          <a:bodyPr wrap="square">
            <a:spAutoFit/>
          </a:bodyPr>
          <a:lstStyle>
            <a:defPPr>
              <a:defRPr lang="zh-CN"/>
            </a:defPPr>
            <a:lvl1pPr marL="285750" indent="-285750">
              <a:spcAft>
                <a:spcPts val="1200"/>
              </a:spcAft>
              <a:buFont typeface="Arial" panose="020B0604020202020204" pitchFamily="34" charset="0"/>
              <a:buChar char="•"/>
              <a:defRPr sz="1400">
                <a:latin typeface="+mn-ea"/>
              </a:defRPr>
            </a:lvl1pPr>
          </a:lstStyle>
          <a:p>
            <a:r>
              <a:rPr lang="zh-CN" altLang="zh-CN"/>
              <a:t>对于</a:t>
            </a:r>
            <a:r>
              <a:rPr lang="en-US" altLang="zh-CN" dirty="0"/>
              <a:t>RQ2</a:t>
            </a:r>
            <a:r>
              <a:rPr lang="zh-CN" altLang="zh-CN" dirty="0"/>
              <a:t>，融合系数初始值为各个任务最优融合系数的平均值，学习</a:t>
            </a:r>
            <a:r>
              <a:rPr lang="zh-CN" altLang="zh-CN"/>
              <a:t>率为</a:t>
            </a:r>
            <a:r>
              <a:rPr lang="en-US" altLang="zh-CN" dirty="0"/>
              <a:t>0.003</a:t>
            </a:r>
            <a:r>
              <a:rPr lang="zh-CN" altLang="zh-CN"/>
              <a:t>，训练</a:t>
            </a:r>
            <a:r>
              <a:rPr lang="en-US" altLang="zh-CN" dirty="0"/>
              <a:t>5</a:t>
            </a:r>
            <a:r>
              <a:rPr lang="zh-CN" altLang="zh-CN" dirty="0"/>
              <a:t>个轮次。</a:t>
            </a:r>
          </a:p>
        </p:txBody>
      </p:sp>
    </p:spTree>
    <p:extLst>
      <p:ext uri="{BB962C8B-B14F-4D97-AF65-F5344CB8AC3E}">
        <p14:creationId xmlns:p14="http://schemas.microsoft.com/office/powerpoint/2010/main" val="1516513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graphicFrame>
        <p:nvGraphicFramePr>
          <p:cNvPr id="5" name="表格 4">
            <a:extLst>
              <a:ext uri="{FF2B5EF4-FFF2-40B4-BE49-F238E27FC236}">
                <a16:creationId xmlns:a16="http://schemas.microsoft.com/office/drawing/2014/main" id="{599ED35B-91B9-6703-3EA4-ACA9320DCA87}"/>
              </a:ext>
            </a:extLst>
          </p:cNvPr>
          <p:cNvGraphicFramePr>
            <a:graphicFrameLocks noGrp="1"/>
          </p:cNvGraphicFramePr>
          <p:nvPr>
            <p:extLst>
              <p:ext uri="{D42A27DB-BD31-4B8C-83A1-F6EECF244321}">
                <p14:modId xmlns:p14="http://schemas.microsoft.com/office/powerpoint/2010/main" val="588636312"/>
              </p:ext>
            </p:extLst>
          </p:nvPr>
        </p:nvGraphicFramePr>
        <p:xfrm>
          <a:off x="243138" y="1260894"/>
          <a:ext cx="6652179" cy="2346960"/>
        </p:xfrm>
        <a:graphic>
          <a:graphicData uri="http://schemas.openxmlformats.org/drawingml/2006/table">
            <a:tbl>
              <a:tblPr/>
              <a:tblGrid>
                <a:gridCol w="739131">
                  <a:extLst>
                    <a:ext uri="{9D8B030D-6E8A-4147-A177-3AD203B41FA5}">
                      <a16:colId xmlns:a16="http://schemas.microsoft.com/office/drawing/2014/main" val="4264892191"/>
                    </a:ext>
                  </a:extLst>
                </a:gridCol>
                <a:gridCol w="739131">
                  <a:extLst>
                    <a:ext uri="{9D8B030D-6E8A-4147-A177-3AD203B41FA5}">
                      <a16:colId xmlns:a16="http://schemas.microsoft.com/office/drawing/2014/main" val="2866768603"/>
                    </a:ext>
                  </a:extLst>
                </a:gridCol>
                <a:gridCol w="739131">
                  <a:extLst>
                    <a:ext uri="{9D8B030D-6E8A-4147-A177-3AD203B41FA5}">
                      <a16:colId xmlns:a16="http://schemas.microsoft.com/office/drawing/2014/main" val="4152288243"/>
                    </a:ext>
                  </a:extLst>
                </a:gridCol>
                <a:gridCol w="739131">
                  <a:extLst>
                    <a:ext uri="{9D8B030D-6E8A-4147-A177-3AD203B41FA5}">
                      <a16:colId xmlns:a16="http://schemas.microsoft.com/office/drawing/2014/main" val="278528650"/>
                    </a:ext>
                  </a:extLst>
                </a:gridCol>
                <a:gridCol w="739131">
                  <a:extLst>
                    <a:ext uri="{9D8B030D-6E8A-4147-A177-3AD203B41FA5}">
                      <a16:colId xmlns:a16="http://schemas.microsoft.com/office/drawing/2014/main" val="1311793234"/>
                    </a:ext>
                  </a:extLst>
                </a:gridCol>
                <a:gridCol w="739131">
                  <a:extLst>
                    <a:ext uri="{9D8B030D-6E8A-4147-A177-3AD203B41FA5}">
                      <a16:colId xmlns:a16="http://schemas.microsoft.com/office/drawing/2014/main" val="1813429724"/>
                    </a:ext>
                  </a:extLst>
                </a:gridCol>
                <a:gridCol w="739131">
                  <a:extLst>
                    <a:ext uri="{9D8B030D-6E8A-4147-A177-3AD203B41FA5}">
                      <a16:colId xmlns:a16="http://schemas.microsoft.com/office/drawing/2014/main" val="1542663817"/>
                    </a:ext>
                  </a:extLst>
                </a:gridCol>
                <a:gridCol w="739131">
                  <a:extLst>
                    <a:ext uri="{9D8B030D-6E8A-4147-A177-3AD203B41FA5}">
                      <a16:colId xmlns:a16="http://schemas.microsoft.com/office/drawing/2014/main" val="3388436738"/>
                    </a:ext>
                  </a:extLst>
                </a:gridCol>
                <a:gridCol w="739131">
                  <a:extLst>
                    <a:ext uri="{9D8B030D-6E8A-4147-A177-3AD203B41FA5}">
                      <a16:colId xmlns:a16="http://schemas.microsoft.com/office/drawing/2014/main" val="3904708692"/>
                    </a:ext>
                  </a:extLst>
                </a:gridCol>
              </a:tblGrid>
              <a:tr h="179352">
                <a:tc gridSpan="9">
                  <a:txBody>
                    <a:bodyPr/>
                    <a:lstStyle/>
                    <a:p>
                      <a:pPr algn="ctr" fontAlgn="ctr" latinLnBrk="0"/>
                      <a:r>
                        <a:rPr lang="en-US" sz="1000" dirty="0">
                          <a:solidFill>
                            <a:srgbClr val="000000"/>
                          </a:solidFill>
                          <a:effectLst/>
                        </a:rPr>
                        <a:t>Code Search</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99384989"/>
                  </a:ext>
                </a:extLst>
              </a:tr>
              <a:tr h="179352">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python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ruby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err="1">
                          <a:solidFill>
                            <a:srgbClr val="000000"/>
                          </a:solidFill>
                          <a:effectLst/>
                        </a:rPr>
                        <a:t>javascript</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go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php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average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2396462"/>
                  </a:ext>
                </a:extLst>
              </a:tr>
              <a:tr h="179352">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dirty="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7">
                  <a:txBody>
                    <a:bodyPr/>
                    <a:lstStyle/>
                    <a:p>
                      <a:pPr algn="ctr" fontAlgn="ctr" latinLnBrk="0"/>
                      <a:r>
                        <a:rPr lang="en-US" sz="1000" dirty="0">
                          <a:solidFill>
                            <a:srgbClr val="000000"/>
                          </a:solidFill>
                          <a:effectLst/>
                        </a:rPr>
                        <a:t>MRR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38473993"/>
                  </a:ext>
                </a:extLst>
              </a:tr>
              <a:tr h="179352">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84.58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82.02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76.81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75.55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78.38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5720222"/>
                  </a:ext>
                </a:extLst>
              </a:tr>
              <a:tr h="179352">
                <a:tc rowSpan="2">
                  <a:txBody>
                    <a:bodyPr/>
                    <a:lstStyle/>
                    <a:p>
                      <a:pPr algn="ctr" fontAlgn="ctr" latinLnBrk="0"/>
                      <a:r>
                        <a:rPr lang="en-US" sz="1000">
                          <a:solidFill>
                            <a:srgbClr val="000000"/>
                          </a:solidFill>
                          <a:effectLst/>
                        </a:rPr>
                        <a:t>task arithmetic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82.68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81. 57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77.74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75.19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72.41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74.84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6250734"/>
                  </a:ext>
                </a:extLst>
              </a:tr>
              <a:tr h="179352">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81.45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77.69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72.82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9899790"/>
                  </a:ext>
                </a:extLst>
              </a:tr>
              <a:tr h="179352">
                <a:tc rowSpan="2">
                  <a:txBody>
                    <a:bodyPr/>
                    <a:lstStyle/>
                    <a:p>
                      <a:pPr algn="ctr" fontAlgn="ctr" latinLnBrk="0"/>
                      <a:r>
                        <a:rPr lang="en-US" sz="1000">
                          <a:solidFill>
                            <a:srgbClr val="000000"/>
                          </a:solidFill>
                          <a:effectLst/>
                        </a:rPr>
                        <a:t>ties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80.96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77.56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73.79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74.99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7518232"/>
                  </a:ext>
                </a:extLst>
              </a:tr>
              <a:tr h="179352">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82.52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81.54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77.85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73.83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73.74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75.08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77.43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1482547"/>
                  </a:ext>
                </a:extLst>
              </a:tr>
              <a:tr h="179352">
                <a:tc>
                  <a:txBody>
                    <a:bodyPr/>
                    <a:lstStyle/>
                    <a:p>
                      <a:pPr algn="ctr" fontAlgn="ctr" latinLnBrk="0"/>
                      <a:r>
                        <a:rPr lang="en-US" sz="100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84.61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81.93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77.48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76.67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75.93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75.23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78.64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3210702"/>
                  </a:ext>
                </a:extLst>
              </a:tr>
            </a:tbl>
          </a:graphicData>
        </a:graphic>
      </p:graphicFrame>
      <p:graphicFrame>
        <p:nvGraphicFramePr>
          <p:cNvPr id="9" name="表格 8">
            <a:extLst>
              <a:ext uri="{FF2B5EF4-FFF2-40B4-BE49-F238E27FC236}">
                <a16:creationId xmlns:a16="http://schemas.microsoft.com/office/drawing/2014/main" id="{879870DD-3DD0-CAD0-77AA-A2A8AE58CA62}"/>
              </a:ext>
            </a:extLst>
          </p:cNvPr>
          <p:cNvGraphicFramePr>
            <a:graphicFrameLocks noGrp="1"/>
          </p:cNvGraphicFramePr>
          <p:nvPr>
            <p:extLst>
              <p:ext uri="{D42A27DB-BD31-4B8C-83A1-F6EECF244321}">
                <p14:modId xmlns:p14="http://schemas.microsoft.com/office/powerpoint/2010/main" val="1451170685"/>
              </p:ext>
            </p:extLst>
          </p:nvPr>
        </p:nvGraphicFramePr>
        <p:xfrm>
          <a:off x="243137" y="3862890"/>
          <a:ext cx="6652180" cy="2346960"/>
        </p:xfrm>
        <a:graphic>
          <a:graphicData uri="http://schemas.openxmlformats.org/drawingml/2006/table">
            <a:tbl>
              <a:tblPr/>
              <a:tblGrid>
                <a:gridCol w="843234">
                  <a:extLst>
                    <a:ext uri="{9D8B030D-6E8A-4147-A177-3AD203B41FA5}">
                      <a16:colId xmlns:a16="http://schemas.microsoft.com/office/drawing/2014/main" val="4069599958"/>
                    </a:ext>
                  </a:extLst>
                </a:gridCol>
                <a:gridCol w="675926">
                  <a:extLst>
                    <a:ext uri="{9D8B030D-6E8A-4147-A177-3AD203B41FA5}">
                      <a16:colId xmlns:a16="http://schemas.microsoft.com/office/drawing/2014/main" val="2280944835"/>
                    </a:ext>
                  </a:extLst>
                </a:gridCol>
                <a:gridCol w="675926">
                  <a:extLst>
                    <a:ext uri="{9D8B030D-6E8A-4147-A177-3AD203B41FA5}">
                      <a16:colId xmlns:a16="http://schemas.microsoft.com/office/drawing/2014/main" val="2951964556"/>
                    </a:ext>
                  </a:extLst>
                </a:gridCol>
                <a:gridCol w="749541">
                  <a:extLst>
                    <a:ext uri="{9D8B030D-6E8A-4147-A177-3AD203B41FA5}">
                      <a16:colId xmlns:a16="http://schemas.microsoft.com/office/drawing/2014/main" val="1167072908"/>
                    </a:ext>
                  </a:extLst>
                </a:gridCol>
                <a:gridCol w="749541">
                  <a:extLst>
                    <a:ext uri="{9D8B030D-6E8A-4147-A177-3AD203B41FA5}">
                      <a16:colId xmlns:a16="http://schemas.microsoft.com/office/drawing/2014/main" val="3787338855"/>
                    </a:ext>
                  </a:extLst>
                </a:gridCol>
                <a:gridCol w="675926">
                  <a:extLst>
                    <a:ext uri="{9D8B030D-6E8A-4147-A177-3AD203B41FA5}">
                      <a16:colId xmlns:a16="http://schemas.microsoft.com/office/drawing/2014/main" val="2645746325"/>
                    </a:ext>
                  </a:extLst>
                </a:gridCol>
                <a:gridCol w="675926">
                  <a:extLst>
                    <a:ext uri="{9D8B030D-6E8A-4147-A177-3AD203B41FA5}">
                      <a16:colId xmlns:a16="http://schemas.microsoft.com/office/drawing/2014/main" val="517240748"/>
                    </a:ext>
                  </a:extLst>
                </a:gridCol>
                <a:gridCol w="803080">
                  <a:extLst>
                    <a:ext uri="{9D8B030D-6E8A-4147-A177-3AD203B41FA5}">
                      <a16:colId xmlns:a16="http://schemas.microsoft.com/office/drawing/2014/main" val="15350506"/>
                    </a:ext>
                  </a:extLst>
                </a:gridCol>
                <a:gridCol w="803080">
                  <a:extLst>
                    <a:ext uri="{9D8B030D-6E8A-4147-A177-3AD203B41FA5}">
                      <a16:colId xmlns:a16="http://schemas.microsoft.com/office/drawing/2014/main" val="582403974"/>
                    </a:ext>
                  </a:extLst>
                </a:gridCol>
              </a:tblGrid>
              <a:tr h="183500">
                <a:tc gridSpan="9">
                  <a:txBody>
                    <a:bodyPr/>
                    <a:lstStyle/>
                    <a:p>
                      <a:pPr algn="ctr" fontAlgn="ctr" latinLnBrk="0"/>
                      <a:r>
                        <a:rPr lang="en-US" sz="1000" dirty="0">
                          <a:solidFill>
                            <a:srgbClr val="000000"/>
                          </a:solidFill>
                          <a:effectLst/>
                        </a:rPr>
                        <a:t>Code Repair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14794010"/>
                  </a:ext>
                </a:extLst>
              </a:tr>
              <a:tr h="183500">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python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ruby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err="1">
                          <a:solidFill>
                            <a:srgbClr val="000000"/>
                          </a:solidFill>
                          <a:effectLst/>
                        </a:rPr>
                        <a:t>javascript</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go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php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average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8703651"/>
                  </a:ext>
                </a:extLst>
              </a:tr>
              <a:tr h="183500">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7">
                  <a:txBody>
                    <a:bodyPr/>
                    <a:lstStyle/>
                    <a:p>
                      <a:pPr algn="ctr" fontAlgn="ctr" latinLnBrk="0"/>
                      <a:r>
                        <a:rPr lang="en-US" sz="100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49419948"/>
                  </a:ext>
                </a:extLst>
              </a:tr>
              <a:tr h="183500">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17.82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23.34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29.41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34.31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29.99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9242534"/>
                  </a:ext>
                </a:extLst>
              </a:tr>
              <a:tr h="183500">
                <a:tc rowSpan="2">
                  <a:txBody>
                    <a:bodyPr/>
                    <a:lstStyle/>
                    <a:p>
                      <a:pPr algn="ctr" fontAlgn="ctr" latinLnBrk="0"/>
                      <a:r>
                        <a:rPr lang="en-US" sz="1000">
                          <a:solidFill>
                            <a:srgbClr val="000000"/>
                          </a:solidFill>
                          <a:effectLst/>
                        </a:rPr>
                        <a:t>task arithmetic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21.72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20.08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27.28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24.89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27.22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27.18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24.73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699834"/>
                  </a:ext>
                </a:extLst>
              </a:tr>
              <a:tr h="183500">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23.08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22.66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30.33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26.17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31.25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28.17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26.94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4069804"/>
                  </a:ext>
                </a:extLst>
              </a:tr>
              <a:tr h="183500">
                <a:tc rowSpan="2">
                  <a:txBody>
                    <a:bodyPr/>
                    <a:lstStyle/>
                    <a:p>
                      <a:pPr algn="ctr" fontAlgn="ctr" latinLnBrk="0"/>
                      <a:r>
                        <a:rPr lang="en-US" sz="1000">
                          <a:solidFill>
                            <a:srgbClr val="000000"/>
                          </a:solidFill>
                          <a:effectLst/>
                        </a:rPr>
                        <a:t>ties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23.77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20.02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17.3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20.94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29.2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22.99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6157906"/>
                  </a:ext>
                </a:extLst>
              </a:tr>
              <a:tr h="183500">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23.88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20.83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26.99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19.75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23.08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23.87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010953"/>
                  </a:ext>
                </a:extLst>
              </a:tr>
              <a:tr h="183500">
                <a:tc>
                  <a:txBody>
                    <a:bodyPr/>
                    <a:lstStyle/>
                    <a:p>
                      <a:pPr algn="ctr" fontAlgn="ctr" latinLnBrk="0"/>
                      <a:r>
                        <a:rPr lang="en-US" sz="100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24.4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17.71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23.33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29.29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31.18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25.43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5144656"/>
                  </a:ext>
                </a:extLst>
              </a:tr>
            </a:tbl>
          </a:graphicData>
        </a:graphic>
      </p:graphicFrame>
      <p:sp>
        <p:nvSpPr>
          <p:cNvPr id="10" name="文本框 9">
            <a:extLst>
              <a:ext uri="{FF2B5EF4-FFF2-40B4-BE49-F238E27FC236}">
                <a16:creationId xmlns:a16="http://schemas.microsoft.com/office/drawing/2014/main" id="{3EC1FAE3-F840-8F40-F097-F916AE78F331}"/>
              </a:ext>
            </a:extLst>
          </p:cNvPr>
          <p:cNvSpPr txBox="1"/>
          <p:nvPr/>
        </p:nvSpPr>
        <p:spPr>
          <a:xfrm>
            <a:off x="6895317" y="1630629"/>
            <a:ext cx="5282629" cy="4209486"/>
          </a:xfrm>
          <a:prstGeom prst="rect">
            <a:avLst/>
          </a:prstGeom>
          <a:noFill/>
        </p:spPr>
        <p:txBody>
          <a:bodyPr wrap="square" rtlCol="0" anchor="ctr">
            <a:spAutoFit/>
          </a:bodyPr>
          <a:lstStyle/>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在代码搜索任务当中对于所有方法来说，其都能保持非常可观的性能（</a:t>
            </a:r>
            <a:r>
              <a:rPr lang="en-US" altLang="zh-CN" sz="1600" dirty="0">
                <a:solidFill>
                  <a:schemeClr val="tx1">
                    <a:lumMod val="75000"/>
                    <a:lumOff val="25000"/>
                  </a:schemeClr>
                </a:solidFill>
              </a:rPr>
              <a:t> 95% </a:t>
            </a:r>
            <a:r>
              <a:rPr lang="zh-CN" altLang="en-US" sz="1600" dirty="0">
                <a:solidFill>
                  <a:schemeClr val="tx1">
                    <a:lumMod val="75000"/>
                    <a:lumOff val="25000"/>
                  </a:schemeClr>
                </a:solidFill>
              </a:rPr>
              <a:t>以上）。其中基于</a:t>
            </a:r>
            <a:r>
              <a:rPr lang="en-US" altLang="zh-CN" sz="1600" dirty="0">
                <a:solidFill>
                  <a:schemeClr val="tx1">
                    <a:lumMod val="75000"/>
                    <a:lumOff val="25000"/>
                  </a:schemeClr>
                </a:solidFill>
              </a:rPr>
              <a:t>mask</a:t>
            </a:r>
            <a:r>
              <a:rPr lang="zh-CN" altLang="en-US" sz="1600" dirty="0">
                <a:solidFill>
                  <a:schemeClr val="tx1">
                    <a:lumMod val="75000"/>
                    <a:lumOff val="25000"/>
                  </a:schemeClr>
                </a:solidFill>
              </a:rPr>
              <a:t>的方法取得了最优的性能，并且相较于原始微调模型，其性融合后的性能还有小幅上升。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在代码修复任务当中，对于大多数语言来说，都能保持比较好的性能，但是不同方法在一些语言上都有明显下降。</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与以往的研究不同，基</a:t>
            </a:r>
            <a:r>
              <a:rPr lang="en-US" altLang="zh-CN" sz="1600" dirty="0">
                <a:solidFill>
                  <a:schemeClr val="tx1">
                    <a:lumMod val="75000"/>
                    <a:lumOff val="25000"/>
                  </a:schemeClr>
                </a:solidFill>
              </a:rPr>
              <a:t>ties-merging</a:t>
            </a:r>
            <a:r>
              <a:rPr lang="zh-CN" altLang="en-US" sz="1600" dirty="0">
                <a:solidFill>
                  <a:schemeClr val="tx1">
                    <a:lumMod val="75000"/>
                    <a:lumOff val="25000"/>
                  </a:schemeClr>
                </a:solidFill>
              </a:rPr>
              <a:t>与于学习的方法并没有提升融合性能。对于基于学习的方法，其在代码搜索任务中没有显著提升融合性能，但是其在代码修复任务中又有明显提升。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对于一些样本较少的语言，例如</a:t>
            </a:r>
            <a:r>
              <a:rPr lang="en-US" altLang="zh-CN" sz="1600" dirty="0" err="1">
                <a:solidFill>
                  <a:schemeClr val="tx1">
                    <a:lumMod val="75000"/>
                    <a:lumOff val="25000"/>
                  </a:schemeClr>
                </a:solidFill>
              </a:rPr>
              <a:t>Javascript</a:t>
            </a:r>
            <a:r>
              <a:rPr lang="zh-CN" altLang="en-US" sz="1600" dirty="0">
                <a:solidFill>
                  <a:schemeClr val="tx1">
                    <a:lumMod val="75000"/>
                    <a:lumOff val="25000"/>
                  </a:schemeClr>
                </a:solidFill>
              </a:rPr>
              <a:t>，其在两个任务以及不同方法中都有小幅度提升</a:t>
            </a:r>
            <a:endParaRPr lang="en-US" altLang="zh-CN" sz="1600" dirty="0">
              <a:solidFill>
                <a:schemeClr val="tx1">
                  <a:lumMod val="75000"/>
                  <a:lumOff val="25000"/>
                </a:schemeClr>
              </a:solidFill>
            </a:endParaRPr>
          </a:p>
        </p:txBody>
      </p:sp>
    </p:spTree>
    <p:extLst>
      <p:ext uri="{BB962C8B-B14F-4D97-AF65-F5344CB8AC3E}">
        <p14:creationId xmlns:p14="http://schemas.microsoft.com/office/powerpoint/2010/main" val="1727967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sp>
        <p:nvSpPr>
          <p:cNvPr id="4" name="Rectangle 1">
            <a:extLst>
              <a:ext uri="{FF2B5EF4-FFF2-40B4-BE49-F238E27FC236}">
                <a16:creationId xmlns:a16="http://schemas.microsoft.com/office/drawing/2014/main" id="{9F55004D-4F63-1E34-26F9-61B8E6E3DB0C}"/>
              </a:ext>
            </a:extLst>
          </p:cNvPr>
          <p:cNvSpPr>
            <a:spLocks noChangeArrowheads="1"/>
          </p:cNvSpPr>
          <p:nvPr/>
        </p:nvSpPr>
        <p:spPr bwMode="auto">
          <a:xfrm>
            <a:off x="435554" y="1430100"/>
            <a:ext cx="5309188"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67D17"/>
                </a:solidFill>
                <a:effectLst/>
                <a:latin typeface="Arial Unicode MS"/>
                <a:ea typeface="JetBrains Mono"/>
              </a:rPr>
              <a:t>Query: </a:t>
            </a:r>
            <a:r>
              <a:rPr kumimoji="0" lang="zh-CN" altLang="zh-CN" sz="1600" b="0" i="0" u="none" strike="noStrike" cap="none" normalizeH="0" baseline="0" dirty="0">
                <a:ln>
                  <a:noFill/>
                </a:ln>
                <a:solidFill>
                  <a:srgbClr val="067D17"/>
                </a:solidFill>
                <a:effectLst/>
                <a:latin typeface="Arial Unicode MS"/>
                <a:ea typeface="JetBrains Mono"/>
              </a:rPr>
              <a:t>Runs a command using the specified arguments.</a:t>
            </a: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73B030BB-AB47-27AA-212F-8AF7266F25F4}"/>
              </a:ext>
            </a:extLst>
          </p:cNvPr>
          <p:cNvPicPr>
            <a:picLocks noChangeAspect="1"/>
          </p:cNvPicPr>
          <p:nvPr/>
        </p:nvPicPr>
        <p:blipFill>
          <a:blip r:embed="rId3"/>
          <a:stretch>
            <a:fillRect/>
          </a:stretch>
        </p:blipFill>
        <p:spPr>
          <a:xfrm>
            <a:off x="508326" y="1725765"/>
            <a:ext cx="4261935" cy="2314309"/>
          </a:xfrm>
          <a:prstGeom prst="rect">
            <a:avLst/>
          </a:prstGeom>
        </p:spPr>
      </p:pic>
      <p:sp>
        <p:nvSpPr>
          <p:cNvPr id="8" name="文本框 7">
            <a:extLst>
              <a:ext uri="{FF2B5EF4-FFF2-40B4-BE49-F238E27FC236}">
                <a16:creationId xmlns:a16="http://schemas.microsoft.com/office/drawing/2014/main" id="{3BB524A3-6296-1550-5756-B23A5A0B295A}"/>
              </a:ext>
            </a:extLst>
          </p:cNvPr>
          <p:cNvSpPr txBox="1"/>
          <p:nvPr/>
        </p:nvSpPr>
        <p:spPr>
          <a:xfrm>
            <a:off x="435553" y="1177285"/>
            <a:ext cx="6106884" cy="307777"/>
          </a:xfrm>
          <a:prstGeom prst="rect">
            <a:avLst/>
          </a:prstGeom>
          <a:noFill/>
        </p:spPr>
        <p:txBody>
          <a:bodyPr wrap="square">
            <a:spAutoFit/>
          </a:bodyPr>
          <a:lstStyle/>
          <a:p>
            <a:r>
              <a:rPr lang="en-US" altLang="zh-CN" sz="1400" b="1" dirty="0">
                <a:solidFill>
                  <a:srgbClr val="FF0000"/>
                </a:solidFill>
                <a:latin typeface="+mn-ea"/>
              </a:rPr>
              <a:t>JavaScript</a:t>
            </a:r>
          </a:p>
        </p:txBody>
      </p:sp>
      <p:sp>
        <p:nvSpPr>
          <p:cNvPr id="23" name="文本框 22">
            <a:extLst>
              <a:ext uri="{FF2B5EF4-FFF2-40B4-BE49-F238E27FC236}">
                <a16:creationId xmlns:a16="http://schemas.microsoft.com/office/drawing/2014/main" id="{E45C33DE-9BB9-7E99-D6D5-0D29F464BF5E}"/>
              </a:ext>
            </a:extLst>
          </p:cNvPr>
          <p:cNvSpPr txBox="1"/>
          <p:nvPr/>
        </p:nvSpPr>
        <p:spPr>
          <a:xfrm>
            <a:off x="435553" y="4374767"/>
            <a:ext cx="5531690"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sz="1600" b="0" i="0" u="none" strike="noStrike" cap="none" normalizeH="0" baseline="0">
                <a:ln>
                  <a:noFill/>
                </a:ln>
                <a:solidFill>
                  <a:srgbClr val="067D17"/>
                </a:solidFill>
                <a:effectLst/>
                <a:latin typeface="Arial Unicode MS"/>
                <a:ea typeface="JetBrains Mono"/>
              </a:defRPr>
            </a:lvl1pPr>
          </a:lstStyle>
          <a:p>
            <a:r>
              <a:rPr lang="en-US" altLang="zh-CN" dirty="0"/>
              <a:t>Query</a:t>
            </a:r>
            <a:r>
              <a:rPr lang="zh-CN" altLang="en-US" dirty="0"/>
              <a:t>：Run the provided command, logging details and checking for errors.</a:t>
            </a:r>
          </a:p>
        </p:txBody>
      </p:sp>
      <p:pic>
        <p:nvPicPr>
          <p:cNvPr id="27" name="图片 26">
            <a:extLst>
              <a:ext uri="{FF2B5EF4-FFF2-40B4-BE49-F238E27FC236}">
                <a16:creationId xmlns:a16="http://schemas.microsoft.com/office/drawing/2014/main" id="{DAFD5CC7-9D42-8CD2-805F-5371A32942FA}"/>
              </a:ext>
            </a:extLst>
          </p:cNvPr>
          <p:cNvPicPr>
            <a:picLocks noChangeAspect="1"/>
          </p:cNvPicPr>
          <p:nvPr/>
        </p:nvPicPr>
        <p:blipFill>
          <a:blip r:embed="rId4"/>
          <a:stretch>
            <a:fillRect/>
          </a:stretch>
        </p:blipFill>
        <p:spPr>
          <a:xfrm>
            <a:off x="508326" y="4948871"/>
            <a:ext cx="4395349" cy="1842562"/>
          </a:xfrm>
          <a:prstGeom prst="rect">
            <a:avLst/>
          </a:prstGeom>
        </p:spPr>
      </p:pic>
      <p:sp>
        <p:nvSpPr>
          <p:cNvPr id="29" name="文本框 28">
            <a:extLst>
              <a:ext uri="{FF2B5EF4-FFF2-40B4-BE49-F238E27FC236}">
                <a16:creationId xmlns:a16="http://schemas.microsoft.com/office/drawing/2014/main" id="{40356B88-3BBC-8793-BB9C-D8F6BFB94570}"/>
              </a:ext>
            </a:extLst>
          </p:cNvPr>
          <p:cNvSpPr txBox="1"/>
          <p:nvPr/>
        </p:nvSpPr>
        <p:spPr>
          <a:xfrm>
            <a:off x="6090098" y="1432616"/>
            <a:ext cx="6106883"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marR="0" lvl="0" indent="0" eaLnBrk="0" fontAlgn="base" hangingPunct="0">
              <a:lnSpc>
                <a:spcPct val="100000"/>
              </a:lnSpc>
              <a:spcBef>
                <a:spcPct val="0"/>
              </a:spcBef>
              <a:spcAft>
                <a:spcPct val="0"/>
              </a:spcAft>
              <a:buClrTx/>
              <a:buSzTx/>
              <a:buFontTx/>
              <a:buNone/>
              <a:tabLst/>
              <a:defRPr kumimoji="0" sz="1600" b="0" i="0" u="none" strike="noStrike" cap="none" normalizeH="0" baseline="0">
                <a:ln>
                  <a:noFill/>
                </a:ln>
                <a:solidFill>
                  <a:srgbClr val="067D17"/>
                </a:solidFill>
                <a:effectLst/>
                <a:latin typeface="Arial Unicode MS"/>
                <a:ea typeface="JetBrains Mono"/>
              </a:defRPr>
            </a:lvl1pPr>
          </a:lstStyle>
          <a:p>
            <a:r>
              <a:rPr lang="en-US" altLang="zh-CN" dirty="0"/>
              <a:t>Query</a:t>
            </a:r>
            <a:r>
              <a:rPr lang="zh-CN" altLang="en-US" dirty="0"/>
              <a:t>：runCommand runs the command with it's arguments\n// Returns the exit code of the command and any error occured in the function</a:t>
            </a:r>
          </a:p>
        </p:txBody>
      </p:sp>
      <p:sp>
        <p:nvSpPr>
          <p:cNvPr id="30" name="文本框 29">
            <a:extLst>
              <a:ext uri="{FF2B5EF4-FFF2-40B4-BE49-F238E27FC236}">
                <a16:creationId xmlns:a16="http://schemas.microsoft.com/office/drawing/2014/main" id="{F1CBF37C-FFF5-11F7-11BE-22F6C55E0F86}"/>
              </a:ext>
            </a:extLst>
          </p:cNvPr>
          <p:cNvSpPr txBox="1"/>
          <p:nvPr/>
        </p:nvSpPr>
        <p:spPr>
          <a:xfrm>
            <a:off x="435553" y="4091175"/>
            <a:ext cx="6106884" cy="307777"/>
          </a:xfrm>
          <a:prstGeom prst="rect">
            <a:avLst/>
          </a:prstGeom>
          <a:noFill/>
        </p:spPr>
        <p:txBody>
          <a:bodyPr wrap="square">
            <a:spAutoFit/>
          </a:bodyPr>
          <a:lstStyle/>
          <a:p>
            <a:r>
              <a:rPr lang="en-US" altLang="zh-CN" sz="1400" b="1" dirty="0">
                <a:solidFill>
                  <a:srgbClr val="FF0000"/>
                </a:solidFill>
                <a:latin typeface="+mn-ea"/>
              </a:rPr>
              <a:t>Python</a:t>
            </a:r>
          </a:p>
        </p:txBody>
      </p:sp>
      <p:sp>
        <p:nvSpPr>
          <p:cNvPr id="31" name="文本框 30">
            <a:extLst>
              <a:ext uri="{FF2B5EF4-FFF2-40B4-BE49-F238E27FC236}">
                <a16:creationId xmlns:a16="http://schemas.microsoft.com/office/drawing/2014/main" id="{8BB99E61-60E6-C5E1-CDF1-B2C68981DF70}"/>
              </a:ext>
            </a:extLst>
          </p:cNvPr>
          <p:cNvSpPr txBox="1"/>
          <p:nvPr/>
        </p:nvSpPr>
        <p:spPr>
          <a:xfrm>
            <a:off x="6101903" y="1177285"/>
            <a:ext cx="6106884" cy="307777"/>
          </a:xfrm>
          <a:prstGeom prst="rect">
            <a:avLst/>
          </a:prstGeom>
          <a:noFill/>
        </p:spPr>
        <p:txBody>
          <a:bodyPr wrap="square">
            <a:spAutoFit/>
          </a:bodyPr>
          <a:lstStyle/>
          <a:p>
            <a:r>
              <a:rPr lang="en-US" altLang="zh-CN" sz="1400" b="1" dirty="0">
                <a:solidFill>
                  <a:srgbClr val="FF0000"/>
                </a:solidFill>
                <a:latin typeface="+mn-ea"/>
              </a:rPr>
              <a:t>Go</a:t>
            </a:r>
          </a:p>
        </p:txBody>
      </p:sp>
      <p:pic>
        <p:nvPicPr>
          <p:cNvPr id="33" name="图片 32">
            <a:extLst>
              <a:ext uri="{FF2B5EF4-FFF2-40B4-BE49-F238E27FC236}">
                <a16:creationId xmlns:a16="http://schemas.microsoft.com/office/drawing/2014/main" id="{3A34770E-CE0A-BFD5-DD7E-08F8C7836BEF}"/>
              </a:ext>
            </a:extLst>
          </p:cNvPr>
          <p:cNvPicPr>
            <a:picLocks noChangeAspect="1"/>
          </p:cNvPicPr>
          <p:nvPr/>
        </p:nvPicPr>
        <p:blipFill>
          <a:blip r:embed="rId5"/>
          <a:stretch>
            <a:fillRect/>
          </a:stretch>
        </p:blipFill>
        <p:spPr>
          <a:xfrm>
            <a:off x="6101903" y="2313958"/>
            <a:ext cx="5129733" cy="4477475"/>
          </a:xfrm>
          <a:prstGeom prst="rect">
            <a:avLst/>
          </a:prstGeom>
        </p:spPr>
      </p:pic>
    </p:spTree>
    <p:extLst>
      <p:ext uri="{BB962C8B-B14F-4D97-AF65-F5344CB8AC3E}">
        <p14:creationId xmlns:p14="http://schemas.microsoft.com/office/powerpoint/2010/main" val="2192005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sp>
        <p:nvSpPr>
          <p:cNvPr id="5" name="Rectangle 1">
            <a:extLst>
              <a:ext uri="{FF2B5EF4-FFF2-40B4-BE49-F238E27FC236}">
                <a16:creationId xmlns:a16="http://schemas.microsoft.com/office/drawing/2014/main" id="{3B6D4472-68B2-48F9-AE44-903E5C4E4C65}"/>
              </a:ext>
            </a:extLst>
          </p:cNvPr>
          <p:cNvSpPr>
            <a:spLocks noChangeArrowheads="1"/>
          </p:cNvSpPr>
          <p:nvPr/>
        </p:nvSpPr>
        <p:spPr bwMode="auto">
          <a:xfrm>
            <a:off x="608433" y="1408361"/>
            <a:ext cx="11203997"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67D17"/>
                </a:solidFill>
                <a:effectLst/>
                <a:latin typeface="Arial Unicode MS"/>
                <a:ea typeface="JetBrains Mono"/>
              </a:rPr>
              <a:t>One hot summer day Pete and his friend Billy decided to buy a watermelon. They chose the biggest and the ripest one, in their opinion. After that the watermelon was weighed, and the scales showed w kilos. They rushed home, dying of thirst, and decided to divide the berry, however they faced a hard problem.Pete and Billy are great fans of even numbers, that's why they want to divide the watermelon in such a way that each of the two parts weighs even number of kilos, at the same time it is not obligatory that the parts are equal. The boys are extremely tired and want to start their meal as soon as possible, that's why you should help them and find out, if they can divide the watermelon in the way they want. For sure, each of them should get a part of positive weight.</a:t>
            </a:r>
            <a:endParaRPr kumimoji="0" lang="zh-CN" altLang="zh-CN" sz="3600" b="0" i="0" u="none" strike="noStrike" cap="none" normalizeH="0" baseline="0" dirty="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1C8A06B5-FFF6-7E12-B589-13100202556A}"/>
              </a:ext>
            </a:extLst>
          </p:cNvPr>
          <p:cNvSpPr txBox="1"/>
          <p:nvPr/>
        </p:nvSpPr>
        <p:spPr>
          <a:xfrm>
            <a:off x="608433" y="1100584"/>
            <a:ext cx="1612253" cy="307777"/>
          </a:xfrm>
          <a:prstGeom prst="rect">
            <a:avLst/>
          </a:prstGeom>
          <a:noFill/>
        </p:spPr>
        <p:txBody>
          <a:bodyPr wrap="square">
            <a:spAutoFit/>
          </a:bodyPr>
          <a:lstStyle/>
          <a:p>
            <a:r>
              <a:rPr lang="zh-CN" altLang="en-US" sz="1400" b="1" dirty="0">
                <a:solidFill>
                  <a:srgbClr val="FF0000"/>
                </a:solidFill>
                <a:latin typeface="+mn-ea"/>
              </a:rPr>
              <a:t>问题描述</a:t>
            </a:r>
            <a:endParaRPr lang="en-US" altLang="zh-CN" sz="1400" b="1" dirty="0">
              <a:solidFill>
                <a:srgbClr val="FF0000"/>
              </a:solidFill>
              <a:latin typeface="+mn-ea"/>
            </a:endParaRPr>
          </a:p>
        </p:txBody>
      </p:sp>
      <p:sp>
        <p:nvSpPr>
          <p:cNvPr id="9" name="文本框 8">
            <a:extLst>
              <a:ext uri="{FF2B5EF4-FFF2-40B4-BE49-F238E27FC236}">
                <a16:creationId xmlns:a16="http://schemas.microsoft.com/office/drawing/2014/main" id="{3ED5094B-C4BF-8943-44D9-D9A72C972065}"/>
              </a:ext>
            </a:extLst>
          </p:cNvPr>
          <p:cNvSpPr txBox="1"/>
          <p:nvPr/>
        </p:nvSpPr>
        <p:spPr>
          <a:xfrm>
            <a:off x="608433" y="2793356"/>
            <a:ext cx="1145722" cy="307777"/>
          </a:xfrm>
          <a:prstGeom prst="rect">
            <a:avLst/>
          </a:prstGeom>
          <a:noFill/>
        </p:spPr>
        <p:txBody>
          <a:bodyPr wrap="square">
            <a:spAutoFit/>
          </a:bodyPr>
          <a:lstStyle/>
          <a:p>
            <a:r>
              <a:rPr lang="en-US" altLang="zh-CN" sz="1400" b="1" dirty="0">
                <a:solidFill>
                  <a:srgbClr val="FF0000"/>
                </a:solidFill>
                <a:latin typeface="+mn-ea"/>
              </a:rPr>
              <a:t>JavaScript</a:t>
            </a:r>
          </a:p>
        </p:txBody>
      </p:sp>
      <p:sp>
        <p:nvSpPr>
          <p:cNvPr id="12" name="文本框 11">
            <a:extLst>
              <a:ext uri="{FF2B5EF4-FFF2-40B4-BE49-F238E27FC236}">
                <a16:creationId xmlns:a16="http://schemas.microsoft.com/office/drawing/2014/main" id="{EDA069C8-FCF7-F698-40AD-F805081DC252}"/>
              </a:ext>
            </a:extLst>
          </p:cNvPr>
          <p:cNvSpPr txBox="1"/>
          <p:nvPr/>
        </p:nvSpPr>
        <p:spPr>
          <a:xfrm>
            <a:off x="608433" y="3066700"/>
            <a:ext cx="723275" cy="328551"/>
          </a:xfrm>
          <a:prstGeom prst="rect">
            <a:avLst/>
          </a:prstGeom>
          <a:noFill/>
        </p:spPr>
        <p:txBody>
          <a:bodyPr wrap="none" rtlCol="0" anchor="ctr">
            <a:spAutoFit/>
          </a:bodyPr>
          <a:lstStyle/>
          <a:p>
            <a:pPr>
              <a:lnSpc>
                <a:spcPct val="120000"/>
              </a:lnSpc>
            </a:pPr>
            <a:r>
              <a:rPr lang="zh-CN" altLang="en-US" sz="1400" dirty="0">
                <a:solidFill>
                  <a:srgbClr val="00B0F0"/>
                </a:solidFill>
              </a:rPr>
              <a:t>源代码</a:t>
            </a:r>
          </a:p>
        </p:txBody>
      </p:sp>
      <p:sp>
        <p:nvSpPr>
          <p:cNvPr id="13" name="文本框 12">
            <a:extLst>
              <a:ext uri="{FF2B5EF4-FFF2-40B4-BE49-F238E27FC236}">
                <a16:creationId xmlns:a16="http://schemas.microsoft.com/office/drawing/2014/main" id="{F7DF2F7E-0C8E-98E6-AC95-DBAA7D6E8E91}"/>
              </a:ext>
            </a:extLst>
          </p:cNvPr>
          <p:cNvSpPr txBox="1"/>
          <p:nvPr/>
        </p:nvSpPr>
        <p:spPr>
          <a:xfrm>
            <a:off x="614070" y="4931378"/>
            <a:ext cx="1620957" cy="328551"/>
          </a:xfrm>
          <a:prstGeom prst="rect">
            <a:avLst/>
          </a:prstGeom>
          <a:noFill/>
        </p:spPr>
        <p:txBody>
          <a:bodyPr wrap="none" rtlCol="0" anchor="ctr">
            <a:spAutoFit/>
          </a:bodyPr>
          <a:lstStyle/>
          <a:p>
            <a:pPr>
              <a:lnSpc>
                <a:spcPct val="120000"/>
              </a:lnSpc>
            </a:pPr>
            <a:r>
              <a:rPr lang="zh-CN" altLang="en-US" sz="1400" dirty="0">
                <a:solidFill>
                  <a:srgbClr val="00B0F0"/>
                </a:solidFill>
              </a:rPr>
              <a:t>融合模型修复结果</a:t>
            </a:r>
          </a:p>
        </p:txBody>
      </p:sp>
      <p:pic>
        <p:nvPicPr>
          <p:cNvPr id="15" name="图片 14">
            <a:extLst>
              <a:ext uri="{FF2B5EF4-FFF2-40B4-BE49-F238E27FC236}">
                <a16:creationId xmlns:a16="http://schemas.microsoft.com/office/drawing/2014/main" id="{7591BFC7-F006-9144-93AB-45E23AA5BD47}"/>
              </a:ext>
            </a:extLst>
          </p:cNvPr>
          <p:cNvPicPr>
            <a:picLocks noChangeAspect="1"/>
          </p:cNvPicPr>
          <p:nvPr/>
        </p:nvPicPr>
        <p:blipFill>
          <a:blip r:embed="rId3"/>
          <a:stretch>
            <a:fillRect/>
          </a:stretch>
        </p:blipFill>
        <p:spPr>
          <a:xfrm>
            <a:off x="608433" y="5259222"/>
            <a:ext cx="5123359" cy="1250524"/>
          </a:xfrm>
          <a:prstGeom prst="rect">
            <a:avLst/>
          </a:prstGeom>
        </p:spPr>
      </p:pic>
      <p:pic>
        <p:nvPicPr>
          <p:cNvPr id="17" name="图片 16">
            <a:extLst>
              <a:ext uri="{FF2B5EF4-FFF2-40B4-BE49-F238E27FC236}">
                <a16:creationId xmlns:a16="http://schemas.microsoft.com/office/drawing/2014/main" id="{CDF57066-9145-C3DB-8F67-003D55916181}"/>
              </a:ext>
            </a:extLst>
          </p:cNvPr>
          <p:cNvPicPr>
            <a:picLocks noChangeAspect="1"/>
          </p:cNvPicPr>
          <p:nvPr/>
        </p:nvPicPr>
        <p:blipFill>
          <a:blip r:embed="rId4"/>
          <a:stretch>
            <a:fillRect/>
          </a:stretch>
        </p:blipFill>
        <p:spPr>
          <a:xfrm>
            <a:off x="608433" y="3439053"/>
            <a:ext cx="4112857" cy="1357642"/>
          </a:xfrm>
          <a:prstGeom prst="rect">
            <a:avLst/>
          </a:prstGeom>
        </p:spPr>
      </p:pic>
      <p:sp>
        <p:nvSpPr>
          <p:cNvPr id="18" name="文本框 17">
            <a:extLst>
              <a:ext uri="{FF2B5EF4-FFF2-40B4-BE49-F238E27FC236}">
                <a16:creationId xmlns:a16="http://schemas.microsoft.com/office/drawing/2014/main" id="{957E3F20-9895-514A-05B1-29B7B040B5B1}"/>
              </a:ext>
            </a:extLst>
          </p:cNvPr>
          <p:cNvSpPr txBox="1"/>
          <p:nvPr/>
        </p:nvSpPr>
        <p:spPr>
          <a:xfrm>
            <a:off x="6195527" y="2897317"/>
            <a:ext cx="1145722" cy="307777"/>
          </a:xfrm>
          <a:prstGeom prst="rect">
            <a:avLst/>
          </a:prstGeom>
          <a:noFill/>
        </p:spPr>
        <p:txBody>
          <a:bodyPr wrap="square">
            <a:spAutoFit/>
          </a:bodyPr>
          <a:lstStyle/>
          <a:p>
            <a:r>
              <a:rPr lang="en-US" altLang="zh-CN" sz="1400" b="1" dirty="0">
                <a:solidFill>
                  <a:srgbClr val="FF0000"/>
                </a:solidFill>
                <a:latin typeface="+mn-ea"/>
              </a:rPr>
              <a:t>Go</a:t>
            </a:r>
          </a:p>
        </p:txBody>
      </p:sp>
      <p:pic>
        <p:nvPicPr>
          <p:cNvPr id="20" name="图片 19">
            <a:extLst>
              <a:ext uri="{FF2B5EF4-FFF2-40B4-BE49-F238E27FC236}">
                <a16:creationId xmlns:a16="http://schemas.microsoft.com/office/drawing/2014/main" id="{40A0764A-8B95-148A-FB24-F77806A922CE}"/>
              </a:ext>
            </a:extLst>
          </p:cNvPr>
          <p:cNvPicPr>
            <a:picLocks noChangeAspect="1"/>
          </p:cNvPicPr>
          <p:nvPr/>
        </p:nvPicPr>
        <p:blipFill>
          <a:blip r:embed="rId5"/>
          <a:stretch>
            <a:fillRect/>
          </a:stretch>
        </p:blipFill>
        <p:spPr>
          <a:xfrm>
            <a:off x="8735911" y="3537758"/>
            <a:ext cx="2317618" cy="2334535"/>
          </a:xfrm>
          <a:prstGeom prst="rect">
            <a:avLst/>
          </a:prstGeom>
        </p:spPr>
      </p:pic>
      <p:sp>
        <p:nvSpPr>
          <p:cNvPr id="21" name="文本框 20">
            <a:extLst>
              <a:ext uri="{FF2B5EF4-FFF2-40B4-BE49-F238E27FC236}">
                <a16:creationId xmlns:a16="http://schemas.microsoft.com/office/drawing/2014/main" id="{FA14A402-99FB-7A5F-C606-46F0817EB26F}"/>
              </a:ext>
            </a:extLst>
          </p:cNvPr>
          <p:cNvSpPr txBox="1"/>
          <p:nvPr/>
        </p:nvSpPr>
        <p:spPr>
          <a:xfrm>
            <a:off x="6195527" y="3199956"/>
            <a:ext cx="723275" cy="328551"/>
          </a:xfrm>
          <a:prstGeom prst="rect">
            <a:avLst/>
          </a:prstGeom>
          <a:noFill/>
        </p:spPr>
        <p:txBody>
          <a:bodyPr wrap="none" rtlCol="0" anchor="ctr">
            <a:spAutoFit/>
          </a:bodyPr>
          <a:lstStyle/>
          <a:p>
            <a:pPr>
              <a:lnSpc>
                <a:spcPct val="120000"/>
              </a:lnSpc>
            </a:pPr>
            <a:r>
              <a:rPr lang="zh-CN" altLang="en-US" sz="1400" dirty="0">
                <a:solidFill>
                  <a:srgbClr val="00B0F0"/>
                </a:solidFill>
              </a:rPr>
              <a:t>源代码</a:t>
            </a:r>
          </a:p>
        </p:txBody>
      </p:sp>
      <p:sp>
        <p:nvSpPr>
          <p:cNvPr id="22" name="文本框 21">
            <a:extLst>
              <a:ext uri="{FF2B5EF4-FFF2-40B4-BE49-F238E27FC236}">
                <a16:creationId xmlns:a16="http://schemas.microsoft.com/office/drawing/2014/main" id="{437F5149-A543-13AF-8CF3-79DE27F91D23}"/>
              </a:ext>
            </a:extLst>
          </p:cNvPr>
          <p:cNvSpPr txBox="1"/>
          <p:nvPr/>
        </p:nvSpPr>
        <p:spPr>
          <a:xfrm>
            <a:off x="8690199" y="3177308"/>
            <a:ext cx="1620957" cy="328551"/>
          </a:xfrm>
          <a:prstGeom prst="rect">
            <a:avLst/>
          </a:prstGeom>
          <a:noFill/>
        </p:spPr>
        <p:txBody>
          <a:bodyPr wrap="none" rtlCol="0" anchor="ctr">
            <a:spAutoFit/>
          </a:bodyPr>
          <a:lstStyle/>
          <a:p>
            <a:pPr>
              <a:lnSpc>
                <a:spcPct val="120000"/>
              </a:lnSpc>
            </a:pPr>
            <a:r>
              <a:rPr lang="zh-CN" altLang="en-US" sz="1400" dirty="0">
                <a:solidFill>
                  <a:srgbClr val="00B0F0"/>
                </a:solidFill>
              </a:rPr>
              <a:t>微调模型修复结果</a:t>
            </a:r>
          </a:p>
        </p:txBody>
      </p:sp>
      <p:pic>
        <p:nvPicPr>
          <p:cNvPr id="25" name="图片 24">
            <a:extLst>
              <a:ext uri="{FF2B5EF4-FFF2-40B4-BE49-F238E27FC236}">
                <a16:creationId xmlns:a16="http://schemas.microsoft.com/office/drawing/2014/main" id="{4D287281-CAB2-177D-4F86-33678D8BE5EE}"/>
              </a:ext>
            </a:extLst>
          </p:cNvPr>
          <p:cNvPicPr>
            <a:picLocks noChangeAspect="1"/>
          </p:cNvPicPr>
          <p:nvPr/>
        </p:nvPicPr>
        <p:blipFill>
          <a:blip r:embed="rId6"/>
          <a:stretch>
            <a:fillRect/>
          </a:stretch>
        </p:blipFill>
        <p:spPr>
          <a:xfrm>
            <a:off x="6249648" y="3629427"/>
            <a:ext cx="2300702" cy="2334535"/>
          </a:xfrm>
          <a:prstGeom prst="rect">
            <a:avLst/>
          </a:prstGeom>
        </p:spPr>
      </p:pic>
    </p:spTree>
    <p:extLst>
      <p:ext uri="{BB962C8B-B14F-4D97-AF65-F5344CB8AC3E}">
        <p14:creationId xmlns:p14="http://schemas.microsoft.com/office/powerpoint/2010/main" val="1911757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pic>
        <p:nvPicPr>
          <p:cNvPr id="7" name="图片 6">
            <a:extLst>
              <a:ext uri="{FF2B5EF4-FFF2-40B4-BE49-F238E27FC236}">
                <a16:creationId xmlns:a16="http://schemas.microsoft.com/office/drawing/2014/main" id="{27246E2B-8AAA-FB2F-1E34-C28EF67F82F9}"/>
              </a:ext>
            </a:extLst>
          </p:cNvPr>
          <p:cNvPicPr>
            <a:picLocks noChangeAspect="1"/>
          </p:cNvPicPr>
          <p:nvPr/>
        </p:nvPicPr>
        <p:blipFill>
          <a:blip r:embed="rId3"/>
          <a:stretch>
            <a:fillRect/>
          </a:stretch>
        </p:blipFill>
        <p:spPr>
          <a:xfrm>
            <a:off x="105328" y="1231669"/>
            <a:ext cx="5990672" cy="2982890"/>
          </a:xfrm>
          <a:prstGeom prst="rect">
            <a:avLst/>
          </a:prstGeom>
        </p:spPr>
      </p:pic>
      <p:pic>
        <p:nvPicPr>
          <p:cNvPr id="11" name="图片 10">
            <a:extLst>
              <a:ext uri="{FF2B5EF4-FFF2-40B4-BE49-F238E27FC236}">
                <a16:creationId xmlns:a16="http://schemas.microsoft.com/office/drawing/2014/main" id="{51483C6A-5E37-629E-DFA6-0BF416F06717}"/>
              </a:ext>
            </a:extLst>
          </p:cNvPr>
          <p:cNvPicPr>
            <a:picLocks noChangeAspect="1"/>
          </p:cNvPicPr>
          <p:nvPr/>
        </p:nvPicPr>
        <p:blipFill>
          <a:blip r:embed="rId4"/>
          <a:stretch>
            <a:fillRect/>
          </a:stretch>
        </p:blipFill>
        <p:spPr>
          <a:xfrm>
            <a:off x="6095999" y="1231669"/>
            <a:ext cx="5985473" cy="2984400"/>
          </a:xfrm>
          <a:prstGeom prst="rect">
            <a:avLst/>
          </a:prstGeom>
        </p:spPr>
      </p:pic>
      <p:sp>
        <p:nvSpPr>
          <p:cNvPr id="12" name="文本框 11">
            <a:extLst>
              <a:ext uri="{FF2B5EF4-FFF2-40B4-BE49-F238E27FC236}">
                <a16:creationId xmlns:a16="http://schemas.microsoft.com/office/drawing/2014/main" id="{EE7F0312-408B-8D90-76F0-5A92451321BE}"/>
              </a:ext>
            </a:extLst>
          </p:cNvPr>
          <p:cNvSpPr txBox="1"/>
          <p:nvPr/>
        </p:nvSpPr>
        <p:spPr>
          <a:xfrm>
            <a:off x="313088" y="4887771"/>
            <a:ext cx="11878911" cy="1214820"/>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样本较少数据集的微调后的参数大小往往较小</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当参数之间的差距过大时，参数较小的模型融合性能可能显著下降，如代码修复的</a:t>
            </a:r>
            <a:r>
              <a:rPr lang="en-US" altLang="zh-CN" dirty="0" err="1">
                <a:solidFill>
                  <a:schemeClr val="tx1">
                    <a:lumMod val="75000"/>
                    <a:lumOff val="25000"/>
                  </a:schemeClr>
                </a:solidFill>
              </a:rPr>
              <a:t>php</a:t>
            </a:r>
            <a:r>
              <a:rPr lang="zh-CN" altLang="en-US" dirty="0">
                <a:solidFill>
                  <a:schemeClr val="tx1">
                    <a:lumMod val="75000"/>
                    <a:lumOff val="25000"/>
                  </a:schemeClr>
                </a:solidFill>
              </a:rPr>
              <a:t>语言</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但是如果语言之间具有相似性的话，样本较少的数据集的性能有可能会上升，如两个任务中的</a:t>
            </a:r>
            <a:r>
              <a:rPr lang="en-US" altLang="zh-CN" dirty="0">
                <a:solidFill>
                  <a:schemeClr val="tx1">
                    <a:lumMod val="75000"/>
                    <a:lumOff val="25000"/>
                  </a:schemeClr>
                </a:solidFill>
              </a:rPr>
              <a:t>JavaScript</a:t>
            </a:r>
            <a:r>
              <a:rPr lang="zh-CN" altLang="en-US" dirty="0">
                <a:solidFill>
                  <a:schemeClr val="tx1">
                    <a:lumMod val="75000"/>
                    <a:lumOff val="25000"/>
                  </a:schemeClr>
                </a:solidFill>
              </a:rPr>
              <a:t>语言</a:t>
            </a:r>
            <a:endParaRPr lang="en-US" altLang="zh-CN" dirty="0">
              <a:solidFill>
                <a:schemeClr val="tx1">
                  <a:lumMod val="75000"/>
                  <a:lumOff val="25000"/>
                </a:schemeClr>
              </a:solidFill>
            </a:endParaRPr>
          </a:p>
        </p:txBody>
      </p:sp>
      <p:sp>
        <p:nvSpPr>
          <p:cNvPr id="13" name="文本框 12">
            <a:extLst>
              <a:ext uri="{FF2B5EF4-FFF2-40B4-BE49-F238E27FC236}">
                <a16:creationId xmlns:a16="http://schemas.microsoft.com/office/drawing/2014/main" id="{A9B6DB6B-23D9-26FC-9C1C-BB2BF3640C24}"/>
              </a:ext>
            </a:extLst>
          </p:cNvPr>
          <p:cNvSpPr txBox="1"/>
          <p:nvPr/>
        </p:nvSpPr>
        <p:spPr>
          <a:xfrm>
            <a:off x="2649258" y="4214558"/>
            <a:ext cx="902811" cy="328551"/>
          </a:xfrm>
          <a:prstGeom prst="rect">
            <a:avLst/>
          </a:prstGeom>
          <a:noFill/>
        </p:spPr>
        <p:txBody>
          <a:bodyPr wrap="none" rtlCol="0" anchor="ctr">
            <a:spAutoFit/>
          </a:bodyPr>
          <a:lstStyle/>
          <a:p>
            <a:pPr>
              <a:lnSpc>
                <a:spcPct val="120000"/>
              </a:lnSpc>
            </a:pPr>
            <a:r>
              <a:rPr lang="zh-CN" altLang="en-US" sz="1400" dirty="0">
                <a:solidFill>
                  <a:schemeClr val="tx1">
                    <a:lumMod val="75000"/>
                    <a:lumOff val="25000"/>
                  </a:schemeClr>
                </a:solidFill>
              </a:rPr>
              <a:t>代码搜索</a:t>
            </a:r>
          </a:p>
        </p:txBody>
      </p:sp>
      <p:sp>
        <p:nvSpPr>
          <p:cNvPr id="14" name="文本框 13">
            <a:extLst>
              <a:ext uri="{FF2B5EF4-FFF2-40B4-BE49-F238E27FC236}">
                <a16:creationId xmlns:a16="http://schemas.microsoft.com/office/drawing/2014/main" id="{05920EE5-FD8A-E0EE-B36C-58E60619919C}"/>
              </a:ext>
            </a:extLst>
          </p:cNvPr>
          <p:cNvSpPr txBox="1"/>
          <p:nvPr/>
        </p:nvSpPr>
        <p:spPr>
          <a:xfrm>
            <a:off x="8830983" y="4214559"/>
            <a:ext cx="902811" cy="328551"/>
          </a:xfrm>
          <a:prstGeom prst="rect">
            <a:avLst/>
          </a:prstGeom>
          <a:noFill/>
        </p:spPr>
        <p:txBody>
          <a:bodyPr wrap="none" rtlCol="0" anchor="ctr">
            <a:spAutoFit/>
          </a:bodyPr>
          <a:lstStyle/>
          <a:p>
            <a:pPr>
              <a:lnSpc>
                <a:spcPct val="120000"/>
              </a:lnSpc>
            </a:pPr>
            <a:r>
              <a:rPr lang="zh-CN" altLang="en-US" sz="1400" dirty="0">
                <a:solidFill>
                  <a:schemeClr val="tx1">
                    <a:lumMod val="75000"/>
                    <a:lumOff val="25000"/>
                  </a:schemeClr>
                </a:solidFill>
              </a:rPr>
              <a:t>代码修复</a:t>
            </a:r>
          </a:p>
        </p:txBody>
      </p:sp>
    </p:spTree>
    <p:extLst>
      <p:ext uri="{BB962C8B-B14F-4D97-AF65-F5344CB8AC3E}">
        <p14:creationId xmlns:p14="http://schemas.microsoft.com/office/powerpoint/2010/main" val="2064509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F6C25D18-6EB2-5BCD-B6ED-C3FAF78DDE9A}"/>
              </a:ext>
            </a:extLst>
          </p:cNvPr>
          <p:cNvPicPr>
            <a:picLocks noChangeAspect="1"/>
          </p:cNvPicPr>
          <p:nvPr/>
        </p:nvPicPr>
        <p:blipFill>
          <a:blip r:embed="rId3"/>
          <a:stretch>
            <a:fillRect/>
          </a:stretch>
        </p:blipFill>
        <p:spPr>
          <a:xfrm>
            <a:off x="23823" y="1511559"/>
            <a:ext cx="7494793" cy="4474221"/>
          </a:xfrm>
          <a:prstGeom prst="rect">
            <a:avLst/>
          </a:prstGeom>
        </p:spPr>
      </p:pic>
      <p:sp>
        <p:nvSpPr>
          <p:cNvPr id="7" name="文本框 6">
            <a:extLst>
              <a:ext uri="{FF2B5EF4-FFF2-40B4-BE49-F238E27FC236}">
                <a16:creationId xmlns:a16="http://schemas.microsoft.com/office/drawing/2014/main" id="{54851707-6B00-646A-043A-B9DFBA46C62F}"/>
              </a:ext>
            </a:extLst>
          </p:cNvPr>
          <p:cNvSpPr txBox="1"/>
          <p:nvPr/>
        </p:nvSpPr>
        <p:spPr>
          <a:xfrm>
            <a:off x="7518616" y="2459138"/>
            <a:ext cx="4609997" cy="2133148"/>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在基于</a:t>
            </a:r>
            <a:r>
              <a:rPr lang="en-US" altLang="zh-CN" dirty="0">
                <a:solidFill>
                  <a:schemeClr val="tx1">
                    <a:lumMod val="75000"/>
                    <a:lumOff val="25000"/>
                  </a:schemeClr>
                </a:solidFill>
              </a:rPr>
              <a:t>mask</a:t>
            </a:r>
            <a:r>
              <a:rPr lang="zh-CN" altLang="en-US" dirty="0">
                <a:solidFill>
                  <a:schemeClr val="tx1">
                    <a:lumMod val="75000"/>
                    <a:lumOff val="25000"/>
                  </a:schemeClr>
                </a:solidFill>
              </a:rPr>
              <a:t>的方法中，其在多数语言上保持了基本</a:t>
            </a:r>
            <a:r>
              <a:rPr lang="en-US" altLang="zh-CN" dirty="0">
                <a:solidFill>
                  <a:schemeClr val="tx1">
                    <a:lumMod val="75000"/>
                    <a:lumOff val="25000"/>
                  </a:schemeClr>
                </a:solidFill>
              </a:rPr>
              <a:t>100%</a:t>
            </a:r>
            <a:r>
              <a:rPr lang="zh-CN" altLang="en-US" dirty="0">
                <a:solidFill>
                  <a:schemeClr val="tx1">
                    <a:lumMod val="75000"/>
                    <a:lumOff val="25000"/>
                  </a:schemeClr>
                </a:solidFill>
              </a:rPr>
              <a:t>的性能，但是在代码修复的</a:t>
            </a:r>
            <a:r>
              <a:rPr lang="en-US" altLang="zh-CN" dirty="0" err="1">
                <a:solidFill>
                  <a:schemeClr val="tx1">
                    <a:lumMod val="75000"/>
                    <a:lumOff val="25000"/>
                  </a:schemeClr>
                </a:solidFill>
              </a:rPr>
              <a:t>php</a:t>
            </a:r>
            <a:r>
              <a:rPr lang="zh-CN" altLang="en-US" dirty="0">
                <a:solidFill>
                  <a:schemeClr val="tx1">
                    <a:lumMod val="75000"/>
                    <a:lumOff val="25000"/>
                  </a:schemeClr>
                </a:solidFill>
              </a:rPr>
              <a:t>语言上，其性能有明显的下降</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由右图可看出，微调参数值较小的语言，其</a:t>
            </a:r>
            <a:r>
              <a:rPr lang="en-US" altLang="zh-CN" dirty="0">
                <a:solidFill>
                  <a:schemeClr val="tx1">
                    <a:lumMod val="75000"/>
                    <a:lumOff val="25000"/>
                  </a:schemeClr>
                </a:solidFill>
              </a:rPr>
              <a:t>mask</a:t>
            </a:r>
            <a:r>
              <a:rPr lang="zh-CN" altLang="en-US" dirty="0">
                <a:solidFill>
                  <a:schemeClr val="tx1">
                    <a:lumMod val="75000"/>
                    <a:lumOff val="25000"/>
                  </a:schemeClr>
                </a:solidFill>
              </a:rPr>
              <a:t>保留参数的个数往往较少，这就可能造成性能的下降。</a:t>
            </a:r>
            <a:endParaRPr lang="en-US" altLang="zh-CN" dirty="0">
              <a:solidFill>
                <a:schemeClr val="tx1">
                  <a:lumMod val="75000"/>
                  <a:lumOff val="25000"/>
                </a:schemeClr>
              </a:solidFill>
            </a:endParaRPr>
          </a:p>
        </p:txBody>
      </p:sp>
      <p:sp>
        <p:nvSpPr>
          <p:cNvPr id="8" name="文本框 7">
            <a:extLst>
              <a:ext uri="{FF2B5EF4-FFF2-40B4-BE49-F238E27FC236}">
                <a16:creationId xmlns:a16="http://schemas.microsoft.com/office/drawing/2014/main" id="{F37B21B3-9D97-1B70-5194-6041F51CE94E}"/>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RQ1. </a:t>
            </a:r>
            <a:r>
              <a:rPr lang="zh-CN" altLang="en-US" b="1" dirty="0">
                <a:solidFill>
                  <a:srgbClr val="268F9C"/>
                </a:solidFill>
                <a:latin typeface="+mn-ea"/>
              </a:rPr>
              <a:t>模型融合对于多语言学习的性能</a:t>
            </a:r>
          </a:p>
        </p:txBody>
      </p:sp>
    </p:spTree>
    <p:extLst>
      <p:ext uri="{BB962C8B-B14F-4D97-AF65-F5344CB8AC3E}">
        <p14:creationId xmlns:p14="http://schemas.microsoft.com/office/powerpoint/2010/main" val="3712539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graphicFrame>
        <p:nvGraphicFramePr>
          <p:cNvPr id="4" name="表格 3">
            <a:extLst>
              <a:ext uri="{FF2B5EF4-FFF2-40B4-BE49-F238E27FC236}">
                <a16:creationId xmlns:a16="http://schemas.microsoft.com/office/drawing/2014/main" id="{DF5637DD-FF9C-9E81-AAE0-28A504B03BF3}"/>
              </a:ext>
            </a:extLst>
          </p:cNvPr>
          <p:cNvGraphicFramePr>
            <a:graphicFrameLocks noGrp="1"/>
          </p:cNvGraphicFramePr>
          <p:nvPr>
            <p:extLst>
              <p:ext uri="{D42A27DB-BD31-4B8C-83A1-F6EECF244321}">
                <p14:modId xmlns:p14="http://schemas.microsoft.com/office/powerpoint/2010/main" val="1054880543"/>
              </p:ext>
            </p:extLst>
          </p:nvPr>
        </p:nvGraphicFramePr>
        <p:xfrm>
          <a:off x="130319" y="1231670"/>
          <a:ext cx="6542862" cy="2255522"/>
        </p:xfrm>
        <a:graphic>
          <a:graphicData uri="http://schemas.openxmlformats.org/drawingml/2006/table">
            <a:tbl>
              <a:tblPr/>
              <a:tblGrid>
                <a:gridCol w="689299">
                  <a:extLst>
                    <a:ext uri="{9D8B030D-6E8A-4147-A177-3AD203B41FA5}">
                      <a16:colId xmlns:a16="http://schemas.microsoft.com/office/drawing/2014/main" val="4039412436"/>
                    </a:ext>
                  </a:extLst>
                </a:gridCol>
                <a:gridCol w="683254">
                  <a:extLst>
                    <a:ext uri="{9D8B030D-6E8A-4147-A177-3AD203B41FA5}">
                      <a16:colId xmlns:a16="http://schemas.microsoft.com/office/drawing/2014/main" val="1489590038"/>
                    </a:ext>
                  </a:extLst>
                </a:gridCol>
                <a:gridCol w="531197">
                  <a:extLst>
                    <a:ext uri="{9D8B030D-6E8A-4147-A177-3AD203B41FA5}">
                      <a16:colId xmlns:a16="http://schemas.microsoft.com/office/drawing/2014/main" val="5522609"/>
                    </a:ext>
                  </a:extLst>
                </a:gridCol>
                <a:gridCol w="517356">
                  <a:extLst>
                    <a:ext uri="{9D8B030D-6E8A-4147-A177-3AD203B41FA5}">
                      <a16:colId xmlns:a16="http://schemas.microsoft.com/office/drawing/2014/main" val="2728760167"/>
                    </a:ext>
                  </a:extLst>
                </a:gridCol>
                <a:gridCol w="598678">
                  <a:extLst>
                    <a:ext uri="{9D8B030D-6E8A-4147-A177-3AD203B41FA5}">
                      <a16:colId xmlns:a16="http://schemas.microsoft.com/office/drawing/2014/main" val="1155274405"/>
                    </a:ext>
                  </a:extLst>
                </a:gridCol>
                <a:gridCol w="552532">
                  <a:extLst>
                    <a:ext uri="{9D8B030D-6E8A-4147-A177-3AD203B41FA5}">
                      <a16:colId xmlns:a16="http://schemas.microsoft.com/office/drawing/2014/main" val="1778353980"/>
                    </a:ext>
                  </a:extLst>
                </a:gridCol>
                <a:gridCol w="552532">
                  <a:extLst>
                    <a:ext uri="{9D8B030D-6E8A-4147-A177-3AD203B41FA5}">
                      <a16:colId xmlns:a16="http://schemas.microsoft.com/office/drawing/2014/main" val="1218044737"/>
                    </a:ext>
                  </a:extLst>
                </a:gridCol>
                <a:gridCol w="656475">
                  <a:extLst>
                    <a:ext uri="{9D8B030D-6E8A-4147-A177-3AD203B41FA5}">
                      <a16:colId xmlns:a16="http://schemas.microsoft.com/office/drawing/2014/main" val="3279975657"/>
                    </a:ext>
                  </a:extLst>
                </a:gridCol>
                <a:gridCol w="656475">
                  <a:extLst>
                    <a:ext uri="{9D8B030D-6E8A-4147-A177-3AD203B41FA5}">
                      <a16:colId xmlns:a16="http://schemas.microsoft.com/office/drawing/2014/main" val="3804649510"/>
                    </a:ext>
                  </a:extLst>
                </a:gridCol>
                <a:gridCol w="552532">
                  <a:extLst>
                    <a:ext uri="{9D8B030D-6E8A-4147-A177-3AD203B41FA5}">
                      <a16:colId xmlns:a16="http://schemas.microsoft.com/office/drawing/2014/main" val="3082099413"/>
                    </a:ext>
                  </a:extLst>
                </a:gridCol>
                <a:gridCol w="552532">
                  <a:extLst>
                    <a:ext uri="{9D8B030D-6E8A-4147-A177-3AD203B41FA5}">
                      <a16:colId xmlns:a16="http://schemas.microsoft.com/office/drawing/2014/main" val="3595376005"/>
                    </a:ext>
                  </a:extLst>
                </a:gridCol>
              </a:tblGrid>
              <a:tr h="261510">
                <a:tc>
                  <a:txBody>
                    <a:bodyPr/>
                    <a:lstStyle/>
                    <a:p>
                      <a:pPr fontAlgn="ctr" latinLnBrk="0"/>
                      <a:endParaRPr lang="zh-CN" altLang="en-US" sz="1000" i="1">
                        <a:solidFill>
                          <a:srgbClr val="C77DBB"/>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CS</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latinLnBrk="0"/>
                      <a:r>
                        <a:rPr lang="en-US" sz="1000" dirty="0">
                          <a:solidFill>
                            <a:srgbClr val="000000"/>
                          </a:solidFill>
                          <a:effectLst/>
                        </a:rPr>
                        <a:t>CVD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latinLnBrk="0"/>
                      <a:r>
                        <a:rPr lang="en-US" sz="1000">
                          <a:solidFill>
                            <a:srgbClr val="000000"/>
                          </a:solidFill>
                          <a:effectLst/>
                        </a:rPr>
                        <a:t>CCD</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17519397"/>
                  </a:ext>
                </a:extLst>
              </a:tr>
              <a:tr h="424952">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MRR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t>Acc</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F1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Acc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0367580"/>
                  </a:ext>
                </a:extLst>
              </a:tr>
              <a:tr h="261510">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92.44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50.21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95.22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120676"/>
                  </a:ext>
                </a:extLst>
              </a:tr>
              <a:tr h="261510">
                <a:tc rowSpan="2">
                  <a:txBody>
                    <a:bodyPr/>
                    <a:lstStyle/>
                    <a:p>
                      <a:pPr algn="ctr" fontAlgn="ctr" latinLnBrk="0"/>
                      <a:r>
                        <a:rPr lang="en-US" sz="1000">
                          <a:solidFill>
                            <a:srgbClr val="000000"/>
                          </a:solidFill>
                          <a:effectLst/>
                        </a:rPr>
                        <a:t>TA</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68.87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4.14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16.18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46.45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98.43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96.88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91.52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94.12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4516997"/>
                  </a:ext>
                </a:extLst>
              </a:tr>
              <a:tr h="261510">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68.34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90.84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35.53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26.11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30.11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97.79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92.57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95.11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4612334"/>
                  </a:ext>
                </a:extLst>
              </a:tr>
              <a:tr h="261510">
                <a:tc rowSpan="2">
                  <a:txBody>
                    <a:bodyPr/>
                    <a:lstStyle/>
                    <a:p>
                      <a:pPr algn="ctr" fontAlgn="ctr" latinLnBrk="0"/>
                      <a:r>
                        <a:rPr lang="en-US" sz="1000">
                          <a:solidFill>
                            <a:srgbClr val="000000"/>
                          </a:solidFill>
                          <a:effectLst/>
                        </a:rPr>
                        <a:t>ties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69.71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98.62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94.73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94.95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3312319"/>
                  </a:ext>
                </a:extLst>
              </a:tr>
              <a:tr h="261510">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64.06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90.75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19.61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97.41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89.01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93.02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3906569"/>
                  </a:ext>
                </a:extLst>
              </a:tr>
              <a:tr h="261510">
                <a:tc>
                  <a:txBody>
                    <a:bodyPr/>
                    <a:lstStyle/>
                    <a:p>
                      <a:pPr algn="ctr" fontAlgn="ctr" latinLnBrk="0"/>
                      <a:r>
                        <a:rPr lang="en-US" sz="1000" dirty="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74.75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92.55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51.06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22.39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31.12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96.47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94.01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95.23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1090434"/>
                  </a:ext>
                </a:extLst>
              </a:tr>
            </a:tbl>
          </a:graphicData>
        </a:graphic>
      </p:graphicFrame>
      <p:graphicFrame>
        <p:nvGraphicFramePr>
          <p:cNvPr id="5" name="表格 4">
            <a:extLst>
              <a:ext uri="{FF2B5EF4-FFF2-40B4-BE49-F238E27FC236}">
                <a16:creationId xmlns:a16="http://schemas.microsoft.com/office/drawing/2014/main" id="{732EE686-D436-D018-EEEB-8B6860EF6C77}"/>
              </a:ext>
            </a:extLst>
          </p:cNvPr>
          <p:cNvGraphicFramePr>
            <a:graphicFrameLocks noGrp="1"/>
          </p:cNvGraphicFramePr>
          <p:nvPr>
            <p:extLst>
              <p:ext uri="{D42A27DB-BD31-4B8C-83A1-F6EECF244321}">
                <p14:modId xmlns:p14="http://schemas.microsoft.com/office/powerpoint/2010/main" val="490587629"/>
              </p:ext>
            </p:extLst>
          </p:nvPr>
        </p:nvGraphicFramePr>
        <p:xfrm>
          <a:off x="6789698" y="1231669"/>
          <a:ext cx="5282628" cy="2255520"/>
        </p:xfrm>
        <a:graphic>
          <a:graphicData uri="http://schemas.openxmlformats.org/drawingml/2006/table">
            <a:tbl>
              <a:tblPr/>
              <a:tblGrid>
                <a:gridCol w="895360">
                  <a:extLst>
                    <a:ext uri="{9D8B030D-6E8A-4147-A177-3AD203B41FA5}">
                      <a16:colId xmlns:a16="http://schemas.microsoft.com/office/drawing/2014/main" val="1483925395"/>
                    </a:ext>
                  </a:extLst>
                </a:gridCol>
                <a:gridCol w="919779">
                  <a:extLst>
                    <a:ext uri="{9D8B030D-6E8A-4147-A177-3AD203B41FA5}">
                      <a16:colId xmlns:a16="http://schemas.microsoft.com/office/drawing/2014/main" val="4255290912"/>
                    </a:ext>
                  </a:extLst>
                </a:gridCol>
                <a:gridCol w="1323813">
                  <a:extLst>
                    <a:ext uri="{9D8B030D-6E8A-4147-A177-3AD203B41FA5}">
                      <a16:colId xmlns:a16="http://schemas.microsoft.com/office/drawing/2014/main" val="1819958248"/>
                    </a:ext>
                  </a:extLst>
                </a:gridCol>
                <a:gridCol w="1071838">
                  <a:extLst>
                    <a:ext uri="{9D8B030D-6E8A-4147-A177-3AD203B41FA5}">
                      <a16:colId xmlns:a16="http://schemas.microsoft.com/office/drawing/2014/main" val="2208035511"/>
                    </a:ext>
                  </a:extLst>
                </a:gridCol>
                <a:gridCol w="1071838">
                  <a:extLst>
                    <a:ext uri="{9D8B030D-6E8A-4147-A177-3AD203B41FA5}">
                      <a16:colId xmlns:a16="http://schemas.microsoft.com/office/drawing/2014/main" val="4250371885"/>
                    </a:ext>
                  </a:extLst>
                </a:gridCol>
              </a:tblGrid>
              <a:tr h="320957">
                <a:tc>
                  <a:txBody>
                    <a:bodyPr/>
                    <a:lstStyle/>
                    <a:p>
                      <a:pPr algn="ctr" fontAlgn="ctr" latinLnBrk="0"/>
                      <a:endParaRPr lang="zh-CN" alt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Code Summary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Repair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Code Generation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7314802"/>
                  </a:ext>
                </a:extLst>
              </a:tr>
              <a:tr h="320957">
                <a:tc>
                  <a:txBody>
                    <a:bodyPr/>
                    <a:lstStyle/>
                    <a:p>
                      <a:pPr algn="ctr" fontAlgn="ctr" latinLnBrk="0"/>
                      <a:endParaRPr lang="zh-CN" alt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BLEU-4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1062655"/>
                  </a:ext>
                </a:extLst>
              </a:tr>
              <a:tr h="197512">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8.13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2457147"/>
                  </a:ext>
                </a:extLst>
              </a:tr>
              <a:tr h="197512">
                <a:tc rowSpan="2">
                  <a:txBody>
                    <a:bodyPr/>
                    <a:lstStyle/>
                    <a:p>
                      <a:pPr algn="ctr" fontAlgn="ctr" latinLnBrk="0"/>
                      <a:r>
                        <a:rPr lang="en-US" sz="1000">
                          <a:solidFill>
                            <a:srgbClr val="000000"/>
                          </a:solidFill>
                          <a:effectLst/>
                        </a:rPr>
                        <a:t>task arithmetic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8.76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17.55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5912890"/>
                  </a:ext>
                </a:extLst>
              </a:tr>
              <a:tr h="197512">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8.86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18.89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53.6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4491914"/>
                  </a:ext>
                </a:extLst>
              </a:tr>
              <a:tr h="197512">
                <a:tc rowSpan="2">
                  <a:txBody>
                    <a:bodyPr/>
                    <a:lstStyle/>
                    <a:p>
                      <a:pPr algn="ctr" fontAlgn="ctr" latinLnBrk="0"/>
                      <a:r>
                        <a:rPr lang="en-US" sz="1000">
                          <a:solidFill>
                            <a:srgbClr val="000000"/>
                          </a:solidFill>
                          <a:effectLst/>
                        </a:rPr>
                        <a:t>ties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10.54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57.7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5981454"/>
                  </a:ext>
                </a:extLst>
              </a:tr>
              <a:tr h="197512">
                <a:tc vMerge="1">
                  <a:txBody>
                    <a:bodyPr/>
                    <a:lstStyle/>
                    <a:p>
                      <a:endParaRPr lang="zh-CN" altLang="en-US"/>
                    </a:p>
                  </a:txBody>
                  <a:tcPr/>
                </a:tc>
                <a:tc>
                  <a:txBody>
                    <a:bodyPr/>
                    <a:lstStyle/>
                    <a:p>
                      <a:pPr algn="ctr" fontAlgn="ctr" latinLnBrk="0"/>
                      <a:r>
                        <a:rPr lang="en-US" sz="1000">
                          <a:solidFill>
                            <a:srgbClr val="000000"/>
                          </a:solidFill>
                          <a:effectLst/>
                        </a:rPr>
                        <a:t>yes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9.05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17.09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55.8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4828032"/>
                  </a:ext>
                </a:extLst>
              </a:tr>
              <a:tr h="197512">
                <a:tc>
                  <a:txBody>
                    <a:bodyPr/>
                    <a:lstStyle/>
                    <a:p>
                      <a:pPr algn="ctr" fontAlgn="ctr" latinLnBrk="0"/>
                      <a:r>
                        <a:rPr lang="en-US" sz="1000" dirty="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23.59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66.8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3172180"/>
                  </a:ext>
                </a:extLst>
              </a:tr>
            </a:tbl>
          </a:graphicData>
        </a:graphic>
      </p:graphicFrame>
      <p:sp>
        <p:nvSpPr>
          <p:cNvPr id="9" name="文本框 8">
            <a:extLst>
              <a:ext uri="{FF2B5EF4-FFF2-40B4-BE49-F238E27FC236}">
                <a16:creationId xmlns:a16="http://schemas.microsoft.com/office/drawing/2014/main" id="{585F24CA-60E0-25CA-2DE0-CAA276D6B976}"/>
              </a:ext>
            </a:extLst>
          </p:cNvPr>
          <p:cNvSpPr txBox="1"/>
          <p:nvPr/>
        </p:nvSpPr>
        <p:spPr>
          <a:xfrm>
            <a:off x="130319" y="3714849"/>
            <a:ext cx="11878911" cy="2364237"/>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对于代码理解任务融合，对于</a:t>
            </a:r>
            <a:r>
              <a:rPr lang="en-US" altLang="zh-CN" sz="1600" dirty="0">
                <a:solidFill>
                  <a:schemeClr val="tx1">
                    <a:lumMod val="75000"/>
                    <a:lumOff val="25000"/>
                  </a:schemeClr>
                </a:solidFill>
              </a:rPr>
              <a:t>TA</a:t>
            </a:r>
            <a:r>
              <a:rPr lang="zh-CN" altLang="en-US" sz="1600" dirty="0">
                <a:solidFill>
                  <a:schemeClr val="tx1">
                    <a:lumMod val="75000"/>
                    <a:lumOff val="25000"/>
                  </a:schemeClr>
                </a:solidFill>
              </a:rPr>
              <a:t>以及</a:t>
            </a:r>
            <a:r>
              <a:rPr lang="en-US" altLang="zh-CN" sz="1600" dirty="0">
                <a:solidFill>
                  <a:schemeClr val="tx1">
                    <a:lumMod val="75000"/>
                    <a:lumOff val="25000"/>
                  </a:schemeClr>
                </a:solidFill>
              </a:rPr>
              <a:t>Ties</a:t>
            </a:r>
            <a:r>
              <a:rPr lang="zh-CN" altLang="en-US" sz="1600" dirty="0">
                <a:solidFill>
                  <a:schemeClr val="tx1">
                    <a:lumMod val="75000"/>
                    <a:lumOff val="25000"/>
                  </a:schemeClr>
                </a:solidFill>
              </a:rPr>
              <a:t>，漏洞检测的性能大幅度下降，代码搜索的性能也有较大的下降，克隆检测能够保持较好的性能</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对于代码生成式任务融合，对于</a:t>
            </a:r>
            <a:r>
              <a:rPr lang="en-US" altLang="zh-CN" sz="1600" dirty="0">
                <a:solidFill>
                  <a:schemeClr val="tx1">
                    <a:lumMod val="75000"/>
                    <a:lumOff val="25000"/>
                  </a:schemeClr>
                </a:solidFill>
              </a:rPr>
              <a:t>TA</a:t>
            </a:r>
            <a:r>
              <a:rPr lang="zh-CN" altLang="en-US" sz="1600" dirty="0">
                <a:solidFill>
                  <a:schemeClr val="tx1">
                    <a:lumMod val="75000"/>
                    <a:lumOff val="25000"/>
                  </a:schemeClr>
                </a:solidFill>
              </a:rPr>
              <a:t>以及</a:t>
            </a:r>
            <a:r>
              <a:rPr lang="en-US" altLang="zh-CN" sz="1600" dirty="0">
                <a:solidFill>
                  <a:schemeClr val="tx1">
                    <a:lumMod val="75000"/>
                    <a:lumOff val="25000"/>
                  </a:schemeClr>
                </a:solidFill>
              </a:rPr>
              <a:t>Ties</a:t>
            </a:r>
            <a:r>
              <a:rPr lang="zh-CN" altLang="en-US" sz="1600" dirty="0">
                <a:solidFill>
                  <a:schemeClr val="tx1">
                    <a:lumMod val="75000"/>
                    <a:lumOff val="25000"/>
                  </a:schemeClr>
                </a:solidFill>
              </a:rPr>
              <a:t>，代码修复的性能大幅度下降、代码生成任务也有较大的下降，摘要生成能够保持较好甚至更优的性能</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可学习融合系数方法，在漏洞检测任务以及代码修复上，其虽然能够恢复性能，但是相较于原始微调模型还是有较大差距。对于一些任务，如代码搜索、代码生成任务，其反而有下降的趋势，这可能与负迁移有关</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sz="1600" dirty="0">
                <a:solidFill>
                  <a:schemeClr val="tx1">
                    <a:lumMod val="75000"/>
                    <a:lumOff val="25000"/>
                  </a:schemeClr>
                </a:solidFill>
              </a:rPr>
              <a:t>对于基于</a:t>
            </a:r>
            <a:r>
              <a:rPr lang="en-US" altLang="zh-CN" sz="1600" dirty="0">
                <a:solidFill>
                  <a:schemeClr val="tx1">
                    <a:lumMod val="75000"/>
                    <a:lumOff val="25000"/>
                  </a:schemeClr>
                </a:solidFill>
              </a:rPr>
              <a:t>mask</a:t>
            </a:r>
            <a:r>
              <a:rPr lang="zh-CN" altLang="en-US" sz="1600" dirty="0">
                <a:solidFill>
                  <a:schemeClr val="tx1">
                    <a:lumMod val="75000"/>
                    <a:lumOff val="25000"/>
                  </a:schemeClr>
                </a:solidFill>
              </a:rPr>
              <a:t>的方法，其几乎能够保持与微调模型一致的性能。</a:t>
            </a:r>
            <a:endParaRPr lang="en-US" altLang="zh-CN" sz="1600" dirty="0">
              <a:solidFill>
                <a:schemeClr val="tx1">
                  <a:lumMod val="75000"/>
                  <a:lumOff val="25000"/>
                </a:schemeClr>
              </a:solidFill>
            </a:endParaRPr>
          </a:p>
        </p:txBody>
      </p:sp>
    </p:spTree>
    <p:extLst>
      <p:ext uri="{BB962C8B-B14F-4D97-AF65-F5344CB8AC3E}">
        <p14:creationId xmlns:p14="http://schemas.microsoft.com/office/powerpoint/2010/main" val="924528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pic>
        <p:nvPicPr>
          <p:cNvPr id="7" name="图片 6">
            <a:extLst>
              <a:ext uri="{FF2B5EF4-FFF2-40B4-BE49-F238E27FC236}">
                <a16:creationId xmlns:a16="http://schemas.microsoft.com/office/drawing/2014/main" id="{1EBA8194-DC87-D185-D05E-08B93F945356}"/>
              </a:ext>
            </a:extLst>
          </p:cNvPr>
          <p:cNvPicPr>
            <a:picLocks noChangeAspect="1"/>
          </p:cNvPicPr>
          <p:nvPr/>
        </p:nvPicPr>
        <p:blipFill>
          <a:blip r:embed="rId3"/>
          <a:stretch>
            <a:fillRect/>
          </a:stretch>
        </p:blipFill>
        <p:spPr>
          <a:xfrm>
            <a:off x="1921233" y="1254473"/>
            <a:ext cx="7484024" cy="3710698"/>
          </a:xfrm>
          <a:prstGeom prst="rect">
            <a:avLst/>
          </a:prstGeom>
        </p:spPr>
      </p:pic>
      <p:sp>
        <p:nvSpPr>
          <p:cNvPr id="10" name="文本框 9">
            <a:extLst>
              <a:ext uri="{FF2B5EF4-FFF2-40B4-BE49-F238E27FC236}">
                <a16:creationId xmlns:a16="http://schemas.microsoft.com/office/drawing/2014/main" id="{B3D80817-7550-ED5D-0B6F-A0A0E3D65300}"/>
              </a:ext>
            </a:extLst>
          </p:cNvPr>
          <p:cNvSpPr txBox="1"/>
          <p:nvPr/>
        </p:nvSpPr>
        <p:spPr>
          <a:xfrm>
            <a:off x="435553" y="5144218"/>
            <a:ext cx="11878911" cy="805477"/>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相较于多语言学习，再多任务学习中，不同任务的参数分布的区别非常不同</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在多任务学习中，参数值大的任务，其性能往往会保持良好，而参数小的任务的性能往往会有较大的下降</a:t>
            </a:r>
            <a:endParaRPr lang="en-US" altLang="zh-CN" dirty="0">
              <a:solidFill>
                <a:schemeClr val="tx1">
                  <a:lumMod val="75000"/>
                  <a:lumOff val="25000"/>
                </a:schemeClr>
              </a:solidFill>
            </a:endParaRPr>
          </a:p>
        </p:txBody>
      </p:sp>
    </p:spTree>
    <p:extLst>
      <p:ext uri="{BB962C8B-B14F-4D97-AF65-F5344CB8AC3E}">
        <p14:creationId xmlns:p14="http://schemas.microsoft.com/office/powerpoint/2010/main" val="2642106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pic>
        <p:nvPicPr>
          <p:cNvPr id="5" name="图片 4">
            <a:extLst>
              <a:ext uri="{FF2B5EF4-FFF2-40B4-BE49-F238E27FC236}">
                <a16:creationId xmlns:a16="http://schemas.microsoft.com/office/drawing/2014/main" id="{8A6C39B7-FE86-E06C-F1B4-3CCDBB84348D}"/>
              </a:ext>
            </a:extLst>
          </p:cNvPr>
          <p:cNvPicPr>
            <a:picLocks noChangeAspect="1"/>
          </p:cNvPicPr>
          <p:nvPr/>
        </p:nvPicPr>
        <p:blipFill>
          <a:blip r:embed="rId3"/>
          <a:stretch>
            <a:fillRect/>
          </a:stretch>
        </p:blipFill>
        <p:spPr>
          <a:xfrm>
            <a:off x="-77866" y="1577426"/>
            <a:ext cx="7698171" cy="4501660"/>
          </a:xfrm>
          <a:prstGeom prst="rect">
            <a:avLst/>
          </a:prstGeom>
        </p:spPr>
      </p:pic>
      <p:sp>
        <p:nvSpPr>
          <p:cNvPr id="8" name="文本框 7">
            <a:extLst>
              <a:ext uri="{FF2B5EF4-FFF2-40B4-BE49-F238E27FC236}">
                <a16:creationId xmlns:a16="http://schemas.microsoft.com/office/drawing/2014/main" id="{1DA8E6E6-C7AD-3FD0-5E1D-A0889FBB32E3}"/>
              </a:ext>
            </a:extLst>
          </p:cNvPr>
          <p:cNvSpPr txBox="1"/>
          <p:nvPr/>
        </p:nvSpPr>
        <p:spPr>
          <a:xfrm>
            <a:off x="7620305" y="1358679"/>
            <a:ext cx="4355063" cy="4509440"/>
          </a:xfrm>
          <a:prstGeom prst="rect">
            <a:avLst/>
          </a:prstGeom>
          <a:noFill/>
        </p:spPr>
        <p:txBody>
          <a:bodyPr wrap="square">
            <a:spAutoFit/>
          </a:bodyPr>
          <a:lstStyle/>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从漏洞检测任务的测试集中随机采样</a:t>
            </a:r>
            <a:r>
              <a:rPr lang="en-US" altLang="zh-CN" sz="1600" dirty="0">
                <a:solidFill>
                  <a:schemeClr val="tx1">
                    <a:lumMod val="75000"/>
                    <a:lumOff val="25000"/>
                  </a:schemeClr>
                </a:solidFill>
              </a:rPr>
              <a:t>1000</a:t>
            </a:r>
            <a:r>
              <a:rPr lang="zh-CN" altLang="en-US" sz="1600" dirty="0">
                <a:solidFill>
                  <a:schemeClr val="tx1">
                    <a:lumMod val="75000"/>
                    <a:lumOff val="25000"/>
                  </a:schemeClr>
                </a:solidFill>
              </a:rPr>
              <a:t>个样本</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将这些样本输入到漏洞检测原始微调模型、克隆检测原始微调模型、以及融合模型中，得到样本输入每个</a:t>
            </a:r>
            <a:r>
              <a:rPr lang="en-US" altLang="zh-CN" sz="1600" dirty="0">
                <a:solidFill>
                  <a:schemeClr val="tx1">
                    <a:lumMod val="75000"/>
                    <a:lumOff val="25000"/>
                  </a:schemeClr>
                </a:solidFill>
              </a:rPr>
              <a:t>token</a:t>
            </a:r>
            <a:r>
              <a:rPr lang="zh-CN" altLang="en-US" sz="1600" dirty="0">
                <a:solidFill>
                  <a:schemeClr val="tx1">
                    <a:lumMod val="75000"/>
                    <a:lumOff val="25000"/>
                  </a:schemeClr>
                </a:solidFill>
              </a:rPr>
              <a:t>的表征并进行平均</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计算不同模型表征两两余弦相似度</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漏洞检测原始微调模型表征与克隆检测原始微调模型表征的余弦相似度不大，说明他们学习道德特征不同</a:t>
            </a:r>
            <a:endParaRPr lang="en-US" altLang="zh-CN" sz="1600" dirty="0">
              <a:solidFill>
                <a:schemeClr val="tx1">
                  <a:lumMod val="75000"/>
                  <a:lumOff val="25000"/>
                </a:schemeClr>
              </a:solidFill>
            </a:endParaRPr>
          </a:p>
          <a:p>
            <a:pPr marL="342900" indent="-342900">
              <a:lnSpc>
                <a:spcPct val="120000"/>
              </a:lnSpc>
              <a:spcAft>
                <a:spcPts val="600"/>
              </a:spcAft>
              <a:buFont typeface="+mj-lt"/>
              <a:buAutoNum type="alphaLcPeriod"/>
            </a:pPr>
            <a:r>
              <a:rPr lang="zh-CN" altLang="en-US" sz="1600" dirty="0">
                <a:solidFill>
                  <a:schemeClr val="tx1">
                    <a:lumMod val="75000"/>
                    <a:lumOff val="25000"/>
                  </a:schemeClr>
                </a:solidFill>
              </a:rPr>
              <a:t>微调模型表征与克隆检测微调模型表征的相似度大于其与漏洞检测原始微调模型的表征，说明在融合过程中，克隆检测模型参数占据了主导地位，导致了漏洞检测的性能下降</a:t>
            </a:r>
            <a:endParaRPr lang="en-US" altLang="zh-CN" sz="1600" dirty="0">
              <a:solidFill>
                <a:schemeClr val="tx1">
                  <a:lumMod val="75000"/>
                  <a:lumOff val="25000"/>
                </a:schemeClr>
              </a:solidFill>
            </a:endParaRPr>
          </a:p>
        </p:txBody>
      </p:sp>
    </p:spTree>
    <p:extLst>
      <p:ext uri="{BB962C8B-B14F-4D97-AF65-F5344CB8AC3E}">
        <p14:creationId xmlns:p14="http://schemas.microsoft.com/office/powerpoint/2010/main" val="1090075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graphicFrame>
        <p:nvGraphicFramePr>
          <p:cNvPr id="4" name="表格 3">
            <a:extLst>
              <a:ext uri="{FF2B5EF4-FFF2-40B4-BE49-F238E27FC236}">
                <a16:creationId xmlns:a16="http://schemas.microsoft.com/office/drawing/2014/main" id="{3826A324-0190-97EF-6618-4BA3B2BE53EF}"/>
              </a:ext>
            </a:extLst>
          </p:cNvPr>
          <p:cNvGraphicFramePr>
            <a:graphicFrameLocks noGrp="1"/>
          </p:cNvGraphicFramePr>
          <p:nvPr>
            <p:extLst>
              <p:ext uri="{D42A27DB-BD31-4B8C-83A1-F6EECF244321}">
                <p14:modId xmlns:p14="http://schemas.microsoft.com/office/powerpoint/2010/main" val="715356505"/>
              </p:ext>
            </p:extLst>
          </p:nvPr>
        </p:nvGraphicFramePr>
        <p:xfrm>
          <a:off x="838198" y="1475690"/>
          <a:ext cx="10515603" cy="2336664"/>
        </p:xfrm>
        <a:graphic>
          <a:graphicData uri="http://schemas.openxmlformats.org/drawingml/2006/table">
            <a:tbl>
              <a:tblPr/>
              <a:tblGrid>
                <a:gridCol w="835413">
                  <a:extLst>
                    <a:ext uri="{9D8B030D-6E8A-4147-A177-3AD203B41FA5}">
                      <a16:colId xmlns:a16="http://schemas.microsoft.com/office/drawing/2014/main" val="3181589165"/>
                    </a:ext>
                  </a:extLst>
                </a:gridCol>
                <a:gridCol w="669657">
                  <a:extLst>
                    <a:ext uri="{9D8B030D-6E8A-4147-A177-3AD203B41FA5}">
                      <a16:colId xmlns:a16="http://schemas.microsoft.com/office/drawing/2014/main" val="3682660384"/>
                    </a:ext>
                  </a:extLst>
                </a:gridCol>
                <a:gridCol w="669657">
                  <a:extLst>
                    <a:ext uri="{9D8B030D-6E8A-4147-A177-3AD203B41FA5}">
                      <a16:colId xmlns:a16="http://schemas.microsoft.com/office/drawing/2014/main" val="1404796775"/>
                    </a:ext>
                  </a:extLst>
                </a:gridCol>
                <a:gridCol w="742590">
                  <a:extLst>
                    <a:ext uri="{9D8B030D-6E8A-4147-A177-3AD203B41FA5}">
                      <a16:colId xmlns:a16="http://schemas.microsoft.com/office/drawing/2014/main" val="2887768536"/>
                    </a:ext>
                  </a:extLst>
                </a:gridCol>
                <a:gridCol w="742590">
                  <a:extLst>
                    <a:ext uri="{9D8B030D-6E8A-4147-A177-3AD203B41FA5}">
                      <a16:colId xmlns:a16="http://schemas.microsoft.com/office/drawing/2014/main" val="2006759830"/>
                    </a:ext>
                  </a:extLst>
                </a:gridCol>
                <a:gridCol w="669657">
                  <a:extLst>
                    <a:ext uri="{9D8B030D-6E8A-4147-A177-3AD203B41FA5}">
                      <a16:colId xmlns:a16="http://schemas.microsoft.com/office/drawing/2014/main" val="4173649721"/>
                    </a:ext>
                  </a:extLst>
                </a:gridCol>
                <a:gridCol w="669657">
                  <a:extLst>
                    <a:ext uri="{9D8B030D-6E8A-4147-A177-3AD203B41FA5}">
                      <a16:colId xmlns:a16="http://schemas.microsoft.com/office/drawing/2014/main" val="3989329689"/>
                    </a:ext>
                  </a:extLst>
                </a:gridCol>
                <a:gridCol w="795632">
                  <a:extLst>
                    <a:ext uri="{9D8B030D-6E8A-4147-A177-3AD203B41FA5}">
                      <a16:colId xmlns:a16="http://schemas.microsoft.com/office/drawing/2014/main" val="2954371647"/>
                    </a:ext>
                  </a:extLst>
                </a:gridCol>
                <a:gridCol w="795632">
                  <a:extLst>
                    <a:ext uri="{9D8B030D-6E8A-4147-A177-3AD203B41FA5}">
                      <a16:colId xmlns:a16="http://schemas.microsoft.com/office/drawing/2014/main" val="2847589801"/>
                    </a:ext>
                  </a:extLst>
                </a:gridCol>
                <a:gridCol w="669657">
                  <a:extLst>
                    <a:ext uri="{9D8B030D-6E8A-4147-A177-3AD203B41FA5}">
                      <a16:colId xmlns:a16="http://schemas.microsoft.com/office/drawing/2014/main" val="910804803"/>
                    </a:ext>
                  </a:extLst>
                </a:gridCol>
                <a:gridCol w="895086">
                  <a:extLst>
                    <a:ext uri="{9D8B030D-6E8A-4147-A177-3AD203B41FA5}">
                      <a16:colId xmlns:a16="http://schemas.microsoft.com/office/drawing/2014/main" val="455626638"/>
                    </a:ext>
                  </a:extLst>
                </a:gridCol>
                <a:gridCol w="895086">
                  <a:extLst>
                    <a:ext uri="{9D8B030D-6E8A-4147-A177-3AD203B41FA5}">
                      <a16:colId xmlns:a16="http://schemas.microsoft.com/office/drawing/2014/main" val="2058766429"/>
                    </a:ext>
                  </a:extLst>
                </a:gridCol>
                <a:gridCol w="795632">
                  <a:extLst>
                    <a:ext uri="{9D8B030D-6E8A-4147-A177-3AD203B41FA5}">
                      <a16:colId xmlns:a16="http://schemas.microsoft.com/office/drawing/2014/main" val="4175802115"/>
                    </a:ext>
                  </a:extLst>
                </a:gridCol>
                <a:gridCol w="669657">
                  <a:extLst>
                    <a:ext uri="{9D8B030D-6E8A-4147-A177-3AD203B41FA5}">
                      <a16:colId xmlns:a16="http://schemas.microsoft.com/office/drawing/2014/main" val="1652644651"/>
                    </a:ext>
                  </a:extLst>
                </a:gridCol>
              </a:tblGrid>
              <a:tr h="133499">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Search</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latinLnBrk="0"/>
                      <a:r>
                        <a:rPr lang="en-US" sz="1000">
                          <a:solidFill>
                            <a:srgbClr val="000000"/>
                          </a:solidFill>
                          <a:effectLst/>
                        </a:rPr>
                        <a:t>Vulnerability Detection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latinLnBrk="0"/>
                      <a:r>
                        <a:rPr lang="en-US" sz="1000">
                          <a:solidFill>
                            <a:srgbClr val="000000"/>
                          </a:solidFill>
                          <a:effectLst/>
                        </a:rPr>
                        <a:t>Clone Detection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sz="1000">
                          <a:solidFill>
                            <a:srgbClr val="000000"/>
                          </a:solidFill>
                          <a:effectLst/>
                        </a:rPr>
                        <a:t>Summary</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Repair</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Generation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146360"/>
                  </a:ext>
                </a:extLst>
              </a:tr>
              <a:tr h="133499">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MRR</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Accuracy</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Precision</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Recall</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Accuracy</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Precision</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Recall</a:t>
                      </a:r>
                      <a:endParaRPr 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BLEU-4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7022514"/>
                  </a:ext>
                </a:extLst>
              </a:tr>
              <a:tr h="133499">
                <a:tc>
                  <a:txBody>
                    <a:bodyPr/>
                    <a:lstStyle/>
                    <a:p>
                      <a:pPr algn="ctr" fontAlgn="ctr" latinLnBrk="0"/>
                      <a:r>
                        <a:rPr lang="en-US" sz="1000">
                          <a:solidFill>
                            <a:srgbClr val="000000"/>
                          </a:solidFill>
                          <a:effectLst/>
                        </a:rPr>
                        <a:t>finetune</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92.44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50.21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30.69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96.24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94.23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95.22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57859"/>
                  </a:ext>
                </a:extLst>
              </a:tr>
              <a:tr h="133499">
                <a:tc rowSpan="2">
                  <a:txBody>
                    <a:bodyPr/>
                    <a:lstStyle/>
                    <a:p>
                      <a:pPr algn="ctr" fontAlgn="ctr" latinLnBrk="0"/>
                      <a:r>
                        <a:rPr lang="en-US" sz="1000">
                          <a:solidFill>
                            <a:srgbClr val="000000"/>
                          </a:solidFill>
                          <a:effectLst/>
                        </a:rPr>
                        <a:t>task arithmetic</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68.06</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78.41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17.31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49.62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25.67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94.93</a:t>
                      </a:r>
                      <a:endParaRPr lang="en-US" altLang="zh-CN"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99.75</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63.09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77.29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0.28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15.38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60.3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5132054"/>
                  </a:ext>
                </a:extLst>
              </a:tr>
              <a:tr h="133499">
                <a:tc vMerge="1">
                  <a:txBody>
                    <a:bodyPr/>
                    <a:lstStyle/>
                    <a:p>
                      <a:endParaRPr lang="zh-CN" altLang="en-US"/>
                    </a:p>
                  </a:txBody>
                  <a:tcPr/>
                </a:tc>
                <a:tc>
                  <a:txBody>
                    <a:bodyPr/>
                    <a:lstStyle/>
                    <a:p>
                      <a:pPr algn="ctr" fontAlgn="ctr" latinLnBrk="0"/>
                      <a:r>
                        <a:rPr lang="en-US" sz="1000">
                          <a:solidFill>
                            <a:srgbClr val="000000"/>
                          </a:solidFill>
                          <a:effectLst/>
                        </a:rPr>
                        <a:t>yes</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62.24</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91.46</a:t>
                      </a:r>
                      <a:endParaRPr lang="en-US" altLang="zh-CN" sz="1000" b="1"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28.15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8.95</a:t>
                      </a:r>
                      <a:endParaRPr lang="en-US" altLang="zh-CN"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13.67</a:t>
                      </a:r>
                      <a:endParaRPr lang="en-US" altLang="zh-CN"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89.98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76.65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38.47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51.23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8.56</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15.08</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53.9</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373221"/>
                  </a:ext>
                </a:extLst>
              </a:tr>
              <a:tr h="133499">
                <a:tc rowSpan="2">
                  <a:txBody>
                    <a:bodyPr/>
                    <a:lstStyle/>
                    <a:p>
                      <a:pPr algn="ctr" fontAlgn="ctr" latinLnBrk="0"/>
                      <a:r>
                        <a:rPr lang="en-US" sz="1000">
                          <a:solidFill>
                            <a:srgbClr val="000000"/>
                          </a:solidFill>
                          <a:effectLst/>
                        </a:rPr>
                        <a:t>ties</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no</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66.68</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26.52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83.39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16.7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94.99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97.27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65.19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78.06</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1.25</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10.91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56.4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8704254"/>
                  </a:ext>
                </a:extLst>
              </a:tr>
              <a:tr h="133499">
                <a:tc vMerge="1">
                  <a:txBody>
                    <a:bodyPr/>
                    <a:lstStyle/>
                    <a:p>
                      <a:endParaRPr lang="zh-CN" altLang="en-US"/>
                    </a:p>
                  </a:txBody>
                  <a:tcPr/>
                </a:tc>
                <a:tc>
                  <a:txBody>
                    <a:bodyPr/>
                    <a:lstStyle/>
                    <a:p>
                      <a:pPr algn="ctr" fontAlgn="ctr" latinLnBrk="0"/>
                      <a:r>
                        <a:rPr lang="en-US" sz="1000">
                          <a:solidFill>
                            <a:srgbClr val="000000"/>
                          </a:solidFill>
                          <a:effectLst/>
                        </a:rPr>
                        <a:t>yes</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91.17</a:t>
                      </a:r>
                      <a:endParaRPr lang="en-US" altLang="zh-CN"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1.11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2.03</a:t>
                      </a:r>
                      <a:endParaRPr lang="en-US" altLang="zh-CN"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98.42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99.14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89.23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93.92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6.98</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13.86</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46.4</a:t>
                      </a:r>
                      <a:endParaRPr lang="zh-CN" altLang="en-US" sz="1000"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7873706"/>
                  </a:ext>
                </a:extLst>
              </a:tr>
              <a:tr h="133499">
                <a:tc>
                  <a:txBody>
                    <a:bodyPr/>
                    <a:lstStyle/>
                    <a:p>
                      <a:pPr algn="ctr" fontAlgn="ctr" latinLnBrk="0"/>
                      <a:r>
                        <a:rPr lang="en-US" sz="1000">
                          <a:solidFill>
                            <a:srgbClr val="000000"/>
                          </a:solidFill>
                          <a:effectLst/>
                        </a:rPr>
                        <a:t>mask</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73.78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58.24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77.27</a:t>
                      </a:r>
                      <a:endParaRPr lang="en-US" altLang="zh-CN" sz="1000" b="1" dirty="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6.34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11.72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98.81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97.17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94.02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95.57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8.56</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24.23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68.1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6931811"/>
                  </a:ext>
                </a:extLst>
              </a:tr>
            </a:tbl>
          </a:graphicData>
        </a:graphic>
      </p:graphicFrame>
      <p:sp>
        <p:nvSpPr>
          <p:cNvPr id="6" name="文本框 5">
            <a:extLst>
              <a:ext uri="{FF2B5EF4-FFF2-40B4-BE49-F238E27FC236}">
                <a16:creationId xmlns:a16="http://schemas.microsoft.com/office/drawing/2014/main" id="{6FDB8F77-42CA-506D-C71A-1D533644EEB4}"/>
              </a:ext>
            </a:extLst>
          </p:cNvPr>
          <p:cNvSpPr txBox="1"/>
          <p:nvPr/>
        </p:nvSpPr>
        <p:spPr>
          <a:xfrm>
            <a:off x="435553" y="4199433"/>
            <a:ext cx="11616488" cy="1137876"/>
          </a:xfrm>
          <a:prstGeom prst="rect">
            <a:avLst/>
          </a:prstGeom>
          <a:noFill/>
        </p:spPr>
        <p:txBody>
          <a:bodyPr wrap="square" rtlCol="0" anchor="ctr">
            <a:spAutoFit/>
          </a:bodyPr>
          <a:lstStyle/>
          <a:p>
            <a:pPr marL="342900" indent="-342900">
              <a:lnSpc>
                <a:spcPct val="120000"/>
              </a:lnSpc>
              <a:spcAft>
                <a:spcPts val="600"/>
              </a:spcAft>
              <a:buFont typeface="+mj-lt"/>
              <a:buAutoNum type="arabicPeriod"/>
            </a:pPr>
            <a:r>
              <a:rPr lang="zh-CN" altLang="en-US" dirty="0">
                <a:solidFill>
                  <a:schemeClr val="tx1">
                    <a:lumMod val="75000"/>
                    <a:lumOff val="25000"/>
                  </a:schemeClr>
                </a:solidFill>
              </a:rPr>
              <a:t>对于</a:t>
            </a:r>
            <a:r>
              <a:rPr lang="en-US" altLang="zh-CN" dirty="0">
                <a:solidFill>
                  <a:schemeClr val="tx1">
                    <a:lumMod val="75000"/>
                    <a:lumOff val="25000"/>
                  </a:schemeClr>
                </a:solidFill>
              </a:rPr>
              <a:t>TA </a:t>
            </a:r>
            <a:r>
              <a:rPr lang="zh-CN" altLang="en-US" dirty="0">
                <a:solidFill>
                  <a:schemeClr val="tx1">
                    <a:lumMod val="75000"/>
                    <a:lumOff val="25000"/>
                  </a:schemeClr>
                </a:solidFill>
              </a:rPr>
              <a:t>与</a:t>
            </a:r>
            <a:r>
              <a:rPr lang="en-US" altLang="zh-CN" dirty="0">
                <a:solidFill>
                  <a:schemeClr val="tx1">
                    <a:lumMod val="75000"/>
                    <a:lumOff val="25000"/>
                  </a:schemeClr>
                </a:solidFill>
              </a:rPr>
              <a:t>ties</a:t>
            </a:r>
            <a:r>
              <a:rPr lang="zh-CN" altLang="en-US" dirty="0">
                <a:solidFill>
                  <a:schemeClr val="tx1">
                    <a:lumMod val="75000"/>
                    <a:lumOff val="25000"/>
                  </a:schemeClr>
                </a:solidFill>
              </a:rPr>
              <a:t>，每个任务都有较大性能的下降</a:t>
            </a:r>
            <a:endParaRPr lang="en-US" altLang="zh-CN" dirty="0">
              <a:solidFill>
                <a:schemeClr val="tx1">
                  <a:lumMod val="75000"/>
                  <a:lumOff val="25000"/>
                </a:schemeClr>
              </a:solidFill>
            </a:endParaRPr>
          </a:p>
          <a:p>
            <a:pPr marL="342900" indent="-342900">
              <a:lnSpc>
                <a:spcPct val="120000"/>
              </a:lnSpc>
              <a:spcAft>
                <a:spcPts val="600"/>
              </a:spcAft>
              <a:buFont typeface="+mj-lt"/>
              <a:buAutoNum type="arabicPeriod"/>
            </a:pPr>
            <a:r>
              <a:rPr lang="zh-CN" altLang="en-US" dirty="0">
                <a:solidFill>
                  <a:schemeClr val="tx1">
                    <a:lumMod val="75000"/>
                    <a:lumOff val="25000"/>
                  </a:schemeClr>
                </a:solidFill>
              </a:rPr>
              <a:t>在只融合代码理解任务以及代码生成式任务时，基于</a:t>
            </a:r>
            <a:r>
              <a:rPr lang="en-US" altLang="zh-CN" dirty="0">
                <a:solidFill>
                  <a:schemeClr val="tx1">
                    <a:lumMod val="75000"/>
                    <a:lumOff val="25000"/>
                  </a:schemeClr>
                </a:solidFill>
              </a:rPr>
              <a:t>mask</a:t>
            </a:r>
            <a:r>
              <a:rPr lang="zh-CN" altLang="en-US" dirty="0">
                <a:solidFill>
                  <a:schemeClr val="tx1">
                    <a:lumMod val="75000"/>
                    <a:lumOff val="25000"/>
                  </a:schemeClr>
                </a:solidFill>
              </a:rPr>
              <a:t>的方法几乎能保持与原始微调模型相当的性能，但是在将两个种类差距较大的模型统一起来时，漏洞检测任务的性能有较大的下降</a:t>
            </a:r>
            <a:endParaRPr lang="en-US" altLang="zh-CN" dirty="0">
              <a:solidFill>
                <a:schemeClr val="tx1">
                  <a:lumMod val="75000"/>
                  <a:lumOff val="25000"/>
                </a:schemeClr>
              </a:solidFill>
            </a:endParaRPr>
          </a:p>
        </p:txBody>
      </p:sp>
    </p:spTree>
    <p:extLst>
      <p:ext uri="{BB962C8B-B14F-4D97-AF65-F5344CB8AC3E}">
        <p14:creationId xmlns:p14="http://schemas.microsoft.com/office/powerpoint/2010/main" val="3740496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4985533"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RQ2.</a:t>
            </a:r>
            <a:r>
              <a:rPr lang="zh-CN" altLang="en-US" b="1" dirty="0">
                <a:solidFill>
                  <a:srgbClr val="268F9C"/>
                </a:solidFill>
                <a:latin typeface="+mn-ea"/>
              </a:rPr>
              <a:t> 模型融合对于多任务学习的性能</a:t>
            </a:r>
          </a:p>
        </p:txBody>
      </p:sp>
      <p:pic>
        <p:nvPicPr>
          <p:cNvPr id="7" name="图片 6">
            <a:extLst>
              <a:ext uri="{FF2B5EF4-FFF2-40B4-BE49-F238E27FC236}">
                <a16:creationId xmlns:a16="http://schemas.microsoft.com/office/drawing/2014/main" id="{71E6DDBA-712E-AB00-BC14-4B65813EC45A}"/>
              </a:ext>
            </a:extLst>
          </p:cNvPr>
          <p:cNvPicPr>
            <a:picLocks noChangeAspect="1"/>
          </p:cNvPicPr>
          <p:nvPr/>
        </p:nvPicPr>
        <p:blipFill>
          <a:blip r:embed="rId3"/>
          <a:stretch>
            <a:fillRect/>
          </a:stretch>
        </p:blipFill>
        <p:spPr>
          <a:xfrm>
            <a:off x="38833" y="1530220"/>
            <a:ext cx="8014443" cy="4800017"/>
          </a:xfrm>
          <a:prstGeom prst="rect">
            <a:avLst/>
          </a:prstGeom>
        </p:spPr>
      </p:pic>
      <p:sp>
        <p:nvSpPr>
          <p:cNvPr id="8" name="文本框 7">
            <a:extLst>
              <a:ext uri="{FF2B5EF4-FFF2-40B4-BE49-F238E27FC236}">
                <a16:creationId xmlns:a16="http://schemas.microsoft.com/office/drawing/2014/main" id="{802582A3-A0F4-9241-090B-D28AE839BAD6}"/>
              </a:ext>
            </a:extLst>
          </p:cNvPr>
          <p:cNvSpPr txBox="1"/>
          <p:nvPr/>
        </p:nvSpPr>
        <p:spPr>
          <a:xfrm>
            <a:off x="8053276" y="2429582"/>
            <a:ext cx="4099891" cy="1725729"/>
          </a:xfrm>
          <a:prstGeom prst="rect">
            <a:avLst/>
          </a:prstGeom>
          <a:noFill/>
        </p:spPr>
        <p:txBody>
          <a:bodyPr wrap="square" rtlCol="0" anchor="ctr">
            <a:spAutoFit/>
          </a:bodyPr>
          <a:lstStyle/>
          <a:p>
            <a:pPr>
              <a:lnSpc>
                <a:spcPct val="120000"/>
              </a:lnSpc>
              <a:spcAft>
                <a:spcPts val="600"/>
              </a:spcAft>
            </a:pPr>
            <a:r>
              <a:rPr lang="zh-CN" altLang="en-US" dirty="0">
                <a:solidFill>
                  <a:schemeClr val="tx1">
                    <a:lumMod val="75000"/>
                    <a:lumOff val="25000"/>
                  </a:schemeClr>
                </a:solidFill>
              </a:rPr>
              <a:t>与多语言融合类似，由右图可看出，微调参数值较小的语言，其</a:t>
            </a:r>
            <a:r>
              <a:rPr lang="en-US" altLang="zh-CN" dirty="0">
                <a:solidFill>
                  <a:schemeClr val="tx1">
                    <a:lumMod val="75000"/>
                    <a:lumOff val="25000"/>
                  </a:schemeClr>
                </a:solidFill>
              </a:rPr>
              <a:t>mask</a:t>
            </a:r>
            <a:r>
              <a:rPr lang="zh-CN" altLang="en-US" dirty="0">
                <a:solidFill>
                  <a:schemeClr val="tx1">
                    <a:lumMod val="75000"/>
                    <a:lumOff val="25000"/>
                  </a:schemeClr>
                </a:solidFill>
              </a:rPr>
              <a:t>保留参数的个数往往较少，对于漏洞检测来说，其保持的参数最少，因此，基于</a:t>
            </a:r>
            <a:r>
              <a:rPr lang="en-US" altLang="zh-CN" dirty="0">
                <a:solidFill>
                  <a:schemeClr val="tx1">
                    <a:lumMod val="75000"/>
                    <a:lumOff val="25000"/>
                  </a:schemeClr>
                </a:solidFill>
              </a:rPr>
              <a:t>mask</a:t>
            </a:r>
            <a:r>
              <a:rPr lang="zh-CN" altLang="en-US" dirty="0">
                <a:solidFill>
                  <a:schemeClr val="tx1">
                    <a:lumMod val="75000"/>
                    <a:lumOff val="25000"/>
                  </a:schemeClr>
                </a:solidFill>
              </a:rPr>
              <a:t>的方法在该任务上的性能有较大的下降</a:t>
            </a:r>
            <a:endParaRPr lang="en-US" altLang="zh-CN" dirty="0">
              <a:solidFill>
                <a:schemeClr val="tx1">
                  <a:lumMod val="75000"/>
                  <a:lumOff val="25000"/>
                </a:schemeClr>
              </a:solidFill>
            </a:endParaRPr>
          </a:p>
        </p:txBody>
      </p:sp>
    </p:spTree>
    <p:extLst>
      <p:ext uri="{BB962C8B-B14F-4D97-AF65-F5344CB8AC3E}">
        <p14:creationId xmlns:p14="http://schemas.microsoft.com/office/powerpoint/2010/main" val="4116812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sp>
        <p:nvSpPr>
          <p:cNvPr id="5" name="文本框 4">
            <a:extLst>
              <a:ext uri="{FF2B5EF4-FFF2-40B4-BE49-F238E27FC236}">
                <a16:creationId xmlns:a16="http://schemas.microsoft.com/office/drawing/2014/main" id="{39A9A327-0E50-24E3-FD7D-B00793632FFB}"/>
              </a:ext>
            </a:extLst>
          </p:cNvPr>
          <p:cNvSpPr txBox="1"/>
          <p:nvPr/>
        </p:nvSpPr>
        <p:spPr>
          <a:xfrm>
            <a:off x="562169" y="1148246"/>
            <a:ext cx="11371684" cy="953274"/>
          </a:xfrm>
          <a:prstGeom prst="rect">
            <a:avLst/>
          </a:prstGeom>
          <a:noFill/>
        </p:spPr>
        <p:txBody>
          <a:bodyPr wrap="square">
            <a:spAutoFit/>
          </a:bodyPr>
          <a:lstStyle/>
          <a:p>
            <a:pPr>
              <a:lnSpc>
                <a:spcPct val="120000"/>
              </a:lnSpc>
              <a:spcAft>
                <a:spcPts val="600"/>
              </a:spcAft>
            </a:pPr>
            <a:r>
              <a:rPr lang="zh-CN" altLang="en-US" sz="1600" dirty="0">
                <a:solidFill>
                  <a:schemeClr val="tx1">
                    <a:lumMod val="75000"/>
                    <a:lumOff val="25000"/>
                  </a:schemeClr>
                </a:solidFill>
              </a:rPr>
              <a:t>由于基于</a:t>
            </a:r>
            <a:r>
              <a:rPr lang="en-US" altLang="zh-CN" sz="1600" dirty="0">
                <a:solidFill>
                  <a:schemeClr val="tx1">
                    <a:lumMod val="75000"/>
                    <a:lumOff val="25000"/>
                  </a:schemeClr>
                </a:solidFill>
              </a:rPr>
              <a:t>mask</a:t>
            </a:r>
            <a:r>
              <a:rPr lang="zh-CN" altLang="en-US" sz="1600" dirty="0">
                <a:solidFill>
                  <a:schemeClr val="tx1">
                    <a:lumMod val="75000"/>
                    <a:lumOff val="25000"/>
                  </a:schemeClr>
                </a:solidFill>
              </a:rPr>
              <a:t>的方法在所有任务保持了几乎最好的性能，并且其不需要搜索和训练，能够适应大多数情况以及有着良好的可扩展性，但是数据不平衡造成的微调参数值分布差异较大的情况下，其性能会有较大的下降，因此，我们试着改进他以适应软工任务数据不平衡的情况。</a:t>
            </a:r>
            <a:endParaRPr lang="en-US" altLang="zh-CN" sz="1600" dirty="0">
              <a:solidFill>
                <a:schemeClr val="tx1">
                  <a:lumMod val="75000"/>
                  <a:lumOff val="25000"/>
                </a:schemeClr>
              </a:solidFill>
            </a:endParaRPr>
          </a:p>
        </p:txBody>
      </p:sp>
      <p:sp>
        <p:nvSpPr>
          <p:cNvPr id="6" name="文本框 5">
            <a:extLst>
              <a:ext uri="{FF2B5EF4-FFF2-40B4-BE49-F238E27FC236}">
                <a16:creationId xmlns:a16="http://schemas.microsoft.com/office/drawing/2014/main" id="{2B26A140-190E-7CD8-1E9E-9A94E3FFC40F}"/>
              </a:ext>
            </a:extLst>
          </p:cNvPr>
          <p:cNvSpPr txBox="1"/>
          <p:nvPr/>
        </p:nvSpPr>
        <p:spPr>
          <a:xfrm>
            <a:off x="562169" y="2101520"/>
            <a:ext cx="6106884" cy="338554"/>
          </a:xfrm>
          <a:prstGeom prst="rect">
            <a:avLst/>
          </a:prstGeom>
          <a:noFill/>
        </p:spPr>
        <p:txBody>
          <a:bodyPr wrap="square">
            <a:spAutoFit/>
          </a:bodyPr>
          <a:lstStyle/>
          <a:p>
            <a:r>
              <a:rPr lang="zh-CN" altLang="en-US" sz="1600" b="1">
                <a:solidFill>
                  <a:srgbClr val="268F9C"/>
                </a:solidFill>
                <a:latin typeface="+mn-ea"/>
              </a:rPr>
              <a:t>动机</a:t>
            </a:r>
            <a:endParaRPr lang="en-US" altLang="zh-CN" sz="1600" b="1" dirty="0">
              <a:solidFill>
                <a:srgbClr val="268F9C"/>
              </a:solidFill>
              <a:latin typeface="+mn-ea"/>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E946C53-4191-7CA5-45B3-8CDD5A63C36F}"/>
                  </a:ext>
                </a:extLst>
              </p:cNvPr>
              <p:cNvSpPr txBox="1"/>
              <p:nvPr/>
            </p:nvSpPr>
            <p:spPr>
              <a:xfrm>
                <a:off x="562169" y="2723552"/>
                <a:ext cx="3306023" cy="411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𝑚</m:t>
                          </m:r>
                        </m:e>
                        <m:sub>
                          <m:r>
                            <a:rPr lang="zh-CN" altLang="en-US" i="1">
                              <a:latin typeface="Cambria Math" panose="02040503050406030204" pitchFamily="18" charset="0"/>
                            </a:rPr>
                            <m:t>𝑖</m:t>
                          </m:r>
                        </m:sub>
                      </m:sSub>
                      <m:r>
                        <a:rPr lang="zh-CN" altLang="en-US" i="0">
                          <a:latin typeface="Cambria Math" panose="02040503050406030204" pitchFamily="18" charset="0"/>
                        </a:rPr>
                        <m:t>=1</m:t>
                      </m:r>
                      <m:d>
                        <m:dPr>
                          <m:begChr m:val="{"/>
                          <m:endChr m:val="}"/>
                          <m:ctrlPr>
                            <a:rPr lang="zh-CN" altLang="en-US" i="1">
                              <a:latin typeface="Cambria Math" panose="02040503050406030204" pitchFamily="18" charset="0"/>
                            </a:rPr>
                          </m:ctrlPr>
                        </m:dPr>
                        <m:e>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𝑓𝑢𝑠𝑖𝑜𝑛</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e>
                          </m:d>
                        </m:e>
                      </m:d>
                    </m:oMath>
                  </m:oMathPara>
                </a14:m>
                <a:endParaRPr lang="zh-CN" altLang="en-US" dirty="0"/>
              </a:p>
            </p:txBody>
          </p:sp>
        </mc:Choice>
        <mc:Fallback xmlns="">
          <p:sp>
            <p:nvSpPr>
              <p:cNvPr id="7" name="文本框 6">
                <a:extLst>
                  <a:ext uri="{FF2B5EF4-FFF2-40B4-BE49-F238E27FC236}">
                    <a16:creationId xmlns:a16="http://schemas.microsoft.com/office/drawing/2014/main" id="{2E946C53-4191-7CA5-45B3-8CDD5A63C36F}"/>
                  </a:ext>
                </a:extLst>
              </p:cNvPr>
              <p:cNvSpPr txBox="1">
                <a:spLocks noRot="1" noChangeAspect="1" noMove="1" noResize="1" noEditPoints="1" noAdjustHandles="1" noChangeArrowheads="1" noChangeShapeType="1" noTextEdit="1"/>
              </p:cNvSpPr>
              <p:nvPr/>
            </p:nvSpPr>
            <p:spPr>
              <a:xfrm>
                <a:off x="562169" y="2723552"/>
                <a:ext cx="3306023" cy="411331"/>
              </a:xfrm>
              <a:prstGeom prst="rect">
                <a:avLst/>
              </a:prstGeom>
              <a:blipFill>
                <a:blip r:embed="rId3"/>
                <a:stretch>
                  <a:fillRect b="-1044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D2F507A1-FC65-E6AC-692A-FD74FB0C8D70}"/>
              </a:ext>
            </a:extLst>
          </p:cNvPr>
          <p:cNvSpPr txBox="1"/>
          <p:nvPr/>
        </p:nvSpPr>
        <p:spPr>
          <a:xfrm>
            <a:off x="562169" y="2384998"/>
            <a:ext cx="6106884" cy="338554"/>
          </a:xfrm>
          <a:prstGeom prst="rect">
            <a:avLst/>
          </a:prstGeom>
          <a:noFill/>
        </p:spPr>
        <p:txBody>
          <a:bodyPr wrap="square">
            <a:spAutoFit/>
          </a:bodyPr>
          <a:lstStyle/>
          <a:p>
            <a:r>
              <a:rPr lang="zh-CN" altLang="en-US" sz="1600" dirty="0">
                <a:solidFill>
                  <a:schemeClr val="tx1">
                    <a:lumMod val="75000"/>
                    <a:lumOff val="25000"/>
                  </a:schemeClr>
                </a:solidFill>
              </a:rPr>
              <a:t>参数保留掩码构造公式</a:t>
            </a:r>
            <a:endParaRPr lang="zh-CN" altLang="en-US" sz="1600" dirty="0"/>
          </a:p>
        </p:txBody>
      </p:sp>
      <p:sp>
        <p:nvSpPr>
          <p:cNvPr id="10" name="文本框 9">
            <a:extLst>
              <a:ext uri="{FF2B5EF4-FFF2-40B4-BE49-F238E27FC236}">
                <a16:creationId xmlns:a16="http://schemas.microsoft.com/office/drawing/2014/main" id="{DB1E34AD-DAE1-EAB3-9FEA-F20C12CFB3A3}"/>
              </a:ext>
            </a:extLst>
          </p:cNvPr>
          <p:cNvSpPr txBox="1"/>
          <p:nvPr/>
        </p:nvSpPr>
        <p:spPr>
          <a:xfrm>
            <a:off x="562168" y="3134883"/>
            <a:ext cx="11371683" cy="1154162"/>
          </a:xfrm>
          <a:prstGeom prst="rect">
            <a:avLst/>
          </a:prstGeom>
          <a:noFill/>
        </p:spPr>
        <p:txBody>
          <a:bodyPr wrap="square">
            <a:spAutoFit/>
          </a:bodyPr>
          <a:lstStyle/>
          <a:p>
            <a:pPr marL="342900" indent="-342900">
              <a:spcAft>
                <a:spcPts val="600"/>
              </a:spcAft>
              <a:buFont typeface="+mj-lt"/>
              <a:buAutoNum type="arabicPeriod"/>
            </a:pPr>
            <a:r>
              <a:rPr lang="zh-CN" altLang="en-US" sz="1600" dirty="0">
                <a:solidFill>
                  <a:schemeClr val="tx1">
                    <a:lumMod val="75000"/>
                    <a:lumOff val="25000"/>
                  </a:schemeClr>
                </a:solidFill>
              </a:rPr>
              <a:t>对于融合参数，我们采用取每个维度的最大值，当数据不平衡造成的微调参数值大小的分布较大时，融合参数保存的值往往为微调参数值较大部分</a:t>
            </a:r>
            <a:endParaRPr lang="en-US" altLang="zh-CN" sz="1600" dirty="0">
              <a:solidFill>
                <a:schemeClr val="tx1">
                  <a:lumMod val="75000"/>
                  <a:lumOff val="25000"/>
                </a:schemeClr>
              </a:solidFill>
            </a:endParaRPr>
          </a:p>
          <a:p>
            <a:pPr marL="342900" indent="-342900">
              <a:spcAft>
                <a:spcPts val="600"/>
              </a:spcAft>
              <a:buFont typeface="+mj-lt"/>
              <a:buAutoNum type="arabicPeriod"/>
            </a:pPr>
            <a:r>
              <a:rPr lang="zh-CN" altLang="en-US" sz="1600" dirty="0"/>
              <a:t>对于微调参数值较小的任务，在构造掩码时，由于融合参数与其微调参数的差值较大，从而导致只有少部分的参数被保留了下来，并且保留下来的值较多也在要被舍去的边缘。</a:t>
            </a:r>
          </a:p>
        </p:txBody>
      </p:sp>
      <p:sp>
        <p:nvSpPr>
          <p:cNvPr id="11" name="文本框 10">
            <a:extLst>
              <a:ext uri="{FF2B5EF4-FFF2-40B4-BE49-F238E27FC236}">
                <a16:creationId xmlns:a16="http://schemas.microsoft.com/office/drawing/2014/main" id="{4045966C-473E-9894-5AD2-C0B746BCC23F}"/>
              </a:ext>
            </a:extLst>
          </p:cNvPr>
          <p:cNvSpPr txBox="1"/>
          <p:nvPr/>
        </p:nvSpPr>
        <p:spPr>
          <a:xfrm>
            <a:off x="562168" y="4544370"/>
            <a:ext cx="11371683" cy="338554"/>
          </a:xfrm>
          <a:prstGeom prst="rect">
            <a:avLst/>
          </a:prstGeom>
          <a:noFill/>
        </p:spPr>
        <p:txBody>
          <a:bodyPr wrap="square">
            <a:spAutoFit/>
          </a:bodyPr>
          <a:lstStyle/>
          <a:p>
            <a:pPr>
              <a:spcAft>
                <a:spcPts val="600"/>
              </a:spcAft>
            </a:pPr>
            <a:r>
              <a:rPr lang="en-US" altLang="zh-CN" sz="1600" dirty="0"/>
              <a:t>1. </a:t>
            </a:r>
            <a:r>
              <a:rPr lang="zh-CN" altLang="en-US" sz="1600" dirty="0"/>
              <a:t>进行融合时，先选择一个微调模型参数为基准，将所有参数的值映射到同一大小范围，</a:t>
            </a:r>
            <a:endParaRPr lang="en-US" altLang="zh-CN" sz="1600" dirty="0"/>
          </a:p>
        </p:txBody>
      </p:sp>
      <p:sp>
        <p:nvSpPr>
          <p:cNvPr id="12" name="文本框 11">
            <a:extLst>
              <a:ext uri="{FF2B5EF4-FFF2-40B4-BE49-F238E27FC236}">
                <a16:creationId xmlns:a16="http://schemas.microsoft.com/office/drawing/2014/main" id="{3467C8DB-0770-EBB9-0940-1F047CAC2942}"/>
              </a:ext>
            </a:extLst>
          </p:cNvPr>
          <p:cNvSpPr txBox="1"/>
          <p:nvPr/>
        </p:nvSpPr>
        <p:spPr>
          <a:xfrm>
            <a:off x="562169" y="4247431"/>
            <a:ext cx="6106884" cy="338554"/>
          </a:xfrm>
          <a:prstGeom prst="rect">
            <a:avLst/>
          </a:prstGeom>
          <a:noFill/>
        </p:spPr>
        <p:txBody>
          <a:bodyPr wrap="square">
            <a:spAutoFit/>
          </a:bodyPr>
          <a:lstStyle/>
          <a:p>
            <a:r>
              <a:rPr lang="zh-CN" altLang="en-US" sz="1600" b="1" dirty="0">
                <a:solidFill>
                  <a:srgbClr val="268F9C"/>
                </a:solidFill>
                <a:latin typeface="+mn-ea"/>
              </a:rPr>
              <a:t>改进</a:t>
            </a:r>
            <a:endParaRPr lang="en-US" altLang="zh-CN" sz="1600" b="1" dirty="0">
              <a:solidFill>
                <a:srgbClr val="268F9C"/>
              </a:solidFill>
              <a:latin typeface="+mn-ea"/>
            </a:endParaRPr>
          </a:p>
        </p:txBody>
      </p:sp>
      <p:sp>
        <p:nvSpPr>
          <p:cNvPr id="14" name="文本框 13">
            <a:extLst>
              <a:ext uri="{FF2B5EF4-FFF2-40B4-BE49-F238E27FC236}">
                <a16:creationId xmlns:a16="http://schemas.microsoft.com/office/drawing/2014/main" id="{E286608F-A4AB-C287-35B2-37D4D3239EC0}"/>
              </a:ext>
            </a:extLst>
          </p:cNvPr>
          <p:cNvSpPr txBox="1"/>
          <p:nvPr/>
        </p:nvSpPr>
        <p:spPr>
          <a:xfrm>
            <a:off x="562168" y="5224785"/>
            <a:ext cx="11371683" cy="584775"/>
          </a:xfrm>
          <a:prstGeom prst="rect">
            <a:avLst/>
          </a:prstGeom>
          <a:noFill/>
        </p:spPr>
        <p:txBody>
          <a:bodyPr wrap="square">
            <a:spAutoFit/>
          </a:bodyPr>
          <a:lstStyle/>
          <a:p>
            <a:pPr>
              <a:spcAft>
                <a:spcPts val="600"/>
              </a:spcAft>
            </a:pPr>
            <a:r>
              <a:rPr lang="en-US" altLang="zh-CN" sz="1600" dirty="0"/>
              <a:t>2. </a:t>
            </a:r>
            <a:r>
              <a:rPr lang="zh-CN" altLang="en-US" sz="1600" dirty="0"/>
              <a:t>利用基于</a:t>
            </a:r>
            <a:r>
              <a:rPr lang="en-US" altLang="zh-CN" sz="1600" dirty="0"/>
              <a:t>mask</a:t>
            </a:r>
            <a:r>
              <a:rPr lang="zh-CN" altLang="en-US" sz="1600" dirty="0"/>
              <a:t>融合方法构造</a:t>
            </a:r>
            <a:r>
              <a:rPr lang="en-US" altLang="zh-CN" sz="1600" dirty="0"/>
              <a:t>mask</a:t>
            </a:r>
            <a:r>
              <a:rPr lang="zh-CN" altLang="en-US" sz="1600" dirty="0"/>
              <a:t>，由于所有的参数别放缩到了同一个大小维度，因此无论时构造融合参数以及构造参数保留</a:t>
            </a:r>
            <a:r>
              <a:rPr lang="en-US" altLang="zh-CN" sz="1600" dirty="0"/>
              <a:t>mask</a:t>
            </a:r>
            <a:r>
              <a:rPr lang="zh-CN" altLang="en-US" sz="1600" dirty="0"/>
              <a:t>时，都不会参数偏好</a:t>
            </a:r>
            <a:endParaRPr lang="en-US" altLang="zh-CN" sz="1600" dirty="0"/>
          </a:p>
        </p:txBody>
      </p:sp>
      <p:sp>
        <p:nvSpPr>
          <p:cNvPr id="15" name="文本框 14">
            <a:extLst>
              <a:ext uri="{FF2B5EF4-FFF2-40B4-BE49-F238E27FC236}">
                <a16:creationId xmlns:a16="http://schemas.microsoft.com/office/drawing/2014/main" id="{12CB032B-EAC3-10A1-D792-76AD1D7959E6}"/>
              </a:ext>
            </a:extLst>
          </p:cNvPr>
          <p:cNvSpPr txBox="1"/>
          <p:nvPr/>
        </p:nvSpPr>
        <p:spPr>
          <a:xfrm>
            <a:off x="562168" y="5781526"/>
            <a:ext cx="11371683" cy="584775"/>
          </a:xfrm>
          <a:prstGeom prst="rect">
            <a:avLst/>
          </a:prstGeom>
          <a:noFill/>
        </p:spPr>
        <p:txBody>
          <a:bodyPr wrap="square">
            <a:spAutoFit/>
          </a:bodyPr>
          <a:lstStyle/>
          <a:p>
            <a:pPr>
              <a:spcAft>
                <a:spcPts val="600"/>
              </a:spcAft>
            </a:pPr>
            <a:r>
              <a:rPr lang="en-US" altLang="zh-CN" sz="1600" dirty="0"/>
              <a:t>3. </a:t>
            </a:r>
            <a:r>
              <a:rPr lang="zh-CN" altLang="en-US" sz="1600" dirty="0"/>
              <a:t>在推理时，与基于</a:t>
            </a:r>
            <a:r>
              <a:rPr lang="en-US" altLang="zh-CN" sz="1600" dirty="0"/>
              <a:t>mask</a:t>
            </a:r>
            <a:r>
              <a:rPr lang="zh-CN" altLang="en-US" sz="1600" dirty="0"/>
              <a:t>的方法一致，先使用构造的</a:t>
            </a:r>
            <a:r>
              <a:rPr lang="en-US" altLang="zh-CN" sz="1600" dirty="0"/>
              <a:t>mask</a:t>
            </a:r>
            <a:r>
              <a:rPr lang="zh-CN" altLang="en-US" sz="1600" dirty="0"/>
              <a:t>从融合参数中提取保留下来的参数，再将提出的参数大小维度放缩回原始微调模型参数大小维度</a:t>
            </a:r>
            <a:endParaRPr lang="en-US" altLang="zh-CN" sz="1600" dirty="0"/>
          </a:p>
        </p:txBody>
      </p:sp>
      <p:grpSp>
        <p:nvGrpSpPr>
          <p:cNvPr id="18" name="组合 17">
            <a:extLst>
              <a:ext uri="{FF2B5EF4-FFF2-40B4-BE49-F238E27FC236}">
                <a16:creationId xmlns:a16="http://schemas.microsoft.com/office/drawing/2014/main" id="{FFC976A6-5B3E-5A15-6891-761E0A66B9D4}"/>
              </a:ext>
            </a:extLst>
          </p:cNvPr>
          <p:cNvGrpSpPr/>
          <p:nvPr/>
        </p:nvGrpSpPr>
        <p:grpSpPr>
          <a:xfrm>
            <a:off x="720789" y="4854890"/>
            <a:ext cx="9030306" cy="397929"/>
            <a:chOff x="720789" y="4879934"/>
            <a:chExt cx="9030306" cy="397929"/>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9939386-D968-4326-5173-C6ACC98271FC}"/>
                    </a:ext>
                  </a:extLst>
                </p:cNvPr>
                <p:cNvSpPr txBox="1"/>
                <p:nvPr/>
              </p:nvSpPr>
              <p:spPr>
                <a:xfrm>
                  <a:off x="720789" y="4882924"/>
                  <a:ext cx="3931297" cy="357534"/>
                </a:xfrm>
                <a:prstGeom prst="rect">
                  <a:avLst/>
                </a:prstGeom>
                <a:noFill/>
              </p:spPr>
              <p:txBody>
                <a:bodyPr wrap="square">
                  <a:spAutoFit/>
                </a:bodyPr>
                <a:lstStyle>
                  <a:defPPr>
                    <a:defRPr lang="zh-CN"/>
                  </a:defPPr>
                  <a:lvl1pPr>
                    <a:defRPr i="1">
                      <a:solidFill>
                        <a:srgbClr val="836967"/>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altLang="zh-CN" sz="1600" b="0" i="1" smtClean="0">
                            <a:solidFill>
                              <a:schemeClr val="tx1"/>
                            </a:solidFill>
                            <a:latin typeface="Cambria Math" panose="02040503050406030204" pitchFamily="18" charset="0"/>
                          </a:rPr>
                          <m:t>𝑠𝑐𝑎𝑙𝑒</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𝑟</m:t>
                            </m:r>
                          </m:e>
                          <m:sub>
                            <m:r>
                              <a:rPr lang="en-US" altLang="zh-CN" sz="1600" b="0" i="1" smtClean="0">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𝑚𝑒𝑎𝑛</m:t>
                        </m:r>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𝑝𝑖𝑣𝑜𝑡</m:t>
                            </m:r>
                          </m:sub>
                        </m:sSub>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𝑚𝑒𝑎𝑛</m:t>
                        </m:r>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rPr>
                          <m:t>|)</m:t>
                        </m:r>
                      </m:oMath>
                    </m:oMathPara>
                  </a14:m>
                  <a:endParaRPr lang="zh-CN" altLang="en-US" sz="1600" dirty="0">
                    <a:solidFill>
                      <a:schemeClr val="tx1"/>
                    </a:solidFill>
                  </a:endParaRPr>
                </a:p>
              </p:txBody>
            </p:sp>
          </mc:Choice>
          <mc:Fallback xmlns="">
            <p:sp>
              <p:nvSpPr>
                <p:cNvPr id="13" name="文本框 12">
                  <a:extLst>
                    <a:ext uri="{FF2B5EF4-FFF2-40B4-BE49-F238E27FC236}">
                      <a16:creationId xmlns:a16="http://schemas.microsoft.com/office/drawing/2014/main" id="{B9939386-D968-4326-5173-C6ACC98271FC}"/>
                    </a:ext>
                  </a:extLst>
                </p:cNvPr>
                <p:cNvSpPr txBox="1">
                  <a:spLocks noRot="1" noChangeAspect="1" noMove="1" noResize="1" noEditPoints="1" noAdjustHandles="1" noChangeArrowheads="1" noChangeShapeType="1" noTextEdit="1"/>
                </p:cNvSpPr>
                <p:nvPr/>
              </p:nvSpPr>
              <p:spPr>
                <a:xfrm>
                  <a:off x="720789" y="4882924"/>
                  <a:ext cx="3931297" cy="357534"/>
                </a:xfrm>
                <a:prstGeom prst="rect">
                  <a:avLst/>
                </a:prstGeom>
                <a:blipFill>
                  <a:blip r:embed="rId4"/>
                  <a:stretch>
                    <a:fillRect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DE1670D-FA81-65FB-B678-B8D76AF97148}"/>
                    </a:ext>
                  </a:extLst>
                </p:cNvPr>
                <p:cNvSpPr txBox="1"/>
                <p:nvPr/>
              </p:nvSpPr>
              <p:spPr>
                <a:xfrm>
                  <a:off x="4652086" y="4879934"/>
                  <a:ext cx="5099009" cy="397929"/>
                </a:xfrm>
                <a:prstGeom prst="rect">
                  <a:avLst/>
                </a:prstGeom>
                <a:noFill/>
              </p:spPr>
              <p:txBody>
                <a:bodyPr wrap="square">
                  <a:spAutoFit/>
                </a:bodyPr>
                <a:lstStyle>
                  <a:defPPr>
                    <a:defRPr lang="zh-CN"/>
                  </a:defPPr>
                  <a:lvl1pPr>
                    <a:defRPr i="1">
                      <a:solidFill>
                        <a:srgbClr val="836967"/>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sSubSup>
                          <m:sSubSupPr>
                            <m:ctrlPr>
                              <a:rPr lang="en-US" altLang="zh-CN" sz="1600" b="0" i="1" smtClean="0">
                                <a:solidFill>
                                  <a:schemeClr val="tx1"/>
                                </a:solidFill>
                                <a:latin typeface="Cambria Math" panose="02040503050406030204" pitchFamily="18" charset="0"/>
                              </a:rPr>
                            </m:ctrlPr>
                          </m:sSubSup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𝑖</m:t>
                            </m:r>
                          </m:sub>
                          <m:sup>
                            <m:r>
                              <a:rPr lang="en-US" altLang="zh-CN" sz="1600" b="0" i="1" smtClean="0">
                                <a:solidFill>
                                  <a:schemeClr val="tx1"/>
                                </a:solidFill>
                                <a:latin typeface="Cambria Math" panose="02040503050406030204" pitchFamily="18" charset="0"/>
                              </a:rPr>
                              <m:t>𝑠𝑐𝑎𝑙𝑖𝑛𝑔</m:t>
                            </m:r>
                          </m:sup>
                        </m:sSubSup>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𝑠𝑐𝑎𝑙𝑒</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𝑟</m:t>
                            </m:r>
                          </m:e>
                          <m:sub>
                            <m:r>
                              <a:rPr lang="en-US" altLang="zh-CN" sz="1600" b="0" i="1" smtClean="0">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𝑖</m:t>
                            </m:r>
                          </m:sub>
                        </m:sSub>
                      </m:oMath>
                    </m:oMathPara>
                  </a14:m>
                  <a:endParaRPr lang="zh-CN" altLang="en-US" sz="1600" dirty="0">
                    <a:solidFill>
                      <a:schemeClr val="tx1"/>
                    </a:solidFill>
                  </a:endParaRPr>
                </a:p>
              </p:txBody>
            </p:sp>
          </mc:Choice>
          <mc:Fallback xmlns="">
            <p:sp>
              <p:nvSpPr>
                <p:cNvPr id="16" name="文本框 15">
                  <a:extLst>
                    <a:ext uri="{FF2B5EF4-FFF2-40B4-BE49-F238E27FC236}">
                      <a16:creationId xmlns:a16="http://schemas.microsoft.com/office/drawing/2014/main" id="{4DE1670D-FA81-65FB-B678-B8D76AF97148}"/>
                    </a:ext>
                  </a:extLst>
                </p:cNvPr>
                <p:cNvSpPr txBox="1">
                  <a:spLocks noRot="1" noChangeAspect="1" noMove="1" noResize="1" noEditPoints="1" noAdjustHandles="1" noChangeArrowheads="1" noChangeShapeType="1" noTextEdit="1"/>
                </p:cNvSpPr>
                <p:nvPr/>
              </p:nvSpPr>
              <p:spPr>
                <a:xfrm>
                  <a:off x="4652086" y="4879934"/>
                  <a:ext cx="5099009" cy="397929"/>
                </a:xfrm>
                <a:prstGeom prst="rect">
                  <a:avLst/>
                </a:prstGeom>
                <a:blipFill>
                  <a:blip r:embed="rId5"/>
                  <a:stretch>
                    <a:fillRect b="-1515"/>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1FABCD4-9D3D-3808-75C5-CBBEEF398571}"/>
                  </a:ext>
                </a:extLst>
              </p:cNvPr>
              <p:cNvSpPr txBox="1"/>
              <p:nvPr/>
            </p:nvSpPr>
            <p:spPr>
              <a:xfrm>
                <a:off x="720789" y="6338269"/>
                <a:ext cx="5099009" cy="397545"/>
              </a:xfrm>
              <a:prstGeom prst="rect">
                <a:avLst/>
              </a:prstGeom>
              <a:noFill/>
            </p:spPr>
            <p:txBody>
              <a:bodyPr wrap="square">
                <a:spAutoFit/>
              </a:bodyPr>
              <a:lstStyle>
                <a:defPPr>
                  <a:defRPr lang="zh-CN"/>
                </a:defPPr>
                <a:lvl1pPr>
                  <a:defRPr i="1">
                    <a:solidFill>
                      <a:srgbClr val="836967"/>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Sup>
                        <m:sSubSupPr>
                          <m:ctrlPr>
                            <a:rPr lang="en-US" altLang="zh-CN" sz="1600" b="0" i="1" smtClean="0">
                              <a:solidFill>
                                <a:schemeClr val="tx1"/>
                              </a:solidFill>
                              <a:latin typeface="Cambria Math" panose="02040503050406030204" pitchFamily="18" charset="0"/>
                            </a:rPr>
                          </m:ctrlPr>
                        </m:sSubSup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𝑖𝑛𝑓𝑒𝑟𝑒𝑛𝑐𝑒</m:t>
                          </m:r>
                        </m:sup>
                      </m:sSubSup>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𝑚𝑎𝑠</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𝑘</m:t>
                          </m:r>
                        </m:e>
                        <m:sub>
                          <m:r>
                            <a:rPr lang="en-US" altLang="zh-CN" sz="1600" b="0" i="1" smtClean="0">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ea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𝑠𝑐𝑎𝑙𝑒</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𝑟</m:t>
                          </m:r>
                        </m:e>
                        <m:sub>
                          <m:r>
                            <a:rPr lang="en-US" altLang="zh-CN" sz="1600" b="0" i="1" smtClean="0">
                              <a:solidFill>
                                <a:schemeClr val="tx1"/>
                              </a:solidFill>
                              <a:latin typeface="Cambria Math" panose="02040503050406030204" pitchFamily="18" charset="0"/>
                            </a:rPr>
                            <m:t>𝑖</m:t>
                          </m:r>
                        </m:sub>
                      </m:sSub>
                    </m:oMath>
                  </m:oMathPara>
                </a14:m>
                <a:endParaRPr lang="zh-CN" altLang="en-US" sz="1600" dirty="0">
                  <a:solidFill>
                    <a:schemeClr val="tx1"/>
                  </a:solidFill>
                </a:endParaRPr>
              </a:p>
            </p:txBody>
          </p:sp>
        </mc:Choice>
        <mc:Fallback xmlns="">
          <p:sp>
            <p:nvSpPr>
              <p:cNvPr id="17" name="文本框 16">
                <a:extLst>
                  <a:ext uri="{FF2B5EF4-FFF2-40B4-BE49-F238E27FC236}">
                    <a16:creationId xmlns:a16="http://schemas.microsoft.com/office/drawing/2014/main" id="{41FABCD4-9D3D-3808-75C5-CBBEEF398571}"/>
                  </a:ext>
                </a:extLst>
              </p:cNvPr>
              <p:cNvSpPr txBox="1">
                <a:spLocks noRot="1" noChangeAspect="1" noMove="1" noResize="1" noEditPoints="1" noAdjustHandles="1" noChangeArrowheads="1" noChangeShapeType="1" noTextEdit="1"/>
              </p:cNvSpPr>
              <p:nvPr/>
            </p:nvSpPr>
            <p:spPr>
              <a:xfrm>
                <a:off x="720789" y="6338269"/>
                <a:ext cx="5099009" cy="397545"/>
              </a:xfrm>
              <a:prstGeom prst="rect">
                <a:avLst/>
              </a:prstGeom>
              <a:blipFill>
                <a:blip r:embed="rId6"/>
                <a:stretch>
                  <a:fillRect b="-61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7575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graphicFrame>
        <p:nvGraphicFramePr>
          <p:cNvPr id="4" name="表格 3">
            <a:extLst>
              <a:ext uri="{FF2B5EF4-FFF2-40B4-BE49-F238E27FC236}">
                <a16:creationId xmlns:a16="http://schemas.microsoft.com/office/drawing/2014/main" id="{D1B49B7A-1501-1976-86A1-D9D2FFC14B62}"/>
              </a:ext>
            </a:extLst>
          </p:cNvPr>
          <p:cNvGraphicFramePr>
            <a:graphicFrameLocks noGrp="1"/>
          </p:cNvGraphicFramePr>
          <p:nvPr>
            <p:extLst>
              <p:ext uri="{D42A27DB-BD31-4B8C-83A1-F6EECF244321}">
                <p14:modId xmlns:p14="http://schemas.microsoft.com/office/powerpoint/2010/main" val="3738109659"/>
              </p:ext>
            </p:extLst>
          </p:nvPr>
        </p:nvGraphicFramePr>
        <p:xfrm>
          <a:off x="1874038" y="1319647"/>
          <a:ext cx="7574280" cy="1615440"/>
        </p:xfrm>
        <a:graphic>
          <a:graphicData uri="http://schemas.openxmlformats.org/drawingml/2006/table">
            <a:tbl>
              <a:tblPr/>
              <a:tblGrid>
                <a:gridCol w="960120">
                  <a:extLst>
                    <a:ext uri="{9D8B030D-6E8A-4147-A177-3AD203B41FA5}">
                      <a16:colId xmlns:a16="http://schemas.microsoft.com/office/drawing/2014/main" val="2788649340"/>
                    </a:ext>
                  </a:extLst>
                </a:gridCol>
                <a:gridCol w="769620">
                  <a:extLst>
                    <a:ext uri="{9D8B030D-6E8A-4147-A177-3AD203B41FA5}">
                      <a16:colId xmlns:a16="http://schemas.microsoft.com/office/drawing/2014/main" val="3714843868"/>
                    </a:ext>
                  </a:extLst>
                </a:gridCol>
                <a:gridCol w="769620">
                  <a:extLst>
                    <a:ext uri="{9D8B030D-6E8A-4147-A177-3AD203B41FA5}">
                      <a16:colId xmlns:a16="http://schemas.microsoft.com/office/drawing/2014/main" val="1836755042"/>
                    </a:ext>
                  </a:extLst>
                </a:gridCol>
                <a:gridCol w="853440">
                  <a:extLst>
                    <a:ext uri="{9D8B030D-6E8A-4147-A177-3AD203B41FA5}">
                      <a16:colId xmlns:a16="http://schemas.microsoft.com/office/drawing/2014/main" val="1762280872"/>
                    </a:ext>
                  </a:extLst>
                </a:gridCol>
                <a:gridCol w="853440">
                  <a:extLst>
                    <a:ext uri="{9D8B030D-6E8A-4147-A177-3AD203B41FA5}">
                      <a16:colId xmlns:a16="http://schemas.microsoft.com/office/drawing/2014/main" val="1205293569"/>
                    </a:ext>
                  </a:extLst>
                </a:gridCol>
                <a:gridCol w="769620">
                  <a:extLst>
                    <a:ext uri="{9D8B030D-6E8A-4147-A177-3AD203B41FA5}">
                      <a16:colId xmlns:a16="http://schemas.microsoft.com/office/drawing/2014/main" val="2926879887"/>
                    </a:ext>
                  </a:extLst>
                </a:gridCol>
                <a:gridCol w="769620">
                  <a:extLst>
                    <a:ext uri="{9D8B030D-6E8A-4147-A177-3AD203B41FA5}">
                      <a16:colId xmlns:a16="http://schemas.microsoft.com/office/drawing/2014/main" val="2704168836"/>
                    </a:ext>
                  </a:extLst>
                </a:gridCol>
                <a:gridCol w="914400">
                  <a:extLst>
                    <a:ext uri="{9D8B030D-6E8A-4147-A177-3AD203B41FA5}">
                      <a16:colId xmlns:a16="http://schemas.microsoft.com/office/drawing/2014/main" val="3670988513"/>
                    </a:ext>
                  </a:extLst>
                </a:gridCol>
                <a:gridCol w="914400">
                  <a:extLst>
                    <a:ext uri="{9D8B030D-6E8A-4147-A177-3AD203B41FA5}">
                      <a16:colId xmlns:a16="http://schemas.microsoft.com/office/drawing/2014/main" val="3017543284"/>
                    </a:ext>
                  </a:extLst>
                </a:gridCol>
              </a:tblGrid>
              <a:tr h="182880">
                <a:tc gridSpan="9">
                  <a:txBody>
                    <a:bodyPr/>
                    <a:lstStyle/>
                    <a:p>
                      <a:pPr algn="ctr" fontAlgn="ctr" latinLnBrk="0"/>
                      <a:r>
                        <a:rPr lang="en-US" sz="1000">
                          <a:solidFill>
                            <a:srgbClr val="000000"/>
                          </a:solidFill>
                          <a:effectLst/>
                        </a:rPr>
                        <a:t>Code Search</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484373"/>
                  </a:ext>
                </a:extLst>
              </a:tr>
              <a:tr h="182880">
                <a:tc gridSpan="9">
                  <a:txBody>
                    <a:bodyPr/>
                    <a:lstStyle/>
                    <a:p>
                      <a:pPr algn="ctr" fontAlgn="ctr" latinLnBrk="0"/>
                      <a:r>
                        <a:rPr lang="en-US" sz="1000" dirty="0" err="1">
                          <a:solidFill>
                            <a:srgbClr val="000000"/>
                          </a:solidFill>
                          <a:effectLst/>
                        </a:rPr>
                        <a:t>CodeSerchNet</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latinLnBrk="0"/>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6273998"/>
                  </a:ext>
                </a:extLst>
              </a:tr>
              <a:tr h="325932">
                <a:tc>
                  <a:txBody>
                    <a:bodyPr/>
                    <a:lstStyle/>
                    <a:p>
                      <a:pPr algn="ctr" fontAlgn="ctr" latinLnBrk="0"/>
                      <a:endParaRPr lang="zh-CN" alt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python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ruby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javascript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go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php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average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6649729"/>
                  </a:ext>
                </a:extLst>
              </a:tr>
              <a:tr h="182880">
                <a:tc>
                  <a:txBody>
                    <a:bodyPr/>
                    <a:lstStyle/>
                    <a:p>
                      <a:pPr algn="ctr" fontAlgn="ctr" latinLnBrk="0"/>
                      <a:r>
                        <a:rPr lang="en-US" sz="1000" dirty="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84.58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82.02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76.81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75.55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78.38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71676"/>
                  </a:ext>
                </a:extLst>
              </a:tr>
              <a:tr h="182880">
                <a:tc>
                  <a:txBody>
                    <a:bodyPr/>
                    <a:lstStyle/>
                    <a:p>
                      <a:pPr algn="ctr" fontAlgn="ctr" latinLnBrk="0"/>
                      <a:r>
                        <a:rPr lang="en-US" sz="1000" dirty="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84.61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81.93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77.48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76.67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75.93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75.23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78.64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5311632"/>
                  </a:ext>
                </a:extLst>
              </a:tr>
              <a:tr h="182880">
                <a:tc>
                  <a:txBody>
                    <a:bodyPr/>
                    <a:lstStyle/>
                    <a:p>
                      <a:pPr algn="ctr" fontAlgn="ctr" latinLnBrk="0"/>
                      <a:r>
                        <a:rPr lang="en-US" sz="1000" dirty="0" err="1">
                          <a:solidFill>
                            <a:srgbClr val="000000"/>
                          </a:solidFill>
                          <a:effectLst/>
                        </a:rPr>
                        <a:t>mask+scale</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84.63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82.09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77.48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76.74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75.95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75.28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78.7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3531303"/>
                  </a:ext>
                </a:extLst>
              </a:tr>
            </a:tbl>
          </a:graphicData>
        </a:graphic>
      </p:graphicFrame>
      <p:graphicFrame>
        <p:nvGraphicFramePr>
          <p:cNvPr id="19" name="表格 18">
            <a:extLst>
              <a:ext uri="{FF2B5EF4-FFF2-40B4-BE49-F238E27FC236}">
                <a16:creationId xmlns:a16="http://schemas.microsoft.com/office/drawing/2014/main" id="{739644BE-BDE6-E63A-951C-7DBC28A7B784}"/>
              </a:ext>
            </a:extLst>
          </p:cNvPr>
          <p:cNvGraphicFramePr>
            <a:graphicFrameLocks noGrp="1"/>
          </p:cNvGraphicFramePr>
          <p:nvPr>
            <p:extLst>
              <p:ext uri="{D42A27DB-BD31-4B8C-83A1-F6EECF244321}">
                <p14:modId xmlns:p14="http://schemas.microsoft.com/office/powerpoint/2010/main" val="205595025"/>
              </p:ext>
            </p:extLst>
          </p:nvPr>
        </p:nvGraphicFramePr>
        <p:xfrm>
          <a:off x="1874038" y="3115194"/>
          <a:ext cx="7574280" cy="1615440"/>
        </p:xfrm>
        <a:graphic>
          <a:graphicData uri="http://schemas.openxmlformats.org/drawingml/2006/table">
            <a:tbl>
              <a:tblPr/>
              <a:tblGrid>
                <a:gridCol w="960120">
                  <a:extLst>
                    <a:ext uri="{9D8B030D-6E8A-4147-A177-3AD203B41FA5}">
                      <a16:colId xmlns:a16="http://schemas.microsoft.com/office/drawing/2014/main" val="290364030"/>
                    </a:ext>
                  </a:extLst>
                </a:gridCol>
                <a:gridCol w="769620">
                  <a:extLst>
                    <a:ext uri="{9D8B030D-6E8A-4147-A177-3AD203B41FA5}">
                      <a16:colId xmlns:a16="http://schemas.microsoft.com/office/drawing/2014/main" val="2962175162"/>
                    </a:ext>
                  </a:extLst>
                </a:gridCol>
                <a:gridCol w="769620">
                  <a:extLst>
                    <a:ext uri="{9D8B030D-6E8A-4147-A177-3AD203B41FA5}">
                      <a16:colId xmlns:a16="http://schemas.microsoft.com/office/drawing/2014/main" val="1152528211"/>
                    </a:ext>
                  </a:extLst>
                </a:gridCol>
                <a:gridCol w="853440">
                  <a:extLst>
                    <a:ext uri="{9D8B030D-6E8A-4147-A177-3AD203B41FA5}">
                      <a16:colId xmlns:a16="http://schemas.microsoft.com/office/drawing/2014/main" val="4275817694"/>
                    </a:ext>
                  </a:extLst>
                </a:gridCol>
                <a:gridCol w="853440">
                  <a:extLst>
                    <a:ext uri="{9D8B030D-6E8A-4147-A177-3AD203B41FA5}">
                      <a16:colId xmlns:a16="http://schemas.microsoft.com/office/drawing/2014/main" val="4069092734"/>
                    </a:ext>
                  </a:extLst>
                </a:gridCol>
                <a:gridCol w="769620">
                  <a:extLst>
                    <a:ext uri="{9D8B030D-6E8A-4147-A177-3AD203B41FA5}">
                      <a16:colId xmlns:a16="http://schemas.microsoft.com/office/drawing/2014/main" val="649335069"/>
                    </a:ext>
                  </a:extLst>
                </a:gridCol>
                <a:gridCol w="769620">
                  <a:extLst>
                    <a:ext uri="{9D8B030D-6E8A-4147-A177-3AD203B41FA5}">
                      <a16:colId xmlns:a16="http://schemas.microsoft.com/office/drawing/2014/main" val="647315297"/>
                    </a:ext>
                  </a:extLst>
                </a:gridCol>
                <a:gridCol w="914400">
                  <a:extLst>
                    <a:ext uri="{9D8B030D-6E8A-4147-A177-3AD203B41FA5}">
                      <a16:colId xmlns:a16="http://schemas.microsoft.com/office/drawing/2014/main" val="137907244"/>
                    </a:ext>
                  </a:extLst>
                </a:gridCol>
                <a:gridCol w="914400">
                  <a:extLst>
                    <a:ext uri="{9D8B030D-6E8A-4147-A177-3AD203B41FA5}">
                      <a16:colId xmlns:a16="http://schemas.microsoft.com/office/drawing/2014/main" val="4046920826"/>
                    </a:ext>
                  </a:extLst>
                </a:gridCol>
              </a:tblGrid>
              <a:tr h="182880">
                <a:tc gridSpan="9">
                  <a:txBody>
                    <a:bodyPr/>
                    <a:lstStyle/>
                    <a:p>
                      <a:pPr algn="ctr" fontAlgn="ctr" latinLnBrk="0"/>
                      <a:r>
                        <a:rPr lang="en-US" sz="1000" dirty="0">
                          <a:solidFill>
                            <a:srgbClr val="000000"/>
                          </a:solidFill>
                          <a:effectLst/>
                        </a:rPr>
                        <a:t>Code Repair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51357004"/>
                  </a:ext>
                </a:extLst>
              </a:tr>
              <a:tr h="182880">
                <a:tc>
                  <a:txBody>
                    <a:bodyPr/>
                    <a:lstStyle/>
                    <a:p>
                      <a:pPr algn="ctr" fontAlgn="ctr" latinLnBrk="0"/>
                      <a:endParaRPr lang="zh-CN" alt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python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ruby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javascript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go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php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java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average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1758148"/>
                  </a:ext>
                </a:extLst>
              </a:tr>
              <a:tr h="182880">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7">
                  <a:txBody>
                    <a:bodyPr/>
                    <a:lstStyle/>
                    <a:p>
                      <a:pPr algn="ctr" fontAlgn="ctr" latinLnBrk="0"/>
                      <a:r>
                        <a:rPr lang="en-US" sz="100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57548964"/>
                  </a:ext>
                </a:extLst>
              </a:tr>
              <a:tr h="182880">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17.82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23.34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29.41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34.31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29.99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26.58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6328166"/>
                  </a:ext>
                </a:extLst>
              </a:tr>
              <a:tr h="182880">
                <a:tc>
                  <a:txBody>
                    <a:bodyPr/>
                    <a:lstStyle/>
                    <a:p>
                      <a:pPr algn="ctr" fontAlgn="ctr" latinLnBrk="0"/>
                      <a:r>
                        <a:rPr lang="en-US" sz="100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24.4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a:solidFill>
                            <a:srgbClr val="000000"/>
                          </a:solidFill>
                          <a:effectLst/>
                        </a:rPr>
                        <a:t>17.71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23.33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29.29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26.69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31.18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0" dirty="0">
                          <a:solidFill>
                            <a:srgbClr val="000000"/>
                          </a:solidFill>
                          <a:effectLst/>
                        </a:rPr>
                        <a:t>25.43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7320238"/>
                  </a:ext>
                </a:extLst>
              </a:tr>
              <a:tr h="182880">
                <a:tc>
                  <a:txBody>
                    <a:bodyPr/>
                    <a:lstStyle/>
                    <a:p>
                      <a:pPr algn="ctr" fontAlgn="ctr" latinLnBrk="0"/>
                      <a:r>
                        <a:rPr lang="en-US" sz="1000">
                          <a:solidFill>
                            <a:srgbClr val="000000"/>
                          </a:solidFill>
                          <a:effectLst/>
                        </a:rPr>
                        <a:t>mask+scale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25.02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18.77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24.36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30.71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34.93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31.57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27.56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846268"/>
                  </a:ext>
                </a:extLst>
              </a:tr>
            </a:tbl>
          </a:graphicData>
        </a:graphic>
      </p:graphicFrame>
    </p:spTree>
    <p:extLst>
      <p:ext uri="{BB962C8B-B14F-4D97-AF65-F5344CB8AC3E}">
        <p14:creationId xmlns:p14="http://schemas.microsoft.com/office/powerpoint/2010/main" val="570704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graphicFrame>
        <p:nvGraphicFramePr>
          <p:cNvPr id="5" name="表格 4">
            <a:extLst>
              <a:ext uri="{FF2B5EF4-FFF2-40B4-BE49-F238E27FC236}">
                <a16:creationId xmlns:a16="http://schemas.microsoft.com/office/drawing/2014/main" id="{DE991AFD-903A-B365-5340-7F19A4D2285E}"/>
              </a:ext>
            </a:extLst>
          </p:cNvPr>
          <p:cNvGraphicFramePr>
            <a:graphicFrameLocks noGrp="1"/>
          </p:cNvGraphicFramePr>
          <p:nvPr>
            <p:extLst>
              <p:ext uri="{D42A27DB-BD31-4B8C-83A1-F6EECF244321}">
                <p14:modId xmlns:p14="http://schemas.microsoft.com/office/powerpoint/2010/main" val="3636390701"/>
              </p:ext>
            </p:extLst>
          </p:nvPr>
        </p:nvGraphicFramePr>
        <p:xfrm>
          <a:off x="344610" y="1231669"/>
          <a:ext cx="4206240" cy="1676400"/>
        </p:xfrm>
        <a:graphic>
          <a:graphicData uri="http://schemas.openxmlformats.org/drawingml/2006/table">
            <a:tbl>
              <a:tblPr/>
              <a:tblGrid>
                <a:gridCol w="960120">
                  <a:extLst>
                    <a:ext uri="{9D8B030D-6E8A-4147-A177-3AD203B41FA5}">
                      <a16:colId xmlns:a16="http://schemas.microsoft.com/office/drawing/2014/main" val="1442508285"/>
                    </a:ext>
                  </a:extLst>
                </a:gridCol>
                <a:gridCol w="769620">
                  <a:extLst>
                    <a:ext uri="{9D8B030D-6E8A-4147-A177-3AD203B41FA5}">
                      <a16:colId xmlns:a16="http://schemas.microsoft.com/office/drawing/2014/main" val="2431832129"/>
                    </a:ext>
                  </a:extLst>
                </a:gridCol>
                <a:gridCol w="769620">
                  <a:extLst>
                    <a:ext uri="{9D8B030D-6E8A-4147-A177-3AD203B41FA5}">
                      <a16:colId xmlns:a16="http://schemas.microsoft.com/office/drawing/2014/main" val="3574774091"/>
                    </a:ext>
                  </a:extLst>
                </a:gridCol>
                <a:gridCol w="853440">
                  <a:extLst>
                    <a:ext uri="{9D8B030D-6E8A-4147-A177-3AD203B41FA5}">
                      <a16:colId xmlns:a16="http://schemas.microsoft.com/office/drawing/2014/main" val="1992901310"/>
                    </a:ext>
                  </a:extLst>
                </a:gridCol>
                <a:gridCol w="853440">
                  <a:extLst>
                    <a:ext uri="{9D8B030D-6E8A-4147-A177-3AD203B41FA5}">
                      <a16:colId xmlns:a16="http://schemas.microsoft.com/office/drawing/2014/main" val="78079607"/>
                    </a:ext>
                  </a:extLst>
                </a:gridCol>
              </a:tblGrid>
              <a:tr h="435864">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a:t>
                      </a:r>
                      <a:br>
                        <a:rPr lang="en-US" sz="1000">
                          <a:solidFill>
                            <a:srgbClr val="000000"/>
                          </a:solidFill>
                          <a:effectLst/>
                        </a:rPr>
                      </a:br>
                      <a:r>
                        <a:rPr lang="en-US" sz="1000">
                          <a:solidFill>
                            <a:srgbClr val="000000"/>
                          </a:solidFill>
                          <a:effectLst/>
                        </a:rPr>
                        <a:t>Summary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Repair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Generation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7805212"/>
                  </a:ext>
                </a:extLst>
              </a:tr>
              <a:tr h="435864">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BLEU-4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pass@5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9417317"/>
                  </a:ext>
                </a:extLst>
              </a:tr>
              <a:tr h="268224">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7990092"/>
                  </a:ext>
                </a:extLst>
              </a:tr>
              <a:tr h="268224">
                <a:tc>
                  <a:txBody>
                    <a:bodyPr/>
                    <a:lstStyle/>
                    <a:p>
                      <a:pPr algn="ctr" fontAlgn="ctr" latinLnBrk="0"/>
                      <a:r>
                        <a:rPr lang="en-US" sz="100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8.3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23.59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66.8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0220627"/>
                  </a:ext>
                </a:extLst>
              </a:tr>
              <a:tr h="268224">
                <a:tc>
                  <a:txBody>
                    <a:bodyPr/>
                    <a:lstStyle/>
                    <a:p>
                      <a:pPr algn="ctr" fontAlgn="ctr" latinLnBrk="0"/>
                      <a:r>
                        <a:rPr lang="en-US" sz="1000">
                          <a:solidFill>
                            <a:srgbClr val="000000"/>
                          </a:solidFill>
                          <a:effectLst/>
                        </a:rPr>
                        <a:t>mask+scale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8.68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24.56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65.9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2571442"/>
                  </a:ext>
                </a:extLst>
              </a:tr>
            </a:tbl>
          </a:graphicData>
        </a:graphic>
      </p:graphicFrame>
      <p:graphicFrame>
        <p:nvGraphicFramePr>
          <p:cNvPr id="6" name="表格 5">
            <a:extLst>
              <a:ext uri="{FF2B5EF4-FFF2-40B4-BE49-F238E27FC236}">
                <a16:creationId xmlns:a16="http://schemas.microsoft.com/office/drawing/2014/main" id="{F947DB69-115E-CCB4-C025-DC0CFCA6B836}"/>
              </a:ext>
            </a:extLst>
          </p:cNvPr>
          <p:cNvGraphicFramePr>
            <a:graphicFrameLocks noGrp="1"/>
          </p:cNvGraphicFramePr>
          <p:nvPr>
            <p:extLst>
              <p:ext uri="{D42A27DB-BD31-4B8C-83A1-F6EECF244321}">
                <p14:modId xmlns:p14="http://schemas.microsoft.com/office/powerpoint/2010/main" val="2579335578"/>
              </p:ext>
            </p:extLst>
          </p:nvPr>
        </p:nvGraphicFramePr>
        <p:xfrm>
          <a:off x="4655976" y="1231669"/>
          <a:ext cx="7408507" cy="1676400"/>
        </p:xfrm>
        <a:graphic>
          <a:graphicData uri="http://schemas.openxmlformats.org/drawingml/2006/table">
            <a:tbl>
              <a:tblPr/>
              <a:tblGrid>
                <a:gridCol w="780495">
                  <a:extLst>
                    <a:ext uri="{9D8B030D-6E8A-4147-A177-3AD203B41FA5}">
                      <a16:colId xmlns:a16="http://schemas.microsoft.com/office/drawing/2014/main" val="636990771"/>
                    </a:ext>
                  </a:extLst>
                </a:gridCol>
                <a:gridCol w="625635">
                  <a:extLst>
                    <a:ext uri="{9D8B030D-6E8A-4147-A177-3AD203B41FA5}">
                      <a16:colId xmlns:a16="http://schemas.microsoft.com/office/drawing/2014/main" val="412713892"/>
                    </a:ext>
                  </a:extLst>
                </a:gridCol>
                <a:gridCol w="625635">
                  <a:extLst>
                    <a:ext uri="{9D8B030D-6E8A-4147-A177-3AD203B41FA5}">
                      <a16:colId xmlns:a16="http://schemas.microsoft.com/office/drawing/2014/main" val="514123931"/>
                    </a:ext>
                  </a:extLst>
                </a:gridCol>
                <a:gridCol w="693773">
                  <a:extLst>
                    <a:ext uri="{9D8B030D-6E8A-4147-A177-3AD203B41FA5}">
                      <a16:colId xmlns:a16="http://schemas.microsoft.com/office/drawing/2014/main" val="4228997787"/>
                    </a:ext>
                  </a:extLst>
                </a:gridCol>
                <a:gridCol w="693773">
                  <a:extLst>
                    <a:ext uri="{9D8B030D-6E8A-4147-A177-3AD203B41FA5}">
                      <a16:colId xmlns:a16="http://schemas.microsoft.com/office/drawing/2014/main" val="805065479"/>
                    </a:ext>
                  </a:extLst>
                </a:gridCol>
                <a:gridCol w="625635">
                  <a:extLst>
                    <a:ext uri="{9D8B030D-6E8A-4147-A177-3AD203B41FA5}">
                      <a16:colId xmlns:a16="http://schemas.microsoft.com/office/drawing/2014/main" val="2529609458"/>
                    </a:ext>
                  </a:extLst>
                </a:gridCol>
                <a:gridCol w="625635">
                  <a:extLst>
                    <a:ext uri="{9D8B030D-6E8A-4147-A177-3AD203B41FA5}">
                      <a16:colId xmlns:a16="http://schemas.microsoft.com/office/drawing/2014/main" val="2802053736"/>
                    </a:ext>
                  </a:extLst>
                </a:gridCol>
                <a:gridCol w="743328">
                  <a:extLst>
                    <a:ext uri="{9D8B030D-6E8A-4147-A177-3AD203B41FA5}">
                      <a16:colId xmlns:a16="http://schemas.microsoft.com/office/drawing/2014/main" val="3707650577"/>
                    </a:ext>
                  </a:extLst>
                </a:gridCol>
                <a:gridCol w="743328">
                  <a:extLst>
                    <a:ext uri="{9D8B030D-6E8A-4147-A177-3AD203B41FA5}">
                      <a16:colId xmlns:a16="http://schemas.microsoft.com/office/drawing/2014/main" val="1934174888"/>
                    </a:ext>
                  </a:extLst>
                </a:gridCol>
                <a:gridCol w="625635">
                  <a:extLst>
                    <a:ext uri="{9D8B030D-6E8A-4147-A177-3AD203B41FA5}">
                      <a16:colId xmlns:a16="http://schemas.microsoft.com/office/drawing/2014/main" val="401238156"/>
                    </a:ext>
                  </a:extLst>
                </a:gridCol>
                <a:gridCol w="625635">
                  <a:extLst>
                    <a:ext uri="{9D8B030D-6E8A-4147-A177-3AD203B41FA5}">
                      <a16:colId xmlns:a16="http://schemas.microsoft.com/office/drawing/2014/main" val="4194656200"/>
                    </a:ext>
                  </a:extLst>
                </a:gridCol>
              </a:tblGrid>
              <a:tr h="182880">
                <a:tc>
                  <a:txBody>
                    <a:bodyPr/>
                    <a:lstStyle/>
                    <a:p>
                      <a:pPr fontAlgn="ctr" latinLnBrk="0"/>
                      <a:endParaRPr lang="zh-CN" altLang="en-US" sz="1000" i="1">
                        <a:solidFill>
                          <a:srgbClr val="C77DBB"/>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Search</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latinLnBrk="0"/>
                      <a:r>
                        <a:rPr lang="en-US" sz="1000">
                          <a:solidFill>
                            <a:srgbClr val="000000"/>
                          </a:solidFill>
                          <a:effectLst/>
                        </a:rPr>
                        <a:t>Vulnerability Detection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latinLnBrk="0"/>
                      <a:r>
                        <a:rPr lang="en-US" sz="1000">
                          <a:solidFill>
                            <a:srgbClr val="000000"/>
                          </a:solidFill>
                          <a:effectLst/>
                        </a:rPr>
                        <a:t>CloneDetection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87252104"/>
                  </a:ext>
                </a:extLst>
              </a:tr>
              <a:tr h="182880">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learned weight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MRR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a:t>
                      </a:r>
                      <a:r>
                        <a:rPr lang="en-US" altLang="zh-CN" sz="1000" dirty="0">
                          <a:solidFill>
                            <a:srgbClr val="000000"/>
                          </a:solidFill>
                          <a:effectLst/>
                        </a:rPr>
                        <a:t>cc</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A</a:t>
                      </a:r>
                      <a:r>
                        <a:rPr lang="en-US" altLang="zh-CN" sz="1000" dirty="0">
                          <a:solidFill>
                            <a:srgbClr val="000000"/>
                          </a:solidFill>
                          <a:effectLst/>
                        </a:rPr>
                        <a:t>cc</a:t>
                      </a:r>
                      <a:endParaRPr lang="en-US" sz="100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dirty="0">
                          <a:solidFill>
                            <a:srgbClr val="000000"/>
                          </a:solidFill>
                          <a:effectLst/>
                        </a:rPr>
                        <a:t>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9303141"/>
                  </a:ext>
                </a:extLst>
              </a:tr>
              <a:tr h="182880">
                <a:tc>
                  <a:txBody>
                    <a:bodyPr/>
                    <a:lstStyle/>
                    <a:p>
                      <a:pPr algn="ctr" fontAlgn="ctr" latinLnBrk="0"/>
                      <a:r>
                        <a:rPr lang="en-US" sz="1000">
                          <a:solidFill>
                            <a:srgbClr val="000000"/>
                          </a:solidFill>
                          <a:effectLst/>
                        </a:rPr>
                        <a:t>finetune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92.44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50.21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30.69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95.22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587036"/>
                  </a:ext>
                </a:extLst>
              </a:tr>
              <a:tr h="182880">
                <a:tc>
                  <a:txBody>
                    <a:bodyPr/>
                    <a:lstStyle/>
                    <a:p>
                      <a:pPr algn="ctr" fontAlgn="ctr" latinLnBrk="0"/>
                      <a:r>
                        <a:rPr lang="en-US" sz="1000">
                          <a:solidFill>
                            <a:srgbClr val="000000"/>
                          </a:solidFill>
                          <a:effectLst/>
                        </a:rPr>
                        <a:t>mask</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74.75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92.55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51.06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22.39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31.12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96.47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94.01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95.23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3294910"/>
                  </a:ext>
                </a:extLst>
              </a:tr>
              <a:tr h="182880">
                <a:tc>
                  <a:txBody>
                    <a:bodyPr/>
                    <a:lstStyle/>
                    <a:p>
                      <a:pPr algn="ctr" fontAlgn="ctr" latinLnBrk="0"/>
                      <a:r>
                        <a:rPr lang="en-US" sz="1000">
                          <a:solidFill>
                            <a:srgbClr val="000000"/>
                          </a:solidFill>
                          <a:effectLst/>
                        </a:rPr>
                        <a:t>mask+scale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74.74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92.43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49.17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30.59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98.8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96.85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94.35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95.58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125755"/>
                  </a:ext>
                </a:extLst>
              </a:tr>
            </a:tbl>
          </a:graphicData>
        </a:graphic>
      </p:graphicFrame>
      <p:graphicFrame>
        <p:nvGraphicFramePr>
          <p:cNvPr id="7" name="表格 6">
            <a:extLst>
              <a:ext uri="{FF2B5EF4-FFF2-40B4-BE49-F238E27FC236}">
                <a16:creationId xmlns:a16="http://schemas.microsoft.com/office/drawing/2014/main" id="{E3F8ADA6-400B-5B1D-2298-73C7F114E9BA}"/>
              </a:ext>
            </a:extLst>
          </p:cNvPr>
          <p:cNvGraphicFramePr>
            <a:graphicFrameLocks noGrp="1"/>
          </p:cNvGraphicFramePr>
          <p:nvPr>
            <p:extLst>
              <p:ext uri="{D42A27DB-BD31-4B8C-83A1-F6EECF244321}">
                <p14:modId xmlns:p14="http://schemas.microsoft.com/office/powerpoint/2010/main" val="1682071947"/>
              </p:ext>
            </p:extLst>
          </p:nvPr>
        </p:nvGraphicFramePr>
        <p:xfrm>
          <a:off x="337930" y="3582528"/>
          <a:ext cx="11726553" cy="1599263"/>
        </p:xfrm>
        <a:graphic>
          <a:graphicData uri="http://schemas.openxmlformats.org/drawingml/2006/table">
            <a:tbl>
              <a:tblPr/>
              <a:tblGrid>
                <a:gridCol w="951057">
                  <a:extLst>
                    <a:ext uri="{9D8B030D-6E8A-4147-A177-3AD203B41FA5}">
                      <a16:colId xmlns:a16="http://schemas.microsoft.com/office/drawing/2014/main" val="1575703008"/>
                    </a:ext>
                  </a:extLst>
                </a:gridCol>
                <a:gridCol w="762355">
                  <a:extLst>
                    <a:ext uri="{9D8B030D-6E8A-4147-A177-3AD203B41FA5}">
                      <a16:colId xmlns:a16="http://schemas.microsoft.com/office/drawing/2014/main" val="641816189"/>
                    </a:ext>
                  </a:extLst>
                </a:gridCol>
                <a:gridCol w="762355">
                  <a:extLst>
                    <a:ext uri="{9D8B030D-6E8A-4147-A177-3AD203B41FA5}">
                      <a16:colId xmlns:a16="http://schemas.microsoft.com/office/drawing/2014/main" val="733455708"/>
                    </a:ext>
                  </a:extLst>
                </a:gridCol>
                <a:gridCol w="845385">
                  <a:extLst>
                    <a:ext uri="{9D8B030D-6E8A-4147-A177-3AD203B41FA5}">
                      <a16:colId xmlns:a16="http://schemas.microsoft.com/office/drawing/2014/main" val="274116020"/>
                    </a:ext>
                  </a:extLst>
                </a:gridCol>
                <a:gridCol w="845385">
                  <a:extLst>
                    <a:ext uri="{9D8B030D-6E8A-4147-A177-3AD203B41FA5}">
                      <a16:colId xmlns:a16="http://schemas.microsoft.com/office/drawing/2014/main" val="1767165535"/>
                    </a:ext>
                  </a:extLst>
                </a:gridCol>
                <a:gridCol w="762355">
                  <a:extLst>
                    <a:ext uri="{9D8B030D-6E8A-4147-A177-3AD203B41FA5}">
                      <a16:colId xmlns:a16="http://schemas.microsoft.com/office/drawing/2014/main" val="1747570734"/>
                    </a:ext>
                  </a:extLst>
                </a:gridCol>
                <a:gridCol w="517665">
                  <a:extLst>
                    <a:ext uri="{9D8B030D-6E8A-4147-A177-3AD203B41FA5}">
                      <a16:colId xmlns:a16="http://schemas.microsoft.com/office/drawing/2014/main" val="559942646"/>
                    </a:ext>
                  </a:extLst>
                </a:gridCol>
                <a:gridCol w="905769">
                  <a:extLst>
                    <a:ext uri="{9D8B030D-6E8A-4147-A177-3AD203B41FA5}">
                      <a16:colId xmlns:a16="http://schemas.microsoft.com/office/drawing/2014/main" val="1642864371"/>
                    </a:ext>
                  </a:extLst>
                </a:gridCol>
                <a:gridCol w="905769">
                  <a:extLst>
                    <a:ext uri="{9D8B030D-6E8A-4147-A177-3AD203B41FA5}">
                      <a16:colId xmlns:a16="http://schemas.microsoft.com/office/drawing/2014/main" val="3563231302"/>
                    </a:ext>
                  </a:extLst>
                </a:gridCol>
                <a:gridCol w="762355">
                  <a:extLst>
                    <a:ext uri="{9D8B030D-6E8A-4147-A177-3AD203B41FA5}">
                      <a16:colId xmlns:a16="http://schemas.microsoft.com/office/drawing/2014/main" val="4137997949"/>
                    </a:ext>
                  </a:extLst>
                </a:gridCol>
                <a:gridCol w="581079">
                  <a:extLst>
                    <a:ext uri="{9D8B030D-6E8A-4147-A177-3AD203B41FA5}">
                      <a16:colId xmlns:a16="http://schemas.microsoft.com/office/drawing/2014/main" val="3021548589"/>
                    </a:ext>
                  </a:extLst>
                </a:gridCol>
                <a:gridCol w="1216139">
                  <a:extLst>
                    <a:ext uri="{9D8B030D-6E8A-4147-A177-3AD203B41FA5}">
                      <a16:colId xmlns:a16="http://schemas.microsoft.com/office/drawing/2014/main" val="2928229868"/>
                    </a:ext>
                  </a:extLst>
                </a:gridCol>
                <a:gridCol w="912105">
                  <a:extLst>
                    <a:ext uri="{9D8B030D-6E8A-4147-A177-3AD203B41FA5}">
                      <a16:colId xmlns:a16="http://schemas.microsoft.com/office/drawing/2014/main" val="1981657454"/>
                    </a:ext>
                  </a:extLst>
                </a:gridCol>
                <a:gridCol w="996780">
                  <a:extLst>
                    <a:ext uri="{9D8B030D-6E8A-4147-A177-3AD203B41FA5}">
                      <a16:colId xmlns:a16="http://schemas.microsoft.com/office/drawing/2014/main" val="1753318193"/>
                    </a:ext>
                  </a:extLst>
                </a:gridCol>
              </a:tblGrid>
              <a:tr h="236230">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Search</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latinLnBrk="0"/>
                      <a:r>
                        <a:rPr lang="en-US" sz="1000">
                          <a:solidFill>
                            <a:srgbClr val="000000"/>
                          </a:solidFill>
                          <a:effectLst/>
                        </a:rPr>
                        <a:t>Vulnerability Detection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latinLnBrk="0"/>
                      <a:r>
                        <a:rPr lang="en-US" sz="1000" dirty="0">
                          <a:solidFill>
                            <a:srgbClr val="000000"/>
                          </a:solidFill>
                          <a:effectLst/>
                        </a:rPr>
                        <a:t>Clone Detection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sz="1000" dirty="0">
                          <a:solidFill>
                            <a:srgbClr val="000000"/>
                          </a:solidFill>
                          <a:effectLst/>
                        </a:rPr>
                        <a:t>Summary</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Repair</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Code Generation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8699524"/>
                  </a:ext>
                </a:extLst>
              </a:tr>
              <a:tr h="276845">
                <a:tc>
                  <a:txBody>
                    <a:bodyPr/>
                    <a:lstStyle/>
                    <a:p>
                      <a:pPr algn="ctr" fontAlgn="ctr" latinLnBrk="0"/>
                      <a:endParaRPr lang="zh-CN" altLang="en-US" sz="1000">
                        <a:solidFill>
                          <a:srgbClr val="000000"/>
                        </a:solidFill>
                        <a:effectLst/>
                      </a:endParaRP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learned weight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MRR</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Accuracy</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Precision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Recall</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Accuracy</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Precision</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Recall</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F1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BLEU-4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sz="1000">
                          <a:solidFill>
                            <a:srgbClr val="000000"/>
                          </a:solidFill>
                          <a:effectLst/>
                        </a:rPr>
                        <a:t>pass@5</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5304361"/>
                  </a:ext>
                </a:extLst>
              </a:tr>
              <a:tr h="276845">
                <a:tc>
                  <a:txBody>
                    <a:bodyPr/>
                    <a:lstStyle/>
                    <a:p>
                      <a:pPr algn="ctr" fontAlgn="ctr" latinLnBrk="0"/>
                      <a:r>
                        <a:rPr lang="en-US" sz="1000">
                          <a:solidFill>
                            <a:srgbClr val="000000"/>
                          </a:solidFill>
                          <a:effectLst/>
                        </a:rPr>
                        <a:t>finetune</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74.62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92.44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50.21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22.1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30.69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96.24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94.23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95.22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8.13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24.61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238092"/>
                  </a:ext>
                </a:extLst>
              </a:tr>
              <a:tr h="276845">
                <a:tc>
                  <a:txBody>
                    <a:bodyPr/>
                    <a:lstStyle/>
                    <a:p>
                      <a:pPr algn="ctr" fontAlgn="ctr" latinLnBrk="0"/>
                      <a:r>
                        <a:rPr lang="en-US" sz="1000">
                          <a:solidFill>
                            <a:srgbClr val="000000"/>
                          </a:solidFill>
                          <a:effectLst/>
                        </a:rPr>
                        <a:t>mask</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73.78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58.24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77.27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6.34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11.72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98.81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97.17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94.02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95.57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8.56</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24.23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68.1</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6556615"/>
                  </a:ext>
                </a:extLst>
              </a:tr>
              <a:tr h="276845">
                <a:tc>
                  <a:txBody>
                    <a:bodyPr/>
                    <a:lstStyle/>
                    <a:p>
                      <a:pPr algn="ctr" fontAlgn="ctr" latinLnBrk="0"/>
                      <a:r>
                        <a:rPr lang="en-US" sz="1000">
                          <a:solidFill>
                            <a:srgbClr val="000000"/>
                          </a:solidFill>
                          <a:effectLst/>
                        </a:rPr>
                        <a:t>mask+scale</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74.63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92.42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48.98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dirty="0">
                          <a:solidFill>
                            <a:srgbClr val="000000"/>
                          </a:solidFill>
                          <a:effectLst/>
                        </a:rPr>
                        <a:t>22.57</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30.9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98.79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96.9</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94.2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a:solidFill>
                            <a:srgbClr val="000000"/>
                          </a:solidFill>
                          <a:effectLst/>
                        </a:rPr>
                        <a:t>95.54</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9.03</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b="1">
                          <a:solidFill>
                            <a:srgbClr val="000000"/>
                          </a:solidFill>
                          <a:effectLst/>
                        </a:rPr>
                        <a:t>24.88</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zh-CN" sz="1000" dirty="0">
                          <a:solidFill>
                            <a:srgbClr val="000000"/>
                          </a:solidFill>
                          <a:effectLst/>
                        </a:rPr>
                        <a:t>67.2</a:t>
                      </a:r>
                    </a:p>
                  </a:txBody>
                  <a:tcPr marL="79563" marR="79563" marT="39782" marB="3978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7541092"/>
                  </a:ext>
                </a:extLst>
              </a:tr>
            </a:tbl>
          </a:graphicData>
        </a:graphic>
      </p:graphicFrame>
    </p:spTree>
    <p:extLst>
      <p:ext uri="{BB962C8B-B14F-4D97-AF65-F5344CB8AC3E}">
        <p14:creationId xmlns:p14="http://schemas.microsoft.com/office/powerpoint/2010/main" val="1648252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lang="zh-CN" altLang="en-US" sz="2800" b="1" dirty="0">
                <a:solidFill>
                  <a:srgbClr val="000000"/>
                </a:solidFill>
                <a:latin typeface="微软雅黑" panose="020B0503020204020204" pitchFamily="34" charset="-122"/>
                <a:ea typeface="微软雅黑" panose="020B0503020204020204" pitchFamily="34" charset="-122"/>
              </a:rPr>
              <a:t>实验结果</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209EB67-7026-81DF-A91F-E4F00512BA40}"/>
              </a:ext>
            </a:extLst>
          </p:cNvPr>
          <p:cNvSpPr txBox="1"/>
          <p:nvPr/>
        </p:nvSpPr>
        <p:spPr>
          <a:xfrm>
            <a:off x="435553" y="778914"/>
            <a:ext cx="5225625" cy="369332"/>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solidFill>
                  <a:srgbClr val="268F9C"/>
                </a:solidFill>
                <a:latin typeface="+mn-ea"/>
              </a:rPr>
              <a:t>RQ3.</a:t>
            </a:r>
            <a:r>
              <a:rPr lang="zh-CN" altLang="en-US" b="1" dirty="0">
                <a:solidFill>
                  <a:srgbClr val="268F9C"/>
                </a:solidFill>
                <a:latin typeface="+mn-ea"/>
              </a:rPr>
              <a:t> </a:t>
            </a:r>
            <a:r>
              <a:rPr lang="en-US" altLang="zh-CN" b="1" dirty="0">
                <a:solidFill>
                  <a:srgbClr val="268F9C"/>
                </a:solidFill>
                <a:latin typeface="+mn-ea"/>
              </a:rPr>
              <a:t> </a:t>
            </a:r>
            <a:r>
              <a:rPr lang="zh-CN" altLang="en-US" b="1" dirty="0">
                <a:solidFill>
                  <a:srgbClr val="268F9C"/>
                </a:solidFill>
                <a:latin typeface="+mn-ea"/>
              </a:rPr>
              <a:t>对模型融合方法在软工任务上的改进</a:t>
            </a:r>
          </a:p>
        </p:txBody>
      </p:sp>
      <p:pic>
        <p:nvPicPr>
          <p:cNvPr id="4" name="图片 3">
            <a:extLst>
              <a:ext uri="{FF2B5EF4-FFF2-40B4-BE49-F238E27FC236}">
                <a16:creationId xmlns:a16="http://schemas.microsoft.com/office/drawing/2014/main" id="{699A753E-79CE-4900-5603-37C18D5F5415}"/>
              </a:ext>
            </a:extLst>
          </p:cNvPr>
          <p:cNvPicPr>
            <a:picLocks noChangeAspect="1"/>
          </p:cNvPicPr>
          <p:nvPr/>
        </p:nvPicPr>
        <p:blipFill>
          <a:blip r:embed="rId3"/>
          <a:stretch>
            <a:fillRect/>
          </a:stretch>
        </p:blipFill>
        <p:spPr>
          <a:xfrm>
            <a:off x="144952" y="1623527"/>
            <a:ext cx="5951048" cy="3552640"/>
          </a:xfrm>
          <a:prstGeom prst="rect">
            <a:avLst/>
          </a:prstGeom>
        </p:spPr>
      </p:pic>
      <p:pic>
        <p:nvPicPr>
          <p:cNvPr id="8" name="图片 7">
            <a:extLst>
              <a:ext uri="{FF2B5EF4-FFF2-40B4-BE49-F238E27FC236}">
                <a16:creationId xmlns:a16="http://schemas.microsoft.com/office/drawing/2014/main" id="{441B92FD-E70F-BAD0-A82F-4517E2E412C9}"/>
              </a:ext>
            </a:extLst>
          </p:cNvPr>
          <p:cNvPicPr>
            <a:picLocks noChangeAspect="1"/>
          </p:cNvPicPr>
          <p:nvPr/>
        </p:nvPicPr>
        <p:blipFill>
          <a:blip r:embed="rId4"/>
          <a:stretch>
            <a:fillRect/>
          </a:stretch>
        </p:blipFill>
        <p:spPr>
          <a:xfrm>
            <a:off x="6131500" y="1649194"/>
            <a:ext cx="5888878" cy="3526972"/>
          </a:xfrm>
          <a:prstGeom prst="rect">
            <a:avLst/>
          </a:prstGeom>
        </p:spPr>
      </p:pic>
    </p:spTree>
    <p:extLst>
      <p:ext uri="{BB962C8B-B14F-4D97-AF65-F5344CB8AC3E}">
        <p14:creationId xmlns:p14="http://schemas.microsoft.com/office/powerpoint/2010/main" val="2177801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谢谢聆听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请老师批评指正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9777</TotalTime>
  <Words>3417</Words>
  <Application>Microsoft Office PowerPoint</Application>
  <PresentationFormat>宽屏</PresentationFormat>
  <Paragraphs>807</Paragraphs>
  <Slides>21</Slides>
  <Notes>21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-apple-system</vt:lpstr>
      <vt:lpstr>Arial Unicode MS</vt:lpstr>
      <vt:lpstr>等线</vt:lpstr>
      <vt:lpstr>微软雅黑</vt:lpstr>
      <vt:lpstr>Arial</vt:lpstr>
      <vt:lpstr>Calibri</vt:lpstr>
      <vt:lpstr>Cambria Math</vt:lpstr>
      <vt:lpstr>Lato</vt:lpstr>
      <vt:lpstr>Times New Roman</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459</cp:revision>
  <dcterms:created xsi:type="dcterms:W3CDTF">2024-11-06T01:21:23Z</dcterms:created>
  <dcterms:modified xsi:type="dcterms:W3CDTF">2025-07-16T14:12:52Z</dcterms:modified>
</cp:coreProperties>
</file>