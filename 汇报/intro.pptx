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
  </p:handoutMasterIdLst>
  <p:sldIdLst>
    <p:sldId id="403" r:id="rId2"/>
    <p:sldId id="397" r:id="rId3"/>
    <p:sldId id="404" r:id="rId4"/>
    <p:sldId id="405"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E3EF657-181C-4883-9D5A-AB9F1355040F}">
          <p14:sldIdLst>
            <p14:sldId id="403"/>
            <p14:sldId id="397"/>
            <p14:sldId id="404"/>
            <p14:sldId id="4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AE43C"/>
    <a:srgbClr val="3C79E4"/>
    <a:srgbClr val="EFEFEF"/>
    <a:srgbClr val="D71D49"/>
    <a:srgbClr val="00B0F0"/>
    <a:srgbClr val="F2F2F2"/>
    <a:srgbClr val="FFC000"/>
    <a:srgbClr val="3333FF"/>
    <a:srgbClr val="268F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4" autoAdjust="0"/>
    <p:restoredTop sz="78403" autoAdjust="0"/>
  </p:normalViewPr>
  <p:slideViewPr>
    <p:cSldViewPr snapToGrid="0">
      <p:cViewPr varScale="1">
        <p:scale>
          <a:sx n="82" d="100"/>
          <a:sy n="82" d="100"/>
        </p:scale>
        <p:origin x="125" y="72"/>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528"/>
    </p:cViewPr>
  </p:sorterViewPr>
  <p:notesViewPr>
    <p:cSldViewPr snapToGrid="0">
      <p:cViewPr varScale="1">
        <p:scale>
          <a:sx n="64" d="100"/>
          <a:sy n="64" d="100"/>
        </p:scale>
        <p:origin x="319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MTL</c:v>
                </c:pt>
              </c:strCache>
            </c:strRef>
          </c:tx>
          <c:spPr>
            <a:solidFill>
              <a:schemeClr val="accent1"/>
            </a:solidFill>
            <a:ln>
              <a:noFill/>
            </a:ln>
            <a:effectLst/>
          </c:spPr>
          <c:invertIfNegative val="0"/>
          <c:cat>
            <c:strRef>
              <c:f>Sheet1!$A$2:$A$4</c:f>
              <c:strCache>
                <c:ptCount val="3"/>
                <c:pt idx="0">
                  <c:v>Code Search</c:v>
                </c:pt>
                <c:pt idx="1">
                  <c:v>Vulnerability Detection</c:v>
                </c:pt>
                <c:pt idx="2">
                  <c:v>Clone Detection</c:v>
                </c:pt>
              </c:strCache>
            </c:strRef>
          </c:cat>
          <c:val>
            <c:numRef>
              <c:f>Sheet1!$B$2:$B$4</c:f>
              <c:numCache>
                <c:formatCode>General</c:formatCode>
                <c:ptCount val="3"/>
                <c:pt idx="0">
                  <c:v>74.22</c:v>
                </c:pt>
                <c:pt idx="1">
                  <c:v>26.2</c:v>
                </c:pt>
                <c:pt idx="2">
                  <c:v>95.68</c:v>
                </c:pt>
              </c:numCache>
            </c:numRef>
          </c:val>
          <c:extLst>
            <c:ext xmlns:c16="http://schemas.microsoft.com/office/drawing/2014/chart" uri="{C3380CC4-5D6E-409C-BE32-E72D297353CC}">
              <c16:uniqueId val="{00000000-0298-41D4-82F7-00EC820BD026}"/>
            </c:ext>
          </c:extLst>
        </c:ser>
        <c:ser>
          <c:idx val="1"/>
          <c:order val="1"/>
          <c:tx>
            <c:strRef>
              <c:f>Sheet1!$C$1</c:f>
              <c:strCache>
                <c:ptCount val="1"/>
                <c:pt idx="0">
                  <c:v>Individual Fine-tuning</c:v>
                </c:pt>
              </c:strCache>
            </c:strRef>
          </c:tx>
          <c:spPr>
            <a:solidFill>
              <a:schemeClr val="accent2"/>
            </a:solidFill>
            <a:ln>
              <a:noFill/>
            </a:ln>
            <a:effectLst/>
          </c:spPr>
          <c:invertIfNegative val="0"/>
          <c:cat>
            <c:strRef>
              <c:f>Sheet1!$A$2:$A$4</c:f>
              <c:strCache>
                <c:ptCount val="3"/>
                <c:pt idx="0">
                  <c:v>Code Search</c:v>
                </c:pt>
                <c:pt idx="1">
                  <c:v>Vulnerability Detection</c:v>
                </c:pt>
                <c:pt idx="2">
                  <c:v>Clone Detection</c:v>
                </c:pt>
              </c:strCache>
            </c:strRef>
          </c:cat>
          <c:val>
            <c:numRef>
              <c:f>Sheet1!$C$2:$C$4</c:f>
              <c:numCache>
                <c:formatCode>General</c:formatCode>
                <c:ptCount val="3"/>
                <c:pt idx="0">
                  <c:v>74.62</c:v>
                </c:pt>
                <c:pt idx="1">
                  <c:v>30.69</c:v>
                </c:pt>
                <c:pt idx="2">
                  <c:v>95.22</c:v>
                </c:pt>
              </c:numCache>
            </c:numRef>
          </c:val>
          <c:extLst>
            <c:ext xmlns:c16="http://schemas.microsoft.com/office/drawing/2014/chart" uri="{C3380CC4-5D6E-409C-BE32-E72D297353CC}">
              <c16:uniqueId val="{00000001-0298-41D4-82F7-00EC820BD026}"/>
            </c:ext>
          </c:extLst>
        </c:ser>
        <c:ser>
          <c:idx val="2"/>
          <c:order val="2"/>
          <c:tx>
            <c:strRef>
              <c:f>Sheet1!$D$1</c:f>
              <c:strCache>
                <c:ptCount val="1"/>
                <c:pt idx="0">
                  <c:v>Scaling-Masks Fsuion</c:v>
                </c:pt>
              </c:strCache>
            </c:strRef>
          </c:tx>
          <c:spPr>
            <a:solidFill>
              <a:schemeClr val="accent3"/>
            </a:solidFill>
            <a:ln>
              <a:noFill/>
            </a:ln>
            <a:effectLst/>
          </c:spPr>
          <c:invertIfNegative val="0"/>
          <c:cat>
            <c:strRef>
              <c:f>Sheet1!$A$2:$A$4</c:f>
              <c:strCache>
                <c:ptCount val="3"/>
                <c:pt idx="0">
                  <c:v>Code Search</c:v>
                </c:pt>
                <c:pt idx="1">
                  <c:v>Vulnerability Detection</c:v>
                </c:pt>
                <c:pt idx="2">
                  <c:v>Clone Detection</c:v>
                </c:pt>
              </c:strCache>
            </c:strRef>
          </c:cat>
          <c:val>
            <c:numRef>
              <c:f>Sheet1!$D$2:$D$4</c:f>
              <c:numCache>
                <c:formatCode>General</c:formatCode>
                <c:ptCount val="3"/>
                <c:pt idx="0">
                  <c:v>74.739999999999995</c:v>
                </c:pt>
                <c:pt idx="1">
                  <c:v>30.59</c:v>
                </c:pt>
                <c:pt idx="2">
                  <c:v>95.58</c:v>
                </c:pt>
              </c:numCache>
            </c:numRef>
          </c:val>
          <c:extLst>
            <c:ext xmlns:c16="http://schemas.microsoft.com/office/drawing/2014/chart" uri="{C3380CC4-5D6E-409C-BE32-E72D297353CC}">
              <c16:uniqueId val="{00000002-0298-41D4-82F7-00EC820BD026}"/>
            </c:ext>
          </c:extLst>
        </c:ser>
        <c:dLbls>
          <c:showLegendKey val="0"/>
          <c:showVal val="0"/>
          <c:showCatName val="0"/>
          <c:showSerName val="0"/>
          <c:showPercent val="0"/>
          <c:showBubbleSize val="0"/>
        </c:dLbls>
        <c:gapWidth val="219"/>
        <c:overlap val="-27"/>
        <c:axId val="2028957248"/>
        <c:axId val="2028957728"/>
      </c:barChart>
      <c:catAx>
        <c:axId val="2028957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028957728"/>
        <c:crosses val="autoZero"/>
        <c:auto val="1"/>
        <c:lblAlgn val="ctr"/>
        <c:lblOffset val="100"/>
        <c:noMultiLvlLbl val="0"/>
      </c:catAx>
      <c:valAx>
        <c:axId val="2028957728"/>
        <c:scaling>
          <c:orientation val="minMax"/>
        </c:scaling>
        <c:delete val="0"/>
        <c:axPos val="l"/>
        <c:majorGridlines>
          <c:spPr>
            <a:ln w="9525" cap="flat" cmpd="sng" algn="ctr">
              <a:noFill/>
              <a:round/>
            </a:ln>
            <a:effectLst/>
          </c:spPr>
        </c:majorGridlines>
        <c:title>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028957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7A95C1-E06F-4CA8-8396-75D76C7FF345}" type="datetimeFigureOut">
              <a:rPr lang="zh-CN" altLang="en-US" smtClean="0"/>
              <a:t>2025/7/29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CDBA3F-305F-43D9-8EEC-18859E489F8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2025/7/29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76150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350C-1ABD-9C8C-DCC9-BCD54B8CA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479389-EE30-A009-9027-C172C26DE8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2919A6-7B1F-97AA-25D5-8AA2615A69BB}"/>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7B0C40FD-E0D6-8CF6-39FB-FADE8043D70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410234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10" name="幻灯片编号占位符 4"/>
          <p:cNvSpPr>
            <a:spLocks noGrp="1"/>
          </p:cNvSpPr>
          <p:nvPr>
            <p:ph type="sldNum" sz="quarter" idx="12"/>
          </p:nvPr>
        </p:nvSpPr>
        <p:spPr>
          <a:xfrm>
            <a:off x="9675471" y="6356351"/>
            <a:ext cx="2743200" cy="365125"/>
          </a:xfrm>
          <a:prstGeom prst="rect">
            <a:avLst/>
          </a:prstGeom>
        </p:spPr>
        <p:txBody>
          <a:bodyPr lIns="121917" tIns="60958" rIns="121917" bIns="60958"/>
          <a:lstStyle>
            <a:lvl1pPr>
              <a:defRPr/>
            </a:lvl1pPr>
          </a:lstStyle>
          <a:p>
            <a:fld id="{C5FC99A0-26D8-5E4B-82FB-70809BCEE9F6}" type="slidenum">
              <a:rPr lang="zh-CN" altLang="en-US" smtClean="0"/>
              <a:t>‹#›</a:t>
            </a:fld>
            <a:endParaRPr lang="zh-CN" altLang="en-US" sz="19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2025/7/29</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dirty="0"/>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smtClean="0"/>
              <a:t>‹#›</a:t>
            </a:fld>
            <a:endParaRPr lang="zh-CN" altLang="en-US" sz="19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首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首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6856D773-DEDF-6B0D-C679-E4CA67BC7F51}"/>
              </a:ext>
            </a:extLst>
          </p:cNvPr>
          <p:cNvGrpSpPr/>
          <p:nvPr/>
        </p:nvGrpSpPr>
        <p:grpSpPr>
          <a:xfrm>
            <a:off x="619618" y="1689371"/>
            <a:ext cx="5975350" cy="1935572"/>
            <a:chOff x="283716" y="1428114"/>
            <a:chExt cx="5975350" cy="1935572"/>
          </a:xfrm>
        </p:grpSpPr>
        <p:sp>
          <p:nvSpPr>
            <p:cNvPr id="27" name="矩形 26"/>
            <p:cNvSpPr/>
            <p:nvPr/>
          </p:nvSpPr>
          <p:spPr>
            <a:xfrm>
              <a:off x="283716" y="2248626"/>
              <a:ext cx="1639570" cy="318770"/>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实现多个任务功能</a:t>
              </a:r>
            </a:p>
          </p:txBody>
        </p:sp>
        <p:cxnSp>
          <p:nvCxnSpPr>
            <p:cNvPr id="30" name="连接符: 肘形 29"/>
            <p:cNvCxnSpPr>
              <a:cxnSpLocks/>
              <a:stCxn id="27" idx="3"/>
              <a:endCxn id="29" idx="1"/>
            </p:cNvCxnSpPr>
            <p:nvPr/>
          </p:nvCxnSpPr>
          <p:spPr>
            <a:xfrm>
              <a:off x="1923286" y="2408011"/>
              <a:ext cx="314325" cy="635"/>
            </a:xfrm>
            <a:prstGeom prst="bentConnector3">
              <a:avLst>
                <a:gd name="adj1" fmla="val 5010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238881" y="1452971"/>
              <a:ext cx="1662430" cy="32040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保存多个微调权重</a:t>
              </a:r>
            </a:p>
          </p:txBody>
        </p:sp>
        <p:sp>
          <p:nvSpPr>
            <p:cNvPr id="29" name="矩形 28"/>
            <p:cNvSpPr/>
            <p:nvPr/>
          </p:nvSpPr>
          <p:spPr>
            <a:xfrm>
              <a:off x="2237611" y="2248351"/>
              <a:ext cx="1663200" cy="32004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多任务学习</a:t>
              </a:r>
            </a:p>
          </p:txBody>
        </p:sp>
        <p:sp>
          <p:nvSpPr>
            <p:cNvPr id="70" name="矩形 69"/>
            <p:cNvSpPr/>
            <p:nvPr/>
          </p:nvSpPr>
          <p:spPr>
            <a:xfrm>
              <a:off x="2238246" y="3043371"/>
              <a:ext cx="1663200" cy="32004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持续学习</a:t>
              </a:r>
            </a:p>
          </p:txBody>
        </p:sp>
        <p:cxnSp>
          <p:nvCxnSpPr>
            <p:cNvPr id="71" name="连接符: 肘形 70"/>
            <p:cNvCxnSpPr>
              <a:cxnSpLocks/>
              <a:stCxn id="27" idx="3"/>
              <a:endCxn id="70" idx="1"/>
            </p:cNvCxnSpPr>
            <p:nvPr/>
          </p:nvCxnSpPr>
          <p:spPr>
            <a:xfrm>
              <a:off x="1923286" y="2408011"/>
              <a:ext cx="314960" cy="7956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连接符: 肘形 29"/>
            <p:cNvCxnSpPr>
              <a:cxnSpLocks/>
              <a:stCxn id="27" idx="3"/>
              <a:endCxn id="28" idx="1"/>
            </p:cNvCxnSpPr>
            <p:nvPr/>
          </p:nvCxnSpPr>
          <p:spPr>
            <a:xfrm flipV="1">
              <a:off x="1923286" y="1613626"/>
              <a:ext cx="315595" cy="794385"/>
            </a:xfrm>
            <a:prstGeom prst="bentConnector3">
              <a:avLst>
                <a:gd name="adj1" fmla="val 5010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左大括号 4"/>
            <p:cNvSpPr/>
            <p:nvPr/>
          </p:nvSpPr>
          <p:spPr>
            <a:xfrm>
              <a:off x="3926711" y="1452971"/>
              <a:ext cx="187325" cy="2984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文本框 5"/>
            <p:cNvSpPr txBox="1"/>
            <p:nvPr/>
          </p:nvSpPr>
          <p:spPr>
            <a:xfrm>
              <a:off x="4088001" y="1428114"/>
              <a:ext cx="2171065" cy="294824"/>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资源消耗大，不利于绿色发展</a:t>
              </a:r>
            </a:p>
          </p:txBody>
        </p:sp>
        <p:grpSp>
          <p:nvGrpSpPr>
            <p:cNvPr id="19" name="组合 18"/>
            <p:cNvGrpSpPr/>
            <p:nvPr/>
          </p:nvGrpSpPr>
          <p:grpSpPr>
            <a:xfrm>
              <a:off x="3926711" y="1924776"/>
              <a:ext cx="1786890" cy="894080"/>
              <a:chOff x="6352" y="2514"/>
              <a:chExt cx="2814" cy="1408"/>
            </a:xfrm>
          </p:grpSpPr>
          <p:sp>
            <p:nvSpPr>
              <p:cNvPr id="7" name="左大括号 6"/>
              <p:cNvSpPr/>
              <p:nvPr/>
            </p:nvSpPr>
            <p:spPr>
              <a:xfrm>
                <a:off x="6352" y="2810"/>
                <a:ext cx="295" cy="897"/>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6606" y="2514"/>
                <a:ext cx="18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数据不平衡</a:t>
                </a:r>
              </a:p>
            </p:txBody>
          </p:sp>
          <p:sp>
            <p:nvSpPr>
              <p:cNvPr id="13" name="文本框 12"/>
              <p:cNvSpPr txBox="1"/>
              <p:nvPr/>
            </p:nvSpPr>
            <p:spPr>
              <a:xfrm>
                <a:off x="6606" y="2972"/>
                <a:ext cx="25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任务冲突、负迁移</a:t>
                </a:r>
              </a:p>
            </p:txBody>
          </p:sp>
          <p:sp>
            <p:nvSpPr>
              <p:cNvPr id="14" name="文本框 13"/>
              <p:cNvSpPr txBox="1"/>
              <p:nvPr/>
            </p:nvSpPr>
            <p:spPr>
              <a:xfrm>
                <a:off x="6606" y="3430"/>
                <a:ext cx="25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数据隐私问题</a:t>
                </a:r>
              </a:p>
            </p:txBody>
          </p:sp>
        </p:grpSp>
        <p:sp>
          <p:nvSpPr>
            <p:cNvPr id="17" name="左大括号 16"/>
            <p:cNvSpPr/>
            <p:nvPr/>
          </p:nvSpPr>
          <p:spPr>
            <a:xfrm>
              <a:off x="3926711" y="3065236"/>
              <a:ext cx="187325" cy="2984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文本框 17"/>
            <p:cNvSpPr txBox="1"/>
            <p:nvPr/>
          </p:nvSpPr>
          <p:spPr>
            <a:xfrm>
              <a:off x="4088001" y="3043011"/>
              <a:ext cx="1240790" cy="312420"/>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灾难性遗忘</a:t>
              </a:r>
            </a:p>
          </p:txBody>
        </p:sp>
      </p:grpSp>
      <p:sp>
        <p:nvSpPr>
          <p:cNvPr id="11" name="文本框 10">
            <a:extLst>
              <a:ext uri="{FF2B5EF4-FFF2-40B4-BE49-F238E27FC236}">
                <a16:creationId xmlns:a16="http://schemas.microsoft.com/office/drawing/2014/main" id="{BBADC4C2-E365-040D-54BC-DB02BC4E7AEB}"/>
              </a:ext>
            </a:extLst>
          </p:cNvPr>
          <p:cNvSpPr txBox="1"/>
          <p:nvPr/>
        </p:nvSpPr>
        <p:spPr>
          <a:xfrm>
            <a:off x="537658" y="1159659"/>
            <a:ext cx="8953590" cy="338554"/>
          </a:xfrm>
          <a:prstGeom prst="rect">
            <a:avLst/>
          </a:prstGeom>
          <a:noFill/>
        </p:spPr>
        <p:txBody>
          <a:bodyPr wrap="square">
            <a:spAutoFit/>
          </a:bodyPr>
          <a:lstStyle/>
          <a:p>
            <a:r>
              <a:rPr lang="zh-CN" altLang="en-US" sz="1600" dirty="0"/>
              <a:t>大型语言模型在软工领域已经证明了它们的强大的代码理解和生成能力</a:t>
            </a:r>
          </a:p>
        </p:txBody>
      </p:sp>
      <p:sp>
        <p:nvSpPr>
          <p:cNvPr id="15" name="文本框 14">
            <a:extLst>
              <a:ext uri="{FF2B5EF4-FFF2-40B4-BE49-F238E27FC236}">
                <a16:creationId xmlns:a16="http://schemas.microsoft.com/office/drawing/2014/main" id="{A989EDA4-1C2A-6CD3-95D0-244C8196C8D1}"/>
              </a:ext>
            </a:extLst>
          </p:cNvPr>
          <p:cNvSpPr txBox="1"/>
          <p:nvPr/>
        </p:nvSpPr>
        <p:spPr>
          <a:xfrm>
            <a:off x="537658" y="784293"/>
            <a:ext cx="6109334" cy="338554"/>
          </a:xfrm>
          <a:prstGeom prst="rect">
            <a:avLst/>
          </a:prstGeom>
          <a:noFill/>
        </p:spPr>
        <p:txBody>
          <a:bodyPr wrap="square">
            <a:spAutoFit/>
          </a:bodyPr>
          <a:lstStyle/>
          <a:p>
            <a:r>
              <a:rPr lang="zh-CN" altLang="en-US" sz="1600" b="1" dirty="0">
                <a:solidFill>
                  <a:srgbClr val="268F9C"/>
                </a:solidFill>
                <a:latin typeface="+mn-ea"/>
              </a:rPr>
              <a:t>多任务学习</a:t>
            </a:r>
            <a:endParaRPr lang="en-US" altLang="zh-CN" sz="1600" b="1" dirty="0">
              <a:solidFill>
                <a:srgbClr val="268F9C"/>
              </a:solidFill>
              <a:latin typeface="+mn-ea"/>
            </a:endParaRPr>
          </a:p>
        </p:txBody>
      </p:sp>
      <p:sp>
        <p:nvSpPr>
          <p:cNvPr id="16" name="文本框 15">
            <a:extLst>
              <a:ext uri="{FF2B5EF4-FFF2-40B4-BE49-F238E27FC236}">
                <a16:creationId xmlns:a16="http://schemas.microsoft.com/office/drawing/2014/main" id="{3217AD3C-2FBD-05DC-E6C6-255501DD3E66}"/>
              </a:ext>
            </a:extLst>
          </p:cNvPr>
          <p:cNvSpPr txBox="1"/>
          <p:nvPr/>
        </p:nvSpPr>
        <p:spPr>
          <a:xfrm>
            <a:off x="537658" y="3830316"/>
            <a:ext cx="1721530" cy="338554"/>
          </a:xfrm>
          <a:prstGeom prst="rect">
            <a:avLst/>
          </a:prstGeom>
          <a:noFill/>
        </p:spPr>
        <p:txBody>
          <a:bodyPr wrap="square">
            <a:spAutoFit/>
          </a:bodyPr>
          <a:lstStyle/>
          <a:p>
            <a:r>
              <a:rPr lang="zh-CN" altLang="en-US" sz="1600" b="1" dirty="0">
                <a:solidFill>
                  <a:srgbClr val="268F9C"/>
                </a:solidFill>
                <a:latin typeface="+mn-ea"/>
              </a:rPr>
              <a:t>模型融合</a:t>
            </a:r>
            <a:endParaRPr lang="en-US" altLang="zh-CN" sz="1600" b="1" dirty="0">
              <a:solidFill>
                <a:srgbClr val="268F9C"/>
              </a:solidFill>
              <a:latin typeface="+mn-ea"/>
            </a:endParaRPr>
          </a:p>
        </p:txBody>
      </p:sp>
      <p:grpSp>
        <p:nvGrpSpPr>
          <p:cNvPr id="68" name="组合 67">
            <a:extLst>
              <a:ext uri="{FF2B5EF4-FFF2-40B4-BE49-F238E27FC236}">
                <a16:creationId xmlns:a16="http://schemas.microsoft.com/office/drawing/2014/main" id="{48ADDD9D-428A-C2CF-1474-35112C38C4DC}"/>
              </a:ext>
            </a:extLst>
          </p:cNvPr>
          <p:cNvGrpSpPr/>
          <p:nvPr/>
        </p:nvGrpSpPr>
        <p:grpSpPr>
          <a:xfrm>
            <a:off x="537658" y="4801522"/>
            <a:ext cx="6589751" cy="1739261"/>
            <a:chOff x="537658" y="4655976"/>
            <a:chExt cx="6589751" cy="1739261"/>
          </a:xfrm>
        </p:grpSpPr>
        <p:sp>
          <p:nvSpPr>
            <p:cNvPr id="23" name="矩形 22">
              <a:extLst>
                <a:ext uri="{FF2B5EF4-FFF2-40B4-BE49-F238E27FC236}">
                  <a16:creationId xmlns:a16="http://schemas.microsoft.com/office/drawing/2014/main" id="{92F01456-2B13-CB9C-E25E-6E52F62B795D}"/>
                </a:ext>
              </a:extLst>
            </p:cNvPr>
            <p:cNvSpPr/>
            <p:nvPr/>
          </p:nvSpPr>
          <p:spPr>
            <a:xfrm>
              <a:off x="537658" y="5245259"/>
              <a:ext cx="1209954" cy="318770"/>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模型融合</a:t>
              </a:r>
            </a:p>
          </p:txBody>
        </p:sp>
        <p:sp>
          <p:nvSpPr>
            <p:cNvPr id="46" name="左大括号 45">
              <a:extLst>
                <a:ext uri="{FF2B5EF4-FFF2-40B4-BE49-F238E27FC236}">
                  <a16:creationId xmlns:a16="http://schemas.microsoft.com/office/drawing/2014/main" id="{FE37E5D8-1BDA-73A2-9E72-27816F42C550}"/>
                </a:ext>
              </a:extLst>
            </p:cNvPr>
            <p:cNvSpPr/>
            <p:nvPr/>
          </p:nvSpPr>
          <p:spPr>
            <a:xfrm>
              <a:off x="1868003" y="4824357"/>
              <a:ext cx="203394" cy="1160575"/>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27BC622E-74D4-4BD4-DFDD-A49354E74791}"/>
                </a:ext>
              </a:extLst>
            </p:cNvPr>
            <p:cNvSpPr txBox="1"/>
            <p:nvPr/>
          </p:nvSpPr>
          <p:spPr>
            <a:xfrm>
              <a:off x="2071397" y="4655976"/>
              <a:ext cx="5056012"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只对参数进行操作，无需数据或者只需少量数据</a:t>
              </a:r>
            </a:p>
          </p:txBody>
        </p:sp>
        <p:sp>
          <p:nvSpPr>
            <p:cNvPr id="49" name="文本框 48">
              <a:extLst>
                <a:ext uri="{FF2B5EF4-FFF2-40B4-BE49-F238E27FC236}">
                  <a16:creationId xmlns:a16="http://schemas.microsoft.com/office/drawing/2014/main" id="{CFDE7E9E-24A2-FF2B-66D7-C4B48A0B0819}"/>
                </a:ext>
              </a:extLst>
            </p:cNvPr>
            <p:cNvSpPr txBox="1"/>
            <p:nvPr/>
          </p:nvSpPr>
          <p:spPr>
            <a:xfrm>
              <a:off x="2071397" y="5041088"/>
              <a:ext cx="3881534"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能够压缩参数，减少资源消耗</a:t>
              </a:r>
            </a:p>
          </p:txBody>
        </p:sp>
        <p:sp>
          <p:nvSpPr>
            <p:cNvPr id="51" name="文本框 50">
              <a:extLst>
                <a:ext uri="{FF2B5EF4-FFF2-40B4-BE49-F238E27FC236}">
                  <a16:creationId xmlns:a16="http://schemas.microsoft.com/office/drawing/2014/main" id="{7C5FA9B3-3666-B92A-7015-FBF2040A3866}"/>
                </a:ext>
              </a:extLst>
            </p:cNvPr>
            <p:cNvSpPr txBox="1"/>
            <p:nvPr/>
          </p:nvSpPr>
          <p:spPr>
            <a:xfrm>
              <a:off x="2071397" y="5421859"/>
              <a:ext cx="3881534"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能够动态实现任务学习与遗忘，可扩展性好</a:t>
              </a:r>
            </a:p>
          </p:txBody>
        </p:sp>
        <p:sp>
          <p:nvSpPr>
            <p:cNvPr id="52" name="文本框 51">
              <a:extLst>
                <a:ext uri="{FF2B5EF4-FFF2-40B4-BE49-F238E27FC236}">
                  <a16:creationId xmlns:a16="http://schemas.microsoft.com/office/drawing/2014/main" id="{F6AF0066-2CAF-A983-F01E-DCD5D093F5AD}"/>
                </a:ext>
              </a:extLst>
            </p:cNvPr>
            <p:cNvSpPr txBox="1"/>
            <p:nvPr/>
          </p:nvSpPr>
          <p:spPr>
            <a:xfrm>
              <a:off x="2071398" y="5808153"/>
              <a:ext cx="4096138" cy="587084"/>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在多任务学习、联邦学习、持续学习等领域已广泛研究和应用</a:t>
              </a:r>
            </a:p>
          </p:txBody>
        </p:sp>
      </p:grpSp>
      <p:sp>
        <p:nvSpPr>
          <p:cNvPr id="54" name="文本框 53">
            <a:extLst>
              <a:ext uri="{FF2B5EF4-FFF2-40B4-BE49-F238E27FC236}">
                <a16:creationId xmlns:a16="http://schemas.microsoft.com/office/drawing/2014/main" id="{39291797-1937-50ED-9433-7DFA7AFE0ED5}"/>
              </a:ext>
            </a:extLst>
          </p:cNvPr>
          <p:cNvSpPr txBox="1"/>
          <p:nvPr/>
        </p:nvSpPr>
        <p:spPr>
          <a:xfrm>
            <a:off x="537658" y="4271037"/>
            <a:ext cx="5558342" cy="338554"/>
          </a:xfrm>
          <a:prstGeom prst="rect">
            <a:avLst/>
          </a:prstGeom>
          <a:noFill/>
        </p:spPr>
        <p:txBody>
          <a:bodyPr wrap="square">
            <a:spAutoFit/>
          </a:bodyPr>
          <a:lstStyle/>
          <a:p>
            <a:r>
              <a:rPr lang="zh-CN" altLang="en-US" sz="1600" dirty="0"/>
              <a:t>模型融合作为新兴方向，在</a:t>
            </a:r>
            <a:r>
              <a:rPr lang="en-US" altLang="zh-CN" sz="1600" dirty="0"/>
              <a:t>CV</a:t>
            </a:r>
            <a:r>
              <a:rPr lang="zh-CN" altLang="en-US" sz="1600" dirty="0"/>
              <a:t>和</a:t>
            </a:r>
            <a:r>
              <a:rPr lang="en-US" altLang="zh-CN" sz="1600" dirty="0"/>
              <a:t>NLP</a:t>
            </a:r>
            <a:r>
              <a:rPr lang="zh-CN" altLang="en-US" sz="1600" dirty="0"/>
              <a:t>等领域已有大量研究</a:t>
            </a:r>
          </a:p>
        </p:txBody>
      </p:sp>
      <p:sp>
        <p:nvSpPr>
          <p:cNvPr id="55" name="文本框 54">
            <a:extLst>
              <a:ext uri="{FF2B5EF4-FFF2-40B4-BE49-F238E27FC236}">
                <a16:creationId xmlns:a16="http://schemas.microsoft.com/office/drawing/2014/main" id="{381B55E6-AB58-F4FF-46D1-251C953E2E54}"/>
              </a:ext>
            </a:extLst>
          </p:cNvPr>
          <p:cNvSpPr txBox="1"/>
          <p:nvPr/>
        </p:nvSpPr>
        <p:spPr>
          <a:xfrm>
            <a:off x="6096000" y="3830316"/>
            <a:ext cx="1721530" cy="338554"/>
          </a:xfrm>
          <a:prstGeom prst="rect">
            <a:avLst/>
          </a:prstGeom>
          <a:noFill/>
        </p:spPr>
        <p:txBody>
          <a:bodyPr wrap="square">
            <a:spAutoFit/>
          </a:bodyPr>
          <a:lstStyle/>
          <a:p>
            <a:r>
              <a:rPr lang="zh-CN" altLang="en-US" sz="1600" b="1" dirty="0">
                <a:solidFill>
                  <a:srgbClr val="268F9C"/>
                </a:solidFill>
                <a:latin typeface="+mn-ea"/>
              </a:rPr>
              <a:t>研究问题</a:t>
            </a:r>
            <a:endParaRPr lang="en-US" altLang="zh-CN" sz="1600" b="1" dirty="0">
              <a:solidFill>
                <a:srgbClr val="268F9C"/>
              </a:solidFill>
              <a:latin typeface="+mn-ea"/>
            </a:endParaRPr>
          </a:p>
        </p:txBody>
      </p:sp>
      <p:sp>
        <p:nvSpPr>
          <p:cNvPr id="58" name="文本框 57">
            <a:extLst>
              <a:ext uri="{FF2B5EF4-FFF2-40B4-BE49-F238E27FC236}">
                <a16:creationId xmlns:a16="http://schemas.microsoft.com/office/drawing/2014/main" id="{B968E046-9766-2BF2-053B-99F16F3DE179}"/>
              </a:ext>
            </a:extLst>
          </p:cNvPr>
          <p:cNvSpPr txBox="1"/>
          <p:nvPr/>
        </p:nvSpPr>
        <p:spPr>
          <a:xfrm>
            <a:off x="6096000" y="4189377"/>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RQ1. </a:t>
            </a:r>
            <a:r>
              <a:rPr lang="zh-CN" altLang="zh-CN" dirty="0"/>
              <a:t>模型融合在多编程语言学习上的性能如何？</a:t>
            </a:r>
            <a:endParaRPr lang="zh-CN" altLang="en-US" dirty="0"/>
          </a:p>
        </p:txBody>
      </p:sp>
      <p:sp>
        <p:nvSpPr>
          <p:cNvPr id="60" name="文本框 59">
            <a:extLst>
              <a:ext uri="{FF2B5EF4-FFF2-40B4-BE49-F238E27FC236}">
                <a16:creationId xmlns:a16="http://schemas.microsoft.com/office/drawing/2014/main" id="{EAD9B458-BFAB-833C-982A-65F05ED0F49F}"/>
              </a:ext>
            </a:extLst>
          </p:cNvPr>
          <p:cNvSpPr txBox="1"/>
          <p:nvPr/>
        </p:nvSpPr>
        <p:spPr>
          <a:xfrm>
            <a:off x="6394464" y="4536803"/>
            <a:ext cx="5558342" cy="328551"/>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en-US" dirty="0"/>
              <a:t>在</a:t>
            </a:r>
            <a:r>
              <a:rPr lang="zh-CN" altLang="zh-CN" dirty="0"/>
              <a:t>代码</a:t>
            </a:r>
            <a:r>
              <a:rPr lang="zh-CN" altLang="en-US" dirty="0"/>
              <a:t>搜索</a:t>
            </a:r>
            <a:r>
              <a:rPr lang="zh-CN" altLang="zh-CN" dirty="0"/>
              <a:t>任务</a:t>
            </a:r>
            <a:r>
              <a:rPr lang="zh-CN" altLang="en-US" dirty="0"/>
              <a:t>与</a:t>
            </a:r>
            <a:r>
              <a:rPr lang="zh-CN" altLang="zh-CN" dirty="0"/>
              <a:t>代码修复</a:t>
            </a:r>
            <a:r>
              <a:rPr lang="zh-CN" altLang="en-US" dirty="0"/>
              <a:t>任务上进行了实证研究</a:t>
            </a:r>
          </a:p>
        </p:txBody>
      </p:sp>
      <p:sp>
        <p:nvSpPr>
          <p:cNvPr id="61" name="文本框 60">
            <a:extLst>
              <a:ext uri="{FF2B5EF4-FFF2-40B4-BE49-F238E27FC236}">
                <a16:creationId xmlns:a16="http://schemas.microsoft.com/office/drawing/2014/main" id="{584DF08C-0EE1-9B55-5577-FD58AE243057}"/>
              </a:ext>
            </a:extLst>
          </p:cNvPr>
          <p:cNvSpPr txBox="1"/>
          <p:nvPr/>
        </p:nvSpPr>
        <p:spPr>
          <a:xfrm>
            <a:off x="6096000" y="4887918"/>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RQ2. </a:t>
            </a:r>
            <a:r>
              <a:rPr lang="zh-CN" altLang="en-US" dirty="0"/>
              <a:t>模型融合在软件工程多任务学习上的性能如何？</a:t>
            </a:r>
          </a:p>
        </p:txBody>
      </p:sp>
      <p:sp>
        <p:nvSpPr>
          <p:cNvPr id="63" name="文本框 62">
            <a:extLst>
              <a:ext uri="{FF2B5EF4-FFF2-40B4-BE49-F238E27FC236}">
                <a16:creationId xmlns:a16="http://schemas.microsoft.com/office/drawing/2014/main" id="{C5F33D00-CF16-FFC8-C1CE-0B41AF11FFDB}"/>
              </a:ext>
            </a:extLst>
          </p:cNvPr>
          <p:cNvSpPr txBox="1"/>
          <p:nvPr/>
        </p:nvSpPr>
        <p:spPr>
          <a:xfrm>
            <a:off x="6394464" y="5231474"/>
            <a:ext cx="5879956" cy="328551"/>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zh-CN" dirty="0"/>
              <a:t>探究了</a:t>
            </a:r>
            <a:r>
              <a:rPr lang="zh-CN" altLang="en-US" dirty="0"/>
              <a:t>代码理解任务、代码生成式任务以及将他们同一起来的融合性能</a:t>
            </a:r>
          </a:p>
        </p:txBody>
      </p:sp>
      <p:sp>
        <p:nvSpPr>
          <p:cNvPr id="64" name="文本框 63">
            <a:extLst>
              <a:ext uri="{FF2B5EF4-FFF2-40B4-BE49-F238E27FC236}">
                <a16:creationId xmlns:a16="http://schemas.microsoft.com/office/drawing/2014/main" id="{9A0873FC-B05E-1CDC-D84C-6D0F7C026512}"/>
              </a:ext>
            </a:extLst>
          </p:cNvPr>
          <p:cNvSpPr txBox="1"/>
          <p:nvPr/>
        </p:nvSpPr>
        <p:spPr>
          <a:xfrm>
            <a:off x="6096000" y="5601122"/>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RQ3. </a:t>
            </a:r>
            <a:r>
              <a:rPr lang="zh-CN" altLang="zh-CN" dirty="0"/>
              <a:t>如何提升模型融合在软工任务上的性能？</a:t>
            </a:r>
            <a:endParaRPr lang="zh-CN" altLang="en-US" dirty="0"/>
          </a:p>
        </p:txBody>
      </p:sp>
      <p:sp>
        <p:nvSpPr>
          <p:cNvPr id="66" name="文本框 65">
            <a:extLst>
              <a:ext uri="{FF2B5EF4-FFF2-40B4-BE49-F238E27FC236}">
                <a16:creationId xmlns:a16="http://schemas.microsoft.com/office/drawing/2014/main" id="{23C444D7-0C69-7748-0E4D-24E0C0EFEDE8}"/>
              </a:ext>
            </a:extLst>
          </p:cNvPr>
          <p:cNvSpPr txBox="1"/>
          <p:nvPr/>
        </p:nvSpPr>
        <p:spPr>
          <a:xfrm>
            <a:off x="6394464" y="5980251"/>
            <a:ext cx="5716671" cy="587084"/>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zh-CN" dirty="0"/>
              <a:t>基于</a:t>
            </a:r>
            <a:r>
              <a:rPr lang="en-US" altLang="zh-CN" dirty="0"/>
              <a:t>RQ1</a:t>
            </a:r>
            <a:r>
              <a:rPr lang="zh-CN" altLang="zh-CN" dirty="0"/>
              <a:t>于</a:t>
            </a:r>
            <a:r>
              <a:rPr lang="en-US" altLang="zh-CN" dirty="0"/>
              <a:t>RQ2</a:t>
            </a:r>
            <a:r>
              <a:rPr lang="zh-CN" altLang="zh-CN" dirty="0"/>
              <a:t>中结果以及分析，改进现有方法，以提升软工任务模型融合的性能</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390525" y="800100"/>
            <a:ext cx="4064000" cy="423545"/>
          </a:xfrm>
          <a:prstGeom prst="rect">
            <a:avLst/>
          </a:prstGeom>
          <a:noFill/>
        </p:spPr>
        <p:txBody>
          <a:bodyPr wrap="square" rtlCol="0" anchor="ctr">
            <a:spAutoFit/>
          </a:bodyPr>
          <a:lstStyle/>
          <a:p>
            <a:pPr>
              <a:lnSpc>
                <a:spcPct val="120000"/>
              </a:lnSpc>
            </a:pPr>
            <a:r>
              <a:rPr lang="zh-CN" altLang="en-US" dirty="0">
                <a:solidFill>
                  <a:schemeClr val="tx1">
                    <a:lumMod val="75000"/>
                    <a:lumOff val="25000"/>
                  </a:schemeClr>
                </a:solidFill>
              </a:rPr>
              <a:t>参考文献</a:t>
            </a:r>
          </a:p>
        </p:txBody>
      </p:sp>
      <p:grpSp>
        <p:nvGrpSpPr>
          <p:cNvPr id="10" name="组合 9">
            <a:extLst>
              <a:ext uri="{FF2B5EF4-FFF2-40B4-BE49-F238E27FC236}">
                <a16:creationId xmlns:a16="http://schemas.microsoft.com/office/drawing/2014/main" id="{FB30ED1C-83E0-88B3-667D-36DDF3436CB5}"/>
              </a:ext>
            </a:extLst>
          </p:cNvPr>
          <p:cNvGrpSpPr/>
          <p:nvPr/>
        </p:nvGrpSpPr>
        <p:grpSpPr>
          <a:xfrm>
            <a:off x="390525" y="1288959"/>
            <a:ext cx="11434445" cy="1549579"/>
            <a:chOff x="390524" y="4889199"/>
            <a:chExt cx="11434445" cy="1549579"/>
          </a:xfrm>
        </p:grpSpPr>
        <p:sp>
          <p:nvSpPr>
            <p:cNvPr id="21" name="文本框 20"/>
            <p:cNvSpPr txBox="1"/>
            <p:nvPr/>
          </p:nvSpPr>
          <p:spPr>
            <a:xfrm>
              <a:off x="390524" y="5238449"/>
              <a:ext cx="11434445" cy="1200329"/>
            </a:xfrm>
            <a:prstGeom prst="rect">
              <a:avLst/>
            </a:prstGeom>
          </p:spPr>
          <p:txBody>
            <a:bodyPr wrap="square">
              <a:spAutoFit/>
            </a:bodyPr>
            <a:lstStyle/>
            <a:p>
              <a:pPr marL="342900" indent="-342900" algn="l">
                <a:buFont typeface="+mj-lt"/>
                <a:buAutoNum type="arabicPeriod"/>
              </a:pPr>
              <a:r>
                <a:rPr lang="en-US" altLang="zh-CN" sz="1200" b="0" i="0" dirty="0">
                  <a:solidFill>
                    <a:srgbClr val="222222"/>
                  </a:solidFill>
                  <a:latin typeface="Arial" panose="020B0604020202020204"/>
                  <a:ea typeface="Arial" panose="020B0604020202020204"/>
                </a:rPr>
                <a:t>Liu B, Chen C, Gong Z, et al. </a:t>
              </a:r>
              <a:r>
                <a:rPr lang="en-US" altLang="zh-CN" sz="1200" b="0" i="0" dirty="0" err="1">
                  <a:solidFill>
                    <a:srgbClr val="222222"/>
                  </a:solidFill>
                  <a:latin typeface="Arial" panose="020B0604020202020204"/>
                  <a:ea typeface="Arial" panose="020B0604020202020204"/>
                </a:rPr>
                <a:t>Mftcoder</a:t>
              </a:r>
              <a:r>
                <a:rPr lang="en-US" altLang="zh-CN" sz="1200" b="0" i="0" dirty="0">
                  <a:solidFill>
                    <a:srgbClr val="222222"/>
                  </a:solidFill>
                  <a:latin typeface="Arial" panose="020B0604020202020204"/>
                  <a:ea typeface="Arial" panose="020B0604020202020204"/>
                </a:rPr>
                <a:t>: Boosting code </a:t>
              </a:r>
              <a:r>
                <a:rPr lang="en-US" altLang="zh-CN" sz="1200" b="0" i="0" dirty="0" err="1">
                  <a:solidFill>
                    <a:srgbClr val="222222"/>
                  </a:solidFill>
                  <a:latin typeface="Arial" panose="020B0604020202020204"/>
                  <a:ea typeface="Arial" panose="020B0604020202020204"/>
                </a:rPr>
                <a:t>llms</a:t>
              </a:r>
              <a:r>
                <a:rPr lang="en-US" altLang="zh-CN" sz="1200" b="0" i="0" dirty="0">
                  <a:solidFill>
                    <a:srgbClr val="222222"/>
                  </a:solidFill>
                  <a:latin typeface="Arial" panose="020B0604020202020204"/>
                  <a:ea typeface="Arial" panose="020B0604020202020204"/>
                </a:rPr>
                <a:t> with multitask fine-tuning[C]//Proceedings of the 30th ACM SIGKDD Conference on Knowledge Discovery and Data Mining. 2024: 5430-5441.</a:t>
              </a:r>
            </a:p>
            <a:p>
              <a:pPr marL="342900" indent="-342900" algn="l">
                <a:buFont typeface="+mj-lt"/>
                <a:buAutoNum type="arabicPeriod"/>
              </a:pPr>
              <a:r>
                <a:rPr lang="en-US" altLang="zh-CN" sz="1200" dirty="0">
                  <a:solidFill>
                    <a:srgbClr val="222222"/>
                  </a:solidFill>
                  <a:latin typeface="Arial" panose="020B0604020202020204"/>
                  <a:ea typeface="Arial" panose="020B0604020202020204"/>
                  <a:sym typeface="+mn-ea"/>
                </a:rPr>
                <a:t>Le T H M, Hin D, Croft R, et al. </a:t>
              </a:r>
              <a:r>
                <a:rPr lang="en-US" altLang="zh-CN" sz="1200" dirty="0" err="1">
                  <a:solidFill>
                    <a:srgbClr val="222222"/>
                  </a:solidFill>
                  <a:latin typeface="Arial" panose="020B0604020202020204"/>
                  <a:ea typeface="Arial" panose="020B0604020202020204"/>
                  <a:sym typeface="+mn-ea"/>
                </a:rPr>
                <a:t>Deepcva</a:t>
              </a:r>
              <a:r>
                <a:rPr lang="en-US" altLang="zh-CN" sz="1200" dirty="0">
                  <a:solidFill>
                    <a:srgbClr val="222222"/>
                  </a:solidFill>
                  <a:latin typeface="Arial" panose="020B0604020202020204"/>
                  <a:ea typeface="Arial" panose="020B0604020202020204"/>
                  <a:sym typeface="+mn-ea"/>
                </a:rPr>
                <a:t>: Automated commit-level vulnerability assessment with deep multi-task learning[C]//2021 36th IEEE/ACM International Conference on Automated Software Engineering (ASE). IEEE, 2021: 717-729.</a:t>
              </a:r>
            </a:p>
            <a:p>
              <a:pPr marL="342900" indent="-342900" algn="l">
                <a:buFont typeface="+mj-lt"/>
                <a:buAutoNum type="arabicPeriod"/>
              </a:pPr>
              <a:r>
                <a:rPr lang="en-US" altLang="zh-CN" sz="1200" b="0" i="0" dirty="0">
                  <a:solidFill>
                    <a:srgbClr val="222222"/>
                  </a:solidFill>
                  <a:latin typeface="Arial" panose="020B0604020202020204"/>
                  <a:ea typeface="Arial" panose="020B0604020202020204"/>
                </a:rPr>
                <a:t>Fu M, </a:t>
              </a:r>
              <a:r>
                <a:rPr lang="en-US" altLang="zh-CN" sz="1200" b="0" i="0" dirty="0" err="1">
                  <a:solidFill>
                    <a:srgbClr val="222222"/>
                  </a:solidFill>
                  <a:latin typeface="Arial" panose="020B0604020202020204"/>
                  <a:ea typeface="Arial" panose="020B0604020202020204"/>
                </a:rPr>
                <a:t>Tantithamthavorn</a:t>
              </a:r>
              <a:r>
                <a:rPr lang="en-US" altLang="zh-CN" sz="1200" b="0" i="0" dirty="0">
                  <a:solidFill>
                    <a:srgbClr val="222222"/>
                  </a:solidFill>
                  <a:latin typeface="Arial" panose="020B0604020202020204"/>
                  <a:ea typeface="Arial" panose="020B0604020202020204"/>
                </a:rPr>
                <a:t> C, Le T, et al. </a:t>
              </a:r>
              <a:r>
                <a:rPr lang="en-US" altLang="zh-CN" sz="1200" b="0" i="0" dirty="0" err="1">
                  <a:solidFill>
                    <a:srgbClr val="222222"/>
                  </a:solidFill>
                  <a:latin typeface="Arial" panose="020B0604020202020204"/>
                  <a:ea typeface="Arial" panose="020B0604020202020204"/>
                </a:rPr>
                <a:t>Aibughunter</a:t>
              </a:r>
              <a:r>
                <a:rPr lang="en-US" altLang="zh-CN" sz="1200" b="0" i="0" dirty="0">
                  <a:solidFill>
                    <a:srgbClr val="222222"/>
                  </a:solidFill>
                  <a:latin typeface="Arial" panose="020B0604020202020204"/>
                  <a:ea typeface="Arial" panose="020B0604020202020204"/>
                </a:rPr>
                <a:t>: A practical tool for predicting, classifying and repairing software vulnerabilities[J]. Empirical Software Engineering, 2024, 29(1): 4.</a:t>
              </a:r>
            </a:p>
          </p:txBody>
        </p:sp>
        <p:sp>
          <p:nvSpPr>
            <p:cNvPr id="23" name="文本框 22"/>
            <p:cNvSpPr txBox="1"/>
            <p:nvPr/>
          </p:nvSpPr>
          <p:spPr>
            <a:xfrm>
              <a:off x="390524" y="4889199"/>
              <a:ext cx="4064000" cy="349250"/>
            </a:xfrm>
            <a:prstGeom prst="rect">
              <a:avLst/>
            </a:prstGeom>
            <a:noFill/>
          </p:spPr>
          <p:txBody>
            <a:bodyPr wrap="square" rtlCol="0" anchor="ctr">
              <a:spAutoFit/>
            </a:bodyPr>
            <a:lstStyle/>
            <a:p>
              <a:pPr>
                <a:lnSpc>
                  <a:spcPct val="120000"/>
                </a:lnSpc>
              </a:pPr>
              <a:r>
                <a:rPr lang="zh-CN" altLang="en-US" sz="1400" dirty="0">
                  <a:solidFill>
                    <a:schemeClr val="tx1">
                      <a:lumMod val="75000"/>
                      <a:lumOff val="25000"/>
                    </a:schemeClr>
                  </a:solidFill>
                </a:rPr>
                <a:t>数据不平衡</a:t>
              </a:r>
            </a:p>
          </p:txBody>
        </p:sp>
      </p:grpSp>
      <p:grpSp>
        <p:nvGrpSpPr>
          <p:cNvPr id="13" name="组合 12">
            <a:extLst>
              <a:ext uri="{FF2B5EF4-FFF2-40B4-BE49-F238E27FC236}">
                <a16:creationId xmlns:a16="http://schemas.microsoft.com/office/drawing/2014/main" id="{4441D8BF-BC21-460C-2616-588C66C9B340}"/>
              </a:ext>
            </a:extLst>
          </p:cNvPr>
          <p:cNvGrpSpPr/>
          <p:nvPr/>
        </p:nvGrpSpPr>
        <p:grpSpPr>
          <a:xfrm>
            <a:off x="390525" y="3278535"/>
            <a:ext cx="11579860" cy="1316780"/>
            <a:chOff x="317816" y="3448457"/>
            <a:chExt cx="11579860" cy="1316780"/>
          </a:xfrm>
        </p:grpSpPr>
        <p:sp>
          <p:nvSpPr>
            <p:cNvPr id="2" name="文本框 1"/>
            <p:cNvSpPr txBox="1"/>
            <p:nvPr/>
          </p:nvSpPr>
          <p:spPr>
            <a:xfrm>
              <a:off x="317816" y="3749574"/>
              <a:ext cx="11579860" cy="1015663"/>
            </a:xfrm>
            <a:prstGeom prst="rect">
              <a:avLst/>
            </a:prstGeom>
          </p:spPr>
          <p:txBody>
            <a:bodyPr wrap="square">
              <a:spAutoFit/>
            </a:bodyPr>
            <a:lstStyle/>
            <a:p>
              <a:pPr marL="342900" lvl="0" indent="-342900" algn="l">
                <a:buClrTx/>
                <a:buSzTx/>
                <a:buFont typeface="+mj-lt"/>
                <a:buAutoNum type="arabicPeriod"/>
              </a:pPr>
              <a:r>
                <a:rPr lang="en-US" altLang="zh-CN" sz="1200" dirty="0">
                  <a:solidFill>
                    <a:srgbClr val="222222"/>
                  </a:solidFill>
                  <a:latin typeface="Arial" panose="020B0604020202020204"/>
                  <a:ea typeface="Arial" panose="020B0604020202020204"/>
                  <a:sym typeface="+mn-ea"/>
                </a:rPr>
                <a:t>Krishna R, Nair V, </a:t>
              </a:r>
              <a:r>
                <a:rPr lang="en-US" altLang="zh-CN" sz="1200" dirty="0" err="1">
                  <a:solidFill>
                    <a:srgbClr val="222222"/>
                  </a:solidFill>
                  <a:latin typeface="Arial" panose="020B0604020202020204"/>
                  <a:ea typeface="Arial" panose="020B0604020202020204"/>
                  <a:sym typeface="+mn-ea"/>
                </a:rPr>
                <a:t>Jamshidi</a:t>
              </a:r>
              <a:r>
                <a:rPr lang="en-US" altLang="zh-CN" sz="1200" dirty="0">
                  <a:solidFill>
                    <a:srgbClr val="222222"/>
                  </a:solidFill>
                  <a:latin typeface="Arial" panose="020B0604020202020204"/>
                  <a:ea typeface="Arial" panose="020B0604020202020204"/>
                  <a:sym typeface="+mn-ea"/>
                </a:rPr>
                <a:t> P, et al. Whence to learn? transferring knowledge in configurable systems using beetle[J]. IEEE Transactions on Software Engineering, 2020, 47(12): 2956-2972.</a:t>
              </a:r>
            </a:p>
            <a:p>
              <a:pPr marL="342900" lvl="0" indent="-342900" algn="l">
                <a:buClrTx/>
                <a:buSzTx/>
                <a:buFont typeface="+mj-lt"/>
                <a:buAutoNum type="arabicPeriod"/>
              </a:pPr>
              <a:r>
                <a:rPr lang="en-US" altLang="zh-CN" sz="1200" dirty="0">
                  <a:solidFill>
                    <a:srgbClr val="222222"/>
                  </a:solidFill>
                  <a:latin typeface="Arial" panose="020B0604020202020204"/>
                  <a:ea typeface="Arial" panose="020B0604020202020204"/>
                  <a:sym typeface="+mn-ea"/>
                </a:rPr>
                <a:t>Min Y, Zhou K, Gao D, et al. Data-cube: Data curriculum for instruction-based sentence representation learning[J]. </a:t>
              </a:r>
              <a:r>
                <a:rPr lang="en-US" altLang="zh-CN" sz="1200" dirty="0" err="1">
                  <a:solidFill>
                    <a:srgbClr val="222222"/>
                  </a:solidFill>
                  <a:latin typeface="Arial" panose="020B0604020202020204"/>
                  <a:ea typeface="Arial" panose="020B0604020202020204"/>
                  <a:sym typeface="+mn-ea"/>
                </a:rPr>
                <a:t>arXiv</a:t>
              </a:r>
              <a:r>
                <a:rPr lang="en-US" altLang="zh-CN" sz="1200" dirty="0">
                  <a:solidFill>
                    <a:srgbClr val="222222"/>
                  </a:solidFill>
                  <a:latin typeface="Arial" panose="020B0604020202020204"/>
                  <a:ea typeface="Arial" panose="020B0604020202020204"/>
                  <a:sym typeface="+mn-ea"/>
                </a:rPr>
                <a:t> preprint arXiv:2401.03563, 2024.</a:t>
              </a:r>
            </a:p>
            <a:p>
              <a:pPr marL="342900" lvl="0" indent="-342900" algn="l">
                <a:buClrTx/>
                <a:buSzTx/>
                <a:buFont typeface="+mj-lt"/>
                <a:buAutoNum type="arabicPeriod"/>
              </a:pPr>
              <a:r>
                <a:rPr lang="en-US" altLang="zh-CN" sz="1200" dirty="0"/>
                <a:t>Transfer Learning for Improving Model Predictions in Highly Configurable Software </a:t>
              </a:r>
              <a:r>
                <a:rPr lang="en-US" altLang="zh-CN" sz="1200" dirty="0">
                  <a:solidFill>
                    <a:srgbClr val="222222"/>
                  </a:solidFill>
                  <a:latin typeface="Arial" panose="020B0604020202020204"/>
                  <a:ea typeface="Arial" panose="020B0604020202020204"/>
                  <a:sym typeface="+mn-ea"/>
                </a:rPr>
                <a:t>Crawshaw M.</a:t>
              </a:r>
            </a:p>
            <a:p>
              <a:pPr marL="342900" lvl="0" indent="-342900" algn="l">
                <a:buClrTx/>
                <a:buSzTx/>
                <a:buFont typeface="+mj-lt"/>
                <a:buAutoNum type="arabicPeriod"/>
              </a:pPr>
              <a:r>
                <a:rPr lang="en-US" altLang="zh-CN" sz="1200" dirty="0">
                  <a:solidFill>
                    <a:srgbClr val="222222"/>
                  </a:solidFill>
                  <a:latin typeface="Arial" panose="020B0604020202020204"/>
                  <a:ea typeface="Arial" panose="020B0604020202020204"/>
                  <a:sym typeface="+mn-ea"/>
                </a:rPr>
                <a:t> Multi-task learning with deep neural networks: A survey[J]. </a:t>
              </a:r>
              <a:r>
                <a:rPr lang="en-US" altLang="zh-CN" sz="1200" dirty="0" err="1">
                  <a:solidFill>
                    <a:srgbClr val="222222"/>
                  </a:solidFill>
                  <a:latin typeface="Arial" panose="020B0604020202020204"/>
                  <a:ea typeface="Arial" panose="020B0604020202020204"/>
                  <a:sym typeface="+mn-ea"/>
                </a:rPr>
                <a:t>arXiv</a:t>
              </a:r>
              <a:r>
                <a:rPr lang="en-US" altLang="zh-CN" sz="1200" dirty="0">
                  <a:solidFill>
                    <a:srgbClr val="222222"/>
                  </a:solidFill>
                  <a:latin typeface="Arial" panose="020B0604020202020204"/>
                  <a:ea typeface="Arial" panose="020B0604020202020204"/>
                  <a:sym typeface="+mn-ea"/>
                </a:rPr>
                <a:t> preprint arXiv:2009.09796, 2020.</a:t>
              </a:r>
            </a:p>
          </p:txBody>
        </p:sp>
        <p:sp>
          <p:nvSpPr>
            <p:cNvPr id="3" name="文本框 2"/>
            <p:cNvSpPr txBox="1"/>
            <p:nvPr/>
          </p:nvSpPr>
          <p:spPr>
            <a:xfrm>
              <a:off x="317816" y="3448457"/>
              <a:ext cx="4064000" cy="349250"/>
            </a:xfrm>
            <a:prstGeom prst="rect">
              <a:avLst/>
            </a:prstGeom>
            <a:noFill/>
          </p:spPr>
          <p:txBody>
            <a:bodyPr wrap="square" rtlCol="0" anchor="ctr">
              <a:spAutoFit/>
            </a:bodyPr>
            <a:lstStyle/>
            <a:p>
              <a:pPr>
                <a:lnSpc>
                  <a:spcPct val="120000"/>
                </a:lnSpc>
              </a:pPr>
              <a:r>
                <a:rPr lang="zh-CN" altLang="en-US" sz="1400" dirty="0">
                  <a:solidFill>
                    <a:schemeClr val="tx1">
                      <a:lumMod val="75000"/>
                      <a:lumOff val="25000"/>
                    </a:schemeClr>
                  </a:solidFill>
                </a:rPr>
                <a:t>任务冲突、负迁移</a:t>
              </a:r>
            </a:p>
          </p:txBody>
        </p:sp>
      </p:grpSp>
      <p:grpSp>
        <p:nvGrpSpPr>
          <p:cNvPr id="11" name="组合 10">
            <a:extLst>
              <a:ext uri="{FF2B5EF4-FFF2-40B4-BE49-F238E27FC236}">
                <a16:creationId xmlns:a16="http://schemas.microsoft.com/office/drawing/2014/main" id="{CD266BBA-470C-BC8A-D23B-81126C23C292}"/>
              </a:ext>
            </a:extLst>
          </p:cNvPr>
          <p:cNvGrpSpPr/>
          <p:nvPr/>
        </p:nvGrpSpPr>
        <p:grpSpPr>
          <a:xfrm>
            <a:off x="390525" y="5035312"/>
            <a:ext cx="11711279" cy="1527406"/>
            <a:chOff x="186397" y="5130658"/>
            <a:chExt cx="11711279" cy="1527406"/>
          </a:xfrm>
        </p:grpSpPr>
        <p:sp>
          <p:nvSpPr>
            <p:cNvPr id="8" name="文本框 7">
              <a:extLst>
                <a:ext uri="{FF2B5EF4-FFF2-40B4-BE49-F238E27FC236}">
                  <a16:creationId xmlns:a16="http://schemas.microsoft.com/office/drawing/2014/main" id="{E040C66E-23E3-6187-A3A0-ED3E61EBB37D}"/>
                </a:ext>
              </a:extLst>
            </p:cNvPr>
            <p:cNvSpPr txBox="1"/>
            <p:nvPr/>
          </p:nvSpPr>
          <p:spPr>
            <a:xfrm>
              <a:off x="186397" y="5457735"/>
              <a:ext cx="11711279" cy="1200329"/>
            </a:xfrm>
            <a:prstGeom prst="rect">
              <a:avLst/>
            </a:prstGeom>
          </p:spPr>
          <p:txBody>
            <a:bodyPr wrap="square">
              <a:spAutoFit/>
            </a:bodyPr>
            <a:lstStyle>
              <a:defPPr>
                <a:defRPr lang="zh-CN"/>
              </a:defPPr>
              <a:lvl1pPr marL="342900" lvl="0" indent="-342900">
                <a:buClrTx/>
                <a:buSzTx/>
                <a:buFont typeface="+mj-lt"/>
                <a:buAutoNum type="arabicPeriod"/>
                <a:defRPr sz="1200">
                  <a:solidFill>
                    <a:srgbClr val="222222"/>
                  </a:solidFill>
                  <a:latin typeface="Arial" panose="020B0604020202020204"/>
                  <a:ea typeface="Arial" panose="020B0604020202020204"/>
                </a:defRPr>
              </a:lvl1pPr>
            </a:lstStyle>
            <a:p>
              <a:r>
                <a:rPr lang="en-US" altLang="zh-CN" dirty="0"/>
                <a:t>Yang Y, Hu X, Gao Z, et al. Federated learning for software engineering: A case study of code clone detection and defect prediction[J]. IEEE Transactions on Software Engineering, 2024, 50(2): 296-321.</a:t>
              </a:r>
            </a:p>
            <a:p>
              <a:r>
                <a:rPr lang="en-US" altLang="zh-CN" b="0" i="0" dirty="0">
                  <a:solidFill>
                    <a:srgbClr val="222222"/>
                  </a:solidFill>
                  <a:effectLst/>
                  <a:latin typeface="Arial" panose="020B0604020202020204" pitchFamily="34" charset="0"/>
                </a:rPr>
                <a:t>Luo W, Keung J, Yang B, et al. When Fine-Tuning LLMs Meets Data Privacy: An Empirical Study of Federated Learning in LLM-Based Program Repair[J]. ACM Transactions on Software Engineering and Methodology, 2024.</a:t>
              </a:r>
              <a:endParaRPr lang="en-US" altLang="zh-CN" dirty="0"/>
            </a:p>
            <a:p>
              <a:r>
                <a:rPr lang="en-US" altLang="zh-CN" b="0" i="0" dirty="0">
                  <a:solidFill>
                    <a:srgbClr val="222222"/>
                  </a:solidFill>
                  <a:effectLst/>
                  <a:latin typeface="Arial" panose="020B0604020202020204" pitchFamily="34" charset="0"/>
                </a:rPr>
                <a:t>Andrade V C, Gomes R D, </a:t>
              </a:r>
              <a:r>
                <a:rPr lang="en-US" altLang="zh-CN" b="0" i="0" dirty="0" err="1">
                  <a:solidFill>
                    <a:srgbClr val="222222"/>
                  </a:solidFill>
                  <a:effectLst/>
                  <a:latin typeface="Arial" panose="020B0604020202020204" pitchFamily="34" charset="0"/>
                </a:rPr>
                <a:t>Reinehr</a:t>
              </a:r>
              <a:r>
                <a:rPr lang="en-US" altLang="zh-CN" b="0" i="0" dirty="0">
                  <a:solidFill>
                    <a:srgbClr val="222222"/>
                  </a:solidFill>
                  <a:effectLst/>
                  <a:latin typeface="Arial" panose="020B0604020202020204" pitchFamily="34" charset="0"/>
                </a:rPr>
                <a:t> S, et al. Privacy by design and software engineering: A systematic literature review[C]//Proceedings of the XXI Brazilian Symposium on Software Quality. 2022: 1-10.</a:t>
              </a:r>
              <a:endParaRPr lang="zh-CN" altLang="en-US" dirty="0"/>
            </a:p>
          </p:txBody>
        </p:sp>
        <p:sp>
          <p:nvSpPr>
            <p:cNvPr id="9" name="文本框 8">
              <a:extLst>
                <a:ext uri="{FF2B5EF4-FFF2-40B4-BE49-F238E27FC236}">
                  <a16:creationId xmlns:a16="http://schemas.microsoft.com/office/drawing/2014/main" id="{9538AB93-BFE6-57B4-8FDC-5568C0804630}"/>
                </a:ext>
              </a:extLst>
            </p:cNvPr>
            <p:cNvSpPr txBox="1"/>
            <p:nvPr/>
          </p:nvSpPr>
          <p:spPr>
            <a:xfrm>
              <a:off x="186397" y="5130658"/>
              <a:ext cx="4064000" cy="327077"/>
            </a:xfrm>
            <a:prstGeom prst="rect">
              <a:avLst/>
            </a:prstGeom>
            <a:noFill/>
          </p:spPr>
          <p:txBody>
            <a:bodyPr wrap="square" rtlCol="0" anchor="ctr">
              <a:spAutoFit/>
            </a:bodyPr>
            <a:lstStyle/>
            <a:p>
              <a:pPr>
                <a:lnSpc>
                  <a:spcPct val="120000"/>
                </a:lnSpc>
              </a:pPr>
              <a:r>
                <a:rPr lang="zh-CN" altLang="en-US" sz="1400" dirty="0">
                  <a:solidFill>
                    <a:schemeClr val="tx1">
                      <a:lumMod val="75000"/>
                      <a:lumOff val="25000"/>
                    </a:schemeClr>
                  </a:solidFill>
                </a:rPr>
                <a:t>数据隐私</a:t>
              </a: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390525" y="800100"/>
            <a:ext cx="4064000" cy="423545"/>
          </a:xfrm>
          <a:prstGeom prst="rect">
            <a:avLst/>
          </a:prstGeom>
          <a:noFill/>
        </p:spPr>
        <p:txBody>
          <a:bodyPr wrap="square" rtlCol="0" anchor="ctr">
            <a:spAutoFit/>
          </a:bodyPr>
          <a:lstStyle/>
          <a:p>
            <a:pPr>
              <a:lnSpc>
                <a:spcPct val="120000"/>
              </a:lnSpc>
            </a:pPr>
            <a:r>
              <a:rPr lang="zh-CN" altLang="en-US" dirty="0">
                <a:solidFill>
                  <a:schemeClr val="tx1">
                    <a:lumMod val="75000"/>
                    <a:lumOff val="25000"/>
                  </a:schemeClr>
                </a:solidFill>
              </a:rPr>
              <a:t>参考文献</a:t>
            </a:r>
          </a:p>
        </p:txBody>
      </p:sp>
      <p:sp>
        <p:nvSpPr>
          <p:cNvPr id="5" name="文本框 4">
            <a:extLst>
              <a:ext uri="{FF2B5EF4-FFF2-40B4-BE49-F238E27FC236}">
                <a16:creationId xmlns:a16="http://schemas.microsoft.com/office/drawing/2014/main" id="{5A53C14C-5FB9-12A2-3728-8CDBBB4B7BEB}"/>
              </a:ext>
            </a:extLst>
          </p:cNvPr>
          <p:cNvSpPr txBox="1"/>
          <p:nvPr/>
        </p:nvSpPr>
        <p:spPr>
          <a:xfrm>
            <a:off x="390525" y="1223645"/>
            <a:ext cx="4064000" cy="328551"/>
          </a:xfrm>
          <a:prstGeom prst="rect">
            <a:avLst/>
          </a:prstGeom>
          <a:noFill/>
        </p:spPr>
        <p:txBody>
          <a:bodyPr wrap="square" rtlCol="0" anchor="ctr">
            <a:spAutoFit/>
          </a:bodyPr>
          <a:lstStyle/>
          <a:p>
            <a:pPr>
              <a:lnSpc>
                <a:spcPct val="120000"/>
              </a:lnSpc>
            </a:pPr>
            <a:r>
              <a:rPr lang="zh-CN" altLang="en-US" sz="1400" dirty="0">
                <a:solidFill>
                  <a:schemeClr val="tx1">
                    <a:lumMod val="75000"/>
                    <a:lumOff val="25000"/>
                  </a:schemeClr>
                </a:solidFill>
              </a:rPr>
              <a:t>灾难性遗忘</a:t>
            </a:r>
          </a:p>
        </p:txBody>
      </p:sp>
      <p:sp>
        <p:nvSpPr>
          <p:cNvPr id="7" name="文本框 6">
            <a:extLst>
              <a:ext uri="{FF2B5EF4-FFF2-40B4-BE49-F238E27FC236}">
                <a16:creationId xmlns:a16="http://schemas.microsoft.com/office/drawing/2014/main" id="{77506AEE-661A-6253-CF53-6D50BE93A1A9}"/>
              </a:ext>
            </a:extLst>
          </p:cNvPr>
          <p:cNvSpPr txBox="1"/>
          <p:nvPr/>
        </p:nvSpPr>
        <p:spPr>
          <a:xfrm>
            <a:off x="390527" y="1552196"/>
            <a:ext cx="11579859" cy="1015663"/>
          </a:xfrm>
          <a:prstGeom prst="rect">
            <a:avLst/>
          </a:prstGeom>
        </p:spPr>
        <p:txBody>
          <a:bodyPr wrap="square">
            <a:spAutoFit/>
          </a:bodyPr>
          <a:lstStyle>
            <a:defPPr>
              <a:defRPr lang="zh-CN"/>
            </a:defPPr>
            <a:lvl1pPr marL="342900" indent="-342900">
              <a:buFont typeface="+mj-lt"/>
              <a:buAutoNum type="arabicPeriod"/>
              <a:defRPr sz="1200" b="0" i="0">
                <a:solidFill>
                  <a:srgbClr val="222222"/>
                </a:solidFill>
                <a:latin typeface="Arial" panose="020B0604020202020204"/>
                <a:ea typeface="Arial" panose="020B0604020202020204"/>
              </a:defRPr>
            </a:lvl1pPr>
          </a:lstStyle>
          <a:p>
            <a:r>
              <a:rPr lang="en-US" altLang="zh-CN" dirty="0"/>
              <a:t>Guo H, Zeng F, Zhu F, et al. A Comprehensive Survey on Continual Learning in Generative Models[J]. </a:t>
            </a:r>
            <a:r>
              <a:rPr lang="en-US" altLang="zh-CN" dirty="0" err="1"/>
              <a:t>arXiv</a:t>
            </a:r>
            <a:r>
              <a:rPr lang="en-US" altLang="zh-CN" dirty="0"/>
              <a:t> preprint arXiv:2506.13045, 2025.</a:t>
            </a:r>
          </a:p>
          <a:p>
            <a:r>
              <a:rPr lang="en-US" altLang="zh-CN" b="0" i="0" dirty="0">
                <a:solidFill>
                  <a:srgbClr val="222222"/>
                </a:solidFill>
                <a:effectLst/>
                <a:latin typeface="Arial" panose="020B0604020202020204" pitchFamily="34" charset="0"/>
              </a:rPr>
              <a:t>Gao S, Zhang H, Gao C, et al. Keeping pace with ever-increasing data: Towards continual learning of code intelligence models[C]//2023 IEEE/ACM 45th International Conference on Software Engineering (ICSE). IEEE, 2023: 30-42.</a:t>
            </a:r>
          </a:p>
          <a:p>
            <a:r>
              <a:rPr lang="en-US" altLang="zh-CN" b="0" i="0" dirty="0" err="1">
                <a:solidFill>
                  <a:srgbClr val="222222"/>
                </a:solidFill>
                <a:effectLst/>
                <a:latin typeface="Arial" panose="020B0604020202020204" pitchFamily="34" charset="0"/>
              </a:rPr>
              <a:t>Weyssow</a:t>
            </a:r>
            <a:r>
              <a:rPr lang="en-US" altLang="zh-CN" b="0" i="0" dirty="0">
                <a:solidFill>
                  <a:srgbClr val="222222"/>
                </a:solidFill>
                <a:effectLst/>
                <a:latin typeface="Arial" panose="020B0604020202020204" pitchFamily="34" charset="0"/>
              </a:rPr>
              <a:t> M, Zhou X, Kim K, et al. On the usage of continual learning for out-of-distribution generalization in pre-trained language models of code[C]//Proceedings of the 31st ACM Joint European Software Engineering Conference and Symposium on the Foundations of Software Engineering. 2023: 1470-1482.</a:t>
            </a:r>
            <a:endParaRPr lang="zh-CN" altLang="en-US" dirty="0"/>
          </a:p>
        </p:txBody>
      </p:sp>
    </p:spTree>
    <p:extLst>
      <p:ext uri="{BB962C8B-B14F-4D97-AF65-F5344CB8AC3E}">
        <p14:creationId xmlns:p14="http://schemas.microsoft.com/office/powerpoint/2010/main" val="3786211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DC658-2ADA-7E6C-0D00-A2B1EA3EC3A3}"/>
            </a:ext>
          </a:extLst>
        </p:cNvPr>
        <p:cNvGrpSpPr/>
        <p:nvPr/>
      </p:nvGrpSpPr>
      <p:grpSpPr>
        <a:xfrm>
          <a:off x="0" y="0"/>
          <a:ext cx="0" cy="0"/>
          <a:chOff x="0" y="0"/>
          <a:chExt cx="0" cy="0"/>
        </a:xfrm>
      </p:grpSpPr>
      <p:graphicFrame>
        <p:nvGraphicFramePr>
          <p:cNvPr id="4" name="图表 3">
            <a:extLst>
              <a:ext uri="{FF2B5EF4-FFF2-40B4-BE49-F238E27FC236}">
                <a16:creationId xmlns:a16="http://schemas.microsoft.com/office/drawing/2014/main" id="{234C0C1E-BB8A-F170-79A4-4FFA03DDDC11}"/>
              </a:ext>
            </a:extLst>
          </p:cNvPr>
          <p:cNvGraphicFramePr/>
          <p:nvPr>
            <p:extLst>
              <p:ext uri="{D42A27DB-BD31-4B8C-83A1-F6EECF244321}">
                <p14:modId xmlns:p14="http://schemas.microsoft.com/office/powerpoint/2010/main" val="548045970"/>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2447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TotalTime>
  <Words>723</Words>
  <Application>Microsoft Office PowerPoint</Application>
  <PresentationFormat>宽屏</PresentationFormat>
  <Paragraphs>49</Paragraphs>
  <Slides>4</Slides>
  <Notes>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等线</vt:lpstr>
      <vt:lpstr>微软雅黑</vt:lpstr>
      <vt:lpstr>Arial</vt:lpstr>
      <vt:lpstr>Calibri</vt:lpstr>
      <vt:lpstr>Wingdings</vt:lpstr>
      <vt:lpstr>夏雨家 https://xnwe.taobao.com/</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802</cp:revision>
  <dcterms:created xsi:type="dcterms:W3CDTF">2024-11-06T01:21:00Z</dcterms:created>
  <dcterms:modified xsi:type="dcterms:W3CDTF">2025-07-29T16:20:55Z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872E2A01CFB04B0BA55A5A263932DB32_12</vt:lpwstr>
  </property>
  <property fmtid="{D5CDD505-2E9C-101B-9397-08002B2CF9AE}" pid="3" name="KSOProductBuildVer">
    <vt:lpwstr>2052-12.1.0.21915</vt:lpwstr>
  </property>
</Properties>
</file>