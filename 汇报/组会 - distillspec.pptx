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7"/>
  </p:notesMasterIdLst>
  <p:sldIdLst>
    <p:sldId id="325" r:id="rId2"/>
    <p:sldId id="416" r:id="rId3"/>
    <p:sldId id="397" r:id="rId4"/>
    <p:sldId id="404" r:id="rId5"/>
    <p:sldId id="417" r:id="rId6"/>
    <p:sldId id="418" r:id="rId7"/>
    <p:sldId id="419" r:id="rId8"/>
    <p:sldId id="421" r:id="rId9"/>
    <p:sldId id="422" r:id="rId10"/>
    <p:sldId id="420" r:id="rId11"/>
    <p:sldId id="423" r:id="rId12"/>
    <p:sldId id="424" r:id="rId13"/>
    <p:sldId id="425" r:id="rId14"/>
    <p:sldId id="426" r:id="rId15"/>
    <p:sldId id="365"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84AEC"/>
    <a:srgbClr val="1AE43C"/>
    <a:srgbClr val="FD0004"/>
    <a:srgbClr val="0101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94" autoAdjust="0"/>
    <p:restoredTop sz="79082" autoAdjust="0"/>
  </p:normalViewPr>
  <p:slideViewPr>
    <p:cSldViewPr snapToGrid="0">
      <p:cViewPr varScale="1">
        <p:scale>
          <a:sx n="82" d="100"/>
          <a:sy n="82" d="100"/>
        </p:scale>
        <p:origin x="878" y="72"/>
      </p:cViewPr>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D20703-AF86-4F31-B9FB-F7B8355B7ACE}" type="datetimeFigureOut">
              <a:rPr lang="zh-CN" altLang="en-US" smtClean="0"/>
              <a:t>2025/10/13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8741DC-E11E-424D-8624-63C2B9FB9B1B}" type="slidenum">
              <a:rPr lang="zh-CN" altLang="en-US" smtClean="0"/>
              <a:t>‹#›</a:t>
            </a:fld>
            <a:endParaRPr lang="zh-CN" altLang="en-US"/>
          </a:p>
        </p:txBody>
      </p:sp>
    </p:spTree>
    <p:extLst>
      <p:ext uri="{BB962C8B-B14F-4D97-AF65-F5344CB8AC3E}">
        <p14:creationId xmlns:p14="http://schemas.microsoft.com/office/powerpoint/2010/main" val="2747260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r>
              <a:rPr lang="en-US" altLang="zh-CN" sz="1200" dirty="0" err="1"/>
              <a:t>DistllSpec</a:t>
            </a:r>
            <a:r>
              <a:rPr lang="en-US" altLang="zh-CN" sz="1200" dirty="0"/>
              <a:t>:</a:t>
            </a:r>
            <a:r>
              <a:rPr lang="zh-CN" altLang="en-US" sz="1200" dirty="0"/>
              <a:t>通过知识蒸馏提升投机解码效率</a:t>
            </a:r>
            <a:endParaRPr lang="en-US" altLang="zh-CN" sz="1200" dirty="0"/>
          </a:p>
          <a:p>
            <a:pPr algn="l" fontAlgn="base"/>
            <a:endParaRPr lang="en-US" altLang="zh-CN" b="0" i="0" u="none" dirty="0">
              <a:solidFill>
                <a:srgbClr val="2440B3"/>
              </a:solidFill>
              <a:effectLst/>
              <a:latin typeface="Arial" panose="020B0604020202020204" pitchFamily="34" charset="0"/>
            </a:endParaRPr>
          </a:p>
          <a:p>
            <a:pPr algn="l" fontAlgn="base"/>
            <a:r>
              <a:rPr lang="en-US" altLang="zh-CN" b="0" i="0" u="none" dirty="0">
                <a:solidFill>
                  <a:srgbClr val="2440B3"/>
                </a:solidFill>
                <a:effectLst/>
                <a:latin typeface="Arial" panose="020B0604020202020204" pitchFamily="34" charset="0"/>
              </a:rPr>
              <a:t>Google</a:t>
            </a:r>
            <a:endParaRPr lang="zh-CN" altLang="en-US" b="0" i="0" u="none" dirty="0">
              <a:solidFill>
                <a:srgbClr val="2440B3"/>
              </a:solidFill>
              <a:effectLst/>
              <a:latin typeface="Arial" panose="020B0604020202020204" pitchFamily="34" charset="0"/>
            </a:endParaRPr>
          </a:p>
        </p:txBody>
      </p:sp>
      <p:sp>
        <p:nvSpPr>
          <p:cNvPr id="4" name="灯片编号占位符 3"/>
          <p:cNvSpPr>
            <a:spLocks noGrp="1"/>
          </p:cNvSpPr>
          <p:nvPr>
            <p:ph type="sldNum" sz="quarter" idx="10"/>
          </p:nvPr>
        </p:nvSpPr>
        <p:spPr/>
        <p:txBody>
          <a:bodyPr/>
          <a:lstStyle/>
          <a:p>
            <a:fld id="{D34C0232-94FA-4EBE-BB9B-79FBE486032D}" type="slidenum">
              <a:rPr lang="zh-CN" altLang="en-US" smtClean="0"/>
              <a:t>1</a:t>
            </a:fld>
            <a:endParaRPr lang="zh-CN" altLang="en-US"/>
          </a:p>
        </p:txBody>
      </p:sp>
    </p:spTree>
    <p:extLst>
      <p:ext uri="{BB962C8B-B14F-4D97-AF65-F5344CB8AC3E}">
        <p14:creationId xmlns:p14="http://schemas.microsoft.com/office/powerpoint/2010/main" val="3356403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5E37D-E584-3938-554A-BF725112B77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E50F08-FD50-DF39-44DE-39BE0721F3B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960A52-8BF9-094B-F5C4-6AA889E89F41}"/>
              </a:ext>
            </a:extLst>
          </p:cNvPr>
          <p:cNvSpPr>
            <a:spLocks noGrp="1"/>
          </p:cNvSpPr>
          <p:nvPr>
            <p:ph type="body" idx="1"/>
          </p:nvPr>
        </p:nvSpPr>
        <p:spPr/>
        <p:txBody>
          <a:bodyPr/>
          <a:lstStyle/>
          <a:p>
            <a:pPr marL="0" indent="0">
              <a:buFont typeface="Wingdings" panose="05000000000000000000" pitchFamily="2" charset="2"/>
              <a:buNone/>
            </a:pPr>
            <a:r>
              <a:rPr lang="zh-CN" altLang="en-US" dirty="0"/>
              <a:t>正常解码，内存受限，一次内存的读取只生成一个</a:t>
            </a:r>
            <a:r>
              <a:rPr lang="en-US" altLang="zh-CN" dirty="0"/>
              <a:t>token</a:t>
            </a:r>
            <a:r>
              <a:rPr lang="zh-CN" altLang="en-US" dirty="0"/>
              <a:t>，每步解码，这没有充分利用</a:t>
            </a:r>
            <a:r>
              <a:rPr lang="en-US" altLang="zh-CN" dirty="0" err="1"/>
              <a:t>gpu</a:t>
            </a:r>
            <a:r>
              <a:rPr lang="zh-CN" altLang="en-US" dirty="0"/>
              <a:t>的计算性能，导致效率低下</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推测解码，涉及两个模型，一个是高效的小模型，一个是目标大模型，草稿模型高速生成多个候选</a:t>
            </a:r>
            <a:r>
              <a:rPr lang="en-US" altLang="zh-CN" dirty="0"/>
              <a:t>token</a:t>
            </a:r>
            <a:r>
              <a:rPr lang="zh-CN" altLang="en-US" dirty="0"/>
              <a:t>，大模型不是生成，取而代之是并行验证草稿模型生成的</a:t>
            </a:r>
            <a:r>
              <a:rPr lang="en-US" altLang="zh-CN" dirty="0"/>
              <a:t>token</a:t>
            </a:r>
            <a:r>
              <a:rPr lang="zh-CN" altLang="en-US" dirty="0"/>
              <a:t>，因为同时多验证几个</a:t>
            </a:r>
            <a:r>
              <a:rPr lang="en-US" altLang="zh-CN" dirty="0"/>
              <a:t>token</a:t>
            </a:r>
            <a:r>
              <a:rPr lang="zh-CN" altLang="en-US" dirty="0"/>
              <a:t>并不会大大增加计算量，</a:t>
            </a:r>
            <a:r>
              <a:rPr lang="en-US" altLang="zh-CN" dirty="0" err="1"/>
              <a:t>gpu</a:t>
            </a:r>
            <a:r>
              <a:rPr lang="zh-CN" altLang="en-US" dirty="0"/>
              <a:t>可以同时处理，从而这个步骤时间开销与单次解码一个</a:t>
            </a:r>
            <a:r>
              <a:rPr lang="en-US" altLang="zh-CN" dirty="0"/>
              <a:t>token</a:t>
            </a:r>
            <a:r>
              <a:rPr lang="zh-CN" altLang="en-US" dirty="0"/>
              <a:t>的时间开销几乎一致</a:t>
            </a:r>
          </a:p>
        </p:txBody>
      </p:sp>
      <p:sp>
        <p:nvSpPr>
          <p:cNvPr id="4" name="灯片编号占位符 3">
            <a:extLst>
              <a:ext uri="{FF2B5EF4-FFF2-40B4-BE49-F238E27FC236}">
                <a16:creationId xmlns:a16="http://schemas.microsoft.com/office/drawing/2014/main" id="{40564909-A1C1-B8A8-3CF8-DBCFCB403B9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3003843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r>
              <a:rPr lang="zh-CN" altLang="en-US" dirty="0"/>
              <a:t>草稿模型草拟多个</a:t>
            </a:r>
            <a:r>
              <a:rPr lang="en-US" altLang="zh-CN" dirty="0"/>
              <a:t>token</a:t>
            </a:r>
            <a:r>
              <a:rPr lang="zh-CN" altLang="en-US" dirty="0"/>
              <a:t>，草稿模型有多种选择，主流选择是目标模型的同架构参数量更小的版本，他推理速度远优于目标模型，</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目标模型并行的生成草稿模型生成</a:t>
            </a:r>
            <a:r>
              <a:rPr lang="en-US" altLang="zh-CN" dirty="0"/>
              <a:t>token</a:t>
            </a:r>
            <a:r>
              <a:rPr lang="zh-CN" altLang="en-US" dirty="0"/>
              <a:t>的概率分布，类似于</a:t>
            </a:r>
            <a:r>
              <a:rPr lang="en-US" altLang="zh-CN" dirty="0"/>
              <a:t>prefill</a:t>
            </a:r>
            <a:r>
              <a:rPr lang="zh-CN" altLang="en-US" dirty="0"/>
              <a:t>阶段，这个过程生成候选</a:t>
            </a:r>
            <a:r>
              <a:rPr lang="en-US" altLang="zh-CN" dirty="0"/>
              <a:t>token</a:t>
            </a:r>
            <a:r>
              <a:rPr lang="zh-CN" altLang="en-US" dirty="0"/>
              <a:t>再目标模型下对应的概率分布</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第三步，对草稿模型的生成的</a:t>
            </a:r>
            <a:r>
              <a:rPr lang="en-US" altLang="zh-CN" dirty="0"/>
              <a:t>token</a:t>
            </a:r>
            <a:r>
              <a:rPr lang="zh-CN" altLang="en-US" dirty="0"/>
              <a:t>进行验证，可以证明通过这种采样方式跟从目标模型生成的概率分布中采样完全一致，但是能够在单步中生成多个</a:t>
            </a:r>
            <a:r>
              <a:rPr lang="en-US" altLang="zh-CN" dirty="0"/>
              <a:t>token</a:t>
            </a: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3890037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r>
              <a:rPr lang="en-US" altLang="zh-CN" dirty="0"/>
              <a:t>alpha</a:t>
            </a:r>
            <a:r>
              <a:rPr lang="zh-CN" altLang="en-US" dirty="0"/>
              <a:t>计算方式是之前接受概率的期望</a:t>
            </a:r>
            <a:endParaRPr lang="en-US" altLang="zh-CN" dirty="0"/>
          </a:p>
          <a:p>
            <a:pPr marL="0" indent="0">
              <a:buFont typeface="Wingdings" panose="05000000000000000000" pitchFamily="2" charset="2"/>
              <a:buNone/>
            </a:pPr>
            <a:endParaRPr lang="en-US" altLang="zh-CN" dirty="0"/>
          </a:p>
          <a:p>
            <a:pPr marL="0" indent="0">
              <a:buFont typeface="Wingdings" panose="05000000000000000000" pitchFamily="2" charset="2"/>
              <a:buNone/>
            </a:pPr>
            <a:r>
              <a:rPr lang="zh-CN" altLang="en-US" dirty="0"/>
              <a:t>若个草稿模型生成的数量过多，草稿模型推理时间会抵消掉目标模型并行验证节省的时间</a:t>
            </a:r>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786794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2DB51-77FE-3608-AE57-B1695B7E874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5252D14-8247-6E05-2AF1-43117564331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142736E-30F8-698A-037C-59C028D1EB54}"/>
              </a:ext>
            </a:extLst>
          </p:cNvPr>
          <p:cNvSpPr>
            <a:spLocks noGrp="1"/>
          </p:cNvSpPr>
          <p:nvPr>
            <p:ph type="body" idx="1"/>
          </p:nvPr>
        </p:nvSpPr>
        <p:spPr/>
        <p:txBody>
          <a:bodyPr/>
          <a:lstStyle/>
          <a:p>
            <a:pPr marL="0" indent="0">
              <a:buFont typeface="Wingdings" panose="05000000000000000000" pitchFamily="2" charset="2"/>
              <a:buNone/>
            </a:pPr>
            <a:r>
              <a:rPr lang="en-US" altLang="zh-CN" dirty="0"/>
              <a:t>D</a:t>
            </a:r>
            <a:r>
              <a:rPr lang="zh-CN" altLang="en-US" dirty="0"/>
              <a:t>表示目标模型与草稿模型的概率分布直接的差距</a:t>
            </a:r>
          </a:p>
        </p:txBody>
      </p:sp>
      <p:sp>
        <p:nvSpPr>
          <p:cNvPr id="4" name="灯片编号占位符 3">
            <a:extLst>
              <a:ext uri="{FF2B5EF4-FFF2-40B4-BE49-F238E27FC236}">
                <a16:creationId xmlns:a16="http://schemas.microsoft.com/office/drawing/2014/main" id="{1BD23854-C24C-4E3C-5604-2D42A7677C5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912357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71B67-4F07-FFB7-C051-C60C4AB1337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DD01078-3318-43A0-53CD-EB4B250C818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3CDF222-604C-F089-4B76-22CA77D0B3AB}"/>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46C3FCAD-7A60-C03B-E88E-B939C1B6BEB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30127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7D10E-9A8E-A4FB-E1D6-8B10FA377F3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D8A381-8F88-D5B9-BD54-A3EC0D50DD2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C50E157-5B75-A774-8F47-E03560061D8D}"/>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F3BE94BF-72C6-ECD8-E1FE-334D7638E35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4283194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E9791-5791-276D-C0A8-83C68204343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72449CC-FB6F-9C77-DC7A-59A9684D31F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74F6CEB-C225-CA6C-60DF-B44AAE859CC2}"/>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6B0DA117-8B12-B674-60F9-6F6E248DBD5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414791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78553-3CD5-EC40-FA85-B644C0F1093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E6679F-C70B-58DA-9B4E-82178F084DC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7D6906-529F-D810-8219-FEA26FD6A714}"/>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8A63F535-99B6-903A-1EE8-B2E4377C18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5805447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0B2B6-1954-0108-FF16-184ED0A27A0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9A37DB9-FD87-4FA9-6755-8C71A7AF7C7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5FDA671-77E6-A98A-67F2-E0C36A802968}"/>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5A99B9ED-6230-60E4-EDDC-9338BDEDD52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837101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5B9E1-EC48-F22A-0A62-00965A311AC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5B6328-1E3A-1125-05DB-CC9360051E4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888DEBE-CE33-0BDE-58C4-993E7460DEE8}"/>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0C279621-F4A5-7402-0DAE-DBF6F600BBE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7683992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DBC49-B793-72C7-540B-3AD2B6CB24D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556E42-DD0A-3C1D-8951-2E86F7428F1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B73D2D5-6C84-CF61-7C27-7F5016257BC2}"/>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19C9846C-AFA0-2DA4-DEE7-5D6AD8678CC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903379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4CBC2-65DD-F6B0-A9C2-7748FA6BE8F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73191A1-2DF7-C175-B78E-1F1488FB244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D121B4-C317-433C-848C-971804F64315}"/>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4CE0D284-35E2-5AE2-33B4-AD130C8A3C9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0100340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08758-B05C-2A45-ED5C-37ACF382A4C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7690699-E30D-7628-6435-9D07A947641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F23944B-46A3-419C-75FA-95BC7BC46442}"/>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554C63D3-CA89-A9A2-6A83-916404B2585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051253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endParaRPr lang="zh-CN" altLang="en-US" b="0" i="0" dirty="0">
              <a:effectLst/>
              <a:latin typeface="-apple-system"/>
            </a:endParaRPr>
          </a:p>
        </p:txBody>
      </p:sp>
      <p:sp>
        <p:nvSpPr>
          <p:cNvPr id="4" name="灯片编号占位符 3"/>
          <p:cNvSpPr>
            <a:spLocks noGrp="1"/>
          </p:cNvSpPr>
          <p:nvPr>
            <p:ph type="sldNum" sz="quarter" idx="10"/>
          </p:nvPr>
        </p:nvSpPr>
        <p:spPr/>
        <p:txBody>
          <a:bodyPr/>
          <a:lstStyle/>
          <a:p>
            <a:fld id="{D34C0232-94FA-4EBE-BB9B-79FBE486032D}" type="slidenum">
              <a:rPr lang="zh-CN" altLang="en-US" smtClean="0"/>
              <a:t>15</a:t>
            </a:fld>
            <a:endParaRPr lang="zh-CN" altLang="en-US"/>
          </a:p>
        </p:txBody>
      </p:sp>
    </p:spTree>
    <p:extLst>
      <p:ext uri="{BB962C8B-B14F-4D97-AF65-F5344CB8AC3E}">
        <p14:creationId xmlns:p14="http://schemas.microsoft.com/office/powerpoint/2010/main" val="29586716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919991"/>
      </p:ext>
    </p:extLst>
  </p:cSld>
  <p:clrMapOvr>
    <a:masterClrMapping/>
  </p:clrMapOvr>
  <mc:AlternateContent xmlns:mc="http://schemas.openxmlformats.org/markup-compatibility/2006" xmlns:p14="http://schemas.microsoft.com/office/powerpoint/2010/main">
    <mc:Choice Requires="p14">
      <p:transition spd="slow" p14:dur="1400" advClick="0" advTm="5000">
        <p14:ripple/>
      </p:transition>
    </mc:Choice>
    <mc:Fallback xmlns="">
      <p:transition spd="slow" advClick="0" advTm="5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1874750"/>
      </p:ext>
    </p:extLst>
  </p:cSld>
  <p:clrMapOvr>
    <a:masterClrMapping/>
  </p:clrMapOvr>
  <mc:AlternateContent xmlns:mc="http://schemas.openxmlformats.org/markup-compatibility/2006" xmlns:p14="http://schemas.microsoft.com/office/powerpoint/2010/main">
    <mc:Choice Requires="p14">
      <p:transition spd="slow" p14:dur="1400" advClick="0" advTm="5000">
        <p14:doors dir="vert"/>
      </p:transition>
    </mc:Choice>
    <mc:Fallback xmlns="">
      <p:transition spd="slow" advClick="0" advTm="5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过度页1">
    <p:spTree>
      <p:nvGrpSpPr>
        <p:cNvPr id="1" name=""/>
        <p:cNvGrpSpPr/>
        <p:nvPr/>
      </p:nvGrpSpPr>
      <p:grpSpPr>
        <a:xfrm>
          <a:off x="0" y="0"/>
          <a:ext cx="0" cy="0"/>
          <a:chOff x="0" y="0"/>
          <a:chExt cx="0" cy="0"/>
        </a:xfrm>
      </p:grpSpPr>
    </p:spTree>
    <p:extLst>
      <p:ext uri="{BB962C8B-B14F-4D97-AF65-F5344CB8AC3E}">
        <p14:creationId xmlns:p14="http://schemas.microsoft.com/office/powerpoint/2010/main" val="459787248"/>
      </p:ext>
    </p:extLst>
  </p:cSld>
  <p:clrMapOvr>
    <a:masterClrMapping/>
  </p:clrMapOvr>
  <mc:AlternateContent xmlns:mc="http://schemas.openxmlformats.org/markup-compatibility/2006" xmlns:p14="http://schemas.microsoft.com/office/powerpoint/2010/main">
    <mc:Choice Requires="p14">
      <p:transition spd="slow" p14:dur="900" advClick="0" advTm="5000">
        <p14:warp dir="in"/>
      </p:transition>
    </mc:Choice>
    <mc:Fallback xmlns="">
      <p:transition spd="slow" advClick="0" advTm="5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3927944760"/>
      </p:ext>
    </p:extLst>
  </p:cSld>
  <p:clrMapOvr>
    <a:masterClrMapping/>
  </p:clrMapOvr>
  <mc:AlternateContent xmlns:mc="http://schemas.openxmlformats.org/markup-compatibility/2006" xmlns:p14="http://schemas.microsoft.com/office/powerpoint/2010/main">
    <mc:Choice Requires="p14">
      <p:transition spd="slow" p14:dur="1600" advClick="0" advTm="5000">
        <p14:prism isInverted="1"/>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3298023556"/>
      </p:ext>
    </p:extLst>
  </p:cSld>
  <p:clrMapOvr>
    <a:masterClrMapping/>
  </p:clrMapOvr>
  <mc:AlternateContent xmlns:mc="http://schemas.openxmlformats.org/markup-compatibility/2006" xmlns:p14="http://schemas.microsoft.com/office/powerpoint/2010/main">
    <mc:Choice Requires="p14">
      <p:transition spd="slow" p14:dur="1250" advClick="0" advTm="5000">
        <p14:switch dir="r"/>
      </p:transition>
    </mc:Choice>
    <mc:Fallback xmlns="">
      <p:transition spd="slow" advClick="0" advTm="5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3491769650"/>
      </p:ext>
    </p:extLst>
  </p:cSld>
  <p:clrMapOvr>
    <a:masterClrMapping/>
  </p:clrMapOvr>
  <mc:AlternateContent xmlns:mc="http://schemas.openxmlformats.org/markup-compatibility/2006" xmlns:p14="http://schemas.microsoft.com/office/powerpoint/2010/main">
    <mc:Choice Requires="p14">
      <p:transition spd="slow" p14:dur="1250" advClick="0" advTm="5000">
        <p14:flip dir="r"/>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560972404"/>
      </p:ext>
    </p:extLst>
  </p:cSld>
  <p:clrMapOvr>
    <a:masterClrMapping/>
  </p:clrMapOvr>
  <mc:AlternateContent xmlns:mc="http://schemas.openxmlformats.org/markup-compatibility/2006" xmlns:p14="http://schemas.microsoft.com/office/powerpoint/2010/main">
    <mc:Choice Requires="p14">
      <p:transition spd="slow" p14:dur="1600" advClick="0" advTm="5000">
        <p14:gallery dir="l"/>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819806"/>
      </p:ext>
    </p:extLst>
  </p:cSld>
  <p:clrMapOvr>
    <a:masterClrMapping/>
  </p:clrMapOvr>
  <mc:AlternateContent xmlns:mc="http://schemas.openxmlformats.org/markup-compatibility/2006" xmlns:p14="http://schemas.microsoft.com/office/powerpoint/2010/main">
    <mc:Choice Requires="p14">
      <p:transition spd="slow" p14:dur="900" advClick="0" advTm="5000">
        <p14:warp dir="in"/>
      </p:transition>
    </mc:Choice>
    <mc:Fallback xmlns="">
      <p:transition spd="slow" advClick="0" advTm="5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版权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9074605"/>
      </p:ext>
    </p:extLst>
  </p:cSld>
  <p:clrMapOvr>
    <a:masterClrMapping/>
  </p:clrMapOvr>
  <mc:AlternateContent xmlns:mc="http://schemas.openxmlformats.org/markup-compatibility/2006" xmlns:p14="http://schemas.microsoft.com/office/powerpoint/2010/main">
    <mc:Choice Requires="p14">
      <p:transition spd="slow" p14:dur="1600" advClick="0" advTm="5000">
        <p:blinds dir="vert"/>
      </p:transition>
    </mc:Choice>
    <mc:Fallback xmlns="">
      <p:transition spd="slow" advClick="0" advTm="5000">
        <p:blinds dir="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lIns="121917" tIns="60958" rIns="121917" bIns="60958"/>
          <a:lstStyle/>
          <a:p>
            <a:r>
              <a:rPr lang="zh-CN" altLang="en-US"/>
              <a:t>单击此处编辑母版标题样式</a:t>
            </a:r>
          </a:p>
        </p:txBody>
      </p:sp>
      <p:sp>
        <p:nvSpPr>
          <p:cNvPr id="3" name="日期占位符 2"/>
          <p:cNvSpPr>
            <a:spLocks noGrp="1"/>
          </p:cNvSpPr>
          <p:nvPr>
            <p:ph type="dt" sz="half" idx="10"/>
          </p:nvPr>
        </p:nvSpPr>
        <p:spPr>
          <a:xfrm>
            <a:off x="838200" y="6356351"/>
            <a:ext cx="2743200" cy="365125"/>
          </a:xfrm>
          <a:prstGeom prst="rect">
            <a:avLst/>
          </a:prstGeom>
        </p:spPr>
        <p:txBody>
          <a:bodyPr lIns="121917" tIns="60958" rIns="121917" bIns="60958"/>
          <a:lstStyle>
            <a:lvl1pPr>
              <a:defRPr/>
            </a:lvl1pPr>
          </a:lstStyle>
          <a:p>
            <a:fld id="{80F42DC0-2E3F-F440-A3AA-64F0AA1F84F2}" type="datetime1">
              <a:rPr lang="zh-CN" altLang="en-US"/>
              <a:t>2025/10/13</a:t>
            </a:fld>
            <a:endParaRPr lang="zh-CN" altLang="en-US" sz="1900">
              <a:solidFill>
                <a:schemeClr val="tx1"/>
              </a:solidFill>
            </a:endParaRPr>
          </a:p>
        </p:txBody>
      </p:sp>
      <p:sp>
        <p:nvSpPr>
          <p:cNvPr id="4" name="页脚占位符 3"/>
          <p:cNvSpPr>
            <a:spLocks noGrp="1"/>
          </p:cNvSpPr>
          <p:nvPr>
            <p:ph type="ftr" sz="quarter" idx="11"/>
          </p:nvPr>
        </p:nvSpPr>
        <p:spPr>
          <a:xfrm>
            <a:off x="4038600" y="6356351"/>
            <a:ext cx="4114800" cy="365125"/>
          </a:xfrm>
          <a:prstGeom prst="rect">
            <a:avLst/>
          </a:prstGeom>
        </p:spPr>
        <p:txBody>
          <a:bodyPr lIns="121917" tIns="60958" rIns="121917" bIns="60958"/>
          <a:lstStyle>
            <a:lvl1pPr>
              <a:defRPr/>
            </a:lvl1pPr>
          </a:lstStyle>
          <a:p>
            <a:endParaRPr lang="zh-CN" altLang="zh-CN"/>
          </a:p>
        </p:txBody>
      </p:sp>
      <p:sp>
        <p:nvSpPr>
          <p:cNvPr id="5" name="幻灯片编号占位符 4"/>
          <p:cNvSpPr>
            <a:spLocks noGrp="1"/>
          </p:cNvSpPr>
          <p:nvPr>
            <p:ph type="sldNum" sz="quarter" idx="12"/>
          </p:nvPr>
        </p:nvSpPr>
        <p:spPr>
          <a:xfrm>
            <a:off x="8610600" y="6356351"/>
            <a:ext cx="2743200" cy="365125"/>
          </a:xfrm>
          <a:prstGeom prst="rect">
            <a:avLst/>
          </a:prstGeom>
        </p:spPr>
        <p:txBody>
          <a:bodyPr lIns="121917" tIns="60958" rIns="121917" bIns="60958"/>
          <a:lstStyle>
            <a:lvl1pPr>
              <a:defRPr/>
            </a:lvl1pPr>
          </a:lstStyle>
          <a:p>
            <a:fld id="{C5FC99A0-26D8-5E4B-82FB-70809BCEE9F6}" type="slidenum">
              <a:rPr lang="zh-CN" altLang="en-US"/>
              <a:t>‹#›</a:t>
            </a:fld>
            <a:endParaRPr lang="zh-CN" altLang="en-US" sz="1900">
              <a:solidFill>
                <a:schemeClr val="tx1"/>
              </a:solidFill>
            </a:endParaRPr>
          </a:p>
        </p:txBody>
      </p:sp>
    </p:spTree>
    <p:extLst>
      <p:ext uri="{BB962C8B-B14F-4D97-AF65-F5344CB8AC3E}">
        <p14:creationId xmlns:p14="http://schemas.microsoft.com/office/powerpoint/2010/main" val="40728416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首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5509646"/>
      </p:ext>
    </p:extLst>
  </p:cSld>
  <p:clrMapOvr>
    <a:masterClrMapping/>
  </p:clrMapOvr>
  <mc:AlternateContent xmlns:mc="http://schemas.openxmlformats.org/markup-compatibility/2006" xmlns:p14="http://schemas.microsoft.com/office/powerpoint/2010/main">
    <mc:Choice Requires="p14">
      <p:transition spd="slow" p14:dur="1400" advClick="0" advTm="5000">
        <p14:ripple/>
      </p:transition>
    </mc:Choice>
    <mc:Fallback xmlns="">
      <p:transition spd="slow" advClick="0" advTm="5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目录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964116331"/>
      </p:ext>
    </p:extLst>
  </p:cSld>
  <p:clrMapOvr>
    <a:masterClrMapping/>
  </p:clrMapOvr>
  <mc:AlternateContent xmlns:mc="http://schemas.openxmlformats.org/markup-compatibility/2006" xmlns:p14="http://schemas.microsoft.com/office/powerpoint/2010/main">
    <mc:Choice Requires="p14">
      <p:transition spd="slow" p14:dur="1400" advClick="0" advTm="5000">
        <p14:doors dir="vert"/>
      </p:transition>
    </mc:Choice>
    <mc:Fallback xmlns="">
      <p:transition spd="slow" advClick="0" advTm="5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2750406026"/>
      </p:ext>
    </p:extLst>
  </p:cSld>
  <p:clrMapOvr>
    <a:masterClrMapping/>
  </p:clrMapOvr>
  <mc:AlternateContent xmlns:mc="http://schemas.openxmlformats.org/markup-compatibility/2006" xmlns:p14="http://schemas.microsoft.com/office/powerpoint/2010/main">
    <mc:Choice Requires="p14">
      <p:transition spd="slow" p14:dur="1250" advClick="0" advTm="5000">
        <p14:switch dir="r"/>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首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8943275"/>
      </p:ext>
    </p:extLst>
  </p:cSld>
  <p:clrMapOvr>
    <a:masterClrMapping/>
  </p:clrMapOvr>
  <mc:AlternateContent xmlns:mc="http://schemas.openxmlformats.org/markup-compatibility/2006" xmlns:p14="http://schemas.microsoft.com/office/powerpoint/2010/main">
    <mc:Choice Requires="p14">
      <p:transition spd="slow" p14:dur="1400" advClick="0" advTm="5000">
        <p14:ripple/>
      </p:transition>
    </mc:Choice>
    <mc:Fallback xmlns="">
      <p:transition spd="slow" advClick="0" advTm="5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目录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850005"/>
      </p:ext>
    </p:extLst>
  </p:cSld>
  <p:clrMapOvr>
    <a:masterClrMapping/>
  </p:clrMapOvr>
  <mc:AlternateContent xmlns:mc="http://schemas.openxmlformats.org/markup-compatibility/2006" xmlns:p14="http://schemas.microsoft.com/office/powerpoint/2010/main">
    <mc:Choice Requires="p14">
      <p:transition spd="slow" p14:dur="1400" advClick="0" advTm="5000">
        <p14:doors dir="vert"/>
      </p:transition>
    </mc:Choice>
    <mc:Fallback xmlns="">
      <p:transition spd="slow" advClick="0" advTm="5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3107091900"/>
      </p:ext>
    </p:extLst>
  </p:cSld>
  <p:clrMapOvr>
    <a:masterClrMapping/>
  </p:clrMapOvr>
  <mc:AlternateContent xmlns:mc="http://schemas.openxmlformats.org/markup-compatibility/2006" xmlns:p14="http://schemas.microsoft.com/office/powerpoint/2010/main">
    <mc:Choice Requires="p14">
      <p:transition spd="slow" p14:dur="1250" advClick="0" advTm="5000">
        <p14:switch dir="r"/>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36594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60" r:id="rId11"/>
    <p:sldLayoutId id="2147483672" r:id="rId12"/>
    <p:sldLayoutId id="2147483673" r:id="rId13"/>
    <p:sldLayoutId id="2147483716" r:id="rId14"/>
    <p:sldLayoutId id="2147483717" r:id="rId15"/>
    <p:sldLayoutId id="2147483718" r:id="rId16"/>
  </p:sldLayoutIdLst>
  <mc:AlternateContent xmlns:mc="http://schemas.openxmlformats.org/markup-compatibility/2006" xmlns:p14="http://schemas.microsoft.com/office/powerpoint/2010/main">
    <mc:Choice Requires="p14">
      <p:transition p14:dur="10" advClick="0" advTm="5000"/>
    </mc:Choice>
    <mc:Fallback xmlns="">
      <p:transition advClick="0" advTm="5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notesSlide" Target="../notesSlides/notesSlide3.xml"/><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5.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38.png"/></Relationships>
</file>

<file path=ppt/slides/_rels/slide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42.png"/></Relationships>
</file>

<file path=ppt/slides/_rels/slide1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44.png"/></Relationships>
</file>

<file path=ppt/slides/_rels/slide12.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12669" y="3863873"/>
            <a:ext cx="10966661" cy="45719"/>
            <a:chOff x="5280505" y="3963496"/>
            <a:chExt cx="5863771" cy="57767"/>
          </a:xfrm>
          <a:solidFill>
            <a:schemeClr val="tx1"/>
          </a:solidFill>
        </p:grpSpPr>
        <p:sp>
          <p:nvSpPr>
            <p:cNvPr id="6" name="任意多边形 16"/>
            <p:cNvSpPr/>
            <p:nvPr/>
          </p:nvSpPr>
          <p:spPr>
            <a:xfrm>
              <a:off x="5280505" y="3992380"/>
              <a:ext cx="5863771" cy="0"/>
            </a:xfrm>
            <a:custGeom>
              <a:avLst/>
              <a:gdLst>
                <a:gd name="connsiteX0" fmla="*/ 0 w 5863771"/>
                <a:gd name="connsiteY0" fmla="*/ 0 h 0"/>
                <a:gd name="connsiteX1" fmla="*/ 58057 w 5863771"/>
                <a:gd name="connsiteY1" fmla="*/ 0 h 0"/>
                <a:gd name="connsiteX2" fmla="*/ 5863771 w 5863771"/>
                <a:gd name="connsiteY2" fmla="*/ 0 h 0"/>
              </a:gdLst>
              <a:ahLst/>
              <a:cxnLst>
                <a:cxn ang="0">
                  <a:pos x="connsiteX0" y="connsiteY0"/>
                </a:cxn>
                <a:cxn ang="0">
                  <a:pos x="connsiteX1" y="connsiteY1"/>
                </a:cxn>
                <a:cxn ang="0">
                  <a:pos x="connsiteX2" y="connsiteY2"/>
                </a:cxn>
              </a:cxnLst>
              <a:rect l="l" t="t" r="r" b="b"/>
              <a:pathLst>
                <a:path w="5863771">
                  <a:moveTo>
                    <a:pt x="0" y="0"/>
                  </a:moveTo>
                  <a:lnTo>
                    <a:pt x="58057" y="0"/>
                  </a:lnTo>
                  <a:lnTo>
                    <a:pt x="5863771" y="0"/>
                  </a:lnTo>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sp>
          <p:nvSpPr>
            <p:cNvPr id="7" name="圆角矩形 17"/>
            <p:cNvSpPr/>
            <p:nvPr/>
          </p:nvSpPr>
          <p:spPr>
            <a:xfrm>
              <a:off x="7456740" y="3963496"/>
              <a:ext cx="1511300" cy="57767"/>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grpSp>
      <p:grpSp>
        <p:nvGrpSpPr>
          <p:cNvPr id="9" name="组合 8"/>
          <p:cNvGrpSpPr/>
          <p:nvPr/>
        </p:nvGrpSpPr>
        <p:grpSpPr bwMode="auto">
          <a:xfrm>
            <a:off x="5170374" y="4178966"/>
            <a:ext cx="412709" cy="333006"/>
            <a:chOff x="0" y="0"/>
            <a:chExt cx="1088225" cy="869861"/>
          </a:xfrm>
          <a:solidFill>
            <a:schemeClr val="tx1"/>
          </a:solidFill>
        </p:grpSpPr>
        <p:sp>
          <p:nvSpPr>
            <p:cNvPr id="10" name="Freeform 17"/>
            <p:cNvSpPr>
              <a:spLocks noEditPoints="1" noChangeArrowheads="1"/>
            </p:cNvSpPr>
            <p:nvPr/>
          </p:nvSpPr>
          <p:spPr bwMode="auto">
            <a:xfrm>
              <a:off x="0" y="237562"/>
              <a:ext cx="824268" cy="632299"/>
            </a:xfrm>
            <a:custGeom>
              <a:avLst/>
              <a:gdLst>
                <a:gd name="T0" fmla="*/ 274 w 291"/>
                <a:gd name="T1" fmla="*/ 0 h 223"/>
                <a:gd name="T2" fmla="*/ 17 w 291"/>
                <a:gd name="T3" fmla="*/ 0 h 223"/>
                <a:gd name="T4" fmla="*/ 0 w 291"/>
                <a:gd name="T5" fmla="*/ 16 h 223"/>
                <a:gd name="T6" fmla="*/ 0 w 291"/>
                <a:gd name="T7" fmla="*/ 207 h 223"/>
                <a:gd name="T8" fmla="*/ 17 w 291"/>
                <a:gd name="T9" fmla="*/ 223 h 223"/>
                <a:gd name="T10" fmla="*/ 274 w 291"/>
                <a:gd name="T11" fmla="*/ 223 h 223"/>
                <a:gd name="T12" fmla="*/ 291 w 291"/>
                <a:gd name="T13" fmla="*/ 207 h 223"/>
                <a:gd name="T14" fmla="*/ 291 w 291"/>
                <a:gd name="T15" fmla="*/ 16 h 223"/>
                <a:gd name="T16" fmla="*/ 274 w 291"/>
                <a:gd name="T17" fmla="*/ 0 h 223"/>
                <a:gd name="T18" fmla="*/ 270 w 291"/>
                <a:gd name="T19" fmla="*/ 193 h 223"/>
                <a:gd name="T20" fmla="*/ 256 w 291"/>
                <a:gd name="T21" fmla="*/ 207 h 223"/>
                <a:gd name="T22" fmla="*/ 35 w 291"/>
                <a:gd name="T23" fmla="*/ 207 h 223"/>
                <a:gd name="T24" fmla="*/ 21 w 291"/>
                <a:gd name="T25" fmla="*/ 193 h 223"/>
                <a:gd name="T26" fmla="*/ 21 w 291"/>
                <a:gd name="T27" fmla="*/ 30 h 223"/>
                <a:gd name="T28" fmla="*/ 35 w 291"/>
                <a:gd name="T29" fmla="*/ 16 h 223"/>
                <a:gd name="T30" fmla="*/ 256 w 291"/>
                <a:gd name="T31" fmla="*/ 16 h 223"/>
                <a:gd name="T32" fmla="*/ 270 w 291"/>
                <a:gd name="T33" fmla="*/ 30 h 223"/>
                <a:gd name="T34" fmla="*/ 270 w 291"/>
                <a:gd name="T35" fmla="*/ 193 h 2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1"/>
                <a:gd name="T55" fmla="*/ 0 h 223"/>
                <a:gd name="T56" fmla="*/ 291 w 291"/>
                <a:gd name="T57" fmla="*/ 223 h 2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1" h="223">
                  <a:moveTo>
                    <a:pt x="274" y="0"/>
                  </a:moveTo>
                  <a:cubicBezTo>
                    <a:pt x="17" y="0"/>
                    <a:pt x="17" y="0"/>
                    <a:pt x="17" y="0"/>
                  </a:cubicBezTo>
                  <a:cubicBezTo>
                    <a:pt x="8" y="0"/>
                    <a:pt x="0" y="7"/>
                    <a:pt x="0" y="16"/>
                  </a:cubicBezTo>
                  <a:cubicBezTo>
                    <a:pt x="0" y="207"/>
                    <a:pt x="0" y="207"/>
                    <a:pt x="0" y="207"/>
                  </a:cubicBezTo>
                  <a:cubicBezTo>
                    <a:pt x="0" y="215"/>
                    <a:pt x="8" y="223"/>
                    <a:pt x="17" y="223"/>
                  </a:cubicBezTo>
                  <a:cubicBezTo>
                    <a:pt x="274" y="223"/>
                    <a:pt x="274" y="223"/>
                    <a:pt x="274" y="223"/>
                  </a:cubicBezTo>
                  <a:cubicBezTo>
                    <a:pt x="283" y="223"/>
                    <a:pt x="291" y="215"/>
                    <a:pt x="291" y="207"/>
                  </a:cubicBezTo>
                  <a:cubicBezTo>
                    <a:pt x="291" y="16"/>
                    <a:pt x="291" y="16"/>
                    <a:pt x="291" y="16"/>
                  </a:cubicBezTo>
                  <a:cubicBezTo>
                    <a:pt x="291" y="7"/>
                    <a:pt x="283" y="0"/>
                    <a:pt x="274" y="0"/>
                  </a:cubicBezTo>
                  <a:moveTo>
                    <a:pt x="270" y="193"/>
                  </a:moveTo>
                  <a:cubicBezTo>
                    <a:pt x="270" y="201"/>
                    <a:pt x="264" y="207"/>
                    <a:pt x="256" y="207"/>
                  </a:cubicBezTo>
                  <a:cubicBezTo>
                    <a:pt x="35" y="207"/>
                    <a:pt x="35" y="207"/>
                    <a:pt x="35" y="207"/>
                  </a:cubicBezTo>
                  <a:cubicBezTo>
                    <a:pt x="27" y="207"/>
                    <a:pt x="21" y="201"/>
                    <a:pt x="21" y="193"/>
                  </a:cubicBezTo>
                  <a:cubicBezTo>
                    <a:pt x="21" y="30"/>
                    <a:pt x="21" y="30"/>
                    <a:pt x="21" y="30"/>
                  </a:cubicBezTo>
                  <a:cubicBezTo>
                    <a:pt x="21" y="22"/>
                    <a:pt x="27" y="16"/>
                    <a:pt x="35" y="16"/>
                  </a:cubicBezTo>
                  <a:cubicBezTo>
                    <a:pt x="256" y="16"/>
                    <a:pt x="256" y="16"/>
                    <a:pt x="256" y="16"/>
                  </a:cubicBezTo>
                  <a:cubicBezTo>
                    <a:pt x="264" y="16"/>
                    <a:pt x="270" y="22"/>
                    <a:pt x="270" y="30"/>
                  </a:cubicBezTo>
                  <a:lnTo>
                    <a:pt x="270" y="19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1" name="Freeform 18"/>
            <p:cNvSpPr>
              <a:spLocks noChangeArrowheads="1"/>
            </p:cNvSpPr>
            <p:nvPr/>
          </p:nvSpPr>
          <p:spPr bwMode="auto">
            <a:xfrm>
              <a:off x="137978" y="110382"/>
              <a:ext cx="821868" cy="632299"/>
            </a:xfrm>
            <a:custGeom>
              <a:avLst/>
              <a:gdLst>
                <a:gd name="T0" fmla="*/ 274 w 290"/>
                <a:gd name="T1" fmla="*/ 0 h 223"/>
                <a:gd name="T2" fmla="*/ 16 w 290"/>
                <a:gd name="T3" fmla="*/ 0 h 223"/>
                <a:gd name="T4" fmla="*/ 0 w 290"/>
                <a:gd name="T5" fmla="*/ 16 h 223"/>
                <a:gd name="T6" fmla="*/ 0 w 290"/>
                <a:gd name="T7" fmla="*/ 25 h 223"/>
                <a:gd name="T8" fmla="*/ 249 w 290"/>
                <a:gd name="T9" fmla="*/ 25 h 223"/>
                <a:gd name="T10" fmla="*/ 265 w 290"/>
                <a:gd name="T11" fmla="*/ 42 h 223"/>
                <a:gd name="T12" fmla="*/ 265 w 290"/>
                <a:gd name="T13" fmla="*/ 223 h 223"/>
                <a:gd name="T14" fmla="*/ 274 w 290"/>
                <a:gd name="T15" fmla="*/ 223 h 223"/>
                <a:gd name="T16" fmla="*/ 290 w 290"/>
                <a:gd name="T17" fmla="*/ 207 h 223"/>
                <a:gd name="T18" fmla="*/ 290 w 290"/>
                <a:gd name="T19" fmla="*/ 16 h 223"/>
                <a:gd name="T20" fmla="*/ 274 w 290"/>
                <a:gd name="T21" fmla="*/ 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3"/>
                <a:gd name="T35" fmla="*/ 290 w 290"/>
                <a:gd name="T36" fmla="*/ 223 h 2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3">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3"/>
                    <a:pt x="265" y="42"/>
                  </a:cubicBezTo>
                  <a:cubicBezTo>
                    <a:pt x="265" y="223"/>
                    <a:pt x="265" y="223"/>
                    <a:pt x="265" y="223"/>
                  </a:cubicBezTo>
                  <a:cubicBezTo>
                    <a:pt x="274" y="223"/>
                    <a:pt x="274" y="223"/>
                    <a:pt x="274" y="223"/>
                  </a:cubicBezTo>
                  <a:cubicBezTo>
                    <a:pt x="283" y="223"/>
                    <a:pt x="290" y="216"/>
                    <a:pt x="290" y="207"/>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2" name="Freeform 19"/>
            <p:cNvSpPr>
              <a:spLocks noChangeArrowheads="1"/>
            </p:cNvSpPr>
            <p:nvPr/>
          </p:nvSpPr>
          <p:spPr bwMode="auto">
            <a:xfrm>
              <a:off x="266357" y="0"/>
              <a:ext cx="821868" cy="628699"/>
            </a:xfrm>
            <a:custGeom>
              <a:avLst/>
              <a:gdLst>
                <a:gd name="T0" fmla="*/ 274 w 290"/>
                <a:gd name="T1" fmla="*/ 0 h 222"/>
                <a:gd name="T2" fmla="*/ 16 w 290"/>
                <a:gd name="T3" fmla="*/ 0 h 222"/>
                <a:gd name="T4" fmla="*/ 0 w 290"/>
                <a:gd name="T5" fmla="*/ 16 h 222"/>
                <a:gd name="T6" fmla="*/ 0 w 290"/>
                <a:gd name="T7" fmla="*/ 25 h 222"/>
                <a:gd name="T8" fmla="*/ 249 w 290"/>
                <a:gd name="T9" fmla="*/ 25 h 222"/>
                <a:gd name="T10" fmla="*/ 265 w 290"/>
                <a:gd name="T11" fmla="*/ 41 h 222"/>
                <a:gd name="T12" fmla="*/ 265 w 290"/>
                <a:gd name="T13" fmla="*/ 222 h 222"/>
                <a:gd name="T14" fmla="*/ 274 w 290"/>
                <a:gd name="T15" fmla="*/ 222 h 222"/>
                <a:gd name="T16" fmla="*/ 290 w 290"/>
                <a:gd name="T17" fmla="*/ 206 h 222"/>
                <a:gd name="T18" fmla="*/ 290 w 290"/>
                <a:gd name="T19" fmla="*/ 16 h 222"/>
                <a:gd name="T20" fmla="*/ 274 w 290"/>
                <a:gd name="T21" fmla="*/ 0 h 2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2"/>
                <a:gd name="T35" fmla="*/ 290 w 290"/>
                <a:gd name="T36" fmla="*/ 222 h 2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2">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2"/>
                    <a:pt x="265" y="41"/>
                  </a:cubicBezTo>
                  <a:cubicBezTo>
                    <a:pt x="265" y="222"/>
                    <a:pt x="265" y="222"/>
                    <a:pt x="265" y="222"/>
                  </a:cubicBezTo>
                  <a:cubicBezTo>
                    <a:pt x="274" y="222"/>
                    <a:pt x="274" y="222"/>
                    <a:pt x="274" y="222"/>
                  </a:cubicBezTo>
                  <a:cubicBezTo>
                    <a:pt x="283" y="222"/>
                    <a:pt x="290" y="215"/>
                    <a:pt x="290" y="206"/>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3" name="Freeform 20"/>
            <p:cNvSpPr>
              <a:spLocks noChangeArrowheads="1"/>
            </p:cNvSpPr>
            <p:nvPr/>
          </p:nvSpPr>
          <p:spPr bwMode="auto">
            <a:xfrm>
              <a:off x="110382" y="422332"/>
              <a:ext cx="569909" cy="353943"/>
            </a:xfrm>
            <a:custGeom>
              <a:avLst/>
              <a:gdLst>
                <a:gd name="T0" fmla="*/ 71 w 201"/>
                <a:gd name="T1" fmla="*/ 5 h 125"/>
                <a:gd name="T2" fmla="*/ 11 w 201"/>
                <a:gd name="T3" fmla="*/ 109 h 125"/>
                <a:gd name="T4" fmla="*/ 11 w 201"/>
                <a:gd name="T5" fmla="*/ 124 h 125"/>
                <a:gd name="T6" fmla="*/ 192 w 201"/>
                <a:gd name="T7" fmla="*/ 124 h 125"/>
                <a:gd name="T8" fmla="*/ 192 w 201"/>
                <a:gd name="T9" fmla="*/ 108 h 125"/>
                <a:gd name="T10" fmla="*/ 151 w 201"/>
                <a:gd name="T11" fmla="*/ 47 h 125"/>
                <a:gd name="T12" fmla="*/ 117 w 201"/>
                <a:gd name="T13" fmla="*/ 86 h 125"/>
                <a:gd name="T14" fmla="*/ 110 w 201"/>
                <a:gd name="T15" fmla="*/ 81 h 125"/>
                <a:gd name="T16" fmla="*/ 122 w 201"/>
                <a:gd name="T17" fmla="*/ 65 h 125"/>
                <a:gd name="T18" fmla="*/ 81 w 201"/>
                <a:gd name="T19" fmla="*/ 5 h 125"/>
                <a:gd name="T20" fmla="*/ 71 w 201"/>
                <a:gd name="T21" fmla="*/ 5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25"/>
                <a:gd name="T35" fmla="*/ 201 w 201"/>
                <a:gd name="T36" fmla="*/ 125 h 1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25">
                  <a:moveTo>
                    <a:pt x="71" y="5"/>
                  </a:moveTo>
                  <a:cubicBezTo>
                    <a:pt x="11" y="109"/>
                    <a:pt x="11" y="109"/>
                    <a:pt x="11" y="109"/>
                  </a:cubicBezTo>
                  <a:cubicBezTo>
                    <a:pt x="11" y="109"/>
                    <a:pt x="0" y="124"/>
                    <a:pt x="11" y="124"/>
                  </a:cubicBezTo>
                  <a:cubicBezTo>
                    <a:pt x="25" y="125"/>
                    <a:pt x="192" y="124"/>
                    <a:pt x="192" y="124"/>
                  </a:cubicBezTo>
                  <a:cubicBezTo>
                    <a:pt x="192" y="124"/>
                    <a:pt x="201" y="121"/>
                    <a:pt x="192" y="108"/>
                  </a:cubicBezTo>
                  <a:cubicBezTo>
                    <a:pt x="182" y="94"/>
                    <a:pt x="158" y="46"/>
                    <a:pt x="151" y="47"/>
                  </a:cubicBezTo>
                  <a:cubicBezTo>
                    <a:pt x="144" y="47"/>
                    <a:pt x="120" y="83"/>
                    <a:pt x="117" y="86"/>
                  </a:cubicBezTo>
                  <a:cubicBezTo>
                    <a:pt x="115" y="89"/>
                    <a:pt x="108" y="84"/>
                    <a:pt x="110" y="81"/>
                  </a:cubicBezTo>
                  <a:cubicBezTo>
                    <a:pt x="116" y="74"/>
                    <a:pt x="122" y="65"/>
                    <a:pt x="122" y="65"/>
                  </a:cubicBezTo>
                  <a:cubicBezTo>
                    <a:pt x="122" y="65"/>
                    <a:pt x="84" y="9"/>
                    <a:pt x="81" y="5"/>
                  </a:cubicBezTo>
                  <a:cubicBezTo>
                    <a:pt x="78" y="0"/>
                    <a:pt x="73" y="1"/>
                    <a:pt x="71" y="5"/>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4" name="Oval 21"/>
            <p:cNvSpPr>
              <a:spLocks noChangeArrowheads="1"/>
            </p:cNvSpPr>
            <p:nvPr/>
          </p:nvSpPr>
          <p:spPr bwMode="auto">
            <a:xfrm>
              <a:off x="563909" y="331147"/>
              <a:ext cx="101984" cy="99584"/>
            </a:xfrm>
            <a:prstGeom prst="ellipse">
              <a:avLst/>
            </a:pr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5" name="组合 14"/>
          <p:cNvGrpSpPr/>
          <p:nvPr/>
        </p:nvGrpSpPr>
        <p:grpSpPr bwMode="auto">
          <a:xfrm>
            <a:off x="7179351" y="4178966"/>
            <a:ext cx="329894" cy="333006"/>
            <a:chOff x="0" y="0"/>
            <a:chExt cx="881859" cy="881859"/>
          </a:xfrm>
          <a:solidFill>
            <a:schemeClr val="tx1"/>
          </a:solidFill>
        </p:grpSpPr>
        <p:sp>
          <p:nvSpPr>
            <p:cNvPr id="16" name="Freeform 22"/>
            <p:cNvSpPr>
              <a:spLocks noEditPoints="1" noChangeArrowheads="1"/>
            </p:cNvSpPr>
            <p:nvPr/>
          </p:nvSpPr>
          <p:spPr bwMode="auto">
            <a:xfrm>
              <a:off x="0" y="0"/>
              <a:ext cx="881859" cy="881859"/>
            </a:xfrm>
            <a:custGeom>
              <a:avLst/>
              <a:gdLst>
                <a:gd name="T0" fmla="*/ 155 w 311"/>
                <a:gd name="T1" fmla="*/ 0 h 311"/>
                <a:gd name="T2" fmla="*/ 0 w 311"/>
                <a:gd name="T3" fmla="*/ 155 h 311"/>
                <a:gd name="T4" fmla="*/ 155 w 311"/>
                <a:gd name="T5" fmla="*/ 311 h 311"/>
                <a:gd name="T6" fmla="*/ 311 w 311"/>
                <a:gd name="T7" fmla="*/ 155 h 311"/>
                <a:gd name="T8" fmla="*/ 155 w 311"/>
                <a:gd name="T9" fmla="*/ 0 h 311"/>
                <a:gd name="T10" fmla="*/ 155 w 311"/>
                <a:gd name="T11" fmla="*/ 289 h 311"/>
                <a:gd name="T12" fmla="*/ 21 w 311"/>
                <a:gd name="T13" fmla="*/ 155 h 311"/>
                <a:gd name="T14" fmla="*/ 155 w 311"/>
                <a:gd name="T15" fmla="*/ 21 h 311"/>
                <a:gd name="T16" fmla="*/ 289 w 311"/>
                <a:gd name="T17" fmla="*/ 155 h 311"/>
                <a:gd name="T18" fmla="*/ 155 w 311"/>
                <a:gd name="T19" fmla="*/ 289 h 3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1"/>
                <a:gd name="T31" fmla="*/ 0 h 311"/>
                <a:gd name="T32" fmla="*/ 311 w 311"/>
                <a:gd name="T33" fmla="*/ 311 h 3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1" h="311">
                  <a:moveTo>
                    <a:pt x="155" y="0"/>
                  </a:moveTo>
                  <a:cubicBezTo>
                    <a:pt x="70" y="0"/>
                    <a:pt x="0" y="69"/>
                    <a:pt x="0" y="155"/>
                  </a:cubicBezTo>
                  <a:cubicBezTo>
                    <a:pt x="0" y="241"/>
                    <a:pt x="70" y="311"/>
                    <a:pt x="155" y="311"/>
                  </a:cubicBezTo>
                  <a:cubicBezTo>
                    <a:pt x="241" y="311"/>
                    <a:pt x="311" y="241"/>
                    <a:pt x="311" y="155"/>
                  </a:cubicBezTo>
                  <a:cubicBezTo>
                    <a:pt x="311" y="69"/>
                    <a:pt x="241" y="0"/>
                    <a:pt x="155" y="0"/>
                  </a:cubicBezTo>
                  <a:moveTo>
                    <a:pt x="155" y="289"/>
                  </a:moveTo>
                  <a:cubicBezTo>
                    <a:pt x="81" y="289"/>
                    <a:pt x="21" y="229"/>
                    <a:pt x="21" y="155"/>
                  </a:cubicBezTo>
                  <a:cubicBezTo>
                    <a:pt x="21" y="81"/>
                    <a:pt x="81" y="21"/>
                    <a:pt x="155" y="21"/>
                  </a:cubicBezTo>
                  <a:cubicBezTo>
                    <a:pt x="229" y="21"/>
                    <a:pt x="289" y="81"/>
                    <a:pt x="289" y="155"/>
                  </a:cubicBezTo>
                  <a:cubicBezTo>
                    <a:pt x="289" y="229"/>
                    <a:pt x="229" y="289"/>
                    <a:pt x="155" y="289"/>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7" name="Freeform 23"/>
            <p:cNvSpPr>
              <a:spLocks noChangeArrowheads="1"/>
            </p:cNvSpPr>
            <p:nvPr/>
          </p:nvSpPr>
          <p:spPr bwMode="auto">
            <a:xfrm>
              <a:off x="235162" y="70789"/>
              <a:ext cx="430731" cy="428331"/>
            </a:xfrm>
            <a:custGeom>
              <a:avLst/>
              <a:gdLst>
                <a:gd name="T0" fmla="*/ 145 w 152"/>
                <a:gd name="T1" fmla="*/ 53 h 151"/>
                <a:gd name="T2" fmla="*/ 144 w 152"/>
                <a:gd name="T3" fmla="*/ 52 h 151"/>
                <a:gd name="T4" fmla="*/ 125 w 152"/>
                <a:gd name="T5" fmla="*/ 52 h 151"/>
                <a:gd name="T6" fmla="*/ 77 w 152"/>
                <a:gd name="T7" fmla="*/ 106 h 151"/>
                <a:gd name="T8" fmla="*/ 31 w 152"/>
                <a:gd name="T9" fmla="*/ 12 h 151"/>
                <a:gd name="T10" fmla="*/ 11 w 152"/>
                <a:gd name="T11" fmla="*/ 4 h 151"/>
                <a:gd name="T12" fmla="*/ 10 w 152"/>
                <a:gd name="T13" fmla="*/ 4 h 151"/>
                <a:gd name="T14" fmla="*/ 4 w 152"/>
                <a:gd name="T15" fmla="*/ 25 h 151"/>
                <a:gd name="T16" fmla="*/ 60 w 152"/>
                <a:gd name="T17" fmla="*/ 140 h 151"/>
                <a:gd name="T18" fmla="*/ 79 w 152"/>
                <a:gd name="T19" fmla="*/ 148 h 151"/>
                <a:gd name="T20" fmla="*/ 79 w 152"/>
                <a:gd name="T21" fmla="*/ 148 h 151"/>
                <a:gd name="T22" fmla="*/ 80 w 152"/>
                <a:gd name="T23" fmla="*/ 148 h 151"/>
                <a:gd name="T24" fmla="*/ 81 w 152"/>
                <a:gd name="T25" fmla="*/ 147 h 151"/>
                <a:gd name="T26" fmla="*/ 87 w 152"/>
                <a:gd name="T27" fmla="*/ 141 h 151"/>
                <a:gd name="T28" fmla="*/ 148 w 152"/>
                <a:gd name="T29" fmla="*/ 72 h 151"/>
                <a:gd name="T30" fmla="*/ 145 w 152"/>
                <a:gd name="T31" fmla="*/ 53 h 1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2"/>
                <a:gd name="T49" fmla="*/ 0 h 151"/>
                <a:gd name="T50" fmla="*/ 152 w 152"/>
                <a:gd name="T51" fmla="*/ 151 h 1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2" h="151">
                  <a:moveTo>
                    <a:pt x="145" y="53"/>
                  </a:moveTo>
                  <a:cubicBezTo>
                    <a:pt x="144" y="52"/>
                    <a:pt x="144" y="52"/>
                    <a:pt x="144" y="52"/>
                  </a:cubicBezTo>
                  <a:cubicBezTo>
                    <a:pt x="138" y="47"/>
                    <a:pt x="129" y="47"/>
                    <a:pt x="125" y="52"/>
                  </a:cubicBezTo>
                  <a:cubicBezTo>
                    <a:pt x="77" y="106"/>
                    <a:pt x="77" y="106"/>
                    <a:pt x="77" y="106"/>
                  </a:cubicBezTo>
                  <a:cubicBezTo>
                    <a:pt x="31" y="12"/>
                    <a:pt x="31" y="12"/>
                    <a:pt x="31" y="12"/>
                  </a:cubicBezTo>
                  <a:cubicBezTo>
                    <a:pt x="27" y="4"/>
                    <a:pt x="18" y="0"/>
                    <a:pt x="11" y="4"/>
                  </a:cubicBezTo>
                  <a:cubicBezTo>
                    <a:pt x="10" y="4"/>
                    <a:pt x="10" y="4"/>
                    <a:pt x="10" y="4"/>
                  </a:cubicBezTo>
                  <a:cubicBezTo>
                    <a:pt x="3" y="8"/>
                    <a:pt x="0" y="17"/>
                    <a:pt x="4" y="25"/>
                  </a:cubicBezTo>
                  <a:cubicBezTo>
                    <a:pt x="60" y="140"/>
                    <a:pt x="60" y="140"/>
                    <a:pt x="60" y="140"/>
                  </a:cubicBezTo>
                  <a:cubicBezTo>
                    <a:pt x="63" y="148"/>
                    <a:pt x="72" y="151"/>
                    <a:pt x="79" y="148"/>
                  </a:cubicBezTo>
                  <a:cubicBezTo>
                    <a:pt x="79" y="148"/>
                    <a:pt x="79" y="148"/>
                    <a:pt x="79" y="148"/>
                  </a:cubicBezTo>
                  <a:cubicBezTo>
                    <a:pt x="79" y="148"/>
                    <a:pt x="80" y="148"/>
                    <a:pt x="80" y="148"/>
                  </a:cubicBezTo>
                  <a:cubicBezTo>
                    <a:pt x="81" y="147"/>
                    <a:pt x="81" y="147"/>
                    <a:pt x="81" y="147"/>
                  </a:cubicBezTo>
                  <a:cubicBezTo>
                    <a:pt x="84" y="146"/>
                    <a:pt x="86" y="144"/>
                    <a:pt x="87" y="141"/>
                  </a:cubicBezTo>
                  <a:cubicBezTo>
                    <a:pt x="148" y="72"/>
                    <a:pt x="148" y="72"/>
                    <a:pt x="148" y="72"/>
                  </a:cubicBezTo>
                  <a:cubicBezTo>
                    <a:pt x="152" y="67"/>
                    <a:pt x="151" y="59"/>
                    <a:pt x="145" y="53"/>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8" name="组合 17"/>
          <p:cNvGrpSpPr/>
          <p:nvPr/>
        </p:nvGrpSpPr>
        <p:grpSpPr bwMode="auto">
          <a:xfrm>
            <a:off x="5861890" y="4178966"/>
            <a:ext cx="397959" cy="333006"/>
            <a:chOff x="0" y="0"/>
            <a:chExt cx="961046" cy="796672"/>
          </a:xfrm>
          <a:solidFill>
            <a:schemeClr val="tx1"/>
          </a:solidFill>
        </p:grpSpPr>
        <p:sp>
          <p:nvSpPr>
            <p:cNvPr id="19" name="Freeform 24"/>
            <p:cNvSpPr>
              <a:spLocks noEditPoints="1" noChangeArrowheads="1"/>
            </p:cNvSpPr>
            <p:nvPr/>
          </p:nvSpPr>
          <p:spPr bwMode="auto">
            <a:xfrm>
              <a:off x="0" y="0"/>
              <a:ext cx="961046" cy="796672"/>
            </a:xfrm>
            <a:custGeom>
              <a:avLst/>
              <a:gdLst>
                <a:gd name="T0" fmla="*/ 321 w 339"/>
                <a:gd name="T1" fmla="*/ 0 h 281"/>
                <a:gd name="T2" fmla="*/ 18 w 339"/>
                <a:gd name="T3" fmla="*/ 0 h 281"/>
                <a:gd name="T4" fmla="*/ 0 w 339"/>
                <a:gd name="T5" fmla="*/ 18 h 281"/>
                <a:gd name="T6" fmla="*/ 0 w 339"/>
                <a:gd name="T7" fmla="*/ 263 h 281"/>
                <a:gd name="T8" fmla="*/ 18 w 339"/>
                <a:gd name="T9" fmla="*/ 281 h 281"/>
                <a:gd name="T10" fmla="*/ 321 w 339"/>
                <a:gd name="T11" fmla="*/ 281 h 281"/>
                <a:gd name="T12" fmla="*/ 339 w 339"/>
                <a:gd name="T13" fmla="*/ 263 h 281"/>
                <a:gd name="T14" fmla="*/ 339 w 339"/>
                <a:gd name="T15" fmla="*/ 18 h 281"/>
                <a:gd name="T16" fmla="*/ 321 w 339"/>
                <a:gd name="T17" fmla="*/ 0 h 281"/>
                <a:gd name="T18" fmla="*/ 316 w 339"/>
                <a:gd name="T19" fmla="*/ 246 h 281"/>
                <a:gd name="T20" fmla="*/ 301 w 339"/>
                <a:gd name="T21" fmla="*/ 262 h 281"/>
                <a:gd name="T22" fmla="*/ 38 w 339"/>
                <a:gd name="T23" fmla="*/ 262 h 281"/>
                <a:gd name="T24" fmla="*/ 23 w 339"/>
                <a:gd name="T25" fmla="*/ 246 h 281"/>
                <a:gd name="T26" fmla="*/ 23 w 339"/>
                <a:gd name="T27" fmla="*/ 35 h 281"/>
                <a:gd name="T28" fmla="*/ 38 w 339"/>
                <a:gd name="T29" fmla="*/ 19 h 281"/>
                <a:gd name="T30" fmla="*/ 301 w 339"/>
                <a:gd name="T31" fmla="*/ 19 h 281"/>
                <a:gd name="T32" fmla="*/ 316 w 339"/>
                <a:gd name="T33" fmla="*/ 35 h 281"/>
                <a:gd name="T34" fmla="*/ 316 w 339"/>
                <a:gd name="T35" fmla="*/ 246 h 2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9"/>
                <a:gd name="T55" fmla="*/ 0 h 281"/>
                <a:gd name="T56" fmla="*/ 339 w 339"/>
                <a:gd name="T57" fmla="*/ 281 h 2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9" h="281">
                  <a:moveTo>
                    <a:pt x="321" y="0"/>
                  </a:moveTo>
                  <a:cubicBezTo>
                    <a:pt x="18" y="0"/>
                    <a:pt x="18" y="0"/>
                    <a:pt x="18" y="0"/>
                  </a:cubicBezTo>
                  <a:cubicBezTo>
                    <a:pt x="8" y="0"/>
                    <a:pt x="0" y="8"/>
                    <a:pt x="0" y="18"/>
                  </a:cubicBezTo>
                  <a:cubicBezTo>
                    <a:pt x="0" y="263"/>
                    <a:pt x="0" y="263"/>
                    <a:pt x="0" y="263"/>
                  </a:cubicBezTo>
                  <a:cubicBezTo>
                    <a:pt x="0" y="273"/>
                    <a:pt x="8" y="281"/>
                    <a:pt x="18" y="281"/>
                  </a:cubicBezTo>
                  <a:cubicBezTo>
                    <a:pt x="321" y="281"/>
                    <a:pt x="321" y="281"/>
                    <a:pt x="321" y="281"/>
                  </a:cubicBezTo>
                  <a:cubicBezTo>
                    <a:pt x="331" y="281"/>
                    <a:pt x="339" y="273"/>
                    <a:pt x="339" y="263"/>
                  </a:cubicBezTo>
                  <a:cubicBezTo>
                    <a:pt x="339" y="18"/>
                    <a:pt x="339" y="18"/>
                    <a:pt x="339" y="18"/>
                  </a:cubicBezTo>
                  <a:cubicBezTo>
                    <a:pt x="339" y="8"/>
                    <a:pt x="331" y="0"/>
                    <a:pt x="321" y="0"/>
                  </a:cubicBezTo>
                  <a:moveTo>
                    <a:pt x="316" y="246"/>
                  </a:moveTo>
                  <a:cubicBezTo>
                    <a:pt x="316" y="255"/>
                    <a:pt x="309" y="262"/>
                    <a:pt x="301" y="262"/>
                  </a:cubicBezTo>
                  <a:cubicBezTo>
                    <a:pt x="38" y="262"/>
                    <a:pt x="38" y="262"/>
                    <a:pt x="38" y="262"/>
                  </a:cubicBezTo>
                  <a:cubicBezTo>
                    <a:pt x="30" y="262"/>
                    <a:pt x="23" y="255"/>
                    <a:pt x="23" y="246"/>
                  </a:cubicBezTo>
                  <a:cubicBezTo>
                    <a:pt x="23" y="35"/>
                    <a:pt x="23" y="35"/>
                    <a:pt x="23" y="35"/>
                  </a:cubicBezTo>
                  <a:cubicBezTo>
                    <a:pt x="23" y="26"/>
                    <a:pt x="30" y="19"/>
                    <a:pt x="38" y="19"/>
                  </a:cubicBezTo>
                  <a:cubicBezTo>
                    <a:pt x="301" y="19"/>
                    <a:pt x="301" y="19"/>
                    <a:pt x="301" y="19"/>
                  </a:cubicBezTo>
                  <a:cubicBezTo>
                    <a:pt x="309" y="19"/>
                    <a:pt x="316" y="26"/>
                    <a:pt x="316" y="35"/>
                  </a:cubicBezTo>
                  <a:lnTo>
                    <a:pt x="316" y="246"/>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0" name="Freeform 25"/>
            <p:cNvSpPr>
              <a:spLocks noChangeArrowheads="1"/>
            </p:cNvSpPr>
            <p:nvPr/>
          </p:nvSpPr>
          <p:spPr bwMode="auto">
            <a:xfrm>
              <a:off x="176371"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1" name="Freeform 26"/>
            <p:cNvSpPr>
              <a:spLocks noChangeArrowheads="1"/>
            </p:cNvSpPr>
            <p:nvPr/>
          </p:nvSpPr>
          <p:spPr bwMode="auto">
            <a:xfrm>
              <a:off x="176371"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2" name="Freeform 27"/>
            <p:cNvSpPr>
              <a:spLocks noChangeArrowheads="1"/>
            </p:cNvSpPr>
            <p:nvPr/>
          </p:nvSpPr>
          <p:spPr bwMode="auto">
            <a:xfrm>
              <a:off x="346744"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3" name="Freeform 28"/>
            <p:cNvSpPr>
              <a:spLocks noChangeArrowheads="1"/>
            </p:cNvSpPr>
            <p:nvPr/>
          </p:nvSpPr>
          <p:spPr bwMode="auto">
            <a:xfrm>
              <a:off x="346744"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4" name="Freeform 29"/>
            <p:cNvSpPr>
              <a:spLocks noChangeArrowheads="1"/>
            </p:cNvSpPr>
            <p:nvPr/>
          </p:nvSpPr>
          <p:spPr bwMode="auto">
            <a:xfrm>
              <a:off x="346744"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5" name="Freeform 30"/>
            <p:cNvSpPr>
              <a:spLocks noChangeArrowheads="1"/>
            </p:cNvSpPr>
            <p:nvPr/>
          </p:nvSpPr>
          <p:spPr bwMode="auto">
            <a:xfrm>
              <a:off x="519516" y="116382"/>
              <a:ext cx="83987"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6" name="Freeform 31"/>
            <p:cNvSpPr>
              <a:spLocks noChangeArrowheads="1"/>
            </p:cNvSpPr>
            <p:nvPr/>
          </p:nvSpPr>
          <p:spPr bwMode="auto">
            <a:xfrm>
              <a:off x="519516" y="274756"/>
              <a:ext cx="83987"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7" name="Freeform 32"/>
            <p:cNvSpPr>
              <a:spLocks noChangeArrowheads="1"/>
            </p:cNvSpPr>
            <p:nvPr/>
          </p:nvSpPr>
          <p:spPr bwMode="auto">
            <a:xfrm>
              <a:off x="688689" y="116382"/>
              <a:ext cx="85186"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8" name="Freeform 33"/>
            <p:cNvSpPr>
              <a:spLocks noChangeArrowheads="1"/>
            </p:cNvSpPr>
            <p:nvPr/>
          </p:nvSpPr>
          <p:spPr bwMode="auto">
            <a:xfrm>
              <a:off x="688689" y="274756"/>
              <a:ext cx="85186"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9" name="Freeform 34"/>
            <p:cNvSpPr>
              <a:spLocks noChangeArrowheads="1"/>
            </p:cNvSpPr>
            <p:nvPr/>
          </p:nvSpPr>
          <p:spPr bwMode="auto">
            <a:xfrm>
              <a:off x="176371"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sp>
        <p:nvSpPr>
          <p:cNvPr id="30" name="Freeform 84"/>
          <p:cNvSpPr>
            <a:spLocks noChangeAspect="1" noEditPoints="1" noChangeArrowheads="1"/>
          </p:cNvSpPr>
          <p:nvPr/>
        </p:nvSpPr>
        <p:spPr bwMode="auto">
          <a:xfrm>
            <a:off x="4557745" y="4178965"/>
            <a:ext cx="333822" cy="333006"/>
          </a:xfrm>
          <a:custGeom>
            <a:avLst/>
            <a:gdLst>
              <a:gd name="T0" fmla="*/ 170 w 170"/>
              <a:gd name="T1" fmla="*/ 0 h 168"/>
              <a:gd name="T2" fmla="*/ 162 w 170"/>
              <a:gd name="T3" fmla="*/ 16 h 168"/>
              <a:gd name="T4" fmla="*/ 170 w 170"/>
              <a:gd name="T5" fmla="*/ 103 h 168"/>
              <a:gd name="T6" fmla="*/ 93 w 170"/>
              <a:gd name="T7" fmla="*/ 119 h 168"/>
              <a:gd name="T8" fmla="*/ 128 w 170"/>
              <a:gd name="T9" fmla="*/ 152 h 168"/>
              <a:gd name="T10" fmla="*/ 42 w 170"/>
              <a:gd name="T11" fmla="*/ 168 h 168"/>
              <a:gd name="T12" fmla="*/ 77 w 170"/>
              <a:gd name="T13" fmla="*/ 152 h 168"/>
              <a:gd name="T14" fmla="*/ 0 w 170"/>
              <a:gd name="T15" fmla="*/ 119 h 168"/>
              <a:gd name="T16" fmla="*/ 6 w 170"/>
              <a:gd name="T17" fmla="*/ 103 h 168"/>
              <a:gd name="T18" fmla="*/ 0 w 170"/>
              <a:gd name="T19" fmla="*/ 16 h 168"/>
              <a:gd name="T20" fmla="*/ 0 w 170"/>
              <a:gd name="T21" fmla="*/ 0 h 168"/>
              <a:gd name="T22" fmla="*/ 122 w 170"/>
              <a:gd name="T23" fmla="*/ 40 h 168"/>
              <a:gd name="T24" fmla="*/ 115 w 170"/>
              <a:gd name="T25" fmla="*/ 44 h 168"/>
              <a:gd name="T26" fmla="*/ 75 w 170"/>
              <a:gd name="T27" fmla="*/ 52 h 168"/>
              <a:gd name="T28" fmla="*/ 73 w 170"/>
              <a:gd name="T29" fmla="*/ 50 h 168"/>
              <a:gd name="T30" fmla="*/ 50 w 170"/>
              <a:gd name="T31" fmla="*/ 67 h 168"/>
              <a:gd name="T32" fmla="*/ 85 w 170"/>
              <a:gd name="T33" fmla="*/ 65 h 168"/>
              <a:gd name="T34" fmla="*/ 89 w 170"/>
              <a:gd name="T35" fmla="*/ 67 h 168"/>
              <a:gd name="T36" fmla="*/ 120 w 170"/>
              <a:gd name="T37" fmla="*/ 52 h 168"/>
              <a:gd name="T38" fmla="*/ 128 w 170"/>
              <a:gd name="T39" fmla="*/ 40 h 168"/>
              <a:gd name="T40" fmla="*/ 113 w 170"/>
              <a:gd name="T41" fmla="*/ 58 h 168"/>
              <a:gd name="T42" fmla="*/ 122 w 170"/>
              <a:gd name="T43" fmla="*/ 85 h 168"/>
              <a:gd name="T44" fmla="*/ 113 w 170"/>
              <a:gd name="T45" fmla="*/ 58 h 168"/>
              <a:gd name="T46" fmla="*/ 101 w 170"/>
              <a:gd name="T47" fmla="*/ 67 h 168"/>
              <a:gd name="T48" fmla="*/ 109 w 170"/>
              <a:gd name="T49" fmla="*/ 85 h 168"/>
              <a:gd name="T50" fmla="*/ 101 w 170"/>
              <a:gd name="T51" fmla="*/ 67 h 168"/>
              <a:gd name="T52" fmla="*/ 87 w 170"/>
              <a:gd name="T53" fmla="*/ 77 h 168"/>
              <a:gd name="T54" fmla="*/ 95 w 170"/>
              <a:gd name="T55" fmla="*/ 85 h 168"/>
              <a:gd name="T56" fmla="*/ 87 w 170"/>
              <a:gd name="T57" fmla="*/ 77 h 168"/>
              <a:gd name="T58" fmla="*/ 75 w 170"/>
              <a:gd name="T59" fmla="*/ 69 h 168"/>
              <a:gd name="T60" fmla="*/ 83 w 170"/>
              <a:gd name="T61" fmla="*/ 85 h 168"/>
              <a:gd name="T62" fmla="*/ 75 w 170"/>
              <a:gd name="T63" fmla="*/ 69 h 168"/>
              <a:gd name="T64" fmla="*/ 63 w 170"/>
              <a:gd name="T65" fmla="*/ 69 h 168"/>
              <a:gd name="T66" fmla="*/ 71 w 170"/>
              <a:gd name="T67" fmla="*/ 85 h 168"/>
              <a:gd name="T68" fmla="*/ 63 w 170"/>
              <a:gd name="T69" fmla="*/ 69 h 168"/>
              <a:gd name="T70" fmla="*/ 48 w 170"/>
              <a:gd name="T71" fmla="*/ 73 h 168"/>
              <a:gd name="T72" fmla="*/ 56 w 170"/>
              <a:gd name="T73" fmla="*/ 85 h 168"/>
              <a:gd name="T74" fmla="*/ 48 w 170"/>
              <a:gd name="T75" fmla="*/ 73 h 168"/>
              <a:gd name="T76" fmla="*/ 146 w 170"/>
              <a:gd name="T77" fmla="*/ 18 h 168"/>
              <a:gd name="T78" fmla="*/ 24 w 170"/>
              <a:gd name="T79" fmla="*/ 101 h 168"/>
              <a:gd name="T80" fmla="*/ 146 w 170"/>
              <a:gd name="T81" fmla="*/ 18 h 1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0"/>
              <a:gd name="T124" fmla="*/ 0 h 168"/>
              <a:gd name="T125" fmla="*/ 170 w 170"/>
              <a:gd name="T126" fmla="*/ 168 h 1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0" h="168">
                <a:moveTo>
                  <a:pt x="0" y="0"/>
                </a:moveTo>
                <a:lnTo>
                  <a:pt x="170" y="0"/>
                </a:lnTo>
                <a:lnTo>
                  <a:pt x="170" y="16"/>
                </a:lnTo>
                <a:lnTo>
                  <a:pt x="162" y="16"/>
                </a:lnTo>
                <a:lnTo>
                  <a:pt x="162" y="103"/>
                </a:lnTo>
                <a:lnTo>
                  <a:pt x="170" y="103"/>
                </a:lnTo>
                <a:lnTo>
                  <a:pt x="170" y="119"/>
                </a:lnTo>
                <a:lnTo>
                  <a:pt x="93" y="119"/>
                </a:lnTo>
                <a:lnTo>
                  <a:pt x="93" y="152"/>
                </a:lnTo>
                <a:lnTo>
                  <a:pt x="128" y="152"/>
                </a:lnTo>
                <a:lnTo>
                  <a:pt x="128" y="168"/>
                </a:lnTo>
                <a:lnTo>
                  <a:pt x="42" y="168"/>
                </a:lnTo>
                <a:lnTo>
                  <a:pt x="42" y="152"/>
                </a:lnTo>
                <a:lnTo>
                  <a:pt x="77" y="152"/>
                </a:lnTo>
                <a:lnTo>
                  <a:pt x="77" y="119"/>
                </a:lnTo>
                <a:lnTo>
                  <a:pt x="0" y="119"/>
                </a:lnTo>
                <a:lnTo>
                  <a:pt x="0" y="103"/>
                </a:lnTo>
                <a:lnTo>
                  <a:pt x="6" y="103"/>
                </a:lnTo>
                <a:lnTo>
                  <a:pt x="6" y="16"/>
                </a:lnTo>
                <a:lnTo>
                  <a:pt x="0" y="16"/>
                </a:lnTo>
                <a:lnTo>
                  <a:pt x="0" y="0"/>
                </a:lnTo>
                <a:lnTo>
                  <a:pt x="0" y="0"/>
                </a:lnTo>
                <a:close/>
                <a:moveTo>
                  <a:pt x="128" y="40"/>
                </a:moveTo>
                <a:lnTo>
                  <a:pt x="122" y="40"/>
                </a:lnTo>
                <a:lnTo>
                  <a:pt x="113" y="40"/>
                </a:lnTo>
                <a:lnTo>
                  <a:pt x="115" y="44"/>
                </a:lnTo>
                <a:lnTo>
                  <a:pt x="87" y="61"/>
                </a:lnTo>
                <a:lnTo>
                  <a:pt x="75" y="52"/>
                </a:lnTo>
                <a:lnTo>
                  <a:pt x="75" y="50"/>
                </a:lnTo>
                <a:lnTo>
                  <a:pt x="73" y="50"/>
                </a:lnTo>
                <a:lnTo>
                  <a:pt x="48" y="61"/>
                </a:lnTo>
                <a:lnTo>
                  <a:pt x="50" y="67"/>
                </a:lnTo>
                <a:lnTo>
                  <a:pt x="73" y="56"/>
                </a:lnTo>
                <a:lnTo>
                  <a:pt x="85" y="65"/>
                </a:lnTo>
                <a:lnTo>
                  <a:pt x="87" y="67"/>
                </a:lnTo>
                <a:lnTo>
                  <a:pt x="89" y="67"/>
                </a:lnTo>
                <a:lnTo>
                  <a:pt x="117" y="48"/>
                </a:lnTo>
                <a:lnTo>
                  <a:pt x="120" y="52"/>
                </a:lnTo>
                <a:lnTo>
                  <a:pt x="124" y="46"/>
                </a:lnTo>
                <a:lnTo>
                  <a:pt x="128" y="40"/>
                </a:lnTo>
                <a:lnTo>
                  <a:pt x="128" y="40"/>
                </a:lnTo>
                <a:close/>
                <a:moveTo>
                  <a:pt x="113" y="58"/>
                </a:moveTo>
                <a:lnTo>
                  <a:pt x="113" y="85"/>
                </a:lnTo>
                <a:lnTo>
                  <a:pt x="122" y="85"/>
                </a:lnTo>
                <a:lnTo>
                  <a:pt x="122" y="58"/>
                </a:lnTo>
                <a:lnTo>
                  <a:pt x="113" y="58"/>
                </a:lnTo>
                <a:lnTo>
                  <a:pt x="113" y="58"/>
                </a:lnTo>
                <a:close/>
                <a:moveTo>
                  <a:pt x="101" y="67"/>
                </a:moveTo>
                <a:lnTo>
                  <a:pt x="101" y="85"/>
                </a:lnTo>
                <a:lnTo>
                  <a:pt x="109" y="85"/>
                </a:lnTo>
                <a:lnTo>
                  <a:pt x="109" y="67"/>
                </a:lnTo>
                <a:lnTo>
                  <a:pt x="101" y="67"/>
                </a:lnTo>
                <a:lnTo>
                  <a:pt x="101" y="67"/>
                </a:lnTo>
                <a:close/>
                <a:moveTo>
                  <a:pt x="87" y="77"/>
                </a:moveTo>
                <a:lnTo>
                  <a:pt x="87" y="85"/>
                </a:lnTo>
                <a:lnTo>
                  <a:pt x="95" y="85"/>
                </a:lnTo>
                <a:lnTo>
                  <a:pt x="95" y="77"/>
                </a:lnTo>
                <a:lnTo>
                  <a:pt x="87" y="77"/>
                </a:lnTo>
                <a:lnTo>
                  <a:pt x="87" y="77"/>
                </a:lnTo>
                <a:close/>
                <a:moveTo>
                  <a:pt x="75" y="69"/>
                </a:moveTo>
                <a:lnTo>
                  <a:pt x="75" y="85"/>
                </a:lnTo>
                <a:lnTo>
                  <a:pt x="83" y="85"/>
                </a:lnTo>
                <a:lnTo>
                  <a:pt x="83" y="69"/>
                </a:lnTo>
                <a:lnTo>
                  <a:pt x="75" y="69"/>
                </a:lnTo>
                <a:lnTo>
                  <a:pt x="75" y="69"/>
                </a:lnTo>
                <a:close/>
                <a:moveTo>
                  <a:pt x="63" y="69"/>
                </a:moveTo>
                <a:lnTo>
                  <a:pt x="63" y="85"/>
                </a:lnTo>
                <a:lnTo>
                  <a:pt x="71" y="85"/>
                </a:lnTo>
                <a:lnTo>
                  <a:pt x="71" y="69"/>
                </a:lnTo>
                <a:lnTo>
                  <a:pt x="63" y="69"/>
                </a:lnTo>
                <a:lnTo>
                  <a:pt x="63" y="69"/>
                </a:lnTo>
                <a:close/>
                <a:moveTo>
                  <a:pt x="48" y="73"/>
                </a:moveTo>
                <a:lnTo>
                  <a:pt x="48" y="85"/>
                </a:lnTo>
                <a:lnTo>
                  <a:pt x="56" y="85"/>
                </a:lnTo>
                <a:lnTo>
                  <a:pt x="56" y="73"/>
                </a:lnTo>
                <a:lnTo>
                  <a:pt x="48" y="73"/>
                </a:lnTo>
                <a:lnTo>
                  <a:pt x="48" y="73"/>
                </a:lnTo>
                <a:close/>
                <a:moveTo>
                  <a:pt x="146" y="18"/>
                </a:moveTo>
                <a:lnTo>
                  <a:pt x="24" y="18"/>
                </a:lnTo>
                <a:lnTo>
                  <a:pt x="24" y="101"/>
                </a:lnTo>
                <a:lnTo>
                  <a:pt x="146" y="101"/>
                </a:lnTo>
                <a:lnTo>
                  <a:pt x="146" y="18"/>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1" name="Freeform 9"/>
          <p:cNvSpPr>
            <a:spLocks noChangeAspect="1" noEditPoints="1" noChangeArrowheads="1"/>
          </p:cNvSpPr>
          <p:nvPr/>
        </p:nvSpPr>
        <p:spPr bwMode="auto">
          <a:xfrm>
            <a:off x="6538656" y="4178964"/>
            <a:ext cx="361886" cy="333007"/>
          </a:xfrm>
          <a:custGeom>
            <a:avLst/>
            <a:gdLst>
              <a:gd name="T0" fmla="*/ 141 w 181"/>
              <a:gd name="T1" fmla="*/ 0 h 165"/>
              <a:gd name="T2" fmla="*/ 149 w 181"/>
              <a:gd name="T3" fmla="*/ 8 h 165"/>
              <a:gd name="T4" fmla="*/ 134 w 181"/>
              <a:gd name="T5" fmla="*/ 47 h 165"/>
              <a:gd name="T6" fmla="*/ 33 w 181"/>
              <a:gd name="T7" fmla="*/ 14 h 165"/>
              <a:gd name="T8" fmla="*/ 39 w 181"/>
              <a:gd name="T9" fmla="*/ 20 h 165"/>
              <a:gd name="T10" fmla="*/ 51 w 181"/>
              <a:gd name="T11" fmla="*/ 31 h 165"/>
              <a:gd name="T12" fmla="*/ 33 w 181"/>
              <a:gd name="T13" fmla="*/ 39 h 165"/>
              <a:gd name="T14" fmla="*/ 39 w 181"/>
              <a:gd name="T15" fmla="*/ 45 h 165"/>
              <a:gd name="T16" fmla="*/ 51 w 181"/>
              <a:gd name="T17" fmla="*/ 55 h 165"/>
              <a:gd name="T18" fmla="*/ 33 w 181"/>
              <a:gd name="T19" fmla="*/ 63 h 165"/>
              <a:gd name="T20" fmla="*/ 39 w 181"/>
              <a:gd name="T21" fmla="*/ 67 h 165"/>
              <a:gd name="T22" fmla="*/ 51 w 181"/>
              <a:gd name="T23" fmla="*/ 77 h 165"/>
              <a:gd name="T24" fmla="*/ 33 w 181"/>
              <a:gd name="T25" fmla="*/ 86 h 165"/>
              <a:gd name="T26" fmla="*/ 39 w 181"/>
              <a:gd name="T27" fmla="*/ 90 h 165"/>
              <a:gd name="T28" fmla="*/ 51 w 181"/>
              <a:gd name="T29" fmla="*/ 100 h 165"/>
              <a:gd name="T30" fmla="*/ 33 w 181"/>
              <a:gd name="T31" fmla="*/ 110 h 165"/>
              <a:gd name="T32" fmla="*/ 39 w 181"/>
              <a:gd name="T33" fmla="*/ 116 h 165"/>
              <a:gd name="T34" fmla="*/ 51 w 181"/>
              <a:gd name="T35" fmla="*/ 126 h 165"/>
              <a:gd name="T36" fmla="*/ 33 w 181"/>
              <a:gd name="T37" fmla="*/ 134 h 165"/>
              <a:gd name="T38" fmla="*/ 33 w 181"/>
              <a:gd name="T39" fmla="*/ 151 h 165"/>
              <a:gd name="T40" fmla="*/ 134 w 181"/>
              <a:gd name="T41" fmla="*/ 118 h 165"/>
              <a:gd name="T42" fmla="*/ 149 w 181"/>
              <a:gd name="T43" fmla="*/ 157 h 165"/>
              <a:gd name="T44" fmla="*/ 141 w 181"/>
              <a:gd name="T45" fmla="*/ 165 h 165"/>
              <a:gd name="T46" fmla="*/ 19 w 181"/>
              <a:gd name="T47" fmla="*/ 165 h 165"/>
              <a:gd name="T48" fmla="*/ 19 w 181"/>
              <a:gd name="T49" fmla="*/ 146 h 165"/>
              <a:gd name="T50" fmla="*/ 0 w 181"/>
              <a:gd name="T51" fmla="*/ 132 h 165"/>
              <a:gd name="T52" fmla="*/ 19 w 181"/>
              <a:gd name="T53" fmla="*/ 120 h 165"/>
              <a:gd name="T54" fmla="*/ 0 w 181"/>
              <a:gd name="T55" fmla="*/ 108 h 165"/>
              <a:gd name="T56" fmla="*/ 19 w 181"/>
              <a:gd name="T57" fmla="*/ 98 h 165"/>
              <a:gd name="T58" fmla="*/ 0 w 181"/>
              <a:gd name="T59" fmla="*/ 83 h 165"/>
              <a:gd name="T60" fmla="*/ 19 w 181"/>
              <a:gd name="T61" fmla="*/ 75 h 165"/>
              <a:gd name="T62" fmla="*/ 0 w 181"/>
              <a:gd name="T63" fmla="*/ 61 h 165"/>
              <a:gd name="T64" fmla="*/ 19 w 181"/>
              <a:gd name="T65" fmla="*/ 51 h 165"/>
              <a:gd name="T66" fmla="*/ 0 w 181"/>
              <a:gd name="T67" fmla="*/ 39 h 165"/>
              <a:gd name="T68" fmla="*/ 19 w 181"/>
              <a:gd name="T69" fmla="*/ 8 h 165"/>
              <a:gd name="T70" fmla="*/ 27 w 181"/>
              <a:gd name="T71" fmla="*/ 0 h 165"/>
              <a:gd name="T72" fmla="*/ 63 w 181"/>
              <a:gd name="T73" fmla="*/ 79 h 165"/>
              <a:gd name="T74" fmla="*/ 84 w 181"/>
              <a:gd name="T75" fmla="*/ 88 h 165"/>
              <a:gd name="T76" fmla="*/ 63 w 181"/>
              <a:gd name="T77" fmla="*/ 79 h 165"/>
              <a:gd name="T78" fmla="*/ 63 w 181"/>
              <a:gd name="T79" fmla="*/ 61 h 165"/>
              <a:gd name="T80" fmla="*/ 100 w 181"/>
              <a:gd name="T81" fmla="*/ 69 h 165"/>
              <a:gd name="T82" fmla="*/ 63 w 181"/>
              <a:gd name="T83" fmla="*/ 61 h 165"/>
              <a:gd name="T84" fmla="*/ 63 w 181"/>
              <a:gd name="T85" fmla="*/ 45 h 165"/>
              <a:gd name="T86" fmla="*/ 116 w 181"/>
              <a:gd name="T87" fmla="*/ 53 h 165"/>
              <a:gd name="T88" fmla="*/ 63 w 181"/>
              <a:gd name="T89" fmla="*/ 45 h 165"/>
              <a:gd name="T90" fmla="*/ 63 w 181"/>
              <a:gd name="T91" fmla="*/ 29 h 165"/>
              <a:gd name="T92" fmla="*/ 116 w 181"/>
              <a:gd name="T93" fmla="*/ 35 h 165"/>
              <a:gd name="T94" fmla="*/ 63 w 181"/>
              <a:gd name="T95" fmla="*/ 29 h 165"/>
              <a:gd name="T96" fmla="*/ 84 w 181"/>
              <a:gd name="T97" fmla="*/ 130 h 165"/>
              <a:gd name="T98" fmla="*/ 106 w 181"/>
              <a:gd name="T99" fmla="*/ 130 h 165"/>
              <a:gd name="T100" fmla="*/ 86 w 181"/>
              <a:gd name="T101" fmla="*/ 108 h 165"/>
              <a:gd name="T102" fmla="*/ 84 w 181"/>
              <a:gd name="T103" fmla="*/ 130 h 165"/>
              <a:gd name="T104" fmla="*/ 161 w 181"/>
              <a:gd name="T105" fmla="*/ 37 h 165"/>
              <a:gd name="T106" fmla="*/ 116 w 181"/>
              <a:gd name="T107" fmla="*/ 120 h 165"/>
              <a:gd name="T108" fmla="*/ 161 w 181"/>
              <a:gd name="T109" fmla="*/ 37 h 16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1"/>
              <a:gd name="T166" fmla="*/ 0 h 165"/>
              <a:gd name="T167" fmla="*/ 181 w 181"/>
              <a:gd name="T168" fmla="*/ 165 h 16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1" h="165">
                <a:moveTo>
                  <a:pt x="27" y="0"/>
                </a:moveTo>
                <a:lnTo>
                  <a:pt x="141" y="0"/>
                </a:lnTo>
                <a:lnTo>
                  <a:pt x="149" y="0"/>
                </a:lnTo>
                <a:lnTo>
                  <a:pt x="149" y="8"/>
                </a:lnTo>
                <a:lnTo>
                  <a:pt x="149" y="35"/>
                </a:lnTo>
                <a:lnTo>
                  <a:pt x="134" y="47"/>
                </a:lnTo>
                <a:lnTo>
                  <a:pt x="134" y="14"/>
                </a:lnTo>
                <a:lnTo>
                  <a:pt x="33" y="14"/>
                </a:lnTo>
                <a:lnTo>
                  <a:pt x="33" y="25"/>
                </a:lnTo>
                <a:lnTo>
                  <a:pt x="39" y="20"/>
                </a:lnTo>
                <a:lnTo>
                  <a:pt x="47" y="18"/>
                </a:lnTo>
                <a:lnTo>
                  <a:pt x="51" y="31"/>
                </a:lnTo>
                <a:lnTo>
                  <a:pt x="45" y="35"/>
                </a:lnTo>
                <a:lnTo>
                  <a:pt x="33" y="39"/>
                </a:lnTo>
                <a:lnTo>
                  <a:pt x="33" y="47"/>
                </a:lnTo>
                <a:lnTo>
                  <a:pt x="39" y="45"/>
                </a:lnTo>
                <a:lnTo>
                  <a:pt x="47" y="41"/>
                </a:lnTo>
                <a:lnTo>
                  <a:pt x="51" y="55"/>
                </a:lnTo>
                <a:lnTo>
                  <a:pt x="45" y="57"/>
                </a:lnTo>
                <a:lnTo>
                  <a:pt x="33" y="63"/>
                </a:lnTo>
                <a:lnTo>
                  <a:pt x="33" y="71"/>
                </a:lnTo>
                <a:lnTo>
                  <a:pt x="39" y="67"/>
                </a:lnTo>
                <a:lnTo>
                  <a:pt x="47" y="65"/>
                </a:lnTo>
                <a:lnTo>
                  <a:pt x="51" y="77"/>
                </a:lnTo>
                <a:lnTo>
                  <a:pt x="45" y="81"/>
                </a:lnTo>
                <a:lnTo>
                  <a:pt x="33" y="86"/>
                </a:lnTo>
                <a:lnTo>
                  <a:pt x="33" y="94"/>
                </a:lnTo>
                <a:lnTo>
                  <a:pt x="39" y="90"/>
                </a:lnTo>
                <a:lnTo>
                  <a:pt x="47" y="88"/>
                </a:lnTo>
                <a:lnTo>
                  <a:pt x="51" y="100"/>
                </a:lnTo>
                <a:lnTo>
                  <a:pt x="45" y="104"/>
                </a:lnTo>
                <a:lnTo>
                  <a:pt x="33" y="110"/>
                </a:lnTo>
                <a:lnTo>
                  <a:pt x="33" y="118"/>
                </a:lnTo>
                <a:lnTo>
                  <a:pt x="39" y="116"/>
                </a:lnTo>
                <a:lnTo>
                  <a:pt x="47" y="112"/>
                </a:lnTo>
                <a:lnTo>
                  <a:pt x="51" y="126"/>
                </a:lnTo>
                <a:lnTo>
                  <a:pt x="45" y="128"/>
                </a:lnTo>
                <a:lnTo>
                  <a:pt x="33" y="134"/>
                </a:lnTo>
                <a:lnTo>
                  <a:pt x="33" y="146"/>
                </a:lnTo>
                <a:lnTo>
                  <a:pt x="33" y="151"/>
                </a:lnTo>
                <a:lnTo>
                  <a:pt x="134" y="151"/>
                </a:lnTo>
                <a:lnTo>
                  <a:pt x="134" y="118"/>
                </a:lnTo>
                <a:lnTo>
                  <a:pt x="149" y="106"/>
                </a:lnTo>
                <a:lnTo>
                  <a:pt x="149" y="157"/>
                </a:lnTo>
                <a:lnTo>
                  <a:pt x="149" y="165"/>
                </a:lnTo>
                <a:lnTo>
                  <a:pt x="141" y="165"/>
                </a:lnTo>
                <a:lnTo>
                  <a:pt x="27" y="165"/>
                </a:lnTo>
                <a:lnTo>
                  <a:pt x="19" y="165"/>
                </a:lnTo>
                <a:lnTo>
                  <a:pt x="19" y="157"/>
                </a:lnTo>
                <a:lnTo>
                  <a:pt x="19" y="146"/>
                </a:lnTo>
                <a:lnTo>
                  <a:pt x="4" y="146"/>
                </a:lnTo>
                <a:lnTo>
                  <a:pt x="0" y="132"/>
                </a:lnTo>
                <a:lnTo>
                  <a:pt x="19" y="124"/>
                </a:lnTo>
                <a:lnTo>
                  <a:pt x="19" y="120"/>
                </a:lnTo>
                <a:lnTo>
                  <a:pt x="4" y="120"/>
                </a:lnTo>
                <a:lnTo>
                  <a:pt x="0" y="108"/>
                </a:lnTo>
                <a:lnTo>
                  <a:pt x="19" y="100"/>
                </a:lnTo>
                <a:lnTo>
                  <a:pt x="19" y="98"/>
                </a:lnTo>
                <a:lnTo>
                  <a:pt x="4" y="98"/>
                </a:lnTo>
                <a:lnTo>
                  <a:pt x="0" y="83"/>
                </a:lnTo>
                <a:lnTo>
                  <a:pt x="19" y="77"/>
                </a:lnTo>
                <a:lnTo>
                  <a:pt x="19" y="75"/>
                </a:lnTo>
                <a:lnTo>
                  <a:pt x="4" y="75"/>
                </a:lnTo>
                <a:lnTo>
                  <a:pt x="0" y="61"/>
                </a:lnTo>
                <a:lnTo>
                  <a:pt x="19" y="53"/>
                </a:lnTo>
                <a:lnTo>
                  <a:pt x="19" y="51"/>
                </a:lnTo>
                <a:lnTo>
                  <a:pt x="4" y="51"/>
                </a:lnTo>
                <a:lnTo>
                  <a:pt x="0" y="39"/>
                </a:lnTo>
                <a:lnTo>
                  <a:pt x="19" y="31"/>
                </a:lnTo>
                <a:lnTo>
                  <a:pt x="19" y="8"/>
                </a:lnTo>
                <a:lnTo>
                  <a:pt x="19" y="0"/>
                </a:lnTo>
                <a:lnTo>
                  <a:pt x="27" y="0"/>
                </a:lnTo>
                <a:lnTo>
                  <a:pt x="27" y="0"/>
                </a:lnTo>
                <a:close/>
                <a:moveTo>
                  <a:pt x="63" y="79"/>
                </a:moveTo>
                <a:lnTo>
                  <a:pt x="63" y="88"/>
                </a:lnTo>
                <a:lnTo>
                  <a:pt x="84" y="88"/>
                </a:lnTo>
                <a:lnTo>
                  <a:pt x="84" y="79"/>
                </a:lnTo>
                <a:lnTo>
                  <a:pt x="63" y="79"/>
                </a:lnTo>
                <a:lnTo>
                  <a:pt x="63" y="79"/>
                </a:lnTo>
                <a:close/>
                <a:moveTo>
                  <a:pt x="63" y="61"/>
                </a:moveTo>
                <a:lnTo>
                  <a:pt x="63" y="69"/>
                </a:lnTo>
                <a:lnTo>
                  <a:pt x="100" y="69"/>
                </a:lnTo>
                <a:lnTo>
                  <a:pt x="100" y="61"/>
                </a:lnTo>
                <a:lnTo>
                  <a:pt x="63" y="61"/>
                </a:lnTo>
                <a:lnTo>
                  <a:pt x="63" y="61"/>
                </a:lnTo>
                <a:close/>
                <a:moveTo>
                  <a:pt x="63" y="45"/>
                </a:moveTo>
                <a:lnTo>
                  <a:pt x="63" y="53"/>
                </a:lnTo>
                <a:lnTo>
                  <a:pt x="116" y="53"/>
                </a:lnTo>
                <a:lnTo>
                  <a:pt x="116" y="45"/>
                </a:lnTo>
                <a:lnTo>
                  <a:pt x="63" y="45"/>
                </a:lnTo>
                <a:lnTo>
                  <a:pt x="63" y="45"/>
                </a:lnTo>
                <a:close/>
                <a:moveTo>
                  <a:pt x="63" y="29"/>
                </a:moveTo>
                <a:lnTo>
                  <a:pt x="63" y="35"/>
                </a:lnTo>
                <a:lnTo>
                  <a:pt x="116" y="35"/>
                </a:lnTo>
                <a:lnTo>
                  <a:pt x="116" y="29"/>
                </a:lnTo>
                <a:lnTo>
                  <a:pt x="63" y="29"/>
                </a:lnTo>
                <a:lnTo>
                  <a:pt x="63" y="29"/>
                </a:lnTo>
                <a:close/>
                <a:moveTo>
                  <a:pt x="84" y="130"/>
                </a:moveTo>
                <a:lnTo>
                  <a:pt x="96" y="130"/>
                </a:lnTo>
                <a:lnTo>
                  <a:pt x="106" y="130"/>
                </a:lnTo>
                <a:lnTo>
                  <a:pt x="96" y="118"/>
                </a:lnTo>
                <a:lnTo>
                  <a:pt x="86" y="108"/>
                </a:lnTo>
                <a:lnTo>
                  <a:pt x="86" y="120"/>
                </a:lnTo>
                <a:lnTo>
                  <a:pt x="84" y="130"/>
                </a:lnTo>
                <a:lnTo>
                  <a:pt x="84" y="130"/>
                </a:lnTo>
                <a:close/>
                <a:moveTo>
                  <a:pt x="161" y="37"/>
                </a:moveTo>
                <a:lnTo>
                  <a:pt x="96" y="100"/>
                </a:lnTo>
                <a:lnTo>
                  <a:pt x="116" y="120"/>
                </a:lnTo>
                <a:lnTo>
                  <a:pt x="181" y="57"/>
                </a:lnTo>
                <a:lnTo>
                  <a:pt x="161" y="37"/>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3" name="文本框 32">
            <a:extLst>
              <a:ext uri="{FF2B5EF4-FFF2-40B4-BE49-F238E27FC236}">
                <a16:creationId xmlns:a16="http://schemas.microsoft.com/office/drawing/2014/main" id="{08D0E11D-9DF4-3F6F-4654-687E1E87F48B}"/>
              </a:ext>
            </a:extLst>
          </p:cNvPr>
          <p:cNvSpPr txBox="1"/>
          <p:nvPr/>
        </p:nvSpPr>
        <p:spPr>
          <a:xfrm>
            <a:off x="1882927" y="1619585"/>
            <a:ext cx="8422955" cy="1040285"/>
          </a:xfrm>
          <a:prstGeom prst="rect">
            <a:avLst/>
          </a:prstGeom>
          <a:noFill/>
        </p:spPr>
        <p:txBody>
          <a:bodyPr wrap="square">
            <a:spAutoFit/>
          </a:bodyPr>
          <a:lstStyle/>
          <a:p>
            <a:pPr lvl="0" algn="ctr">
              <a:spcBef>
                <a:spcPct val="20000"/>
              </a:spcBef>
              <a:defRPr/>
            </a:pPr>
            <a:r>
              <a:rPr lang="en-US" altLang="zh-CN" sz="2800" dirty="0" err="1"/>
              <a:t>DistllSpec</a:t>
            </a:r>
            <a:r>
              <a:rPr lang="en-US" altLang="zh-CN" sz="2800" dirty="0"/>
              <a:t>: Improving Speculative Decoding</a:t>
            </a:r>
          </a:p>
          <a:p>
            <a:pPr lvl="0" algn="ctr">
              <a:spcBef>
                <a:spcPct val="20000"/>
              </a:spcBef>
              <a:defRPr/>
            </a:pPr>
            <a:r>
              <a:rPr lang="en-US" altLang="zh-CN" sz="2800" dirty="0"/>
              <a:t> via Knowledge Distillation</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37" name="文本框 36">
            <a:extLst>
              <a:ext uri="{FF2B5EF4-FFF2-40B4-BE49-F238E27FC236}">
                <a16:creationId xmlns:a16="http://schemas.microsoft.com/office/drawing/2014/main" id="{D66D9E3F-D927-791F-1724-AD43A81C593F}"/>
              </a:ext>
            </a:extLst>
          </p:cNvPr>
          <p:cNvSpPr txBox="1"/>
          <p:nvPr/>
        </p:nvSpPr>
        <p:spPr>
          <a:xfrm>
            <a:off x="1932524" y="2767436"/>
            <a:ext cx="8692260" cy="369332"/>
          </a:xfrm>
          <a:prstGeom prst="rect">
            <a:avLst/>
          </a:prstGeom>
          <a:noFill/>
        </p:spPr>
        <p:txBody>
          <a:bodyPr wrap="square">
            <a:spAutoFit/>
          </a:bodyPr>
          <a:lstStyle/>
          <a:p>
            <a:pPr algn="ctr"/>
            <a:r>
              <a:rPr lang="zh-CN" altLang="en-US" dirty="0"/>
              <a:t>作者：</a:t>
            </a:r>
            <a:r>
              <a:rPr lang="en-US" altLang="zh-CN" dirty="0"/>
              <a:t> </a:t>
            </a:r>
            <a:r>
              <a:rPr lang="en-US" altLang="zh-CN" dirty="0" err="1"/>
              <a:t>Yongchao</a:t>
            </a:r>
            <a:r>
              <a:rPr lang="en-US" altLang="zh-CN" dirty="0"/>
              <a:t> Zhou, Kaifeng Lyu, Ankit Singh Rawat, Aditya Krishna Menon</a:t>
            </a:r>
            <a:endParaRPr lang="zh-CN" altLang="en-US" dirty="0"/>
          </a:p>
        </p:txBody>
      </p:sp>
      <p:sp>
        <p:nvSpPr>
          <p:cNvPr id="2" name="TextBox 84">
            <a:extLst>
              <a:ext uri="{FF2B5EF4-FFF2-40B4-BE49-F238E27FC236}">
                <a16:creationId xmlns:a16="http://schemas.microsoft.com/office/drawing/2014/main" id="{476CEB15-460A-E38A-0E2E-6F32890F6F97}"/>
              </a:ext>
            </a:extLst>
          </p:cNvPr>
          <p:cNvSpPr txBox="1"/>
          <p:nvPr/>
        </p:nvSpPr>
        <p:spPr>
          <a:xfrm>
            <a:off x="4370456" y="4781343"/>
            <a:ext cx="3413115" cy="307777"/>
          </a:xfrm>
          <a:prstGeom prst="rect">
            <a:avLst/>
          </a:prstGeom>
          <a:noFill/>
        </p:spPr>
        <p:txBody>
          <a:bodyPr wrap="none" rtlCol="0">
            <a:spAutoFit/>
          </a:bodyPr>
          <a:lstStyle/>
          <a:p>
            <a:pPr algn="ctr">
              <a:spcBef>
                <a:spcPct val="20000"/>
              </a:spcBef>
              <a:defRPr/>
            </a:pPr>
            <a:r>
              <a:rPr lang="zh-CN" altLang="en-US" sz="1400" dirty="0"/>
              <a:t>汇报人：邱盈钢    日期：</a:t>
            </a:r>
            <a:r>
              <a:rPr lang="en-US" altLang="zh-CN" sz="1400" dirty="0"/>
              <a:t>2025</a:t>
            </a:r>
            <a:r>
              <a:rPr lang="zh-CN" altLang="en-US" sz="1400" dirty="0"/>
              <a:t>年</a:t>
            </a:r>
            <a:r>
              <a:rPr lang="en-US" altLang="zh-CN" sz="1400" dirty="0"/>
              <a:t>9</a:t>
            </a:r>
            <a:r>
              <a:rPr lang="zh-CN" altLang="en-US" sz="1400" dirty="0"/>
              <a:t>月</a:t>
            </a:r>
            <a:r>
              <a:rPr lang="en-US" altLang="zh-CN" sz="1400" dirty="0"/>
              <a:t>28</a:t>
            </a:r>
            <a:r>
              <a:rPr lang="zh-CN" altLang="en-US" sz="1400" dirty="0"/>
              <a:t>日</a:t>
            </a:r>
          </a:p>
        </p:txBody>
      </p:sp>
      <p:sp>
        <p:nvSpPr>
          <p:cNvPr id="4" name="文本框 3">
            <a:extLst>
              <a:ext uri="{FF2B5EF4-FFF2-40B4-BE49-F238E27FC236}">
                <a16:creationId xmlns:a16="http://schemas.microsoft.com/office/drawing/2014/main" id="{E6E2D061-28BD-2CA1-B8C8-1C185FBA6713}"/>
              </a:ext>
            </a:extLst>
          </p:cNvPr>
          <p:cNvSpPr txBox="1"/>
          <p:nvPr/>
        </p:nvSpPr>
        <p:spPr>
          <a:xfrm>
            <a:off x="3048000" y="3244334"/>
            <a:ext cx="6096000" cy="369332"/>
          </a:xfrm>
          <a:prstGeom prst="rect">
            <a:avLst/>
          </a:prstGeom>
          <a:noFill/>
        </p:spPr>
        <p:txBody>
          <a:bodyPr wrap="square">
            <a:spAutoFit/>
          </a:bodyPr>
          <a:lstStyle/>
          <a:p>
            <a:pPr algn="ctr"/>
            <a:r>
              <a:rPr lang="zh-CN" altLang="en-US" dirty="0"/>
              <a:t> </a:t>
            </a:r>
            <a:r>
              <a:rPr lang="en-US" altLang="zh-CN" dirty="0"/>
              <a:t>ICLR 2024</a:t>
            </a:r>
            <a:endParaRPr lang="zh-CN" altLang="en-US" dirty="0"/>
          </a:p>
        </p:txBody>
      </p:sp>
    </p:spTree>
    <p:extLst>
      <p:ext uri="{BB962C8B-B14F-4D97-AF65-F5344CB8AC3E}">
        <p14:creationId xmlns:p14="http://schemas.microsoft.com/office/powerpoint/2010/main" val="1348121968"/>
      </p:ext>
    </p:extLst>
  </p:cSld>
  <p:clrMapOvr>
    <a:masterClrMapping/>
  </p:clrMapOvr>
  <mc:AlternateContent xmlns:mc="http://schemas.openxmlformats.org/markup-compatibility/2006" xmlns:p14="http://schemas.microsoft.com/office/powerpoint/2010/main">
    <mc:Choice Requires="p14">
      <p:transition p14:dur="10" advTm="26584"/>
    </mc:Choice>
    <mc:Fallback xmlns="">
      <p:transition advTm="2658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8C618-4924-5AD5-08F9-CE5A2DFAFCFF}"/>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7035C64F-8B87-434E-4A3A-38F0476EC936}"/>
              </a:ext>
            </a:extLst>
          </p:cNvPr>
          <p:cNvSpPr txBox="1"/>
          <p:nvPr/>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1.</a:t>
            </a:r>
            <a:r>
              <a:rPr lang="zh-CN" altLang="en-US" sz="2800" dirty="0">
                <a:solidFill>
                  <a:srgbClr val="000000">
                    <a:lumMod val="75000"/>
                    <a:lumOff val="25000"/>
                  </a:srgbClr>
                </a:solidFill>
              </a:rPr>
              <a:t>介绍</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4" name="文本框 103">
            <a:extLst>
              <a:ext uri="{FF2B5EF4-FFF2-40B4-BE49-F238E27FC236}">
                <a16:creationId xmlns:a16="http://schemas.microsoft.com/office/drawing/2014/main" id="{A40D4B62-B43E-3A27-B82B-8D455D55C109}"/>
              </a:ext>
            </a:extLst>
          </p:cNvPr>
          <p:cNvSpPr txBox="1"/>
          <p:nvPr/>
        </p:nvSpPr>
        <p:spPr>
          <a:xfrm>
            <a:off x="290644" y="806973"/>
            <a:ext cx="1444371" cy="396583"/>
          </a:xfrm>
          <a:prstGeom prst="rect">
            <a:avLst/>
          </a:prstGeom>
          <a:noFill/>
        </p:spPr>
        <p:txBody>
          <a:bodyPr wrap="square" rtlCol="0" anchor="ctr">
            <a:spAutoFit/>
          </a:bodyPr>
          <a:lstStyle/>
          <a:p>
            <a:pPr marL="285750" indent="-285750">
              <a:lnSpc>
                <a:spcPct val="120000"/>
              </a:lnSpc>
              <a:buFont typeface="Wingdings" panose="05000000000000000000" pitchFamily="2" charset="2"/>
              <a:buChar char="Ø"/>
            </a:pPr>
            <a:r>
              <a:rPr lang="zh-CN" altLang="en-US" b="1" dirty="0">
                <a:solidFill>
                  <a:srgbClr val="268F9C"/>
                </a:solidFill>
                <a:latin typeface="+mn-ea"/>
              </a:rPr>
              <a:t>投机解码</a:t>
            </a:r>
          </a:p>
        </p:txBody>
      </p:sp>
      <p:pic>
        <p:nvPicPr>
          <p:cNvPr id="7" name="图片 6">
            <a:extLst>
              <a:ext uri="{FF2B5EF4-FFF2-40B4-BE49-F238E27FC236}">
                <a16:creationId xmlns:a16="http://schemas.microsoft.com/office/drawing/2014/main" id="{B59C48C5-4C2E-8904-7920-BC3ACB524201}"/>
              </a:ext>
            </a:extLst>
          </p:cNvPr>
          <p:cNvPicPr>
            <a:picLocks noChangeAspect="1"/>
          </p:cNvPicPr>
          <p:nvPr/>
        </p:nvPicPr>
        <p:blipFill>
          <a:blip r:embed="rId3"/>
          <a:stretch>
            <a:fillRect/>
          </a:stretch>
        </p:blipFill>
        <p:spPr>
          <a:xfrm>
            <a:off x="882895" y="1502580"/>
            <a:ext cx="10242305" cy="4406950"/>
          </a:xfrm>
          <a:prstGeom prst="rect">
            <a:avLst/>
          </a:prstGeom>
        </p:spPr>
      </p:pic>
    </p:spTree>
    <p:extLst>
      <p:ext uri="{BB962C8B-B14F-4D97-AF65-F5344CB8AC3E}">
        <p14:creationId xmlns:p14="http://schemas.microsoft.com/office/powerpoint/2010/main" val="2829857074"/>
      </p:ext>
    </p:extLst>
  </p:cSld>
  <p:clrMapOvr>
    <a:masterClrMapping/>
  </p:clrMapOvr>
  <mc:AlternateContent xmlns:mc="http://schemas.openxmlformats.org/markup-compatibility/2006" xmlns:p14="http://schemas.microsoft.com/office/powerpoint/2010/main">
    <mc:Choice Requires="p14">
      <p:transition p14:dur="10" advTm="158349"/>
    </mc:Choice>
    <mc:Fallback xmlns="">
      <p:transition advTm="15834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cxnSp>
        <p:nvCxnSpPr>
          <p:cNvPr id="262" name="连接符: 曲线 261">
            <a:extLst>
              <a:ext uri="{FF2B5EF4-FFF2-40B4-BE49-F238E27FC236}">
                <a16:creationId xmlns:a16="http://schemas.microsoft.com/office/drawing/2014/main" id="{701D94A8-6660-5E0E-B71F-CAFCCDA472A6}"/>
              </a:ext>
            </a:extLst>
          </p:cNvPr>
          <p:cNvCxnSpPr>
            <a:cxnSpLocks/>
            <a:stCxn id="263" idx="1"/>
            <a:endCxn id="247" idx="3"/>
          </p:cNvCxnSpPr>
          <p:nvPr/>
        </p:nvCxnSpPr>
        <p:spPr>
          <a:xfrm rot="10800000">
            <a:off x="4503364" y="4391430"/>
            <a:ext cx="467849" cy="1964930"/>
          </a:xfrm>
          <a:prstGeom prst="curvedConnector3">
            <a:avLst>
              <a:gd name="adj1" fmla="val 50000"/>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6" name="直接箭头连接符 205">
            <a:extLst>
              <a:ext uri="{FF2B5EF4-FFF2-40B4-BE49-F238E27FC236}">
                <a16:creationId xmlns:a16="http://schemas.microsoft.com/office/drawing/2014/main" id="{C21094C6-6D4B-DF7B-D7F0-7A38116DCE04}"/>
              </a:ext>
            </a:extLst>
          </p:cNvPr>
          <p:cNvCxnSpPr>
            <a:cxnSpLocks/>
            <a:endCxn id="205" idx="2"/>
          </p:cNvCxnSpPr>
          <p:nvPr/>
        </p:nvCxnSpPr>
        <p:spPr>
          <a:xfrm flipV="1">
            <a:off x="2546811" y="1839292"/>
            <a:ext cx="0" cy="388603"/>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8" name="直接箭头连接符 207">
            <a:extLst>
              <a:ext uri="{FF2B5EF4-FFF2-40B4-BE49-F238E27FC236}">
                <a16:creationId xmlns:a16="http://schemas.microsoft.com/office/drawing/2014/main" id="{B6117813-9029-4B58-3C98-1243707F26C1}"/>
              </a:ext>
            </a:extLst>
          </p:cNvPr>
          <p:cNvCxnSpPr>
            <a:cxnSpLocks/>
            <a:endCxn id="207" idx="2"/>
          </p:cNvCxnSpPr>
          <p:nvPr/>
        </p:nvCxnSpPr>
        <p:spPr>
          <a:xfrm flipV="1">
            <a:off x="3483621" y="1839292"/>
            <a:ext cx="0" cy="388603"/>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0" name="直接箭头连接符 209">
            <a:extLst>
              <a:ext uri="{FF2B5EF4-FFF2-40B4-BE49-F238E27FC236}">
                <a16:creationId xmlns:a16="http://schemas.microsoft.com/office/drawing/2014/main" id="{0E190FA2-4551-4FBF-2E7D-76C70860AD1B}"/>
              </a:ext>
            </a:extLst>
          </p:cNvPr>
          <p:cNvCxnSpPr>
            <a:cxnSpLocks/>
            <a:endCxn id="209" idx="2"/>
          </p:cNvCxnSpPr>
          <p:nvPr/>
        </p:nvCxnSpPr>
        <p:spPr>
          <a:xfrm flipV="1">
            <a:off x="4427994" y="1839292"/>
            <a:ext cx="0" cy="407386"/>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 name="标题 4">
            <a:extLst>
              <a:ext uri="{FF2B5EF4-FFF2-40B4-BE49-F238E27FC236}">
                <a16:creationId xmlns:a16="http://schemas.microsoft.com/office/drawing/2014/main" id="{9436878A-C9CA-2FAE-74B5-A11616112B9E}"/>
              </a:ext>
            </a:extLst>
          </p:cNvPr>
          <p:cNvSpPr txBox="1"/>
          <p:nvPr/>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1.</a:t>
            </a:r>
            <a:r>
              <a:rPr lang="zh-CN" altLang="en-US" sz="2800" dirty="0">
                <a:solidFill>
                  <a:srgbClr val="000000">
                    <a:lumMod val="75000"/>
                    <a:lumOff val="25000"/>
                  </a:srgbClr>
                </a:solidFill>
              </a:rPr>
              <a:t>介绍</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4" name="文本框 103">
            <a:extLst>
              <a:ext uri="{FF2B5EF4-FFF2-40B4-BE49-F238E27FC236}">
                <a16:creationId xmlns:a16="http://schemas.microsoft.com/office/drawing/2014/main" id="{F4C0137A-6320-D6A5-054A-F6AA9582B03A}"/>
              </a:ext>
            </a:extLst>
          </p:cNvPr>
          <p:cNvSpPr txBox="1"/>
          <p:nvPr/>
        </p:nvSpPr>
        <p:spPr>
          <a:xfrm>
            <a:off x="290644" y="806973"/>
            <a:ext cx="1444371" cy="396583"/>
          </a:xfrm>
          <a:prstGeom prst="rect">
            <a:avLst/>
          </a:prstGeom>
          <a:noFill/>
        </p:spPr>
        <p:txBody>
          <a:bodyPr wrap="square" rtlCol="0" anchor="ctr">
            <a:spAutoFit/>
          </a:bodyPr>
          <a:lstStyle/>
          <a:p>
            <a:pPr marL="285750" indent="-285750">
              <a:lnSpc>
                <a:spcPct val="120000"/>
              </a:lnSpc>
              <a:buFont typeface="Wingdings" panose="05000000000000000000" pitchFamily="2" charset="2"/>
              <a:buChar char="Ø"/>
            </a:pPr>
            <a:r>
              <a:rPr lang="zh-CN" altLang="en-US" b="1" dirty="0">
                <a:solidFill>
                  <a:srgbClr val="268F9C"/>
                </a:solidFill>
                <a:latin typeface="+mn-ea"/>
              </a:rPr>
              <a:t>投机解码</a:t>
            </a:r>
          </a:p>
        </p:txBody>
      </p:sp>
      <p:cxnSp>
        <p:nvCxnSpPr>
          <p:cNvPr id="190" name="连接符: 曲线 189">
            <a:extLst>
              <a:ext uri="{FF2B5EF4-FFF2-40B4-BE49-F238E27FC236}">
                <a16:creationId xmlns:a16="http://schemas.microsoft.com/office/drawing/2014/main" id="{40912FD6-CEB8-57F8-3195-64B444643F71}"/>
              </a:ext>
            </a:extLst>
          </p:cNvPr>
          <p:cNvCxnSpPr>
            <a:cxnSpLocks/>
            <a:stCxn id="198" idx="1"/>
            <a:endCxn id="207" idx="3"/>
          </p:cNvCxnSpPr>
          <p:nvPr/>
        </p:nvCxnSpPr>
        <p:spPr>
          <a:xfrm rot="10800000">
            <a:off x="3747391" y="1675170"/>
            <a:ext cx="416835" cy="1540251"/>
          </a:xfrm>
          <a:prstGeom prst="curvedConnector3">
            <a:avLst>
              <a:gd name="adj1" fmla="val 50000"/>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1" name="连接符: 曲线 190">
            <a:extLst>
              <a:ext uri="{FF2B5EF4-FFF2-40B4-BE49-F238E27FC236}">
                <a16:creationId xmlns:a16="http://schemas.microsoft.com/office/drawing/2014/main" id="{C458413D-7683-A187-F72B-92DF83F425B7}"/>
              </a:ext>
            </a:extLst>
          </p:cNvPr>
          <p:cNvCxnSpPr>
            <a:cxnSpLocks/>
            <a:stCxn id="199" idx="1"/>
            <a:endCxn id="209" idx="3"/>
          </p:cNvCxnSpPr>
          <p:nvPr/>
        </p:nvCxnSpPr>
        <p:spPr>
          <a:xfrm rot="10800000">
            <a:off x="4691764" y="1675170"/>
            <a:ext cx="413883" cy="1539605"/>
          </a:xfrm>
          <a:prstGeom prst="curvedConnector3">
            <a:avLst>
              <a:gd name="adj1" fmla="val 50000"/>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2" name="连接符: 曲线 191">
            <a:extLst>
              <a:ext uri="{FF2B5EF4-FFF2-40B4-BE49-F238E27FC236}">
                <a16:creationId xmlns:a16="http://schemas.microsoft.com/office/drawing/2014/main" id="{BA5181E9-BA8F-C456-E0DA-4395544DD6C1}"/>
              </a:ext>
            </a:extLst>
          </p:cNvPr>
          <p:cNvCxnSpPr>
            <a:cxnSpLocks/>
            <a:stCxn id="197" idx="1"/>
            <a:endCxn id="205" idx="3"/>
          </p:cNvCxnSpPr>
          <p:nvPr/>
        </p:nvCxnSpPr>
        <p:spPr>
          <a:xfrm rot="10800000">
            <a:off x="2810581" y="1675170"/>
            <a:ext cx="412223" cy="1540251"/>
          </a:xfrm>
          <a:prstGeom prst="curvedConnector3">
            <a:avLst>
              <a:gd name="adj1" fmla="val 50000"/>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4" name="矩形: 圆角 193">
                <a:extLst>
                  <a:ext uri="{FF2B5EF4-FFF2-40B4-BE49-F238E27FC236}">
                    <a16:creationId xmlns:a16="http://schemas.microsoft.com/office/drawing/2014/main" id="{6407C667-5233-0F52-ECE6-9E94DFFA3246}"/>
                  </a:ext>
                </a:extLst>
              </p:cNvPr>
              <p:cNvSpPr/>
              <p:nvPr/>
            </p:nvSpPr>
            <p:spPr>
              <a:xfrm>
                <a:off x="1343283" y="3053862"/>
                <a:ext cx="527538" cy="328246"/>
              </a:xfrm>
              <a:prstGeom prst="roundRect">
                <a:avLst/>
              </a:prstGeom>
              <a:ln w="19050"/>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2</m:t>
                          </m:r>
                        </m:sub>
                      </m:sSub>
                    </m:oMath>
                  </m:oMathPara>
                </a14:m>
                <a:endParaRPr lang="zh-CN" altLang="en-US" sz="1600" dirty="0"/>
              </a:p>
            </p:txBody>
          </p:sp>
        </mc:Choice>
        <mc:Fallback xmlns="">
          <p:sp>
            <p:nvSpPr>
              <p:cNvPr id="194" name="矩形: 圆角 193">
                <a:extLst>
                  <a:ext uri="{FF2B5EF4-FFF2-40B4-BE49-F238E27FC236}">
                    <a16:creationId xmlns:a16="http://schemas.microsoft.com/office/drawing/2014/main" id="{6407C667-5233-0F52-ECE6-9E94DFFA3246}"/>
                  </a:ext>
                </a:extLst>
              </p:cNvPr>
              <p:cNvSpPr>
                <a:spLocks noRot="1" noChangeAspect="1" noMove="1" noResize="1" noEditPoints="1" noAdjustHandles="1" noChangeArrowheads="1" noChangeShapeType="1" noTextEdit="1"/>
              </p:cNvSpPr>
              <p:nvPr/>
            </p:nvSpPr>
            <p:spPr>
              <a:xfrm>
                <a:off x="1343283" y="3053862"/>
                <a:ext cx="527538" cy="328246"/>
              </a:xfrm>
              <a:prstGeom prst="roundRect">
                <a:avLst/>
              </a:prstGeom>
              <a:blipFill>
                <a:blip r:embed="rId3"/>
                <a:stretch>
                  <a:fillRect/>
                </a:stretch>
              </a:blipFill>
              <a:ln w="19050"/>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5" name="矩形: 圆角 194">
                <a:extLst>
                  <a:ext uri="{FF2B5EF4-FFF2-40B4-BE49-F238E27FC236}">
                    <a16:creationId xmlns:a16="http://schemas.microsoft.com/office/drawing/2014/main" id="{0403988F-4127-E904-3648-221AAD758488}"/>
                  </a:ext>
                </a:extLst>
              </p:cNvPr>
              <p:cNvSpPr/>
              <p:nvPr/>
            </p:nvSpPr>
            <p:spPr>
              <a:xfrm>
                <a:off x="2283043" y="3053862"/>
                <a:ext cx="527538" cy="328246"/>
              </a:xfrm>
              <a:prstGeom prst="roundRect">
                <a:avLst/>
              </a:prstGeom>
              <a:ln w="19050"/>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3</m:t>
                          </m:r>
                        </m:sub>
                      </m:sSub>
                    </m:oMath>
                  </m:oMathPara>
                </a14:m>
                <a:endParaRPr lang="zh-CN" altLang="en-US" sz="1600" dirty="0"/>
              </a:p>
            </p:txBody>
          </p:sp>
        </mc:Choice>
        <mc:Fallback xmlns="">
          <p:sp>
            <p:nvSpPr>
              <p:cNvPr id="195" name="矩形: 圆角 194">
                <a:extLst>
                  <a:ext uri="{FF2B5EF4-FFF2-40B4-BE49-F238E27FC236}">
                    <a16:creationId xmlns:a16="http://schemas.microsoft.com/office/drawing/2014/main" id="{0403988F-4127-E904-3648-221AAD758488}"/>
                  </a:ext>
                </a:extLst>
              </p:cNvPr>
              <p:cNvSpPr>
                <a:spLocks noRot="1" noChangeAspect="1" noMove="1" noResize="1" noEditPoints="1" noAdjustHandles="1" noChangeArrowheads="1" noChangeShapeType="1" noTextEdit="1"/>
              </p:cNvSpPr>
              <p:nvPr/>
            </p:nvSpPr>
            <p:spPr>
              <a:xfrm>
                <a:off x="2283043" y="3053862"/>
                <a:ext cx="527538" cy="328246"/>
              </a:xfrm>
              <a:prstGeom prst="roundRect">
                <a:avLst/>
              </a:prstGeom>
              <a:blipFill>
                <a:blip r:embed="rId4"/>
                <a:stretch>
                  <a:fillRect/>
                </a:stretch>
              </a:blipFill>
              <a:ln w="19050"/>
            </p:spPr>
            <p:txBody>
              <a:bodyPr/>
              <a:lstStyle/>
              <a:p>
                <a:r>
                  <a:rPr lang="zh-CN" altLang="en-US">
                    <a:noFill/>
                  </a:rPr>
                  <a:t> </a:t>
                </a:r>
              </a:p>
            </p:txBody>
          </p:sp>
        </mc:Fallback>
      </mc:AlternateContent>
      <p:sp>
        <p:nvSpPr>
          <p:cNvPr id="196" name="矩形: 圆角 195">
            <a:extLst>
              <a:ext uri="{FF2B5EF4-FFF2-40B4-BE49-F238E27FC236}">
                <a16:creationId xmlns:a16="http://schemas.microsoft.com/office/drawing/2014/main" id="{C1F9A86B-2B19-899D-6D2F-C169F6A28B6F}"/>
              </a:ext>
            </a:extLst>
          </p:cNvPr>
          <p:cNvSpPr/>
          <p:nvPr/>
        </p:nvSpPr>
        <p:spPr>
          <a:xfrm>
            <a:off x="1235983" y="2220473"/>
            <a:ext cx="4491815" cy="38806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Drafter</a:t>
            </a:r>
            <a:endParaRPr lang="zh-CN" altLang="en-US" sz="2000" dirty="0"/>
          </a:p>
        </p:txBody>
      </p:sp>
      <mc:AlternateContent xmlns:mc="http://schemas.openxmlformats.org/markup-compatibility/2006" xmlns:a14="http://schemas.microsoft.com/office/drawing/2010/main">
        <mc:Choice Requires="a14">
          <p:sp>
            <p:nvSpPr>
              <p:cNvPr id="197" name="矩形: 圆角 196">
                <a:extLst>
                  <a:ext uri="{FF2B5EF4-FFF2-40B4-BE49-F238E27FC236}">
                    <a16:creationId xmlns:a16="http://schemas.microsoft.com/office/drawing/2014/main" id="{4D467DFC-FD44-63F9-A7C2-4C3295B23D9E}"/>
                  </a:ext>
                </a:extLst>
              </p:cNvPr>
              <p:cNvSpPr/>
              <p:nvPr/>
            </p:nvSpPr>
            <p:spPr>
              <a:xfrm>
                <a:off x="3222803" y="3051620"/>
                <a:ext cx="529200" cy="327600"/>
              </a:xfrm>
              <a:prstGeom prst="roundRect">
                <a:avLst/>
              </a:prstGeom>
              <a:ln w="19050">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4</m:t>
                          </m:r>
                        </m:sub>
                      </m:sSub>
                    </m:oMath>
                  </m:oMathPara>
                </a14:m>
                <a:endParaRPr lang="zh-CN" altLang="en-US" dirty="0"/>
              </a:p>
            </p:txBody>
          </p:sp>
        </mc:Choice>
        <mc:Fallback xmlns="">
          <p:sp>
            <p:nvSpPr>
              <p:cNvPr id="197" name="矩形: 圆角 196">
                <a:extLst>
                  <a:ext uri="{FF2B5EF4-FFF2-40B4-BE49-F238E27FC236}">
                    <a16:creationId xmlns:a16="http://schemas.microsoft.com/office/drawing/2014/main" id="{4D467DFC-FD44-63F9-A7C2-4C3295B23D9E}"/>
                  </a:ext>
                </a:extLst>
              </p:cNvPr>
              <p:cNvSpPr>
                <a:spLocks noRot="1" noChangeAspect="1" noMove="1" noResize="1" noEditPoints="1" noAdjustHandles="1" noChangeArrowheads="1" noChangeShapeType="1" noTextEdit="1"/>
              </p:cNvSpPr>
              <p:nvPr/>
            </p:nvSpPr>
            <p:spPr>
              <a:xfrm>
                <a:off x="3222803" y="3051620"/>
                <a:ext cx="529200" cy="327600"/>
              </a:xfrm>
              <a:prstGeom prst="roundRect">
                <a:avLst/>
              </a:prstGeom>
              <a:blipFill>
                <a:blip r:embed="rId5"/>
                <a:stretch>
                  <a:fillRect b="-3571"/>
                </a:stretch>
              </a:blipFill>
              <a:ln w="19050">
                <a:solidFill>
                  <a:srgbClr val="C0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8" name="矩形: 圆角 197">
                <a:extLst>
                  <a:ext uri="{FF2B5EF4-FFF2-40B4-BE49-F238E27FC236}">
                    <a16:creationId xmlns:a16="http://schemas.microsoft.com/office/drawing/2014/main" id="{8310739F-6BAA-84D3-217A-27316D10CFE4}"/>
                  </a:ext>
                </a:extLst>
              </p:cNvPr>
              <p:cNvSpPr/>
              <p:nvPr/>
            </p:nvSpPr>
            <p:spPr>
              <a:xfrm>
                <a:off x="4164225" y="3051620"/>
                <a:ext cx="529200" cy="327600"/>
              </a:xfrm>
              <a:prstGeom prst="roundRect">
                <a:avLst/>
              </a:prstGeom>
              <a:ln w="19050">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5</m:t>
                          </m:r>
                        </m:sub>
                      </m:sSub>
                    </m:oMath>
                  </m:oMathPara>
                </a14:m>
                <a:endParaRPr lang="zh-CN" altLang="en-US" dirty="0"/>
              </a:p>
            </p:txBody>
          </p:sp>
        </mc:Choice>
        <mc:Fallback xmlns="">
          <p:sp>
            <p:nvSpPr>
              <p:cNvPr id="198" name="矩形: 圆角 197">
                <a:extLst>
                  <a:ext uri="{FF2B5EF4-FFF2-40B4-BE49-F238E27FC236}">
                    <a16:creationId xmlns:a16="http://schemas.microsoft.com/office/drawing/2014/main" id="{8310739F-6BAA-84D3-217A-27316D10CFE4}"/>
                  </a:ext>
                </a:extLst>
              </p:cNvPr>
              <p:cNvSpPr>
                <a:spLocks noRot="1" noChangeAspect="1" noMove="1" noResize="1" noEditPoints="1" noAdjustHandles="1" noChangeArrowheads="1" noChangeShapeType="1" noTextEdit="1"/>
              </p:cNvSpPr>
              <p:nvPr/>
            </p:nvSpPr>
            <p:spPr>
              <a:xfrm>
                <a:off x="4164225" y="3051620"/>
                <a:ext cx="529200" cy="327600"/>
              </a:xfrm>
              <a:prstGeom prst="roundRect">
                <a:avLst/>
              </a:prstGeom>
              <a:blipFill>
                <a:blip r:embed="rId6"/>
                <a:stretch>
                  <a:fillRect b="-5357"/>
                </a:stretch>
              </a:blipFill>
              <a:ln w="19050">
                <a:solidFill>
                  <a:srgbClr val="C0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9" name="矩形: 圆角 198">
                <a:extLst>
                  <a:ext uri="{FF2B5EF4-FFF2-40B4-BE49-F238E27FC236}">
                    <a16:creationId xmlns:a16="http://schemas.microsoft.com/office/drawing/2014/main" id="{7E29B7BD-9615-9612-19B6-8B0D4BAFF62E}"/>
                  </a:ext>
                </a:extLst>
              </p:cNvPr>
              <p:cNvSpPr/>
              <p:nvPr/>
            </p:nvSpPr>
            <p:spPr>
              <a:xfrm>
                <a:off x="5105646" y="3050974"/>
                <a:ext cx="529200" cy="327600"/>
              </a:xfrm>
              <a:prstGeom prst="roundRect">
                <a:avLst/>
              </a:prstGeom>
              <a:ln w="19050">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6</m:t>
                          </m:r>
                        </m:sub>
                      </m:sSub>
                    </m:oMath>
                  </m:oMathPara>
                </a14:m>
                <a:endParaRPr lang="zh-CN" altLang="en-US" dirty="0"/>
              </a:p>
            </p:txBody>
          </p:sp>
        </mc:Choice>
        <mc:Fallback xmlns="">
          <p:sp>
            <p:nvSpPr>
              <p:cNvPr id="199" name="矩形: 圆角 198">
                <a:extLst>
                  <a:ext uri="{FF2B5EF4-FFF2-40B4-BE49-F238E27FC236}">
                    <a16:creationId xmlns:a16="http://schemas.microsoft.com/office/drawing/2014/main" id="{7E29B7BD-9615-9612-19B6-8B0D4BAFF62E}"/>
                  </a:ext>
                </a:extLst>
              </p:cNvPr>
              <p:cNvSpPr>
                <a:spLocks noRot="1" noChangeAspect="1" noMove="1" noResize="1" noEditPoints="1" noAdjustHandles="1" noChangeArrowheads="1" noChangeShapeType="1" noTextEdit="1"/>
              </p:cNvSpPr>
              <p:nvPr/>
            </p:nvSpPr>
            <p:spPr>
              <a:xfrm>
                <a:off x="5105646" y="3050974"/>
                <a:ext cx="529200" cy="327600"/>
              </a:xfrm>
              <a:prstGeom prst="roundRect">
                <a:avLst/>
              </a:prstGeom>
              <a:blipFill>
                <a:blip r:embed="rId7"/>
                <a:stretch>
                  <a:fillRect b="-3509"/>
                </a:stretch>
              </a:blipFill>
              <a:ln w="19050">
                <a:solidFill>
                  <a:srgbClr val="C00000"/>
                </a:solidFill>
              </a:ln>
            </p:spPr>
            <p:txBody>
              <a:bodyPr/>
              <a:lstStyle/>
              <a:p>
                <a:r>
                  <a:rPr lang="zh-CN" altLang="en-US">
                    <a:noFill/>
                  </a:rPr>
                  <a:t> </a:t>
                </a:r>
              </a:p>
            </p:txBody>
          </p:sp>
        </mc:Fallback>
      </mc:AlternateContent>
      <p:cxnSp>
        <p:nvCxnSpPr>
          <p:cNvPr id="201" name="直接箭头连接符 200">
            <a:extLst>
              <a:ext uri="{FF2B5EF4-FFF2-40B4-BE49-F238E27FC236}">
                <a16:creationId xmlns:a16="http://schemas.microsoft.com/office/drawing/2014/main" id="{45F27D4D-B658-D3DD-E805-5057877CFEC4}"/>
              </a:ext>
            </a:extLst>
          </p:cNvPr>
          <p:cNvCxnSpPr>
            <a:cxnSpLocks/>
            <a:stCxn id="194" idx="0"/>
          </p:cNvCxnSpPr>
          <p:nvPr/>
        </p:nvCxnSpPr>
        <p:spPr>
          <a:xfrm flipV="1">
            <a:off x="1607052" y="2608541"/>
            <a:ext cx="0" cy="44532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2" name="直接箭头连接符 201">
            <a:extLst>
              <a:ext uri="{FF2B5EF4-FFF2-40B4-BE49-F238E27FC236}">
                <a16:creationId xmlns:a16="http://schemas.microsoft.com/office/drawing/2014/main" id="{AACD1D8A-0D27-F9F7-4612-2272200EBB7A}"/>
              </a:ext>
            </a:extLst>
          </p:cNvPr>
          <p:cNvCxnSpPr>
            <a:cxnSpLocks/>
            <a:stCxn id="195" idx="0"/>
          </p:cNvCxnSpPr>
          <p:nvPr/>
        </p:nvCxnSpPr>
        <p:spPr>
          <a:xfrm flipH="1" flipV="1">
            <a:off x="2546811" y="2608541"/>
            <a:ext cx="1" cy="44532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直接箭头连接符 202">
            <a:extLst>
              <a:ext uri="{FF2B5EF4-FFF2-40B4-BE49-F238E27FC236}">
                <a16:creationId xmlns:a16="http://schemas.microsoft.com/office/drawing/2014/main" id="{30494C62-3FDC-6031-7409-B0C09D13926A}"/>
              </a:ext>
            </a:extLst>
          </p:cNvPr>
          <p:cNvCxnSpPr>
            <a:cxnSpLocks/>
            <a:stCxn id="197" idx="0"/>
          </p:cNvCxnSpPr>
          <p:nvPr/>
        </p:nvCxnSpPr>
        <p:spPr>
          <a:xfrm flipV="1">
            <a:off x="3487403" y="2608541"/>
            <a:ext cx="0" cy="44307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直接箭头连接符 203">
            <a:extLst>
              <a:ext uri="{FF2B5EF4-FFF2-40B4-BE49-F238E27FC236}">
                <a16:creationId xmlns:a16="http://schemas.microsoft.com/office/drawing/2014/main" id="{83FC7469-708C-98ED-C0DE-9992758452C1}"/>
              </a:ext>
            </a:extLst>
          </p:cNvPr>
          <p:cNvCxnSpPr>
            <a:cxnSpLocks/>
            <a:stCxn id="198" idx="0"/>
          </p:cNvCxnSpPr>
          <p:nvPr/>
        </p:nvCxnSpPr>
        <p:spPr>
          <a:xfrm flipH="1" flipV="1">
            <a:off x="4427994" y="2608541"/>
            <a:ext cx="831" cy="44307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5" name="矩形: 圆角 204">
                <a:extLst>
                  <a:ext uri="{FF2B5EF4-FFF2-40B4-BE49-F238E27FC236}">
                    <a16:creationId xmlns:a16="http://schemas.microsoft.com/office/drawing/2014/main" id="{64F972E4-DCAB-4018-20B7-489EE97F9972}"/>
                  </a:ext>
                </a:extLst>
              </p:cNvPr>
              <p:cNvSpPr/>
              <p:nvPr/>
            </p:nvSpPr>
            <p:spPr>
              <a:xfrm>
                <a:off x="2283042" y="1511046"/>
                <a:ext cx="527538" cy="328246"/>
              </a:xfrm>
              <a:prstGeom prst="roundRect">
                <a:avLst/>
              </a:prstGeom>
              <a:ln w="19050"/>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𝑞</m:t>
                          </m:r>
                        </m:e>
                        <m:sub>
                          <m:r>
                            <a:rPr lang="en-US" altLang="zh-CN" sz="1600" b="0" i="1" smtClean="0">
                              <a:latin typeface="Cambria Math" panose="02040503050406030204" pitchFamily="18" charset="0"/>
                            </a:rPr>
                            <m:t>4</m:t>
                          </m:r>
                        </m:sub>
                      </m:sSub>
                    </m:oMath>
                  </m:oMathPara>
                </a14:m>
                <a:endParaRPr lang="zh-CN" altLang="en-US" sz="1600" dirty="0"/>
              </a:p>
            </p:txBody>
          </p:sp>
        </mc:Choice>
        <mc:Fallback xmlns="">
          <p:sp>
            <p:nvSpPr>
              <p:cNvPr id="205" name="矩形: 圆角 204">
                <a:extLst>
                  <a:ext uri="{FF2B5EF4-FFF2-40B4-BE49-F238E27FC236}">
                    <a16:creationId xmlns:a16="http://schemas.microsoft.com/office/drawing/2014/main" id="{64F972E4-DCAB-4018-20B7-489EE97F9972}"/>
                  </a:ext>
                </a:extLst>
              </p:cNvPr>
              <p:cNvSpPr>
                <a:spLocks noRot="1" noChangeAspect="1" noMove="1" noResize="1" noEditPoints="1" noAdjustHandles="1" noChangeArrowheads="1" noChangeShapeType="1" noTextEdit="1"/>
              </p:cNvSpPr>
              <p:nvPr/>
            </p:nvSpPr>
            <p:spPr>
              <a:xfrm>
                <a:off x="2283042" y="1511046"/>
                <a:ext cx="527538" cy="328246"/>
              </a:xfrm>
              <a:prstGeom prst="roundRect">
                <a:avLst/>
              </a:prstGeom>
              <a:blipFill>
                <a:blip r:embed="rId8"/>
                <a:stretch>
                  <a:fillRect b="-3509"/>
                </a:stretch>
              </a:blipFill>
              <a:ln w="19050"/>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7" name="矩形: 圆角 206">
                <a:extLst>
                  <a:ext uri="{FF2B5EF4-FFF2-40B4-BE49-F238E27FC236}">
                    <a16:creationId xmlns:a16="http://schemas.microsoft.com/office/drawing/2014/main" id="{94E57C99-FFA5-DE12-8C73-EC98D65ABCA4}"/>
                  </a:ext>
                </a:extLst>
              </p:cNvPr>
              <p:cNvSpPr/>
              <p:nvPr/>
            </p:nvSpPr>
            <p:spPr>
              <a:xfrm>
                <a:off x="3219852" y="1511046"/>
                <a:ext cx="527538" cy="328246"/>
              </a:xfrm>
              <a:prstGeom prst="roundRect">
                <a:avLst/>
              </a:prstGeom>
              <a:ln w="19050"/>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𝑞</m:t>
                          </m:r>
                        </m:e>
                        <m:sub>
                          <m:r>
                            <a:rPr lang="en-US" altLang="zh-CN" sz="1600" b="0" i="1" smtClean="0">
                              <a:latin typeface="Cambria Math" panose="02040503050406030204" pitchFamily="18" charset="0"/>
                            </a:rPr>
                            <m:t>5</m:t>
                          </m:r>
                        </m:sub>
                      </m:sSub>
                    </m:oMath>
                  </m:oMathPara>
                </a14:m>
                <a:endParaRPr lang="zh-CN" altLang="en-US" sz="1600" dirty="0"/>
              </a:p>
            </p:txBody>
          </p:sp>
        </mc:Choice>
        <mc:Fallback xmlns="">
          <p:sp>
            <p:nvSpPr>
              <p:cNvPr id="207" name="矩形: 圆角 206">
                <a:extLst>
                  <a:ext uri="{FF2B5EF4-FFF2-40B4-BE49-F238E27FC236}">
                    <a16:creationId xmlns:a16="http://schemas.microsoft.com/office/drawing/2014/main" id="{94E57C99-FFA5-DE12-8C73-EC98D65ABCA4}"/>
                  </a:ext>
                </a:extLst>
              </p:cNvPr>
              <p:cNvSpPr>
                <a:spLocks noRot="1" noChangeAspect="1" noMove="1" noResize="1" noEditPoints="1" noAdjustHandles="1" noChangeArrowheads="1" noChangeShapeType="1" noTextEdit="1"/>
              </p:cNvSpPr>
              <p:nvPr/>
            </p:nvSpPr>
            <p:spPr>
              <a:xfrm>
                <a:off x="3219852" y="1511046"/>
                <a:ext cx="527538" cy="328246"/>
              </a:xfrm>
              <a:prstGeom prst="roundRect">
                <a:avLst/>
              </a:prstGeom>
              <a:blipFill>
                <a:blip r:embed="rId9"/>
                <a:stretch>
                  <a:fillRect b="-3509"/>
                </a:stretch>
              </a:blipFill>
              <a:ln w="19050"/>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9" name="矩形: 圆角 208">
                <a:extLst>
                  <a:ext uri="{FF2B5EF4-FFF2-40B4-BE49-F238E27FC236}">
                    <a16:creationId xmlns:a16="http://schemas.microsoft.com/office/drawing/2014/main" id="{B95A3A29-FC47-3080-A016-E7C58A74A6B7}"/>
                  </a:ext>
                </a:extLst>
              </p:cNvPr>
              <p:cNvSpPr/>
              <p:nvPr/>
            </p:nvSpPr>
            <p:spPr>
              <a:xfrm>
                <a:off x="4164225" y="1511046"/>
                <a:ext cx="527538" cy="328246"/>
              </a:xfrm>
              <a:prstGeom prst="roundRect">
                <a:avLst/>
              </a:prstGeom>
              <a:ln w="19050"/>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𝑞</m:t>
                          </m:r>
                        </m:e>
                        <m:sub>
                          <m:r>
                            <a:rPr lang="en-US" altLang="zh-CN" sz="1600" b="0" i="1" smtClean="0">
                              <a:latin typeface="Cambria Math" panose="02040503050406030204" pitchFamily="18" charset="0"/>
                            </a:rPr>
                            <m:t>6</m:t>
                          </m:r>
                        </m:sub>
                      </m:sSub>
                    </m:oMath>
                  </m:oMathPara>
                </a14:m>
                <a:endParaRPr lang="zh-CN" altLang="en-US" sz="1600" dirty="0"/>
              </a:p>
            </p:txBody>
          </p:sp>
        </mc:Choice>
        <mc:Fallback xmlns="">
          <p:sp>
            <p:nvSpPr>
              <p:cNvPr id="209" name="矩形: 圆角 208">
                <a:extLst>
                  <a:ext uri="{FF2B5EF4-FFF2-40B4-BE49-F238E27FC236}">
                    <a16:creationId xmlns:a16="http://schemas.microsoft.com/office/drawing/2014/main" id="{B95A3A29-FC47-3080-A016-E7C58A74A6B7}"/>
                  </a:ext>
                </a:extLst>
              </p:cNvPr>
              <p:cNvSpPr>
                <a:spLocks noRot="1" noChangeAspect="1" noMove="1" noResize="1" noEditPoints="1" noAdjustHandles="1" noChangeArrowheads="1" noChangeShapeType="1" noTextEdit="1"/>
              </p:cNvSpPr>
              <p:nvPr/>
            </p:nvSpPr>
            <p:spPr>
              <a:xfrm>
                <a:off x="4164225" y="1511046"/>
                <a:ext cx="527538" cy="328246"/>
              </a:xfrm>
              <a:prstGeom prst="roundRect">
                <a:avLst/>
              </a:prstGeom>
              <a:blipFill>
                <a:blip r:embed="rId10"/>
                <a:stretch>
                  <a:fillRect b="-3509"/>
                </a:stretch>
              </a:blipFill>
              <a:ln w="19050"/>
            </p:spPr>
            <p:txBody>
              <a:bodyPr/>
              <a:lstStyle/>
              <a:p>
                <a:r>
                  <a:rPr lang="zh-CN" altLang="en-US">
                    <a:noFill/>
                  </a:rPr>
                  <a:t> </a:t>
                </a:r>
              </a:p>
            </p:txBody>
          </p:sp>
        </mc:Fallback>
      </mc:AlternateContent>
      <p:cxnSp>
        <p:nvCxnSpPr>
          <p:cNvPr id="228" name="连接符: 曲线 227">
            <a:extLst>
              <a:ext uri="{FF2B5EF4-FFF2-40B4-BE49-F238E27FC236}">
                <a16:creationId xmlns:a16="http://schemas.microsoft.com/office/drawing/2014/main" id="{38967026-D363-E153-128B-C13D3562C1B7}"/>
              </a:ext>
            </a:extLst>
          </p:cNvPr>
          <p:cNvCxnSpPr>
            <a:cxnSpLocks/>
            <a:stCxn id="236" idx="1"/>
            <a:endCxn id="245" idx="3"/>
          </p:cNvCxnSpPr>
          <p:nvPr/>
        </p:nvCxnSpPr>
        <p:spPr>
          <a:xfrm rot="10800000">
            <a:off x="3558991" y="4391431"/>
            <a:ext cx="416835" cy="1962279"/>
          </a:xfrm>
          <a:prstGeom prst="curvedConnector3">
            <a:avLst>
              <a:gd name="adj1" fmla="val 50000"/>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0" name="连接符: 曲线 229">
            <a:extLst>
              <a:ext uri="{FF2B5EF4-FFF2-40B4-BE49-F238E27FC236}">
                <a16:creationId xmlns:a16="http://schemas.microsoft.com/office/drawing/2014/main" id="{308CDB89-DD9E-9CD4-34D8-4500A0C2E140}"/>
              </a:ext>
            </a:extLst>
          </p:cNvPr>
          <p:cNvCxnSpPr>
            <a:cxnSpLocks/>
            <a:stCxn id="235" idx="1"/>
            <a:endCxn id="243" idx="3"/>
          </p:cNvCxnSpPr>
          <p:nvPr/>
        </p:nvCxnSpPr>
        <p:spPr>
          <a:xfrm rot="10800000">
            <a:off x="2622181" y="4391431"/>
            <a:ext cx="412223" cy="1962279"/>
          </a:xfrm>
          <a:prstGeom prst="curvedConnector3">
            <a:avLst>
              <a:gd name="adj1" fmla="val 50000"/>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2" name="矩形: 圆角 231">
                <a:extLst>
                  <a:ext uri="{FF2B5EF4-FFF2-40B4-BE49-F238E27FC236}">
                    <a16:creationId xmlns:a16="http://schemas.microsoft.com/office/drawing/2014/main" id="{1F266640-BD62-AE83-A237-418165B7BC48}"/>
                  </a:ext>
                </a:extLst>
              </p:cNvPr>
              <p:cNvSpPr/>
              <p:nvPr/>
            </p:nvSpPr>
            <p:spPr>
              <a:xfrm>
                <a:off x="1154883" y="6192151"/>
                <a:ext cx="527538" cy="328246"/>
              </a:xfrm>
              <a:prstGeom prst="roundRect">
                <a:avLst/>
              </a:prstGeom>
              <a:ln w="19050"/>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2</m:t>
                          </m:r>
                        </m:sub>
                      </m:sSub>
                    </m:oMath>
                  </m:oMathPara>
                </a14:m>
                <a:endParaRPr lang="zh-CN" altLang="en-US" sz="1600" dirty="0"/>
              </a:p>
            </p:txBody>
          </p:sp>
        </mc:Choice>
        <mc:Fallback xmlns="">
          <p:sp>
            <p:nvSpPr>
              <p:cNvPr id="232" name="矩形: 圆角 231">
                <a:extLst>
                  <a:ext uri="{FF2B5EF4-FFF2-40B4-BE49-F238E27FC236}">
                    <a16:creationId xmlns:a16="http://schemas.microsoft.com/office/drawing/2014/main" id="{1F266640-BD62-AE83-A237-418165B7BC48}"/>
                  </a:ext>
                </a:extLst>
              </p:cNvPr>
              <p:cNvSpPr>
                <a:spLocks noRot="1" noChangeAspect="1" noMove="1" noResize="1" noEditPoints="1" noAdjustHandles="1" noChangeArrowheads="1" noChangeShapeType="1" noTextEdit="1"/>
              </p:cNvSpPr>
              <p:nvPr/>
            </p:nvSpPr>
            <p:spPr>
              <a:xfrm>
                <a:off x="1154883" y="6192151"/>
                <a:ext cx="527538" cy="328246"/>
              </a:xfrm>
              <a:prstGeom prst="roundRect">
                <a:avLst/>
              </a:prstGeom>
              <a:blipFill>
                <a:blip r:embed="rId11"/>
                <a:stretch>
                  <a:fillRect/>
                </a:stretch>
              </a:blipFill>
              <a:ln w="19050"/>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3" name="矩形: 圆角 232">
                <a:extLst>
                  <a:ext uri="{FF2B5EF4-FFF2-40B4-BE49-F238E27FC236}">
                    <a16:creationId xmlns:a16="http://schemas.microsoft.com/office/drawing/2014/main" id="{AAF2C33D-1F8B-E789-EE6B-FD01ED6BC0EE}"/>
                  </a:ext>
                </a:extLst>
              </p:cNvPr>
              <p:cNvSpPr/>
              <p:nvPr/>
            </p:nvSpPr>
            <p:spPr>
              <a:xfrm>
                <a:off x="2094643" y="6192151"/>
                <a:ext cx="527538" cy="328246"/>
              </a:xfrm>
              <a:prstGeom prst="roundRect">
                <a:avLst/>
              </a:prstGeom>
              <a:ln w="19050"/>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3</m:t>
                          </m:r>
                        </m:sub>
                      </m:sSub>
                    </m:oMath>
                  </m:oMathPara>
                </a14:m>
                <a:endParaRPr lang="zh-CN" altLang="en-US" sz="1600" dirty="0"/>
              </a:p>
            </p:txBody>
          </p:sp>
        </mc:Choice>
        <mc:Fallback xmlns="">
          <p:sp>
            <p:nvSpPr>
              <p:cNvPr id="233" name="矩形: 圆角 232">
                <a:extLst>
                  <a:ext uri="{FF2B5EF4-FFF2-40B4-BE49-F238E27FC236}">
                    <a16:creationId xmlns:a16="http://schemas.microsoft.com/office/drawing/2014/main" id="{AAF2C33D-1F8B-E789-EE6B-FD01ED6BC0EE}"/>
                  </a:ext>
                </a:extLst>
              </p:cNvPr>
              <p:cNvSpPr>
                <a:spLocks noRot="1" noChangeAspect="1" noMove="1" noResize="1" noEditPoints="1" noAdjustHandles="1" noChangeArrowheads="1" noChangeShapeType="1" noTextEdit="1"/>
              </p:cNvSpPr>
              <p:nvPr/>
            </p:nvSpPr>
            <p:spPr>
              <a:xfrm>
                <a:off x="2094643" y="6192151"/>
                <a:ext cx="527538" cy="328246"/>
              </a:xfrm>
              <a:prstGeom prst="roundRect">
                <a:avLst/>
              </a:prstGeom>
              <a:blipFill>
                <a:blip r:embed="rId12"/>
                <a:stretch>
                  <a:fillRect/>
                </a:stretch>
              </a:blipFill>
              <a:ln w="19050"/>
            </p:spPr>
            <p:txBody>
              <a:bodyPr/>
              <a:lstStyle/>
              <a:p>
                <a:r>
                  <a:rPr lang="zh-CN" altLang="en-US">
                    <a:noFill/>
                  </a:rPr>
                  <a:t> </a:t>
                </a:r>
              </a:p>
            </p:txBody>
          </p:sp>
        </mc:Fallback>
      </mc:AlternateContent>
      <p:sp>
        <p:nvSpPr>
          <p:cNvPr id="234" name="矩形: 圆角 233">
            <a:extLst>
              <a:ext uri="{FF2B5EF4-FFF2-40B4-BE49-F238E27FC236}">
                <a16:creationId xmlns:a16="http://schemas.microsoft.com/office/drawing/2014/main" id="{7E23AAE5-E8A5-92EF-257D-B518E4A89238}"/>
              </a:ext>
            </a:extLst>
          </p:cNvPr>
          <p:cNvSpPr/>
          <p:nvPr/>
        </p:nvSpPr>
        <p:spPr>
          <a:xfrm>
            <a:off x="1212537" y="4962939"/>
            <a:ext cx="4491815" cy="78565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LLM</a:t>
            </a:r>
            <a:endParaRPr lang="zh-CN" altLang="en-US" sz="2400" dirty="0"/>
          </a:p>
        </p:txBody>
      </p:sp>
      <mc:AlternateContent xmlns:mc="http://schemas.openxmlformats.org/markup-compatibility/2006" xmlns:a14="http://schemas.microsoft.com/office/drawing/2010/main">
        <mc:Choice Requires="a14">
          <p:sp>
            <p:nvSpPr>
              <p:cNvPr id="235" name="矩形: 圆角 234">
                <a:extLst>
                  <a:ext uri="{FF2B5EF4-FFF2-40B4-BE49-F238E27FC236}">
                    <a16:creationId xmlns:a16="http://schemas.microsoft.com/office/drawing/2014/main" id="{2A8A40F0-E418-7A14-72CC-24DC76F1A0F4}"/>
                  </a:ext>
                </a:extLst>
              </p:cNvPr>
              <p:cNvSpPr/>
              <p:nvPr/>
            </p:nvSpPr>
            <p:spPr>
              <a:xfrm>
                <a:off x="3034403" y="6189909"/>
                <a:ext cx="529200" cy="327600"/>
              </a:xfrm>
              <a:prstGeom prst="roundRect">
                <a:avLst/>
              </a:prstGeom>
              <a:ln w="19050">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4</m:t>
                          </m:r>
                        </m:sub>
                      </m:sSub>
                    </m:oMath>
                  </m:oMathPara>
                </a14:m>
                <a:endParaRPr lang="zh-CN" altLang="en-US" dirty="0"/>
              </a:p>
            </p:txBody>
          </p:sp>
        </mc:Choice>
        <mc:Fallback xmlns="">
          <p:sp>
            <p:nvSpPr>
              <p:cNvPr id="235" name="矩形: 圆角 234">
                <a:extLst>
                  <a:ext uri="{FF2B5EF4-FFF2-40B4-BE49-F238E27FC236}">
                    <a16:creationId xmlns:a16="http://schemas.microsoft.com/office/drawing/2014/main" id="{2A8A40F0-E418-7A14-72CC-24DC76F1A0F4}"/>
                  </a:ext>
                </a:extLst>
              </p:cNvPr>
              <p:cNvSpPr>
                <a:spLocks noRot="1" noChangeAspect="1" noMove="1" noResize="1" noEditPoints="1" noAdjustHandles="1" noChangeArrowheads="1" noChangeShapeType="1" noTextEdit="1"/>
              </p:cNvSpPr>
              <p:nvPr/>
            </p:nvSpPr>
            <p:spPr>
              <a:xfrm>
                <a:off x="3034403" y="6189909"/>
                <a:ext cx="529200" cy="327600"/>
              </a:xfrm>
              <a:prstGeom prst="roundRect">
                <a:avLst/>
              </a:prstGeom>
              <a:blipFill>
                <a:blip r:embed="rId13"/>
                <a:stretch>
                  <a:fillRect b="-3509"/>
                </a:stretch>
              </a:blipFill>
              <a:ln w="19050">
                <a:solidFill>
                  <a:srgbClr val="C0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6" name="矩形: 圆角 235">
                <a:extLst>
                  <a:ext uri="{FF2B5EF4-FFF2-40B4-BE49-F238E27FC236}">
                    <a16:creationId xmlns:a16="http://schemas.microsoft.com/office/drawing/2014/main" id="{09C3F3A6-AD77-F359-EAE3-5A98A18357E6}"/>
                  </a:ext>
                </a:extLst>
              </p:cNvPr>
              <p:cNvSpPr/>
              <p:nvPr/>
            </p:nvSpPr>
            <p:spPr>
              <a:xfrm>
                <a:off x="3975825" y="6189909"/>
                <a:ext cx="529200" cy="327600"/>
              </a:xfrm>
              <a:prstGeom prst="roundRect">
                <a:avLst/>
              </a:prstGeom>
              <a:ln w="19050">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5</m:t>
                          </m:r>
                        </m:sub>
                      </m:sSub>
                    </m:oMath>
                  </m:oMathPara>
                </a14:m>
                <a:endParaRPr lang="zh-CN" altLang="en-US" dirty="0"/>
              </a:p>
            </p:txBody>
          </p:sp>
        </mc:Choice>
        <mc:Fallback xmlns="">
          <p:sp>
            <p:nvSpPr>
              <p:cNvPr id="236" name="矩形: 圆角 235">
                <a:extLst>
                  <a:ext uri="{FF2B5EF4-FFF2-40B4-BE49-F238E27FC236}">
                    <a16:creationId xmlns:a16="http://schemas.microsoft.com/office/drawing/2014/main" id="{09C3F3A6-AD77-F359-EAE3-5A98A18357E6}"/>
                  </a:ext>
                </a:extLst>
              </p:cNvPr>
              <p:cNvSpPr>
                <a:spLocks noRot="1" noChangeAspect="1" noMove="1" noResize="1" noEditPoints="1" noAdjustHandles="1" noChangeArrowheads="1" noChangeShapeType="1" noTextEdit="1"/>
              </p:cNvSpPr>
              <p:nvPr/>
            </p:nvSpPr>
            <p:spPr>
              <a:xfrm>
                <a:off x="3975825" y="6189909"/>
                <a:ext cx="529200" cy="327600"/>
              </a:xfrm>
              <a:prstGeom prst="roundRect">
                <a:avLst/>
              </a:prstGeom>
              <a:blipFill>
                <a:blip r:embed="rId14"/>
                <a:stretch>
                  <a:fillRect b="-5263"/>
                </a:stretch>
              </a:blipFill>
              <a:ln w="19050">
                <a:solidFill>
                  <a:srgbClr val="C00000"/>
                </a:solidFill>
              </a:ln>
            </p:spPr>
            <p:txBody>
              <a:bodyPr/>
              <a:lstStyle/>
              <a:p>
                <a:r>
                  <a:rPr lang="zh-CN" altLang="en-US">
                    <a:noFill/>
                  </a:rPr>
                  <a:t> </a:t>
                </a:r>
              </a:p>
            </p:txBody>
          </p:sp>
        </mc:Fallback>
      </mc:AlternateContent>
      <p:cxnSp>
        <p:nvCxnSpPr>
          <p:cNvPr id="239" name="直接箭头连接符 238">
            <a:extLst>
              <a:ext uri="{FF2B5EF4-FFF2-40B4-BE49-F238E27FC236}">
                <a16:creationId xmlns:a16="http://schemas.microsoft.com/office/drawing/2014/main" id="{BC08B469-166C-8CA0-80C1-19E0DD9AE1D7}"/>
              </a:ext>
            </a:extLst>
          </p:cNvPr>
          <p:cNvCxnSpPr>
            <a:cxnSpLocks/>
            <a:stCxn id="232" idx="0"/>
          </p:cNvCxnSpPr>
          <p:nvPr/>
        </p:nvCxnSpPr>
        <p:spPr>
          <a:xfrm flipV="1">
            <a:off x="1418652" y="5746830"/>
            <a:ext cx="0" cy="44532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0" name="直接箭头连接符 239">
            <a:extLst>
              <a:ext uri="{FF2B5EF4-FFF2-40B4-BE49-F238E27FC236}">
                <a16:creationId xmlns:a16="http://schemas.microsoft.com/office/drawing/2014/main" id="{F9C6D6B9-77D9-E34D-55DF-84F2D61CA7F2}"/>
              </a:ext>
            </a:extLst>
          </p:cNvPr>
          <p:cNvCxnSpPr>
            <a:cxnSpLocks/>
            <a:stCxn id="233" idx="0"/>
          </p:cNvCxnSpPr>
          <p:nvPr/>
        </p:nvCxnSpPr>
        <p:spPr>
          <a:xfrm flipH="1" flipV="1">
            <a:off x="2358411" y="5746830"/>
            <a:ext cx="1" cy="44532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1" name="直接箭头连接符 240">
            <a:extLst>
              <a:ext uri="{FF2B5EF4-FFF2-40B4-BE49-F238E27FC236}">
                <a16:creationId xmlns:a16="http://schemas.microsoft.com/office/drawing/2014/main" id="{25851F58-122D-78FC-FC0F-7E2DFE393D81}"/>
              </a:ext>
            </a:extLst>
          </p:cNvPr>
          <p:cNvCxnSpPr>
            <a:cxnSpLocks/>
            <a:stCxn id="235" idx="0"/>
          </p:cNvCxnSpPr>
          <p:nvPr/>
        </p:nvCxnSpPr>
        <p:spPr>
          <a:xfrm flipV="1">
            <a:off x="3299003" y="5746830"/>
            <a:ext cx="0" cy="44307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2" name="直接箭头连接符 241">
            <a:extLst>
              <a:ext uri="{FF2B5EF4-FFF2-40B4-BE49-F238E27FC236}">
                <a16:creationId xmlns:a16="http://schemas.microsoft.com/office/drawing/2014/main" id="{A5AB4F1A-5FC6-8806-73A6-F04CD9AEDFF7}"/>
              </a:ext>
            </a:extLst>
          </p:cNvPr>
          <p:cNvCxnSpPr>
            <a:cxnSpLocks/>
            <a:stCxn id="236" idx="0"/>
          </p:cNvCxnSpPr>
          <p:nvPr/>
        </p:nvCxnSpPr>
        <p:spPr>
          <a:xfrm flipH="1" flipV="1">
            <a:off x="4239594" y="5746830"/>
            <a:ext cx="831" cy="44307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3" name="矩形: 圆角 242">
                <a:extLst>
                  <a:ext uri="{FF2B5EF4-FFF2-40B4-BE49-F238E27FC236}">
                    <a16:creationId xmlns:a16="http://schemas.microsoft.com/office/drawing/2014/main" id="{826771AE-71A6-0CD4-99CB-74A8603BC68E}"/>
                  </a:ext>
                </a:extLst>
              </p:cNvPr>
              <p:cNvSpPr/>
              <p:nvPr/>
            </p:nvSpPr>
            <p:spPr>
              <a:xfrm>
                <a:off x="2094642" y="4227307"/>
                <a:ext cx="527538" cy="328246"/>
              </a:xfrm>
              <a:prstGeom prst="roundRect">
                <a:avLst/>
              </a:prstGeom>
              <a:ln w="19050"/>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𝑝</m:t>
                          </m:r>
                        </m:e>
                        <m:sub>
                          <m:r>
                            <a:rPr lang="en-US" altLang="zh-CN" sz="1600" b="0" i="1" smtClean="0">
                              <a:latin typeface="Cambria Math" panose="02040503050406030204" pitchFamily="18" charset="0"/>
                            </a:rPr>
                            <m:t>4</m:t>
                          </m:r>
                        </m:sub>
                      </m:sSub>
                    </m:oMath>
                  </m:oMathPara>
                </a14:m>
                <a:endParaRPr lang="zh-CN" altLang="en-US" sz="1600" dirty="0"/>
              </a:p>
            </p:txBody>
          </p:sp>
        </mc:Choice>
        <mc:Fallback xmlns="">
          <p:sp>
            <p:nvSpPr>
              <p:cNvPr id="243" name="矩形: 圆角 242">
                <a:extLst>
                  <a:ext uri="{FF2B5EF4-FFF2-40B4-BE49-F238E27FC236}">
                    <a16:creationId xmlns:a16="http://schemas.microsoft.com/office/drawing/2014/main" id="{826771AE-71A6-0CD4-99CB-74A8603BC68E}"/>
                  </a:ext>
                </a:extLst>
              </p:cNvPr>
              <p:cNvSpPr>
                <a:spLocks noRot="1" noChangeAspect="1" noMove="1" noResize="1" noEditPoints="1" noAdjustHandles="1" noChangeArrowheads="1" noChangeShapeType="1" noTextEdit="1"/>
              </p:cNvSpPr>
              <p:nvPr/>
            </p:nvSpPr>
            <p:spPr>
              <a:xfrm>
                <a:off x="2094642" y="4227307"/>
                <a:ext cx="527538" cy="328246"/>
              </a:xfrm>
              <a:prstGeom prst="roundRect">
                <a:avLst/>
              </a:prstGeom>
              <a:blipFill>
                <a:blip r:embed="rId15"/>
                <a:stretch>
                  <a:fillRect b="-3509"/>
                </a:stretch>
              </a:blipFill>
              <a:ln w="19050"/>
            </p:spPr>
            <p:txBody>
              <a:bodyPr/>
              <a:lstStyle/>
              <a:p>
                <a:r>
                  <a:rPr lang="zh-CN" altLang="en-US">
                    <a:noFill/>
                  </a:rPr>
                  <a:t> </a:t>
                </a:r>
              </a:p>
            </p:txBody>
          </p:sp>
        </mc:Fallback>
      </mc:AlternateContent>
      <p:cxnSp>
        <p:nvCxnSpPr>
          <p:cNvPr id="244" name="直接箭头连接符 243">
            <a:extLst>
              <a:ext uri="{FF2B5EF4-FFF2-40B4-BE49-F238E27FC236}">
                <a16:creationId xmlns:a16="http://schemas.microsoft.com/office/drawing/2014/main" id="{8D01D2B5-EE81-93AA-F82B-BB1B04EED75D}"/>
              </a:ext>
            </a:extLst>
          </p:cNvPr>
          <p:cNvCxnSpPr>
            <a:cxnSpLocks/>
            <a:endCxn id="243" idx="2"/>
          </p:cNvCxnSpPr>
          <p:nvPr/>
        </p:nvCxnSpPr>
        <p:spPr>
          <a:xfrm flipV="1">
            <a:off x="2358411" y="4555553"/>
            <a:ext cx="0" cy="388603"/>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5" name="矩形: 圆角 244">
                <a:extLst>
                  <a:ext uri="{FF2B5EF4-FFF2-40B4-BE49-F238E27FC236}">
                    <a16:creationId xmlns:a16="http://schemas.microsoft.com/office/drawing/2014/main" id="{A38A7673-FC4A-9A4D-06AA-7E268FC09AB6}"/>
                  </a:ext>
                </a:extLst>
              </p:cNvPr>
              <p:cNvSpPr/>
              <p:nvPr/>
            </p:nvSpPr>
            <p:spPr>
              <a:xfrm>
                <a:off x="3031452" y="4227307"/>
                <a:ext cx="527538" cy="328246"/>
              </a:xfrm>
              <a:prstGeom prst="roundRect">
                <a:avLst/>
              </a:prstGeom>
              <a:ln w="19050"/>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𝑝</m:t>
                          </m:r>
                        </m:e>
                        <m:sub>
                          <m:r>
                            <a:rPr lang="en-US" altLang="zh-CN" sz="1600" b="0" i="1" smtClean="0">
                              <a:latin typeface="Cambria Math" panose="02040503050406030204" pitchFamily="18" charset="0"/>
                            </a:rPr>
                            <m:t>5</m:t>
                          </m:r>
                        </m:sub>
                      </m:sSub>
                    </m:oMath>
                  </m:oMathPara>
                </a14:m>
                <a:endParaRPr lang="zh-CN" altLang="en-US" sz="1600" dirty="0"/>
              </a:p>
            </p:txBody>
          </p:sp>
        </mc:Choice>
        <mc:Fallback xmlns="">
          <p:sp>
            <p:nvSpPr>
              <p:cNvPr id="245" name="矩形: 圆角 244">
                <a:extLst>
                  <a:ext uri="{FF2B5EF4-FFF2-40B4-BE49-F238E27FC236}">
                    <a16:creationId xmlns:a16="http://schemas.microsoft.com/office/drawing/2014/main" id="{A38A7673-FC4A-9A4D-06AA-7E268FC09AB6}"/>
                  </a:ext>
                </a:extLst>
              </p:cNvPr>
              <p:cNvSpPr>
                <a:spLocks noRot="1" noChangeAspect="1" noMove="1" noResize="1" noEditPoints="1" noAdjustHandles="1" noChangeArrowheads="1" noChangeShapeType="1" noTextEdit="1"/>
              </p:cNvSpPr>
              <p:nvPr/>
            </p:nvSpPr>
            <p:spPr>
              <a:xfrm>
                <a:off x="3031452" y="4227307"/>
                <a:ext cx="527538" cy="328246"/>
              </a:xfrm>
              <a:prstGeom prst="roundRect">
                <a:avLst/>
              </a:prstGeom>
              <a:blipFill>
                <a:blip r:embed="rId16"/>
                <a:stretch>
                  <a:fillRect b="-3509"/>
                </a:stretch>
              </a:blipFill>
              <a:ln w="19050"/>
            </p:spPr>
            <p:txBody>
              <a:bodyPr/>
              <a:lstStyle/>
              <a:p>
                <a:r>
                  <a:rPr lang="zh-CN" altLang="en-US">
                    <a:noFill/>
                  </a:rPr>
                  <a:t> </a:t>
                </a:r>
              </a:p>
            </p:txBody>
          </p:sp>
        </mc:Fallback>
      </mc:AlternateContent>
      <p:cxnSp>
        <p:nvCxnSpPr>
          <p:cNvPr id="246" name="直接箭头连接符 245">
            <a:extLst>
              <a:ext uri="{FF2B5EF4-FFF2-40B4-BE49-F238E27FC236}">
                <a16:creationId xmlns:a16="http://schemas.microsoft.com/office/drawing/2014/main" id="{8571936B-0D74-F7F8-9263-1EB1623CE763}"/>
              </a:ext>
            </a:extLst>
          </p:cNvPr>
          <p:cNvCxnSpPr>
            <a:cxnSpLocks/>
            <a:endCxn id="245" idx="2"/>
          </p:cNvCxnSpPr>
          <p:nvPr/>
        </p:nvCxnSpPr>
        <p:spPr>
          <a:xfrm flipV="1">
            <a:off x="3295221" y="4555553"/>
            <a:ext cx="0" cy="388603"/>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7" name="矩形: 圆角 246">
                <a:extLst>
                  <a:ext uri="{FF2B5EF4-FFF2-40B4-BE49-F238E27FC236}">
                    <a16:creationId xmlns:a16="http://schemas.microsoft.com/office/drawing/2014/main" id="{F18F744D-B245-ABCE-B932-EA15BEF52AB3}"/>
                  </a:ext>
                </a:extLst>
              </p:cNvPr>
              <p:cNvSpPr/>
              <p:nvPr/>
            </p:nvSpPr>
            <p:spPr>
              <a:xfrm>
                <a:off x="3975825" y="4227307"/>
                <a:ext cx="527538" cy="328246"/>
              </a:xfrm>
              <a:prstGeom prst="roundRect">
                <a:avLst/>
              </a:prstGeom>
              <a:ln w="19050"/>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𝑝</m:t>
                          </m:r>
                        </m:e>
                        <m:sub>
                          <m:r>
                            <a:rPr lang="en-US" altLang="zh-CN" sz="1600" b="0" i="1" smtClean="0">
                              <a:latin typeface="Cambria Math" panose="02040503050406030204" pitchFamily="18" charset="0"/>
                            </a:rPr>
                            <m:t>6</m:t>
                          </m:r>
                        </m:sub>
                      </m:sSub>
                    </m:oMath>
                  </m:oMathPara>
                </a14:m>
                <a:endParaRPr lang="zh-CN" altLang="en-US" sz="1600" dirty="0"/>
              </a:p>
            </p:txBody>
          </p:sp>
        </mc:Choice>
        <mc:Fallback xmlns="">
          <p:sp>
            <p:nvSpPr>
              <p:cNvPr id="247" name="矩形: 圆角 246">
                <a:extLst>
                  <a:ext uri="{FF2B5EF4-FFF2-40B4-BE49-F238E27FC236}">
                    <a16:creationId xmlns:a16="http://schemas.microsoft.com/office/drawing/2014/main" id="{F18F744D-B245-ABCE-B932-EA15BEF52AB3}"/>
                  </a:ext>
                </a:extLst>
              </p:cNvPr>
              <p:cNvSpPr>
                <a:spLocks noRot="1" noChangeAspect="1" noMove="1" noResize="1" noEditPoints="1" noAdjustHandles="1" noChangeArrowheads="1" noChangeShapeType="1" noTextEdit="1"/>
              </p:cNvSpPr>
              <p:nvPr/>
            </p:nvSpPr>
            <p:spPr>
              <a:xfrm>
                <a:off x="3975825" y="4227307"/>
                <a:ext cx="527538" cy="328246"/>
              </a:xfrm>
              <a:prstGeom prst="roundRect">
                <a:avLst/>
              </a:prstGeom>
              <a:blipFill>
                <a:blip r:embed="rId17"/>
                <a:stretch>
                  <a:fillRect b="-3509"/>
                </a:stretch>
              </a:blipFill>
              <a:ln w="19050"/>
            </p:spPr>
            <p:txBody>
              <a:bodyPr/>
              <a:lstStyle/>
              <a:p>
                <a:r>
                  <a:rPr lang="zh-CN" altLang="en-US">
                    <a:noFill/>
                  </a:rPr>
                  <a:t> </a:t>
                </a:r>
              </a:p>
            </p:txBody>
          </p:sp>
        </mc:Fallback>
      </mc:AlternateContent>
      <p:cxnSp>
        <p:nvCxnSpPr>
          <p:cNvPr id="248" name="直接箭头连接符 247">
            <a:extLst>
              <a:ext uri="{FF2B5EF4-FFF2-40B4-BE49-F238E27FC236}">
                <a16:creationId xmlns:a16="http://schemas.microsoft.com/office/drawing/2014/main" id="{08124783-EEBD-50E2-6A58-423FE009896A}"/>
              </a:ext>
            </a:extLst>
          </p:cNvPr>
          <p:cNvCxnSpPr>
            <a:cxnSpLocks/>
            <a:endCxn id="247" idx="2"/>
          </p:cNvCxnSpPr>
          <p:nvPr/>
        </p:nvCxnSpPr>
        <p:spPr>
          <a:xfrm flipV="1">
            <a:off x="4239594" y="4555553"/>
            <a:ext cx="0" cy="407386"/>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3" name="文本框 252">
            <a:extLst>
              <a:ext uri="{FF2B5EF4-FFF2-40B4-BE49-F238E27FC236}">
                <a16:creationId xmlns:a16="http://schemas.microsoft.com/office/drawing/2014/main" id="{D472C25E-1717-130A-0173-FF768BF8567D}"/>
              </a:ext>
            </a:extLst>
          </p:cNvPr>
          <p:cNvSpPr txBox="1"/>
          <p:nvPr/>
        </p:nvSpPr>
        <p:spPr>
          <a:xfrm>
            <a:off x="361202" y="1278502"/>
            <a:ext cx="712931" cy="494751"/>
          </a:xfrm>
          <a:prstGeom prst="rect">
            <a:avLst/>
          </a:prstGeom>
          <a:noFill/>
        </p:spPr>
        <p:txBody>
          <a:bodyPr wrap="square" rtlCol="0" anchor="ctr">
            <a:spAutoFit/>
          </a:bodyPr>
          <a:lstStyle/>
          <a:p>
            <a:pPr algn="ctr">
              <a:lnSpc>
                <a:spcPct val="120000"/>
              </a:lnSpc>
            </a:pPr>
            <a:r>
              <a:rPr lang="en-US" altLang="zh-CN" sz="2400" b="1" dirty="0">
                <a:solidFill>
                  <a:schemeClr val="tx1">
                    <a:lumMod val="75000"/>
                    <a:lumOff val="25000"/>
                  </a:schemeClr>
                </a:solidFill>
              </a:rPr>
              <a:t>(1)</a:t>
            </a:r>
            <a:endParaRPr lang="zh-CN" altLang="en-US" sz="2400" b="1" dirty="0">
              <a:solidFill>
                <a:schemeClr val="tx1">
                  <a:lumMod val="75000"/>
                  <a:lumOff val="25000"/>
                </a:schemeClr>
              </a:solidFill>
            </a:endParaRPr>
          </a:p>
        </p:txBody>
      </p:sp>
      <p:sp>
        <p:nvSpPr>
          <p:cNvPr id="254" name="文本框 253">
            <a:extLst>
              <a:ext uri="{FF2B5EF4-FFF2-40B4-BE49-F238E27FC236}">
                <a16:creationId xmlns:a16="http://schemas.microsoft.com/office/drawing/2014/main" id="{A0E7B491-1EA7-CF9E-1E50-5F87FAC0ADCB}"/>
              </a:ext>
            </a:extLst>
          </p:cNvPr>
          <p:cNvSpPr txBox="1"/>
          <p:nvPr/>
        </p:nvSpPr>
        <p:spPr>
          <a:xfrm>
            <a:off x="445476" y="4060802"/>
            <a:ext cx="712931" cy="494751"/>
          </a:xfrm>
          <a:prstGeom prst="rect">
            <a:avLst/>
          </a:prstGeom>
          <a:noFill/>
        </p:spPr>
        <p:txBody>
          <a:bodyPr wrap="square" rtlCol="0" anchor="ctr">
            <a:spAutoFit/>
          </a:bodyPr>
          <a:lstStyle/>
          <a:p>
            <a:pPr algn="ctr">
              <a:lnSpc>
                <a:spcPct val="120000"/>
              </a:lnSpc>
            </a:pPr>
            <a:r>
              <a:rPr lang="en-US" altLang="zh-CN" sz="2400" b="1" dirty="0">
                <a:solidFill>
                  <a:schemeClr val="tx1">
                    <a:lumMod val="75000"/>
                    <a:lumOff val="25000"/>
                  </a:schemeClr>
                </a:solidFill>
              </a:rPr>
              <a:t>(2)</a:t>
            </a:r>
            <a:endParaRPr lang="zh-CN" altLang="en-US" sz="2400" b="1" dirty="0">
              <a:solidFill>
                <a:schemeClr val="tx1">
                  <a:lumMod val="75000"/>
                  <a:lumOff val="25000"/>
                </a:schemeClr>
              </a:solidFill>
            </a:endParaRPr>
          </a:p>
        </p:txBody>
      </p:sp>
      <mc:AlternateContent xmlns:mc="http://schemas.openxmlformats.org/markup-compatibility/2006" xmlns:a14="http://schemas.microsoft.com/office/drawing/2010/main">
        <mc:Choice Requires="a14">
          <p:sp>
            <p:nvSpPr>
              <p:cNvPr id="258" name="文本框 257">
                <a:extLst>
                  <a:ext uri="{FF2B5EF4-FFF2-40B4-BE49-F238E27FC236}">
                    <a16:creationId xmlns:a16="http://schemas.microsoft.com/office/drawing/2014/main" id="{4ACDBBC5-1895-A384-4361-DC30EBF35C68}"/>
                  </a:ext>
                </a:extLst>
              </p:cNvPr>
              <p:cNvSpPr txBox="1"/>
              <p:nvPr/>
            </p:nvSpPr>
            <p:spPr>
              <a:xfrm>
                <a:off x="6403788" y="1093836"/>
                <a:ext cx="5565474" cy="3151632"/>
              </a:xfrm>
              <a:prstGeom prst="rect">
                <a:avLst/>
              </a:prstGeom>
              <a:noFill/>
            </p:spPr>
            <p:txBody>
              <a:bodyPr wrap="square" rtlCol="0" anchor="ctr">
                <a:spAutoFit/>
              </a:bodyPr>
              <a:lstStyle/>
              <a:p>
                <a:pPr marL="457200" indent="-457200">
                  <a:lnSpc>
                    <a:spcPct val="120000"/>
                  </a:lnSpc>
                  <a:spcAft>
                    <a:spcPts val="1200"/>
                  </a:spcAft>
                  <a:buAutoNum type="arabicParenBoth" startAt="3"/>
                </a:pPr>
                <a:r>
                  <a:rPr lang="zh-CN" altLang="en-US" sz="2400" b="1" dirty="0">
                    <a:solidFill>
                      <a:schemeClr val="tx1">
                        <a:lumMod val="75000"/>
                        <a:lumOff val="25000"/>
                      </a:schemeClr>
                    </a:solidFill>
                  </a:rPr>
                  <a:t>验证</a:t>
                </a:r>
                <a:endParaRPr lang="en-US" altLang="zh-CN" sz="2400" b="1" dirty="0">
                  <a:solidFill>
                    <a:schemeClr val="tx1">
                      <a:lumMod val="75000"/>
                      <a:lumOff val="25000"/>
                    </a:schemeClr>
                  </a:solidFill>
                </a:endParaRPr>
              </a:p>
              <a:p>
                <a:pPr marL="914400" lvl="1" indent="-457200">
                  <a:lnSpc>
                    <a:spcPct val="120000"/>
                  </a:lnSpc>
                  <a:spcAft>
                    <a:spcPts val="1200"/>
                  </a:spcAft>
                  <a:buFont typeface="Arial" panose="020B0604020202020204" pitchFamily="34" charset="0"/>
                  <a:buChar char="•"/>
                </a:pPr>
                <a:r>
                  <a:rPr lang="zh-CN" altLang="en-US" sz="2000" dirty="0">
                    <a:solidFill>
                      <a:schemeClr val="tx1">
                        <a:lumMod val="75000"/>
                        <a:lumOff val="25000"/>
                      </a:schemeClr>
                    </a:solidFill>
                  </a:rPr>
                  <a:t>如果</a:t>
                </a:r>
                <a14:m>
                  <m:oMath xmlns:m="http://schemas.openxmlformats.org/officeDocument/2006/math">
                    <m:sSub>
                      <m:sSubPr>
                        <m:ctrlPr>
                          <a:rPr lang="en-US" altLang="zh-CN" sz="2000" b="0" i="1" smtClean="0">
                            <a:solidFill>
                              <a:schemeClr val="tx1">
                                <a:lumMod val="75000"/>
                                <a:lumOff val="25000"/>
                              </a:schemeClr>
                            </a:solidFill>
                            <a:latin typeface="Cambria Math" panose="02040503050406030204" pitchFamily="18" charset="0"/>
                          </a:rPr>
                        </m:ctrlPr>
                      </m:sSubPr>
                      <m:e>
                        <m:r>
                          <a:rPr lang="en-US" altLang="zh-CN" sz="2000" b="0" i="1" smtClean="0">
                            <a:solidFill>
                              <a:schemeClr val="tx1">
                                <a:lumMod val="75000"/>
                                <a:lumOff val="25000"/>
                              </a:schemeClr>
                            </a:solidFill>
                            <a:latin typeface="Cambria Math" panose="02040503050406030204" pitchFamily="18" charset="0"/>
                          </a:rPr>
                          <m:t>𝑞</m:t>
                        </m:r>
                      </m:e>
                      <m:sub>
                        <m:r>
                          <a:rPr lang="en-US" altLang="zh-CN" sz="2000" b="0" i="1" smtClean="0">
                            <a:solidFill>
                              <a:schemeClr val="tx1">
                                <a:lumMod val="75000"/>
                                <a:lumOff val="25000"/>
                              </a:schemeClr>
                            </a:solidFill>
                            <a:latin typeface="Cambria Math" panose="02040503050406030204" pitchFamily="18" charset="0"/>
                          </a:rPr>
                          <m:t>𝑖</m:t>
                        </m:r>
                      </m:sub>
                    </m:sSub>
                    <m:r>
                      <a:rPr lang="en-US" altLang="zh-CN" sz="2000" b="0" i="1" smtClean="0">
                        <a:solidFill>
                          <a:schemeClr val="tx1">
                            <a:lumMod val="75000"/>
                            <a:lumOff val="25000"/>
                          </a:schemeClr>
                        </a:solidFill>
                        <a:latin typeface="Cambria Math" panose="02040503050406030204" pitchFamily="18" charset="0"/>
                      </a:rPr>
                      <m:t>(</m:t>
                    </m:r>
                    <m:sSub>
                      <m:sSubPr>
                        <m:ctrlPr>
                          <a:rPr lang="en-US" altLang="zh-CN" sz="2000" b="0" i="1" smtClean="0">
                            <a:solidFill>
                              <a:schemeClr val="tx1">
                                <a:lumMod val="75000"/>
                                <a:lumOff val="25000"/>
                              </a:schemeClr>
                            </a:solidFill>
                            <a:latin typeface="Cambria Math" panose="02040503050406030204" pitchFamily="18" charset="0"/>
                          </a:rPr>
                        </m:ctrlPr>
                      </m:sSubPr>
                      <m:e>
                        <m:r>
                          <a:rPr lang="en-US" altLang="zh-CN" sz="2000" b="0" i="1" smtClean="0">
                            <a:solidFill>
                              <a:schemeClr val="tx1">
                                <a:lumMod val="75000"/>
                                <a:lumOff val="25000"/>
                              </a:schemeClr>
                            </a:solidFill>
                            <a:latin typeface="Cambria Math" panose="02040503050406030204" pitchFamily="18" charset="0"/>
                          </a:rPr>
                          <m:t>𝑡</m:t>
                        </m:r>
                      </m:e>
                      <m:sub>
                        <m:r>
                          <a:rPr lang="en-US" altLang="zh-CN" sz="2000" b="0" i="1" smtClean="0">
                            <a:solidFill>
                              <a:schemeClr val="tx1">
                                <a:lumMod val="75000"/>
                                <a:lumOff val="25000"/>
                              </a:schemeClr>
                            </a:solidFill>
                            <a:latin typeface="Cambria Math" panose="02040503050406030204" pitchFamily="18" charset="0"/>
                          </a:rPr>
                          <m:t>𝑖</m:t>
                        </m:r>
                      </m:sub>
                    </m:sSub>
                    <m:r>
                      <a:rPr lang="en-US" altLang="zh-CN" sz="2000" b="0" i="1" smtClean="0">
                        <a:solidFill>
                          <a:schemeClr val="tx1">
                            <a:lumMod val="75000"/>
                            <a:lumOff val="25000"/>
                          </a:schemeClr>
                        </a:solidFill>
                        <a:latin typeface="Cambria Math" panose="02040503050406030204" pitchFamily="18" charset="0"/>
                      </a:rPr>
                      <m:t>)&lt;</m:t>
                    </m:r>
                    <m:sSub>
                      <m:sSubPr>
                        <m:ctrlPr>
                          <a:rPr lang="en-US" altLang="zh-CN" sz="2000" b="0" i="1" smtClean="0">
                            <a:solidFill>
                              <a:schemeClr val="tx1">
                                <a:lumMod val="75000"/>
                                <a:lumOff val="25000"/>
                              </a:schemeClr>
                            </a:solidFill>
                            <a:latin typeface="Cambria Math" panose="02040503050406030204" pitchFamily="18" charset="0"/>
                          </a:rPr>
                        </m:ctrlPr>
                      </m:sSubPr>
                      <m:e>
                        <m:r>
                          <a:rPr lang="en-US" altLang="zh-CN" sz="2000" b="0" i="1" smtClean="0">
                            <a:solidFill>
                              <a:schemeClr val="tx1">
                                <a:lumMod val="75000"/>
                                <a:lumOff val="25000"/>
                              </a:schemeClr>
                            </a:solidFill>
                            <a:latin typeface="Cambria Math" panose="02040503050406030204" pitchFamily="18" charset="0"/>
                          </a:rPr>
                          <m:t>𝑝</m:t>
                        </m:r>
                      </m:e>
                      <m:sub>
                        <m:r>
                          <a:rPr lang="en-US" altLang="zh-CN" sz="2000" b="0" i="1" smtClean="0">
                            <a:solidFill>
                              <a:schemeClr val="tx1">
                                <a:lumMod val="75000"/>
                                <a:lumOff val="25000"/>
                              </a:schemeClr>
                            </a:solidFill>
                            <a:latin typeface="Cambria Math" panose="02040503050406030204" pitchFamily="18" charset="0"/>
                          </a:rPr>
                          <m:t>𝑖</m:t>
                        </m:r>
                      </m:sub>
                    </m:sSub>
                    <m:r>
                      <a:rPr lang="en-US" altLang="zh-CN" sz="2000" b="0" i="1" smtClean="0">
                        <a:solidFill>
                          <a:schemeClr val="tx1">
                            <a:lumMod val="75000"/>
                            <a:lumOff val="25000"/>
                          </a:schemeClr>
                        </a:solidFill>
                        <a:latin typeface="Cambria Math" panose="02040503050406030204" pitchFamily="18" charset="0"/>
                      </a:rPr>
                      <m:t>(</m:t>
                    </m:r>
                    <m:sSub>
                      <m:sSubPr>
                        <m:ctrlPr>
                          <a:rPr lang="en-US" altLang="zh-CN" sz="2000" b="0" i="1" smtClean="0">
                            <a:solidFill>
                              <a:schemeClr val="tx1">
                                <a:lumMod val="75000"/>
                                <a:lumOff val="25000"/>
                              </a:schemeClr>
                            </a:solidFill>
                            <a:latin typeface="Cambria Math" panose="02040503050406030204" pitchFamily="18" charset="0"/>
                          </a:rPr>
                        </m:ctrlPr>
                      </m:sSubPr>
                      <m:e>
                        <m:r>
                          <a:rPr lang="en-US" altLang="zh-CN" sz="2000" b="0" i="1" smtClean="0">
                            <a:solidFill>
                              <a:schemeClr val="tx1">
                                <a:lumMod val="75000"/>
                                <a:lumOff val="25000"/>
                              </a:schemeClr>
                            </a:solidFill>
                            <a:latin typeface="Cambria Math" panose="02040503050406030204" pitchFamily="18" charset="0"/>
                          </a:rPr>
                          <m:t>𝑡</m:t>
                        </m:r>
                      </m:e>
                      <m:sub>
                        <m:r>
                          <a:rPr lang="en-US" altLang="zh-CN" sz="2000" b="0" i="1" smtClean="0">
                            <a:solidFill>
                              <a:schemeClr val="tx1">
                                <a:lumMod val="75000"/>
                                <a:lumOff val="25000"/>
                              </a:schemeClr>
                            </a:solidFill>
                            <a:latin typeface="Cambria Math" panose="02040503050406030204" pitchFamily="18" charset="0"/>
                          </a:rPr>
                          <m:t>𝑖</m:t>
                        </m:r>
                      </m:sub>
                    </m:sSub>
                    <m:r>
                      <a:rPr lang="en-US" altLang="zh-CN" sz="2000" b="0" i="1" smtClean="0">
                        <a:solidFill>
                          <a:schemeClr val="tx1">
                            <a:lumMod val="75000"/>
                            <a:lumOff val="25000"/>
                          </a:schemeClr>
                        </a:solidFill>
                        <a:latin typeface="Cambria Math" panose="02040503050406030204" pitchFamily="18" charset="0"/>
                      </a:rPr>
                      <m:t>)</m:t>
                    </m:r>
                  </m:oMath>
                </a14:m>
                <a:r>
                  <a:rPr lang="zh-CN" altLang="en-US" sz="2000" dirty="0">
                    <a:solidFill>
                      <a:schemeClr val="tx1">
                        <a:lumMod val="75000"/>
                        <a:lumOff val="25000"/>
                      </a:schemeClr>
                    </a:solidFill>
                  </a:rPr>
                  <a:t>，接受</a:t>
                </a:r>
                <a14:m>
                  <m:oMath xmlns:m="http://schemas.openxmlformats.org/officeDocument/2006/math">
                    <m:sSub>
                      <m:sSubPr>
                        <m:ctrlPr>
                          <a:rPr lang="en-US" altLang="zh-CN" sz="2000" i="1" dirty="0" smtClean="0">
                            <a:solidFill>
                              <a:schemeClr val="tx1">
                                <a:lumMod val="75000"/>
                                <a:lumOff val="25000"/>
                              </a:schemeClr>
                            </a:solidFill>
                            <a:latin typeface="Cambria Math" panose="02040503050406030204" pitchFamily="18" charset="0"/>
                          </a:rPr>
                        </m:ctrlPr>
                      </m:sSubPr>
                      <m:e>
                        <m:r>
                          <a:rPr lang="en-US" altLang="zh-CN" sz="2000" i="1" dirty="0" smtClean="0">
                            <a:solidFill>
                              <a:schemeClr val="tx1">
                                <a:lumMod val="75000"/>
                                <a:lumOff val="25000"/>
                              </a:schemeClr>
                            </a:solidFill>
                            <a:latin typeface="Cambria Math" panose="02040503050406030204" pitchFamily="18" charset="0"/>
                          </a:rPr>
                          <m:t>𝑡</m:t>
                        </m:r>
                      </m:e>
                      <m:sub>
                        <m:r>
                          <a:rPr lang="en-US" altLang="zh-CN" sz="2000" i="1" dirty="0" smtClean="0">
                            <a:solidFill>
                              <a:schemeClr val="tx1">
                                <a:lumMod val="75000"/>
                                <a:lumOff val="25000"/>
                              </a:schemeClr>
                            </a:solidFill>
                            <a:latin typeface="Cambria Math" panose="02040503050406030204" pitchFamily="18" charset="0"/>
                          </a:rPr>
                          <m:t>𝑖</m:t>
                        </m:r>
                      </m:sub>
                    </m:sSub>
                  </m:oMath>
                </a14:m>
                <a:endParaRPr lang="en-US" altLang="zh-CN" sz="2000" dirty="0">
                  <a:solidFill>
                    <a:schemeClr val="tx1">
                      <a:lumMod val="75000"/>
                      <a:lumOff val="25000"/>
                    </a:schemeClr>
                  </a:solidFill>
                </a:endParaRPr>
              </a:p>
              <a:p>
                <a:pPr marL="914400" lvl="1" indent="-457200">
                  <a:lnSpc>
                    <a:spcPct val="120000"/>
                  </a:lnSpc>
                  <a:spcAft>
                    <a:spcPts val="1200"/>
                  </a:spcAft>
                  <a:buFont typeface="Arial" panose="020B0604020202020204" pitchFamily="34" charset="0"/>
                  <a:buChar char="•"/>
                </a:pPr>
                <a:r>
                  <a:rPr lang="zh-CN" altLang="en-US" sz="2000" dirty="0">
                    <a:solidFill>
                      <a:schemeClr val="tx1">
                        <a:lumMod val="75000"/>
                        <a:lumOff val="25000"/>
                      </a:schemeClr>
                    </a:solidFill>
                  </a:rPr>
                  <a:t>反之以</a:t>
                </a:r>
                <a14:m>
                  <m:oMath xmlns:m="http://schemas.openxmlformats.org/officeDocument/2006/math">
                    <m:sSub>
                      <m:sSubPr>
                        <m:ctrlPr>
                          <a:rPr lang="en-US" altLang="zh-CN" sz="2000" b="0" i="1" smtClean="0">
                            <a:solidFill>
                              <a:schemeClr val="tx1">
                                <a:lumMod val="75000"/>
                                <a:lumOff val="25000"/>
                              </a:schemeClr>
                            </a:solidFill>
                            <a:latin typeface="Cambria Math" panose="02040503050406030204" pitchFamily="18" charset="0"/>
                          </a:rPr>
                        </m:ctrlPr>
                      </m:sSubPr>
                      <m:e>
                        <m:r>
                          <a:rPr lang="en-US" altLang="zh-CN" sz="2000" b="0" i="1" smtClean="0">
                            <a:solidFill>
                              <a:schemeClr val="tx1">
                                <a:lumMod val="75000"/>
                                <a:lumOff val="25000"/>
                              </a:schemeClr>
                            </a:solidFill>
                            <a:latin typeface="Cambria Math" panose="02040503050406030204" pitchFamily="18" charset="0"/>
                          </a:rPr>
                          <m:t>𝑝</m:t>
                        </m:r>
                      </m:e>
                      <m:sub>
                        <m:r>
                          <a:rPr lang="en-US" altLang="zh-CN" sz="2000" b="0" i="1" smtClean="0">
                            <a:solidFill>
                              <a:schemeClr val="tx1">
                                <a:lumMod val="75000"/>
                                <a:lumOff val="25000"/>
                              </a:schemeClr>
                            </a:solidFill>
                            <a:latin typeface="Cambria Math" panose="02040503050406030204" pitchFamily="18" charset="0"/>
                          </a:rPr>
                          <m:t>𝑖</m:t>
                        </m:r>
                      </m:sub>
                    </m:sSub>
                    <m:r>
                      <a:rPr lang="en-US" altLang="zh-CN" sz="2000" b="0" i="1" smtClean="0">
                        <a:solidFill>
                          <a:schemeClr val="tx1">
                            <a:lumMod val="75000"/>
                            <a:lumOff val="25000"/>
                          </a:schemeClr>
                        </a:solidFill>
                        <a:latin typeface="Cambria Math" panose="02040503050406030204" pitchFamily="18" charset="0"/>
                      </a:rPr>
                      <m:t>(</m:t>
                    </m:r>
                    <m:sSub>
                      <m:sSubPr>
                        <m:ctrlPr>
                          <a:rPr lang="en-US" altLang="zh-CN" sz="2000" b="0" i="1" smtClean="0">
                            <a:solidFill>
                              <a:schemeClr val="tx1">
                                <a:lumMod val="75000"/>
                                <a:lumOff val="25000"/>
                              </a:schemeClr>
                            </a:solidFill>
                            <a:latin typeface="Cambria Math" panose="02040503050406030204" pitchFamily="18" charset="0"/>
                          </a:rPr>
                        </m:ctrlPr>
                      </m:sSubPr>
                      <m:e>
                        <m:r>
                          <a:rPr lang="en-US" altLang="zh-CN" sz="2000" b="0" i="1" smtClean="0">
                            <a:solidFill>
                              <a:schemeClr val="tx1">
                                <a:lumMod val="75000"/>
                                <a:lumOff val="25000"/>
                              </a:schemeClr>
                            </a:solidFill>
                            <a:latin typeface="Cambria Math" panose="02040503050406030204" pitchFamily="18" charset="0"/>
                          </a:rPr>
                          <m:t>𝑡</m:t>
                        </m:r>
                      </m:e>
                      <m:sub>
                        <m:r>
                          <a:rPr lang="en-US" altLang="zh-CN" sz="2000" b="0" i="1" smtClean="0">
                            <a:solidFill>
                              <a:schemeClr val="tx1">
                                <a:lumMod val="75000"/>
                                <a:lumOff val="25000"/>
                              </a:schemeClr>
                            </a:solidFill>
                            <a:latin typeface="Cambria Math" panose="02040503050406030204" pitchFamily="18" charset="0"/>
                          </a:rPr>
                          <m:t>𝑖</m:t>
                        </m:r>
                      </m:sub>
                    </m:sSub>
                    <m:r>
                      <a:rPr lang="en-US" altLang="zh-CN" sz="2000" b="0" i="1" smtClean="0">
                        <a:solidFill>
                          <a:schemeClr val="tx1">
                            <a:lumMod val="75000"/>
                            <a:lumOff val="25000"/>
                          </a:schemeClr>
                        </a:solidFill>
                        <a:latin typeface="Cambria Math" panose="02040503050406030204" pitchFamily="18" charset="0"/>
                      </a:rPr>
                      <m:t>)/</m:t>
                    </m:r>
                    <m:sSub>
                      <m:sSubPr>
                        <m:ctrlPr>
                          <a:rPr lang="en-US" altLang="zh-CN" sz="2000" b="0" i="1" smtClean="0">
                            <a:solidFill>
                              <a:schemeClr val="tx1">
                                <a:lumMod val="75000"/>
                                <a:lumOff val="25000"/>
                              </a:schemeClr>
                            </a:solidFill>
                            <a:latin typeface="Cambria Math" panose="02040503050406030204" pitchFamily="18" charset="0"/>
                          </a:rPr>
                        </m:ctrlPr>
                      </m:sSubPr>
                      <m:e>
                        <m:r>
                          <a:rPr lang="en-US" altLang="zh-CN" sz="2000" b="0" i="1" smtClean="0">
                            <a:solidFill>
                              <a:schemeClr val="tx1">
                                <a:lumMod val="75000"/>
                                <a:lumOff val="25000"/>
                              </a:schemeClr>
                            </a:solidFill>
                            <a:latin typeface="Cambria Math" panose="02040503050406030204" pitchFamily="18" charset="0"/>
                          </a:rPr>
                          <m:t>𝑞</m:t>
                        </m:r>
                      </m:e>
                      <m:sub>
                        <m:r>
                          <a:rPr lang="en-US" altLang="zh-CN" sz="2000" b="0" i="1" smtClean="0">
                            <a:solidFill>
                              <a:schemeClr val="tx1">
                                <a:lumMod val="75000"/>
                                <a:lumOff val="25000"/>
                              </a:schemeClr>
                            </a:solidFill>
                            <a:latin typeface="Cambria Math" panose="02040503050406030204" pitchFamily="18" charset="0"/>
                          </a:rPr>
                          <m:t>𝑖</m:t>
                        </m:r>
                      </m:sub>
                    </m:sSub>
                    <m:r>
                      <a:rPr lang="en-US" altLang="zh-CN" sz="2000" b="0" i="1" smtClean="0">
                        <a:solidFill>
                          <a:schemeClr val="tx1">
                            <a:lumMod val="75000"/>
                            <a:lumOff val="25000"/>
                          </a:schemeClr>
                        </a:solidFill>
                        <a:latin typeface="Cambria Math" panose="02040503050406030204" pitchFamily="18" charset="0"/>
                      </a:rPr>
                      <m:t>(</m:t>
                    </m:r>
                    <m:sSub>
                      <m:sSubPr>
                        <m:ctrlPr>
                          <a:rPr lang="en-US" altLang="zh-CN" sz="2000" b="0" i="1" smtClean="0">
                            <a:solidFill>
                              <a:schemeClr val="tx1">
                                <a:lumMod val="75000"/>
                                <a:lumOff val="25000"/>
                              </a:schemeClr>
                            </a:solidFill>
                            <a:latin typeface="Cambria Math" panose="02040503050406030204" pitchFamily="18" charset="0"/>
                          </a:rPr>
                        </m:ctrlPr>
                      </m:sSubPr>
                      <m:e>
                        <m:r>
                          <a:rPr lang="en-US" altLang="zh-CN" sz="2000" b="0" i="1" smtClean="0">
                            <a:solidFill>
                              <a:schemeClr val="tx1">
                                <a:lumMod val="75000"/>
                                <a:lumOff val="25000"/>
                              </a:schemeClr>
                            </a:solidFill>
                            <a:latin typeface="Cambria Math" panose="02040503050406030204" pitchFamily="18" charset="0"/>
                          </a:rPr>
                          <m:t>𝑡</m:t>
                        </m:r>
                      </m:e>
                      <m:sub>
                        <m:r>
                          <a:rPr lang="en-US" altLang="zh-CN" sz="2000" b="0" i="1" smtClean="0">
                            <a:solidFill>
                              <a:schemeClr val="tx1">
                                <a:lumMod val="75000"/>
                                <a:lumOff val="25000"/>
                              </a:schemeClr>
                            </a:solidFill>
                            <a:latin typeface="Cambria Math" panose="02040503050406030204" pitchFamily="18" charset="0"/>
                          </a:rPr>
                          <m:t>𝑖</m:t>
                        </m:r>
                      </m:sub>
                    </m:sSub>
                    <m:r>
                      <a:rPr lang="en-US" altLang="zh-CN" sz="2000" b="0" i="1" smtClean="0">
                        <a:solidFill>
                          <a:schemeClr val="tx1">
                            <a:lumMod val="75000"/>
                            <a:lumOff val="25000"/>
                          </a:schemeClr>
                        </a:solidFill>
                        <a:latin typeface="Cambria Math" panose="02040503050406030204" pitchFamily="18" charset="0"/>
                      </a:rPr>
                      <m:t>)</m:t>
                    </m:r>
                  </m:oMath>
                </a14:m>
                <a:r>
                  <a:rPr lang="zh-CN" altLang="en-US" sz="2000" dirty="0">
                    <a:solidFill>
                      <a:schemeClr val="tx1">
                        <a:lumMod val="75000"/>
                        <a:lumOff val="25000"/>
                      </a:schemeClr>
                    </a:solidFill>
                  </a:rPr>
                  <a:t>的概率接受</a:t>
                </a:r>
                <a14:m>
                  <m:oMath xmlns:m="http://schemas.openxmlformats.org/officeDocument/2006/math">
                    <m:sSub>
                      <m:sSubPr>
                        <m:ctrlPr>
                          <a:rPr lang="en-US" altLang="zh-CN" sz="2000" b="0" i="1" smtClean="0">
                            <a:solidFill>
                              <a:schemeClr val="tx1">
                                <a:lumMod val="75000"/>
                                <a:lumOff val="25000"/>
                              </a:schemeClr>
                            </a:solidFill>
                            <a:latin typeface="Cambria Math" panose="02040503050406030204" pitchFamily="18" charset="0"/>
                          </a:rPr>
                        </m:ctrlPr>
                      </m:sSubPr>
                      <m:e>
                        <m:r>
                          <a:rPr lang="en-US" altLang="zh-CN" sz="2000" b="0" i="1" smtClean="0">
                            <a:solidFill>
                              <a:schemeClr val="tx1">
                                <a:lumMod val="75000"/>
                                <a:lumOff val="25000"/>
                              </a:schemeClr>
                            </a:solidFill>
                            <a:latin typeface="Cambria Math" panose="02040503050406030204" pitchFamily="18" charset="0"/>
                          </a:rPr>
                          <m:t>𝑡</m:t>
                        </m:r>
                      </m:e>
                      <m:sub>
                        <m:r>
                          <a:rPr lang="en-US" altLang="zh-CN" sz="2000" b="0" i="1" smtClean="0">
                            <a:solidFill>
                              <a:schemeClr val="tx1">
                                <a:lumMod val="75000"/>
                                <a:lumOff val="25000"/>
                              </a:schemeClr>
                            </a:solidFill>
                            <a:latin typeface="Cambria Math" panose="02040503050406030204" pitchFamily="18" charset="0"/>
                          </a:rPr>
                          <m:t>𝑖</m:t>
                        </m:r>
                      </m:sub>
                    </m:sSub>
                  </m:oMath>
                </a14:m>
                <a:endParaRPr lang="en-US" altLang="zh-CN" sz="2000" b="0" dirty="0">
                  <a:solidFill>
                    <a:schemeClr val="tx1">
                      <a:lumMod val="75000"/>
                      <a:lumOff val="25000"/>
                    </a:schemeClr>
                  </a:solidFill>
                </a:endParaRPr>
              </a:p>
              <a:p>
                <a:pPr marL="914400" lvl="1" indent="-457200">
                  <a:lnSpc>
                    <a:spcPct val="120000"/>
                  </a:lnSpc>
                  <a:spcAft>
                    <a:spcPts val="1200"/>
                  </a:spcAft>
                  <a:buFont typeface="Arial" panose="020B0604020202020204" pitchFamily="34" charset="0"/>
                  <a:buChar char="•"/>
                </a:pPr>
                <a:r>
                  <a:rPr lang="zh-CN" altLang="en-US" sz="2000" dirty="0">
                    <a:solidFill>
                      <a:schemeClr val="tx1">
                        <a:lumMod val="75000"/>
                        <a:lumOff val="25000"/>
                      </a:schemeClr>
                    </a:solidFill>
                  </a:rPr>
                  <a:t>如果</a:t>
                </a:r>
                <a14:m>
                  <m:oMath xmlns:m="http://schemas.openxmlformats.org/officeDocument/2006/math">
                    <m:sSub>
                      <m:sSubPr>
                        <m:ctrlPr>
                          <a:rPr lang="en-US" altLang="zh-CN" sz="2000" b="0" i="1" smtClean="0">
                            <a:solidFill>
                              <a:schemeClr val="tx1">
                                <a:lumMod val="75000"/>
                                <a:lumOff val="25000"/>
                              </a:schemeClr>
                            </a:solidFill>
                            <a:latin typeface="Cambria Math" panose="02040503050406030204" pitchFamily="18" charset="0"/>
                          </a:rPr>
                        </m:ctrlPr>
                      </m:sSubPr>
                      <m:e>
                        <m:r>
                          <a:rPr lang="en-US" altLang="zh-CN" sz="2000" b="0" i="1" smtClean="0">
                            <a:solidFill>
                              <a:schemeClr val="tx1">
                                <a:lumMod val="75000"/>
                                <a:lumOff val="25000"/>
                              </a:schemeClr>
                            </a:solidFill>
                            <a:latin typeface="Cambria Math" panose="02040503050406030204" pitchFamily="18" charset="0"/>
                          </a:rPr>
                          <m:t>𝑡</m:t>
                        </m:r>
                      </m:e>
                      <m:sub>
                        <m:r>
                          <a:rPr lang="en-US" altLang="zh-CN" sz="2000" b="0" i="1" smtClean="0">
                            <a:solidFill>
                              <a:schemeClr val="tx1">
                                <a:lumMod val="75000"/>
                                <a:lumOff val="25000"/>
                              </a:schemeClr>
                            </a:solidFill>
                            <a:latin typeface="Cambria Math" panose="02040503050406030204" pitchFamily="18" charset="0"/>
                          </a:rPr>
                          <m:t>𝑖</m:t>
                        </m:r>
                      </m:sub>
                    </m:sSub>
                  </m:oMath>
                </a14:m>
                <a:r>
                  <a:rPr lang="zh-CN" altLang="en-US" sz="2000" dirty="0">
                    <a:solidFill>
                      <a:schemeClr val="tx1">
                        <a:lumMod val="75000"/>
                        <a:lumOff val="25000"/>
                      </a:schemeClr>
                    </a:solidFill>
                  </a:rPr>
                  <a:t>被拒绝，则下面分布重新采样，并停止验证过程</a:t>
                </a:r>
                <a:endParaRPr lang="en-US" altLang="zh-CN" sz="2000" dirty="0">
                  <a:solidFill>
                    <a:schemeClr val="tx1">
                      <a:lumMod val="75000"/>
                      <a:lumOff val="25000"/>
                    </a:schemeClr>
                  </a:solidFill>
                </a:endParaRPr>
              </a:p>
              <a:p>
                <a:pPr lvl="1">
                  <a:lnSpc>
                    <a:spcPct val="120000"/>
                  </a:lnSpc>
                  <a:spcAft>
                    <a:spcPts val="1200"/>
                  </a:spcAft>
                </a:pPr>
                <a14:m>
                  <m:oMathPara xmlns:m="http://schemas.openxmlformats.org/officeDocument/2006/math">
                    <m:oMathParaPr>
                      <m:jc m:val="center"/>
                    </m:oMathParaPr>
                    <m:oMath xmlns:m="http://schemas.openxmlformats.org/officeDocument/2006/math">
                      <m:acc>
                        <m:accPr>
                          <m:chr m:val="̂"/>
                          <m:ctrlPr>
                            <a:rPr lang="nl-NL" altLang="zh-CN" sz="2000" i="1" dirty="0" smtClean="0">
                              <a:latin typeface="Cambria Math" panose="02040503050406030204" pitchFamily="18" charset="0"/>
                            </a:rPr>
                          </m:ctrlPr>
                        </m:accPr>
                        <m:e>
                          <m:sSub>
                            <m:sSubPr>
                              <m:ctrlPr>
                                <a:rPr lang="en-US" altLang="zh-CN" sz="2000" b="0" i="1" dirty="0" smtClean="0">
                                  <a:latin typeface="Cambria Math" panose="02040503050406030204" pitchFamily="18" charset="0"/>
                                </a:rPr>
                              </m:ctrlPr>
                            </m:sSubPr>
                            <m:e>
                              <m:r>
                                <a:rPr lang="en-US" altLang="zh-CN" sz="2000" b="0" i="1" dirty="0" smtClean="0">
                                  <a:latin typeface="Cambria Math" panose="02040503050406030204" pitchFamily="18" charset="0"/>
                                </a:rPr>
                                <m:t>𝑝</m:t>
                              </m:r>
                            </m:e>
                            <m:sub>
                              <m:r>
                                <a:rPr lang="en-US" altLang="zh-CN" sz="2000" b="0" i="1" dirty="0" smtClean="0">
                                  <a:latin typeface="Cambria Math" panose="02040503050406030204" pitchFamily="18" charset="0"/>
                                </a:rPr>
                                <m:t>𝑖</m:t>
                              </m:r>
                            </m:sub>
                          </m:sSub>
                        </m:e>
                      </m:acc>
                      <m:r>
                        <a:rPr lang="en-US" altLang="zh-CN" sz="2000" b="0" i="1" dirty="0" smtClean="0">
                          <a:latin typeface="Cambria Math" panose="02040503050406030204" pitchFamily="18" charset="0"/>
                        </a:rPr>
                        <m:t>~</m:t>
                      </m:r>
                      <m:r>
                        <a:rPr lang="nl-NL" altLang="zh-CN" sz="2000" i="1" dirty="0" smtClean="0">
                          <a:latin typeface="Cambria Math" panose="02040503050406030204" pitchFamily="18" charset="0"/>
                        </a:rPr>
                        <m:t>𝑛𝑜𝑟𝑚</m:t>
                      </m:r>
                      <m:d>
                        <m:dPr>
                          <m:ctrlPr>
                            <a:rPr lang="nl-NL" altLang="zh-CN" sz="2000" i="1" dirty="0" smtClean="0">
                              <a:latin typeface="Cambria Math" panose="02040503050406030204" pitchFamily="18" charset="0"/>
                            </a:rPr>
                          </m:ctrlPr>
                        </m:dPr>
                        <m:e>
                          <m:func>
                            <m:funcPr>
                              <m:ctrlPr>
                                <a:rPr lang="nl-NL" altLang="zh-CN" sz="2000" i="1" dirty="0" smtClean="0">
                                  <a:latin typeface="Cambria Math" panose="02040503050406030204" pitchFamily="18" charset="0"/>
                                </a:rPr>
                              </m:ctrlPr>
                            </m:funcPr>
                            <m:fName>
                              <m:r>
                                <m:rPr>
                                  <m:sty m:val="p"/>
                                </m:rPr>
                                <a:rPr lang="nl-NL" altLang="zh-CN" sz="2000" i="0" dirty="0" smtClean="0">
                                  <a:latin typeface="Cambria Math" panose="02040503050406030204" pitchFamily="18" charset="0"/>
                                </a:rPr>
                                <m:t>max</m:t>
                              </m:r>
                            </m:fName>
                            <m:e>
                              <m:d>
                                <m:dPr>
                                  <m:ctrlPr>
                                    <a:rPr lang="nl-NL" altLang="zh-CN" sz="2000" i="1" dirty="0" smtClean="0">
                                      <a:latin typeface="Cambria Math" panose="02040503050406030204" pitchFamily="18" charset="0"/>
                                    </a:rPr>
                                  </m:ctrlPr>
                                </m:dPr>
                                <m:e>
                                  <m:r>
                                    <a:rPr lang="en-US" altLang="zh-CN" sz="2000" b="0" i="1" dirty="0" smtClean="0">
                                      <a:latin typeface="Cambria Math" panose="02040503050406030204" pitchFamily="18" charset="0"/>
                                    </a:rPr>
                                    <m:t>0,</m:t>
                                  </m:r>
                                  <m:sSub>
                                    <m:sSubPr>
                                      <m:ctrlPr>
                                        <a:rPr lang="en-US" altLang="zh-CN" sz="2000" b="0" i="1" dirty="0" smtClean="0">
                                          <a:latin typeface="Cambria Math" panose="02040503050406030204" pitchFamily="18" charset="0"/>
                                        </a:rPr>
                                      </m:ctrlPr>
                                    </m:sSubPr>
                                    <m:e>
                                      <m:r>
                                        <a:rPr lang="nl-NL" altLang="zh-CN" sz="2000" i="1" dirty="0" smtClean="0">
                                          <a:latin typeface="Cambria Math" panose="02040503050406030204" pitchFamily="18" charset="0"/>
                                        </a:rPr>
                                        <m:t>𝑝</m:t>
                                      </m:r>
                                    </m:e>
                                    <m:sub>
                                      <m:r>
                                        <a:rPr lang="en-US" altLang="zh-CN" sz="2000" b="0" i="1" dirty="0" smtClean="0">
                                          <a:latin typeface="Cambria Math" panose="02040503050406030204" pitchFamily="18" charset="0"/>
                                        </a:rPr>
                                        <m:t>𝑖</m:t>
                                      </m:r>
                                    </m:sub>
                                  </m:sSub>
                                  <m:r>
                                    <a:rPr lang="en-US" altLang="zh-CN" sz="2000" b="0" i="1" dirty="0" smtClean="0">
                                      <a:latin typeface="Cambria Math" panose="02040503050406030204" pitchFamily="18" charset="0"/>
                                    </a:rPr>
                                    <m:t>−</m:t>
                                  </m:r>
                                  <m:r>
                                    <a:rPr lang="nl-NL" altLang="zh-CN" sz="2000" i="1" dirty="0" smtClean="0">
                                      <a:latin typeface="Cambria Math" panose="02040503050406030204" pitchFamily="18" charset="0"/>
                                    </a:rPr>
                                    <m:t> </m:t>
                                  </m:r>
                                  <m:sSub>
                                    <m:sSubPr>
                                      <m:ctrlPr>
                                        <a:rPr lang="en-US" altLang="zh-CN" sz="2000" b="0" i="1" dirty="0" smtClean="0">
                                          <a:latin typeface="Cambria Math" panose="02040503050406030204" pitchFamily="18" charset="0"/>
                                        </a:rPr>
                                      </m:ctrlPr>
                                    </m:sSubPr>
                                    <m:e>
                                      <m:r>
                                        <a:rPr lang="nl-NL" altLang="zh-CN" sz="2000" i="1" dirty="0" smtClean="0">
                                          <a:latin typeface="Cambria Math" panose="02040503050406030204" pitchFamily="18" charset="0"/>
                                        </a:rPr>
                                        <m:t>𝑞</m:t>
                                      </m:r>
                                    </m:e>
                                    <m:sub>
                                      <m:r>
                                        <a:rPr lang="en-US" altLang="zh-CN" sz="2000" b="0" i="1" dirty="0" smtClean="0">
                                          <a:latin typeface="Cambria Math" panose="02040503050406030204" pitchFamily="18" charset="0"/>
                                        </a:rPr>
                                        <m:t>𝑖</m:t>
                                      </m:r>
                                    </m:sub>
                                  </m:sSub>
                                </m:e>
                              </m:d>
                            </m:e>
                          </m:func>
                        </m:e>
                      </m:d>
                    </m:oMath>
                  </m:oMathPara>
                </a14:m>
                <a:endParaRPr lang="en-US" altLang="zh-CN" sz="2000" dirty="0">
                  <a:solidFill>
                    <a:schemeClr val="tx1">
                      <a:lumMod val="75000"/>
                      <a:lumOff val="25000"/>
                    </a:schemeClr>
                  </a:solidFill>
                </a:endParaRPr>
              </a:p>
            </p:txBody>
          </p:sp>
        </mc:Choice>
        <mc:Fallback xmlns="">
          <p:sp>
            <p:nvSpPr>
              <p:cNvPr id="258" name="文本框 257">
                <a:extLst>
                  <a:ext uri="{FF2B5EF4-FFF2-40B4-BE49-F238E27FC236}">
                    <a16:creationId xmlns:a16="http://schemas.microsoft.com/office/drawing/2014/main" id="{4ACDBBC5-1895-A384-4361-DC30EBF35C68}"/>
                  </a:ext>
                </a:extLst>
              </p:cNvPr>
              <p:cNvSpPr txBox="1">
                <a:spLocks noRot="1" noChangeAspect="1" noMove="1" noResize="1" noEditPoints="1" noAdjustHandles="1" noChangeArrowheads="1" noChangeShapeType="1" noTextEdit="1"/>
              </p:cNvSpPr>
              <p:nvPr/>
            </p:nvSpPr>
            <p:spPr>
              <a:xfrm>
                <a:off x="6403788" y="1093836"/>
                <a:ext cx="5565474" cy="3151632"/>
              </a:xfrm>
              <a:prstGeom prst="rect">
                <a:avLst/>
              </a:prstGeom>
              <a:blipFill>
                <a:blip r:embed="rId18"/>
                <a:stretch>
                  <a:fillRect l="-14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1" name="文本框 260">
                <a:extLst>
                  <a:ext uri="{FF2B5EF4-FFF2-40B4-BE49-F238E27FC236}">
                    <a16:creationId xmlns:a16="http://schemas.microsoft.com/office/drawing/2014/main" id="{399556BC-A9C8-2CA0-5736-BF213EBF7341}"/>
                  </a:ext>
                </a:extLst>
              </p:cNvPr>
              <p:cNvSpPr txBox="1"/>
              <p:nvPr/>
            </p:nvSpPr>
            <p:spPr>
              <a:xfrm>
                <a:off x="6453656" y="4244602"/>
                <a:ext cx="5115209" cy="873381"/>
              </a:xfrm>
              <a:prstGeom prst="rect">
                <a:avLst/>
              </a:prstGeom>
              <a:noFill/>
            </p:spPr>
            <p:txBody>
              <a:bodyPr wrap="square" rtlCol="0" anchor="ctr">
                <a:spAutoFit/>
              </a:bodyPr>
              <a:lstStyle/>
              <a:p>
                <a:pPr>
                  <a:lnSpc>
                    <a:spcPct val="120000"/>
                  </a:lnSpc>
                </a:pPr>
                <a:r>
                  <a:rPr lang="en-US" altLang="zh-CN" sz="2400" b="1" dirty="0">
                    <a:solidFill>
                      <a:schemeClr val="tx1">
                        <a:lumMod val="75000"/>
                        <a:lumOff val="25000"/>
                      </a:schemeClr>
                    </a:solidFill>
                  </a:rPr>
                  <a:t>(4) </a:t>
                </a:r>
                <a:r>
                  <a:rPr lang="zh-CN" altLang="en-US" sz="2400" b="1" dirty="0">
                    <a:solidFill>
                      <a:schemeClr val="tx1">
                        <a:lumMod val="75000"/>
                        <a:lumOff val="25000"/>
                      </a:schemeClr>
                    </a:solidFill>
                  </a:rPr>
                  <a:t>进一步采样</a:t>
                </a:r>
                <a:endParaRPr lang="en-US" altLang="zh-CN" sz="2400" b="1" dirty="0">
                  <a:solidFill>
                    <a:schemeClr val="tx1">
                      <a:lumMod val="75000"/>
                      <a:lumOff val="25000"/>
                    </a:schemeClr>
                  </a:solidFill>
                </a:endParaRPr>
              </a:p>
              <a:p>
                <a:pPr>
                  <a:lnSpc>
                    <a:spcPct val="120000"/>
                  </a:lnSpc>
                </a:pPr>
                <a:r>
                  <a:rPr lang="en-US" altLang="zh-CN" sz="2000" dirty="0">
                    <a:solidFill>
                      <a:schemeClr val="tx1">
                        <a:lumMod val="75000"/>
                        <a:lumOff val="25000"/>
                      </a:schemeClr>
                    </a:solidFill>
                  </a:rPr>
                  <a:t>      </a:t>
                </a:r>
                <a:r>
                  <a:rPr lang="zh-CN" altLang="en-US" sz="2000" dirty="0">
                    <a:solidFill>
                      <a:schemeClr val="tx1">
                        <a:lumMod val="75000"/>
                        <a:lumOff val="25000"/>
                      </a:schemeClr>
                    </a:solidFill>
                  </a:rPr>
                  <a:t>如果全被接受，则从</a:t>
                </a:r>
                <a14:m>
                  <m:oMath xmlns:m="http://schemas.openxmlformats.org/officeDocument/2006/math">
                    <m:sSub>
                      <m:sSubPr>
                        <m:ctrlPr>
                          <a:rPr lang="en-US" altLang="zh-CN" sz="2000" b="0" i="1" smtClean="0">
                            <a:solidFill>
                              <a:schemeClr val="tx1">
                                <a:lumMod val="75000"/>
                                <a:lumOff val="25000"/>
                              </a:schemeClr>
                            </a:solidFill>
                            <a:latin typeface="Cambria Math" panose="02040503050406030204" pitchFamily="18" charset="0"/>
                          </a:rPr>
                        </m:ctrlPr>
                      </m:sSubPr>
                      <m:e>
                        <m:r>
                          <a:rPr lang="en-US" altLang="zh-CN" sz="2000" b="0" i="1" smtClean="0">
                            <a:solidFill>
                              <a:schemeClr val="tx1">
                                <a:lumMod val="75000"/>
                                <a:lumOff val="25000"/>
                              </a:schemeClr>
                            </a:solidFill>
                            <a:latin typeface="Cambria Math" panose="02040503050406030204" pitchFamily="18" charset="0"/>
                          </a:rPr>
                          <m:t>𝑝</m:t>
                        </m:r>
                      </m:e>
                      <m:sub>
                        <m:r>
                          <a:rPr lang="en-US" altLang="zh-CN" sz="2000" b="0" i="1" smtClean="0">
                            <a:solidFill>
                              <a:schemeClr val="tx1">
                                <a:lumMod val="75000"/>
                                <a:lumOff val="25000"/>
                              </a:schemeClr>
                            </a:solidFill>
                            <a:latin typeface="Cambria Math" panose="02040503050406030204" pitchFamily="18" charset="0"/>
                          </a:rPr>
                          <m:t>7</m:t>
                        </m:r>
                      </m:sub>
                    </m:sSub>
                  </m:oMath>
                </a14:m>
                <a:r>
                  <a:rPr lang="zh-CN" altLang="en-US" sz="2000" dirty="0">
                    <a:solidFill>
                      <a:schemeClr val="tx1">
                        <a:lumMod val="75000"/>
                        <a:lumOff val="25000"/>
                      </a:schemeClr>
                    </a:solidFill>
                  </a:rPr>
                  <a:t>再采样一次</a:t>
                </a:r>
                <a14:m>
                  <m:oMath xmlns:m="http://schemas.openxmlformats.org/officeDocument/2006/math">
                    <m:sSub>
                      <m:sSubPr>
                        <m:ctrlPr>
                          <a:rPr lang="en-US" altLang="zh-CN" sz="2000" b="0" i="1" dirty="0" smtClean="0">
                            <a:solidFill>
                              <a:schemeClr val="tx1">
                                <a:lumMod val="75000"/>
                                <a:lumOff val="25000"/>
                              </a:schemeClr>
                            </a:solidFill>
                            <a:latin typeface="Cambria Math" panose="02040503050406030204" pitchFamily="18" charset="0"/>
                          </a:rPr>
                        </m:ctrlPr>
                      </m:sSubPr>
                      <m:e>
                        <m:r>
                          <a:rPr lang="en-US" altLang="zh-CN" sz="2000" b="0" i="1" dirty="0" smtClean="0">
                            <a:solidFill>
                              <a:schemeClr val="tx1">
                                <a:lumMod val="75000"/>
                                <a:lumOff val="25000"/>
                              </a:schemeClr>
                            </a:solidFill>
                            <a:latin typeface="Cambria Math" panose="02040503050406030204" pitchFamily="18" charset="0"/>
                          </a:rPr>
                          <m:t>𝑡</m:t>
                        </m:r>
                      </m:e>
                      <m:sub>
                        <m:r>
                          <a:rPr lang="en-US" altLang="zh-CN" sz="2000" b="0" i="1" dirty="0" smtClean="0">
                            <a:solidFill>
                              <a:schemeClr val="tx1">
                                <a:lumMod val="75000"/>
                                <a:lumOff val="25000"/>
                              </a:schemeClr>
                            </a:solidFill>
                            <a:latin typeface="Cambria Math" panose="02040503050406030204" pitchFamily="18" charset="0"/>
                          </a:rPr>
                          <m:t>7</m:t>
                        </m:r>
                      </m:sub>
                    </m:sSub>
                  </m:oMath>
                </a14:m>
                <a:r>
                  <a:rPr lang="en-US" altLang="zh-CN" sz="2000" dirty="0">
                    <a:solidFill>
                      <a:schemeClr val="tx1">
                        <a:lumMod val="75000"/>
                        <a:lumOff val="25000"/>
                      </a:schemeClr>
                    </a:solidFill>
                  </a:rPr>
                  <a:t>	</a:t>
                </a:r>
                <a:endParaRPr lang="zh-CN" altLang="en-US" sz="2000" dirty="0">
                  <a:solidFill>
                    <a:schemeClr val="tx1">
                      <a:lumMod val="75000"/>
                      <a:lumOff val="25000"/>
                    </a:schemeClr>
                  </a:solidFill>
                </a:endParaRPr>
              </a:p>
            </p:txBody>
          </p:sp>
        </mc:Choice>
        <mc:Fallback xmlns="">
          <p:sp>
            <p:nvSpPr>
              <p:cNvPr id="261" name="文本框 260">
                <a:extLst>
                  <a:ext uri="{FF2B5EF4-FFF2-40B4-BE49-F238E27FC236}">
                    <a16:creationId xmlns:a16="http://schemas.microsoft.com/office/drawing/2014/main" id="{399556BC-A9C8-2CA0-5736-BF213EBF7341}"/>
                  </a:ext>
                </a:extLst>
              </p:cNvPr>
              <p:cNvSpPr txBox="1">
                <a:spLocks noRot="1" noChangeAspect="1" noMove="1" noResize="1" noEditPoints="1" noAdjustHandles="1" noChangeArrowheads="1" noChangeShapeType="1" noTextEdit="1"/>
              </p:cNvSpPr>
              <p:nvPr/>
            </p:nvSpPr>
            <p:spPr>
              <a:xfrm>
                <a:off x="6453656" y="4244602"/>
                <a:ext cx="5115209" cy="873381"/>
              </a:xfrm>
              <a:prstGeom prst="rect">
                <a:avLst/>
              </a:prstGeom>
              <a:blipFill>
                <a:blip r:embed="rId19"/>
                <a:stretch>
                  <a:fillRect l="-1907" t="-694" b="-118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3" name="矩形: 圆角 262">
                <a:extLst>
                  <a:ext uri="{FF2B5EF4-FFF2-40B4-BE49-F238E27FC236}">
                    <a16:creationId xmlns:a16="http://schemas.microsoft.com/office/drawing/2014/main" id="{1E681BE0-2E9E-0E76-E2BB-A29D222A317E}"/>
                  </a:ext>
                </a:extLst>
              </p:cNvPr>
              <p:cNvSpPr/>
              <p:nvPr/>
            </p:nvSpPr>
            <p:spPr>
              <a:xfrm>
                <a:off x="4971212" y="6192560"/>
                <a:ext cx="529200" cy="327600"/>
              </a:xfrm>
              <a:prstGeom prst="roundRect">
                <a:avLst/>
              </a:prstGeom>
              <a:ln w="19050">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6</m:t>
                          </m:r>
                        </m:sub>
                      </m:sSub>
                    </m:oMath>
                  </m:oMathPara>
                </a14:m>
                <a:endParaRPr lang="zh-CN" altLang="en-US" dirty="0"/>
              </a:p>
            </p:txBody>
          </p:sp>
        </mc:Choice>
        <mc:Fallback xmlns="">
          <p:sp>
            <p:nvSpPr>
              <p:cNvPr id="263" name="矩形: 圆角 262">
                <a:extLst>
                  <a:ext uri="{FF2B5EF4-FFF2-40B4-BE49-F238E27FC236}">
                    <a16:creationId xmlns:a16="http://schemas.microsoft.com/office/drawing/2014/main" id="{1E681BE0-2E9E-0E76-E2BB-A29D222A317E}"/>
                  </a:ext>
                </a:extLst>
              </p:cNvPr>
              <p:cNvSpPr>
                <a:spLocks noRot="1" noChangeAspect="1" noMove="1" noResize="1" noEditPoints="1" noAdjustHandles="1" noChangeArrowheads="1" noChangeShapeType="1" noTextEdit="1"/>
              </p:cNvSpPr>
              <p:nvPr/>
            </p:nvSpPr>
            <p:spPr>
              <a:xfrm>
                <a:off x="4971212" y="6192560"/>
                <a:ext cx="529200" cy="327600"/>
              </a:xfrm>
              <a:prstGeom prst="roundRect">
                <a:avLst/>
              </a:prstGeom>
              <a:blipFill>
                <a:blip r:embed="rId20"/>
                <a:stretch>
                  <a:fillRect b="-3509"/>
                </a:stretch>
              </a:blipFill>
              <a:ln w="19050">
                <a:solidFill>
                  <a:srgbClr val="C0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5" name="矩形: 圆角 264">
                <a:extLst>
                  <a:ext uri="{FF2B5EF4-FFF2-40B4-BE49-F238E27FC236}">
                    <a16:creationId xmlns:a16="http://schemas.microsoft.com/office/drawing/2014/main" id="{7EA54A39-47F7-405E-23A5-CF5D2ADBC440}"/>
                  </a:ext>
                </a:extLst>
              </p:cNvPr>
              <p:cNvSpPr/>
              <p:nvPr/>
            </p:nvSpPr>
            <p:spPr>
              <a:xfrm>
                <a:off x="4957739" y="4226986"/>
                <a:ext cx="527538" cy="328246"/>
              </a:xfrm>
              <a:prstGeom prst="roundRect">
                <a:avLst/>
              </a:prstGeom>
              <a:ln w="19050"/>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𝑝</m:t>
                          </m:r>
                        </m:e>
                        <m:sub>
                          <m:r>
                            <a:rPr lang="en-US" altLang="zh-CN" sz="1600" b="0" i="1" smtClean="0">
                              <a:latin typeface="Cambria Math" panose="02040503050406030204" pitchFamily="18" charset="0"/>
                            </a:rPr>
                            <m:t>7</m:t>
                          </m:r>
                        </m:sub>
                      </m:sSub>
                    </m:oMath>
                  </m:oMathPara>
                </a14:m>
                <a:endParaRPr lang="zh-CN" altLang="en-US" sz="1600" dirty="0"/>
              </a:p>
            </p:txBody>
          </p:sp>
        </mc:Choice>
        <mc:Fallback xmlns="">
          <p:sp>
            <p:nvSpPr>
              <p:cNvPr id="265" name="矩形: 圆角 264">
                <a:extLst>
                  <a:ext uri="{FF2B5EF4-FFF2-40B4-BE49-F238E27FC236}">
                    <a16:creationId xmlns:a16="http://schemas.microsoft.com/office/drawing/2014/main" id="{7EA54A39-47F7-405E-23A5-CF5D2ADBC440}"/>
                  </a:ext>
                </a:extLst>
              </p:cNvPr>
              <p:cNvSpPr>
                <a:spLocks noRot="1" noChangeAspect="1" noMove="1" noResize="1" noEditPoints="1" noAdjustHandles="1" noChangeArrowheads="1" noChangeShapeType="1" noTextEdit="1"/>
              </p:cNvSpPr>
              <p:nvPr/>
            </p:nvSpPr>
            <p:spPr>
              <a:xfrm>
                <a:off x="4957739" y="4226986"/>
                <a:ext cx="527538" cy="328246"/>
              </a:xfrm>
              <a:prstGeom prst="roundRect">
                <a:avLst/>
              </a:prstGeom>
              <a:blipFill>
                <a:blip r:embed="rId21"/>
                <a:stretch>
                  <a:fillRect b="-3509"/>
                </a:stretch>
              </a:blipFill>
              <a:ln w="19050"/>
            </p:spPr>
            <p:txBody>
              <a:bodyPr/>
              <a:lstStyle/>
              <a:p>
                <a:r>
                  <a:rPr lang="zh-CN" altLang="en-US">
                    <a:noFill/>
                  </a:rPr>
                  <a:t> </a:t>
                </a:r>
              </a:p>
            </p:txBody>
          </p:sp>
        </mc:Fallback>
      </mc:AlternateContent>
      <p:cxnSp>
        <p:nvCxnSpPr>
          <p:cNvPr id="266" name="直接箭头连接符 265">
            <a:extLst>
              <a:ext uri="{FF2B5EF4-FFF2-40B4-BE49-F238E27FC236}">
                <a16:creationId xmlns:a16="http://schemas.microsoft.com/office/drawing/2014/main" id="{8F3DD3BD-DEB6-801F-9C69-DF6766EF830D}"/>
              </a:ext>
            </a:extLst>
          </p:cNvPr>
          <p:cNvCxnSpPr>
            <a:cxnSpLocks/>
            <a:endCxn id="265" idx="2"/>
          </p:cNvCxnSpPr>
          <p:nvPr/>
        </p:nvCxnSpPr>
        <p:spPr>
          <a:xfrm flipV="1">
            <a:off x="5221508" y="4555232"/>
            <a:ext cx="0" cy="407386"/>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 name="直接箭头连接符 1">
            <a:extLst>
              <a:ext uri="{FF2B5EF4-FFF2-40B4-BE49-F238E27FC236}">
                <a16:creationId xmlns:a16="http://schemas.microsoft.com/office/drawing/2014/main" id="{7C08BD4F-73E8-D8A2-48A2-5EF5389E1B21}"/>
              </a:ext>
            </a:extLst>
          </p:cNvPr>
          <p:cNvCxnSpPr>
            <a:cxnSpLocks/>
            <a:stCxn id="263" idx="0"/>
          </p:cNvCxnSpPr>
          <p:nvPr/>
        </p:nvCxnSpPr>
        <p:spPr>
          <a:xfrm flipH="1" flipV="1">
            <a:off x="5221508" y="5719465"/>
            <a:ext cx="14304" cy="47309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080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fade">
                                      <p:cBhvr>
                                        <p:cTn id="7" dur="500"/>
                                        <p:tgtEl>
                                          <p:spTgt spid="206"/>
                                        </p:tgtEl>
                                      </p:cBhvr>
                                    </p:animEffect>
                                  </p:childTnLst>
                                </p:cTn>
                              </p:par>
                              <p:par>
                                <p:cTn id="8" presetID="10" presetClass="entr" presetSubtype="0" fill="hold" nodeType="withEffect">
                                  <p:stCondLst>
                                    <p:cond delay="0"/>
                                  </p:stCondLst>
                                  <p:childTnLst>
                                    <p:set>
                                      <p:cBhvr>
                                        <p:cTn id="9" dur="1" fill="hold">
                                          <p:stCondLst>
                                            <p:cond delay="0"/>
                                          </p:stCondLst>
                                        </p:cTn>
                                        <p:tgtEl>
                                          <p:spTgt spid="208"/>
                                        </p:tgtEl>
                                        <p:attrNameLst>
                                          <p:attrName>style.visibility</p:attrName>
                                        </p:attrNameLst>
                                      </p:cBhvr>
                                      <p:to>
                                        <p:strVal val="visible"/>
                                      </p:to>
                                    </p:set>
                                    <p:animEffect transition="in" filter="fade">
                                      <p:cBhvr>
                                        <p:cTn id="10" dur="500"/>
                                        <p:tgtEl>
                                          <p:spTgt spid="208"/>
                                        </p:tgtEl>
                                      </p:cBhvr>
                                    </p:animEffect>
                                  </p:childTnLst>
                                </p:cTn>
                              </p:par>
                              <p:par>
                                <p:cTn id="11" presetID="10" presetClass="entr" presetSubtype="0" fill="hold" nodeType="withEffect">
                                  <p:stCondLst>
                                    <p:cond delay="0"/>
                                  </p:stCondLst>
                                  <p:childTnLst>
                                    <p:set>
                                      <p:cBhvr>
                                        <p:cTn id="12" dur="1" fill="hold">
                                          <p:stCondLst>
                                            <p:cond delay="0"/>
                                          </p:stCondLst>
                                        </p:cTn>
                                        <p:tgtEl>
                                          <p:spTgt spid="210"/>
                                        </p:tgtEl>
                                        <p:attrNameLst>
                                          <p:attrName>style.visibility</p:attrName>
                                        </p:attrNameLst>
                                      </p:cBhvr>
                                      <p:to>
                                        <p:strVal val="visible"/>
                                      </p:to>
                                    </p:set>
                                    <p:animEffect transition="in" filter="fade">
                                      <p:cBhvr>
                                        <p:cTn id="13" dur="500"/>
                                        <p:tgtEl>
                                          <p:spTgt spid="210"/>
                                        </p:tgtEl>
                                      </p:cBhvr>
                                    </p:animEffect>
                                  </p:childTnLst>
                                </p:cTn>
                              </p:par>
                              <p:par>
                                <p:cTn id="14" presetID="10" presetClass="entr" presetSubtype="0" fill="hold" nodeType="withEffect">
                                  <p:stCondLst>
                                    <p:cond delay="0"/>
                                  </p:stCondLst>
                                  <p:childTnLst>
                                    <p:set>
                                      <p:cBhvr>
                                        <p:cTn id="15" dur="1" fill="hold">
                                          <p:stCondLst>
                                            <p:cond delay="0"/>
                                          </p:stCondLst>
                                        </p:cTn>
                                        <p:tgtEl>
                                          <p:spTgt spid="190"/>
                                        </p:tgtEl>
                                        <p:attrNameLst>
                                          <p:attrName>style.visibility</p:attrName>
                                        </p:attrNameLst>
                                      </p:cBhvr>
                                      <p:to>
                                        <p:strVal val="visible"/>
                                      </p:to>
                                    </p:set>
                                    <p:animEffect transition="in" filter="fade">
                                      <p:cBhvr>
                                        <p:cTn id="16" dur="500"/>
                                        <p:tgtEl>
                                          <p:spTgt spid="190"/>
                                        </p:tgtEl>
                                      </p:cBhvr>
                                    </p:animEffect>
                                  </p:childTnLst>
                                </p:cTn>
                              </p:par>
                              <p:par>
                                <p:cTn id="17" presetID="10" presetClass="entr" presetSubtype="0" fill="hold" nodeType="withEffect">
                                  <p:stCondLst>
                                    <p:cond delay="0"/>
                                  </p:stCondLst>
                                  <p:childTnLst>
                                    <p:set>
                                      <p:cBhvr>
                                        <p:cTn id="18" dur="1" fill="hold">
                                          <p:stCondLst>
                                            <p:cond delay="0"/>
                                          </p:stCondLst>
                                        </p:cTn>
                                        <p:tgtEl>
                                          <p:spTgt spid="191"/>
                                        </p:tgtEl>
                                        <p:attrNameLst>
                                          <p:attrName>style.visibility</p:attrName>
                                        </p:attrNameLst>
                                      </p:cBhvr>
                                      <p:to>
                                        <p:strVal val="visible"/>
                                      </p:to>
                                    </p:set>
                                    <p:animEffect transition="in" filter="fade">
                                      <p:cBhvr>
                                        <p:cTn id="19" dur="500"/>
                                        <p:tgtEl>
                                          <p:spTgt spid="191"/>
                                        </p:tgtEl>
                                      </p:cBhvr>
                                    </p:animEffect>
                                  </p:childTnLst>
                                </p:cTn>
                              </p:par>
                              <p:par>
                                <p:cTn id="20" presetID="10" presetClass="entr" presetSubtype="0" fill="hold" nodeType="withEffect">
                                  <p:stCondLst>
                                    <p:cond delay="0"/>
                                  </p:stCondLst>
                                  <p:childTnLst>
                                    <p:set>
                                      <p:cBhvr>
                                        <p:cTn id="21" dur="1" fill="hold">
                                          <p:stCondLst>
                                            <p:cond delay="0"/>
                                          </p:stCondLst>
                                        </p:cTn>
                                        <p:tgtEl>
                                          <p:spTgt spid="192"/>
                                        </p:tgtEl>
                                        <p:attrNameLst>
                                          <p:attrName>style.visibility</p:attrName>
                                        </p:attrNameLst>
                                      </p:cBhvr>
                                      <p:to>
                                        <p:strVal val="visible"/>
                                      </p:to>
                                    </p:set>
                                    <p:animEffect transition="in" filter="fade">
                                      <p:cBhvr>
                                        <p:cTn id="22" dur="500"/>
                                        <p:tgtEl>
                                          <p:spTgt spid="19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4"/>
                                        </p:tgtEl>
                                        <p:attrNameLst>
                                          <p:attrName>style.visibility</p:attrName>
                                        </p:attrNameLst>
                                      </p:cBhvr>
                                      <p:to>
                                        <p:strVal val="visible"/>
                                      </p:to>
                                    </p:set>
                                    <p:animEffect transition="in" filter="fade">
                                      <p:cBhvr>
                                        <p:cTn id="25" dur="500"/>
                                        <p:tgtEl>
                                          <p:spTgt spid="19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95"/>
                                        </p:tgtEl>
                                        <p:attrNameLst>
                                          <p:attrName>style.visibility</p:attrName>
                                        </p:attrNameLst>
                                      </p:cBhvr>
                                      <p:to>
                                        <p:strVal val="visible"/>
                                      </p:to>
                                    </p:set>
                                    <p:animEffect transition="in" filter="fade">
                                      <p:cBhvr>
                                        <p:cTn id="28" dur="500"/>
                                        <p:tgtEl>
                                          <p:spTgt spid="19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96"/>
                                        </p:tgtEl>
                                        <p:attrNameLst>
                                          <p:attrName>style.visibility</p:attrName>
                                        </p:attrNameLst>
                                      </p:cBhvr>
                                      <p:to>
                                        <p:strVal val="visible"/>
                                      </p:to>
                                    </p:set>
                                    <p:animEffect transition="in" filter="fade">
                                      <p:cBhvr>
                                        <p:cTn id="31" dur="500"/>
                                        <p:tgtEl>
                                          <p:spTgt spid="19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97"/>
                                        </p:tgtEl>
                                        <p:attrNameLst>
                                          <p:attrName>style.visibility</p:attrName>
                                        </p:attrNameLst>
                                      </p:cBhvr>
                                      <p:to>
                                        <p:strVal val="visible"/>
                                      </p:to>
                                    </p:set>
                                    <p:animEffect transition="in" filter="fade">
                                      <p:cBhvr>
                                        <p:cTn id="34" dur="500"/>
                                        <p:tgtEl>
                                          <p:spTgt spid="19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8"/>
                                        </p:tgtEl>
                                        <p:attrNameLst>
                                          <p:attrName>style.visibility</p:attrName>
                                        </p:attrNameLst>
                                      </p:cBhvr>
                                      <p:to>
                                        <p:strVal val="visible"/>
                                      </p:to>
                                    </p:set>
                                    <p:animEffect transition="in" filter="fade">
                                      <p:cBhvr>
                                        <p:cTn id="37" dur="500"/>
                                        <p:tgtEl>
                                          <p:spTgt spid="19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9"/>
                                        </p:tgtEl>
                                        <p:attrNameLst>
                                          <p:attrName>style.visibility</p:attrName>
                                        </p:attrNameLst>
                                      </p:cBhvr>
                                      <p:to>
                                        <p:strVal val="visible"/>
                                      </p:to>
                                    </p:set>
                                    <p:animEffect transition="in" filter="fade">
                                      <p:cBhvr>
                                        <p:cTn id="40" dur="500"/>
                                        <p:tgtEl>
                                          <p:spTgt spid="199"/>
                                        </p:tgtEl>
                                      </p:cBhvr>
                                    </p:animEffect>
                                  </p:childTnLst>
                                </p:cTn>
                              </p:par>
                              <p:par>
                                <p:cTn id="41" presetID="10" presetClass="entr" presetSubtype="0" fill="hold" nodeType="withEffect">
                                  <p:stCondLst>
                                    <p:cond delay="0"/>
                                  </p:stCondLst>
                                  <p:childTnLst>
                                    <p:set>
                                      <p:cBhvr>
                                        <p:cTn id="42" dur="1" fill="hold">
                                          <p:stCondLst>
                                            <p:cond delay="0"/>
                                          </p:stCondLst>
                                        </p:cTn>
                                        <p:tgtEl>
                                          <p:spTgt spid="201"/>
                                        </p:tgtEl>
                                        <p:attrNameLst>
                                          <p:attrName>style.visibility</p:attrName>
                                        </p:attrNameLst>
                                      </p:cBhvr>
                                      <p:to>
                                        <p:strVal val="visible"/>
                                      </p:to>
                                    </p:set>
                                    <p:animEffect transition="in" filter="fade">
                                      <p:cBhvr>
                                        <p:cTn id="43" dur="500"/>
                                        <p:tgtEl>
                                          <p:spTgt spid="201"/>
                                        </p:tgtEl>
                                      </p:cBhvr>
                                    </p:animEffect>
                                  </p:childTnLst>
                                </p:cTn>
                              </p:par>
                              <p:par>
                                <p:cTn id="44" presetID="10" presetClass="entr" presetSubtype="0" fill="hold" nodeType="withEffect">
                                  <p:stCondLst>
                                    <p:cond delay="0"/>
                                  </p:stCondLst>
                                  <p:childTnLst>
                                    <p:set>
                                      <p:cBhvr>
                                        <p:cTn id="45" dur="1" fill="hold">
                                          <p:stCondLst>
                                            <p:cond delay="0"/>
                                          </p:stCondLst>
                                        </p:cTn>
                                        <p:tgtEl>
                                          <p:spTgt spid="202"/>
                                        </p:tgtEl>
                                        <p:attrNameLst>
                                          <p:attrName>style.visibility</p:attrName>
                                        </p:attrNameLst>
                                      </p:cBhvr>
                                      <p:to>
                                        <p:strVal val="visible"/>
                                      </p:to>
                                    </p:set>
                                    <p:animEffect transition="in" filter="fade">
                                      <p:cBhvr>
                                        <p:cTn id="46" dur="500"/>
                                        <p:tgtEl>
                                          <p:spTgt spid="202"/>
                                        </p:tgtEl>
                                      </p:cBhvr>
                                    </p:animEffect>
                                  </p:childTnLst>
                                </p:cTn>
                              </p:par>
                              <p:par>
                                <p:cTn id="47" presetID="10" presetClass="entr" presetSubtype="0" fill="hold" nodeType="withEffect">
                                  <p:stCondLst>
                                    <p:cond delay="0"/>
                                  </p:stCondLst>
                                  <p:childTnLst>
                                    <p:set>
                                      <p:cBhvr>
                                        <p:cTn id="48" dur="1" fill="hold">
                                          <p:stCondLst>
                                            <p:cond delay="0"/>
                                          </p:stCondLst>
                                        </p:cTn>
                                        <p:tgtEl>
                                          <p:spTgt spid="203"/>
                                        </p:tgtEl>
                                        <p:attrNameLst>
                                          <p:attrName>style.visibility</p:attrName>
                                        </p:attrNameLst>
                                      </p:cBhvr>
                                      <p:to>
                                        <p:strVal val="visible"/>
                                      </p:to>
                                    </p:set>
                                    <p:animEffect transition="in" filter="fade">
                                      <p:cBhvr>
                                        <p:cTn id="49" dur="500"/>
                                        <p:tgtEl>
                                          <p:spTgt spid="203"/>
                                        </p:tgtEl>
                                      </p:cBhvr>
                                    </p:animEffect>
                                  </p:childTnLst>
                                </p:cTn>
                              </p:par>
                              <p:par>
                                <p:cTn id="50" presetID="10" presetClass="entr" presetSubtype="0" fill="hold" nodeType="withEffect">
                                  <p:stCondLst>
                                    <p:cond delay="0"/>
                                  </p:stCondLst>
                                  <p:childTnLst>
                                    <p:set>
                                      <p:cBhvr>
                                        <p:cTn id="51" dur="1" fill="hold">
                                          <p:stCondLst>
                                            <p:cond delay="0"/>
                                          </p:stCondLst>
                                        </p:cTn>
                                        <p:tgtEl>
                                          <p:spTgt spid="204"/>
                                        </p:tgtEl>
                                        <p:attrNameLst>
                                          <p:attrName>style.visibility</p:attrName>
                                        </p:attrNameLst>
                                      </p:cBhvr>
                                      <p:to>
                                        <p:strVal val="visible"/>
                                      </p:to>
                                    </p:set>
                                    <p:animEffect transition="in" filter="fade">
                                      <p:cBhvr>
                                        <p:cTn id="52" dur="500"/>
                                        <p:tgtEl>
                                          <p:spTgt spid="20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5"/>
                                        </p:tgtEl>
                                        <p:attrNameLst>
                                          <p:attrName>style.visibility</p:attrName>
                                        </p:attrNameLst>
                                      </p:cBhvr>
                                      <p:to>
                                        <p:strVal val="visible"/>
                                      </p:to>
                                    </p:set>
                                    <p:animEffect transition="in" filter="fade">
                                      <p:cBhvr>
                                        <p:cTn id="55" dur="500"/>
                                        <p:tgtEl>
                                          <p:spTgt spid="20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7"/>
                                        </p:tgtEl>
                                        <p:attrNameLst>
                                          <p:attrName>style.visibility</p:attrName>
                                        </p:attrNameLst>
                                      </p:cBhvr>
                                      <p:to>
                                        <p:strVal val="visible"/>
                                      </p:to>
                                    </p:set>
                                    <p:animEffect transition="in" filter="fade">
                                      <p:cBhvr>
                                        <p:cTn id="58" dur="500"/>
                                        <p:tgtEl>
                                          <p:spTgt spid="20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09"/>
                                        </p:tgtEl>
                                        <p:attrNameLst>
                                          <p:attrName>style.visibility</p:attrName>
                                        </p:attrNameLst>
                                      </p:cBhvr>
                                      <p:to>
                                        <p:strVal val="visible"/>
                                      </p:to>
                                    </p:set>
                                    <p:animEffect transition="in" filter="fade">
                                      <p:cBhvr>
                                        <p:cTn id="61" dur="500"/>
                                        <p:tgtEl>
                                          <p:spTgt spid="20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53"/>
                                        </p:tgtEl>
                                        <p:attrNameLst>
                                          <p:attrName>style.visibility</p:attrName>
                                        </p:attrNameLst>
                                      </p:cBhvr>
                                      <p:to>
                                        <p:strVal val="visible"/>
                                      </p:to>
                                    </p:set>
                                    <p:animEffect transition="in" filter="fade">
                                      <p:cBhvr>
                                        <p:cTn id="64" dur="500"/>
                                        <p:tgtEl>
                                          <p:spTgt spid="253"/>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262"/>
                                        </p:tgtEl>
                                        <p:attrNameLst>
                                          <p:attrName>style.visibility</p:attrName>
                                        </p:attrNameLst>
                                      </p:cBhvr>
                                      <p:to>
                                        <p:strVal val="visible"/>
                                      </p:to>
                                    </p:set>
                                    <p:animEffect transition="in" filter="fade">
                                      <p:cBhvr>
                                        <p:cTn id="69" dur="500"/>
                                        <p:tgtEl>
                                          <p:spTgt spid="262"/>
                                        </p:tgtEl>
                                      </p:cBhvr>
                                    </p:animEffect>
                                  </p:childTnLst>
                                </p:cTn>
                              </p:par>
                              <p:par>
                                <p:cTn id="70" presetID="10" presetClass="entr" presetSubtype="0" fill="hold" nodeType="withEffect">
                                  <p:stCondLst>
                                    <p:cond delay="0"/>
                                  </p:stCondLst>
                                  <p:childTnLst>
                                    <p:set>
                                      <p:cBhvr>
                                        <p:cTn id="71" dur="1" fill="hold">
                                          <p:stCondLst>
                                            <p:cond delay="0"/>
                                          </p:stCondLst>
                                        </p:cTn>
                                        <p:tgtEl>
                                          <p:spTgt spid="2"/>
                                        </p:tgtEl>
                                        <p:attrNameLst>
                                          <p:attrName>style.visibility</p:attrName>
                                        </p:attrNameLst>
                                      </p:cBhvr>
                                      <p:to>
                                        <p:strVal val="visible"/>
                                      </p:to>
                                    </p:set>
                                    <p:animEffect transition="in" filter="fade">
                                      <p:cBhvr>
                                        <p:cTn id="72" dur="500"/>
                                        <p:tgtEl>
                                          <p:spTgt spid="2"/>
                                        </p:tgtEl>
                                      </p:cBhvr>
                                    </p:animEffect>
                                  </p:childTnLst>
                                </p:cTn>
                              </p:par>
                              <p:par>
                                <p:cTn id="73" presetID="10" presetClass="entr" presetSubtype="0" fill="hold" nodeType="withEffect">
                                  <p:stCondLst>
                                    <p:cond delay="0"/>
                                  </p:stCondLst>
                                  <p:childTnLst>
                                    <p:set>
                                      <p:cBhvr>
                                        <p:cTn id="74" dur="1" fill="hold">
                                          <p:stCondLst>
                                            <p:cond delay="0"/>
                                          </p:stCondLst>
                                        </p:cTn>
                                        <p:tgtEl>
                                          <p:spTgt spid="228"/>
                                        </p:tgtEl>
                                        <p:attrNameLst>
                                          <p:attrName>style.visibility</p:attrName>
                                        </p:attrNameLst>
                                      </p:cBhvr>
                                      <p:to>
                                        <p:strVal val="visible"/>
                                      </p:to>
                                    </p:set>
                                    <p:animEffect transition="in" filter="fade">
                                      <p:cBhvr>
                                        <p:cTn id="75" dur="500"/>
                                        <p:tgtEl>
                                          <p:spTgt spid="228"/>
                                        </p:tgtEl>
                                      </p:cBhvr>
                                    </p:animEffect>
                                  </p:childTnLst>
                                </p:cTn>
                              </p:par>
                              <p:par>
                                <p:cTn id="76" presetID="10" presetClass="entr" presetSubtype="0" fill="hold" nodeType="withEffect">
                                  <p:stCondLst>
                                    <p:cond delay="0"/>
                                  </p:stCondLst>
                                  <p:childTnLst>
                                    <p:set>
                                      <p:cBhvr>
                                        <p:cTn id="77" dur="1" fill="hold">
                                          <p:stCondLst>
                                            <p:cond delay="0"/>
                                          </p:stCondLst>
                                        </p:cTn>
                                        <p:tgtEl>
                                          <p:spTgt spid="230"/>
                                        </p:tgtEl>
                                        <p:attrNameLst>
                                          <p:attrName>style.visibility</p:attrName>
                                        </p:attrNameLst>
                                      </p:cBhvr>
                                      <p:to>
                                        <p:strVal val="visible"/>
                                      </p:to>
                                    </p:set>
                                    <p:animEffect transition="in" filter="fade">
                                      <p:cBhvr>
                                        <p:cTn id="78" dur="500"/>
                                        <p:tgtEl>
                                          <p:spTgt spid="230"/>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32"/>
                                        </p:tgtEl>
                                        <p:attrNameLst>
                                          <p:attrName>style.visibility</p:attrName>
                                        </p:attrNameLst>
                                      </p:cBhvr>
                                      <p:to>
                                        <p:strVal val="visible"/>
                                      </p:to>
                                    </p:set>
                                    <p:animEffect transition="in" filter="fade">
                                      <p:cBhvr>
                                        <p:cTn id="81" dur="500"/>
                                        <p:tgtEl>
                                          <p:spTgt spid="23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33"/>
                                        </p:tgtEl>
                                        <p:attrNameLst>
                                          <p:attrName>style.visibility</p:attrName>
                                        </p:attrNameLst>
                                      </p:cBhvr>
                                      <p:to>
                                        <p:strVal val="visible"/>
                                      </p:to>
                                    </p:set>
                                    <p:animEffect transition="in" filter="fade">
                                      <p:cBhvr>
                                        <p:cTn id="84" dur="500"/>
                                        <p:tgtEl>
                                          <p:spTgt spid="233"/>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34"/>
                                        </p:tgtEl>
                                        <p:attrNameLst>
                                          <p:attrName>style.visibility</p:attrName>
                                        </p:attrNameLst>
                                      </p:cBhvr>
                                      <p:to>
                                        <p:strVal val="visible"/>
                                      </p:to>
                                    </p:set>
                                    <p:animEffect transition="in" filter="fade">
                                      <p:cBhvr>
                                        <p:cTn id="87" dur="500"/>
                                        <p:tgtEl>
                                          <p:spTgt spid="234"/>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35"/>
                                        </p:tgtEl>
                                        <p:attrNameLst>
                                          <p:attrName>style.visibility</p:attrName>
                                        </p:attrNameLst>
                                      </p:cBhvr>
                                      <p:to>
                                        <p:strVal val="visible"/>
                                      </p:to>
                                    </p:set>
                                    <p:animEffect transition="in" filter="fade">
                                      <p:cBhvr>
                                        <p:cTn id="90" dur="500"/>
                                        <p:tgtEl>
                                          <p:spTgt spid="235"/>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36"/>
                                        </p:tgtEl>
                                        <p:attrNameLst>
                                          <p:attrName>style.visibility</p:attrName>
                                        </p:attrNameLst>
                                      </p:cBhvr>
                                      <p:to>
                                        <p:strVal val="visible"/>
                                      </p:to>
                                    </p:set>
                                    <p:animEffect transition="in" filter="fade">
                                      <p:cBhvr>
                                        <p:cTn id="93" dur="500"/>
                                        <p:tgtEl>
                                          <p:spTgt spid="236"/>
                                        </p:tgtEl>
                                      </p:cBhvr>
                                    </p:animEffect>
                                  </p:childTnLst>
                                </p:cTn>
                              </p:par>
                              <p:par>
                                <p:cTn id="94" presetID="10" presetClass="entr" presetSubtype="0" fill="hold" nodeType="withEffect">
                                  <p:stCondLst>
                                    <p:cond delay="0"/>
                                  </p:stCondLst>
                                  <p:childTnLst>
                                    <p:set>
                                      <p:cBhvr>
                                        <p:cTn id="95" dur="1" fill="hold">
                                          <p:stCondLst>
                                            <p:cond delay="0"/>
                                          </p:stCondLst>
                                        </p:cTn>
                                        <p:tgtEl>
                                          <p:spTgt spid="239"/>
                                        </p:tgtEl>
                                        <p:attrNameLst>
                                          <p:attrName>style.visibility</p:attrName>
                                        </p:attrNameLst>
                                      </p:cBhvr>
                                      <p:to>
                                        <p:strVal val="visible"/>
                                      </p:to>
                                    </p:set>
                                    <p:animEffect transition="in" filter="fade">
                                      <p:cBhvr>
                                        <p:cTn id="96" dur="500"/>
                                        <p:tgtEl>
                                          <p:spTgt spid="239"/>
                                        </p:tgtEl>
                                      </p:cBhvr>
                                    </p:animEffect>
                                  </p:childTnLst>
                                </p:cTn>
                              </p:par>
                              <p:par>
                                <p:cTn id="97" presetID="10" presetClass="entr" presetSubtype="0" fill="hold" nodeType="withEffect">
                                  <p:stCondLst>
                                    <p:cond delay="0"/>
                                  </p:stCondLst>
                                  <p:childTnLst>
                                    <p:set>
                                      <p:cBhvr>
                                        <p:cTn id="98" dur="1" fill="hold">
                                          <p:stCondLst>
                                            <p:cond delay="0"/>
                                          </p:stCondLst>
                                        </p:cTn>
                                        <p:tgtEl>
                                          <p:spTgt spid="240"/>
                                        </p:tgtEl>
                                        <p:attrNameLst>
                                          <p:attrName>style.visibility</p:attrName>
                                        </p:attrNameLst>
                                      </p:cBhvr>
                                      <p:to>
                                        <p:strVal val="visible"/>
                                      </p:to>
                                    </p:set>
                                    <p:animEffect transition="in" filter="fade">
                                      <p:cBhvr>
                                        <p:cTn id="99" dur="500"/>
                                        <p:tgtEl>
                                          <p:spTgt spid="240"/>
                                        </p:tgtEl>
                                      </p:cBhvr>
                                    </p:animEffect>
                                  </p:childTnLst>
                                </p:cTn>
                              </p:par>
                              <p:par>
                                <p:cTn id="100" presetID="10" presetClass="entr" presetSubtype="0" fill="hold" nodeType="withEffect">
                                  <p:stCondLst>
                                    <p:cond delay="0"/>
                                  </p:stCondLst>
                                  <p:childTnLst>
                                    <p:set>
                                      <p:cBhvr>
                                        <p:cTn id="101" dur="1" fill="hold">
                                          <p:stCondLst>
                                            <p:cond delay="0"/>
                                          </p:stCondLst>
                                        </p:cTn>
                                        <p:tgtEl>
                                          <p:spTgt spid="241"/>
                                        </p:tgtEl>
                                        <p:attrNameLst>
                                          <p:attrName>style.visibility</p:attrName>
                                        </p:attrNameLst>
                                      </p:cBhvr>
                                      <p:to>
                                        <p:strVal val="visible"/>
                                      </p:to>
                                    </p:set>
                                    <p:animEffect transition="in" filter="fade">
                                      <p:cBhvr>
                                        <p:cTn id="102" dur="500"/>
                                        <p:tgtEl>
                                          <p:spTgt spid="241"/>
                                        </p:tgtEl>
                                      </p:cBhvr>
                                    </p:animEffect>
                                  </p:childTnLst>
                                </p:cTn>
                              </p:par>
                              <p:par>
                                <p:cTn id="103" presetID="10" presetClass="entr" presetSubtype="0" fill="hold" nodeType="withEffect">
                                  <p:stCondLst>
                                    <p:cond delay="0"/>
                                  </p:stCondLst>
                                  <p:childTnLst>
                                    <p:set>
                                      <p:cBhvr>
                                        <p:cTn id="104" dur="1" fill="hold">
                                          <p:stCondLst>
                                            <p:cond delay="0"/>
                                          </p:stCondLst>
                                        </p:cTn>
                                        <p:tgtEl>
                                          <p:spTgt spid="242"/>
                                        </p:tgtEl>
                                        <p:attrNameLst>
                                          <p:attrName>style.visibility</p:attrName>
                                        </p:attrNameLst>
                                      </p:cBhvr>
                                      <p:to>
                                        <p:strVal val="visible"/>
                                      </p:to>
                                    </p:set>
                                    <p:animEffect transition="in" filter="fade">
                                      <p:cBhvr>
                                        <p:cTn id="105" dur="500"/>
                                        <p:tgtEl>
                                          <p:spTgt spid="242"/>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243"/>
                                        </p:tgtEl>
                                        <p:attrNameLst>
                                          <p:attrName>style.visibility</p:attrName>
                                        </p:attrNameLst>
                                      </p:cBhvr>
                                      <p:to>
                                        <p:strVal val="visible"/>
                                      </p:to>
                                    </p:set>
                                    <p:animEffect transition="in" filter="fade">
                                      <p:cBhvr>
                                        <p:cTn id="108" dur="500"/>
                                        <p:tgtEl>
                                          <p:spTgt spid="243"/>
                                        </p:tgtEl>
                                      </p:cBhvr>
                                    </p:animEffect>
                                  </p:childTnLst>
                                </p:cTn>
                              </p:par>
                              <p:par>
                                <p:cTn id="109" presetID="10" presetClass="entr" presetSubtype="0" fill="hold" nodeType="withEffect">
                                  <p:stCondLst>
                                    <p:cond delay="0"/>
                                  </p:stCondLst>
                                  <p:childTnLst>
                                    <p:set>
                                      <p:cBhvr>
                                        <p:cTn id="110" dur="1" fill="hold">
                                          <p:stCondLst>
                                            <p:cond delay="0"/>
                                          </p:stCondLst>
                                        </p:cTn>
                                        <p:tgtEl>
                                          <p:spTgt spid="244"/>
                                        </p:tgtEl>
                                        <p:attrNameLst>
                                          <p:attrName>style.visibility</p:attrName>
                                        </p:attrNameLst>
                                      </p:cBhvr>
                                      <p:to>
                                        <p:strVal val="visible"/>
                                      </p:to>
                                    </p:set>
                                    <p:animEffect transition="in" filter="fade">
                                      <p:cBhvr>
                                        <p:cTn id="111" dur="500"/>
                                        <p:tgtEl>
                                          <p:spTgt spid="244"/>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245"/>
                                        </p:tgtEl>
                                        <p:attrNameLst>
                                          <p:attrName>style.visibility</p:attrName>
                                        </p:attrNameLst>
                                      </p:cBhvr>
                                      <p:to>
                                        <p:strVal val="visible"/>
                                      </p:to>
                                    </p:set>
                                    <p:animEffect transition="in" filter="fade">
                                      <p:cBhvr>
                                        <p:cTn id="114" dur="500"/>
                                        <p:tgtEl>
                                          <p:spTgt spid="245"/>
                                        </p:tgtEl>
                                      </p:cBhvr>
                                    </p:animEffect>
                                  </p:childTnLst>
                                </p:cTn>
                              </p:par>
                              <p:par>
                                <p:cTn id="115" presetID="10" presetClass="entr" presetSubtype="0" fill="hold" nodeType="withEffect">
                                  <p:stCondLst>
                                    <p:cond delay="0"/>
                                  </p:stCondLst>
                                  <p:childTnLst>
                                    <p:set>
                                      <p:cBhvr>
                                        <p:cTn id="116" dur="1" fill="hold">
                                          <p:stCondLst>
                                            <p:cond delay="0"/>
                                          </p:stCondLst>
                                        </p:cTn>
                                        <p:tgtEl>
                                          <p:spTgt spid="246"/>
                                        </p:tgtEl>
                                        <p:attrNameLst>
                                          <p:attrName>style.visibility</p:attrName>
                                        </p:attrNameLst>
                                      </p:cBhvr>
                                      <p:to>
                                        <p:strVal val="visible"/>
                                      </p:to>
                                    </p:set>
                                    <p:animEffect transition="in" filter="fade">
                                      <p:cBhvr>
                                        <p:cTn id="117" dur="500"/>
                                        <p:tgtEl>
                                          <p:spTgt spid="246"/>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247"/>
                                        </p:tgtEl>
                                        <p:attrNameLst>
                                          <p:attrName>style.visibility</p:attrName>
                                        </p:attrNameLst>
                                      </p:cBhvr>
                                      <p:to>
                                        <p:strVal val="visible"/>
                                      </p:to>
                                    </p:set>
                                    <p:animEffect transition="in" filter="fade">
                                      <p:cBhvr>
                                        <p:cTn id="120" dur="500"/>
                                        <p:tgtEl>
                                          <p:spTgt spid="247"/>
                                        </p:tgtEl>
                                      </p:cBhvr>
                                    </p:animEffect>
                                  </p:childTnLst>
                                </p:cTn>
                              </p:par>
                              <p:par>
                                <p:cTn id="121" presetID="10" presetClass="entr" presetSubtype="0" fill="hold" nodeType="withEffect">
                                  <p:stCondLst>
                                    <p:cond delay="0"/>
                                  </p:stCondLst>
                                  <p:childTnLst>
                                    <p:set>
                                      <p:cBhvr>
                                        <p:cTn id="122" dur="1" fill="hold">
                                          <p:stCondLst>
                                            <p:cond delay="0"/>
                                          </p:stCondLst>
                                        </p:cTn>
                                        <p:tgtEl>
                                          <p:spTgt spid="248"/>
                                        </p:tgtEl>
                                        <p:attrNameLst>
                                          <p:attrName>style.visibility</p:attrName>
                                        </p:attrNameLst>
                                      </p:cBhvr>
                                      <p:to>
                                        <p:strVal val="visible"/>
                                      </p:to>
                                    </p:set>
                                    <p:animEffect transition="in" filter="fade">
                                      <p:cBhvr>
                                        <p:cTn id="123" dur="500"/>
                                        <p:tgtEl>
                                          <p:spTgt spid="248"/>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254"/>
                                        </p:tgtEl>
                                        <p:attrNameLst>
                                          <p:attrName>style.visibility</p:attrName>
                                        </p:attrNameLst>
                                      </p:cBhvr>
                                      <p:to>
                                        <p:strVal val="visible"/>
                                      </p:to>
                                    </p:set>
                                    <p:animEffect transition="in" filter="fade">
                                      <p:cBhvr>
                                        <p:cTn id="126" dur="500"/>
                                        <p:tgtEl>
                                          <p:spTgt spid="254"/>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263"/>
                                        </p:tgtEl>
                                        <p:attrNameLst>
                                          <p:attrName>style.visibility</p:attrName>
                                        </p:attrNameLst>
                                      </p:cBhvr>
                                      <p:to>
                                        <p:strVal val="visible"/>
                                      </p:to>
                                    </p:set>
                                    <p:animEffect transition="in" filter="fade">
                                      <p:cBhvr>
                                        <p:cTn id="129" dur="500"/>
                                        <p:tgtEl>
                                          <p:spTgt spid="263"/>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265"/>
                                        </p:tgtEl>
                                        <p:attrNameLst>
                                          <p:attrName>style.visibility</p:attrName>
                                        </p:attrNameLst>
                                      </p:cBhvr>
                                      <p:to>
                                        <p:strVal val="visible"/>
                                      </p:to>
                                    </p:set>
                                    <p:animEffect transition="in" filter="fade">
                                      <p:cBhvr>
                                        <p:cTn id="132" dur="500"/>
                                        <p:tgtEl>
                                          <p:spTgt spid="265"/>
                                        </p:tgtEl>
                                      </p:cBhvr>
                                    </p:animEffect>
                                  </p:childTnLst>
                                </p:cTn>
                              </p:par>
                              <p:par>
                                <p:cTn id="133" presetID="10" presetClass="entr" presetSubtype="0" fill="hold" nodeType="withEffect">
                                  <p:stCondLst>
                                    <p:cond delay="0"/>
                                  </p:stCondLst>
                                  <p:childTnLst>
                                    <p:set>
                                      <p:cBhvr>
                                        <p:cTn id="134" dur="1" fill="hold">
                                          <p:stCondLst>
                                            <p:cond delay="0"/>
                                          </p:stCondLst>
                                        </p:cTn>
                                        <p:tgtEl>
                                          <p:spTgt spid="266"/>
                                        </p:tgtEl>
                                        <p:attrNameLst>
                                          <p:attrName>style.visibility</p:attrName>
                                        </p:attrNameLst>
                                      </p:cBhvr>
                                      <p:to>
                                        <p:strVal val="visible"/>
                                      </p:to>
                                    </p:set>
                                    <p:animEffect transition="in" filter="fade">
                                      <p:cBhvr>
                                        <p:cTn id="135" dur="500"/>
                                        <p:tgtEl>
                                          <p:spTgt spid="266"/>
                                        </p:tgtEl>
                                      </p:cBhvr>
                                    </p:animEffec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258"/>
                                        </p:tgtEl>
                                        <p:attrNameLst>
                                          <p:attrName>style.visibility</p:attrName>
                                        </p:attrNameLst>
                                      </p:cBhvr>
                                      <p:to>
                                        <p:strVal val="visible"/>
                                      </p:to>
                                    </p:set>
                                    <p:animEffect transition="in" filter="fade">
                                      <p:cBhvr>
                                        <p:cTn id="140" dur="500"/>
                                        <p:tgtEl>
                                          <p:spTgt spid="258"/>
                                        </p:tgtEl>
                                      </p:cBhvr>
                                    </p:animEffect>
                                  </p:childTnLst>
                                </p:cTn>
                              </p:par>
                            </p:childTnLst>
                          </p:cTn>
                        </p:par>
                      </p:childTnLst>
                    </p:cTn>
                  </p:par>
                  <p:par>
                    <p:cTn id="141" fill="hold">
                      <p:stCondLst>
                        <p:cond delay="indefinite"/>
                      </p:stCondLst>
                      <p:childTnLst>
                        <p:par>
                          <p:cTn id="142" fill="hold">
                            <p:stCondLst>
                              <p:cond delay="0"/>
                            </p:stCondLst>
                            <p:childTnLst>
                              <p:par>
                                <p:cTn id="143" presetID="10" presetClass="entr" presetSubtype="0" fill="hold" grpId="0" nodeType="clickEffect">
                                  <p:stCondLst>
                                    <p:cond delay="0"/>
                                  </p:stCondLst>
                                  <p:childTnLst>
                                    <p:set>
                                      <p:cBhvr>
                                        <p:cTn id="144" dur="1" fill="hold">
                                          <p:stCondLst>
                                            <p:cond delay="0"/>
                                          </p:stCondLst>
                                        </p:cTn>
                                        <p:tgtEl>
                                          <p:spTgt spid="261"/>
                                        </p:tgtEl>
                                        <p:attrNameLst>
                                          <p:attrName>style.visibility</p:attrName>
                                        </p:attrNameLst>
                                      </p:cBhvr>
                                      <p:to>
                                        <p:strVal val="visible"/>
                                      </p:to>
                                    </p:set>
                                    <p:animEffect transition="in" filter="fade">
                                      <p:cBhvr>
                                        <p:cTn id="145" dur="500"/>
                                        <p:tgtEl>
                                          <p:spTgt spid="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 grpId="0" animBg="1"/>
      <p:bldP spid="195" grpId="0" animBg="1"/>
      <p:bldP spid="196" grpId="0" animBg="1"/>
      <p:bldP spid="197" grpId="0" animBg="1"/>
      <p:bldP spid="198" grpId="0" animBg="1"/>
      <p:bldP spid="199" grpId="0" animBg="1"/>
      <p:bldP spid="205" grpId="0" animBg="1"/>
      <p:bldP spid="207" grpId="0" animBg="1"/>
      <p:bldP spid="209" grpId="0" animBg="1"/>
      <p:bldP spid="232" grpId="0" animBg="1"/>
      <p:bldP spid="233" grpId="0" animBg="1"/>
      <p:bldP spid="234" grpId="0" animBg="1"/>
      <p:bldP spid="235" grpId="0" animBg="1"/>
      <p:bldP spid="236" grpId="0" animBg="1"/>
      <p:bldP spid="243" grpId="0" animBg="1"/>
      <p:bldP spid="245" grpId="0" animBg="1"/>
      <p:bldP spid="247" grpId="0" animBg="1"/>
      <p:bldP spid="253" grpId="0"/>
      <p:bldP spid="254" grpId="0"/>
      <p:bldP spid="258" grpId="0"/>
      <p:bldP spid="261" grpId="0"/>
      <p:bldP spid="263" grpId="0" animBg="1"/>
      <p:bldP spid="26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1.</a:t>
            </a:r>
            <a:r>
              <a:rPr lang="zh-CN" altLang="en-US" sz="2800" dirty="0">
                <a:solidFill>
                  <a:srgbClr val="000000">
                    <a:lumMod val="75000"/>
                    <a:lumOff val="25000"/>
                  </a:srgbClr>
                </a:solidFill>
              </a:rPr>
              <a:t>介绍</a:t>
            </a:r>
          </a:p>
        </p:txBody>
      </p:sp>
      <p:sp>
        <p:nvSpPr>
          <p:cNvPr id="4" name="文本框 3">
            <a:extLst>
              <a:ext uri="{FF2B5EF4-FFF2-40B4-BE49-F238E27FC236}">
                <a16:creationId xmlns:a16="http://schemas.microsoft.com/office/drawing/2014/main" id="{308EC5F7-FED3-0667-8A95-AE857A3ECF0B}"/>
              </a:ext>
            </a:extLst>
          </p:cNvPr>
          <p:cNvSpPr txBox="1"/>
          <p:nvPr/>
        </p:nvSpPr>
        <p:spPr>
          <a:xfrm>
            <a:off x="290644" y="806973"/>
            <a:ext cx="3073879" cy="396583"/>
          </a:xfrm>
          <a:prstGeom prst="rect">
            <a:avLst/>
          </a:prstGeom>
          <a:noFill/>
        </p:spPr>
        <p:txBody>
          <a:bodyPr wrap="square" rtlCol="0" anchor="ctr">
            <a:spAutoFit/>
          </a:bodyPr>
          <a:lstStyle/>
          <a:p>
            <a:pPr marL="285750" indent="-285750">
              <a:lnSpc>
                <a:spcPct val="120000"/>
              </a:lnSpc>
              <a:buFont typeface="Wingdings" panose="05000000000000000000" pitchFamily="2" charset="2"/>
              <a:buChar char="Ø"/>
            </a:pPr>
            <a:r>
              <a:rPr lang="zh-CN" altLang="en-US" b="1" dirty="0">
                <a:solidFill>
                  <a:srgbClr val="268F9C"/>
                </a:solidFill>
                <a:latin typeface="+mn-ea"/>
              </a:rPr>
              <a:t>投机解码加速效率的影响</a:t>
            </a:r>
          </a:p>
        </p:txBody>
      </p:sp>
      <p:pic>
        <p:nvPicPr>
          <p:cNvPr id="6" name="图片 5">
            <a:extLst>
              <a:ext uri="{FF2B5EF4-FFF2-40B4-BE49-F238E27FC236}">
                <a16:creationId xmlns:a16="http://schemas.microsoft.com/office/drawing/2014/main" id="{E1FC4231-A60B-C986-E2D7-9C88E1DAC1AF}"/>
              </a:ext>
            </a:extLst>
          </p:cNvPr>
          <p:cNvPicPr>
            <a:picLocks noChangeAspect="1"/>
          </p:cNvPicPr>
          <p:nvPr/>
        </p:nvPicPr>
        <p:blipFill>
          <a:blip r:embed="rId3"/>
          <a:stretch>
            <a:fillRect/>
          </a:stretch>
        </p:blipFill>
        <p:spPr>
          <a:xfrm>
            <a:off x="6697166" y="1458119"/>
            <a:ext cx="4179992" cy="3413335"/>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DAD13DF5-4E2B-63B6-CE4A-AC82DD3EACE1}"/>
                  </a:ext>
                </a:extLst>
              </p:cNvPr>
              <p:cNvSpPr txBox="1"/>
              <p:nvPr/>
            </p:nvSpPr>
            <p:spPr>
              <a:xfrm>
                <a:off x="797168" y="1180043"/>
                <a:ext cx="2309446" cy="396134"/>
              </a:xfrm>
              <a:prstGeom prst="rect">
                <a:avLst/>
              </a:prstGeom>
              <a:noFill/>
            </p:spPr>
            <p:txBody>
              <a:bodyPr wrap="square" rtlCol="0" anchor="ctr">
                <a:spAutoFit/>
              </a:bodyPr>
              <a:lstStyle/>
              <a:p>
                <a:pPr>
                  <a:lnSpc>
                    <a:spcPct val="120000"/>
                  </a:lnSpc>
                </a:pPr>
                <a:r>
                  <a:rPr lang="en-US" altLang="zh-CN" b="1" dirty="0">
                    <a:solidFill>
                      <a:schemeClr val="tx1">
                        <a:lumMod val="75000"/>
                        <a:lumOff val="25000"/>
                      </a:schemeClr>
                    </a:solidFill>
                  </a:rPr>
                  <a:t>(1) </a:t>
                </a:r>
                <a:r>
                  <a:rPr lang="zh-CN" altLang="en-US" b="1" dirty="0">
                    <a:solidFill>
                      <a:schemeClr val="tx1">
                        <a:lumMod val="75000"/>
                        <a:lumOff val="25000"/>
                      </a:schemeClr>
                    </a:solidFill>
                  </a:rPr>
                  <a:t>接受概率 </a:t>
                </a:r>
                <a14:m>
                  <m:oMath xmlns:m="http://schemas.openxmlformats.org/officeDocument/2006/math">
                    <m:r>
                      <a:rPr lang="en-US" altLang="zh-CN" b="1" i="1" smtClean="0">
                        <a:solidFill>
                          <a:schemeClr val="tx1">
                            <a:lumMod val="75000"/>
                            <a:lumOff val="25000"/>
                          </a:schemeClr>
                        </a:solidFill>
                        <a:latin typeface="Cambria Math" panose="02040503050406030204" pitchFamily="18" charset="0"/>
                      </a:rPr>
                      <m:t>𝜶</m:t>
                    </m:r>
                  </m:oMath>
                </a14:m>
                <a:endParaRPr lang="zh-CN" altLang="en-US" b="1" dirty="0">
                  <a:solidFill>
                    <a:schemeClr val="tx1">
                      <a:lumMod val="75000"/>
                      <a:lumOff val="25000"/>
                    </a:schemeClr>
                  </a:solidFill>
                </a:endParaRPr>
              </a:p>
            </p:txBody>
          </p:sp>
        </mc:Choice>
        <mc:Fallback xmlns="">
          <p:sp>
            <p:nvSpPr>
              <p:cNvPr id="7" name="文本框 6">
                <a:extLst>
                  <a:ext uri="{FF2B5EF4-FFF2-40B4-BE49-F238E27FC236}">
                    <a16:creationId xmlns:a16="http://schemas.microsoft.com/office/drawing/2014/main" id="{DAD13DF5-4E2B-63B6-CE4A-AC82DD3EACE1}"/>
                  </a:ext>
                </a:extLst>
              </p:cNvPr>
              <p:cNvSpPr txBox="1">
                <a:spLocks noRot="1" noChangeAspect="1" noMove="1" noResize="1" noEditPoints="1" noAdjustHandles="1" noChangeArrowheads="1" noChangeShapeType="1" noTextEdit="1"/>
              </p:cNvSpPr>
              <p:nvPr/>
            </p:nvSpPr>
            <p:spPr>
              <a:xfrm>
                <a:off x="797168" y="1180043"/>
                <a:ext cx="2309446" cy="396134"/>
              </a:xfrm>
              <a:prstGeom prst="rect">
                <a:avLst/>
              </a:prstGeom>
              <a:blipFill>
                <a:blip r:embed="rId4"/>
                <a:stretch>
                  <a:fillRect l="-2375" t="-1538" b="-24615"/>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D62D2877-4FFE-4671-7BEA-44B8A44F6AE8}"/>
              </a:ext>
            </a:extLst>
          </p:cNvPr>
          <p:cNvPicPr>
            <a:picLocks noChangeAspect="1"/>
          </p:cNvPicPr>
          <p:nvPr/>
        </p:nvPicPr>
        <p:blipFill>
          <a:blip r:embed="rId5"/>
          <a:stretch>
            <a:fillRect/>
          </a:stretch>
        </p:blipFill>
        <p:spPr>
          <a:xfrm>
            <a:off x="1314842" y="2101567"/>
            <a:ext cx="4337537" cy="2415276"/>
          </a:xfrm>
          <a:prstGeom prst="rect">
            <a:avLst/>
          </a:prstGeom>
        </p:spPr>
      </p:pic>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073F4DA8-8C1E-6824-F829-5ADB98CAA489}"/>
                  </a:ext>
                </a:extLst>
              </p:cNvPr>
              <p:cNvSpPr txBox="1"/>
              <p:nvPr/>
            </p:nvSpPr>
            <p:spPr>
              <a:xfrm>
                <a:off x="797168" y="1664959"/>
                <a:ext cx="3997572" cy="396134"/>
              </a:xfrm>
              <a:prstGeom prst="rect">
                <a:avLst/>
              </a:prstGeom>
              <a:noFill/>
            </p:spPr>
            <p:txBody>
              <a:bodyPr wrap="square" rtlCol="0" anchor="ctr">
                <a:spAutoFit/>
              </a:bodyPr>
              <a:lstStyle/>
              <a:p>
                <a:pPr>
                  <a:lnSpc>
                    <a:spcPct val="120000"/>
                  </a:lnSpc>
                </a:pPr>
                <a:r>
                  <a:rPr lang="en-US" altLang="zh-CN" b="1" dirty="0">
                    <a:solidFill>
                      <a:schemeClr val="tx1">
                        <a:lumMod val="75000"/>
                        <a:lumOff val="25000"/>
                      </a:schemeClr>
                    </a:solidFill>
                  </a:rPr>
                  <a:t>(2) </a:t>
                </a:r>
                <a:r>
                  <a:rPr lang="zh-CN" altLang="en-US" b="1" dirty="0">
                    <a:solidFill>
                      <a:schemeClr val="tx1">
                        <a:lumMod val="75000"/>
                        <a:lumOff val="25000"/>
                      </a:schemeClr>
                    </a:solidFill>
                  </a:rPr>
                  <a:t>草稿模型每次生成</a:t>
                </a:r>
                <a:r>
                  <a:rPr lang="en-US" altLang="zh-CN" b="1" dirty="0">
                    <a:solidFill>
                      <a:schemeClr val="tx1">
                        <a:lumMod val="75000"/>
                        <a:lumOff val="25000"/>
                      </a:schemeClr>
                    </a:solidFill>
                  </a:rPr>
                  <a:t>token</a:t>
                </a:r>
                <a:r>
                  <a:rPr lang="zh-CN" altLang="en-US" b="1" dirty="0">
                    <a:solidFill>
                      <a:schemeClr val="tx1">
                        <a:lumMod val="75000"/>
                        <a:lumOff val="25000"/>
                      </a:schemeClr>
                    </a:solidFill>
                  </a:rPr>
                  <a:t>数量 </a:t>
                </a:r>
                <a14:m>
                  <m:oMath xmlns:m="http://schemas.openxmlformats.org/officeDocument/2006/math">
                    <m:r>
                      <a:rPr lang="en-US" altLang="zh-CN" b="1" i="1" smtClean="0">
                        <a:solidFill>
                          <a:schemeClr val="tx1">
                            <a:lumMod val="75000"/>
                            <a:lumOff val="25000"/>
                          </a:schemeClr>
                        </a:solidFill>
                        <a:latin typeface="Cambria Math" panose="02040503050406030204" pitchFamily="18" charset="0"/>
                      </a:rPr>
                      <m:t>𝜸</m:t>
                    </m:r>
                  </m:oMath>
                </a14:m>
                <a:endParaRPr lang="zh-CN" altLang="en-US" b="1" dirty="0">
                  <a:solidFill>
                    <a:schemeClr val="tx1">
                      <a:lumMod val="75000"/>
                      <a:lumOff val="25000"/>
                    </a:schemeClr>
                  </a:solidFill>
                </a:endParaRPr>
              </a:p>
            </p:txBody>
          </p:sp>
        </mc:Choice>
        <mc:Fallback xmlns="">
          <p:sp>
            <p:nvSpPr>
              <p:cNvPr id="10" name="文本框 9">
                <a:extLst>
                  <a:ext uri="{FF2B5EF4-FFF2-40B4-BE49-F238E27FC236}">
                    <a16:creationId xmlns:a16="http://schemas.microsoft.com/office/drawing/2014/main" id="{073F4DA8-8C1E-6824-F829-5ADB98CAA489}"/>
                  </a:ext>
                </a:extLst>
              </p:cNvPr>
              <p:cNvSpPr txBox="1">
                <a:spLocks noRot="1" noChangeAspect="1" noMove="1" noResize="1" noEditPoints="1" noAdjustHandles="1" noChangeArrowheads="1" noChangeShapeType="1" noTextEdit="1"/>
              </p:cNvSpPr>
              <p:nvPr/>
            </p:nvSpPr>
            <p:spPr>
              <a:xfrm>
                <a:off x="797168" y="1664959"/>
                <a:ext cx="3997572" cy="396134"/>
              </a:xfrm>
              <a:prstGeom prst="rect">
                <a:avLst/>
              </a:prstGeom>
              <a:blipFill>
                <a:blip r:embed="rId6"/>
                <a:stretch>
                  <a:fillRect l="-1372" b="-24615"/>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3A79D6A0-1BD9-9CFE-226A-F8F82ECFF2B3}"/>
              </a:ext>
            </a:extLst>
          </p:cNvPr>
          <p:cNvSpPr txBox="1"/>
          <p:nvPr/>
        </p:nvSpPr>
        <p:spPr>
          <a:xfrm>
            <a:off x="797168" y="4475320"/>
            <a:ext cx="3997572" cy="396134"/>
          </a:xfrm>
          <a:prstGeom prst="rect">
            <a:avLst/>
          </a:prstGeom>
          <a:noFill/>
        </p:spPr>
        <p:txBody>
          <a:bodyPr wrap="square" rtlCol="0" anchor="ctr">
            <a:spAutoFit/>
          </a:bodyPr>
          <a:lstStyle/>
          <a:p>
            <a:pPr>
              <a:lnSpc>
                <a:spcPct val="120000"/>
              </a:lnSpc>
            </a:pPr>
            <a:r>
              <a:rPr lang="en-US" altLang="zh-CN" b="1" dirty="0">
                <a:solidFill>
                  <a:schemeClr val="tx1">
                    <a:lumMod val="75000"/>
                    <a:lumOff val="25000"/>
                  </a:schemeClr>
                </a:solidFill>
              </a:rPr>
              <a:t>(3) </a:t>
            </a:r>
            <a:r>
              <a:rPr lang="zh-CN" altLang="en-US" b="1" dirty="0">
                <a:solidFill>
                  <a:schemeClr val="tx1">
                    <a:lumMod val="75000"/>
                    <a:lumOff val="25000"/>
                  </a:schemeClr>
                </a:solidFill>
              </a:rPr>
              <a:t>草稿模型的推理速度</a:t>
            </a:r>
          </a:p>
        </p:txBody>
      </p:sp>
      <p:pic>
        <p:nvPicPr>
          <p:cNvPr id="13" name="图片 12">
            <a:extLst>
              <a:ext uri="{FF2B5EF4-FFF2-40B4-BE49-F238E27FC236}">
                <a16:creationId xmlns:a16="http://schemas.microsoft.com/office/drawing/2014/main" id="{18482E97-0AE5-4EC7-7BE3-C556AD0EAF7B}"/>
              </a:ext>
            </a:extLst>
          </p:cNvPr>
          <p:cNvPicPr>
            <a:picLocks noChangeAspect="1"/>
          </p:cNvPicPr>
          <p:nvPr/>
        </p:nvPicPr>
        <p:blipFill>
          <a:blip r:embed="rId7"/>
          <a:stretch>
            <a:fillRect/>
          </a:stretch>
        </p:blipFill>
        <p:spPr>
          <a:xfrm>
            <a:off x="395807" y="4894104"/>
            <a:ext cx="11605846" cy="1811022"/>
          </a:xfrm>
          <a:prstGeom prst="rect">
            <a:avLst/>
          </a:prstGeom>
        </p:spPr>
      </p:pic>
    </p:spTree>
    <p:extLst>
      <p:ext uri="{BB962C8B-B14F-4D97-AF65-F5344CB8AC3E}">
        <p14:creationId xmlns:p14="http://schemas.microsoft.com/office/powerpoint/2010/main" val="3282438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2E7B7-D639-9DDA-05CC-0BC51D22B6F1}"/>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FB87B504-9627-A84E-7860-515FA4127C53}"/>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2.DistillSpec</a:t>
            </a:r>
            <a:endParaRPr lang="zh-CN" altLang="en-US" sz="2800" dirty="0">
              <a:solidFill>
                <a:srgbClr val="000000">
                  <a:lumMod val="75000"/>
                  <a:lumOff val="25000"/>
                </a:srgbClr>
              </a:solidFill>
            </a:endParaRPr>
          </a:p>
        </p:txBody>
      </p:sp>
      <p:sp>
        <p:nvSpPr>
          <p:cNvPr id="2" name="文本框 1">
            <a:extLst>
              <a:ext uri="{FF2B5EF4-FFF2-40B4-BE49-F238E27FC236}">
                <a16:creationId xmlns:a16="http://schemas.microsoft.com/office/drawing/2014/main" id="{49507126-BEC7-77AA-6BD8-0D7A690BE896}"/>
              </a:ext>
            </a:extLst>
          </p:cNvPr>
          <p:cNvSpPr txBox="1"/>
          <p:nvPr/>
        </p:nvSpPr>
        <p:spPr>
          <a:xfrm>
            <a:off x="290644" y="806973"/>
            <a:ext cx="3073879" cy="396583"/>
          </a:xfrm>
          <a:prstGeom prst="rect">
            <a:avLst/>
          </a:prstGeom>
          <a:noFill/>
        </p:spPr>
        <p:txBody>
          <a:bodyPr wrap="square" rtlCol="0" anchor="ctr">
            <a:spAutoFit/>
          </a:bodyPr>
          <a:lstStyle/>
          <a:p>
            <a:pPr marL="285750" indent="-285750">
              <a:lnSpc>
                <a:spcPct val="120000"/>
              </a:lnSpc>
              <a:buFont typeface="Wingdings" panose="05000000000000000000" pitchFamily="2" charset="2"/>
              <a:buChar char="Ø"/>
            </a:pPr>
            <a:r>
              <a:rPr lang="zh-CN" altLang="en-US" b="1" dirty="0">
                <a:solidFill>
                  <a:srgbClr val="268F9C"/>
                </a:solidFill>
                <a:latin typeface="+mn-ea"/>
              </a:rPr>
              <a:t>蒸馏</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E676956D-B9C7-0F25-F5C0-AB814B530297}"/>
                  </a:ext>
                </a:extLst>
              </p:cNvPr>
              <p:cNvSpPr txBox="1"/>
              <p:nvPr/>
            </p:nvSpPr>
            <p:spPr>
              <a:xfrm>
                <a:off x="597875" y="1794923"/>
                <a:ext cx="5814647" cy="727828"/>
              </a:xfrm>
              <a:prstGeom prst="rect">
                <a:avLst/>
              </a:prstGeom>
              <a:noFill/>
            </p:spPr>
            <p:txBody>
              <a:bodyPr wrap="square" rtlCol="0" anchor="ctr">
                <a:spAutoFit/>
              </a:bodyPr>
              <a:lstStyle/>
              <a:p>
                <a:pPr marL="342900" indent="-342900">
                  <a:lnSpc>
                    <a:spcPct val="120000"/>
                  </a:lnSpc>
                  <a:buAutoNum type="arabicParenBoth"/>
                </a:pPr>
                <a:r>
                  <a:rPr lang="zh-CN" altLang="en-US" b="1" dirty="0">
                    <a:solidFill>
                      <a:schemeClr val="tx1">
                        <a:lumMod val="75000"/>
                        <a:lumOff val="25000"/>
                      </a:schemeClr>
                    </a:solidFill>
                  </a:rPr>
                  <a:t>散度函数</a:t>
                </a:r>
                <a14:m>
                  <m:oMath xmlns:m="http://schemas.openxmlformats.org/officeDocument/2006/math">
                    <m:r>
                      <a:rPr lang="en-US" altLang="zh-CN" b="1" i="1" smtClean="0">
                        <a:solidFill>
                          <a:schemeClr val="tx1">
                            <a:lumMod val="75000"/>
                            <a:lumOff val="25000"/>
                          </a:schemeClr>
                        </a:solidFill>
                        <a:latin typeface="Cambria Math" panose="02040503050406030204" pitchFamily="18" charset="0"/>
                      </a:rPr>
                      <m:t>𝑫</m:t>
                    </m:r>
                  </m:oMath>
                </a14:m>
                <a:endParaRPr lang="en-US" altLang="zh-CN" b="1" dirty="0">
                  <a:solidFill>
                    <a:schemeClr val="tx1">
                      <a:lumMod val="75000"/>
                      <a:lumOff val="25000"/>
                    </a:schemeClr>
                  </a:solidFill>
                </a:endParaRPr>
              </a:p>
              <a:p>
                <a:pPr marL="800100" lvl="1" indent="-342900">
                  <a:lnSpc>
                    <a:spcPct val="120000"/>
                  </a:lnSpc>
                  <a:spcAft>
                    <a:spcPts val="1200"/>
                  </a:spcAft>
                  <a:buFont typeface="Arial" panose="020B0604020202020204" pitchFamily="34" charset="0"/>
                  <a:buChar char="•"/>
                </a:pPr>
                <a14:m>
                  <m:oMath xmlns:m="http://schemas.openxmlformats.org/officeDocument/2006/math">
                    <m:r>
                      <a:rPr lang="en-US" altLang="zh-CN" b="1" i="1" smtClean="0">
                        <a:solidFill>
                          <a:schemeClr val="tx1">
                            <a:lumMod val="75000"/>
                            <a:lumOff val="25000"/>
                          </a:schemeClr>
                        </a:solidFill>
                        <a:latin typeface="Cambria Math" panose="02040503050406030204" pitchFamily="18" charset="0"/>
                      </a:rPr>
                      <m:t>𝑭𝑲𝑳</m:t>
                    </m:r>
                  </m:oMath>
                </a14:m>
                <a:r>
                  <a:rPr lang="zh-CN" altLang="en-US" b="1" dirty="0">
                    <a:solidFill>
                      <a:schemeClr val="tx1">
                        <a:lumMod val="75000"/>
                        <a:lumOff val="25000"/>
                      </a:schemeClr>
                    </a:solidFill>
                  </a:rPr>
                  <a:t> </a:t>
                </a:r>
              </a:p>
            </p:txBody>
          </p:sp>
        </mc:Choice>
        <mc:Fallback xmlns="">
          <p:sp>
            <p:nvSpPr>
              <p:cNvPr id="5" name="文本框 4">
                <a:extLst>
                  <a:ext uri="{FF2B5EF4-FFF2-40B4-BE49-F238E27FC236}">
                    <a16:creationId xmlns:a16="http://schemas.microsoft.com/office/drawing/2014/main" id="{E676956D-B9C7-0F25-F5C0-AB814B530297}"/>
                  </a:ext>
                </a:extLst>
              </p:cNvPr>
              <p:cNvSpPr txBox="1">
                <a:spLocks noRot="1" noChangeAspect="1" noMove="1" noResize="1" noEditPoints="1" noAdjustHandles="1" noChangeArrowheads="1" noChangeShapeType="1" noTextEdit="1"/>
              </p:cNvSpPr>
              <p:nvPr/>
            </p:nvSpPr>
            <p:spPr>
              <a:xfrm>
                <a:off x="597875" y="1794923"/>
                <a:ext cx="5814647" cy="727828"/>
              </a:xfrm>
              <a:prstGeom prst="rect">
                <a:avLst/>
              </a:prstGeom>
              <a:blipFill>
                <a:blip r:embed="rId3"/>
                <a:stretch>
                  <a:fillRect l="-629" b="-10833"/>
                </a:stretch>
              </a:blipFill>
            </p:spPr>
            <p:txBody>
              <a:bodyPr/>
              <a:lstStyle/>
              <a:p>
                <a:r>
                  <a:rPr lang="zh-CN" altLang="en-US">
                    <a:noFill/>
                  </a:rPr>
                  <a:t> </a:t>
                </a:r>
              </a:p>
            </p:txBody>
          </p:sp>
        </mc:Fallback>
      </mc:AlternateContent>
      <p:pic>
        <p:nvPicPr>
          <p:cNvPr id="12" name="图片 11">
            <a:extLst>
              <a:ext uri="{FF2B5EF4-FFF2-40B4-BE49-F238E27FC236}">
                <a16:creationId xmlns:a16="http://schemas.microsoft.com/office/drawing/2014/main" id="{AEECC4E1-3BB1-DECD-231E-E8096F61F332}"/>
              </a:ext>
            </a:extLst>
          </p:cNvPr>
          <p:cNvPicPr>
            <a:picLocks noChangeAspect="1"/>
          </p:cNvPicPr>
          <p:nvPr/>
        </p:nvPicPr>
        <p:blipFill>
          <a:blip r:embed="rId4"/>
          <a:stretch>
            <a:fillRect/>
          </a:stretch>
        </p:blipFill>
        <p:spPr>
          <a:xfrm>
            <a:off x="597876" y="1315038"/>
            <a:ext cx="5709139" cy="527834"/>
          </a:xfrm>
          <a:prstGeom prst="rect">
            <a:avLst/>
          </a:prstGeom>
        </p:spPr>
      </p:pic>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0AD14904-A6D0-7C04-1AE9-B450A7A3DB37}"/>
                  </a:ext>
                </a:extLst>
              </p:cNvPr>
              <p:cNvSpPr txBox="1"/>
              <p:nvPr/>
            </p:nvSpPr>
            <p:spPr>
              <a:xfrm>
                <a:off x="597875" y="3184132"/>
                <a:ext cx="3657602" cy="394210"/>
              </a:xfrm>
              <a:prstGeom prst="rect">
                <a:avLst/>
              </a:prstGeom>
              <a:noFill/>
            </p:spPr>
            <p:txBody>
              <a:bodyPr wrap="square">
                <a:spAutoFit/>
              </a:bodyPr>
              <a:lstStyle/>
              <a:p>
                <a:pPr marL="800100" lvl="1" indent="-342900">
                  <a:lnSpc>
                    <a:spcPct val="120000"/>
                  </a:lnSpc>
                  <a:spcAft>
                    <a:spcPts val="1200"/>
                  </a:spcAft>
                  <a:buFont typeface="Arial" panose="020B0604020202020204" pitchFamily="34" charset="0"/>
                  <a:buChar char="•"/>
                </a:pPr>
                <a14:m>
                  <m:oMath xmlns:m="http://schemas.openxmlformats.org/officeDocument/2006/math">
                    <m:r>
                      <a:rPr lang="en-US" altLang="zh-CN" b="1" i="1" smtClean="0">
                        <a:solidFill>
                          <a:schemeClr val="tx1">
                            <a:lumMod val="75000"/>
                            <a:lumOff val="25000"/>
                          </a:schemeClr>
                        </a:solidFill>
                        <a:latin typeface="Cambria Math" panose="02040503050406030204" pitchFamily="18" charset="0"/>
                      </a:rPr>
                      <m:t>𝑹𝑲𝑳</m:t>
                    </m:r>
                  </m:oMath>
                </a14:m>
                <a:r>
                  <a:rPr lang="zh-CN" altLang="en-US" b="1" dirty="0">
                    <a:solidFill>
                      <a:schemeClr val="tx1">
                        <a:lumMod val="75000"/>
                        <a:lumOff val="25000"/>
                      </a:schemeClr>
                    </a:solidFill>
                  </a:rPr>
                  <a:t> </a:t>
                </a:r>
              </a:p>
            </p:txBody>
          </p:sp>
        </mc:Choice>
        <mc:Fallback xmlns="">
          <p:sp>
            <p:nvSpPr>
              <p:cNvPr id="18" name="文本框 17">
                <a:extLst>
                  <a:ext uri="{FF2B5EF4-FFF2-40B4-BE49-F238E27FC236}">
                    <a16:creationId xmlns:a16="http://schemas.microsoft.com/office/drawing/2014/main" id="{0AD14904-A6D0-7C04-1AE9-B450A7A3DB37}"/>
                  </a:ext>
                </a:extLst>
              </p:cNvPr>
              <p:cNvSpPr txBox="1">
                <a:spLocks noRot="1" noChangeAspect="1" noMove="1" noResize="1" noEditPoints="1" noAdjustHandles="1" noChangeArrowheads="1" noChangeShapeType="1" noTextEdit="1"/>
              </p:cNvSpPr>
              <p:nvPr/>
            </p:nvSpPr>
            <p:spPr>
              <a:xfrm>
                <a:off x="597875" y="3184132"/>
                <a:ext cx="3657602" cy="394210"/>
              </a:xfrm>
              <a:prstGeom prst="rect">
                <a:avLst/>
              </a:prstGeom>
              <a:blipFill>
                <a:blip r:embed="rId5"/>
                <a:stretch>
                  <a:fillRect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85343880-4C76-B5D3-CD4C-942BAB496B07}"/>
                  </a:ext>
                </a:extLst>
              </p:cNvPr>
              <p:cNvSpPr txBox="1"/>
              <p:nvPr/>
            </p:nvSpPr>
            <p:spPr>
              <a:xfrm>
                <a:off x="597875" y="4239723"/>
                <a:ext cx="3657602" cy="394210"/>
              </a:xfrm>
              <a:prstGeom prst="rect">
                <a:avLst/>
              </a:prstGeom>
              <a:noFill/>
            </p:spPr>
            <p:txBody>
              <a:bodyPr wrap="square">
                <a:spAutoFit/>
              </a:bodyPr>
              <a:lstStyle/>
              <a:p>
                <a:pPr marL="800100" lvl="1" indent="-342900">
                  <a:lnSpc>
                    <a:spcPct val="120000"/>
                  </a:lnSpc>
                  <a:spcAft>
                    <a:spcPts val="1200"/>
                  </a:spcAft>
                  <a:buFont typeface="Arial" panose="020B0604020202020204" pitchFamily="34" charset="0"/>
                  <a:buChar char="•"/>
                </a:pPr>
                <a14:m>
                  <m:oMath xmlns:m="http://schemas.openxmlformats.org/officeDocument/2006/math">
                    <m:r>
                      <a:rPr lang="en-US" altLang="zh-CN" b="1" i="1" smtClean="0">
                        <a:solidFill>
                          <a:schemeClr val="tx1">
                            <a:lumMod val="75000"/>
                            <a:lumOff val="25000"/>
                          </a:schemeClr>
                        </a:solidFill>
                        <a:latin typeface="Cambria Math" panose="02040503050406030204" pitchFamily="18" charset="0"/>
                      </a:rPr>
                      <m:t>𝑻𝑽𝑫</m:t>
                    </m:r>
                  </m:oMath>
                </a14:m>
                <a:endParaRPr lang="zh-CN" altLang="en-US" b="1" dirty="0">
                  <a:solidFill>
                    <a:schemeClr val="tx1">
                      <a:lumMod val="75000"/>
                      <a:lumOff val="25000"/>
                    </a:schemeClr>
                  </a:solidFill>
                </a:endParaRPr>
              </a:p>
            </p:txBody>
          </p:sp>
        </mc:Choice>
        <mc:Fallback xmlns="">
          <p:sp>
            <p:nvSpPr>
              <p:cNvPr id="19" name="文本框 18">
                <a:extLst>
                  <a:ext uri="{FF2B5EF4-FFF2-40B4-BE49-F238E27FC236}">
                    <a16:creationId xmlns:a16="http://schemas.microsoft.com/office/drawing/2014/main" id="{85343880-4C76-B5D3-CD4C-942BAB496B07}"/>
                  </a:ext>
                </a:extLst>
              </p:cNvPr>
              <p:cNvSpPr txBox="1">
                <a:spLocks noRot="1" noChangeAspect="1" noMove="1" noResize="1" noEditPoints="1" noAdjustHandles="1" noChangeArrowheads="1" noChangeShapeType="1" noTextEdit="1"/>
              </p:cNvSpPr>
              <p:nvPr/>
            </p:nvSpPr>
            <p:spPr>
              <a:xfrm>
                <a:off x="597875" y="4239723"/>
                <a:ext cx="3657602" cy="394210"/>
              </a:xfrm>
              <a:prstGeom prst="rect">
                <a:avLst/>
              </a:prstGeom>
              <a:blipFill>
                <a:blip r:embed="rId6"/>
                <a:stretch>
                  <a:fillRect b="-20000"/>
                </a:stretch>
              </a:blipFill>
            </p:spPr>
            <p:txBody>
              <a:bodyPr/>
              <a:lstStyle/>
              <a:p>
                <a:r>
                  <a:rPr lang="zh-CN" altLang="en-US">
                    <a:noFill/>
                  </a:rPr>
                  <a:t> </a:t>
                </a:r>
              </a:p>
            </p:txBody>
          </p:sp>
        </mc:Fallback>
      </mc:AlternateContent>
      <p:sp>
        <p:nvSpPr>
          <p:cNvPr id="21" name="文本框 20">
            <a:extLst>
              <a:ext uri="{FF2B5EF4-FFF2-40B4-BE49-F238E27FC236}">
                <a16:creationId xmlns:a16="http://schemas.microsoft.com/office/drawing/2014/main" id="{2740CE4A-375C-D1FA-B7B0-70C16ACCCFAF}"/>
              </a:ext>
            </a:extLst>
          </p:cNvPr>
          <p:cNvSpPr txBox="1"/>
          <p:nvPr/>
        </p:nvSpPr>
        <p:spPr>
          <a:xfrm>
            <a:off x="597875" y="5290441"/>
            <a:ext cx="6101860" cy="394147"/>
          </a:xfrm>
          <a:prstGeom prst="rect">
            <a:avLst/>
          </a:prstGeom>
          <a:noFill/>
        </p:spPr>
        <p:txBody>
          <a:bodyPr wrap="square">
            <a:spAutoFit/>
          </a:bodyPr>
          <a:lstStyle>
            <a:defPPr>
              <a:defRPr lang="zh-CN"/>
            </a:defPPr>
            <a:lvl2pPr marL="800100" lvl="1" indent="-342900">
              <a:lnSpc>
                <a:spcPct val="120000"/>
              </a:lnSpc>
              <a:spcAft>
                <a:spcPts val="1200"/>
              </a:spcAft>
              <a:buFont typeface="Arial" panose="020B0604020202020204" pitchFamily="34" charset="0"/>
              <a:buChar char="•"/>
              <a:defRPr b="1" i="1">
                <a:solidFill>
                  <a:schemeClr val="tx1">
                    <a:lumMod val="75000"/>
                    <a:lumOff val="25000"/>
                  </a:schemeClr>
                </a:solidFill>
                <a:latin typeface="Cambria Math" panose="02040503050406030204" pitchFamily="18" charset="0"/>
              </a:defRPr>
            </a:lvl2pPr>
          </a:lstStyle>
          <a:p>
            <a:pPr lvl="1"/>
            <a:r>
              <a:rPr lang="en-US" altLang="zh-CN" dirty="0"/>
              <a:t>JSD</a:t>
            </a:r>
            <a:endParaRPr lang="zh-CN" altLang="en-US" dirty="0"/>
          </a:p>
        </p:txBody>
      </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541226D9-09DE-21B4-81F5-C95BCAD4A7A0}"/>
                  </a:ext>
                </a:extLst>
              </p:cNvPr>
              <p:cNvSpPr txBox="1"/>
              <p:nvPr/>
            </p:nvSpPr>
            <p:spPr>
              <a:xfrm>
                <a:off x="1383321" y="3524312"/>
                <a:ext cx="6101860" cy="76944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b="0" i="1" dirty="0" smtClean="0">
                          <a:latin typeface="Cambria Math" panose="02040503050406030204" pitchFamily="18" charset="0"/>
                        </a:rPr>
                        <m:t>𝐷</m:t>
                      </m:r>
                      <m:d>
                        <m:dPr>
                          <m:ctrlPr>
                            <a:rPr lang="zh-CN" altLang="en-US" b="0" i="1" dirty="0" smtClean="0">
                              <a:latin typeface="Cambria Math" panose="02040503050406030204" pitchFamily="18" charset="0"/>
                            </a:rPr>
                          </m:ctrlPr>
                        </m:dPr>
                        <m:e>
                          <m:r>
                            <a:rPr lang="en-US" altLang="zh-CN" b="0" i="1" dirty="0" smtClean="0">
                              <a:latin typeface="Cambria Math" panose="02040503050406030204" pitchFamily="18" charset="0"/>
                            </a:rPr>
                            <m:t>𝑃</m:t>
                          </m:r>
                          <m:r>
                            <a:rPr lang="zh-CN" altLang="en-US" i="1" dirty="0">
                              <a:latin typeface="Cambria Math" panose="02040503050406030204" pitchFamily="18" charset="0"/>
                            </a:rPr>
                            <m:t> </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𝑄</m:t>
                          </m:r>
                        </m:e>
                      </m:d>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𝐾𝐿</m:t>
                          </m:r>
                        </m:sub>
                      </m:sSub>
                      <m:r>
                        <a:rPr lang="en-US" altLang="zh-CN" i="1" dirty="0">
                          <a:latin typeface="Cambria Math" panose="02040503050406030204" pitchFamily="18" charset="0"/>
                        </a:rPr>
                        <m:t>(</m:t>
                      </m:r>
                      <m:r>
                        <a:rPr lang="en-US" altLang="zh-CN" b="0" i="1" dirty="0" smtClean="0">
                          <a:latin typeface="Cambria Math" panose="02040503050406030204" pitchFamily="18" charset="0"/>
                        </a:rPr>
                        <m:t>𝑄</m:t>
                      </m:r>
                      <m:r>
                        <a:rPr lang="en-US" altLang="zh-CN" i="1" dirty="0">
                          <a:latin typeface="Cambria Math" panose="02040503050406030204" pitchFamily="18" charset="0"/>
                        </a:rPr>
                        <m:t>,</m:t>
                      </m:r>
                      <m:r>
                        <a:rPr lang="en-US" altLang="zh-CN" b="0" i="1" dirty="0" smtClean="0">
                          <a:latin typeface="Cambria Math" panose="02040503050406030204" pitchFamily="18" charset="0"/>
                        </a:rPr>
                        <m:t>𝑃</m:t>
                      </m:r>
                      <m:r>
                        <a:rPr lang="en-US" altLang="zh-CN" i="1" dirty="0">
                          <a:latin typeface="Cambria Math" panose="02040503050406030204" pitchFamily="18" charset="0"/>
                        </a:rPr>
                        <m:t>)</m:t>
                      </m:r>
                      <m:r>
                        <a:rPr lang="zh-CN" altLang="en-US" i="1" dirty="0">
                          <a:latin typeface="Cambria Math" panose="02040503050406030204" pitchFamily="18" charset="0"/>
                        </a:rPr>
                        <m:t>=</m:t>
                      </m:r>
                      <m:nary>
                        <m:naryPr>
                          <m:chr m:val="∑"/>
                          <m:supHide m:val="on"/>
                          <m:ctrlPr>
                            <a:rPr lang="en-US" altLang="zh-CN" b="0" i="1" dirty="0" smtClean="0">
                              <a:latin typeface="Cambria Math" panose="02040503050406030204" pitchFamily="18" charset="0"/>
                            </a:rPr>
                          </m:ctrlPr>
                        </m:naryPr>
                        <m:sub>
                          <m:r>
                            <a:rPr lang="zh-CN" altLang="en-US" i="1" dirty="0">
                              <a:latin typeface="Cambria Math" panose="02040503050406030204" pitchFamily="18" charset="0"/>
                            </a:rPr>
                            <m:t>𝑖</m:t>
                          </m:r>
                        </m:sub>
                        <m:sup/>
                        <m:e>
                          <m:r>
                            <a:rPr lang="zh-CN" altLang="en-US" i="1" dirty="0">
                              <a:latin typeface="Cambria Math" panose="02040503050406030204" pitchFamily="18" charset="0"/>
                            </a:rPr>
                            <m:t>𝑄</m:t>
                          </m:r>
                          <m:r>
                            <a:rPr lang="zh-CN" altLang="en-US" i="1" dirty="0">
                              <a:latin typeface="Cambria Math" panose="02040503050406030204" pitchFamily="18" charset="0"/>
                            </a:rPr>
                            <m:t>(</m:t>
                          </m:r>
                          <m:r>
                            <a:rPr lang="zh-CN" altLang="en-US" i="1" dirty="0">
                              <a:latin typeface="Cambria Math" panose="02040503050406030204" pitchFamily="18" charset="0"/>
                            </a:rPr>
                            <m:t>𝑖</m:t>
                          </m:r>
                          <m:r>
                            <a:rPr lang="zh-CN" altLang="en-US" i="1" dirty="0">
                              <a:latin typeface="Cambria Math" panose="02040503050406030204" pitchFamily="18" charset="0"/>
                            </a:rPr>
                            <m:t>) ∗ </m:t>
                          </m:r>
                          <m:r>
                            <m:rPr>
                              <m:sty m:val="p"/>
                            </m:rPr>
                            <a:rPr lang="zh-CN" altLang="en-US" i="1" dirty="0">
                              <a:latin typeface="Cambria Math" panose="02040503050406030204" pitchFamily="18" charset="0"/>
                            </a:rPr>
                            <m:t>log</m:t>
                          </m:r>
                          <m:r>
                            <a:rPr lang="zh-CN" altLang="en-US" i="1" dirty="0">
                              <a:latin typeface="Cambria Math" panose="02040503050406030204" pitchFamily="18" charset="0"/>
                            </a:rPr>
                            <m:t>⁡</m:t>
                          </m:r>
                          <m:f>
                            <m:fPr>
                              <m:ctrlPr>
                                <a:rPr lang="en-US" altLang="zh-CN" i="1" dirty="0" smtClean="0">
                                  <a:latin typeface="Cambria Math" panose="02040503050406030204" pitchFamily="18" charset="0"/>
                                </a:rPr>
                              </m:ctrlPr>
                            </m:fPr>
                            <m:num>
                              <m:r>
                                <a:rPr lang="zh-CN" altLang="en-US" i="1" dirty="0">
                                  <a:latin typeface="Cambria Math" panose="02040503050406030204" pitchFamily="18" charset="0"/>
                                </a:rPr>
                                <m:t>𝑄</m:t>
                              </m:r>
                              <m:d>
                                <m:dPr>
                                  <m:ctrlPr>
                                    <a:rPr lang="zh-CN" altLang="en-US"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𝑡</m:t>
                                      </m:r>
                                    </m:e>
                                    <m:sub>
                                      <m:r>
                                        <a:rPr lang="en-US" altLang="zh-CN" i="1" dirty="0">
                                          <a:latin typeface="Cambria Math" panose="02040503050406030204" pitchFamily="18" charset="0"/>
                                        </a:rPr>
                                        <m:t>𝑖</m:t>
                                      </m:r>
                                    </m:sub>
                                  </m:sSub>
                                </m:e>
                              </m:d>
                            </m:num>
                            <m:den>
                              <m:r>
                                <a:rPr lang="zh-CN" altLang="en-US" i="1" dirty="0">
                                  <a:latin typeface="Cambria Math" panose="02040503050406030204" pitchFamily="18" charset="0"/>
                                </a:rPr>
                                <m:t>𝑃</m:t>
                              </m:r>
                              <m:d>
                                <m:dPr>
                                  <m:ctrlPr>
                                    <a:rPr lang="zh-CN" altLang="en-US"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𝑡</m:t>
                                      </m:r>
                                    </m:e>
                                    <m:sub>
                                      <m:r>
                                        <a:rPr lang="en-US" altLang="zh-CN" i="1" dirty="0">
                                          <a:latin typeface="Cambria Math" panose="02040503050406030204" pitchFamily="18" charset="0"/>
                                        </a:rPr>
                                        <m:t>𝑖</m:t>
                                      </m:r>
                                    </m:sub>
                                  </m:sSub>
                                </m:e>
                              </m:d>
                            </m:den>
                          </m:f>
                        </m:e>
                      </m:nary>
                    </m:oMath>
                  </m:oMathPara>
                </a14:m>
                <a:endParaRPr lang="zh-CN" altLang="en-US" dirty="0"/>
              </a:p>
            </p:txBody>
          </p:sp>
        </mc:Choice>
        <mc:Fallback xmlns="">
          <p:sp>
            <p:nvSpPr>
              <p:cNvPr id="25" name="文本框 24">
                <a:extLst>
                  <a:ext uri="{FF2B5EF4-FFF2-40B4-BE49-F238E27FC236}">
                    <a16:creationId xmlns:a16="http://schemas.microsoft.com/office/drawing/2014/main" id="{541226D9-09DE-21B4-81F5-C95BCAD4A7A0}"/>
                  </a:ext>
                </a:extLst>
              </p:cNvPr>
              <p:cNvSpPr txBox="1">
                <a:spLocks noRot="1" noChangeAspect="1" noMove="1" noResize="1" noEditPoints="1" noAdjustHandles="1" noChangeArrowheads="1" noChangeShapeType="1" noTextEdit="1"/>
              </p:cNvSpPr>
              <p:nvPr/>
            </p:nvSpPr>
            <p:spPr>
              <a:xfrm>
                <a:off x="1383321" y="3524312"/>
                <a:ext cx="6101860" cy="769441"/>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C3435EB5-9FE3-6DC5-153B-79D9BD5B2BC4}"/>
                  </a:ext>
                </a:extLst>
              </p:cNvPr>
              <p:cNvSpPr txBox="1"/>
              <p:nvPr/>
            </p:nvSpPr>
            <p:spPr>
              <a:xfrm>
                <a:off x="1383321" y="2468721"/>
                <a:ext cx="6101860" cy="76944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b="0" i="1" dirty="0" smtClean="0">
                          <a:latin typeface="Cambria Math" panose="02040503050406030204" pitchFamily="18" charset="0"/>
                        </a:rPr>
                        <m:t>𝐷</m:t>
                      </m:r>
                      <m:d>
                        <m:dPr>
                          <m:ctrlPr>
                            <a:rPr lang="zh-CN" altLang="en-US" b="0" i="1" dirty="0" smtClean="0">
                              <a:latin typeface="Cambria Math" panose="02040503050406030204" pitchFamily="18" charset="0"/>
                            </a:rPr>
                          </m:ctrlPr>
                        </m:dPr>
                        <m:e>
                          <m:r>
                            <a:rPr lang="en-US" altLang="zh-CN" b="0" i="1" dirty="0" smtClean="0">
                              <a:latin typeface="Cambria Math" panose="02040503050406030204" pitchFamily="18" charset="0"/>
                            </a:rPr>
                            <m:t>𝑃</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𝑄</m:t>
                          </m:r>
                        </m:e>
                      </m:d>
                      <m:r>
                        <a:rPr lang="zh-CN" altLang="en-US" i="1" dirty="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𝐷</m:t>
                          </m:r>
                        </m:e>
                        <m:sub>
                          <m:r>
                            <a:rPr lang="en-US" altLang="zh-CN" b="0" i="1" dirty="0" smtClean="0">
                              <a:latin typeface="Cambria Math" panose="02040503050406030204" pitchFamily="18" charset="0"/>
                            </a:rPr>
                            <m:t>𝐾𝐿</m:t>
                          </m:r>
                        </m:sub>
                      </m:sSub>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𝑃</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𝑄</m:t>
                      </m:r>
                      <m:r>
                        <a:rPr lang="en-US" altLang="zh-CN" b="0" i="1" dirty="0" smtClean="0">
                          <a:latin typeface="Cambria Math" panose="02040503050406030204" pitchFamily="18" charset="0"/>
                        </a:rPr>
                        <m:t>)=</m:t>
                      </m:r>
                      <m:nary>
                        <m:naryPr>
                          <m:chr m:val="∑"/>
                          <m:supHide m:val="on"/>
                          <m:ctrlPr>
                            <a:rPr lang="en-US" altLang="zh-CN" b="0" i="1" dirty="0" smtClean="0">
                              <a:latin typeface="Cambria Math" panose="02040503050406030204" pitchFamily="18" charset="0"/>
                            </a:rPr>
                          </m:ctrlPr>
                        </m:naryPr>
                        <m:sub>
                          <m:r>
                            <a:rPr lang="zh-CN" altLang="en-US" i="1" dirty="0">
                              <a:latin typeface="Cambria Math" panose="02040503050406030204" pitchFamily="18" charset="0"/>
                            </a:rPr>
                            <m:t>𝑖</m:t>
                          </m:r>
                        </m:sub>
                        <m:sup/>
                        <m:e>
                          <m:r>
                            <a:rPr lang="en-US" altLang="zh-CN" b="0" i="1" dirty="0" smtClean="0">
                              <a:latin typeface="Cambria Math" panose="02040503050406030204" pitchFamily="18" charset="0"/>
                            </a:rPr>
                            <m:t>𝑃</m:t>
                          </m:r>
                          <m:r>
                            <a:rPr lang="zh-CN" altLang="en-US" i="1" dirty="0">
                              <a:latin typeface="Cambria Math" panose="02040503050406030204" pitchFamily="18" charset="0"/>
                            </a:rPr>
                            <m:t>(</m:t>
                          </m:r>
                          <m:r>
                            <a:rPr lang="zh-CN" altLang="en-US" i="1" dirty="0">
                              <a:latin typeface="Cambria Math" panose="02040503050406030204" pitchFamily="18" charset="0"/>
                            </a:rPr>
                            <m:t>𝑖</m:t>
                          </m:r>
                          <m:r>
                            <a:rPr lang="zh-CN" altLang="en-US" i="1" dirty="0">
                              <a:latin typeface="Cambria Math" panose="02040503050406030204" pitchFamily="18" charset="0"/>
                            </a:rPr>
                            <m:t>) ∗ </m:t>
                          </m:r>
                          <m:r>
                            <m:rPr>
                              <m:sty m:val="p"/>
                            </m:rPr>
                            <a:rPr lang="zh-CN" altLang="en-US" i="1" dirty="0">
                              <a:latin typeface="Cambria Math" panose="02040503050406030204" pitchFamily="18" charset="0"/>
                            </a:rPr>
                            <m:t>log</m:t>
                          </m:r>
                          <m:r>
                            <a:rPr lang="zh-CN" altLang="en-US" i="1" dirty="0">
                              <a:latin typeface="Cambria Math" panose="02040503050406030204" pitchFamily="18" charset="0"/>
                            </a:rPr>
                            <m:t>⁡</m:t>
                          </m:r>
                          <m:f>
                            <m:fPr>
                              <m:ctrlPr>
                                <a:rPr lang="en-US" altLang="zh-CN" i="1" dirty="0" smtClean="0">
                                  <a:latin typeface="Cambria Math" panose="02040503050406030204" pitchFamily="18" charset="0"/>
                                </a:rPr>
                              </m:ctrlPr>
                            </m:fPr>
                            <m:num>
                              <m:r>
                                <a:rPr lang="en-US" altLang="zh-CN" b="0" i="1" dirty="0" smtClean="0">
                                  <a:latin typeface="Cambria Math" panose="02040503050406030204" pitchFamily="18" charset="0"/>
                                </a:rPr>
                                <m:t>𝑃</m:t>
                              </m:r>
                              <m:d>
                                <m:dPr>
                                  <m:ctrlPr>
                                    <a:rPr lang="zh-CN" altLang="en-US"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𝑡</m:t>
                                      </m:r>
                                    </m:e>
                                    <m:sub>
                                      <m:r>
                                        <a:rPr lang="en-US" altLang="zh-CN" i="1" dirty="0">
                                          <a:latin typeface="Cambria Math" panose="02040503050406030204" pitchFamily="18" charset="0"/>
                                        </a:rPr>
                                        <m:t>𝑖</m:t>
                                      </m:r>
                                    </m:sub>
                                  </m:sSub>
                                </m:e>
                              </m:d>
                            </m:num>
                            <m:den>
                              <m:r>
                                <a:rPr lang="en-US" altLang="zh-CN" b="0" i="1" dirty="0" smtClean="0">
                                  <a:latin typeface="Cambria Math" panose="02040503050406030204" pitchFamily="18" charset="0"/>
                                </a:rPr>
                                <m:t>𝑄</m:t>
                              </m:r>
                              <m:d>
                                <m:dPr>
                                  <m:ctrlPr>
                                    <a:rPr lang="zh-CN" altLang="en-US"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𝑡</m:t>
                                      </m:r>
                                    </m:e>
                                    <m:sub>
                                      <m:r>
                                        <a:rPr lang="en-US" altLang="zh-CN" i="1" dirty="0">
                                          <a:latin typeface="Cambria Math" panose="02040503050406030204" pitchFamily="18" charset="0"/>
                                        </a:rPr>
                                        <m:t>𝑖</m:t>
                                      </m:r>
                                    </m:sub>
                                  </m:sSub>
                                </m:e>
                              </m:d>
                            </m:den>
                          </m:f>
                        </m:e>
                      </m:nary>
                    </m:oMath>
                  </m:oMathPara>
                </a14:m>
                <a:endParaRPr lang="zh-CN" altLang="en-US" dirty="0"/>
              </a:p>
            </p:txBody>
          </p:sp>
        </mc:Choice>
        <mc:Fallback xmlns="">
          <p:sp>
            <p:nvSpPr>
              <p:cNvPr id="26" name="文本框 25">
                <a:extLst>
                  <a:ext uri="{FF2B5EF4-FFF2-40B4-BE49-F238E27FC236}">
                    <a16:creationId xmlns:a16="http://schemas.microsoft.com/office/drawing/2014/main" id="{C3435EB5-9FE3-6DC5-153B-79D9BD5B2BC4}"/>
                  </a:ext>
                </a:extLst>
              </p:cNvPr>
              <p:cNvSpPr txBox="1">
                <a:spLocks noRot="1" noChangeAspect="1" noMove="1" noResize="1" noEditPoints="1" noAdjustHandles="1" noChangeArrowheads="1" noChangeShapeType="1" noTextEdit="1"/>
              </p:cNvSpPr>
              <p:nvPr/>
            </p:nvSpPr>
            <p:spPr>
              <a:xfrm>
                <a:off x="1383321" y="2468721"/>
                <a:ext cx="6101860" cy="769441"/>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58B29CF0-3D75-B18D-8378-FE86D795FB3B}"/>
                  </a:ext>
                </a:extLst>
              </p:cNvPr>
              <p:cNvSpPr txBox="1"/>
              <p:nvPr/>
            </p:nvSpPr>
            <p:spPr>
              <a:xfrm>
                <a:off x="1383321" y="4579903"/>
                <a:ext cx="6101860" cy="76456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zh-CN" altLang="en-US" i="1" dirty="0" smtClean="0">
                          <a:latin typeface="Cambria Math" panose="02040503050406030204" pitchFamily="18" charset="0"/>
                        </a:rPr>
                        <m:t>𝐷</m:t>
                      </m:r>
                      <m:r>
                        <a:rPr lang="zh-CN" altLang="en-US" i="1" dirty="0" smtClean="0">
                          <a:latin typeface="Cambria Math" panose="02040503050406030204" pitchFamily="18" charset="0"/>
                        </a:rPr>
                        <m:t>(</m:t>
                      </m:r>
                      <m:r>
                        <a:rPr lang="en-US" altLang="zh-CN" b="0" i="1" dirty="0" smtClean="0">
                          <a:latin typeface="Cambria Math" panose="02040503050406030204" pitchFamily="18" charset="0"/>
                        </a:rPr>
                        <m:t>𝑃</m:t>
                      </m:r>
                      <m:r>
                        <a:rPr lang="en-US" altLang="zh-CN" b="0" i="1" dirty="0" smtClean="0">
                          <a:latin typeface="Cambria Math" panose="02040503050406030204" pitchFamily="18" charset="0"/>
                        </a:rPr>
                        <m:t>, </m:t>
                      </m:r>
                      <m:r>
                        <a:rPr lang="en-US" altLang="zh-CN" b="0" i="1" dirty="0" smtClean="0">
                          <a:latin typeface="Cambria Math" panose="02040503050406030204" pitchFamily="18" charset="0"/>
                        </a:rPr>
                        <m:t>𝑄</m:t>
                      </m:r>
                      <m:r>
                        <a:rPr lang="zh-CN" altLang="en-US" i="1" dirty="0" smtClean="0">
                          <a:latin typeface="Cambria Math" panose="02040503050406030204" pitchFamily="18" charset="0"/>
                        </a:rPr>
                        <m:t>) = </m:t>
                      </m:r>
                      <m:nary>
                        <m:naryPr>
                          <m:chr m:val="∑"/>
                          <m:supHide m:val="on"/>
                          <m:ctrlPr>
                            <a:rPr lang="en-US" altLang="zh-CN" b="0" i="1" dirty="0" smtClean="0">
                              <a:latin typeface="Cambria Math" panose="02040503050406030204" pitchFamily="18" charset="0"/>
                            </a:rPr>
                          </m:ctrlPr>
                        </m:naryPr>
                        <m:sub>
                          <m:r>
                            <a:rPr lang="zh-CN" altLang="en-US" i="1" dirty="0" smtClean="0">
                              <a:latin typeface="Cambria Math" panose="02040503050406030204" pitchFamily="18" charset="0"/>
                            </a:rPr>
                            <m:t>𝑖</m:t>
                          </m:r>
                        </m:sub>
                        <m:sup/>
                        <m:e>
                          <m:r>
                            <a:rPr lang="zh-CN" altLang="en-US" i="1" dirty="0">
                              <a:latin typeface="Cambria Math" panose="02040503050406030204" pitchFamily="18" charset="0"/>
                            </a:rPr>
                            <m:t>|</m:t>
                          </m:r>
                          <m:r>
                            <a:rPr lang="zh-CN" altLang="en-US" i="1" dirty="0">
                              <a:latin typeface="Cambria Math" panose="02040503050406030204" pitchFamily="18" charset="0"/>
                            </a:rPr>
                            <m:t>𝑃</m:t>
                          </m:r>
                          <m:r>
                            <a:rPr lang="zh-CN" altLang="en-US"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𝑡</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 </m:t>
                          </m:r>
                          <m:r>
                            <a:rPr lang="zh-CN" altLang="en-US" i="1" dirty="0">
                              <a:latin typeface="Cambria Math" panose="02040503050406030204" pitchFamily="18" charset="0"/>
                            </a:rPr>
                            <m:t>𝑄</m:t>
                          </m:r>
                          <m:r>
                            <a:rPr lang="zh-CN" altLang="en-US"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𝑡</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m:t>
                          </m:r>
                        </m:e>
                      </m:nary>
                      <m:r>
                        <a:rPr lang="zh-CN" altLang="en-US" i="1" dirty="0" smtClean="0">
                          <a:latin typeface="Cambria Math" panose="02040503050406030204" pitchFamily="18" charset="0"/>
                        </a:rPr>
                        <m:t> </m:t>
                      </m:r>
                    </m:oMath>
                  </m:oMathPara>
                </a14:m>
                <a:endParaRPr lang="zh-CN" altLang="en-US" dirty="0"/>
              </a:p>
            </p:txBody>
          </p:sp>
        </mc:Choice>
        <mc:Fallback xmlns="">
          <p:sp>
            <p:nvSpPr>
              <p:cNvPr id="28" name="文本框 27">
                <a:extLst>
                  <a:ext uri="{FF2B5EF4-FFF2-40B4-BE49-F238E27FC236}">
                    <a16:creationId xmlns:a16="http://schemas.microsoft.com/office/drawing/2014/main" id="{58B29CF0-3D75-B18D-8378-FE86D795FB3B}"/>
                  </a:ext>
                </a:extLst>
              </p:cNvPr>
              <p:cNvSpPr txBox="1">
                <a:spLocks noRot="1" noChangeAspect="1" noMove="1" noResize="1" noEditPoints="1" noAdjustHandles="1" noChangeArrowheads="1" noChangeShapeType="1" noTextEdit="1"/>
              </p:cNvSpPr>
              <p:nvPr/>
            </p:nvSpPr>
            <p:spPr>
              <a:xfrm>
                <a:off x="1383321" y="4579903"/>
                <a:ext cx="6101860" cy="764568"/>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5604837A-A001-7A7F-27E8-7AE58CC0BC8B}"/>
                  </a:ext>
                </a:extLst>
              </p:cNvPr>
              <p:cNvSpPr txBox="1"/>
              <p:nvPr/>
            </p:nvSpPr>
            <p:spPr>
              <a:xfrm>
                <a:off x="1383321" y="5630559"/>
                <a:ext cx="5671038" cy="112954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𝐽𝑆</m:t>
                          </m:r>
                          <m:d>
                            <m:dPr>
                              <m:ctrlPr>
                                <a:rPr lang="zh-CN" altLang="en-US" i="1" dirty="0" smtClean="0">
                                  <a:latin typeface="Cambria Math" panose="02040503050406030204" pitchFamily="18" charset="0"/>
                                </a:rPr>
                              </m:ctrlPr>
                            </m:dPr>
                            <m:e>
                              <m:r>
                                <a:rPr lang="en-US" altLang="zh-CN" b="0" i="1" dirty="0" smtClean="0">
                                  <a:latin typeface="Cambria Math" panose="02040503050406030204" pitchFamily="18" charset="0"/>
                                </a:rPr>
                                <m:t>𝑃</m:t>
                              </m:r>
                              <m:r>
                                <a:rPr lang="zh-CN" altLang="en-US" i="1" dirty="0" smtClean="0">
                                  <a:latin typeface="Cambria Math" panose="02040503050406030204" pitchFamily="18" charset="0"/>
                                </a:rPr>
                                <m:t> </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𝑄</m:t>
                              </m:r>
                            </m:e>
                          </m:d>
                        </m:sub>
                      </m:sSub>
                      <m:r>
                        <a:rPr lang="zh-CN" altLang="en-US" i="1" dirty="0" smtClean="0">
                          <a:latin typeface="Cambria Math" panose="02040503050406030204" pitchFamily="18" charset="0"/>
                        </a:rPr>
                        <m:t>=</m:t>
                      </m:r>
                      <m:f>
                        <m:fPr>
                          <m:ctrlPr>
                            <a:rPr lang="zh-CN" altLang="en-US" i="1" dirty="0" smtClean="0">
                              <a:latin typeface="Cambria Math" panose="02040503050406030204" pitchFamily="18" charset="0"/>
                            </a:rPr>
                          </m:ctrlPr>
                        </m:fPr>
                        <m:num>
                          <m:r>
                            <a:rPr lang="zh-CN" altLang="en-US" i="1" dirty="0" smtClean="0">
                              <a:latin typeface="Cambria Math" panose="02040503050406030204" pitchFamily="18" charset="0"/>
                            </a:rPr>
                            <m:t>1</m:t>
                          </m:r>
                        </m:num>
                        <m:den>
                          <m:r>
                            <a:rPr lang="en-US" altLang="zh-CN" b="0" i="1" dirty="0" smtClean="0">
                              <a:latin typeface="Cambria Math" panose="02040503050406030204" pitchFamily="18" charset="0"/>
                            </a:rPr>
                            <m:t>2</m:t>
                          </m:r>
                        </m:den>
                      </m:f>
                      <m:r>
                        <a:rPr lang="zh-CN" altLang="en-US" i="1" dirty="0" smtClean="0">
                          <a:latin typeface="Cambria Math" panose="02040503050406030204" pitchFamily="18" charset="0"/>
                        </a:rPr>
                        <m:t> ∗ </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𝐾𝐿</m:t>
                          </m:r>
                        </m:sub>
                      </m:sSub>
                      <m:d>
                        <m:dPr>
                          <m:ctrlPr>
                            <a:rPr lang="zh-CN" altLang="en-US" i="1" dirty="0" smtClean="0">
                              <a:latin typeface="Cambria Math" panose="02040503050406030204" pitchFamily="18" charset="0"/>
                            </a:rPr>
                          </m:ctrlPr>
                        </m:dPr>
                        <m:e>
                          <m:r>
                            <a:rPr lang="zh-CN" altLang="en-US" i="1" dirty="0" smtClean="0">
                              <a:latin typeface="Cambria Math" panose="02040503050406030204" pitchFamily="18" charset="0"/>
                            </a:rPr>
                            <m:t>𝑃</m:t>
                          </m:r>
                          <m:r>
                            <a:rPr lang="zh-CN" altLang="en-US" i="1" dirty="0" smtClean="0">
                              <a:latin typeface="Cambria Math" panose="02040503050406030204" pitchFamily="18" charset="0"/>
                            </a:rPr>
                            <m:t> ,</m:t>
                          </m:r>
                          <m:r>
                            <a:rPr lang="zh-CN" altLang="en-US" i="1" dirty="0" smtClean="0">
                              <a:latin typeface="Cambria Math" panose="02040503050406030204" pitchFamily="18" charset="0"/>
                            </a:rPr>
                            <m:t>𝑀</m:t>
                          </m:r>
                        </m:e>
                      </m:d>
                      <m:r>
                        <a:rPr lang="zh-CN" altLang="en-US" i="1" dirty="0" smtClean="0">
                          <a:latin typeface="Cambria Math" panose="02040503050406030204" pitchFamily="18" charset="0"/>
                        </a:rPr>
                        <m:t>+</m:t>
                      </m:r>
                      <m:f>
                        <m:fPr>
                          <m:ctrlPr>
                            <a:rPr lang="zh-CN" altLang="en-US" i="1" dirty="0" smtClean="0">
                              <a:latin typeface="Cambria Math" panose="02040503050406030204" pitchFamily="18" charset="0"/>
                            </a:rPr>
                          </m:ctrlPr>
                        </m:fPr>
                        <m:num>
                          <m:r>
                            <a:rPr lang="zh-CN" altLang="en-US" i="1" dirty="0" smtClean="0">
                              <a:latin typeface="Cambria Math" panose="02040503050406030204" pitchFamily="18" charset="0"/>
                            </a:rPr>
                            <m:t>1</m:t>
                          </m:r>
                        </m:num>
                        <m:den>
                          <m:r>
                            <a:rPr lang="zh-CN" altLang="en-US" i="1" dirty="0" smtClean="0">
                              <a:latin typeface="Cambria Math" panose="02040503050406030204" pitchFamily="18" charset="0"/>
                            </a:rPr>
                            <m:t>2</m:t>
                          </m:r>
                        </m:den>
                      </m:f>
                      <m:r>
                        <a:rPr lang="zh-CN" altLang="en-US" i="1" dirty="0" smtClean="0">
                          <a:latin typeface="Cambria Math" panose="02040503050406030204" pitchFamily="18" charset="0"/>
                        </a:rPr>
                        <m:t> ∗ </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𝐾𝐿</m:t>
                          </m:r>
                          <m:d>
                            <m:dPr>
                              <m:ctrlPr>
                                <a:rPr lang="zh-CN" altLang="en-US" i="1" dirty="0" smtClean="0">
                                  <a:latin typeface="Cambria Math" panose="02040503050406030204" pitchFamily="18" charset="0"/>
                                </a:rPr>
                              </m:ctrlPr>
                            </m:dPr>
                            <m:e>
                              <m:r>
                                <a:rPr lang="zh-CN" altLang="en-US" i="1" dirty="0" smtClean="0">
                                  <a:latin typeface="Cambria Math" panose="02040503050406030204" pitchFamily="18" charset="0"/>
                                </a:rPr>
                                <m:t>𝑄</m:t>
                              </m:r>
                              <m:r>
                                <a:rPr lang="zh-CN" altLang="en-US" i="1" dirty="0" smtClean="0">
                                  <a:latin typeface="Cambria Math" panose="02040503050406030204" pitchFamily="18" charset="0"/>
                                </a:rPr>
                                <m:t> ,</m:t>
                              </m:r>
                              <m:r>
                                <a:rPr lang="zh-CN" altLang="en-US" i="1" dirty="0" smtClean="0">
                                  <a:latin typeface="Cambria Math" panose="02040503050406030204" pitchFamily="18" charset="0"/>
                                </a:rPr>
                                <m:t>𝑀</m:t>
                              </m:r>
                            </m:e>
                          </m:d>
                        </m:sub>
                      </m:sSub>
                      <m:r>
                        <a:rPr lang="zh-CN" altLang="en-US" i="1" dirty="0" smtClean="0">
                          <a:latin typeface="Cambria Math" panose="02040503050406030204" pitchFamily="18" charset="0"/>
                        </a:rPr>
                        <m:t>,  </m:t>
                      </m:r>
                      <m:r>
                        <a:rPr lang="zh-CN" altLang="en-US" i="1" dirty="0" smtClean="0">
                          <a:latin typeface="Cambria Math" panose="02040503050406030204" pitchFamily="18" charset="0"/>
                        </a:rPr>
                        <m:t>𝑤h𝑒𝑟𝑒</m:t>
                      </m:r>
                      <m:r>
                        <a:rPr lang="zh-CN" altLang="en-US" i="1" dirty="0" smtClean="0">
                          <a:latin typeface="Cambria Math" panose="02040503050406030204" pitchFamily="18" charset="0"/>
                        </a:rPr>
                        <m:t> </m:t>
                      </m:r>
                      <m:r>
                        <a:rPr lang="zh-CN" altLang="en-US" i="1" dirty="0" smtClean="0">
                          <a:latin typeface="Cambria Math" panose="02040503050406030204" pitchFamily="18" charset="0"/>
                        </a:rPr>
                        <m:t>𝑀</m:t>
                      </m:r>
                      <m:r>
                        <a:rPr lang="zh-CN" altLang="en-US" i="1" dirty="0" smtClean="0">
                          <a:latin typeface="Cambria Math" panose="02040503050406030204" pitchFamily="18" charset="0"/>
                        </a:rPr>
                        <m:t> =</m:t>
                      </m:r>
                      <m:f>
                        <m:fPr>
                          <m:ctrlPr>
                            <a:rPr lang="zh-CN" altLang="en-US" i="1" dirty="0" smtClean="0">
                              <a:latin typeface="Cambria Math" panose="02040503050406030204" pitchFamily="18" charset="0"/>
                            </a:rPr>
                          </m:ctrlPr>
                        </m:fPr>
                        <m:num>
                          <m:r>
                            <a:rPr lang="zh-CN" altLang="en-US" i="1" dirty="0" smtClean="0">
                              <a:latin typeface="Cambria Math" panose="02040503050406030204" pitchFamily="18" charset="0"/>
                            </a:rPr>
                            <m:t>1</m:t>
                          </m:r>
                        </m:num>
                        <m:den>
                          <m:r>
                            <a:rPr lang="zh-CN" altLang="en-US" i="1" dirty="0" smtClean="0">
                              <a:latin typeface="Cambria Math" panose="02040503050406030204" pitchFamily="18" charset="0"/>
                            </a:rPr>
                            <m:t>2</m:t>
                          </m:r>
                        </m:den>
                      </m:f>
                      <m:r>
                        <a:rPr lang="zh-CN" altLang="en-US" i="1" dirty="0" smtClean="0">
                          <a:latin typeface="Cambria Math" panose="02040503050406030204" pitchFamily="18" charset="0"/>
                        </a:rPr>
                        <m:t> ∗ (</m:t>
                      </m:r>
                      <m:r>
                        <a:rPr lang="zh-CN" altLang="en-US" i="1" dirty="0" smtClean="0">
                          <a:latin typeface="Cambria Math" panose="02040503050406030204" pitchFamily="18" charset="0"/>
                        </a:rPr>
                        <m:t>𝑃</m:t>
                      </m:r>
                      <m:r>
                        <a:rPr lang="zh-CN" altLang="en-US" i="1" dirty="0" smtClean="0">
                          <a:latin typeface="Cambria Math" panose="02040503050406030204" pitchFamily="18" charset="0"/>
                        </a:rPr>
                        <m:t> + </m:t>
                      </m:r>
                      <m:r>
                        <a:rPr lang="zh-CN" altLang="en-US" i="1" dirty="0" smtClean="0">
                          <a:latin typeface="Cambria Math" panose="02040503050406030204" pitchFamily="18" charset="0"/>
                        </a:rPr>
                        <m:t>𝑄</m:t>
                      </m:r>
                      <m:r>
                        <a:rPr lang="zh-CN" altLang="en-US" i="1" dirty="0" smtClean="0">
                          <a:latin typeface="Cambria Math" panose="02040503050406030204" pitchFamily="18" charset="0"/>
                        </a:rPr>
                        <m:t>)</m:t>
                      </m:r>
                    </m:oMath>
                  </m:oMathPara>
                </a14:m>
                <a:endParaRPr lang="zh-CN" altLang="en-US" dirty="0"/>
              </a:p>
            </p:txBody>
          </p:sp>
        </mc:Choice>
        <mc:Fallback xmlns="">
          <p:sp>
            <p:nvSpPr>
              <p:cNvPr id="30" name="文本框 29">
                <a:extLst>
                  <a:ext uri="{FF2B5EF4-FFF2-40B4-BE49-F238E27FC236}">
                    <a16:creationId xmlns:a16="http://schemas.microsoft.com/office/drawing/2014/main" id="{5604837A-A001-7A7F-27E8-7AE58CC0BC8B}"/>
                  </a:ext>
                </a:extLst>
              </p:cNvPr>
              <p:cNvSpPr txBox="1">
                <a:spLocks noRot="1" noChangeAspect="1" noMove="1" noResize="1" noEditPoints="1" noAdjustHandles="1" noChangeArrowheads="1" noChangeShapeType="1" noTextEdit="1"/>
              </p:cNvSpPr>
              <p:nvPr/>
            </p:nvSpPr>
            <p:spPr>
              <a:xfrm>
                <a:off x="1383321" y="5630559"/>
                <a:ext cx="5671038" cy="1129540"/>
              </a:xfrm>
              <a:prstGeom prst="rect">
                <a:avLst/>
              </a:prstGeom>
              <a:blipFill>
                <a:blip r:embed="rId10"/>
                <a:stretch>
                  <a:fillRect/>
                </a:stretch>
              </a:blipFill>
            </p:spPr>
            <p:txBody>
              <a:bodyPr/>
              <a:lstStyle/>
              <a:p>
                <a:r>
                  <a:rPr lang="zh-CN" altLang="en-US">
                    <a:noFill/>
                  </a:rPr>
                  <a:t> </a:t>
                </a:r>
              </a:p>
            </p:txBody>
          </p:sp>
        </mc:Fallback>
      </mc:AlternateContent>
      <p:sp>
        <p:nvSpPr>
          <p:cNvPr id="32" name="文本框 31">
            <a:extLst>
              <a:ext uri="{FF2B5EF4-FFF2-40B4-BE49-F238E27FC236}">
                <a16:creationId xmlns:a16="http://schemas.microsoft.com/office/drawing/2014/main" id="{A43F64EB-0B9F-FF98-5D37-B49FA299BFE5}"/>
              </a:ext>
            </a:extLst>
          </p:cNvPr>
          <p:cNvSpPr txBox="1"/>
          <p:nvPr/>
        </p:nvSpPr>
        <p:spPr>
          <a:xfrm>
            <a:off x="6307015" y="1789505"/>
            <a:ext cx="3074379" cy="369332"/>
          </a:xfrm>
          <a:prstGeom prst="rect">
            <a:avLst/>
          </a:prstGeom>
          <a:noFill/>
        </p:spPr>
        <p:txBody>
          <a:bodyPr wrap="square">
            <a:spAutoFit/>
          </a:bodyPr>
          <a:lstStyle/>
          <a:p>
            <a:r>
              <a:rPr lang="en-US" altLang="zh-CN" b="1" dirty="0">
                <a:solidFill>
                  <a:schemeClr val="tx1">
                    <a:lumMod val="75000"/>
                    <a:lumOff val="25000"/>
                  </a:schemeClr>
                </a:solidFill>
              </a:rPr>
              <a:t>(2)</a:t>
            </a:r>
            <a:r>
              <a:rPr lang="zh-CN" altLang="en-US" b="1" dirty="0">
                <a:solidFill>
                  <a:schemeClr val="tx1">
                    <a:lumMod val="75000"/>
                    <a:lumOff val="25000"/>
                  </a:schemeClr>
                </a:solidFill>
              </a:rPr>
              <a:t> 蒸馏数据</a:t>
            </a:r>
            <a:endParaRPr lang="zh-CN" altLang="en-US" dirty="0"/>
          </a:p>
        </p:txBody>
      </p:sp>
      <p:sp>
        <p:nvSpPr>
          <p:cNvPr id="33" name="文本框 32">
            <a:extLst>
              <a:ext uri="{FF2B5EF4-FFF2-40B4-BE49-F238E27FC236}">
                <a16:creationId xmlns:a16="http://schemas.microsoft.com/office/drawing/2014/main" id="{8481B37C-34B0-2F74-CFC4-11781E0F1390}"/>
              </a:ext>
            </a:extLst>
          </p:cNvPr>
          <p:cNvSpPr txBox="1"/>
          <p:nvPr/>
        </p:nvSpPr>
        <p:spPr>
          <a:xfrm>
            <a:off x="6260121" y="2182571"/>
            <a:ext cx="4677510" cy="394210"/>
          </a:xfrm>
          <a:prstGeom prst="rect">
            <a:avLst/>
          </a:prstGeom>
          <a:noFill/>
        </p:spPr>
        <p:txBody>
          <a:bodyPr wrap="square">
            <a:spAutoFit/>
          </a:bodyPr>
          <a:lstStyle/>
          <a:p>
            <a:pPr marL="742950" lvl="1" indent="-285750">
              <a:lnSpc>
                <a:spcPct val="120000"/>
              </a:lnSpc>
              <a:spcAft>
                <a:spcPts val="1200"/>
              </a:spcAft>
              <a:buFont typeface="Arial" panose="020B0604020202020204" pitchFamily="34" charset="0"/>
              <a:buChar char="•"/>
            </a:pPr>
            <a:r>
              <a:rPr lang="zh-CN" altLang="en-US" b="1" dirty="0">
                <a:solidFill>
                  <a:schemeClr val="tx1">
                    <a:lumMod val="75000"/>
                    <a:lumOff val="25000"/>
                  </a:schemeClr>
                </a:solidFill>
              </a:rPr>
              <a:t>固定数据集 </a:t>
            </a:r>
          </a:p>
        </p:txBody>
      </p:sp>
      <p:sp>
        <p:nvSpPr>
          <p:cNvPr id="36" name="文本框 35">
            <a:extLst>
              <a:ext uri="{FF2B5EF4-FFF2-40B4-BE49-F238E27FC236}">
                <a16:creationId xmlns:a16="http://schemas.microsoft.com/office/drawing/2014/main" id="{60B36DE1-D005-E8F8-8499-0451C1515D92}"/>
              </a:ext>
            </a:extLst>
          </p:cNvPr>
          <p:cNvSpPr txBox="1"/>
          <p:nvPr/>
        </p:nvSpPr>
        <p:spPr>
          <a:xfrm>
            <a:off x="6260121" y="2663065"/>
            <a:ext cx="4677510" cy="394210"/>
          </a:xfrm>
          <a:prstGeom prst="rect">
            <a:avLst/>
          </a:prstGeom>
          <a:noFill/>
        </p:spPr>
        <p:txBody>
          <a:bodyPr wrap="square">
            <a:spAutoFit/>
          </a:bodyPr>
          <a:lstStyle/>
          <a:p>
            <a:pPr marL="742950" lvl="1" indent="-285750">
              <a:lnSpc>
                <a:spcPct val="120000"/>
              </a:lnSpc>
              <a:spcAft>
                <a:spcPts val="1200"/>
              </a:spcAft>
              <a:buFont typeface="Arial" panose="020B0604020202020204" pitchFamily="34" charset="0"/>
              <a:buChar char="•"/>
            </a:pPr>
            <a:r>
              <a:rPr lang="zh-CN" altLang="en-US" b="1" dirty="0">
                <a:solidFill>
                  <a:schemeClr val="tx1">
                    <a:lumMod val="75000"/>
                    <a:lumOff val="25000"/>
                  </a:schemeClr>
                </a:solidFill>
              </a:rPr>
              <a:t>教师生成数据集 </a:t>
            </a:r>
          </a:p>
        </p:txBody>
      </p:sp>
      <p:sp>
        <p:nvSpPr>
          <p:cNvPr id="37" name="文本框 36">
            <a:extLst>
              <a:ext uri="{FF2B5EF4-FFF2-40B4-BE49-F238E27FC236}">
                <a16:creationId xmlns:a16="http://schemas.microsoft.com/office/drawing/2014/main" id="{1CFB3996-FFC3-6033-F1B7-5B9AED31DC7F}"/>
              </a:ext>
            </a:extLst>
          </p:cNvPr>
          <p:cNvSpPr txBox="1"/>
          <p:nvPr/>
        </p:nvSpPr>
        <p:spPr>
          <a:xfrm>
            <a:off x="6260121" y="3143558"/>
            <a:ext cx="4677510" cy="394210"/>
          </a:xfrm>
          <a:prstGeom prst="rect">
            <a:avLst/>
          </a:prstGeom>
          <a:noFill/>
        </p:spPr>
        <p:txBody>
          <a:bodyPr wrap="square">
            <a:spAutoFit/>
          </a:bodyPr>
          <a:lstStyle/>
          <a:p>
            <a:pPr marL="742950" lvl="1" indent="-285750">
              <a:lnSpc>
                <a:spcPct val="120000"/>
              </a:lnSpc>
              <a:spcAft>
                <a:spcPts val="1200"/>
              </a:spcAft>
              <a:buFont typeface="Arial" panose="020B0604020202020204" pitchFamily="34" charset="0"/>
              <a:buChar char="•"/>
            </a:pPr>
            <a:r>
              <a:rPr lang="zh-CN" altLang="en-US" b="1" dirty="0">
                <a:solidFill>
                  <a:schemeClr val="tx1">
                    <a:lumMod val="75000"/>
                    <a:lumOff val="25000"/>
                  </a:schemeClr>
                </a:solidFill>
              </a:rPr>
              <a:t>学生生成数据集 </a:t>
            </a:r>
          </a:p>
        </p:txBody>
      </p:sp>
      <p:pic>
        <p:nvPicPr>
          <p:cNvPr id="40" name="图片 39">
            <a:extLst>
              <a:ext uri="{FF2B5EF4-FFF2-40B4-BE49-F238E27FC236}">
                <a16:creationId xmlns:a16="http://schemas.microsoft.com/office/drawing/2014/main" id="{ED3A8F55-E8C5-E5B4-2905-2DF3F6899176}"/>
              </a:ext>
            </a:extLst>
          </p:cNvPr>
          <p:cNvPicPr>
            <a:picLocks noChangeAspect="1"/>
          </p:cNvPicPr>
          <p:nvPr/>
        </p:nvPicPr>
        <p:blipFill>
          <a:blip r:embed="rId11"/>
          <a:stretch>
            <a:fillRect/>
          </a:stretch>
        </p:blipFill>
        <p:spPr>
          <a:xfrm>
            <a:off x="5613632" y="4658735"/>
            <a:ext cx="6455272" cy="971824"/>
          </a:xfrm>
          <a:prstGeom prst="rect">
            <a:avLst/>
          </a:prstGeom>
        </p:spPr>
      </p:pic>
      <p:sp>
        <p:nvSpPr>
          <p:cNvPr id="41" name="文本框 40">
            <a:extLst>
              <a:ext uri="{FF2B5EF4-FFF2-40B4-BE49-F238E27FC236}">
                <a16:creationId xmlns:a16="http://schemas.microsoft.com/office/drawing/2014/main" id="{0667CB8A-709A-0296-C52C-9F25BE3B7098}"/>
              </a:ext>
            </a:extLst>
          </p:cNvPr>
          <p:cNvSpPr txBox="1"/>
          <p:nvPr/>
        </p:nvSpPr>
        <p:spPr>
          <a:xfrm>
            <a:off x="6307014" y="4232656"/>
            <a:ext cx="3074379" cy="369332"/>
          </a:xfrm>
          <a:prstGeom prst="rect">
            <a:avLst/>
          </a:prstGeom>
          <a:noFill/>
        </p:spPr>
        <p:txBody>
          <a:bodyPr wrap="square">
            <a:spAutoFit/>
          </a:bodyPr>
          <a:lstStyle/>
          <a:p>
            <a:r>
              <a:rPr lang="en-US" altLang="zh-CN" b="1" dirty="0">
                <a:solidFill>
                  <a:schemeClr val="tx1">
                    <a:lumMod val="75000"/>
                    <a:lumOff val="25000"/>
                  </a:schemeClr>
                </a:solidFill>
              </a:rPr>
              <a:t>(3)</a:t>
            </a:r>
            <a:r>
              <a:rPr lang="zh-CN" altLang="en-US" b="1" dirty="0">
                <a:solidFill>
                  <a:schemeClr val="tx1">
                    <a:lumMod val="75000"/>
                    <a:lumOff val="25000"/>
                  </a:schemeClr>
                </a:solidFill>
              </a:rPr>
              <a:t> 理论优化目标</a:t>
            </a:r>
            <a:endParaRPr lang="zh-CN" altLang="en-US" dirty="0"/>
          </a:p>
        </p:txBody>
      </p:sp>
      <p:pic>
        <p:nvPicPr>
          <p:cNvPr id="35" name="图片 34">
            <a:extLst>
              <a:ext uri="{FF2B5EF4-FFF2-40B4-BE49-F238E27FC236}">
                <a16:creationId xmlns:a16="http://schemas.microsoft.com/office/drawing/2014/main" id="{34918779-4A9C-A2E4-A666-747E2371844C}"/>
              </a:ext>
            </a:extLst>
          </p:cNvPr>
          <p:cNvPicPr>
            <a:picLocks noChangeAspect="1"/>
          </p:cNvPicPr>
          <p:nvPr/>
        </p:nvPicPr>
        <p:blipFill>
          <a:blip r:embed="rId12"/>
          <a:stretch>
            <a:fillRect/>
          </a:stretch>
        </p:blipFill>
        <p:spPr>
          <a:xfrm>
            <a:off x="0" y="5207458"/>
            <a:ext cx="12192000" cy="2515960"/>
          </a:xfrm>
          <a:prstGeom prst="rect">
            <a:avLst/>
          </a:prstGeom>
        </p:spPr>
      </p:pic>
    </p:spTree>
    <p:extLst>
      <p:ext uri="{BB962C8B-B14F-4D97-AF65-F5344CB8AC3E}">
        <p14:creationId xmlns:p14="http://schemas.microsoft.com/office/powerpoint/2010/main" val="40312654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50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500"/>
                                        <p:tgtEl>
                                          <p:spTgt spid="3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500"/>
                                        <p:tgtEl>
                                          <p:spTgt spid="3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500"/>
                                        <p:tgtEl>
                                          <p:spTgt spid="3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fade">
                                      <p:cBhvr>
                                        <p:cTn id="39" dur="500"/>
                                        <p:tgtEl>
                                          <p:spTgt spid="3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fade">
                                      <p:cBhvr>
                                        <p:cTn id="42" dur="500"/>
                                        <p:tgtEl>
                                          <p:spTgt spid="3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500"/>
                                        <p:tgtEl>
                                          <p:spTgt spid="41"/>
                                        </p:tgtEl>
                                      </p:cBhvr>
                                    </p:animEffect>
                                  </p:childTnLst>
                                </p:cTn>
                              </p:par>
                              <p:par>
                                <p:cTn id="48" presetID="10" presetClass="entr" presetSubtype="0" fill="hold"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500"/>
                                        <p:tgtEl>
                                          <p:spTgt spid="40"/>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fade">
                                      <p:cBhvr>
                                        <p:cTn id="5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8" grpId="0"/>
      <p:bldP spid="19" grpId="0"/>
      <p:bldP spid="21" grpId="0"/>
      <p:bldP spid="25" grpId="0"/>
      <p:bldP spid="26" grpId="0"/>
      <p:bldP spid="28" grpId="0"/>
      <p:bldP spid="30" grpId="0"/>
      <p:bldP spid="32" grpId="0"/>
      <p:bldP spid="33" grpId="0"/>
      <p:bldP spid="36" grpId="0"/>
      <p:bldP spid="37" grpId="0"/>
      <p:bldP spid="4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848DD-DFD0-B845-CE38-AE29B59063DA}"/>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08D6B0C0-1CCE-AE3C-9F1B-A9CAEA4DE466}"/>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lang="zh-CN" altLang="en-US" sz="2800" dirty="0">
                <a:solidFill>
                  <a:srgbClr val="000000">
                    <a:lumMod val="75000"/>
                    <a:lumOff val="25000"/>
                  </a:srgbClr>
                </a:solidFill>
              </a:rPr>
              <a:t>实验</a:t>
            </a:r>
          </a:p>
        </p:txBody>
      </p:sp>
      <p:sp>
        <p:nvSpPr>
          <p:cNvPr id="4" name="文本框 3">
            <a:extLst>
              <a:ext uri="{FF2B5EF4-FFF2-40B4-BE49-F238E27FC236}">
                <a16:creationId xmlns:a16="http://schemas.microsoft.com/office/drawing/2014/main" id="{21C3D448-9002-D0B6-19AE-CF7FD64810F1}"/>
              </a:ext>
            </a:extLst>
          </p:cNvPr>
          <p:cNvSpPr txBox="1"/>
          <p:nvPr/>
        </p:nvSpPr>
        <p:spPr>
          <a:xfrm>
            <a:off x="290644" y="806973"/>
            <a:ext cx="3073879" cy="396583"/>
          </a:xfrm>
          <a:prstGeom prst="rect">
            <a:avLst/>
          </a:prstGeom>
          <a:noFill/>
        </p:spPr>
        <p:txBody>
          <a:bodyPr wrap="square" rtlCol="0" anchor="ctr">
            <a:spAutoFit/>
          </a:bodyPr>
          <a:lstStyle/>
          <a:p>
            <a:pPr marL="285750" indent="-285750">
              <a:lnSpc>
                <a:spcPct val="120000"/>
              </a:lnSpc>
              <a:buFont typeface="Wingdings" panose="05000000000000000000" pitchFamily="2" charset="2"/>
              <a:buChar char="Ø"/>
            </a:pPr>
            <a:r>
              <a:rPr lang="zh-CN" altLang="en-US" b="1" dirty="0">
                <a:solidFill>
                  <a:srgbClr val="268F9C"/>
                </a:solidFill>
                <a:latin typeface="+mn-ea"/>
              </a:rPr>
              <a:t>数据集</a:t>
            </a:r>
          </a:p>
        </p:txBody>
      </p:sp>
      <p:sp>
        <p:nvSpPr>
          <p:cNvPr id="5" name="文本框 4">
            <a:extLst>
              <a:ext uri="{FF2B5EF4-FFF2-40B4-BE49-F238E27FC236}">
                <a16:creationId xmlns:a16="http://schemas.microsoft.com/office/drawing/2014/main" id="{EF570386-4A00-57C3-32E5-075EA0A62FA3}"/>
              </a:ext>
            </a:extLst>
          </p:cNvPr>
          <p:cNvSpPr txBox="1"/>
          <p:nvPr/>
        </p:nvSpPr>
        <p:spPr>
          <a:xfrm>
            <a:off x="4370274" y="801355"/>
            <a:ext cx="3073879" cy="396583"/>
          </a:xfrm>
          <a:prstGeom prst="rect">
            <a:avLst/>
          </a:prstGeom>
          <a:noFill/>
        </p:spPr>
        <p:txBody>
          <a:bodyPr wrap="square" rtlCol="0" anchor="ctr">
            <a:spAutoFit/>
          </a:bodyPr>
          <a:lstStyle/>
          <a:p>
            <a:pPr marL="285750" indent="-285750">
              <a:lnSpc>
                <a:spcPct val="120000"/>
              </a:lnSpc>
              <a:buFont typeface="Wingdings" panose="05000000000000000000" pitchFamily="2" charset="2"/>
              <a:buChar char="Ø"/>
            </a:pPr>
            <a:r>
              <a:rPr lang="zh-CN" altLang="en-US" b="1" dirty="0">
                <a:solidFill>
                  <a:srgbClr val="268F9C"/>
                </a:solidFill>
                <a:latin typeface="+mn-ea"/>
              </a:rPr>
              <a:t>模型</a:t>
            </a:r>
          </a:p>
        </p:txBody>
      </p:sp>
      <p:sp>
        <p:nvSpPr>
          <p:cNvPr id="7" name="文本框 6">
            <a:extLst>
              <a:ext uri="{FF2B5EF4-FFF2-40B4-BE49-F238E27FC236}">
                <a16:creationId xmlns:a16="http://schemas.microsoft.com/office/drawing/2014/main" id="{B5792FC0-80D2-B5A0-9EE2-BCA7DBD8E746}"/>
              </a:ext>
            </a:extLst>
          </p:cNvPr>
          <p:cNvSpPr txBox="1"/>
          <p:nvPr/>
        </p:nvSpPr>
        <p:spPr>
          <a:xfrm>
            <a:off x="542193" y="1309420"/>
            <a:ext cx="6101860" cy="2092881"/>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altLang="zh-CN" dirty="0"/>
              <a:t>WMT </a:t>
            </a:r>
            <a:r>
              <a:rPr lang="en-US" altLang="zh-CN" dirty="0" err="1"/>
              <a:t>EnDe</a:t>
            </a:r>
            <a:r>
              <a:rPr lang="zh-CN" altLang="en-US" dirty="0"/>
              <a:t>：机器翻译</a:t>
            </a:r>
            <a:endParaRPr lang="en-US" altLang="zh-CN" dirty="0"/>
          </a:p>
          <a:p>
            <a:pPr marL="285750" indent="-285750">
              <a:spcAft>
                <a:spcPts val="1200"/>
              </a:spcAft>
              <a:buFont typeface="Arial" panose="020B0604020202020204" pitchFamily="34" charset="0"/>
              <a:buChar char="•"/>
            </a:pPr>
            <a:r>
              <a:rPr lang="en-US" altLang="zh-CN" dirty="0"/>
              <a:t>CNN/DM</a:t>
            </a:r>
            <a:r>
              <a:rPr lang="zh-CN" altLang="en-US" dirty="0"/>
              <a:t>：文本摘要</a:t>
            </a:r>
          </a:p>
          <a:p>
            <a:pPr marL="285750" indent="-285750">
              <a:spcAft>
                <a:spcPts val="1200"/>
              </a:spcAft>
              <a:buFont typeface="Arial" panose="020B0604020202020204" pitchFamily="34" charset="0"/>
              <a:buChar char="•"/>
            </a:pPr>
            <a:r>
              <a:rPr lang="en-US" altLang="zh-CN" dirty="0" err="1"/>
              <a:t>Xsum</a:t>
            </a:r>
            <a:r>
              <a:rPr lang="zh-CN" altLang="en-US" dirty="0"/>
              <a:t>：文档摘要</a:t>
            </a:r>
          </a:p>
          <a:p>
            <a:pPr marL="285750" indent="-285750">
              <a:spcAft>
                <a:spcPts val="1200"/>
              </a:spcAft>
              <a:buFont typeface="Arial" panose="020B0604020202020204" pitchFamily="34" charset="0"/>
              <a:buChar char="•"/>
            </a:pPr>
            <a:r>
              <a:rPr lang="en-US" altLang="zh-CN" dirty="0"/>
              <a:t>GSM8K</a:t>
            </a:r>
            <a:r>
              <a:rPr lang="zh-CN" altLang="en-US" dirty="0"/>
              <a:t>：数学推理</a:t>
            </a:r>
            <a:endParaRPr lang="en-US" altLang="zh-CN" dirty="0"/>
          </a:p>
          <a:p>
            <a:pPr marL="285750" indent="-285750">
              <a:spcAft>
                <a:spcPts val="1200"/>
              </a:spcAft>
              <a:buFont typeface="Arial" panose="020B0604020202020204" pitchFamily="34" charset="0"/>
              <a:buChar char="•"/>
            </a:pPr>
            <a:r>
              <a:rPr lang="en-US" altLang="zh-CN" dirty="0"/>
              <a:t>BBH</a:t>
            </a:r>
            <a:r>
              <a:rPr lang="zh-CN" altLang="en-US" dirty="0"/>
              <a:t>：复杂推理、逻辑推理、数学问题</a:t>
            </a:r>
            <a:endParaRPr lang="zh-CN" altLang="en-US" b="1" dirty="0"/>
          </a:p>
        </p:txBody>
      </p:sp>
      <p:sp>
        <p:nvSpPr>
          <p:cNvPr id="15" name="文本框 14">
            <a:extLst>
              <a:ext uri="{FF2B5EF4-FFF2-40B4-BE49-F238E27FC236}">
                <a16:creationId xmlns:a16="http://schemas.microsoft.com/office/drawing/2014/main" id="{6D850661-5F29-5077-617E-BED25226DC5A}"/>
              </a:ext>
            </a:extLst>
          </p:cNvPr>
          <p:cNvSpPr txBox="1"/>
          <p:nvPr/>
        </p:nvSpPr>
        <p:spPr>
          <a:xfrm>
            <a:off x="4832839" y="1323507"/>
            <a:ext cx="6101860" cy="369332"/>
          </a:xfrm>
          <a:prstGeom prst="rect">
            <a:avLst/>
          </a:prstGeom>
          <a:noFill/>
        </p:spPr>
        <p:txBody>
          <a:bodyPr wrap="square">
            <a:spAutoFit/>
          </a:bodyPr>
          <a:lstStyle/>
          <a:p>
            <a:pPr marL="285750" indent="-285750">
              <a:buFont typeface="Arial" panose="020B0604020202020204" pitchFamily="34" charset="0"/>
              <a:buChar char="•"/>
            </a:pPr>
            <a:r>
              <a:rPr lang="en-US" altLang="zh-CN" dirty="0"/>
              <a:t>T5 v1.1 </a:t>
            </a:r>
            <a:endParaRPr lang="zh-CN" altLang="en-US" dirty="0"/>
          </a:p>
        </p:txBody>
      </p:sp>
      <p:sp>
        <p:nvSpPr>
          <p:cNvPr id="17" name="文本框 16">
            <a:extLst>
              <a:ext uri="{FF2B5EF4-FFF2-40B4-BE49-F238E27FC236}">
                <a16:creationId xmlns:a16="http://schemas.microsoft.com/office/drawing/2014/main" id="{E94620CD-091E-D228-51D5-E86A4B25B9F0}"/>
              </a:ext>
            </a:extLst>
          </p:cNvPr>
          <p:cNvSpPr txBox="1"/>
          <p:nvPr/>
        </p:nvSpPr>
        <p:spPr>
          <a:xfrm>
            <a:off x="5067300" y="1767468"/>
            <a:ext cx="6101860" cy="800219"/>
          </a:xfrm>
          <a:prstGeom prst="rect">
            <a:avLst/>
          </a:prstGeom>
          <a:noFill/>
        </p:spPr>
        <p:txBody>
          <a:bodyPr wrap="square">
            <a:spAutoFit/>
          </a:bodyPr>
          <a:lstStyle/>
          <a:p>
            <a:pPr>
              <a:spcAft>
                <a:spcPts val="1200"/>
              </a:spcAft>
            </a:pPr>
            <a:r>
              <a:rPr lang="en-US" altLang="zh-CN" dirty="0"/>
              <a:t>T5-Small (77M),-Base (250M),</a:t>
            </a:r>
          </a:p>
          <a:p>
            <a:pPr>
              <a:spcAft>
                <a:spcPts val="1200"/>
              </a:spcAft>
            </a:pPr>
            <a:r>
              <a:rPr lang="en-US" altLang="zh-CN" dirty="0"/>
              <a:t>-Large (800M), -XL (3B), -XXL (11B)</a:t>
            </a:r>
            <a:endParaRPr lang="zh-CN" altLang="en-US" dirty="0"/>
          </a:p>
        </p:txBody>
      </p:sp>
      <p:pic>
        <p:nvPicPr>
          <p:cNvPr id="19" name="图片 18">
            <a:extLst>
              <a:ext uri="{FF2B5EF4-FFF2-40B4-BE49-F238E27FC236}">
                <a16:creationId xmlns:a16="http://schemas.microsoft.com/office/drawing/2014/main" id="{37EEE879-74B6-61BC-C27C-1299F93D9159}"/>
              </a:ext>
            </a:extLst>
          </p:cNvPr>
          <p:cNvPicPr>
            <a:picLocks noChangeAspect="1"/>
          </p:cNvPicPr>
          <p:nvPr/>
        </p:nvPicPr>
        <p:blipFill>
          <a:blip r:embed="rId3"/>
          <a:stretch>
            <a:fillRect/>
          </a:stretch>
        </p:blipFill>
        <p:spPr>
          <a:xfrm>
            <a:off x="0" y="3429000"/>
            <a:ext cx="12192000" cy="3422026"/>
          </a:xfrm>
          <a:prstGeom prst="rect">
            <a:avLst/>
          </a:prstGeom>
        </p:spPr>
      </p:pic>
    </p:spTree>
    <p:extLst>
      <p:ext uri="{BB962C8B-B14F-4D97-AF65-F5344CB8AC3E}">
        <p14:creationId xmlns:p14="http://schemas.microsoft.com/office/powerpoint/2010/main" val="42217782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15"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D56B5-1698-140F-89B5-E313A7394790}"/>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0BC96AE1-BF1A-2146-65AA-333B4E5F2EB9}"/>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lang="zh-CN" altLang="en-US" sz="2800" dirty="0">
                <a:solidFill>
                  <a:srgbClr val="000000">
                    <a:lumMod val="75000"/>
                    <a:lumOff val="25000"/>
                  </a:srgbClr>
                </a:solidFill>
              </a:rPr>
              <a:t>实验</a:t>
            </a:r>
          </a:p>
        </p:txBody>
      </p:sp>
      <p:pic>
        <p:nvPicPr>
          <p:cNvPr id="6" name="图片 5">
            <a:extLst>
              <a:ext uri="{FF2B5EF4-FFF2-40B4-BE49-F238E27FC236}">
                <a16:creationId xmlns:a16="http://schemas.microsoft.com/office/drawing/2014/main" id="{E6FD1804-3BF1-64A0-8785-743104C23AE1}"/>
              </a:ext>
            </a:extLst>
          </p:cNvPr>
          <p:cNvPicPr>
            <a:picLocks noChangeAspect="1"/>
          </p:cNvPicPr>
          <p:nvPr/>
        </p:nvPicPr>
        <p:blipFill>
          <a:blip r:embed="rId3"/>
          <a:stretch>
            <a:fillRect/>
          </a:stretch>
        </p:blipFill>
        <p:spPr>
          <a:xfrm>
            <a:off x="1359877" y="788187"/>
            <a:ext cx="9778395" cy="2640813"/>
          </a:xfrm>
          <a:prstGeom prst="rect">
            <a:avLst/>
          </a:prstGeom>
        </p:spPr>
      </p:pic>
      <p:pic>
        <p:nvPicPr>
          <p:cNvPr id="7" name="图片 6">
            <a:extLst>
              <a:ext uri="{FF2B5EF4-FFF2-40B4-BE49-F238E27FC236}">
                <a16:creationId xmlns:a16="http://schemas.microsoft.com/office/drawing/2014/main" id="{DB303A87-51FF-ABA2-22AA-552936A1D4F1}"/>
              </a:ext>
            </a:extLst>
          </p:cNvPr>
          <p:cNvPicPr>
            <a:picLocks noChangeAspect="1"/>
          </p:cNvPicPr>
          <p:nvPr/>
        </p:nvPicPr>
        <p:blipFill>
          <a:blip r:embed="rId4"/>
          <a:stretch>
            <a:fillRect/>
          </a:stretch>
        </p:blipFill>
        <p:spPr>
          <a:xfrm>
            <a:off x="1520056" y="3700476"/>
            <a:ext cx="9862037" cy="2369337"/>
          </a:xfrm>
          <a:prstGeom prst="rect">
            <a:avLst/>
          </a:prstGeom>
        </p:spPr>
      </p:pic>
      <p:sp>
        <p:nvSpPr>
          <p:cNvPr id="8" name="文本框 7">
            <a:extLst>
              <a:ext uri="{FF2B5EF4-FFF2-40B4-BE49-F238E27FC236}">
                <a16:creationId xmlns:a16="http://schemas.microsoft.com/office/drawing/2014/main" id="{3940B3B5-3099-EFBB-42BE-473236A15A5D}"/>
              </a:ext>
            </a:extLst>
          </p:cNvPr>
          <p:cNvSpPr txBox="1"/>
          <p:nvPr/>
        </p:nvSpPr>
        <p:spPr>
          <a:xfrm>
            <a:off x="3836829" y="3335738"/>
            <a:ext cx="5228492" cy="362343"/>
          </a:xfrm>
          <a:prstGeom prst="rect">
            <a:avLst/>
          </a:prstGeom>
          <a:noFill/>
        </p:spPr>
        <p:txBody>
          <a:bodyPr wrap="square" rtlCol="0" anchor="ctr">
            <a:spAutoFit/>
          </a:bodyPr>
          <a:lstStyle/>
          <a:p>
            <a:pPr>
              <a:lnSpc>
                <a:spcPct val="120000"/>
              </a:lnSpc>
            </a:pPr>
            <a:r>
              <a:rPr lang="zh-CN" altLang="en-US" sz="1600" dirty="0">
                <a:solidFill>
                  <a:schemeClr val="tx1">
                    <a:lumMod val="75000"/>
                    <a:lumOff val="25000"/>
                  </a:schemeClr>
                </a:solidFill>
              </a:rPr>
              <a:t>（</a:t>
            </a:r>
            <a:r>
              <a:rPr lang="en-US" altLang="zh-CN" sz="1600" dirty="0">
                <a:solidFill>
                  <a:schemeClr val="tx1">
                    <a:lumMod val="75000"/>
                    <a:lumOff val="25000"/>
                  </a:schemeClr>
                </a:solidFill>
              </a:rPr>
              <a:t>1</a:t>
            </a:r>
            <a:r>
              <a:rPr lang="zh-CN" altLang="en-US" sz="1600" dirty="0">
                <a:solidFill>
                  <a:schemeClr val="tx1">
                    <a:lumMod val="75000"/>
                    <a:lumOff val="25000"/>
                  </a:schemeClr>
                </a:solidFill>
              </a:rPr>
              <a:t>）贪婪解码，草稿模型每次生成</a:t>
            </a:r>
            <a:r>
              <a:rPr lang="en-US" altLang="zh-CN" sz="1600" dirty="0">
                <a:solidFill>
                  <a:schemeClr val="tx1">
                    <a:lumMod val="75000"/>
                    <a:lumOff val="25000"/>
                  </a:schemeClr>
                </a:solidFill>
              </a:rPr>
              <a:t>7</a:t>
            </a:r>
            <a:r>
              <a:rPr lang="zh-CN" altLang="en-US" sz="1600" dirty="0">
                <a:solidFill>
                  <a:schemeClr val="tx1">
                    <a:lumMod val="75000"/>
                    <a:lumOff val="25000"/>
                  </a:schemeClr>
                </a:solidFill>
              </a:rPr>
              <a:t>个</a:t>
            </a:r>
            <a:r>
              <a:rPr lang="en-US" altLang="zh-CN" sz="1600" dirty="0">
                <a:solidFill>
                  <a:schemeClr val="tx1">
                    <a:lumMod val="75000"/>
                    <a:lumOff val="25000"/>
                  </a:schemeClr>
                </a:solidFill>
              </a:rPr>
              <a:t>token</a:t>
            </a:r>
            <a:endParaRPr lang="zh-CN" altLang="en-US" sz="1600" dirty="0">
              <a:solidFill>
                <a:schemeClr val="tx1">
                  <a:lumMod val="75000"/>
                  <a:lumOff val="25000"/>
                </a:schemeClr>
              </a:solidFill>
            </a:endParaRPr>
          </a:p>
        </p:txBody>
      </p:sp>
      <p:sp>
        <p:nvSpPr>
          <p:cNvPr id="9" name="文本框 8">
            <a:extLst>
              <a:ext uri="{FF2B5EF4-FFF2-40B4-BE49-F238E27FC236}">
                <a16:creationId xmlns:a16="http://schemas.microsoft.com/office/drawing/2014/main" id="{EB51D93F-A834-3BFE-389C-20450CCA0D9F}"/>
              </a:ext>
            </a:extLst>
          </p:cNvPr>
          <p:cNvSpPr txBox="1"/>
          <p:nvPr/>
        </p:nvSpPr>
        <p:spPr>
          <a:xfrm>
            <a:off x="3836828" y="6252813"/>
            <a:ext cx="5228492" cy="362343"/>
          </a:xfrm>
          <a:prstGeom prst="rect">
            <a:avLst/>
          </a:prstGeom>
          <a:noFill/>
        </p:spPr>
        <p:txBody>
          <a:bodyPr wrap="square" rtlCol="0" anchor="ctr">
            <a:spAutoFit/>
          </a:bodyPr>
          <a:lstStyle/>
          <a:p>
            <a:pPr>
              <a:lnSpc>
                <a:spcPct val="120000"/>
              </a:lnSpc>
            </a:pPr>
            <a:r>
              <a:rPr lang="zh-CN" altLang="en-US" sz="1600" dirty="0">
                <a:solidFill>
                  <a:schemeClr val="tx1">
                    <a:lumMod val="75000"/>
                    <a:lumOff val="25000"/>
                  </a:schemeClr>
                </a:solidFill>
              </a:rPr>
              <a:t>（</a:t>
            </a:r>
            <a:r>
              <a:rPr lang="en-US" altLang="zh-CN" sz="1600" dirty="0">
                <a:solidFill>
                  <a:schemeClr val="tx1">
                    <a:lumMod val="75000"/>
                    <a:lumOff val="25000"/>
                  </a:schemeClr>
                </a:solidFill>
              </a:rPr>
              <a:t>2</a:t>
            </a:r>
            <a:r>
              <a:rPr lang="zh-CN" altLang="en-US" sz="1600" dirty="0">
                <a:solidFill>
                  <a:schemeClr val="tx1">
                    <a:lumMod val="75000"/>
                    <a:lumOff val="25000"/>
                  </a:schemeClr>
                </a:solidFill>
              </a:rPr>
              <a:t>）标准采样，草稿模型每次生成</a:t>
            </a:r>
            <a:r>
              <a:rPr lang="en-US" altLang="zh-CN" sz="1600" dirty="0">
                <a:solidFill>
                  <a:schemeClr val="tx1">
                    <a:lumMod val="75000"/>
                    <a:lumOff val="25000"/>
                  </a:schemeClr>
                </a:solidFill>
              </a:rPr>
              <a:t>7</a:t>
            </a:r>
            <a:r>
              <a:rPr lang="zh-CN" altLang="en-US" sz="1600" dirty="0">
                <a:solidFill>
                  <a:schemeClr val="tx1">
                    <a:lumMod val="75000"/>
                    <a:lumOff val="25000"/>
                  </a:schemeClr>
                </a:solidFill>
              </a:rPr>
              <a:t>个</a:t>
            </a:r>
            <a:r>
              <a:rPr lang="en-US" altLang="zh-CN" sz="1600" dirty="0">
                <a:solidFill>
                  <a:schemeClr val="tx1">
                    <a:lumMod val="75000"/>
                    <a:lumOff val="25000"/>
                  </a:schemeClr>
                </a:solidFill>
              </a:rPr>
              <a:t>token</a:t>
            </a:r>
            <a:endParaRPr lang="zh-CN" altLang="en-US" sz="1600" dirty="0">
              <a:solidFill>
                <a:schemeClr val="tx1">
                  <a:lumMod val="75000"/>
                  <a:lumOff val="25000"/>
                </a:schemeClr>
              </a:solidFill>
            </a:endParaRPr>
          </a:p>
        </p:txBody>
      </p:sp>
    </p:spTree>
    <p:extLst>
      <p:ext uri="{BB962C8B-B14F-4D97-AF65-F5344CB8AC3E}">
        <p14:creationId xmlns:p14="http://schemas.microsoft.com/office/powerpoint/2010/main" val="15131638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96BF1-4A66-1C40-BEBC-60900F21DED5}"/>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57C07C2B-F8E1-5C27-3833-C3041ADB0CA4}"/>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lang="zh-CN" altLang="en-US" sz="2800" dirty="0">
                <a:solidFill>
                  <a:srgbClr val="000000">
                    <a:lumMod val="75000"/>
                    <a:lumOff val="25000"/>
                  </a:srgbClr>
                </a:solidFill>
              </a:rPr>
              <a:t>实验</a:t>
            </a:r>
          </a:p>
        </p:txBody>
      </p:sp>
      <p:pic>
        <p:nvPicPr>
          <p:cNvPr id="4" name="图片 3">
            <a:extLst>
              <a:ext uri="{FF2B5EF4-FFF2-40B4-BE49-F238E27FC236}">
                <a16:creationId xmlns:a16="http://schemas.microsoft.com/office/drawing/2014/main" id="{C9AB5381-144F-E81D-16B6-1A493352FB42}"/>
              </a:ext>
            </a:extLst>
          </p:cNvPr>
          <p:cNvPicPr>
            <a:picLocks noChangeAspect="1"/>
          </p:cNvPicPr>
          <p:nvPr/>
        </p:nvPicPr>
        <p:blipFill>
          <a:blip r:embed="rId3"/>
          <a:stretch>
            <a:fillRect/>
          </a:stretch>
        </p:blipFill>
        <p:spPr>
          <a:xfrm>
            <a:off x="2734775" y="1000257"/>
            <a:ext cx="6338888" cy="5558071"/>
          </a:xfrm>
          <a:prstGeom prst="rect">
            <a:avLst/>
          </a:prstGeom>
        </p:spPr>
      </p:pic>
    </p:spTree>
    <p:extLst>
      <p:ext uri="{BB962C8B-B14F-4D97-AF65-F5344CB8AC3E}">
        <p14:creationId xmlns:p14="http://schemas.microsoft.com/office/powerpoint/2010/main" val="10674066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E5CB0-0245-4E3C-DA59-A181968FDE4C}"/>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3ADEEE5E-3230-CA3E-2DFD-44862EE52CB0}"/>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lang="zh-CN" altLang="en-US" sz="2800" dirty="0">
                <a:solidFill>
                  <a:srgbClr val="000000">
                    <a:lumMod val="75000"/>
                    <a:lumOff val="25000"/>
                  </a:srgbClr>
                </a:solidFill>
              </a:rPr>
              <a:t>实验</a:t>
            </a:r>
          </a:p>
        </p:txBody>
      </p:sp>
      <p:pic>
        <p:nvPicPr>
          <p:cNvPr id="5" name="图片 4">
            <a:extLst>
              <a:ext uri="{FF2B5EF4-FFF2-40B4-BE49-F238E27FC236}">
                <a16:creationId xmlns:a16="http://schemas.microsoft.com/office/drawing/2014/main" id="{A5F62322-7DAD-824F-3DBD-8D262F03E10B}"/>
              </a:ext>
            </a:extLst>
          </p:cNvPr>
          <p:cNvPicPr>
            <a:picLocks noChangeAspect="1"/>
          </p:cNvPicPr>
          <p:nvPr/>
        </p:nvPicPr>
        <p:blipFill>
          <a:blip r:embed="rId3"/>
          <a:stretch>
            <a:fillRect/>
          </a:stretch>
        </p:blipFill>
        <p:spPr>
          <a:xfrm>
            <a:off x="2657841" y="757129"/>
            <a:ext cx="6204805" cy="5947997"/>
          </a:xfrm>
          <a:prstGeom prst="rect">
            <a:avLst/>
          </a:prstGeom>
        </p:spPr>
      </p:pic>
    </p:spTree>
    <p:extLst>
      <p:ext uri="{BB962C8B-B14F-4D97-AF65-F5344CB8AC3E}">
        <p14:creationId xmlns:p14="http://schemas.microsoft.com/office/powerpoint/2010/main" val="34668608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C00C6-7BEF-5805-5BDB-FAABCE9D726E}"/>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67462575-EAE3-2161-E151-A8B1239C5AD8}"/>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lang="zh-CN" altLang="en-US" sz="2800" dirty="0">
                <a:solidFill>
                  <a:srgbClr val="000000">
                    <a:lumMod val="75000"/>
                    <a:lumOff val="25000"/>
                  </a:srgbClr>
                </a:solidFill>
              </a:rPr>
              <a:t>实验</a:t>
            </a:r>
          </a:p>
        </p:txBody>
      </p:sp>
      <p:pic>
        <p:nvPicPr>
          <p:cNvPr id="14" name="图片 13">
            <a:extLst>
              <a:ext uri="{FF2B5EF4-FFF2-40B4-BE49-F238E27FC236}">
                <a16:creationId xmlns:a16="http://schemas.microsoft.com/office/drawing/2014/main" id="{872B90E4-3C33-39B3-C56E-F5D8DF439EA8}"/>
              </a:ext>
            </a:extLst>
          </p:cNvPr>
          <p:cNvPicPr>
            <a:picLocks noChangeAspect="1"/>
          </p:cNvPicPr>
          <p:nvPr/>
        </p:nvPicPr>
        <p:blipFill>
          <a:blip r:embed="rId3"/>
          <a:stretch>
            <a:fillRect/>
          </a:stretch>
        </p:blipFill>
        <p:spPr>
          <a:xfrm>
            <a:off x="2364787" y="695491"/>
            <a:ext cx="7189886" cy="2757440"/>
          </a:xfrm>
          <a:prstGeom prst="rect">
            <a:avLst/>
          </a:prstGeom>
        </p:spPr>
      </p:pic>
      <p:pic>
        <p:nvPicPr>
          <p:cNvPr id="16" name="图片 15">
            <a:extLst>
              <a:ext uri="{FF2B5EF4-FFF2-40B4-BE49-F238E27FC236}">
                <a16:creationId xmlns:a16="http://schemas.microsoft.com/office/drawing/2014/main" id="{22BACFE6-24CF-58C5-AB70-575E939630B2}"/>
              </a:ext>
            </a:extLst>
          </p:cNvPr>
          <p:cNvPicPr>
            <a:picLocks noChangeAspect="1"/>
          </p:cNvPicPr>
          <p:nvPr/>
        </p:nvPicPr>
        <p:blipFill>
          <a:blip r:embed="rId4"/>
          <a:stretch>
            <a:fillRect/>
          </a:stretch>
        </p:blipFill>
        <p:spPr>
          <a:xfrm>
            <a:off x="2364787" y="3746544"/>
            <a:ext cx="7189886" cy="2679362"/>
          </a:xfrm>
          <a:prstGeom prst="rect">
            <a:avLst/>
          </a:prstGeom>
        </p:spPr>
      </p:pic>
      <p:sp>
        <p:nvSpPr>
          <p:cNvPr id="17" name="文本框 16">
            <a:extLst>
              <a:ext uri="{FF2B5EF4-FFF2-40B4-BE49-F238E27FC236}">
                <a16:creationId xmlns:a16="http://schemas.microsoft.com/office/drawing/2014/main" id="{912C194E-C169-2B08-B1A1-4C45721603D4}"/>
              </a:ext>
            </a:extLst>
          </p:cNvPr>
          <p:cNvSpPr txBox="1"/>
          <p:nvPr/>
        </p:nvSpPr>
        <p:spPr>
          <a:xfrm>
            <a:off x="3345484" y="3418566"/>
            <a:ext cx="5228492" cy="362343"/>
          </a:xfrm>
          <a:prstGeom prst="rect">
            <a:avLst/>
          </a:prstGeom>
          <a:noFill/>
        </p:spPr>
        <p:txBody>
          <a:bodyPr wrap="square" rtlCol="0" anchor="ctr">
            <a:spAutoFit/>
          </a:bodyPr>
          <a:lstStyle/>
          <a:p>
            <a:pPr algn="ctr">
              <a:lnSpc>
                <a:spcPct val="120000"/>
              </a:lnSpc>
            </a:pPr>
            <a:r>
              <a:rPr lang="zh-CN" altLang="en-US" sz="1600" dirty="0">
                <a:solidFill>
                  <a:schemeClr val="tx1">
                    <a:lumMod val="75000"/>
                    <a:lumOff val="25000"/>
                  </a:schemeClr>
                </a:solidFill>
              </a:rPr>
              <a:t>（</a:t>
            </a:r>
            <a:r>
              <a:rPr lang="en-US" altLang="zh-CN" sz="1600" dirty="0">
                <a:solidFill>
                  <a:schemeClr val="tx1">
                    <a:lumMod val="75000"/>
                    <a:lumOff val="25000"/>
                  </a:schemeClr>
                </a:solidFill>
              </a:rPr>
              <a:t>1</a:t>
            </a:r>
            <a:r>
              <a:rPr lang="zh-CN" altLang="en-US" sz="1600" dirty="0">
                <a:solidFill>
                  <a:schemeClr val="tx1">
                    <a:lumMod val="75000"/>
                    <a:lumOff val="25000"/>
                  </a:schemeClr>
                </a:solidFill>
              </a:rPr>
              <a:t>）</a:t>
            </a:r>
            <a:r>
              <a:rPr lang="en-US" altLang="zh-CN" sz="1600" dirty="0" err="1">
                <a:solidFill>
                  <a:schemeClr val="tx1">
                    <a:lumMod val="75000"/>
                    <a:lumOff val="25000"/>
                  </a:schemeClr>
                </a:solidFill>
              </a:rPr>
              <a:t>XSum</a:t>
            </a:r>
            <a:endParaRPr lang="zh-CN" altLang="en-US" sz="1600" dirty="0">
              <a:solidFill>
                <a:schemeClr val="tx1">
                  <a:lumMod val="75000"/>
                  <a:lumOff val="25000"/>
                </a:schemeClr>
              </a:solidFill>
            </a:endParaRPr>
          </a:p>
        </p:txBody>
      </p:sp>
      <p:sp>
        <p:nvSpPr>
          <p:cNvPr id="18" name="文本框 17">
            <a:extLst>
              <a:ext uri="{FF2B5EF4-FFF2-40B4-BE49-F238E27FC236}">
                <a16:creationId xmlns:a16="http://schemas.microsoft.com/office/drawing/2014/main" id="{839C9151-7C77-66F1-D94C-D4A209F11732}"/>
              </a:ext>
            </a:extLst>
          </p:cNvPr>
          <p:cNvSpPr txBox="1"/>
          <p:nvPr/>
        </p:nvSpPr>
        <p:spPr>
          <a:xfrm>
            <a:off x="3345484" y="6391542"/>
            <a:ext cx="5228492" cy="362343"/>
          </a:xfrm>
          <a:prstGeom prst="rect">
            <a:avLst/>
          </a:prstGeom>
          <a:noFill/>
        </p:spPr>
        <p:txBody>
          <a:bodyPr wrap="square" rtlCol="0" anchor="ctr">
            <a:spAutoFit/>
          </a:bodyPr>
          <a:lstStyle/>
          <a:p>
            <a:pPr algn="ctr">
              <a:lnSpc>
                <a:spcPct val="120000"/>
              </a:lnSpc>
            </a:pPr>
            <a:r>
              <a:rPr lang="zh-CN" altLang="en-US" sz="1600" dirty="0">
                <a:solidFill>
                  <a:schemeClr val="tx1">
                    <a:lumMod val="75000"/>
                    <a:lumOff val="25000"/>
                  </a:schemeClr>
                </a:solidFill>
              </a:rPr>
              <a:t>（</a:t>
            </a:r>
            <a:r>
              <a:rPr lang="en-US" altLang="zh-CN" sz="1600" dirty="0">
                <a:solidFill>
                  <a:schemeClr val="tx1">
                    <a:lumMod val="75000"/>
                    <a:lumOff val="25000"/>
                  </a:schemeClr>
                </a:solidFill>
              </a:rPr>
              <a:t>2</a:t>
            </a:r>
            <a:r>
              <a:rPr lang="zh-CN" altLang="en-US" sz="1600" dirty="0">
                <a:solidFill>
                  <a:schemeClr val="tx1">
                    <a:lumMod val="75000"/>
                    <a:lumOff val="25000"/>
                  </a:schemeClr>
                </a:solidFill>
              </a:rPr>
              <a:t>）</a:t>
            </a:r>
            <a:r>
              <a:rPr lang="en-US" altLang="zh-CN" sz="1600" dirty="0">
                <a:solidFill>
                  <a:schemeClr val="tx1">
                    <a:lumMod val="75000"/>
                    <a:lumOff val="25000"/>
                  </a:schemeClr>
                </a:solidFill>
              </a:rPr>
              <a:t>GSM8K</a:t>
            </a:r>
            <a:endParaRPr lang="zh-CN" altLang="en-US" sz="1600" dirty="0">
              <a:solidFill>
                <a:schemeClr val="tx1">
                  <a:lumMod val="75000"/>
                  <a:lumOff val="25000"/>
                </a:schemeClr>
              </a:solidFill>
            </a:endParaRPr>
          </a:p>
        </p:txBody>
      </p:sp>
    </p:spTree>
    <p:extLst>
      <p:ext uri="{BB962C8B-B14F-4D97-AF65-F5344CB8AC3E}">
        <p14:creationId xmlns:p14="http://schemas.microsoft.com/office/powerpoint/2010/main" val="11695444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770F3-2883-E5AA-4A6F-72A17DDC2CE5}"/>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E1CCDF4-EF7D-BED0-3DDA-8B466C041A06}"/>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lang="zh-CN" altLang="en-US" sz="2800" dirty="0">
                <a:solidFill>
                  <a:srgbClr val="000000">
                    <a:lumMod val="75000"/>
                    <a:lumOff val="25000"/>
                  </a:srgbClr>
                </a:solidFill>
              </a:rPr>
              <a:t>实验</a:t>
            </a:r>
          </a:p>
        </p:txBody>
      </p:sp>
      <p:pic>
        <p:nvPicPr>
          <p:cNvPr id="6" name="图片 5">
            <a:extLst>
              <a:ext uri="{FF2B5EF4-FFF2-40B4-BE49-F238E27FC236}">
                <a16:creationId xmlns:a16="http://schemas.microsoft.com/office/drawing/2014/main" id="{EB66C37F-1561-C340-59AC-C4B8E0BB2C4E}"/>
              </a:ext>
            </a:extLst>
          </p:cNvPr>
          <p:cNvPicPr>
            <a:picLocks noChangeAspect="1"/>
          </p:cNvPicPr>
          <p:nvPr/>
        </p:nvPicPr>
        <p:blipFill>
          <a:blip r:embed="rId3"/>
          <a:stretch>
            <a:fillRect/>
          </a:stretch>
        </p:blipFill>
        <p:spPr>
          <a:xfrm>
            <a:off x="2575712" y="695492"/>
            <a:ext cx="7465459" cy="2809668"/>
          </a:xfrm>
          <a:prstGeom prst="rect">
            <a:avLst/>
          </a:prstGeom>
        </p:spPr>
      </p:pic>
      <p:pic>
        <p:nvPicPr>
          <p:cNvPr id="8" name="图片 7">
            <a:extLst>
              <a:ext uri="{FF2B5EF4-FFF2-40B4-BE49-F238E27FC236}">
                <a16:creationId xmlns:a16="http://schemas.microsoft.com/office/drawing/2014/main" id="{A1B7AEF8-393A-E5EE-5B09-9B32E7160002}"/>
              </a:ext>
            </a:extLst>
          </p:cNvPr>
          <p:cNvPicPr>
            <a:picLocks noChangeAspect="1"/>
          </p:cNvPicPr>
          <p:nvPr/>
        </p:nvPicPr>
        <p:blipFill>
          <a:blip r:embed="rId4"/>
          <a:stretch>
            <a:fillRect/>
          </a:stretch>
        </p:blipFill>
        <p:spPr>
          <a:xfrm>
            <a:off x="2483610" y="3782158"/>
            <a:ext cx="7224780" cy="2609384"/>
          </a:xfrm>
          <a:prstGeom prst="rect">
            <a:avLst/>
          </a:prstGeom>
        </p:spPr>
      </p:pic>
      <p:sp>
        <p:nvSpPr>
          <p:cNvPr id="9" name="文本框 8">
            <a:extLst>
              <a:ext uri="{FF2B5EF4-FFF2-40B4-BE49-F238E27FC236}">
                <a16:creationId xmlns:a16="http://schemas.microsoft.com/office/drawing/2014/main" id="{EC1ECABB-ED37-839A-4507-388A64763EEC}"/>
              </a:ext>
            </a:extLst>
          </p:cNvPr>
          <p:cNvSpPr txBox="1"/>
          <p:nvPr/>
        </p:nvSpPr>
        <p:spPr>
          <a:xfrm>
            <a:off x="3345484" y="3418566"/>
            <a:ext cx="5228492" cy="362343"/>
          </a:xfrm>
          <a:prstGeom prst="rect">
            <a:avLst/>
          </a:prstGeom>
          <a:noFill/>
        </p:spPr>
        <p:txBody>
          <a:bodyPr wrap="square" rtlCol="0" anchor="ctr">
            <a:spAutoFit/>
          </a:bodyPr>
          <a:lstStyle/>
          <a:p>
            <a:pPr algn="ctr">
              <a:lnSpc>
                <a:spcPct val="120000"/>
              </a:lnSpc>
            </a:pPr>
            <a:r>
              <a:rPr lang="zh-CN" altLang="en-US" sz="1600" dirty="0">
                <a:solidFill>
                  <a:schemeClr val="tx1">
                    <a:lumMod val="75000"/>
                    <a:lumOff val="25000"/>
                  </a:schemeClr>
                </a:solidFill>
              </a:rPr>
              <a:t>（</a:t>
            </a:r>
            <a:r>
              <a:rPr lang="en-US" altLang="zh-CN" sz="1600" dirty="0">
                <a:solidFill>
                  <a:schemeClr val="tx1">
                    <a:lumMod val="75000"/>
                    <a:lumOff val="25000"/>
                  </a:schemeClr>
                </a:solidFill>
              </a:rPr>
              <a:t>1</a:t>
            </a:r>
            <a:r>
              <a:rPr lang="zh-CN" altLang="en-US" sz="1600" dirty="0">
                <a:solidFill>
                  <a:schemeClr val="tx1">
                    <a:lumMod val="75000"/>
                    <a:lumOff val="25000"/>
                  </a:schemeClr>
                </a:solidFill>
              </a:rPr>
              <a:t>）</a:t>
            </a:r>
            <a:r>
              <a:rPr lang="en-US" altLang="zh-CN" sz="1600" dirty="0" err="1">
                <a:solidFill>
                  <a:schemeClr val="tx1">
                    <a:lumMod val="75000"/>
                    <a:lumOff val="25000"/>
                  </a:schemeClr>
                </a:solidFill>
              </a:rPr>
              <a:t>XSum</a:t>
            </a:r>
            <a:endParaRPr lang="zh-CN" altLang="en-US" sz="1600" dirty="0">
              <a:solidFill>
                <a:schemeClr val="tx1">
                  <a:lumMod val="75000"/>
                  <a:lumOff val="25000"/>
                </a:schemeClr>
              </a:solidFill>
            </a:endParaRPr>
          </a:p>
        </p:txBody>
      </p:sp>
      <p:sp>
        <p:nvSpPr>
          <p:cNvPr id="10" name="文本框 9">
            <a:extLst>
              <a:ext uri="{FF2B5EF4-FFF2-40B4-BE49-F238E27FC236}">
                <a16:creationId xmlns:a16="http://schemas.microsoft.com/office/drawing/2014/main" id="{DFF77E66-06A7-38B5-DE6B-916729449A89}"/>
              </a:ext>
            </a:extLst>
          </p:cNvPr>
          <p:cNvSpPr txBox="1"/>
          <p:nvPr/>
        </p:nvSpPr>
        <p:spPr>
          <a:xfrm>
            <a:off x="3345484" y="6391542"/>
            <a:ext cx="5228492" cy="362343"/>
          </a:xfrm>
          <a:prstGeom prst="rect">
            <a:avLst/>
          </a:prstGeom>
          <a:noFill/>
        </p:spPr>
        <p:txBody>
          <a:bodyPr wrap="square" rtlCol="0" anchor="ctr">
            <a:spAutoFit/>
          </a:bodyPr>
          <a:lstStyle/>
          <a:p>
            <a:pPr algn="ctr">
              <a:lnSpc>
                <a:spcPct val="120000"/>
              </a:lnSpc>
            </a:pPr>
            <a:r>
              <a:rPr lang="zh-CN" altLang="en-US" sz="1600" dirty="0">
                <a:solidFill>
                  <a:schemeClr val="tx1">
                    <a:lumMod val="75000"/>
                    <a:lumOff val="25000"/>
                  </a:schemeClr>
                </a:solidFill>
              </a:rPr>
              <a:t>（</a:t>
            </a:r>
            <a:r>
              <a:rPr lang="en-US" altLang="zh-CN" sz="1600" dirty="0">
                <a:solidFill>
                  <a:schemeClr val="tx1">
                    <a:lumMod val="75000"/>
                    <a:lumOff val="25000"/>
                  </a:schemeClr>
                </a:solidFill>
              </a:rPr>
              <a:t>2</a:t>
            </a:r>
            <a:r>
              <a:rPr lang="zh-CN" altLang="en-US" sz="1600" dirty="0">
                <a:solidFill>
                  <a:schemeClr val="tx1">
                    <a:lumMod val="75000"/>
                    <a:lumOff val="25000"/>
                  </a:schemeClr>
                </a:solidFill>
              </a:rPr>
              <a:t>）</a:t>
            </a:r>
            <a:r>
              <a:rPr lang="en-US" altLang="zh-CN" sz="1600" dirty="0">
                <a:solidFill>
                  <a:schemeClr val="tx1">
                    <a:lumMod val="75000"/>
                    <a:lumOff val="25000"/>
                  </a:schemeClr>
                </a:solidFill>
              </a:rPr>
              <a:t>GSM8K</a:t>
            </a:r>
            <a:endParaRPr lang="zh-CN" altLang="en-US" sz="1600" dirty="0">
              <a:solidFill>
                <a:schemeClr val="tx1">
                  <a:lumMod val="75000"/>
                  <a:lumOff val="25000"/>
                </a:schemeClr>
              </a:solidFill>
            </a:endParaRPr>
          </a:p>
        </p:txBody>
      </p:sp>
    </p:spTree>
    <p:extLst>
      <p:ext uri="{BB962C8B-B14F-4D97-AF65-F5344CB8AC3E}">
        <p14:creationId xmlns:p14="http://schemas.microsoft.com/office/powerpoint/2010/main" val="42415645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6FCF0-626E-C492-3485-83BADD14212E}"/>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21FE1543-FDA7-3FC0-E2DD-B9F35147024A}"/>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lang="zh-CN" altLang="en-US" sz="2800" dirty="0">
                <a:solidFill>
                  <a:srgbClr val="000000">
                    <a:lumMod val="75000"/>
                    <a:lumOff val="25000"/>
                  </a:srgbClr>
                </a:solidFill>
              </a:rPr>
              <a:t>实验</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2B7E80C6-D146-D5AF-4F9E-985E6FA4C169}"/>
                  </a:ext>
                </a:extLst>
              </p:cNvPr>
              <p:cNvSpPr txBox="1"/>
              <p:nvPr/>
            </p:nvSpPr>
            <p:spPr>
              <a:xfrm>
                <a:off x="530526" y="718507"/>
                <a:ext cx="5565474" cy="3011337"/>
              </a:xfrm>
              <a:prstGeom prst="rect">
                <a:avLst/>
              </a:prstGeom>
              <a:noFill/>
            </p:spPr>
            <p:txBody>
              <a:bodyPr wrap="square" rtlCol="0" anchor="ctr">
                <a:spAutoFit/>
              </a:bodyPr>
              <a:lstStyle/>
              <a:p>
                <a:pPr>
                  <a:lnSpc>
                    <a:spcPct val="120000"/>
                  </a:lnSpc>
                  <a:spcAft>
                    <a:spcPts val="1200"/>
                  </a:spcAft>
                </a:pPr>
                <a:r>
                  <a:rPr lang="zh-CN" altLang="en-US" sz="2400" b="1" dirty="0">
                    <a:solidFill>
                      <a:schemeClr val="tx1">
                        <a:lumMod val="75000"/>
                        <a:lumOff val="25000"/>
                      </a:schemeClr>
                    </a:solidFill>
                  </a:rPr>
                  <a:t>验证</a:t>
                </a:r>
                <a:endParaRPr lang="en-US" altLang="zh-CN" sz="2400" b="1" dirty="0">
                  <a:solidFill>
                    <a:schemeClr val="tx1">
                      <a:lumMod val="75000"/>
                      <a:lumOff val="25000"/>
                    </a:schemeClr>
                  </a:solidFill>
                </a:endParaRPr>
              </a:p>
              <a:p>
                <a:pPr marL="914400" lvl="1" indent="-457200">
                  <a:lnSpc>
                    <a:spcPct val="120000"/>
                  </a:lnSpc>
                  <a:spcAft>
                    <a:spcPts val="1200"/>
                  </a:spcAft>
                  <a:buFont typeface="Arial" panose="020B0604020202020204" pitchFamily="34" charset="0"/>
                  <a:buChar char="•"/>
                </a:pPr>
                <a:r>
                  <a:rPr lang="zh-CN" altLang="en-US" sz="2000" dirty="0">
                    <a:solidFill>
                      <a:schemeClr val="tx1">
                        <a:lumMod val="75000"/>
                        <a:lumOff val="25000"/>
                      </a:schemeClr>
                    </a:solidFill>
                  </a:rPr>
                  <a:t>如果</a:t>
                </a:r>
                <a14:m>
                  <m:oMath xmlns:m="http://schemas.openxmlformats.org/officeDocument/2006/math">
                    <m:sSub>
                      <m:sSubPr>
                        <m:ctrlPr>
                          <a:rPr lang="en-US" altLang="zh-CN" sz="2000" b="0" i="1" smtClean="0">
                            <a:solidFill>
                              <a:schemeClr val="tx1">
                                <a:lumMod val="75000"/>
                                <a:lumOff val="25000"/>
                              </a:schemeClr>
                            </a:solidFill>
                            <a:latin typeface="Cambria Math" panose="02040503050406030204" pitchFamily="18" charset="0"/>
                          </a:rPr>
                        </m:ctrlPr>
                      </m:sSubPr>
                      <m:e>
                        <m:r>
                          <a:rPr lang="en-US" altLang="zh-CN" sz="2000" b="0" i="1" smtClean="0">
                            <a:solidFill>
                              <a:schemeClr val="tx1">
                                <a:lumMod val="75000"/>
                                <a:lumOff val="25000"/>
                              </a:schemeClr>
                            </a:solidFill>
                            <a:latin typeface="Cambria Math" panose="02040503050406030204" pitchFamily="18" charset="0"/>
                          </a:rPr>
                          <m:t>𝑞</m:t>
                        </m:r>
                      </m:e>
                      <m:sub>
                        <m:r>
                          <a:rPr lang="en-US" altLang="zh-CN" sz="2000" b="0" i="1" smtClean="0">
                            <a:solidFill>
                              <a:schemeClr val="tx1">
                                <a:lumMod val="75000"/>
                                <a:lumOff val="25000"/>
                              </a:schemeClr>
                            </a:solidFill>
                            <a:latin typeface="Cambria Math" panose="02040503050406030204" pitchFamily="18" charset="0"/>
                          </a:rPr>
                          <m:t>𝑖</m:t>
                        </m:r>
                      </m:sub>
                    </m:sSub>
                    <m:r>
                      <a:rPr lang="en-US" altLang="zh-CN" sz="2000" b="0" i="1" smtClean="0">
                        <a:solidFill>
                          <a:schemeClr val="tx1">
                            <a:lumMod val="75000"/>
                            <a:lumOff val="25000"/>
                          </a:schemeClr>
                        </a:solidFill>
                        <a:latin typeface="Cambria Math" panose="02040503050406030204" pitchFamily="18" charset="0"/>
                      </a:rPr>
                      <m:t>(</m:t>
                    </m:r>
                    <m:sSub>
                      <m:sSubPr>
                        <m:ctrlPr>
                          <a:rPr lang="en-US" altLang="zh-CN" sz="2000" b="0" i="1" smtClean="0">
                            <a:solidFill>
                              <a:schemeClr val="tx1">
                                <a:lumMod val="75000"/>
                                <a:lumOff val="25000"/>
                              </a:schemeClr>
                            </a:solidFill>
                            <a:latin typeface="Cambria Math" panose="02040503050406030204" pitchFamily="18" charset="0"/>
                          </a:rPr>
                        </m:ctrlPr>
                      </m:sSubPr>
                      <m:e>
                        <m:r>
                          <a:rPr lang="en-US" altLang="zh-CN" sz="2000" b="0" i="1" smtClean="0">
                            <a:solidFill>
                              <a:schemeClr val="tx1">
                                <a:lumMod val="75000"/>
                                <a:lumOff val="25000"/>
                              </a:schemeClr>
                            </a:solidFill>
                            <a:latin typeface="Cambria Math" panose="02040503050406030204" pitchFamily="18" charset="0"/>
                          </a:rPr>
                          <m:t>𝑡</m:t>
                        </m:r>
                      </m:e>
                      <m:sub>
                        <m:r>
                          <a:rPr lang="en-US" altLang="zh-CN" sz="2000" b="0" i="1" smtClean="0">
                            <a:solidFill>
                              <a:schemeClr val="tx1">
                                <a:lumMod val="75000"/>
                                <a:lumOff val="25000"/>
                              </a:schemeClr>
                            </a:solidFill>
                            <a:latin typeface="Cambria Math" panose="02040503050406030204" pitchFamily="18" charset="0"/>
                          </a:rPr>
                          <m:t>𝑖</m:t>
                        </m:r>
                      </m:sub>
                    </m:sSub>
                    <m:r>
                      <a:rPr lang="en-US" altLang="zh-CN" sz="2000" b="0" i="1" smtClean="0">
                        <a:solidFill>
                          <a:schemeClr val="tx1">
                            <a:lumMod val="75000"/>
                            <a:lumOff val="25000"/>
                          </a:schemeClr>
                        </a:solidFill>
                        <a:latin typeface="Cambria Math" panose="02040503050406030204" pitchFamily="18" charset="0"/>
                      </a:rPr>
                      <m:t>)&lt;</m:t>
                    </m:r>
                    <m:sSub>
                      <m:sSubPr>
                        <m:ctrlPr>
                          <a:rPr lang="en-US" altLang="zh-CN" sz="2000" b="0" i="1" smtClean="0">
                            <a:solidFill>
                              <a:schemeClr val="tx1">
                                <a:lumMod val="75000"/>
                                <a:lumOff val="25000"/>
                              </a:schemeClr>
                            </a:solidFill>
                            <a:latin typeface="Cambria Math" panose="02040503050406030204" pitchFamily="18" charset="0"/>
                          </a:rPr>
                        </m:ctrlPr>
                      </m:sSubPr>
                      <m:e>
                        <m:r>
                          <a:rPr lang="en-US" altLang="zh-CN" sz="2000" b="0" i="1" smtClean="0">
                            <a:solidFill>
                              <a:schemeClr val="tx1">
                                <a:lumMod val="75000"/>
                                <a:lumOff val="25000"/>
                              </a:schemeClr>
                            </a:solidFill>
                            <a:latin typeface="Cambria Math" panose="02040503050406030204" pitchFamily="18" charset="0"/>
                          </a:rPr>
                          <m:t>𝑝</m:t>
                        </m:r>
                      </m:e>
                      <m:sub>
                        <m:r>
                          <a:rPr lang="en-US" altLang="zh-CN" sz="2000" b="0" i="1" smtClean="0">
                            <a:solidFill>
                              <a:schemeClr val="tx1">
                                <a:lumMod val="75000"/>
                                <a:lumOff val="25000"/>
                              </a:schemeClr>
                            </a:solidFill>
                            <a:latin typeface="Cambria Math" panose="02040503050406030204" pitchFamily="18" charset="0"/>
                          </a:rPr>
                          <m:t>𝑖</m:t>
                        </m:r>
                      </m:sub>
                    </m:sSub>
                    <m:r>
                      <a:rPr lang="en-US" altLang="zh-CN" sz="2000" b="0" i="1" smtClean="0">
                        <a:solidFill>
                          <a:schemeClr val="tx1">
                            <a:lumMod val="75000"/>
                            <a:lumOff val="25000"/>
                          </a:schemeClr>
                        </a:solidFill>
                        <a:latin typeface="Cambria Math" panose="02040503050406030204" pitchFamily="18" charset="0"/>
                      </a:rPr>
                      <m:t>(</m:t>
                    </m:r>
                    <m:sSub>
                      <m:sSubPr>
                        <m:ctrlPr>
                          <a:rPr lang="en-US" altLang="zh-CN" sz="2000" b="0" i="1" smtClean="0">
                            <a:solidFill>
                              <a:schemeClr val="tx1">
                                <a:lumMod val="75000"/>
                                <a:lumOff val="25000"/>
                              </a:schemeClr>
                            </a:solidFill>
                            <a:latin typeface="Cambria Math" panose="02040503050406030204" pitchFamily="18" charset="0"/>
                          </a:rPr>
                        </m:ctrlPr>
                      </m:sSubPr>
                      <m:e>
                        <m:r>
                          <a:rPr lang="en-US" altLang="zh-CN" sz="2000" b="0" i="1" smtClean="0">
                            <a:solidFill>
                              <a:schemeClr val="tx1">
                                <a:lumMod val="75000"/>
                                <a:lumOff val="25000"/>
                              </a:schemeClr>
                            </a:solidFill>
                            <a:latin typeface="Cambria Math" panose="02040503050406030204" pitchFamily="18" charset="0"/>
                          </a:rPr>
                          <m:t>𝑡</m:t>
                        </m:r>
                      </m:e>
                      <m:sub>
                        <m:r>
                          <a:rPr lang="en-US" altLang="zh-CN" sz="2000" b="0" i="1" smtClean="0">
                            <a:solidFill>
                              <a:schemeClr val="tx1">
                                <a:lumMod val="75000"/>
                                <a:lumOff val="25000"/>
                              </a:schemeClr>
                            </a:solidFill>
                            <a:latin typeface="Cambria Math" panose="02040503050406030204" pitchFamily="18" charset="0"/>
                          </a:rPr>
                          <m:t>𝑖</m:t>
                        </m:r>
                      </m:sub>
                    </m:sSub>
                    <m:r>
                      <a:rPr lang="en-US" altLang="zh-CN" sz="2000" b="0" i="1" smtClean="0">
                        <a:solidFill>
                          <a:schemeClr val="tx1">
                            <a:lumMod val="75000"/>
                            <a:lumOff val="25000"/>
                          </a:schemeClr>
                        </a:solidFill>
                        <a:latin typeface="Cambria Math" panose="02040503050406030204" pitchFamily="18" charset="0"/>
                      </a:rPr>
                      <m:t>)</m:t>
                    </m:r>
                  </m:oMath>
                </a14:m>
                <a:r>
                  <a:rPr lang="zh-CN" altLang="en-US" sz="2000" dirty="0">
                    <a:solidFill>
                      <a:schemeClr val="tx1">
                        <a:lumMod val="75000"/>
                        <a:lumOff val="25000"/>
                      </a:schemeClr>
                    </a:solidFill>
                  </a:rPr>
                  <a:t>，接受</a:t>
                </a:r>
                <a14:m>
                  <m:oMath xmlns:m="http://schemas.openxmlformats.org/officeDocument/2006/math">
                    <m:sSub>
                      <m:sSubPr>
                        <m:ctrlPr>
                          <a:rPr lang="en-US" altLang="zh-CN" sz="2000" i="1" dirty="0" smtClean="0">
                            <a:solidFill>
                              <a:schemeClr val="tx1">
                                <a:lumMod val="75000"/>
                                <a:lumOff val="25000"/>
                              </a:schemeClr>
                            </a:solidFill>
                            <a:latin typeface="Cambria Math" panose="02040503050406030204" pitchFamily="18" charset="0"/>
                          </a:rPr>
                        </m:ctrlPr>
                      </m:sSubPr>
                      <m:e>
                        <m:r>
                          <a:rPr lang="en-US" altLang="zh-CN" sz="2000" i="1" dirty="0" smtClean="0">
                            <a:solidFill>
                              <a:schemeClr val="tx1">
                                <a:lumMod val="75000"/>
                                <a:lumOff val="25000"/>
                              </a:schemeClr>
                            </a:solidFill>
                            <a:latin typeface="Cambria Math" panose="02040503050406030204" pitchFamily="18" charset="0"/>
                          </a:rPr>
                          <m:t>𝑡</m:t>
                        </m:r>
                      </m:e>
                      <m:sub>
                        <m:r>
                          <a:rPr lang="en-US" altLang="zh-CN" sz="2000" i="1" dirty="0" smtClean="0">
                            <a:solidFill>
                              <a:schemeClr val="tx1">
                                <a:lumMod val="75000"/>
                                <a:lumOff val="25000"/>
                              </a:schemeClr>
                            </a:solidFill>
                            <a:latin typeface="Cambria Math" panose="02040503050406030204" pitchFamily="18" charset="0"/>
                          </a:rPr>
                          <m:t>𝑖</m:t>
                        </m:r>
                      </m:sub>
                    </m:sSub>
                  </m:oMath>
                </a14:m>
                <a:endParaRPr lang="en-US" altLang="zh-CN" sz="2000" dirty="0">
                  <a:solidFill>
                    <a:schemeClr val="tx1">
                      <a:lumMod val="75000"/>
                      <a:lumOff val="25000"/>
                    </a:schemeClr>
                  </a:solidFill>
                </a:endParaRPr>
              </a:p>
              <a:p>
                <a:pPr marL="914400" lvl="1" indent="-457200">
                  <a:lnSpc>
                    <a:spcPct val="120000"/>
                  </a:lnSpc>
                  <a:spcAft>
                    <a:spcPts val="1200"/>
                  </a:spcAft>
                  <a:buFont typeface="Arial" panose="020B0604020202020204" pitchFamily="34" charset="0"/>
                  <a:buChar char="•"/>
                </a:pPr>
                <a:r>
                  <a:rPr lang="zh-CN" altLang="en-US" sz="2000" dirty="0">
                    <a:solidFill>
                      <a:schemeClr val="tx1">
                        <a:lumMod val="75000"/>
                        <a:lumOff val="25000"/>
                      </a:schemeClr>
                    </a:solidFill>
                  </a:rPr>
                  <a:t>反之以</a:t>
                </a:r>
                <a14:m>
                  <m:oMath xmlns:m="http://schemas.openxmlformats.org/officeDocument/2006/math">
                    <m:f>
                      <m:fPr>
                        <m:ctrlPr>
                          <a:rPr lang="en-US" altLang="zh-CN" sz="2000" b="0" i="1" smtClean="0">
                            <a:solidFill>
                              <a:schemeClr val="tx1">
                                <a:lumMod val="75000"/>
                                <a:lumOff val="25000"/>
                              </a:schemeClr>
                            </a:solidFill>
                            <a:latin typeface="Cambria Math" panose="02040503050406030204" pitchFamily="18" charset="0"/>
                          </a:rPr>
                        </m:ctrlPr>
                      </m:fPr>
                      <m:num>
                        <m:sSub>
                          <m:sSubPr>
                            <m:ctrlPr>
                              <a:rPr lang="en-US" altLang="zh-CN" sz="2000" b="0" i="1" smtClean="0">
                                <a:solidFill>
                                  <a:schemeClr val="tx1">
                                    <a:lumMod val="75000"/>
                                    <a:lumOff val="25000"/>
                                  </a:schemeClr>
                                </a:solidFill>
                                <a:latin typeface="Cambria Math" panose="02040503050406030204" pitchFamily="18" charset="0"/>
                              </a:rPr>
                            </m:ctrlPr>
                          </m:sSubPr>
                          <m:e>
                            <m:r>
                              <a:rPr lang="en-US" altLang="zh-CN" sz="2000" b="0" i="1" smtClean="0">
                                <a:solidFill>
                                  <a:schemeClr val="tx1">
                                    <a:lumMod val="75000"/>
                                    <a:lumOff val="25000"/>
                                  </a:schemeClr>
                                </a:solidFill>
                                <a:latin typeface="Cambria Math" panose="02040503050406030204" pitchFamily="18" charset="0"/>
                              </a:rPr>
                              <m:t>𝑝</m:t>
                            </m:r>
                          </m:e>
                          <m:sub>
                            <m:r>
                              <a:rPr lang="en-US" altLang="zh-CN" sz="2000" b="0" i="1" smtClean="0">
                                <a:solidFill>
                                  <a:schemeClr val="tx1">
                                    <a:lumMod val="75000"/>
                                    <a:lumOff val="25000"/>
                                  </a:schemeClr>
                                </a:solidFill>
                                <a:latin typeface="Cambria Math" panose="02040503050406030204" pitchFamily="18" charset="0"/>
                              </a:rPr>
                              <m:t>𝑖</m:t>
                            </m:r>
                          </m:sub>
                        </m:sSub>
                        <m:d>
                          <m:dPr>
                            <m:ctrlPr>
                              <a:rPr lang="en-US" altLang="zh-CN" sz="2000" b="0" i="1" smtClean="0">
                                <a:solidFill>
                                  <a:schemeClr val="tx1">
                                    <a:lumMod val="75000"/>
                                    <a:lumOff val="25000"/>
                                  </a:schemeClr>
                                </a:solidFill>
                                <a:latin typeface="Cambria Math" panose="02040503050406030204" pitchFamily="18" charset="0"/>
                              </a:rPr>
                            </m:ctrlPr>
                          </m:dPr>
                          <m:e>
                            <m:sSub>
                              <m:sSubPr>
                                <m:ctrlPr>
                                  <a:rPr lang="en-US" altLang="zh-CN" sz="2000" b="0" i="1" smtClean="0">
                                    <a:solidFill>
                                      <a:schemeClr val="tx1">
                                        <a:lumMod val="75000"/>
                                        <a:lumOff val="25000"/>
                                      </a:schemeClr>
                                    </a:solidFill>
                                    <a:latin typeface="Cambria Math" panose="02040503050406030204" pitchFamily="18" charset="0"/>
                                  </a:rPr>
                                </m:ctrlPr>
                              </m:sSubPr>
                              <m:e>
                                <m:r>
                                  <a:rPr lang="en-US" altLang="zh-CN" sz="2000" b="0" i="1" smtClean="0">
                                    <a:solidFill>
                                      <a:schemeClr val="tx1">
                                        <a:lumMod val="75000"/>
                                        <a:lumOff val="25000"/>
                                      </a:schemeClr>
                                    </a:solidFill>
                                    <a:latin typeface="Cambria Math" panose="02040503050406030204" pitchFamily="18" charset="0"/>
                                  </a:rPr>
                                  <m:t>𝑡</m:t>
                                </m:r>
                              </m:e>
                              <m:sub>
                                <m:r>
                                  <a:rPr lang="en-US" altLang="zh-CN" sz="2000" b="0" i="1" smtClean="0">
                                    <a:solidFill>
                                      <a:schemeClr val="tx1">
                                        <a:lumMod val="75000"/>
                                        <a:lumOff val="25000"/>
                                      </a:schemeClr>
                                    </a:solidFill>
                                    <a:latin typeface="Cambria Math" panose="02040503050406030204" pitchFamily="18" charset="0"/>
                                  </a:rPr>
                                  <m:t>𝑖</m:t>
                                </m:r>
                              </m:sub>
                            </m:sSub>
                          </m:e>
                        </m:d>
                      </m:num>
                      <m:den>
                        <m:sSub>
                          <m:sSubPr>
                            <m:ctrlPr>
                              <a:rPr lang="en-US" altLang="zh-CN" sz="2000" b="0" i="1" smtClean="0">
                                <a:solidFill>
                                  <a:schemeClr val="tx1">
                                    <a:lumMod val="75000"/>
                                    <a:lumOff val="25000"/>
                                  </a:schemeClr>
                                </a:solidFill>
                                <a:latin typeface="Cambria Math" panose="02040503050406030204" pitchFamily="18" charset="0"/>
                              </a:rPr>
                            </m:ctrlPr>
                          </m:sSubPr>
                          <m:e>
                            <m:r>
                              <a:rPr lang="en-US" altLang="zh-CN" sz="2000" b="0" i="1" smtClean="0">
                                <a:solidFill>
                                  <a:schemeClr val="tx1">
                                    <a:lumMod val="75000"/>
                                    <a:lumOff val="25000"/>
                                  </a:schemeClr>
                                </a:solidFill>
                                <a:latin typeface="Cambria Math" panose="02040503050406030204" pitchFamily="18" charset="0"/>
                              </a:rPr>
                              <m:t>𝑞</m:t>
                            </m:r>
                          </m:e>
                          <m:sub>
                            <m:r>
                              <a:rPr lang="en-US" altLang="zh-CN" sz="2000" b="0" i="1" smtClean="0">
                                <a:solidFill>
                                  <a:schemeClr val="tx1">
                                    <a:lumMod val="75000"/>
                                    <a:lumOff val="25000"/>
                                  </a:schemeClr>
                                </a:solidFill>
                                <a:latin typeface="Cambria Math" panose="02040503050406030204" pitchFamily="18" charset="0"/>
                              </a:rPr>
                              <m:t>𝑖</m:t>
                            </m:r>
                          </m:sub>
                        </m:sSub>
                        <m:d>
                          <m:dPr>
                            <m:ctrlPr>
                              <a:rPr lang="en-US" altLang="zh-CN" sz="2000" b="0" i="1" smtClean="0">
                                <a:solidFill>
                                  <a:schemeClr val="tx1">
                                    <a:lumMod val="75000"/>
                                    <a:lumOff val="25000"/>
                                  </a:schemeClr>
                                </a:solidFill>
                                <a:latin typeface="Cambria Math" panose="02040503050406030204" pitchFamily="18" charset="0"/>
                              </a:rPr>
                            </m:ctrlPr>
                          </m:dPr>
                          <m:e>
                            <m:sSub>
                              <m:sSubPr>
                                <m:ctrlPr>
                                  <a:rPr lang="en-US" altLang="zh-CN" sz="2000" b="0" i="1" smtClean="0">
                                    <a:solidFill>
                                      <a:schemeClr val="tx1">
                                        <a:lumMod val="75000"/>
                                        <a:lumOff val="25000"/>
                                      </a:schemeClr>
                                    </a:solidFill>
                                    <a:latin typeface="Cambria Math" panose="02040503050406030204" pitchFamily="18" charset="0"/>
                                  </a:rPr>
                                </m:ctrlPr>
                              </m:sSubPr>
                              <m:e>
                                <m:r>
                                  <a:rPr lang="en-US" altLang="zh-CN" sz="2000" b="0" i="1" smtClean="0">
                                    <a:solidFill>
                                      <a:schemeClr val="tx1">
                                        <a:lumMod val="75000"/>
                                        <a:lumOff val="25000"/>
                                      </a:schemeClr>
                                    </a:solidFill>
                                    <a:latin typeface="Cambria Math" panose="02040503050406030204" pitchFamily="18" charset="0"/>
                                  </a:rPr>
                                  <m:t>𝑡</m:t>
                                </m:r>
                              </m:e>
                              <m:sub>
                                <m:r>
                                  <a:rPr lang="en-US" altLang="zh-CN" sz="2000" b="0" i="1" smtClean="0">
                                    <a:solidFill>
                                      <a:schemeClr val="tx1">
                                        <a:lumMod val="75000"/>
                                        <a:lumOff val="25000"/>
                                      </a:schemeClr>
                                    </a:solidFill>
                                    <a:latin typeface="Cambria Math" panose="02040503050406030204" pitchFamily="18" charset="0"/>
                                  </a:rPr>
                                  <m:t>𝑖</m:t>
                                </m:r>
                              </m:sub>
                            </m:sSub>
                          </m:e>
                        </m:d>
                      </m:den>
                    </m:f>
                  </m:oMath>
                </a14:m>
                <a:r>
                  <a:rPr lang="zh-CN" altLang="en-US" sz="2000" dirty="0">
                    <a:solidFill>
                      <a:schemeClr val="tx1">
                        <a:lumMod val="75000"/>
                        <a:lumOff val="25000"/>
                      </a:schemeClr>
                    </a:solidFill>
                  </a:rPr>
                  <a:t>的概率接受</a:t>
                </a:r>
                <a14:m>
                  <m:oMath xmlns:m="http://schemas.openxmlformats.org/officeDocument/2006/math">
                    <m:sSub>
                      <m:sSubPr>
                        <m:ctrlPr>
                          <a:rPr lang="en-US" altLang="zh-CN" sz="2000" b="0" i="1" smtClean="0">
                            <a:solidFill>
                              <a:schemeClr val="tx1">
                                <a:lumMod val="75000"/>
                                <a:lumOff val="25000"/>
                              </a:schemeClr>
                            </a:solidFill>
                            <a:latin typeface="Cambria Math" panose="02040503050406030204" pitchFamily="18" charset="0"/>
                          </a:rPr>
                        </m:ctrlPr>
                      </m:sSubPr>
                      <m:e>
                        <m:r>
                          <a:rPr lang="en-US" altLang="zh-CN" sz="2000" b="0" i="1" smtClean="0">
                            <a:solidFill>
                              <a:schemeClr val="tx1">
                                <a:lumMod val="75000"/>
                                <a:lumOff val="25000"/>
                              </a:schemeClr>
                            </a:solidFill>
                            <a:latin typeface="Cambria Math" panose="02040503050406030204" pitchFamily="18" charset="0"/>
                          </a:rPr>
                          <m:t>𝑡</m:t>
                        </m:r>
                      </m:e>
                      <m:sub>
                        <m:r>
                          <a:rPr lang="en-US" altLang="zh-CN" sz="2000" b="0" i="1" smtClean="0">
                            <a:solidFill>
                              <a:schemeClr val="tx1">
                                <a:lumMod val="75000"/>
                                <a:lumOff val="25000"/>
                              </a:schemeClr>
                            </a:solidFill>
                            <a:latin typeface="Cambria Math" panose="02040503050406030204" pitchFamily="18" charset="0"/>
                          </a:rPr>
                          <m:t>𝑖</m:t>
                        </m:r>
                      </m:sub>
                    </m:sSub>
                  </m:oMath>
                </a14:m>
                <a:endParaRPr lang="en-US" altLang="zh-CN" sz="2000" b="0" dirty="0">
                  <a:solidFill>
                    <a:schemeClr val="tx1">
                      <a:lumMod val="75000"/>
                      <a:lumOff val="25000"/>
                    </a:schemeClr>
                  </a:solidFill>
                </a:endParaRPr>
              </a:p>
              <a:p>
                <a:pPr marL="914400" lvl="1" indent="-457200">
                  <a:lnSpc>
                    <a:spcPct val="120000"/>
                  </a:lnSpc>
                  <a:spcAft>
                    <a:spcPts val="1200"/>
                  </a:spcAft>
                  <a:buFont typeface="Arial" panose="020B0604020202020204" pitchFamily="34" charset="0"/>
                  <a:buChar char="•"/>
                </a:pPr>
                <a:r>
                  <a:rPr lang="zh-CN" altLang="en-US" sz="2000" dirty="0">
                    <a:solidFill>
                      <a:schemeClr val="tx1">
                        <a:lumMod val="75000"/>
                        <a:lumOff val="25000"/>
                      </a:schemeClr>
                    </a:solidFill>
                  </a:rPr>
                  <a:t>如果</a:t>
                </a:r>
                <a14:m>
                  <m:oMath xmlns:m="http://schemas.openxmlformats.org/officeDocument/2006/math">
                    <m:sSub>
                      <m:sSubPr>
                        <m:ctrlPr>
                          <a:rPr lang="en-US" altLang="zh-CN" sz="2000" b="0" i="1" smtClean="0">
                            <a:solidFill>
                              <a:schemeClr val="tx1">
                                <a:lumMod val="75000"/>
                                <a:lumOff val="25000"/>
                              </a:schemeClr>
                            </a:solidFill>
                            <a:latin typeface="Cambria Math" panose="02040503050406030204" pitchFamily="18" charset="0"/>
                          </a:rPr>
                        </m:ctrlPr>
                      </m:sSubPr>
                      <m:e>
                        <m:r>
                          <a:rPr lang="en-US" altLang="zh-CN" sz="2000" b="0" i="1" smtClean="0">
                            <a:solidFill>
                              <a:schemeClr val="tx1">
                                <a:lumMod val="75000"/>
                                <a:lumOff val="25000"/>
                              </a:schemeClr>
                            </a:solidFill>
                            <a:latin typeface="Cambria Math" panose="02040503050406030204" pitchFamily="18" charset="0"/>
                          </a:rPr>
                          <m:t>𝑡</m:t>
                        </m:r>
                      </m:e>
                      <m:sub>
                        <m:r>
                          <a:rPr lang="en-US" altLang="zh-CN" sz="2000" b="0" i="1" smtClean="0">
                            <a:solidFill>
                              <a:schemeClr val="tx1">
                                <a:lumMod val="75000"/>
                                <a:lumOff val="25000"/>
                              </a:schemeClr>
                            </a:solidFill>
                            <a:latin typeface="Cambria Math" panose="02040503050406030204" pitchFamily="18" charset="0"/>
                          </a:rPr>
                          <m:t>𝑖</m:t>
                        </m:r>
                      </m:sub>
                    </m:sSub>
                  </m:oMath>
                </a14:m>
                <a:r>
                  <a:rPr lang="zh-CN" altLang="en-US" sz="2000" dirty="0">
                    <a:solidFill>
                      <a:schemeClr val="tx1">
                        <a:lumMod val="75000"/>
                        <a:lumOff val="25000"/>
                      </a:schemeClr>
                    </a:solidFill>
                  </a:rPr>
                  <a:t>被拒绝，则下面分布重新采样</a:t>
                </a:r>
                <a:endParaRPr lang="en-US" altLang="zh-CN" sz="2000" dirty="0">
                  <a:solidFill>
                    <a:schemeClr val="tx1">
                      <a:lumMod val="75000"/>
                      <a:lumOff val="25000"/>
                    </a:schemeClr>
                  </a:solidFill>
                </a:endParaRPr>
              </a:p>
              <a:p>
                <a:pPr lvl="1">
                  <a:lnSpc>
                    <a:spcPct val="120000"/>
                  </a:lnSpc>
                  <a:spcAft>
                    <a:spcPts val="1200"/>
                  </a:spcAft>
                </a:pPr>
                <a14:m>
                  <m:oMathPara xmlns:m="http://schemas.openxmlformats.org/officeDocument/2006/math">
                    <m:oMathParaPr>
                      <m:jc m:val="center"/>
                    </m:oMathParaPr>
                    <m:oMath xmlns:m="http://schemas.openxmlformats.org/officeDocument/2006/math">
                      <m:acc>
                        <m:accPr>
                          <m:chr m:val="̂"/>
                          <m:ctrlPr>
                            <a:rPr lang="nl-NL" altLang="zh-CN" sz="2000" i="1" dirty="0" smtClean="0">
                              <a:latin typeface="Cambria Math" panose="02040503050406030204" pitchFamily="18" charset="0"/>
                            </a:rPr>
                          </m:ctrlPr>
                        </m:accPr>
                        <m:e>
                          <m:sSub>
                            <m:sSubPr>
                              <m:ctrlPr>
                                <a:rPr lang="en-US" altLang="zh-CN" sz="2000" b="0" i="1" dirty="0" smtClean="0">
                                  <a:latin typeface="Cambria Math" panose="02040503050406030204" pitchFamily="18" charset="0"/>
                                </a:rPr>
                              </m:ctrlPr>
                            </m:sSubPr>
                            <m:e>
                              <m:r>
                                <a:rPr lang="en-US" altLang="zh-CN" sz="2000" b="0" i="1" dirty="0" smtClean="0">
                                  <a:latin typeface="Cambria Math" panose="02040503050406030204" pitchFamily="18" charset="0"/>
                                </a:rPr>
                                <m:t>𝑝</m:t>
                              </m:r>
                            </m:e>
                            <m:sub>
                              <m:r>
                                <a:rPr lang="en-US" altLang="zh-CN" sz="2000" b="0" i="1" dirty="0" smtClean="0">
                                  <a:latin typeface="Cambria Math" panose="02040503050406030204" pitchFamily="18" charset="0"/>
                                </a:rPr>
                                <m:t>𝑖</m:t>
                              </m:r>
                            </m:sub>
                          </m:sSub>
                        </m:e>
                      </m:acc>
                      <m:r>
                        <a:rPr lang="en-US" altLang="zh-CN" sz="2000" b="0" i="1" dirty="0" smtClean="0">
                          <a:latin typeface="Cambria Math" panose="02040503050406030204" pitchFamily="18" charset="0"/>
                        </a:rPr>
                        <m:t>~</m:t>
                      </m:r>
                      <m:r>
                        <a:rPr lang="nl-NL" altLang="zh-CN" sz="2000" i="1" dirty="0" smtClean="0">
                          <a:latin typeface="Cambria Math" panose="02040503050406030204" pitchFamily="18" charset="0"/>
                        </a:rPr>
                        <m:t>𝑛𝑜𝑟𝑚</m:t>
                      </m:r>
                      <m:d>
                        <m:dPr>
                          <m:ctrlPr>
                            <a:rPr lang="nl-NL" altLang="zh-CN" sz="2000" i="1" dirty="0" smtClean="0">
                              <a:latin typeface="Cambria Math" panose="02040503050406030204" pitchFamily="18" charset="0"/>
                            </a:rPr>
                          </m:ctrlPr>
                        </m:dPr>
                        <m:e>
                          <m:func>
                            <m:funcPr>
                              <m:ctrlPr>
                                <a:rPr lang="nl-NL" altLang="zh-CN" sz="2000" i="1" dirty="0" smtClean="0">
                                  <a:latin typeface="Cambria Math" panose="02040503050406030204" pitchFamily="18" charset="0"/>
                                </a:rPr>
                              </m:ctrlPr>
                            </m:funcPr>
                            <m:fName>
                              <m:r>
                                <m:rPr>
                                  <m:sty m:val="p"/>
                                </m:rPr>
                                <a:rPr lang="nl-NL" altLang="zh-CN" sz="2000" i="0" dirty="0" smtClean="0">
                                  <a:latin typeface="Cambria Math" panose="02040503050406030204" pitchFamily="18" charset="0"/>
                                </a:rPr>
                                <m:t>max</m:t>
                              </m:r>
                            </m:fName>
                            <m:e>
                              <m:d>
                                <m:dPr>
                                  <m:ctrlPr>
                                    <a:rPr lang="nl-NL" altLang="zh-CN" sz="2000" i="1" dirty="0" smtClean="0">
                                      <a:latin typeface="Cambria Math" panose="02040503050406030204" pitchFamily="18" charset="0"/>
                                    </a:rPr>
                                  </m:ctrlPr>
                                </m:dPr>
                                <m:e>
                                  <m:r>
                                    <a:rPr lang="en-US" altLang="zh-CN" sz="2000" b="0" i="1" dirty="0" smtClean="0">
                                      <a:latin typeface="Cambria Math" panose="02040503050406030204" pitchFamily="18" charset="0"/>
                                    </a:rPr>
                                    <m:t>0,</m:t>
                                  </m:r>
                                  <m:sSub>
                                    <m:sSubPr>
                                      <m:ctrlPr>
                                        <a:rPr lang="en-US" altLang="zh-CN" sz="2000" b="0" i="1" dirty="0" smtClean="0">
                                          <a:latin typeface="Cambria Math" panose="02040503050406030204" pitchFamily="18" charset="0"/>
                                        </a:rPr>
                                      </m:ctrlPr>
                                    </m:sSubPr>
                                    <m:e>
                                      <m:r>
                                        <a:rPr lang="nl-NL" altLang="zh-CN" sz="2000" i="1" dirty="0" smtClean="0">
                                          <a:latin typeface="Cambria Math" panose="02040503050406030204" pitchFamily="18" charset="0"/>
                                        </a:rPr>
                                        <m:t>𝑝</m:t>
                                      </m:r>
                                    </m:e>
                                    <m:sub>
                                      <m:r>
                                        <a:rPr lang="en-US" altLang="zh-CN" sz="2000" b="0" i="1" dirty="0" smtClean="0">
                                          <a:latin typeface="Cambria Math" panose="02040503050406030204" pitchFamily="18" charset="0"/>
                                        </a:rPr>
                                        <m:t>𝑖</m:t>
                                      </m:r>
                                    </m:sub>
                                  </m:sSub>
                                  <m:r>
                                    <a:rPr lang="en-US" altLang="zh-CN" sz="2000" b="0" i="1" dirty="0" smtClean="0">
                                      <a:latin typeface="Cambria Math" panose="02040503050406030204" pitchFamily="18" charset="0"/>
                                    </a:rPr>
                                    <m:t>−</m:t>
                                  </m:r>
                                  <m:r>
                                    <a:rPr lang="nl-NL" altLang="zh-CN" sz="2000" i="1" dirty="0" smtClean="0">
                                      <a:latin typeface="Cambria Math" panose="02040503050406030204" pitchFamily="18" charset="0"/>
                                    </a:rPr>
                                    <m:t> </m:t>
                                  </m:r>
                                  <m:sSub>
                                    <m:sSubPr>
                                      <m:ctrlPr>
                                        <a:rPr lang="en-US" altLang="zh-CN" sz="2000" b="0" i="1" dirty="0" smtClean="0">
                                          <a:latin typeface="Cambria Math" panose="02040503050406030204" pitchFamily="18" charset="0"/>
                                        </a:rPr>
                                      </m:ctrlPr>
                                    </m:sSubPr>
                                    <m:e>
                                      <m:r>
                                        <a:rPr lang="nl-NL" altLang="zh-CN" sz="2000" i="1" dirty="0" smtClean="0">
                                          <a:latin typeface="Cambria Math" panose="02040503050406030204" pitchFamily="18" charset="0"/>
                                        </a:rPr>
                                        <m:t>𝑞</m:t>
                                      </m:r>
                                    </m:e>
                                    <m:sub>
                                      <m:r>
                                        <a:rPr lang="en-US" altLang="zh-CN" sz="2000" b="0" i="1" dirty="0" smtClean="0">
                                          <a:latin typeface="Cambria Math" panose="02040503050406030204" pitchFamily="18" charset="0"/>
                                        </a:rPr>
                                        <m:t>𝑖</m:t>
                                      </m:r>
                                    </m:sub>
                                  </m:sSub>
                                </m:e>
                              </m:d>
                            </m:e>
                          </m:func>
                        </m:e>
                      </m:d>
                    </m:oMath>
                  </m:oMathPara>
                </a14:m>
                <a:endParaRPr lang="en-US" altLang="zh-CN" sz="2000" dirty="0">
                  <a:solidFill>
                    <a:schemeClr val="tx1">
                      <a:lumMod val="75000"/>
                      <a:lumOff val="25000"/>
                    </a:schemeClr>
                  </a:solidFill>
                </a:endParaRPr>
              </a:p>
            </p:txBody>
          </p:sp>
        </mc:Choice>
        <mc:Fallback xmlns="">
          <p:sp>
            <p:nvSpPr>
              <p:cNvPr id="2" name="文本框 1">
                <a:extLst>
                  <a:ext uri="{FF2B5EF4-FFF2-40B4-BE49-F238E27FC236}">
                    <a16:creationId xmlns:a16="http://schemas.microsoft.com/office/drawing/2014/main" id="{2B7E80C6-D146-D5AF-4F9E-985E6FA4C169}"/>
                  </a:ext>
                </a:extLst>
              </p:cNvPr>
              <p:cNvSpPr txBox="1">
                <a:spLocks noRot="1" noChangeAspect="1" noMove="1" noResize="1" noEditPoints="1" noAdjustHandles="1" noChangeArrowheads="1" noChangeShapeType="1" noTextEdit="1"/>
              </p:cNvSpPr>
              <p:nvPr/>
            </p:nvSpPr>
            <p:spPr>
              <a:xfrm>
                <a:off x="530526" y="718507"/>
                <a:ext cx="5565474" cy="3011337"/>
              </a:xfrm>
              <a:prstGeom prst="rect">
                <a:avLst/>
              </a:prstGeom>
              <a:blipFill>
                <a:blip r:embed="rId3"/>
                <a:stretch>
                  <a:fillRect l="-1643"/>
                </a:stretch>
              </a:blipFill>
            </p:spPr>
            <p:txBody>
              <a:bodyPr/>
              <a:lstStyle/>
              <a:p>
                <a:r>
                  <a:rPr lang="zh-CN" altLang="en-US">
                    <a:noFill/>
                  </a:rPr>
                  <a:t> </a:t>
                </a:r>
              </a:p>
            </p:txBody>
          </p:sp>
        </mc:Fallback>
      </mc:AlternateContent>
      <p:cxnSp>
        <p:nvCxnSpPr>
          <p:cNvPr id="5" name="直接箭头连接符 4">
            <a:extLst>
              <a:ext uri="{FF2B5EF4-FFF2-40B4-BE49-F238E27FC236}">
                <a16:creationId xmlns:a16="http://schemas.microsoft.com/office/drawing/2014/main" id="{547E37E7-6F38-F3E2-FD88-225918776B9B}"/>
              </a:ext>
            </a:extLst>
          </p:cNvPr>
          <p:cNvCxnSpPr>
            <a:cxnSpLocks/>
          </p:cNvCxnSpPr>
          <p:nvPr/>
        </p:nvCxnSpPr>
        <p:spPr>
          <a:xfrm>
            <a:off x="4489938" y="2224175"/>
            <a:ext cx="5744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320751C6-D185-45A4-D874-75397B98AA5E}"/>
                  </a:ext>
                </a:extLst>
              </p:cNvPr>
              <p:cNvSpPr txBox="1"/>
              <p:nvPr/>
            </p:nvSpPr>
            <p:spPr>
              <a:xfrm>
                <a:off x="5243596" y="1885813"/>
                <a:ext cx="1207480" cy="67672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US" altLang="zh-CN" sz="1800" b="0" i="1" smtClean="0">
                              <a:solidFill>
                                <a:schemeClr val="tx1">
                                  <a:lumMod val="75000"/>
                                  <a:lumOff val="25000"/>
                                </a:schemeClr>
                              </a:solidFill>
                              <a:latin typeface="Cambria Math" panose="02040503050406030204" pitchFamily="18" charset="0"/>
                            </a:rPr>
                          </m:ctrlPr>
                        </m:fPr>
                        <m:num>
                          <m:sSub>
                            <m:sSubPr>
                              <m:ctrlPr>
                                <a:rPr lang="en-US" altLang="zh-CN" sz="1800" b="0" i="1" smtClean="0">
                                  <a:solidFill>
                                    <a:schemeClr val="tx1">
                                      <a:lumMod val="75000"/>
                                      <a:lumOff val="25000"/>
                                    </a:schemeClr>
                                  </a:solidFill>
                                  <a:latin typeface="Cambria Math" panose="02040503050406030204" pitchFamily="18" charset="0"/>
                                </a:rPr>
                              </m:ctrlPr>
                            </m:sSubPr>
                            <m:e>
                              <m:r>
                                <a:rPr lang="en-US" altLang="zh-CN" sz="1800" b="0" i="1" smtClean="0">
                                  <a:solidFill>
                                    <a:schemeClr val="tx1">
                                      <a:lumMod val="75000"/>
                                      <a:lumOff val="25000"/>
                                    </a:schemeClr>
                                  </a:solidFill>
                                  <a:latin typeface="Cambria Math" panose="02040503050406030204" pitchFamily="18" charset="0"/>
                                </a:rPr>
                                <m:t>𝑓</m:t>
                              </m:r>
                              <m:r>
                                <a:rPr lang="en-US" altLang="zh-CN" sz="1800" b="0" i="1" smtClean="0">
                                  <a:solidFill>
                                    <a:schemeClr val="tx1">
                                      <a:lumMod val="75000"/>
                                      <a:lumOff val="25000"/>
                                    </a:schemeClr>
                                  </a:solidFill>
                                  <a:latin typeface="Cambria Math" panose="02040503050406030204" pitchFamily="18" charset="0"/>
                                </a:rPr>
                                <m:t>(</m:t>
                              </m:r>
                              <m:r>
                                <a:rPr lang="en-US" altLang="zh-CN" sz="1800" b="0" i="1" smtClean="0">
                                  <a:solidFill>
                                    <a:schemeClr val="tx1">
                                      <a:lumMod val="75000"/>
                                      <a:lumOff val="25000"/>
                                    </a:schemeClr>
                                  </a:solidFill>
                                  <a:latin typeface="Cambria Math" panose="02040503050406030204" pitchFamily="18" charset="0"/>
                                </a:rPr>
                                <m:t>𝑝</m:t>
                              </m:r>
                            </m:e>
                            <m:sub>
                              <m:r>
                                <a:rPr lang="en-US" altLang="zh-CN" sz="1800" b="0" i="1" smtClean="0">
                                  <a:solidFill>
                                    <a:schemeClr val="tx1">
                                      <a:lumMod val="75000"/>
                                      <a:lumOff val="25000"/>
                                    </a:schemeClr>
                                  </a:solidFill>
                                  <a:latin typeface="Cambria Math" panose="02040503050406030204" pitchFamily="18" charset="0"/>
                                </a:rPr>
                                <m:t>𝑖</m:t>
                              </m:r>
                            </m:sub>
                          </m:sSub>
                          <m:d>
                            <m:dPr>
                              <m:ctrlPr>
                                <a:rPr lang="en-US" altLang="zh-CN" sz="1800" b="0" i="1" smtClean="0">
                                  <a:solidFill>
                                    <a:schemeClr val="tx1">
                                      <a:lumMod val="75000"/>
                                      <a:lumOff val="25000"/>
                                    </a:schemeClr>
                                  </a:solidFill>
                                  <a:latin typeface="Cambria Math" panose="02040503050406030204" pitchFamily="18" charset="0"/>
                                </a:rPr>
                              </m:ctrlPr>
                            </m:dPr>
                            <m:e>
                              <m:sSub>
                                <m:sSubPr>
                                  <m:ctrlPr>
                                    <a:rPr lang="en-US" altLang="zh-CN" sz="1800" b="0" i="1" smtClean="0">
                                      <a:solidFill>
                                        <a:schemeClr val="tx1">
                                          <a:lumMod val="75000"/>
                                          <a:lumOff val="25000"/>
                                        </a:schemeClr>
                                      </a:solidFill>
                                      <a:latin typeface="Cambria Math" panose="02040503050406030204" pitchFamily="18" charset="0"/>
                                    </a:rPr>
                                  </m:ctrlPr>
                                </m:sSubPr>
                                <m:e>
                                  <m:r>
                                    <a:rPr lang="en-US" altLang="zh-CN" sz="1800" b="0" i="1" smtClean="0">
                                      <a:solidFill>
                                        <a:schemeClr val="tx1">
                                          <a:lumMod val="75000"/>
                                          <a:lumOff val="25000"/>
                                        </a:schemeClr>
                                      </a:solidFill>
                                      <a:latin typeface="Cambria Math" panose="02040503050406030204" pitchFamily="18" charset="0"/>
                                    </a:rPr>
                                    <m:t>𝑡</m:t>
                                  </m:r>
                                </m:e>
                                <m:sub>
                                  <m:r>
                                    <a:rPr lang="en-US" altLang="zh-CN" sz="1800" b="0" i="1" smtClean="0">
                                      <a:solidFill>
                                        <a:schemeClr val="tx1">
                                          <a:lumMod val="75000"/>
                                          <a:lumOff val="25000"/>
                                        </a:schemeClr>
                                      </a:solidFill>
                                      <a:latin typeface="Cambria Math" panose="02040503050406030204" pitchFamily="18" charset="0"/>
                                    </a:rPr>
                                    <m:t>𝑖</m:t>
                                  </m:r>
                                </m:sub>
                              </m:sSub>
                            </m:e>
                          </m:d>
                          <m:r>
                            <a:rPr lang="en-US" altLang="zh-CN" sz="1800" b="0" i="1" smtClean="0">
                              <a:solidFill>
                                <a:schemeClr val="tx1">
                                  <a:lumMod val="75000"/>
                                  <a:lumOff val="25000"/>
                                </a:schemeClr>
                              </a:solidFill>
                              <a:latin typeface="Cambria Math" panose="02040503050406030204" pitchFamily="18" charset="0"/>
                            </a:rPr>
                            <m:t>,</m:t>
                          </m:r>
                          <m:r>
                            <a:rPr lang="en-US" altLang="zh-CN" sz="1800" b="0" i="1" smtClean="0">
                              <a:solidFill>
                                <a:schemeClr val="tx1">
                                  <a:lumMod val="75000"/>
                                  <a:lumOff val="25000"/>
                                </a:schemeClr>
                              </a:solidFill>
                              <a:latin typeface="Cambria Math" panose="02040503050406030204" pitchFamily="18" charset="0"/>
                            </a:rPr>
                            <m:t>𝜖</m:t>
                          </m:r>
                          <m:r>
                            <a:rPr lang="en-US" altLang="zh-CN" sz="1800" b="0" i="1" smtClean="0">
                              <a:solidFill>
                                <a:schemeClr val="tx1">
                                  <a:lumMod val="75000"/>
                                  <a:lumOff val="25000"/>
                                </a:schemeClr>
                              </a:solidFill>
                              <a:latin typeface="Cambria Math" panose="02040503050406030204" pitchFamily="18" charset="0"/>
                            </a:rPr>
                            <m:t>)</m:t>
                          </m:r>
                        </m:num>
                        <m:den>
                          <m:sSub>
                            <m:sSubPr>
                              <m:ctrlPr>
                                <a:rPr lang="en-US" altLang="zh-CN" sz="1800" b="0" i="1" smtClean="0">
                                  <a:solidFill>
                                    <a:schemeClr val="tx1">
                                      <a:lumMod val="75000"/>
                                      <a:lumOff val="25000"/>
                                    </a:schemeClr>
                                  </a:solidFill>
                                  <a:latin typeface="Cambria Math" panose="02040503050406030204" pitchFamily="18" charset="0"/>
                                </a:rPr>
                              </m:ctrlPr>
                            </m:sSubPr>
                            <m:e>
                              <m:r>
                                <a:rPr lang="en-US" altLang="zh-CN" sz="1800" b="0" i="1" smtClean="0">
                                  <a:solidFill>
                                    <a:schemeClr val="tx1">
                                      <a:lumMod val="75000"/>
                                      <a:lumOff val="25000"/>
                                    </a:schemeClr>
                                  </a:solidFill>
                                  <a:latin typeface="Cambria Math" panose="02040503050406030204" pitchFamily="18" charset="0"/>
                                </a:rPr>
                                <m:t>𝑞</m:t>
                              </m:r>
                            </m:e>
                            <m:sub>
                              <m:r>
                                <a:rPr lang="en-US" altLang="zh-CN" sz="1800" b="0" i="1" smtClean="0">
                                  <a:solidFill>
                                    <a:schemeClr val="tx1">
                                      <a:lumMod val="75000"/>
                                      <a:lumOff val="25000"/>
                                    </a:schemeClr>
                                  </a:solidFill>
                                  <a:latin typeface="Cambria Math" panose="02040503050406030204" pitchFamily="18" charset="0"/>
                                </a:rPr>
                                <m:t>𝑖</m:t>
                              </m:r>
                            </m:sub>
                          </m:sSub>
                          <m:d>
                            <m:dPr>
                              <m:ctrlPr>
                                <a:rPr lang="en-US" altLang="zh-CN" sz="1800" b="0" i="1" smtClean="0">
                                  <a:solidFill>
                                    <a:schemeClr val="tx1">
                                      <a:lumMod val="75000"/>
                                      <a:lumOff val="25000"/>
                                    </a:schemeClr>
                                  </a:solidFill>
                                  <a:latin typeface="Cambria Math" panose="02040503050406030204" pitchFamily="18" charset="0"/>
                                </a:rPr>
                              </m:ctrlPr>
                            </m:dPr>
                            <m:e>
                              <m:sSub>
                                <m:sSubPr>
                                  <m:ctrlPr>
                                    <a:rPr lang="en-US" altLang="zh-CN" sz="1800" b="0" i="1" smtClean="0">
                                      <a:solidFill>
                                        <a:schemeClr val="tx1">
                                          <a:lumMod val="75000"/>
                                          <a:lumOff val="25000"/>
                                        </a:schemeClr>
                                      </a:solidFill>
                                      <a:latin typeface="Cambria Math" panose="02040503050406030204" pitchFamily="18" charset="0"/>
                                    </a:rPr>
                                  </m:ctrlPr>
                                </m:sSubPr>
                                <m:e>
                                  <m:r>
                                    <a:rPr lang="en-US" altLang="zh-CN" sz="1800" b="0" i="1" smtClean="0">
                                      <a:solidFill>
                                        <a:schemeClr val="tx1">
                                          <a:lumMod val="75000"/>
                                          <a:lumOff val="25000"/>
                                        </a:schemeClr>
                                      </a:solidFill>
                                      <a:latin typeface="Cambria Math" panose="02040503050406030204" pitchFamily="18" charset="0"/>
                                    </a:rPr>
                                    <m:t>𝑡</m:t>
                                  </m:r>
                                </m:e>
                                <m:sub>
                                  <m:r>
                                    <a:rPr lang="en-US" altLang="zh-CN" sz="1800" b="0" i="1" smtClean="0">
                                      <a:solidFill>
                                        <a:schemeClr val="tx1">
                                          <a:lumMod val="75000"/>
                                          <a:lumOff val="25000"/>
                                        </a:schemeClr>
                                      </a:solidFill>
                                      <a:latin typeface="Cambria Math" panose="02040503050406030204" pitchFamily="18" charset="0"/>
                                    </a:rPr>
                                    <m:t>𝑖</m:t>
                                  </m:r>
                                </m:sub>
                              </m:sSub>
                            </m:e>
                          </m:d>
                        </m:den>
                      </m:f>
                    </m:oMath>
                  </m:oMathPara>
                </a14:m>
                <a:endParaRPr lang="zh-CN" altLang="en-US" dirty="0"/>
              </a:p>
            </p:txBody>
          </p:sp>
        </mc:Choice>
        <mc:Fallback xmlns="">
          <p:sp>
            <p:nvSpPr>
              <p:cNvPr id="12" name="文本框 11">
                <a:extLst>
                  <a:ext uri="{FF2B5EF4-FFF2-40B4-BE49-F238E27FC236}">
                    <a16:creationId xmlns:a16="http://schemas.microsoft.com/office/drawing/2014/main" id="{320751C6-D185-45A4-D874-75397B98AA5E}"/>
                  </a:ext>
                </a:extLst>
              </p:cNvPr>
              <p:cNvSpPr txBox="1">
                <a:spLocks noRot="1" noChangeAspect="1" noMove="1" noResize="1" noEditPoints="1" noAdjustHandles="1" noChangeArrowheads="1" noChangeShapeType="1" noTextEdit="1"/>
              </p:cNvSpPr>
              <p:nvPr/>
            </p:nvSpPr>
            <p:spPr>
              <a:xfrm>
                <a:off x="5243596" y="1885813"/>
                <a:ext cx="1207480" cy="67672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CD551466-B46D-DCEE-E2B9-243AA6A01341}"/>
                  </a:ext>
                </a:extLst>
              </p:cNvPr>
              <p:cNvSpPr txBox="1"/>
              <p:nvPr/>
            </p:nvSpPr>
            <p:spPr>
              <a:xfrm>
                <a:off x="6721612" y="1248287"/>
                <a:ext cx="1778977" cy="56669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b="0" i="1" dirty="0" smtClean="0">
                              <a:latin typeface="Cambria Math" panose="02040503050406030204" pitchFamily="18" charset="0"/>
                            </a:rPr>
                          </m:ctrlPr>
                        </m:sSubPr>
                        <m:e>
                          <m:r>
                            <a:rPr lang="sv-SE" altLang="zh-CN" i="1" dirty="0" smtClean="0">
                              <a:latin typeface="Cambria Math" panose="02040503050406030204" pitchFamily="18" charset="0"/>
                            </a:rPr>
                            <m:t>𝑓</m:t>
                          </m:r>
                        </m:e>
                        <m:sub>
                          <m:r>
                            <a:rPr lang="sv-SE" altLang="zh-CN" i="1" dirty="0" smtClean="0">
                              <a:latin typeface="Cambria Math" panose="02040503050406030204" pitchFamily="18" charset="0"/>
                            </a:rPr>
                            <m:t>𝑙𝑖𝑛</m:t>
                          </m:r>
                        </m:sub>
                      </m:sSub>
                      <m:r>
                        <a:rPr lang="sv-SE" altLang="zh-CN" i="1" dirty="0" smtClean="0">
                          <a:latin typeface="Cambria Math" panose="02040503050406030204" pitchFamily="18" charset="0"/>
                        </a:rPr>
                        <m:t>(</m:t>
                      </m:r>
                      <m:r>
                        <a:rPr lang="sv-SE" altLang="zh-CN" i="1" dirty="0" smtClean="0">
                          <a:latin typeface="Cambria Math" panose="02040503050406030204" pitchFamily="18" charset="0"/>
                        </a:rPr>
                        <m:t>𝑝</m:t>
                      </m:r>
                      <m:r>
                        <a:rPr lang="sv-SE" altLang="zh-CN" i="1" dirty="0" smtClean="0">
                          <a:latin typeface="Cambria Math" panose="02040503050406030204" pitchFamily="18" charset="0"/>
                        </a:rPr>
                        <m:t>,</m:t>
                      </m:r>
                      <m:r>
                        <a:rPr lang="sv-SE" altLang="zh-CN" i="1" dirty="0" smtClean="0">
                          <a:latin typeface="Cambria Math" panose="02040503050406030204" pitchFamily="18" charset="0"/>
                        </a:rPr>
                        <m:t>𝜖</m:t>
                      </m:r>
                      <m:r>
                        <a:rPr lang="sv-SE" altLang="zh-CN" i="1" dirty="0" smtClean="0">
                          <a:latin typeface="Cambria Math" panose="02040503050406030204" pitchFamily="18" charset="0"/>
                        </a:rPr>
                        <m:t>)=</m:t>
                      </m:r>
                      <m:f>
                        <m:fPr>
                          <m:ctrlPr>
                            <a:rPr lang="sv-SE" altLang="zh-CN" i="1" dirty="0" smtClean="0">
                              <a:latin typeface="Cambria Math" panose="02040503050406030204" pitchFamily="18" charset="0"/>
                            </a:rPr>
                          </m:ctrlPr>
                        </m:fPr>
                        <m:num>
                          <m:r>
                            <a:rPr lang="sv-SE" altLang="zh-CN" i="1" dirty="0" smtClean="0">
                              <a:latin typeface="Cambria Math" panose="02040503050406030204" pitchFamily="18" charset="0"/>
                            </a:rPr>
                            <m:t>𝑝</m:t>
                          </m:r>
                        </m:num>
                        <m:den>
                          <m:r>
                            <a:rPr lang="sv-SE" altLang="zh-CN" i="1" dirty="0" smtClean="0">
                              <a:latin typeface="Cambria Math" panose="02040503050406030204" pitchFamily="18" charset="0"/>
                            </a:rPr>
                            <m:t>𝜖</m:t>
                          </m:r>
                        </m:den>
                      </m:f>
                    </m:oMath>
                  </m:oMathPara>
                </a14:m>
                <a:endParaRPr lang="zh-CN" altLang="en-US" dirty="0"/>
              </a:p>
            </p:txBody>
          </p:sp>
        </mc:Choice>
        <mc:Fallback xmlns="">
          <p:sp>
            <p:nvSpPr>
              <p:cNvPr id="14" name="文本框 13">
                <a:extLst>
                  <a:ext uri="{FF2B5EF4-FFF2-40B4-BE49-F238E27FC236}">
                    <a16:creationId xmlns:a16="http://schemas.microsoft.com/office/drawing/2014/main" id="{CD551466-B46D-DCEE-E2B9-243AA6A01341}"/>
                  </a:ext>
                </a:extLst>
              </p:cNvPr>
              <p:cNvSpPr txBox="1">
                <a:spLocks noRot="1" noChangeAspect="1" noMove="1" noResize="1" noEditPoints="1" noAdjustHandles="1" noChangeArrowheads="1" noChangeShapeType="1" noTextEdit="1"/>
              </p:cNvSpPr>
              <p:nvPr/>
            </p:nvSpPr>
            <p:spPr>
              <a:xfrm>
                <a:off x="6721612" y="1248287"/>
                <a:ext cx="1778977" cy="56669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27F4E2F6-1FA0-1576-255C-E42D05831478}"/>
                  </a:ext>
                </a:extLst>
              </p:cNvPr>
              <p:cNvSpPr txBox="1"/>
              <p:nvPr/>
            </p:nvSpPr>
            <p:spPr>
              <a:xfrm>
                <a:off x="6721612" y="1885813"/>
                <a:ext cx="1872761" cy="56669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𝑓</m:t>
                          </m:r>
                        </m:e>
                        <m:sub>
                          <m:r>
                            <a:rPr lang="en-US" altLang="zh-CN" i="1" dirty="0" smtClean="0">
                              <a:latin typeface="Cambria Math" panose="02040503050406030204" pitchFamily="18" charset="0"/>
                            </a:rPr>
                            <m:t>𝑠𝑞</m:t>
                          </m:r>
                        </m:sub>
                      </m:sSub>
                      <m:r>
                        <a:rPr lang="en-US" altLang="zh-CN" i="1" dirty="0">
                          <a:latin typeface="Cambria Math" panose="02040503050406030204" pitchFamily="18" charset="0"/>
                        </a:rPr>
                        <m:t>(</m:t>
                      </m:r>
                      <m:r>
                        <a:rPr lang="en-US" altLang="zh-CN" i="1" dirty="0">
                          <a:latin typeface="Cambria Math" panose="02040503050406030204" pitchFamily="18" charset="0"/>
                        </a:rPr>
                        <m:t>𝑝</m:t>
                      </m:r>
                      <m:r>
                        <a:rPr lang="en-US" altLang="zh-CN" i="1" dirty="0">
                          <a:latin typeface="Cambria Math" panose="02040503050406030204" pitchFamily="18" charset="0"/>
                        </a:rPr>
                        <m:t>,</m:t>
                      </m:r>
                      <m:r>
                        <a:rPr lang="el-GR" altLang="zh-CN" i="1" dirty="0">
                          <a:latin typeface="Cambria Math" panose="02040503050406030204" pitchFamily="18" charset="0"/>
                        </a:rPr>
                        <m:t>𝜖</m:t>
                      </m:r>
                      <m:r>
                        <a:rPr lang="el-GR" altLang="zh-CN"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𝑝</m:t>
                          </m:r>
                        </m:num>
                        <m:den>
                          <m:sSup>
                            <m:sSupPr>
                              <m:ctrlPr>
                                <a:rPr lang="en-US" altLang="zh-CN" b="0" i="1" dirty="0" smtClean="0">
                                  <a:latin typeface="Cambria Math" panose="02040503050406030204" pitchFamily="18" charset="0"/>
                                </a:rPr>
                              </m:ctrlPr>
                            </m:sSupPr>
                            <m:e>
                              <m:r>
                                <a:rPr lang="el-GR" altLang="zh-CN" i="1" dirty="0">
                                  <a:latin typeface="Cambria Math" panose="02040503050406030204" pitchFamily="18" charset="0"/>
                                </a:rPr>
                                <m:t>𝜖</m:t>
                              </m:r>
                            </m:e>
                            <m:sup>
                              <m:r>
                                <a:rPr lang="el-GR" altLang="zh-CN" i="1" dirty="0">
                                  <a:latin typeface="Cambria Math" panose="02040503050406030204" pitchFamily="18" charset="0"/>
                                </a:rPr>
                                <m:t>2</m:t>
                              </m:r>
                            </m:sup>
                          </m:sSup>
                        </m:den>
                      </m:f>
                    </m:oMath>
                  </m:oMathPara>
                </a14:m>
                <a:endParaRPr lang="zh-CN" altLang="en-US" dirty="0"/>
              </a:p>
            </p:txBody>
          </p:sp>
        </mc:Choice>
        <mc:Fallback xmlns="">
          <p:sp>
            <p:nvSpPr>
              <p:cNvPr id="16" name="文本框 15">
                <a:extLst>
                  <a:ext uri="{FF2B5EF4-FFF2-40B4-BE49-F238E27FC236}">
                    <a16:creationId xmlns:a16="http://schemas.microsoft.com/office/drawing/2014/main" id="{27F4E2F6-1FA0-1576-255C-E42D05831478}"/>
                  </a:ext>
                </a:extLst>
              </p:cNvPr>
              <p:cNvSpPr txBox="1">
                <a:spLocks noRot="1" noChangeAspect="1" noMove="1" noResize="1" noEditPoints="1" noAdjustHandles="1" noChangeArrowheads="1" noChangeShapeType="1" noTextEdit="1"/>
              </p:cNvSpPr>
              <p:nvPr/>
            </p:nvSpPr>
            <p:spPr>
              <a:xfrm>
                <a:off x="6721612" y="1885813"/>
                <a:ext cx="1872761" cy="56669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74E97B6C-49F3-26A1-5C53-68E2343FD4FA}"/>
                  </a:ext>
                </a:extLst>
              </p:cNvPr>
              <p:cNvSpPr txBox="1"/>
              <p:nvPr/>
            </p:nvSpPr>
            <p:spPr>
              <a:xfrm>
                <a:off x="6813586" y="2562537"/>
                <a:ext cx="2083777" cy="39074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𝑓</m:t>
                          </m:r>
                        </m:e>
                        <m:sub>
                          <m:r>
                            <a:rPr lang="en-US" altLang="zh-CN" b="0" i="1" dirty="0" smtClean="0">
                              <a:latin typeface="Cambria Math" panose="02040503050406030204" pitchFamily="18" charset="0"/>
                            </a:rPr>
                            <m:t>𝑒𝑥𝑝</m:t>
                          </m:r>
                        </m:sub>
                      </m:sSub>
                      <m:r>
                        <a:rPr lang="en-US" altLang="zh-CN" i="1" dirty="0">
                          <a:latin typeface="Cambria Math" panose="02040503050406030204" pitchFamily="18" charset="0"/>
                        </a:rPr>
                        <m:t>(</m:t>
                      </m:r>
                      <m:r>
                        <a:rPr lang="en-US" altLang="zh-CN" i="1" dirty="0">
                          <a:latin typeface="Cambria Math" panose="02040503050406030204" pitchFamily="18" charset="0"/>
                        </a:rPr>
                        <m:t>𝑝</m:t>
                      </m:r>
                      <m:r>
                        <a:rPr lang="en-US" altLang="zh-CN" i="1" dirty="0">
                          <a:latin typeface="Cambria Math" panose="02040503050406030204" pitchFamily="18" charset="0"/>
                        </a:rPr>
                        <m:t>,</m:t>
                      </m:r>
                      <m:r>
                        <a:rPr lang="el-GR" altLang="zh-CN" i="1" dirty="0">
                          <a:latin typeface="Cambria Math" panose="02040503050406030204" pitchFamily="18" charset="0"/>
                        </a:rPr>
                        <m:t>𝜖</m:t>
                      </m:r>
                      <m:r>
                        <a:rPr lang="el-GR" altLang="zh-CN" i="1" dirty="0">
                          <a:latin typeface="Cambria Math" panose="02040503050406030204" pitchFamily="18" charset="0"/>
                        </a:rPr>
                        <m:t>)=</m:t>
                      </m:r>
                      <m:sSup>
                        <m:sSupPr>
                          <m:ctrlPr>
                            <a:rPr lang="en-US" altLang="zh-CN" b="0" i="1" dirty="0" smtClean="0">
                              <a:latin typeface="Cambria Math" panose="02040503050406030204" pitchFamily="18" charset="0"/>
                            </a:rPr>
                          </m:ctrlPr>
                        </m:sSupPr>
                        <m:e>
                          <m:r>
                            <a:rPr lang="en-US" altLang="zh-CN" i="1" dirty="0">
                              <a:latin typeface="Cambria Math" panose="02040503050406030204" pitchFamily="18" charset="0"/>
                            </a:rPr>
                            <m:t>𝑝</m:t>
                          </m:r>
                        </m:e>
                        <m:sup>
                          <m:r>
                            <a:rPr lang="el-GR" altLang="zh-CN" i="1" dirty="0">
                              <a:latin typeface="Cambria Math" panose="02040503050406030204" pitchFamily="18" charset="0"/>
                            </a:rPr>
                            <m:t>𝜖</m:t>
                          </m:r>
                        </m:sup>
                      </m:sSup>
                    </m:oMath>
                  </m:oMathPara>
                </a14:m>
                <a:endParaRPr lang="zh-CN" altLang="en-US" dirty="0"/>
              </a:p>
            </p:txBody>
          </p:sp>
        </mc:Choice>
        <mc:Fallback xmlns="">
          <p:sp>
            <p:nvSpPr>
              <p:cNvPr id="18" name="文本框 17">
                <a:extLst>
                  <a:ext uri="{FF2B5EF4-FFF2-40B4-BE49-F238E27FC236}">
                    <a16:creationId xmlns:a16="http://schemas.microsoft.com/office/drawing/2014/main" id="{74E97B6C-49F3-26A1-5C53-68E2343FD4FA}"/>
                  </a:ext>
                </a:extLst>
              </p:cNvPr>
              <p:cNvSpPr txBox="1">
                <a:spLocks noRot="1" noChangeAspect="1" noMove="1" noResize="1" noEditPoints="1" noAdjustHandles="1" noChangeArrowheads="1" noChangeShapeType="1" noTextEdit="1"/>
              </p:cNvSpPr>
              <p:nvPr/>
            </p:nvSpPr>
            <p:spPr>
              <a:xfrm>
                <a:off x="6813586" y="2562537"/>
                <a:ext cx="2083777" cy="390748"/>
              </a:xfrm>
              <a:prstGeom prst="rect">
                <a:avLst/>
              </a:prstGeom>
              <a:blipFill>
                <a:blip r:embed="rId7"/>
                <a:stretch>
                  <a:fillRect l="-877" b="-9375"/>
                </a:stretch>
              </a:blipFill>
            </p:spPr>
            <p:txBody>
              <a:bodyPr/>
              <a:lstStyle/>
              <a:p>
                <a:r>
                  <a:rPr lang="zh-CN" altLang="en-US">
                    <a:noFill/>
                  </a:rPr>
                  <a:t> </a:t>
                </a:r>
              </a:p>
            </p:txBody>
          </p:sp>
        </mc:Fallback>
      </mc:AlternateContent>
      <p:sp>
        <p:nvSpPr>
          <p:cNvPr id="19" name="左大括号 18">
            <a:extLst>
              <a:ext uri="{FF2B5EF4-FFF2-40B4-BE49-F238E27FC236}">
                <a16:creationId xmlns:a16="http://schemas.microsoft.com/office/drawing/2014/main" id="{DA072AEB-BD37-4F1B-8D8D-C6F8C3E7FE5B}"/>
              </a:ext>
            </a:extLst>
          </p:cNvPr>
          <p:cNvSpPr/>
          <p:nvPr/>
        </p:nvSpPr>
        <p:spPr>
          <a:xfrm>
            <a:off x="6451076" y="1670544"/>
            <a:ext cx="270536" cy="1039338"/>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21" name="图片 20">
            <a:extLst>
              <a:ext uri="{FF2B5EF4-FFF2-40B4-BE49-F238E27FC236}">
                <a16:creationId xmlns:a16="http://schemas.microsoft.com/office/drawing/2014/main" id="{5843350F-72EC-0CEA-0BD1-C00C83ED2BA5}"/>
              </a:ext>
            </a:extLst>
          </p:cNvPr>
          <p:cNvPicPr>
            <a:picLocks noChangeAspect="1"/>
          </p:cNvPicPr>
          <p:nvPr/>
        </p:nvPicPr>
        <p:blipFill>
          <a:blip r:embed="rId8"/>
          <a:stretch>
            <a:fillRect/>
          </a:stretch>
        </p:blipFill>
        <p:spPr>
          <a:xfrm>
            <a:off x="1878553" y="3828796"/>
            <a:ext cx="8719108" cy="2876330"/>
          </a:xfrm>
          <a:prstGeom prst="rect">
            <a:avLst/>
          </a:prstGeom>
        </p:spPr>
      </p:pic>
    </p:spTree>
    <p:extLst>
      <p:ext uri="{BB962C8B-B14F-4D97-AF65-F5344CB8AC3E}">
        <p14:creationId xmlns:p14="http://schemas.microsoft.com/office/powerpoint/2010/main" val="7415188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6" grpId="0"/>
      <p:bldP spid="18" grpId="0"/>
      <p:bldP spid="1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12F30-8426-B47D-A45A-C7B99CC664CE}"/>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D27713ED-1654-D965-F983-0EFE5D45532D}"/>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lang="zh-CN" altLang="en-US" sz="2800" dirty="0">
                <a:solidFill>
                  <a:srgbClr val="000000">
                    <a:lumMod val="75000"/>
                    <a:lumOff val="25000"/>
                  </a:srgbClr>
                </a:solidFill>
              </a:rPr>
              <a:t>实验</a:t>
            </a:r>
          </a:p>
        </p:txBody>
      </p:sp>
      <p:pic>
        <p:nvPicPr>
          <p:cNvPr id="6" name="图片 5">
            <a:extLst>
              <a:ext uri="{FF2B5EF4-FFF2-40B4-BE49-F238E27FC236}">
                <a16:creationId xmlns:a16="http://schemas.microsoft.com/office/drawing/2014/main" id="{62924827-FFC7-C2EC-0315-33336281A9D7}"/>
              </a:ext>
            </a:extLst>
          </p:cNvPr>
          <p:cNvPicPr>
            <a:picLocks noChangeAspect="1"/>
          </p:cNvPicPr>
          <p:nvPr/>
        </p:nvPicPr>
        <p:blipFill>
          <a:blip r:embed="rId3"/>
          <a:stretch>
            <a:fillRect/>
          </a:stretch>
        </p:blipFill>
        <p:spPr>
          <a:xfrm>
            <a:off x="661987" y="1772382"/>
            <a:ext cx="10868025" cy="3524250"/>
          </a:xfrm>
          <a:prstGeom prst="rect">
            <a:avLst/>
          </a:prstGeom>
        </p:spPr>
      </p:pic>
    </p:spTree>
    <p:extLst>
      <p:ext uri="{BB962C8B-B14F-4D97-AF65-F5344CB8AC3E}">
        <p14:creationId xmlns:p14="http://schemas.microsoft.com/office/powerpoint/2010/main" val="23780972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86851-B831-C70A-DE39-F831229E1CC0}"/>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45E0EB30-CAF9-B878-9E57-B091A0EB8987}"/>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4.</a:t>
            </a:r>
            <a:r>
              <a:rPr lang="zh-CN" altLang="en-US" sz="2800" dirty="0">
                <a:solidFill>
                  <a:srgbClr val="000000">
                    <a:lumMod val="75000"/>
                    <a:lumOff val="25000"/>
                  </a:srgbClr>
                </a:solidFill>
              </a:rPr>
              <a:t>总结</a:t>
            </a:r>
          </a:p>
        </p:txBody>
      </p:sp>
      <p:sp>
        <p:nvSpPr>
          <p:cNvPr id="4" name="文本框 3">
            <a:extLst>
              <a:ext uri="{FF2B5EF4-FFF2-40B4-BE49-F238E27FC236}">
                <a16:creationId xmlns:a16="http://schemas.microsoft.com/office/drawing/2014/main" id="{C8897E27-97B0-A30B-F03A-E01EE903A480}"/>
              </a:ext>
            </a:extLst>
          </p:cNvPr>
          <p:cNvSpPr txBox="1"/>
          <p:nvPr/>
        </p:nvSpPr>
        <p:spPr>
          <a:xfrm>
            <a:off x="706315" y="993502"/>
            <a:ext cx="6101860" cy="369332"/>
          </a:xfrm>
          <a:prstGeom prst="rect">
            <a:avLst/>
          </a:prstGeom>
          <a:noFill/>
        </p:spPr>
        <p:txBody>
          <a:bodyPr wrap="square">
            <a:spAutoFit/>
          </a:bodyPr>
          <a:lstStyle/>
          <a:p>
            <a:r>
              <a:rPr lang="zh-CN" altLang="en-US" dirty="0"/>
              <a:t>本文中作者探究了知识蒸馏对投机解码性能得到影响</a:t>
            </a:r>
          </a:p>
        </p:txBody>
      </p:sp>
    </p:spTree>
    <p:extLst>
      <p:ext uri="{BB962C8B-B14F-4D97-AF65-F5344CB8AC3E}">
        <p14:creationId xmlns:p14="http://schemas.microsoft.com/office/powerpoint/2010/main" val="18786036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228592" y="776798"/>
            <a:ext cx="5070060" cy="5454498"/>
          </a:xfrm>
          <a:prstGeom prst="rect">
            <a:avLst/>
          </a:prstGeom>
          <a:effectLst>
            <a:innerShdw blurRad="63500" dist="50800" dir="16200000">
              <a:prstClr val="black">
                <a:alpha val="50000"/>
              </a:prstClr>
            </a:innerShdw>
          </a:effectLst>
        </p:spPr>
      </p:pic>
      <p:sp>
        <p:nvSpPr>
          <p:cNvPr id="4" name="TextBox 13"/>
          <p:cNvSpPr txBox="1"/>
          <p:nvPr/>
        </p:nvSpPr>
        <p:spPr>
          <a:xfrm>
            <a:off x="6625590" y="2456034"/>
            <a:ext cx="3696764" cy="1200329"/>
          </a:xfrm>
          <a:prstGeom prst="rect">
            <a:avLst/>
          </a:prstGeom>
          <a:noFill/>
        </p:spPr>
        <p:txBody>
          <a:bodyPr wrap="square" rtlCol="0">
            <a:spAutoFit/>
          </a:bodyPr>
          <a:lstStyle/>
          <a:p>
            <a:pPr lvl="0" algn="ctr">
              <a:defRPr/>
            </a:pPr>
            <a:r>
              <a:rPr lang="zh-CN" altLang="en-US" sz="3600" dirty="0">
                <a:latin typeface="Lato" panose="020F0502020204030203" pitchFamily="34" charset="0"/>
                <a:ea typeface="+mj-ea"/>
              </a:rPr>
              <a:t>谢谢倾听</a:t>
            </a:r>
            <a:endParaRPr lang="en-US" altLang="zh-CN" sz="3600" dirty="0">
              <a:latin typeface="Lato" panose="020F0502020204030203" pitchFamily="34" charset="0"/>
              <a:ea typeface="+mj-ea"/>
            </a:endParaRPr>
          </a:p>
          <a:p>
            <a:pPr lvl="0" algn="ctr">
              <a:defRPr/>
            </a:pPr>
            <a:r>
              <a:rPr lang="zh-CN" altLang="en-US" sz="3600" dirty="0">
                <a:latin typeface="Lato" panose="020F0502020204030203" pitchFamily="34" charset="0"/>
                <a:ea typeface="+mj-ea"/>
              </a:rPr>
              <a:t>请大家批评指正</a:t>
            </a:r>
            <a:endParaRPr lang="en-US" altLang="zh-CN" sz="3600" dirty="0">
              <a:latin typeface="+mj-ea"/>
              <a:ea typeface="+mj-ea"/>
            </a:endParaRPr>
          </a:p>
        </p:txBody>
      </p:sp>
      <p:grpSp>
        <p:nvGrpSpPr>
          <p:cNvPr id="5" name="组合 4"/>
          <p:cNvGrpSpPr/>
          <p:nvPr/>
        </p:nvGrpSpPr>
        <p:grpSpPr>
          <a:xfrm>
            <a:off x="5741065" y="3837410"/>
            <a:ext cx="5863771" cy="57767"/>
            <a:chOff x="5280505" y="3963496"/>
            <a:chExt cx="5863771" cy="57767"/>
          </a:xfrm>
          <a:solidFill>
            <a:schemeClr val="tx1"/>
          </a:solidFill>
        </p:grpSpPr>
        <p:sp>
          <p:nvSpPr>
            <p:cNvPr id="6" name="任意多边形 16"/>
            <p:cNvSpPr/>
            <p:nvPr/>
          </p:nvSpPr>
          <p:spPr>
            <a:xfrm>
              <a:off x="5280505" y="3992380"/>
              <a:ext cx="5863771" cy="0"/>
            </a:xfrm>
            <a:custGeom>
              <a:avLst/>
              <a:gdLst>
                <a:gd name="connsiteX0" fmla="*/ 0 w 5863771"/>
                <a:gd name="connsiteY0" fmla="*/ 0 h 0"/>
                <a:gd name="connsiteX1" fmla="*/ 58057 w 5863771"/>
                <a:gd name="connsiteY1" fmla="*/ 0 h 0"/>
                <a:gd name="connsiteX2" fmla="*/ 5863771 w 5863771"/>
                <a:gd name="connsiteY2" fmla="*/ 0 h 0"/>
              </a:gdLst>
              <a:ahLst/>
              <a:cxnLst>
                <a:cxn ang="0">
                  <a:pos x="connsiteX0" y="connsiteY0"/>
                </a:cxn>
                <a:cxn ang="0">
                  <a:pos x="connsiteX1" y="connsiteY1"/>
                </a:cxn>
                <a:cxn ang="0">
                  <a:pos x="connsiteX2" y="connsiteY2"/>
                </a:cxn>
              </a:cxnLst>
              <a:rect l="l" t="t" r="r" b="b"/>
              <a:pathLst>
                <a:path w="5863771">
                  <a:moveTo>
                    <a:pt x="0" y="0"/>
                  </a:moveTo>
                  <a:lnTo>
                    <a:pt x="58057" y="0"/>
                  </a:lnTo>
                  <a:lnTo>
                    <a:pt x="5863771" y="0"/>
                  </a:lnTo>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sp>
          <p:nvSpPr>
            <p:cNvPr id="7" name="圆角矩形 17"/>
            <p:cNvSpPr/>
            <p:nvPr/>
          </p:nvSpPr>
          <p:spPr>
            <a:xfrm>
              <a:off x="7456740" y="3963496"/>
              <a:ext cx="1511300" cy="57767"/>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grpSp>
      <p:grpSp>
        <p:nvGrpSpPr>
          <p:cNvPr id="9" name="组合 8"/>
          <p:cNvGrpSpPr/>
          <p:nvPr/>
        </p:nvGrpSpPr>
        <p:grpSpPr bwMode="auto">
          <a:xfrm>
            <a:off x="7782456" y="4205439"/>
            <a:ext cx="412709" cy="333006"/>
            <a:chOff x="0" y="0"/>
            <a:chExt cx="1088225" cy="869861"/>
          </a:xfrm>
          <a:solidFill>
            <a:schemeClr val="tx1"/>
          </a:solidFill>
        </p:grpSpPr>
        <p:sp>
          <p:nvSpPr>
            <p:cNvPr id="10" name="Freeform 17"/>
            <p:cNvSpPr>
              <a:spLocks noEditPoints="1" noChangeArrowheads="1"/>
            </p:cNvSpPr>
            <p:nvPr/>
          </p:nvSpPr>
          <p:spPr bwMode="auto">
            <a:xfrm>
              <a:off x="0" y="237562"/>
              <a:ext cx="824268" cy="632299"/>
            </a:xfrm>
            <a:custGeom>
              <a:avLst/>
              <a:gdLst>
                <a:gd name="T0" fmla="*/ 274 w 291"/>
                <a:gd name="T1" fmla="*/ 0 h 223"/>
                <a:gd name="T2" fmla="*/ 17 w 291"/>
                <a:gd name="T3" fmla="*/ 0 h 223"/>
                <a:gd name="T4" fmla="*/ 0 w 291"/>
                <a:gd name="T5" fmla="*/ 16 h 223"/>
                <a:gd name="T6" fmla="*/ 0 w 291"/>
                <a:gd name="T7" fmla="*/ 207 h 223"/>
                <a:gd name="T8" fmla="*/ 17 w 291"/>
                <a:gd name="T9" fmla="*/ 223 h 223"/>
                <a:gd name="T10" fmla="*/ 274 w 291"/>
                <a:gd name="T11" fmla="*/ 223 h 223"/>
                <a:gd name="T12" fmla="*/ 291 w 291"/>
                <a:gd name="T13" fmla="*/ 207 h 223"/>
                <a:gd name="T14" fmla="*/ 291 w 291"/>
                <a:gd name="T15" fmla="*/ 16 h 223"/>
                <a:gd name="T16" fmla="*/ 274 w 291"/>
                <a:gd name="T17" fmla="*/ 0 h 223"/>
                <a:gd name="T18" fmla="*/ 270 w 291"/>
                <a:gd name="T19" fmla="*/ 193 h 223"/>
                <a:gd name="T20" fmla="*/ 256 w 291"/>
                <a:gd name="T21" fmla="*/ 207 h 223"/>
                <a:gd name="T22" fmla="*/ 35 w 291"/>
                <a:gd name="T23" fmla="*/ 207 h 223"/>
                <a:gd name="T24" fmla="*/ 21 w 291"/>
                <a:gd name="T25" fmla="*/ 193 h 223"/>
                <a:gd name="T26" fmla="*/ 21 w 291"/>
                <a:gd name="T27" fmla="*/ 30 h 223"/>
                <a:gd name="T28" fmla="*/ 35 w 291"/>
                <a:gd name="T29" fmla="*/ 16 h 223"/>
                <a:gd name="T30" fmla="*/ 256 w 291"/>
                <a:gd name="T31" fmla="*/ 16 h 223"/>
                <a:gd name="T32" fmla="*/ 270 w 291"/>
                <a:gd name="T33" fmla="*/ 30 h 223"/>
                <a:gd name="T34" fmla="*/ 270 w 291"/>
                <a:gd name="T35" fmla="*/ 193 h 2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1"/>
                <a:gd name="T55" fmla="*/ 0 h 223"/>
                <a:gd name="T56" fmla="*/ 291 w 291"/>
                <a:gd name="T57" fmla="*/ 223 h 2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1" h="223">
                  <a:moveTo>
                    <a:pt x="274" y="0"/>
                  </a:moveTo>
                  <a:cubicBezTo>
                    <a:pt x="17" y="0"/>
                    <a:pt x="17" y="0"/>
                    <a:pt x="17" y="0"/>
                  </a:cubicBezTo>
                  <a:cubicBezTo>
                    <a:pt x="8" y="0"/>
                    <a:pt x="0" y="7"/>
                    <a:pt x="0" y="16"/>
                  </a:cubicBezTo>
                  <a:cubicBezTo>
                    <a:pt x="0" y="207"/>
                    <a:pt x="0" y="207"/>
                    <a:pt x="0" y="207"/>
                  </a:cubicBezTo>
                  <a:cubicBezTo>
                    <a:pt x="0" y="215"/>
                    <a:pt x="8" y="223"/>
                    <a:pt x="17" y="223"/>
                  </a:cubicBezTo>
                  <a:cubicBezTo>
                    <a:pt x="274" y="223"/>
                    <a:pt x="274" y="223"/>
                    <a:pt x="274" y="223"/>
                  </a:cubicBezTo>
                  <a:cubicBezTo>
                    <a:pt x="283" y="223"/>
                    <a:pt x="291" y="215"/>
                    <a:pt x="291" y="207"/>
                  </a:cubicBezTo>
                  <a:cubicBezTo>
                    <a:pt x="291" y="16"/>
                    <a:pt x="291" y="16"/>
                    <a:pt x="291" y="16"/>
                  </a:cubicBezTo>
                  <a:cubicBezTo>
                    <a:pt x="291" y="7"/>
                    <a:pt x="283" y="0"/>
                    <a:pt x="274" y="0"/>
                  </a:cubicBezTo>
                  <a:moveTo>
                    <a:pt x="270" y="193"/>
                  </a:moveTo>
                  <a:cubicBezTo>
                    <a:pt x="270" y="201"/>
                    <a:pt x="264" y="207"/>
                    <a:pt x="256" y="207"/>
                  </a:cubicBezTo>
                  <a:cubicBezTo>
                    <a:pt x="35" y="207"/>
                    <a:pt x="35" y="207"/>
                    <a:pt x="35" y="207"/>
                  </a:cubicBezTo>
                  <a:cubicBezTo>
                    <a:pt x="27" y="207"/>
                    <a:pt x="21" y="201"/>
                    <a:pt x="21" y="193"/>
                  </a:cubicBezTo>
                  <a:cubicBezTo>
                    <a:pt x="21" y="30"/>
                    <a:pt x="21" y="30"/>
                    <a:pt x="21" y="30"/>
                  </a:cubicBezTo>
                  <a:cubicBezTo>
                    <a:pt x="21" y="22"/>
                    <a:pt x="27" y="16"/>
                    <a:pt x="35" y="16"/>
                  </a:cubicBezTo>
                  <a:cubicBezTo>
                    <a:pt x="256" y="16"/>
                    <a:pt x="256" y="16"/>
                    <a:pt x="256" y="16"/>
                  </a:cubicBezTo>
                  <a:cubicBezTo>
                    <a:pt x="264" y="16"/>
                    <a:pt x="270" y="22"/>
                    <a:pt x="270" y="30"/>
                  </a:cubicBezTo>
                  <a:lnTo>
                    <a:pt x="270" y="19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1" name="Freeform 18"/>
            <p:cNvSpPr>
              <a:spLocks noChangeArrowheads="1"/>
            </p:cNvSpPr>
            <p:nvPr/>
          </p:nvSpPr>
          <p:spPr bwMode="auto">
            <a:xfrm>
              <a:off x="137978" y="110382"/>
              <a:ext cx="821868" cy="632299"/>
            </a:xfrm>
            <a:custGeom>
              <a:avLst/>
              <a:gdLst>
                <a:gd name="T0" fmla="*/ 274 w 290"/>
                <a:gd name="T1" fmla="*/ 0 h 223"/>
                <a:gd name="T2" fmla="*/ 16 w 290"/>
                <a:gd name="T3" fmla="*/ 0 h 223"/>
                <a:gd name="T4" fmla="*/ 0 w 290"/>
                <a:gd name="T5" fmla="*/ 16 h 223"/>
                <a:gd name="T6" fmla="*/ 0 w 290"/>
                <a:gd name="T7" fmla="*/ 25 h 223"/>
                <a:gd name="T8" fmla="*/ 249 w 290"/>
                <a:gd name="T9" fmla="*/ 25 h 223"/>
                <a:gd name="T10" fmla="*/ 265 w 290"/>
                <a:gd name="T11" fmla="*/ 42 h 223"/>
                <a:gd name="T12" fmla="*/ 265 w 290"/>
                <a:gd name="T13" fmla="*/ 223 h 223"/>
                <a:gd name="T14" fmla="*/ 274 w 290"/>
                <a:gd name="T15" fmla="*/ 223 h 223"/>
                <a:gd name="T16" fmla="*/ 290 w 290"/>
                <a:gd name="T17" fmla="*/ 207 h 223"/>
                <a:gd name="T18" fmla="*/ 290 w 290"/>
                <a:gd name="T19" fmla="*/ 16 h 223"/>
                <a:gd name="T20" fmla="*/ 274 w 290"/>
                <a:gd name="T21" fmla="*/ 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3"/>
                <a:gd name="T35" fmla="*/ 290 w 290"/>
                <a:gd name="T36" fmla="*/ 223 h 2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3">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3"/>
                    <a:pt x="265" y="42"/>
                  </a:cubicBezTo>
                  <a:cubicBezTo>
                    <a:pt x="265" y="223"/>
                    <a:pt x="265" y="223"/>
                    <a:pt x="265" y="223"/>
                  </a:cubicBezTo>
                  <a:cubicBezTo>
                    <a:pt x="274" y="223"/>
                    <a:pt x="274" y="223"/>
                    <a:pt x="274" y="223"/>
                  </a:cubicBezTo>
                  <a:cubicBezTo>
                    <a:pt x="283" y="223"/>
                    <a:pt x="290" y="216"/>
                    <a:pt x="290" y="207"/>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2" name="Freeform 19"/>
            <p:cNvSpPr>
              <a:spLocks noChangeArrowheads="1"/>
            </p:cNvSpPr>
            <p:nvPr/>
          </p:nvSpPr>
          <p:spPr bwMode="auto">
            <a:xfrm>
              <a:off x="266357" y="0"/>
              <a:ext cx="821868" cy="628699"/>
            </a:xfrm>
            <a:custGeom>
              <a:avLst/>
              <a:gdLst>
                <a:gd name="T0" fmla="*/ 274 w 290"/>
                <a:gd name="T1" fmla="*/ 0 h 222"/>
                <a:gd name="T2" fmla="*/ 16 w 290"/>
                <a:gd name="T3" fmla="*/ 0 h 222"/>
                <a:gd name="T4" fmla="*/ 0 w 290"/>
                <a:gd name="T5" fmla="*/ 16 h 222"/>
                <a:gd name="T6" fmla="*/ 0 w 290"/>
                <a:gd name="T7" fmla="*/ 25 h 222"/>
                <a:gd name="T8" fmla="*/ 249 w 290"/>
                <a:gd name="T9" fmla="*/ 25 h 222"/>
                <a:gd name="T10" fmla="*/ 265 w 290"/>
                <a:gd name="T11" fmla="*/ 41 h 222"/>
                <a:gd name="T12" fmla="*/ 265 w 290"/>
                <a:gd name="T13" fmla="*/ 222 h 222"/>
                <a:gd name="T14" fmla="*/ 274 w 290"/>
                <a:gd name="T15" fmla="*/ 222 h 222"/>
                <a:gd name="T16" fmla="*/ 290 w 290"/>
                <a:gd name="T17" fmla="*/ 206 h 222"/>
                <a:gd name="T18" fmla="*/ 290 w 290"/>
                <a:gd name="T19" fmla="*/ 16 h 222"/>
                <a:gd name="T20" fmla="*/ 274 w 290"/>
                <a:gd name="T21" fmla="*/ 0 h 2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2"/>
                <a:gd name="T35" fmla="*/ 290 w 290"/>
                <a:gd name="T36" fmla="*/ 222 h 2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2">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2"/>
                    <a:pt x="265" y="41"/>
                  </a:cubicBezTo>
                  <a:cubicBezTo>
                    <a:pt x="265" y="222"/>
                    <a:pt x="265" y="222"/>
                    <a:pt x="265" y="222"/>
                  </a:cubicBezTo>
                  <a:cubicBezTo>
                    <a:pt x="274" y="222"/>
                    <a:pt x="274" y="222"/>
                    <a:pt x="274" y="222"/>
                  </a:cubicBezTo>
                  <a:cubicBezTo>
                    <a:pt x="283" y="222"/>
                    <a:pt x="290" y="215"/>
                    <a:pt x="290" y="206"/>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3" name="Freeform 20"/>
            <p:cNvSpPr>
              <a:spLocks noChangeArrowheads="1"/>
            </p:cNvSpPr>
            <p:nvPr/>
          </p:nvSpPr>
          <p:spPr bwMode="auto">
            <a:xfrm>
              <a:off x="110382" y="422332"/>
              <a:ext cx="569909" cy="353943"/>
            </a:xfrm>
            <a:custGeom>
              <a:avLst/>
              <a:gdLst>
                <a:gd name="T0" fmla="*/ 71 w 201"/>
                <a:gd name="T1" fmla="*/ 5 h 125"/>
                <a:gd name="T2" fmla="*/ 11 w 201"/>
                <a:gd name="T3" fmla="*/ 109 h 125"/>
                <a:gd name="T4" fmla="*/ 11 w 201"/>
                <a:gd name="T5" fmla="*/ 124 h 125"/>
                <a:gd name="T6" fmla="*/ 192 w 201"/>
                <a:gd name="T7" fmla="*/ 124 h 125"/>
                <a:gd name="T8" fmla="*/ 192 w 201"/>
                <a:gd name="T9" fmla="*/ 108 h 125"/>
                <a:gd name="T10" fmla="*/ 151 w 201"/>
                <a:gd name="T11" fmla="*/ 47 h 125"/>
                <a:gd name="T12" fmla="*/ 117 w 201"/>
                <a:gd name="T13" fmla="*/ 86 h 125"/>
                <a:gd name="T14" fmla="*/ 110 w 201"/>
                <a:gd name="T15" fmla="*/ 81 h 125"/>
                <a:gd name="T16" fmla="*/ 122 w 201"/>
                <a:gd name="T17" fmla="*/ 65 h 125"/>
                <a:gd name="T18" fmla="*/ 81 w 201"/>
                <a:gd name="T19" fmla="*/ 5 h 125"/>
                <a:gd name="T20" fmla="*/ 71 w 201"/>
                <a:gd name="T21" fmla="*/ 5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25"/>
                <a:gd name="T35" fmla="*/ 201 w 201"/>
                <a:gd name="T36" fmla="*/ 125 h 1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25">
                  <a:moveTo>
                    <a:pt x="71" y="5"/>
                  </a:moveTo>
                  <a:cubicBezTo>
                    <a:pt x="11" y="109"/>
                    <a:pt x="11" y="109"/>
                    <a:pt x="11" y="109"/>
                  </a:cubicBezTo>
                  <a:cubicBezTo>
                    <a:pt x="11" y="109"/>
                    <a:pt x="0" y="124"/>
                    <a:pt x="11" y="124"/>
                  </a:cubicBezTo>
                  <a:cubicBezTo>
                    <a:pt x="25" y="125"/>
                    <a:pt x="192" y="124"/>
                    <a:pt x="192" y="124"/>
                  </a:cubicBezTo>
                  <a:cubicBezTo>
                    <a:pt x="192" y="124"/>
                    <a:pt x="201" y="121"/>
                    <a:pt x="192" y="108"/>
                  </a:cubicBezTo>
                  <a:cubicBezTo>
                    <a:pt x="182" y="94"/>
                    <a:pt x="158" y="46"/>
                    <a:pt x="151" y="47"/>
                  </a:cubicBezTo>
                  <a:cubicBezTo>
                    <a:pt x="144" y="47"/>
                    <a:pt x="120" y="83"/>
                    <a:pt x="117" y="86"/>
                  </a:cubicBezTo>
                  <a:cubicBezTo>
                    <a:pt x="115" y="89"/>
                    <a:pt x="108" y="84"/>
                    <a:pt x="110" y="81"/>
                  </a:cubicBezTo>
                  <a:cubicBezTo>
                    <a:pt x="116" y="74"/>
                    <a:pt x="122" y="65"/>
                    <a:pt x="122" y="65"/>
                  </a:cubicBezTo>
                  <a:cubicBezTo>
                    <a:pt x="122" y="65"/>
                    <a:pt x="84" y="9"/>
                    <a:pt x="81" y="5"/>
                  </a:cubicBezTo>
                  <a:cubicBezTo>
                    <a:pt x="78" y="0"/>
                    <a:pt x="73" y="1"/>
                    <a:pt x="71" y="5"/>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4" name="Oval 21"/>
            <p:cNvSpPr>
              <a:spLocks noChangeArrowheads="1"/>
            </p:cNvSpPr>
            <p:nvPr/>
          </p:nvSpPr>
          <p:spPr bwMode="auto">
            <a:xfrm>
              <a:off x="563909" y="331147"/>
              <a:ext cx="101984" cy="99584"/>
            </a:xfrm>
            <a:prstGeom prst="ellipse">
              <a:avLst/>
            </a:pr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5" name="组合 14"/>
          <p:cNvGrpSpPr/>
          <p:nvPr/>
        </p:nvGrpSpPr>
        <p:grpSpPr bwMode="auto">
          <a:xfrm>
            <a:off x="9791433" y="4205439"/>
            <a:ext cx="329894" cy="333006"/>
            <a:chOff x="0" y="0"/>
            <a:chExt cx="881859" cy="881859"/>
          </a:xfrm>
          <a:solidFill>
            <a:schemeClr val="tx1"/>
          </a:solidFill>
        </p:grpSpPr>
        <p:sp>
          <p:nvSpPr>
            <p:cNvPr id="16" name="Freeform 22"/>
            <p:cNvSpPr>
              <a:spLocks noEditPoints="1" noChangeArrowheads="1"/>
            </p:cNvSpPr>
            <p:nvPr/>
          </p:nvSpPr>
          <p:spPr bwMode="auto">
            <a:xfrm>
              <a:off x="0" y="0"/>
              <a:ext cx="881859" cy="881859"/>
            </a:xfrm>
            <a:custGeom>
              <a:avLst/>
              <a:gdLst>
                <a:gd name="T0" fmla="*/ 155 w 311"/>
                <a:gd name="T1" fmla="*/ 0 h 311"/>
                <a:gd name="T2" fmla="*/ 0 w 311"/>
                <a:gd name="T3" fmla="*/ 155 h 311"/>
                <a:gd name="T4" fmla="*/ 155 w 311"/>
                <a:gd name="T5" fmla="*/ 311 h 311"/>
                <a:gd name="T6" fmla="*/ 311 w 311"/>
                <a:gd name="T7" fmla="*/ 155 h 311"/>
                <a:gd name="T8" fmla="*/ 155 w 311"/>
                <a:gd name="T9" fmla="*/ 0 h 311"/>
                <a:gd name="T10" fmla="*/ 155 w 311"/>
                <a:gd name="T11" fmla="*/ 289 h 311"/>
                <a:gd name="T12" fmla="*/ 21 w 311"/>
                <a:gd name="T13" fmla="*/ 155 h 311"/>
                <a:gd name="T14" fmla="*/ 155 w 311"/>
                <a:gd name="T15" fmla="*/ 21 h 311"/>
                <a:gd name="T16" fmla="*/ 289 w 311"/>
                <a:gd name="T17" fmla="*/ 155 h 311"/>
                <a:gd name="T18" fmla="*/ 155 w 311"/>
                <a:gd name="T19" fmla="*/ 289 h 3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1"/>
                <a:gd name="T31" fmla="*/ 0 h 311"/>
                <a:gd name="T32" fmla="*/ 311 w 311"/>
                <a:gd name="T33" fmla="*/ 311 h 3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1" h="311">
                  <a:moveTo>
                    <a:pt x="155" y="0"/>
                  </a:moveTo>
                  <a:cubicBezTo>
                    <a:pt x="70" y="0"/>
                    <a:pt x="0" y="69"/>
                    <a:pt x="0" y="155"/>
                  </a:cubicBezTo>
                  <a:cubicBezTo>
                    <a:pt x="0" y="241"/>
                    <a:pt x="70" y="311"/>
                    <a:pt x="155" y="311"/>
                  </a:cubicBezTo>
                  <a:cubicBezTo>
                    <a:pt x="241" y="311"/>
                    <a:pt x="311" y="241"/>
                    <a:pt x="311" y="155"/>
                  </a:cubicBezTo>
                  <a:cubicBezTo>
                    <a:pt x="311" y="69"/>
                    <a:pt x="241" y="0"/>
                    <a:pt x="155" y="0"/>
                  </a:cubicBezTo>
                  <a:moveTo>
                    <a:pt x="155" y="289"/>
                  </a:moveTo>
                  <a:cubicBezTo>
                    <a:pt x="81" y="289"/>
                    <a:pt x="21" y="229"/>
                    <a:pt x="21" y="155"/>
                  </a:cubicBezTo>
                  <a:cubicBezTo>
                    <a:pt x="21" y="81"/>
                    <a:pt x="81" y="21"/>
                    <a:pt x="155" y="21"/>
                  </a:cubicBezTo>
                  <a:cubicBezTo>
                    <a:pt x="229" y="21"/>
                    <a:pt x="289" y="81"/>
                    <a:pt x="289" y="155"/>
                  </a:cubicBezTo>
                  <a:cubicBezTo>
                    <a:pt x="289" y="229"/>
                    <a:pt x="229" y="289"/>
                    <a:pt x="155" y="289"/>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7" name="Freeform 23"/>
            <p:cNvSpPr>
              <a:spLocks noChangeArrowheads="1"/>
            </p:cNvSpPr>
            <p:nvPr/>
          </p:nvSpPr>
          <p:spPr bwMode="auto">
            <a:xfrm>
              <a:off x="235162" y="70789"/>
              <a:ext cx="430731" cy="428331"/>
            </a:xfrm>
            <a:custGeom>
              <a:avLst/>
              <a:gdLst>
                <a:gd name="T0" fmla="*/ 145 w 152"/>
                <a:gd name="T1" fmla="*/ 53 h 151"/>
                <a:gd name="T2" fmla="*/ 144 w 152"/>
                <a:gd name="T3" fmla="*/ 52 h 151"/>
                <a:gd name="T4" fmla="*/ 125 w 152"/>
                <a:gd name="T5" fmla="*/ 52 h 151"/>
                <a:gd name="T6" fmla="*/ 77 w 152"/>
                <a:gd name="T7" fmla="*/ 106 h 151"/>
                <a:gd name="T8" fmla="*/ 31 w 152"/>
                <a:gd name="T9" fmla="*/ 12 h 151"/>
                <a:gd name="T10" fmla="*/ 11 w 152"/>
                <a:gd name="T11" fmla="*/ 4 h 151"/>
                <a:gd name="T12" fmla="*/ 10 w 152"/>
                <a:gd name="T13" fmla="*/ 4 h 151"/>
                <a:gd name="T14" fmla="*/ 4 w 152"/>
                <a:gd name="T15" fmla="*/ 25 h 151"/>
                <a:gd name="T16" fmla="*/ 60 w 152"/>
                <a:gd name="T17" fmla="*/ 140 h 151"/>
                <a:gd name="T18" fmla="*/ 79 w 152"/>
                <a:gd name="T19" fmla="*/ 148 h 151"/>
                <a:gd name="T20" fmla="*/ 79 w 152"/>
                <a:gd name="T21" fmla="*/ 148 h 151"/>
                <a:gd name="T22" fmla="*/ 80 w 152"/>
                <a:gd name="T23" fmla="*/ 148 h 151"/>
                <a:gd name="T24" fmla="*/ 81 w 152"/>
                <a:gd name="T25" fmla="*/ 147 h 151"/>
                <a:gd name="T26" fmla="*/ 87 w 152"/>
                <a:gd name="T27" fmla="*/ 141 h 151"/>
                <a:gd name="T28" fmla="*/ 148 w 152"/>
                <a:gd name="T29" fmla="*/ 72 h 151"/>
                <a:gd name="T30" fmla="*/ 145 w 152"/>
                <a:gd name="T31" fmla="*/ 53 h 1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2"/>
                <a:gd name="T49" fmla="*/ 0 h 151"/>
                <a:gd name="T50" fmla="*/ 152 w 152"/>
                <a:gd name="T51" fmla="*/ 151 h 1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2" h="151">
                  <a:moveTo>
                    <a:pt x="145" y="53"/>
                  </a:moveTo>
                  <a:cubicBezTo>
                    <a:pt x="144" y="52"/>
                    <a:pt x="144" y="52"/>
                    <a:pt x="144" y="52"/>
                  </a:cubicBezTo>
                  <a:cubicBezTo>
                    <a:pt x="138" y="47"/>
                    <a:pt x="129" y="47"/>
                    <a:pt x="125" y="52"/>
                  </a:cubicBezTo>
                  <a:cubicBezTo>
                    <a:pt x="77" y="106"/>
                    <a:pt x="77" y="106"/>
                    <a:pt x="77" y="106"/>
                  </a:cubicBezTo>
                  <a:cubicBezTo>
                    <a:pt x="31" y="12"/>
                    <a:pt x="31" y="12"/>
                    <a:pt x="31" y="12"/>
                  </a:cubicBezTo>
                  <a:cubicBezTo>
                    <a:pt x="27" y="4"/>
                    <a:pt x="18" y="0"/>
                    <a:pt x="11" y="4"/>
                  </a:cubicBezTo>
                  <a:cubicBezTo>
                    <a:pt x="10" y="4"/>
                    <a:pt x="10" y="4"/>
                    <a:pt x="10" y="4"/>
                  </a:cubicBezTo>
                  <a:cubicBezTo>
                    <a:pt x="3" y="8"/>
                    <a:pt x="0" y="17"/>
                    <a:pt x="4" y="25"/>
                  </a:cubicBezTo>
                  <a:cubicBezTo>
                    <a:pt x="60" y="140"/>
                    <a:pt x="60" y="140"/>
                    <a:pt x="60" y="140"/>
                  </a:cubicBezTo>
                  <a:cubicBezTo>
                    <a:pt x="63" y="148"/>
                    <a:pt x="72" y="151"/>
                    <a:pt x="79" y="148"/>
                  </a:cubicBezTo>
                  <a:cubicBezTo>
                    <a:pt x="79" y="148"/>
                    <a:pt x="79" y="148"/>
                    <a:pt x="79" y="148"/>
                  </a:cubicBezTo>
                  <a:cubicBezTo>
                    <a:pt x="79" y="148"/>
                    <a:pt x="80" y="148"/>
                    <a:pt x="80" y="148"/>
                  </a:cubicBezTo>
                  <a:cubicBezTo>
                    <a:pt x="81" y="147"/>
                    <a:pt x="81" y="147"/>
                    <a:pt x="81" y="147"/>
                  </a:cubicBezTo>
                  <a:cubicBezTo>
                    <a:pt x="84" y="146"/>
                    <a:pt x="86" y="144"/>
                    <a:pt x="87" y="141"/>
                  </a:cubicBezTo>
                  <a:cubicBezTo>
                    <a:pt x="148" y="72"/>
                    <a:pt x="148" y="72"/>
                    <a:pt x="148" y="72"/>
                  </a:cubicBezTo>
                  <a:cubicBezTo>
                    <a:pt x="152" y="67"/>
                    <a:pt x="151" y="59"/>
                    <a:pt x="145" y="53"/>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8" name="组合 17"/>
          <p:cNvGrpSpPr/>
          <p:nvPr/>
        </p:nvGrpSpPr>
        <p:grpSpPr bwMode="auto">
          <a:xfrm>
            <a:off x="8473972" y="4205439"/>
            <a:ext cx="397959" cy="333006"/>
            <a:chOff x="0" y="0"/>
            <a:chExt cx="961046" cy="796672"/>
          </a:xfrm>
          <a:solidFill>
            <a:schemeClr val="tx1"/>
          </a:solidFill>
        </p:grpSpPr>
        <p:sp>
          <p:nvSpPr>
            <p:cNvPr id="19" name="Freeform 24"/>
            <p:cNvSpPr>
              <a:spLocks noEditPoints="1" noChangeArrowheads="1"/>
            </p:cNvSpPr>
            <p:nvPr/>
          </p:nvSpPr>
          <p:spPr bwMode="auto">
            <a:xfrm>
              <a:off x="0" y="0"/>
              <a:ext cx="961046" cy="796672"/>
            </a:xfrm>
            <a:custGeom>
              <a:avLst/>
              <a:gdLst>
                <a:gd name="T0" fmla="*/ 321 w 339"/>
                <a:gd name="T1" fmla="*/ 0 h 281"/>
                <a:gd name="T2" fmla="*/ 18 w 339"/>
                <a:gd name="T3" fmla="*/ 0 h 281"/>
                <a:gd name="T4" fmla="*/ 0 w 339"/>
                <a:gd name="T5" fmla="*/ 18 h 281"/>
                <a:gd name="T6" fmla="*/ 0 w 339"/>
                <a:gd name="T7" fmla="*/ 263 h 281"/>
                <a:gd name="T8" fmla="*/ 18 w 339"/>
                <a:gd name="T9" fmla="*/ 281 h 281"/>
                <a:gd name="T10" fmla="*/ 321 w 339"/>
                <a:gd name="T11" fmla="*/ 281 h 281"/>
                <a:gd name="T12" fmla="*/ 339 w 339"/>
                <a:gd name="T13" fmla="*/ 263 h 281"/>
                <a:gd name="T14" fmla="*/ 339 w 339"/>
                <a:gd name="T15" fmla="*/ 18 h 281"/>
                <a:gd name="T16" fmla="*/ 321 w 339"/>
                <a:gd name="T17" fmla="*/ 0 h 281"/>
                <a:gd name="T18" fmla="*/ 316 w 339"/>
                <a:gd name="T19" fmla="*/ 246 h 281"/>
                <a:gd name="T20" fmla="*/ 301 w 339"/>
                <a:gd name="T21" fmla="*/ 262 h 281"/>
                <a:gd name="T22" fmla="*/ 38 w 339"/>
                <a:gd name="T23" fmla="*/ 262 h 281"/>
                <a:gd name="T24" fmla="*/ 23 w 339"/>
                <a:gd name="T25" fmla="*/ 246 h 281"/>
                <a:gd name="T26" fmla="*/ 23 w 339"/>
                <a:gd name="T27" fmla="*/ 35 h 281"/>
                <a:gd name="T28" fmla="*/ 38 w 339"/>
                <a:gd name="T29" fmla="*/ 19 h 281"/>
                <a:gd name="T30" fmla="*/ 301 w 339"/>
                <a:gd name="T31" fmla="*/ 19 h 281"/>
                <a:gd name="T32" fmla="*/ 316 w 339"/>
                <a:gd name="T33" fmla="*/ 35 h 281"/>
                <a:gd name="T34" fmla="*/ 316 w 339"/>
                <a:gd name="T35" fmla="*/ 246 h 2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9"/>
                <a:gd name="T55" fmla="*/ 0 h 281"/>
                <a:gd name="T56" fmla="*/ 339 w 339"/>
                <a:gd name="T57" fmla="*/ 281 h 2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9" h="281">
                  <a:moveTo>
                    <a:pt x="321" y="0"/>
                  </a:moveTo>
                  <a:cubicBezTo>
                    <a:pt x="18" y="0"/>
                    <a:pt x="18" y="0"/>
                    <a:pt x="18" y="0"/>
                  </a:cubicBezTo>
                  <a:cubicBezTo>
                    <a:pt x="8" y="0"/>
                    <a:pt x="0" y="8"/>
                    <a:pt x="0" y="18"/>
                  </a:cubicBezTo>
                  <a:cubicBezTo>
                    <a:pt x="0" y="263"/>
                    <a:pt x="0" y="263"/>
                    <a:pt x="0" y="263"/>
                  </a:cubicBezTo>
                  <a:cubicBezTo>
                    <a:pt x="0" y="273"/>
                    <a:pt x="8" y="281"/>
                    <a:pt x="18" y="281"/>
                  </a:cubicBezTo>
                  <a:cubicBezTo>
                    <a:pt x="321" y="281"/>
                    <a:pt x="321" y="281"/>
                    <a:pt x="321" y="281"/>
                  </a:cubicBezTo>
                  <a:cubicBezTo>
                    <a:pt x="331" y="281"/>
                    <a:pt x="339" y="273"/>
                    <a:pt x="339" y="263"/>
                  </a:cubicBezTo>
                  <a:cubicBezTo>
                    <a:pt x="339" y="18"/>
                    <a:pt x="339" y="18"/>
                    <a:pt x="339" y="18"/>
                  </a:cubicBezTo>
                  <a:cubicBezTo>
                    <a:pt x="339" y="8"/>
                    <a:pt x="331" y="0"/>
                    <a:pt x="321" y="0"/>
                  </a:cubicBezTo>
                  <a:moveTo>
                    <a:pt x="316" y="246"/>
                  </a:moveTo>
                  <a:cubicBezTo>
                    <a:pt x="316" y="255"/>
                    <a:pt x="309" y="262"/>
                    <a:pt x="301" y="262"/>
                  </a:cubicBezTo>
                  <a:cubicBezTo>
                    <a:pt x="38" y="262"/>
                    <a:pt x="38" y="262"/>
                    <a:pt x="38" y="262"/>
                  </a:cubicBezTo>
                  <a:cubicBezTo>
                    <a:pt x="30" y="262"/>
                    <a:pt x="23" y="255"/>
                    <a:pt x="23" y="246"/>
                  </a:cubicBezTo>
                  <a:cubicBezTo>
                    <a:pt x="23" y="35"/>
                    <a:pt x="23" y="35"/>
                    <a:pt x="23" y="35"/>
                  </a:cubicBezTo>
                  <a:cubicBezTo>
                    <a:pt x="23" y="26"/>
                    <a:pt x="30" y="19"/>
                    <a:pt x="38" y="19"/>
                  </a:cubicBezTo>
                  <a:cubicBezTo>
                    <a:pt x="301" y="19"/>
                    <a:pt x="301" y="19"/>
                    <a:pt x="301" y="19"/>
                  </a:cubicBezTo>
                  <a:cubicBezTo>
                    <a:pt x="309" y="19"/>
                    <a:pt x="316" y="26"/>
                    <a:pt x="316" y="35"/>
                  </a:cubicBezTo>
                  <a:lnTo>
                    <a:pt x="316" y="246"/>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0" name="Freeform 25"/>
            <p:cNvSpPr>
              <a:spLocks noChangeArrowheads="1"/>
            </p:cNvSpPr>
            <p:nvPr/>
          </p:nvSpPr>
          <p:spPr bwMode="auto">
            <a:xfrm>
              <a:off x="176371"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1" name="Freeform 26"/>
            <p:cNvSpPr>
              <a:spLocks noChangeArrowheads="1"/>
            </p:cNvSpPr>
            <p:nvPr/>
          </p:nvSpPr>
          <p:spPr bwMode="auto">
            <a:xfrm>
              <a:off x="176371"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2" name="Freeform 27"/>
            <p:cNvSpPr>
              <a:spLocks noChangeArrowheads="1"/>
            </p:cNvSpPr>
            <p:nvPr/>
          </p:nvSpPr>
          <p:spPr bwMode="auto">
            <a:xfrm>
              <a:off x="346744"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3" name="Freeform 28"/>
            <p:cNvSpPr>
              <a:spLocks noChangeArrowheads="1"/>
            </p:cNvSpPr>
            <p:nvPr/>
          </p:nvSpPr>
          <p:spPr bwMode="auto">
            <a:xfrm>
              <a:off x="346744"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4" name="Freeform 29"/>
            <p:cNvSpPr>
              <a:spLocks noChangeArrowheads="1"/>
            </p:cNvSpPr>
            <p:nvPr/>
          </p:nvSpPr>
          <p:spPr bwMode="auto">
            <a:xfrm>
              <a:off x="346744"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5" name="Freeform 30"/>
            <p:cNvSpPr>
              <a:spLocks noChangeArrowheads="1"/>
            </p:cNvSpPr>
            <p:nvPr/>
          </p:nvSpPr>
          <p:spPr bwMode="auto">
            <a:xfrm>
              <a:off x="519516" y="116382"/>
              <a:ext cx="83987"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6" name="Freeform 31"/>
            <p:cNvSpPr>
              <a:spLocks noChangeArrowheads="1"/>
            </p:cNvSpPr>
            <p:nvPr/>
          </p:nvSpPr>
          <p:spPr bwMode="auto">
            <a:xfrm>
              <a:off x="519516" y="274756"/>
              <a:ext cx="83987"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7" name="Freeform 32"/>
            <p:cNvSpPr>
              <a:spLocks noChangeArrowheads="1"/>
            </p:cNvSpPr>
            <p:nvPr/>
          </p:nvSpPr>
          <p:spPr bwMode="auto">
            <a:xfrm>
              <a:off x="688689" y="116382"/>
              <a:ext cx="85186"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8" name="Freeform 33"/>
            <p:cNvSpPr>
              <a:spLocks noChangeArrowheads="1"/>
            </p:cNvSpPr>
            <p:nvPr/>
          </p:nvSpPr>
          <p:spPr bwMode="auto">
            <a:xfrm>
              <a:off x="688689" y="274756"/>
              <a:ext cx="85186"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9" name="Freeform 34"/>
            <p:cNvSpPr>
              <a:spLocks noChangeArrowheads="1"/>
            </p:cNvSpPr>
            <p:nvPr/>
          </p:nvSpPr>
          <p:spPr bwMode="auto">
            <a:xfrm>
              <a:off x="176371"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sp>
        <p:nvSpPr>
          <p:cNvPr id="30" name="Freeform 84"/>
          <p:cNvSpPr>
            <a:spLocks noChangeAspect="1" noEditPoints="1" noChangeArrowheads="1"/>
          </p:cNvSpPr>
          <p:nvPr/>
        </p:nvSpPr>
        <p:spPr bwMode="auto">
          <a:xfrm>
            <a:off x="7169827" y="4205438"/>
            <a:ext cx="333822" cy="333006"/>
          </a:xfrm>
          <a:custGeom>
            <a:avLst/>
            <a:gdLst>
              <a:gd name="T0" fmla="*/ 170 w 170"/>
              <a:gd name="T1" fmla="*/ 0 h 168"/>
              <a:gd name="T2" fmla="*/ 162 w 170"/>
              <a:gd name="T3" fmla="*/ 16 h 168"/>
              <a:gd name="T4" fmla="*/ 170 w 170"/>
              <a:gd name="T5" fmla="*/ 103 h 168"/>
              <a:gd name="T6" fmla="*/ 93 w 170"/>
              <a:gd name="T7" fmla="*/ 119 h 168"/>
              <a:gd name="T8" fmla="*/ 128 w 170"/>
              <a:gd name="T9" fmla="*/ 152 h 168"/>
              <a:gd name="T10" fmla="*/ 42 w 170"/>
              <a:gd name="T11" fmla="*/ 168 h 168"/>
              <a:gd name="T12" fmla="*/ 77 w 170"/>
              <a:gd name="T13" fmla="*/ 152 h 168"/>
              <a:gd name="T14" fmla="*/ 0 w 170"/>
              <a:gd name="T15" fmla="*/ 119 h 168"/>
              <a:gd name="T16" fmla="*/ 6 w 170"/>
              <a:gd name="T17" fmla="*/ 103 h 168"/>
              <a:gd name="T18" fmla="*/ 0 w 170"/>
              <a:gd name="T19" fmla="*/ 16 h 168"/>
              <a:gd name="T20" fmla="*/ 0 w 170"/>
              <a:gd name="T21" fmla="*/ 0 h 168"/>
              <a:gd name="T22" fmla="*/ 122 w 170"/>
              <a:gd name="T23" fmla="*/ 40 h 168"/>
              <a:gd name="T24" fmla="*/ 115 w 170"/>
              <a:gd name="T25" fmla="*/ 44 h 168"/>
              <a:gd name="T26" fmla="*/ 75 w 170"/>
              <a:gd name="T27" fmla="*/ 52 h 168"/>
              <a:gd name="T28" fmla="*/ 73 w 170"/>
              <a:gd name="T29" fmla="*/ 50 h 168"/>
              <a:gd name="T30" fmla="*/ 50 w 170"/>
              <a:gd name="T31" fmla="*/ 67 h 168"/>
              <a:gd name="T32" fmla="*/ 85 w 170"/>
              <a:gd name="T33" fmla="*/ 65 h 168"/>
              <a:gd name="T34" fmla="*/ 89 w 170"/>
              <a:gd name="T35" fmla="*/ 67 h 168"/>
              <a:gd name="T36" fmla="*/ 120 w 170"/>
              <a:gd name="T37" fmla="*/ 52 h 168"/>
              <a:gd name="T38" fmla="*/ 128 w 170"/>
              <a:gd name="T39" fmla="*/ 40 h 168"/>
              <a:gd name="T40" fmla="*/ 113 w 170"/>
              <a:gd name="T41" fmla="*/ 58 h 168"/>
              <a:gd name="T42" fmla="*/ 122 w 170"/>
              <a:gd name="T43" fmla="*/ 85 h 168"/>
              <a:gd name="T44" fmla="*/ 113 w 170"/>
              <a:gd name="T45" fmla="*/ 58 h 168"/>
              <a:gd name="T46" fmla="*/ 101 w 170"/>
              <a:gd name="T47" fmla="*/ 67 h 168"/>
              <a:gd name="T48" fmla="*/ 109 w 170"/>
              <a:gd name="T49" fmla="*/ 85 h 168"/>
              <a:gd name="T50" fmla="*/ 101 w 170"/>
              <a:gd name="T51" fmla="*/ 67 h 168"/>
              <a:gd name="T52" fmla="*/ 87 w 170"/>
              <a:gd name="T53" fmla="*/ 77 h 168"/>
              <a:gd name="T54" fmla="*/ 95 w 170"/>
              <a:gd name="T55" fmla="*/ 85 h 168"/>
              <a:gd name="T56" fmla="*/ 87 w 170"/>
              <a:gd name="T57" fmla="*/ 77 h 168"/>
              <a:gd name="T58" fmla="*/ 75 w 170"/>
              <a:gd name="T59" fmla="*/ 69 h 168"/>
              <a:gd name="T60" fmla="*/ 83 w 170"/>
              <a:gd name="T61" fmla="*/ 85 h 168"/>
              <a:gd name="T62" fmla="*/ 75 w 170"/>
              <a:gd name="T63" fmla="*/ 69 h 168"/>
              <a:gd name="T64" fmla="*/ 63 w 170"/>
              <a:gd name="T65" fmla="*/ 69 h 168"/>
              <a:gd name="T66" fmla="*/ 71 w 170"/>
              <a:gd name="T67" fmla="*/ 85 h 168"/>
              <a:gd name="T68" fmla="*/ 63 w 170"/>
              <a:gd name="T69" fmla="*/ 69 h 168"/>
              <a:gd name="T70" fmla="*/ 48 w 170"/>
              <a:gd name="T71" fmla="*/ 73 h 168"/>
              <a:gd name="T72" fmla="*/ 56 w 170"/>
              <a:gd name="T73" fmla="*/ 85 h 168"/>
              <a:gd name="T74" fmla="*/ 48 w 170"/>
              <a:gd name="T75" fmla="*/ 73 h 168"/>
              <a:gd name="T76" fmla="*/ 146 w 170"/>
              <a:gd name="T77" fmla="*/ 18 h 168"/>
              <a:gd name="T78" fmla="*/ 24 w 170"/>
              <a:gd name="T79" fmla="*/ 101 h 168"/>
              <a:gd name="T80" fmla="*/ 146 w 170"/>
              <a:gd name="T81" fmla="*/ 18 h 1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0"/>
              <a:gd name="T124" fmla="*/ 0 h 168"/>
              <a:gd name="T125" fmla="*/ 170 w 170"/>
              <a:gd name="T126" fmla="*/ 168 h 1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0" h="168">
                <a:moveTo>
                  <a:pt x="0" y="0"/>
                </a:moveTo>
                <a:lnTo>
                  <a:pt x="170" y="0"/>
                </a:lnTo>
                <a:lnTo>
                  <a:pt x="170" y="16"/>
                </a:lnTo>
                <a:lnTo>
                  <a:pt x="162" y="16"/>
                </a:lnTo>
                <a:lnTo>
                  <a:pt x="162" y="103"/>
                </a:lnTo>
                <a:lnTo>
                  <a:pt x="170" y="103"/>
                </a:lnTo>
                <a:lnTo>
                  <a:pt x="170" y="119"/>
                </a:lnTo>
                <a:lnTo>
                  <a:pt x="93" y="119"/>
                </a:lnTo>
                <a:lnTo>
                  <a:pt x="93" y="152"/>
                </a:lnTo>
                <a:lnTo>
                  <a:pt x="128" y="152"/>
                </a:lnTo>
                <a:lnTo>
                  <a:pt x="128" y="168"/>
                </a:lnTo>
                <a:lnTo>
                  <a:pt x="42" y="168"/>
                </a:lnTo>
                <a:lnTo>
                  <a:pt x="42" y="152"/>
                </a:lnTo>
                <a:lnTo>
                  <a:pt x="77" y="152"/>
                </a:lnTo>
                <a:lnTo>
                  <a:pt x="77" y="119"/>
                </a:lnTo>
                <a:lnTo>
                  <a:pt x="0" y="119"/>
                </a:lnTo>
                <a:lnTo>
                  <a:pt x="0" y="103"/>
                </a:lnTo>
                <a:lnTo>
                  <a:pt x="6" y="103"/>
                </a:lnTo>
                <a:lnTo>
                  <a:pt x="6" y="16"/>
                </a:lnTo>
                <a:lnTo>
                  <a:pt x="0" y="16"/>
                </a:lnTo>
                <a:lnTo>
                  <a:pt x="0" y="0"/>
                </a:lnTo>
                <a:lnTo>
                  <a:pt x="0" y="0"/>
                </a:lnTo>
                <a:close/>
                <a:moveTo>
                  <a:pt x="128" y="40"/>
                </a:moveTo>
                <a:lnTo>
                  <a:pt x="122" y="40"/>
                </a:lnTo>
                <a:lnTo>
                  <a:pt x="113" y="40"/>
                </a:lnTo>
                <a:lnTo>
                  <a:pt x="115" y="44"/>
                </a:lnTo>
                <a:lnTo>
                  <a:pt x="87" y="61"/>
                </a:lnTo>
                <a:lnTo>
                  <a:pt x="75" y="52"/>
                </a:lnTo>
                <a:lnTo>
                  <a:pt x="75" y="50"/>
                </a:lnTo>
                <a:lnTo>
                  <a:pt x="73" y="50"/>
                </a:lnTo>
                <a:lnTo>
                  <a:pt x="48" y="61"/>
                </a:lnTo>
                <a:lnTo>
                  <a:pt x="50" y="67"/>
                </a:lnTo>
                <a:lnTo>
                  <a:pt x="73" y="56"/>
                </a:lnTo>
                <a:lnTo>
                  <a:pt x="85" y="65"/>
                </a:lnTo>
                <a:lnTo>
                  <a:pt x="87" y="67"/>
                </a:lnTo>
                <a:lnTo>
                  <a:pt x="89" y="67"/>
                </a:lnTo>
                <a:lnTo>
                  <a:pt x="117" y="48"/>
                </a:lnTo>
                <a:lnTo>
                  <a:pt x="120" y="52"/>
                </a:lnTo>
                <a:lnTo>
                  <a:pt x="124" y="46"/>
                </a:lnTo>
                <a:lnTo>
                  <a:pt x="128" y="40"/>
                </a:lnTo>
                <a:lnTo>
                  <a:pt x="128" y="40"/>
                </a:lnTo>
                <a:close/>
                <a:moveTo>
                  <a:pt x="113" y="58"/>
                </a:moveTo>
                <a:lnTo>
                  <a:pt x="113" y="85"/>
                </a:lnTo>
                <a:lnTo>
                  <a:pt x="122" y="85"/>
                </a:lnTo>
                <a:lnTo>
                  <a:pt x="122" y="58"/>
                </a:lnTo>
                <a:lnTo>
                  <a:pt x="113" y="58"/>
                </a:lnTo>
                <a:lnTo>
                  <a:pt x="113" y="58"/>
                </a:lnTo>
                <a:close/>
                <a:moveTo>
                  <a:pt x="101" y="67"/>
                </a:moveTo>
                <a:lnTo>
                  <a:pt x="101" y="85"/>
                </a:lnTo>
                <a:lnTo>
                  <a:pt x="109" y="85"/>
                </a:lnTo>
                <a:lnTo>
                  <a:pt x="109" y="67"/>
                </a:lnTo>
                <a:lnTo>
                  <a:pt x="101" y="67"/>
                </a:lnTo>
                <a:lnTo>
                  <a:pt x="101" y="67"/>
                </a:lnTo>
                <a:close/>
                <a:moveTo>
                  <a:pt x="87" y="77"/>
                </a:moveTo>
                <a:lnTo>
                  <a:pt x="87" y="85"/>
                </a:lnTo>
                <a:lnTo>
                  <a:pt x="95" y="85"/>
                </a:lnTo>
                <a:lnTo>
                  <a:pt x="95" y="77"/>
                </a:lnTo>
                <a:lnTo>
                  <a:pt x="87" y="77"/>
                </a:lnTo>
                <a:lnTo>
                  <a:pt x="87" y="77"/>
                </a:lnTo>
                <a:close/>
                <a:moveTo>
                  <a:pt x="75" y="69"/>
                </a:moveTo>
                <a:lnTo>
                  <a:pt x="75" y="85"/>
                </a:lnTo>
                <a:lnTo>
                  <a:pt x="83" y="85"/>
                </a:lnTo>
                <a:lnTo>
                  <a:pt x="83" y="69"/>
                </a:lnTo>
                <a:lnTo>
                  <a:pt x="75" y="69"/>
                </a:lnTo>
                <a:lnTo>
                  <a:pt x="75" y="69"/>
                </a:lnTo>
                <a:close/>
                <a:moveTo>
                  <a:pt x="63" y="69"/>
                </a:moveTo>
                <a:lnTo>
                  <a:pt x="63" y="85"/>
                </a:lnTo>
                <a:lnTo>
                  <a:pt x="71" y="85"/>
                </a:lnTo>
                <a:lnTo>
                  <a:pt x="71" y="69"/>
                </a:lnTo>
                <a:lnTo>
                  <a:pt x="63" y="69"/>
                </a:lnTo>
                <a:lnTo>
                  <a:pt x="63" y="69"/>
                </a:lnTo>
                <a:close/>
                <a:moveTo>
                  <a:pt x="48" y="73"/>
                </a:moveTo>
                <a:lnTo>
                  <a:pt x="48" y="85"/>
                </a:lnTo>
                <a:lnTo>
                  <a:pt x="56" y="85"/>
                </a:lnTo>
                <a:lnTo>
                  <a:pt x="56" y="73"/>
                </a:lnTo>
                <a:lnTo>
                  <a:pt x="48" y="73"/>
                </a:lnTo>
                <a:lnTo>
                  <a:pt x="48" y="73"/>
                </a:lnTo>
                <a:close/>
                <a:moveTo>
                  <a:pt x="146" y="18"/>
                </a:moveTo>
                <a:lnTo>
                  <a:pt x="24" y="18"/>
                </a:lnTo>
                <a:lnTo>
                  <a:pt x="24" y="101"/>
                </a:lnTo>
                <a:lnTo>
                  <a:pt x="146" y="101"/>
                </a:lnTo>
                <a:lnTo>
                  <a:pt x="146" y="18"/>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1" name="Freeform 9"/>
          <p:cNvSpPr>
            <a:spLocks noChangeAspect="1" noEditPoints="1" noChangeArrowheads="1"/>
          </p:cNvSpPr>
          <p:nvPr/>
        </p:nvSpPr>
        <p:spPr bwMode="auto">
          <a:xfrm>
            <a:off x="9150738" y="4205437"/>
            <a:ext cx="361886" cy="333007"/>
          </a:xfrm>
          <a:custGeom>
            <a:avLst/>
            <a:gdLst>
              <a:gd name="T0" fmla="*/ 141 w 181"/>
              <a:gd name="T1" fmla="*/ 0 h 165"/>
              <a:gd name="T2" fmla="*/ 149 w 181"/>
              <a:gd name="T3" fmla="*/ 8 h 165"/>
              <a:gd name="T4" fmla="*/ 134 w 181"/>
              <a:gd name="T5" fmla="*/ 47 h 165"/>
              <a:gd name="T6" fmla="*/ 33 w 181"/>
              <a:gd name="T7" fmla="*/ 14 h 165"/>
              <a:gd name="T8" fmla="*/ 39 w 181"/>
              <a:gd name="T9" fmla="*/ 20 h 165"/>
              <a:gd name="T10" fmla="*/ 51 w 181"/>
              <a:gd name="T11" fmla="*/ 31 h 165"/>
              <a:gd name="T12" fmla="*/ 33 w 181"/>
              <a:gd name="T13" fmla="*/ 39 h 165"/>
              <a:gd name="T14" fmla="*/ 39 w 181"/>
              <a:gd name="T15" fmla="*/ 45 h 165"/>
              <a:gd name="T16" fmla="*/ 51 w 181"/>
              <a:gd name="T17" fmla="*/ 55 h 165"/>
              <a:gd name="T18" fmla="*/ 33 w 181"/>
              <a:gd name="T19" fmla="*/ 63 h 165"/>
              <a:gd name="T20" fmla="*/ 39 w 181"/>
              <a:gd name="T21" fmla="*/ 67 h 165"/>
              <a:gd name="T22" fmla="*/ 51 w 181"/>
              <a:gd name="T23" fmla="*/ 77 h 165"/>
              <a:gd name="T24" fmla="*/ 33 w 181"/>
              <a:gd name="T25" fmla="*/ 86 h 165"/>
              <a:gd name="T26" fmla="*/ 39 w 181"/>
              <a:gd name="T27" fmla="*/ 90 h 165"/>
              <a:gd name="T28" fmla="*/ 51 w 181"/>
              <a:gd name="T29" fmla="*/ 100 h 165"/>
              <a:gd name="T30" fmla="*/ 33 w 181"/>
              <a:gd name="T31" fmla="*/ 110 h 165"/>
              <a:gd name="T32" fmla="*/ 39 w 181"/>
              <a:gd name="T33" fmla="*/ 116 h 165"/>
              <a:gd name="T34" fmla="*/ 51 w 181"/>
              <a:gd name="T35" fmla="*/ 126 h 165"/>
              <a:gd name="T36" fmla="*/ 33 w 181"/>
              <a:gd name="T37" fmla="*/ 134 h 165"/>
              <a:gd name="T38" fmla="*/ 33 w 181"/>
              <a:gd name="T39" fmla="*/ 151 h 165"/>
              <a:gd name="T40" fmla="*/ 134 w 181"/>
              <a:gd name="T41" fmla="*/ 118 h 165"/>
              <a:gd name="T42" fmla="*/ 149 w 181"/>
              <a:gd name="T43" fmla="*/ 157 h 165"/>
              <a:gd name="T44" fmla="*/ 141 w 181"/>
              <a:gd name="T45" fmla="*/ 165 h 165"/>
              <a:gd name="T46" fmla="*/ 19 w 181"/>
              <a:gd name="T47" fmla="*/ 165 h 165"/>
              <a:gd name="T48" fmla="*/ 19 w 181"/>
              <a:gd name="T49" fmla="*/ 146 h 165"/>
              <a:gd name="T50" fmla="*/ 0 w 181"/>
              <a:gd name="T51" fmla="*/ 132 h 165"/>
              <a:gd name="T52" fmla="*/ 19 w 181"/>
              <a:gd name="T53" fmla="*/ 120 h 165"/>
              <a:gd name="T54" fmla="*/ 0 w 181"/>
              <a:gd name="T55" fmla="*/ 108 h 165"/>
              <a:gd name="T56" fmla="*/ 19 w 181"/>
              <a:gd name="T57" fmla="*/ 98 h 165"/>
              <a:gd name="T58" fmla="*/ 0 w 181"/>
              <a:gd name="T59" fmla="*/ 83 h 165"/>
              <a:gd name="T60" fmla="*/ 19 w 181"/>
              <a:gd name="T61" fmla="*/ 75 h 165"/>
              <a:gd name="T62" fmla="*/ 0 w 181"/>
              <a:gd name="T63" fmla="*/ 61 h 165"/>
              <a:gd name="T64" fmla="*/ 19 w 181"/>
              <a:gd name="T65" fmla="*/ 51 h 165"/>
              <a:gd name="T66" fmla="*/ 0 w 181"/>
              <a:gd name="T67" fmla="*/ 39 h 165"/>
              <a:gd name="T68" fmla="*/ 19 w 181"/>
              <a:gd name="T69" fmla="*/ 8 h 165"/>
              <a:gd name="T70" fmla="*/ 27 w 181"/>
              <a:gd name="T71" fmla="*/ 0 h 165"/>
              <a:gd name="T72" fmla="*/ 63 w 181"/>
              <a:gd name="T73" fmla="*/ 79 h 165"/>
              <a:gd name="T74" fmla="*/ 84 w 181"/>
              <a:gd name="T75" fmla="*/ 88 h 165"/>
              <a:gd name="T76" fmla="*/ 63 w 181"/>
              <a:gd name="T77" fmla="*/ 79 h 165"/>
              <a:gd name="T78" fmla="*/ 63 w 181"/>
              <a:gd name="T79" fmla="*/ 61 h 165"/>
              <a:gd name="T80" fmla="*/ 100 w 181"/>
              <a:gd name="T81" fmla="*/ 69 h 165"/>
              <a:gd name="T82" fmla="*/ 63 w 181"/>
              <a:gd name="T83" fmla="*/ 61 h 165"/>
              <a:gd name="T84" fmla="*/ 63 w 181"/>
              <a:gd name="T85" fmla="*/ 45 h 165"/>
              <a:gd name="T86" fmla="*/ 116 w 181"/>
              <a:gd name="T87" fmla="*/ 53 h 165"/>
              <a:gd name="T88" fmla="*/ 63 w 181"/>
              <a:gd name="T89" fmla="*/ 45 h 165"/>
              <a:gd name="T90" fmla="*/ 63 w 181"/>
              <a:gd name="T91" fmla="*/ 29 h 165"/>
              <a:gd name="T92" fmla="*/ 116 w 181"/>
              <a:gd name="T93" fmla="*/ 35 h 165"/>
              <a:gd name="T94" fmla="*/ 63 w 181"/>
              <a:gd name="T95" fmla="*/ 29 h 165"/>
              <a:gd name="T96" fmla="*/ 84 w 181"/>
              <a:gd name="T97" fmla="*/ 130 h 165"/>
              <a:gd name="T98" fmla="*/ 106 w 181"/>
              <a:gd name="T99" fmla="*/ 130 h 165"/>
              <a:gd name="T100" fmla="*/ 86 w 181"/>
              <a:gd name="T101" fmla="*/ 108 h 165"/>
              <a:gd name="T102" fmla="*/ 84 w 181"/>
              <a:gd name="T103" fmla="*/ 130 h 165"/>
              <a:gd name="T104" fmla="*/ 161 w 181"/>
              <a:gd name="T105" fmla="*/ 37 h 165"/>
              <a:gd name="T106" fmla="*/ 116 w 181"/>
              <a:gd name="T107" fmla="*/ 120 h 165"/>
              <a:gd name="T108" fmla="*/ 161 w 181"/>
              <a:gd name="T109" fmla="*/ 37 h 16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1"/>
              <a:gd name="T166" fmla="*/ 0 h 165"/>
              <a:gd name="T167" fmla="*/ 181 w 181"/>
              <a:gd name="T168" fmla="*/ 165 h 16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1" h="165">
                <a:moveTo>
                  <a:pt x="27" y="0"/>
                </a:moveTo>
                <a:lnTo>
                  <a:pt x="141" y="0"/>
                </a:lnTo>
                <a:lnTo>
                  <a:pt x="149" y="0"/>
                </a:lnTo>
                <a:lnTo>
                  <a:pt x="149" y="8"/>
                </a:lnTo>
                <a:lnTo>
                  <a:pt x="149" y="35"/>
                </a:lnTo>
                <a:lnTo>
                  <a:pt x="134" y="47"/>
                </a:lnTo>
                <a:lnTo>
                  <a:pt x="134" y="14"/>
                </a:lnTo>
                <a:lnTo>
                  <a:pt x="33" y="14"/>
                </a:lnTo>
                <a:lnTo>
                  <a:pt x="33" y="25"/>
                </a:lnTo>
                <a:lnTo>
                  <a:pt x="39" y="20"/>
                </a:lnTo>
                <a:lnTo>
                  <a:pt x="47" y="18"/>
                </a:lnTo>
                <a:lnTo>
                  <a:pt x="51" y="31"/>
                </a:lnTo>
                <a:lnTo>
                  <a:pt x="45" y="35"/>
                </a:lnTo>
                <a:lnTo>
                  <a:pt x="33" y="39"/>
                </a:lnTo>
                <a:lnTo>
                  <a:pt x="33" y="47"/>
                </a:lnTo>
                <a:lnTo>
                  <a:pt x="39" y="45"/>
                </a:lnTo>
                <a:lnTo>
                  <a:pt x="47" y="41"/>
                </a:lnTo>
                <a:lnTo>
                  <a:pt x="51" y="55"/>
                </a:lnTo>
                <a:lnTo>
                  <a:pt x="45" y="57"/>
                </a:lnTo>
                <a:lnTo>
                  <a:pt x="33" y="63"/>
                </a:lnTo>
                <a:lnTo>
                  <a:pt x="33" y="71"/>
                </a:lnTo>
                <a:lnTo>
                  <a:pt x="39" y="67"/>
                </a:lnTo>
                <a:lnTo>
                  <a:pt x="47" y="65"/>
                </a:lnTo>
                <a:lnTo>
                  <a:pt x="51" y="77"/>
                </a:lnTo>
                <a:lnTo>
                  <a:pt x="45" y="81"/>
                </a:lnTo>
                <a:lnTo>
                  <a:pt x="33" y="86"/>
                </a:lnTo>
                <a:lnTo>
                  <a:pt x="33" y="94"/>
                </a:lnTo>
                <a:lnTo>
                  <a:pt x="39" y="90"/>
                </a:lnTo>
                <a:lnTo>
                  <a:pt x="47" y="88"/>
                </a:lnTo>
                <a:lnTo>
                  <a:pt x="51" y="100"/>
                </a:lnTo>
                <a:lnTo>
                  <a:pt x="45" y="104"/>
                </a:lnTo>
                <a:lnTo>
                  <a:pt x="33" y="110"/>
                </a:lnTo>
                <a:lnTo>
                  <a:pt x="33" y="118"/>
                </a:lnTo>
                <a:lnTo>
                  <a:pt x="39" y="116"/>
                </a:lnTo>
                <a:lnTo>
                  <a:pt x="47" y="112"/>
                </a:lnTo>
                <a:lnTo>
                  <a:pt x="51" y="126"/>
                </a:lnTo>
                <a:lnTo>
                  <a:pt x="45" y="128"/>
                </a:lnTo>
                <a:lnTo>
                  <a:pt x="33" y="134"/>
                </a:lnTo>
                <a:lnTo>
                  <a:pt x="33" y="146"/>
                </a:lnTo>
                <a:lnTo>
                  <a:pt x="33" y="151"/>
                </a:lnTo>
                <a:lnTo>
                  <a:pt x="134" y="151"/>
                </a:lnTo>
                <a:lnTo>
                  <a:pt x="134" y="118"/>
                </a:lnTo>
                <a:lnTo>
                  <a:pt x="149" y="106"/>
                </a:lnTo>
                <a:lnTo>
                  <a:pt x="149" y="157"/>
                </a:lnTo>
                <a:lnTo>
                  <a:pt x="149" y="165"/>
                </a:lnTo>
                <a:lnTo>
                  <a:pt x="141" y="165"/>
                </a:lnTo>
                <a:lnTo>
                  <a:pt x="27" y="165"/>
                </a:lnTo>
                <a:lnTo>
                  <a:pt x="19" y="165"/>
                </a:lnTo>
                <a:lnTo>
                  <a:pt x="19" y="157"/>
                </a:lnTo>
                <a:lnTo>
                  <a:pt x="19" y="146"/>
                </a:lnTo>
                <a:lnTo>
                  <a:pt x="4" y="146"/>
                </a:lnTo>
                <a:lnTo>
                  <a:pt x="0" y="132"/>
                </a:lnTo>
                <a:lnTo>
                  <a:pt x="19" y="124"/>
                </a:lnTo>
                <a:lnTo>
                  <a:pt x="19" y="120"/>
                </a:lnTo>
                <a:lnTo>
                  <a:pt x="4" y="120"/>
                </a:lnTo>
                <a:lnTo>
                  <a:pt x="0" y="108"/>
                </a:lnTo>
                <a:lnTo>
                  <a:pt x="19" y="100"/>
                </a:lnTo>
                <a:lnTo>
                  <a:pt x="19" y="98"/>
                </a:lnTo>
                <a:lnTo>
                  <a:pt x="4" y="98"/>
                </a:lnTo>
                <a:lnTo>
                  <a:pt x="0" y="83"/>
                </a:lnTo>
                <a:lnTo>
                  <a:pt x="19" y="77"/>
                </a:lnTo>
                <a:lnTo>
                  <a:pt x="19" y="75"/>
                </a:lnTo>
                <a:lnTo>
                  <a:pt x="4" y="75"/>
                </a:lnTo>
                <a:lnTo>
                  <a:pt x="0" y="61"/>
                </a:lnTo>
                <a:lnTo>
                  <a:pt x="19" y="53"/>
                </a:lnTo>
                <a:lnTo>
                  <a:pt x="19" y="51"/>
                </a:lnTo>
                <a:lnTo>
                  <a:pt x="4" y="51"/>
                </a:lnTo>
                <a:lnTo>
                  <a:pt x="0" y="39"/>
                </a:lnTo>
                <a:lnTo>
                  <a:pt x="19" y="31"/>
                </a:lnTo>
                <a:lnTo>
                  <a:pt x="19" y="8"/>
                </a:lnTo>
                <a:lnTo>
                  <a:pt x="19" y="0"/>
                </a:lnTo>
                <a:lnTo>
                  <a:pt x="27" y="0"/>
                </a:lnTo>
                <a:lnTo>
                  <a:pt x="27" y="0"/>
                </a:lnTo>
                <a:close/>
                <a:moveTo>
                  <a:pt x="63" y="79"/>
                </a:moveTo>
                <a:lnTo>
                  <a:pt x="63" y="88"/>
                </a:lnTo>
                <a:lnTo>
                  <a:pt x="84" y="88"/>
                </a:lnTo>
                <a:lnTo>
                  <a:pt x="84" y="79"/>
                </a:lnTo>
                <a:lnTo>
                  <a:pt x="63" y="79"/>
                </a:lnTo>
                <a:lnTo>
                  <a:pt x="63" y="79"/>
                </a:lnTo>
                <a:close/>
                <a:moveTo>
                  <a:pt x="63" y="61"/>
                </a:moveTo>
                <a:lnTo>
                  <a:pt x="63" y="69"/>
                </a:lnTo>
                <a:lnTo>
                  <a:pt x="100" y="69"/>
                </a:lnTo>
                <a:lnTo>
                  <a:pt x="100" y="61"/>
                </a:lnTo>
                <a:lnTo>
                  <a:pt x="63" y="61"/>
                </a:lnTo>
                <a:lnTo>
                  <a:pt x="63" y="61"/>
                </a:lnTo>
                <a:close/>
                <a:moveTo>
                  <a:pt x="63" y="45"/>
                </a:moveTo>
                <a:lnTo>
                  <a:pt x="63" y="53"/>
                </a:lnTo>
                <a:lnTo>
                  <a:pt x="116" y="53"/>
                </a:lnTo>
                <a:lnTo>
                  <a:pt x="116" y="45"/>
                </a:lnTo>
                <a:lnTo>
                  <a:pt x="63" y="45"/>
                </a:lnTo>
                <a:lnTo>
                  <a:pt x="63" y="45"/>
                </a:lnTo>
                <a:close/>
                <a:moveTo>
                  <a:pt x="63" y="29"/>
                </a:moveTo>
                <a:lnTo>
                  <a:pt x="63" y="35"/>
                </a:lnTo>
                <a:lnTo>
                  <a:pt x="116" y="35"/>
                </a:lnTo>
                <a:lnTo>
                  <a:pt x="116" y="29"/>
                </a:lnTo>
                <a:lnTo>
                  <a:pt x="63" y="29"/>
                </a:lnTo>
                <a:lnTo>
                  <a:pt x="63" y="29"/>
                </a:lnTo>
                <a:close/>
                <a:moveTo>
                  <a:pt x="84" y="130"/>
                </a:moveTo>
                <a:lnTo>
                  <a:pt x="96" y="130"/>
                </a:lnTo>
                <a:lnTo>
                  <a:pt x="106" y="130"/>
                </a:lnTo>
                <a:lnTo>
                  <a:pt x="96" y="118"/>
                </a:lnTo>
                <a:lnTo>
                  <a:pt x="86" y="108"/>
                </a:lnTo>
                <a:lnTo>
                  <a:pt x="86" y="120"/>
                </a:lnTo>
                <a:lnTo>
                  <a:pt x="84" y="130"/>
                </a:lnTo>
                <a:lnTo>
                  <a:pt x="84" y="130"/>
                </a:lnTo>
                <a:close/>
                <a:moveTo>
                  <a:pt x="161" y="37"/>
                </a:moveTo>
                <a:lnTo>
                  <a:pt x="96" y="100"/>
                </a:lnTo>
                <a:lnTo>
                  <a:pt x="116" y="120"/>
                </a:lnTo>
                <a:lnTo>
                  <a:pt x="181" y="57"/>
                </a:lnTo>
                <a:lnTo>
                  <a:pt x="161" y="37"/>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Tree>
    <p:extLst>
      <p:ext uri="{BB962C8B-B14F-4D97-AF65-F5344CB8AC3E}">
        <p14:creationId xmlns:p14="http://schemas.microsoft.com/office/powerpoint/2010/main" val="1362737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夏雨家 https://xnwe.taobao.com/">
  <a:themeElements>
    <a:clrScheme name="MC-欧美风主题色">
      <a:dk1>
        <a:srgbClr val="000000"/>
      </a:dk1>
      <a:lt1>
        <a:srgbClr val="FFFFFF"/>
      </a:lt1>
      <a:dk2>
        <a:srgbClr val="44546A"/>
      </a:dk2>
      <a:lt2>
        <a:srgbClr val="E7E6E6"/>
      </a:lt2>
      <a:accent1>
        <a:srgbClr val="268F9C"/>
      </a:accent1>
      <a:accent2>
        <a:srgbClr val="2A566E"/>
      </a:accent2>
      <a:accent3>
        <a:srgbClr val="D71D49"/>
      </a:accent3>
      <a:accent4>
        <a:srgbClr val="268F9C"/>
      </a:accent4>
      <a:accent5>
        <a:srgbClr val="2A566E"/>
      </a:accent5>
      <a:accent6>
        <a:srgbClr val="D71D49"/>
      </a:accent6>
      <a:hlink>
        <a:srgbClr val="0563C1"/>
      </a:hlink>
      <a:folHlink>
        <a:srgbClr val="954F72"/>
      </a:folHlink>
    </a:clrScheme>
    <a:fontScheme name="Arial+微软雅黑">
      <a:majorFont>
        <a:latin typeface="Arial"/>
        <a:ea typeface="微软雅黑"/>
        <a:cs typeface=""/>
      </a:majorFont>
      <a:minorFont>
        <a:latin typeface="Arial"/>
        <a:ea typeface="微软雅黑"/>
        <a:cs typeface=""/>
      </a:minorFont>
    </a:fontScheme>
    <a:fmtScheme name="烟灰色玻璃">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nchor="ctr">
        <a:spAutoFit/>
      </a:bodyPr>
      <a:lstStyle>
        <a:defPPr>
          <a:lnSpc>
            <a:spcPct val="120000"/>
          </a:lnSpc>
          <a:defRPr dirty="0" smtClean="0">
            <a:solidFill>
              <a:schemeClr val="tx1">
                <a:lumMod val="75000"/>
                <a:lumOff val="25000"/>
              </a:schemeClr>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12403</TotalTime>
  <Words>745</Words>
  <Application>Microsoft Office PowerPoint</Application>
  <PresentationFormat>宽屏</PresentationFormat>
  <Paragraphs>125</Paragraphs>
  <Slides>15</Slides>
  <Notes>15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15</vt:i4>
      </vt:variant>
    </vt:vector>
  </HeadingPairs>
  <TitlesOfParts>
    <vt:vector size="24" baseType="lpstr">
      <vt:lpstr>-apple-system</vt:lpstr>
      <vt:lpstr>等线</vt:lpstr>
      <vt:lpstr>微软雅黑</vt:lpstr>
      <vt:lpstr>Arial</vt:lpstr>
      <vt:lpstr>Calibri</vt:lpstr>
      <vt:lpstr>Cambria Math</vt:lpstr>
      <vt:lpstr>Lato</vt:lpstr>
      <vt:lpstr>Wingdings</vt:lpstr>
      <vt:lpstr>夏雨家 https://xnwe.taobao.com/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盈钢 邱</dc:creator>
  <cp:lastModifiedBy>盈钢 邱</cp:lastModifiedBy>
  <cp:revision>791</cp:revision>
  <dcterms:created xsi:type="dcterms:W3CDTF">2024-11-06T01:21:23Z</dcterms:created>
  <dcterms:modified xsi:type="dcterms:W3CDTF">2025-10-13T05:55:27Z</dcterms:modified>
</cp:coreProperties>
</file>