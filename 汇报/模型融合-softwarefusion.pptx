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380" r:id="rId2"/>
    <p:sldId id="381" r:id="rId3"/>
    <p:sldId id="382" r:id="rId4"/>
    <p:sldId id="366" r:id="rId5"/>
    <p:sldId id="373" r:id="rId6"/>
    <p:sldId id="375" r:id="rId7"/>
    <p:sldId id="38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E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0" autoAdjust="0"/>
    <p:restoredTop sz="79058" autoAdjust="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682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641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3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596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71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93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2025/6/22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9.png"/><Relationship Id="rId5" Type="http://schemas.openxmlformats.org/officeDocument/2006/relationships/image" Target="../media/image30.png"/><Relationship Id="rId10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EC7204B8-2A5A-80D3-AEF1-81597ECAB7D6}"/>
              </a:ext>
            </a:extLst>
          </p:cNvPr>
          <p:cNvSpPr txBox="1"/>
          <p:nvPr/>
        </p:nvSpPr>
        <p:spPr>
          <a:xfrm>
            <a:off x="986717" y="152873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代码搜索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689437-6ABB-B3CF-4587-41CA3A7CCA0B}"/>
              </a:ext>
            </a:extLst>
          </p:cNvPr>
          <p:cNvSpPr txBox="1"/>
          <p:nvPr/>
        </p:nvSpPr>
        <p:spPr>
          <a:xfrm>
            <a:off x="560991" y="92121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数据集 </a:t>
            </a:r>
            <a:r>
              <a:rPr lang="en-US" altLang="zh-CN" dirty="0" err="1">
                <a:latin typeface="+mn-ea"/>
              </a:rPr>
              <a:t>CodeSearchNet</a:t>
            </a:r>
            <a:endParaRPr lang="en-US" altLang="zh-CN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32554E-D314-17B9-B039-F0D5A5B8C4E9}"/>
              </a:ext>
            </a:extLst>
          </p:cNvPr>
          <p:cNvSpPr txBox="1"/>
          <p:nvPr/>
        </p:nvSpPr>
        <p:spPr>
          <a:xfrm>
            <a:off x="560991" y="133161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提示词模板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F3F0E8A-ABF4-02D6-F847-C67C1A46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89" y="1799890"/>
            <a:ext cx="8691503" cy="318881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357330B-A112-DE8C-E0F7-CF028B6ABAB4}"/>
              </a:ext>
            </a:extLst>
          </p:cNvPr>
          <p:cNvSpPr txBox="1"/>
          <p:nvPr/>
        </p:nvSpPr>
        <p:spPr>
          <a:xfrm>
            <a:off x="560991" y="515705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损失函数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FE3DD2-1705-C682-03B9-F2BC7A43FC53}"/>
              </a:ext>
            </a:extLst>
          </p:cNvPr>
          <p:cNvSpPr txBox="1"/>
          <p:nvPr/>
        </p:nvSpPr>
        <p:spPr>
          <a:xfrm>
            <a:off x="653589" y="552638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&lt;\s&gt;</a:t>
            </a:r>
            <a:r>
              <a:rPr lang="zh-CN" altLang="en-US" dirty="0"/>
              <a:t>的</a:t>
            </a:r>
            <a:r>
              <a:rPr lang="en-US" altLang="zh-CN" dirty="0"/>
              <a:t>logits</a:t>
            </a:r>
            <a:r>
              <a:rPr lang="zh-CN" altLang="en-US" dirty="0"/>
              <a:t>作为句子的</a:t>
            </a:r>
            <a:r>
              <a:rPr lang="en-US" altLang="zh-CN" dirty="0"/>
              <a:t>embedding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8806A2-575A-2970-A0D5-CC6FBEB73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340" y="5157057"/>
            <a:ext cx="59436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5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EC7204B8-2A5A-80D3-AEF1-81597ECAB7D6}"/>
              </a:ext>
            </a:extLst>
          </p:cNvPr>
          <p:cNvSpPr txBox="1"/>
          <p:nvPr/>
        </p:nvSpPr>
        <p:spPr>
          <a:xfrm>
            <a:off x="986717" y="152873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漏洞检测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689437-6ABB-B3CF-4587-41CA3A7CCA0B}"/>
              </a:ext>
            </a:extLst>
          </p:cNvPr>
          <p:cNvSpPr txBox="1"/>
          <p:nvPr/>
        </p:nvSpPr>
        <p:spPr>
          <a:xfrm>
            <a:off x="560991" y="921218"/>
            <a:ext cx="1058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数据集 </a:t>
            </a:r>
            <a:r>
              <a:rPr lang="en-US" altLang="zh-CN" dirty="0"/>
              <a:t>Benchmarking Large Language Models for Multi-Language Software Vulnerability Detection</a:t>
            </a:r>
            <a:endParaRPr lang="en-US" altLang="zh-CN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32554E-D314-17B9-B039-F0D5A5B8C4E9}"/>
              </a:ext>
            </a:extLst>
          </p:cNvPr>
          <p:cNvSpPr txBox="1"/>
          <p:nvPr/>
        </p:nvSpPr>
        <p:spPr>
          <a:xfrm>
            <a:off x="560991" y="133161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提示词模板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3623D00-A6DE-8197-D592-F7CA663FD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44" y="1880410"/>
            <a:ext cx="9327688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6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EC7204B8-2A5A-80D3-AEF1-81597ECAB7D6}"/>
              </a:ext>
            </a:extLst>
          </p:cNvPr>
          <p:cNvSpPr txBox="1"/>
          <p:nvPr/>
        </p:nvSpPr>
        <p:spPr>
          <a:xfrm>
            <a:off x="986717" y="152873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克隆检测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689437-6ABB-B3CF-4587-41CA3A7CCA0B}"/>
              </a:ext>
            </a:extLst>
          </p:cNvPr>
          <p:cNvSpPr txBox="1"/>
          <p:nvPr/>
        </p:nvSpPr>
        <p:spPr>
          <a:xfrm>
            <a:off x="560991" y="921218"/>
            <a:ext cx="1058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数据集 </a:t>
            </a:r>
            <a:r>
              <a:rPr lang="en-US" altLang="zh-CN" dirty="0" err="1"/>
              <a:t>BigCloneBench</a:t>
            </a:r>
            <a:endParaRPr lang="en-US" altLang="zh-CN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32554E-D314-17B9-B039-F0D5A5B8C4E9}"/>
              </a:ext>
            </a:extLst>
          </p:cNvPr>
          <p:cNvSpPr txBox="1"/>
          <p:nvPr/>
        </p:nvSpPr>
        <p:spPr>
          <a:xfrm>
            <a:off x="560991" y="133161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提示词模板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57330B-A112-DE8C-E0F7-CF028B6ABAB4}"/>
              </a:ext>
            </a:extLst>
          </p:cNvPr>
          <p:cNvSpPr txBox="1"/>
          <p:nvPr/>
        </p:nvSpPr>
        <p:spPr>
          <a:xfrm>
            <a:off x="560991" y="515705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损失函数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FE3DD2-1705-C682-03B9-F2BC7A43FC53}"/>
              </a:ext>
            </a:extLst>
          </p:cNvPr>
          <p:cNvSpPr txBox="1"/>
          <p:nvPr/>
        </p:nvSpPr>
        <p:spPr>
          <a:xfrm>
            <a:off x="560991" y="557034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&lt;\s&gt;</a:t>
            </a:r>
            <a:r>
              <a:rPr lang="zh-CN" altLang="en-US" dirty="0"/>
              <a:t>的</a:t>
            </a:r>
            <a:r>
              <a:rPr lang="en-US" altLang="zh-CN" dirty="0"/>
              <a:t>logits</a:t>
            </a:r>
            <a:r>
              <a:rPr lang="zh-CN" altLang="en-US" dirty="0"/>
              <a:t>作为代码的</a:t>
            </a:r>
            <a:r>
              <a:rPr lang="en-US" altLang="zh-CN" dirty="0"/>
              <a:t>embedding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3336AB-3519-3B18-559E-D35FA3517BA2}"/>
              </a:ext>
            </a:extLst>
          </p:cNvPr>
          <p:cNvSpPr txBox="1"/>
          <p:nvPr/>
        </p:nvSpPr>
        <p:spPr>
          <a:xfrm>
            <a:off x="560990" y="5983623"/>
            <a:ext cx="7807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计算两个代码</a:t>
            </a:r>
            <a:r>
              <a:rPr lang="en-US" altLang="zh-CN" dirty="0"/>
              <a:t>embedding</a:t>
            </a:r>
            <a:r>
              <a:rPr lang="zh-CN" altLang="en-US" dirty="0"/>
              <a:t>的余弦相似度，然后用归一化的相似度作为概率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50536B-5D55-BA1B-78D3-C2F790011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19" y="1798058"/>
            <a:ext cx="9025385" cy="3298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3418D5-2DB9-9670-5686-68BE1D839629}"/>
              </a:ext>
            </a:extLst>
          </p:cNvPr>
          <p:cNvSpPr txBox="1"/>
          <p:nvPr/>
        </p:nvSpPr>
        <p:spPr>
          <a:xfrm>
            <a:off x="560991" y="635295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用交叉熵作为损失函数</a:t>
            </a:r>
          </a:p>
        </p:txBody>
      </p:sp>
    </p:spTree>
    <p:extLst>
      <p:ext uri="{BB962C8B-B14F-4D97-AF65-F5344CB8AC3E}">
        <p14:creationId xmlns:p14="http://schemas.microsoft.com/office/powerpoint/2010/main" val="366698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任务算术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14B12B-7266-7F3C-D146-4F9E63FBF4F1}"/>
              </a:ext>
            </a:extLst>
          </p:cNvPr>
          <p:cNvSpPr txBox="1"/>
          <p:nvPr/>
        </p:nvSpPr>
        <p:spPr>
          <a:xfrm>
            <a:off x="295272" y="868027"/>
            <a:ext cx="1406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任务向量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2CFC2B-DBD6-39BF-FCD4-6DB494763438}"/>
                  </a:ext>
                </a:extLst>
              </p:cNvPr>
              <p:cNvSpPr txBox="1"/>
              <p:nvPr/>
            </p:nvSpPr>
            <p:spPr>
              <a:xfrm>
                <a:off x="927308" y="3021762"/>
                <a:ext cx="223383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2CFC2B-DBD6-39BF-FCD4-6DB494763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308" y="3021762"/>
                <a:ext cx="2233830" cy="390748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6BE55978-9755-0CE2-8524-5E169B3833C6}"/>
              </a:ext>
            </a:extLst>
          </p:cNvPr>
          <p:cNvGrpSpPr/>
          <p:nvPr/>
        </p:nvGrpSpPr>
        <p:grpSpPr>
          <a:xfrm>
            <a:off x="1484763" y="1522687"/>
            <a:ext cx="1289789" cy="1499075"/>
            <a:chOff x="6115378" y="4344973"/>
            <a:chExt cx="1289789" cy="1499075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4880826-308E-3A40-AF30-4457180FB3B9}"/>
                </a:ext>
              </a:extLst>
            </p:cNvPr>
            <p:cNvSpPr/>
            <p:nvPr/>
          </p:nvSpPr>
          <p:spPr>
            <a:xfrm rot="236175">
              <a:off x="6984187" y="4344973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BA96888-5D25-483C-9EEE-3716CCB53F40}"/>
                </a:ext>
              </a:extLst>
            </p:cNvPr>
            <p:cNvSpPr/>
            <p:nvPr/>
          </p:nvSpPr>
          <p:spPr>
            <a:xfrm rot="21139809">
              <a:off x="6115378" y="5334309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929F2E2-C21E-DB7B-1BFA-BE40BC0CC31B}"/>
                </a:ext>
              </a:extLst>
            </p:cNvPr>
            <p:cNvCxnSpPr>
              <a:stCxn id="18" idx="7"/>
              <a:endCxn id="17" idx="3"/>
            </p:cNvCxnSpPr>
            <p:nvPr/>
          </p:nvCxnSpPr>
          <p:spPr>
            <a:xfrm flipV="1">
              <a:off x="6332265" y="4568243"/>
              <a:ext cx="685147" cy="79364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D398C5B-FBA4-1B27-0359-2EFBAE9D4BED}"/>
                    </a:ext>
                  </a:extLst>
                </p:cNvPr>
                <p:cNvSpPr txBox="1"/>
                <p:nvPr/>
              </p:nvSpPr>
              <p:spPr>
                <a:xfrm>
                  <a:off x="7117301" y="4568243"/>
                  <a:ext cx="28786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D398C5B-FBA4-1B27-0359-2EFBAE9D4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7301" y="4568243"/>
                  <a:ext cx="287866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1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91C83D2B-A288-6CFA-B0B2-9912EF1675A7}"/>
                    </a:ext>
                  </a:extLst>
                </p:cNvPr>
                <p:cNvSpPr txBox="1"/>
                <p:nvPr/>
              </p:nvSpPr>
              <p:spPr>
                <a:xfrm>
                  <a:off x="6299994" y="5486514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91C83D2B-A288-6CFA-B0B2-9912EF167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994" y="5486514"/>
                  <a:ext cx="718271" cy="357534"/>
                </a:xfrm>
                <a:prstGeom prst="rect">
                  <a:avLst/>
                </a:prstGeom>
                <a:blipFill>
                  <a:blip r:embed="rId5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9273F1-CAAA-45A7-9C63-4DFAF0F38086}"/>
                  </a:ext>
                </a:extLst>
              </p:cNvPr>
              <p:cNvSpPr txBox="1"/>
              <p:nvPr/>
            </p:nvSpPr>
            <p:spPr>
              <a:xfrm>
                <a:off x="4150203" y="3044991"/>
                <a:ext cx="223383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B9273F1-CAAA-45A7-9C63-4DFAF0F38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203" y="3044991"/>
                <a:ext cx="2233830" cy="390748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24CBBEE6-0F74-8DD0-668D-1EB12D8C6992}"/>
              </a:ext>
            </a:extLst>
          </p:cNvPr>
          <p:cNvGrpSpPr/>
          <p:nvPr/>
        </p:nvGrpSpPr>
        <p:grpSpPr>
          <a:xfrm>
            <a:off x="4445637" y="1657446"/>
            <a:ext cx="1439395" cy="1367456"/>
            <a:chOff x="9076252" y="4479732"/>
            <a:chExt cx="1439395" cy="1367456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6183A4D-F33B-358E-60F9-946C5D9E2590}"/>
                </a:ext>
              </a:extLst>
            </p:cNvPr>
            <p:cNvSpPr/>
            <p:nvPr/>
          </p:nvSpPr>
          <p:spPr>
            <a:xfrm rot="632968">
              <a:off x="10245647" y="4736816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FBE59AD-6870-3652-AD55-D91CC343B945}"/>
                </a:ext>
              </a:extLst>
            </p:cNvPr>
            <p:cNvSpPr/>
            <p:nvPr/>
          </p:nvSpPr>
          <p:spPr>
            <a:xfrm rot="949565">
              <a:off x="9300387" y="5305900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9FF13E17-427D-4D13-3B45-AA89C8DD3454}"/>
                </a:ext>
              </a:extLst>
            </p:cNvPr>
            <p:cNvCxnSpPr>
              <a:stCxn id="24" idx="7"/>
              <a:endCxn id="23" idx="3"/>
            </p:cNvCxnSpPr>
            <p:nvPr/>
          </p:nvCxnSpPr>
          <p:spPr>
            <a:xfrm flipV="1">
              <a:off x="9553215" y="4947776"/>
              <a:ext cx="716141" cy="42723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2234A3-FB77-C3DB-72F5-51B006E3C647}"/>
                    </a:ext>
                  </a:extLst>
                </p:cNvPr>
                <p:cNvSpPr txBox="1"/>
                <p:nvPr/>
              </p:nvSpPr>
              <p:spPr>
                <a:xfrm>
                  <a:off x="9937239" y="4479732"/>
                  <a:ext cx="28786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32234A3-FB77-C3DB-72F5-51B006E3C6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7239" y="4479732"/>
                  <a:ext cx="287866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170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F621D17-9B8F-4DDB-E169-738AB6E8EDA4}"/>
                    </a:ext>
                  </a:extLst>
                </p:cNvPr>
                <p:cNvSpPr txBox="1"/>
                <p:nvPr/>
              </p:nvSpPr>
              <p:spPr>
                <a:xfrm>
                  <a:off x="9076252" y="5489654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F621D17-9B8F-4DDB-E169-738AB6E8E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6252" y="5489654"/>
                  <a:ext cx="718271" cy="357534"/>
                </a:xfrm>
                <a:prstGeom prst="rect">
                  <a:avLst/>
                </a:prstGeom>
                <a:blipFill>
                  <a:blip r:embed="rId8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椭圆 36">
            <a:extLst>
              <a:ext uri="{FF2B5EF4-FFF2-40B4-BE49-F238E27FC236}">
                <a16:creationId xmlns:a16="http://schemas.microsoft.com/office/drawing/2014/main" id="{C14907CD-BD7A-694C-627C-87B6CE31AAF1}"/>
              </a:ext>
            </a:extLst>
          </p:cNvPr>
          <p:cNvSpPr/>
          <p:nvPr/>
        </p:nvSpPr>
        <p:spPr>
          <a:xfrm rot="1274678">
            <a:off x="1015239" y="5612719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1E93BA0-2868-2120-38F5-5678F0E77D17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273739" y="4846653"/>
            <a:ext cx="643534" cy="84660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929040-45A0-4BC7-6CBA-1AFEEE9F6471}"/>
                  </a:ext>
                </a:extLst>
              </p:cNvPr>
              <p:cNvSpPr txBox="1"/>
              <p:nvPr/>
            </p:nvSpPr>
            <p:spPr>
              <a:xfrm>
                <a:off x="1194099" y="4931635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4929040-45A0-4BC7-6CBA-1AFEEE9F6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099" y="4931635"/>
                <a:ext cx="287866" cy="338554"/>
              </a:xfrm>
              <a:prstGeom prst="rect">
                <a:avLst/>
              </a:prstGeom>
              <a:blipFill>
                <a:blip r:embed="rId9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D2C1298-8F64-DD6A-C0A4-8EADB7A468CE}"/>
                  </a:ext>
                </a:extLst>
              </p:cNvPr>
              <p:cNvSpPr txBox="1"/>
              <p:nvPr/>
            </p:nvSpPr>
            <p:spPr>
              <a:xfrm>
                <a:off x="998461" y="5872521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D2C1298-8F64-DD6A-C0A4-8EADB7A46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61" y="5872521"/>
                <a:ext cx="718271" cy="357534"/>
              </a:xfrm>
              <a:prstGeom prst="rect">
                <a:avLst/>
              </a:prstGeom>
              <a:blipFill>
                <a:blip r:embed="rId10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14ACC3C-DB25-491A-8AD8-D5074D3173FA}"/>
              </a:ext>
            </a:extLst>
          </p:cNvPr>
          <p:cNvCxnSpPr>
            <a:cxnSpLocks/>
            <a:stCxn id="37" idx="7"/>
          </p:cNvCxnSpPr>
          <p:nvPr/>
        </p:nvCxnSpPr>
        <p:spPr>
          <a:xfrm>
            <a:off x="1273739" y="5693254"/>
            <a:ext cx="1094596" cy="179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2A995A8-D542-8A75-6C11-34122D88EF1A}"/>
              </a:ext>
            </a:extLst>
          </p:cNvPr>
          <p:cNvCxnSpPr>
            <a:cxnSpLocks/>
          </p:cNvCxnSpPr>
          <p:nvPr/>
        </p:nvCxnSpPr>
        <p:spPr>
          <a:xfrm>
            <a:off x="1938499" y="4845624"/>
            <a:ext cx="1136209" cy="232220"/>
          </a:xfrm>
          <a:prstGeom prst="straightConnector1">
            <a:avLst/>
          </a:prstGeom>
          <a:ln w="28575">
            <a:solidFill>
              <a:srgbClr val="D71D49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4DB7B61-8407-C325-4E45-0880CA6300E5}"/>
              </a:ext>
            </a:extLst>
          </p:cNvPr>
          <p:cNvCxnSpPr>
            <a:cxnSpLocks/>
          </p:cNvCxnSpPr>
          <p:nvPr/>
        </p:nvCxnSpPr>
        <p:spPr>
          <a:xfrm flipV="1">
            <a:off x="2410787" y="5078873"/>
            <a:ext cx="685147" cy="793648"/>
          </a:xfrm>
          <a:prstGeom prst="straightConnector1">
            <a:avLst/>
          </a:prstGeom>
          <a:ln w="38100">
            <a:solidFill>
              <a:srgbClr val="00B0F0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8D0E2C0-C17B-182D-C4AE-0DABC11C7A73}"/>
                  </a:ext>
                </a:extLst>
              </p:cNvPr>
              <p:cNvSpPr txBox="1"/>
              <p:nvPr/>
            </p:nvSpPr>
            <p:spPr>
              <a:xfrm>
                <a:off x="1615251" y="5716509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8D0E2C0-C17B-182D-C4AE-0DABC11C7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251" y="5716509"/>
                <a:ext cx="287866" cy="338554"/>
              </a:xfrm>
              <a:prstGeom prst="rect">
                <a:avLst/>
              </a:prstGeom>
              <a:blipFill>
                <a:blip r:embed="rId11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7AD1F90-38FD-DBAC-3373-7A20A415AB49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273739" y="5109618"/>
            <a:ext cx="1757108" cy="583636"/>
          </a:xfrm>
          <a:prstGeom prst="straightConnector1">
            <a:avLst/>
          </a:prstGeom>
          <a:ln w="19050">
            <a:solidFill>
              <a:srgbClr val="1AE43C">
                <a:alpha val="45882"/>
              </a:srgb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12A3614-08F7-010C-873B-E201F5DC4925}"/>
                  </a:ext>
                </a:extLst>
              </p:cNvPr>
              <p:cNvSpPr txBox="1"/>
              <p:nvPr/>
            </p:nvSpPr>
            <p:spPr>
              <a:xfrm>
                <a:off x="1963522" y="5377863"/>
                <a:ext cx="1909575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12A3614-08F7-010C-873B-E201F5DC4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522" y="5377863"/>
                <a:ext cx="1909575" cy="358560"/>
              </a:xfrm>
              <a:prstGeom prst="rect">
                <a:avLst/>
              </a:prstGeom>
              <a:blipFill>
                <a:blip r:embed="rId12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73235252-BB29-9536-B41A-85C4C9D8687D}"/>
              </a:ext>
            </a:extLst>
          </p:cNvPr>
          <p:cNvSpPr txBox="1"/>
          <p:nvPr/>
        </p:nvSpPr>
        <p:spPr>
          <a:xfrm>
            <a:off x="291527" y="3963274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任务融合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C865A8A-72BD-3DDF-C7F2-201C5B407A5D}"/>
              </a:ext>
            </a:extLst>
          </p:cNvPr>
          <p:cNvSpPr txBox="1"/>
          <p:nvPr/>
        </p:nvSpPr>
        <p:spPr>
          <a:xfrm>
            <a:off x="4449618" y="4350448"/>
            <a:ext cx="4877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latin typeface="+mn-ea"/>
              </a:rPr>
              <a:t>在实验中，使用</a:t>
            </a:r>
            <a:r>
              <a:rPr lang="en-US" altLang="zh-CN" dirty="0">
                <a:latin typeface="+mn-ea"/>
              </a:rPr>
              <a:t>lora</a:t>
            </a:r>
            <a:r>
              <a:rPr lang="zh-CN" altLang="en-US" dirty="0">
                <a:latin typeface="+mn-ea"/>
              </a:rPr>
              <a:t>进行微调，任务向量直接使用微调后的</a:t>
            </a:r>
            <a:r>
              <a:rPr lang="en-US" altLang="zh-CN" dirty="0">
                <a:latin typeface="+mn-ea"/>
              </a:rPr>
              <a:t>lora</a:t>
            </a:r>
            <a:r>
              <a:rPr lang="zh-CN" altLang="en-US" dirty="0">
                <a:latin typeface="+mn-ea"/>
              </a:rPr>
              <a:t>参数</a:t>
            </a:r>
            <a:endParaRPr lang="en-US" altLang="zh-CN" dirty="0">
              <a:latin typeface="+mn-ea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E74808A-1B5A-B2BE-1C9E-B9C85A083A8E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273739" y="5344263"/>
            <a:ext cx="1113058" cy="348991"/>
          </a:xfrm>
          <a:prstGeom prst="straightConnector1">
            <a:avLst/>
          </a:prstGeom>
          <a:ln w="38100">
            <a:solidFill>
              <a:srgbClr val="1AE43C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08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9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0BA65B-8C4A-5970-45A3-52B5FF4799E7}"/>
              </a:ext>
            </a:extLst>
          </p:cNvPr>
          <p:cNvSpPr txBox="1"/>
          <p:nvPr/>
        </p:nvSpPr>
        <p:spPr>
          <a:xfrm>
            <a:off x="309560" y="795316"/>
            <a:ext cx="1147926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背景：</a:t>
            </a:r>
            <a:r>
              <a:rPr lang="zh-CN" altLang="en-US" dirty="0">
                <a:latin typeface="+mn-ea"/>
              </a:rPr>
              <a:t>在任务算术中，并没有考虑参数之间的干扰</a:t>
            </a:r>
            <a:endParaRPr lang="en-US" altLang="zh-CN" dirty="0">
              <a:latin typeface="+mn-ea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参数冗余：一些参数再微调时只有些许改变，对性能影响不大，但对模型合并会造成较大影响</a:t>
            </a:r>
            <a:endParaRPr lang="en-US" altLang="zh-CN" dirty="0">
              <a:latin typeface="+mn-ea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符号冲突：不同模型在同一参数上可能符号不同，这是直接合并会缩小该参数的大小，对模型的性能造成影响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CF024C-E29F-39BF-F891-703FFC95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57" y="2561329"/>
            <a:ext cx="6071685" cy="3725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842E2C-DCF0-108C-D577-44997673F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86" y="2403246"/>
            <a:ext cx="11705808" cy="41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训练获得融合系数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521D9-2456-A13F-0A85-5D861B06BF87}"/>
              </a:ext>
            </a:extLst>
          </p:cNvPr>
          <p:cNvSpPr txBox="1"/>
          <p:nvPr/>
        </p:nvSpPr>
        <p:spPr>
          <a:xfrm>
            <a:off x="343852" y="871215"/>
            <a:ext cx="120348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方法：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每个任务向量权重系数相同时参数之间会有干扰，搜索又太花费时间和资源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直接通过训练自动的获得每个任务向量的权重系数</a:t>
            </a:r>
            <a:endParaRPr lang="en-US" altLang="zh-CN" dirty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权重系数分为求每个任务向量的权重系数（</a:t>
            </a:r>
            <a:r>
              <a:rPr lang="en-US" altLang="zh-CN" dirty="0"/>
              <a:t>Task-wise</a:t>
            </a:r>
            <a:r>
              <a:rPr lang="zh-CN" altLang="en-US" dirty="0"/>
              <a:t>）、求每个任务向量每一层的权重系数（</a:t>
            </a:r>
            <a:r>
              <a:rPr lang="en-US" altLang="zh-CN" dirty="0"/>
              <a:t>Layer-wise 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5A8931-7032-E16A-235F-D3B81F08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901" y="3075325"/>
            <a:ext cx="2839560" cy="29127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BAF7898-2192-5A05-10A6-4540F14AD0DB}"/>
              </a:ext>
            </a:extLst>
          </p:cNvPr>
          <p:cNvSpPr txBox="1"/>
          <p:nvPr/>
        </p:nvSpPr>
        <p:spPr>
          <a:xfrm>
            <a:off x="2586770" y="5918051"/>
            <a:ext cx="1710910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/>
              <a:t>(a) </a:t>
            </a:r>
            <a:r>
              <a:rPr lang="zh-CN" altLang="en-US" sz="1600" dirty="0"/>
              <a:t>为每个任务向量分配权重系数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97742E-2227-A2BC-0E7D-AEFEAEE0B137}"/>
              </a:ext>
            </a:extLst>
          </p:cNvPr>
          <p:cNvSpPr txBox="1"/>
          <p:nvPr/>
        </p:nvSpPr>
        <p:spPr>
          <a:xfrm>
            <a:off x="7495016" y="5918051"/>
            <a:ext cx="2488134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/>
              <a:t>(b) </a:t>
            </a:r>
            <a:r>
              <a:rPr lang="zh-CN" altLang="en-US" sz="1600" dirty="0"/>
              <a:t>为每个任务向量每一层分配权重系数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2ACF4B-EB8E-0118-2628-6D96ED18C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368" y="3095064"/>
            <a:ext cx="2945430" cy="258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3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85A764-96C6-EB93-A125-1CA25C091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" y="887477"/>
            <a:ext cx="11610975" cy="26384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AA3CDE-7EC6-813A-FBD9-55AEE1CFB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4" y="4133833"/>
            <a:ext cx="12055152" cy="195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3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5437</TotalTime>
  <Words>292</Words>
  <Application>Microsoft Office PowerPoint</Application>
  <PresentationFormat>宽屏</PresentationFormat>
  <Paragraphs>48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微软雅黑</vt:lpstr>
      <vt:lpstr>Arial</vt:lpstr>
      <vt:lpstr>Cambria Math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401</cp:revision>
  <dcterms:created xsi:type="dcterms:W3CDTF">2024-11-06T01:21:23Z</dcterms:created>
  <dcterms:modified xsi:type="dcterms:W3CDTF">2025-06-22T07:32:43Z</dcterms:modified>
</cp:coreProperties>
</file>