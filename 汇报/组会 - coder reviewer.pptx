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9"/>
  </p:notesMasterIdLst>
  <p:sldIdLst>
    <p:sldId id="325" r:id="rId2"/>
    <p:sldId id="376" r:id="rId3"/>
    <p:sldId id="397" r:id="rId4"/>
    <p:sldId id="398" r:id="rId5"/>
    <p:sldId id="403" r:id="rId6"/>
    <p:sldId id="404" r:id="rId7"/>
    <p:sldId id="405" r:id="rId8"/>
    <p:sldId id="408" r:id="rId9"/>
    <p:sldId id="406" r:id="rId10"/>
    <p:sldId id="409" r:id="rId11"/>
    <p:sldId id="407" r:id="rId12"/>
    <p:sldId id="410" r:id="rId13"/>
    <p:sldId id="412" r:id="rId14"/>
    <p:sldId id="413" r:id="rId15"/>
    <p:sldId id="414" r:id="rId16"/>
    <p:sldId id="415" r:id="rId17"/>
    <p:sldId id="36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84AEC"/>
    <a:srgbClr val="1AE43C"/>
    <a:srgbClr val="FD0004"/>
    <a:srgbClr val="0101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4" autoAdjust="0"/>
    <p:restoredTop sz="79082" autoAdjust="0"/>
  </p:normalViewPr>
  <p:slideViewPr>
    <p:cSldViewPr snapToGrid="0">
      <p:cViewPr>
        <p:scale>
          <a:sx n="66" d="100"/>
          <a:sy n="66" d="100"/>
        </p:scale>
        <p:origin x="907" y="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0.54879999999999995</c:v>
                </c:pt>
                <c:pt idx="1">
                  <c:v>5.5E-2</c:v>
                </c:pt>
                <c:pt idx="2">
                  <c:v>0.14960000000000001</c:v>
                </c:pt>
                <c:pt idx="3">
                  <c:v>0.24660000000000001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30-43D3-AF9A-0F55616EC2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73677455"/>
        <c:axId val="1573675535"/>
      </c:barChart>
      <c:dateAx>
        <c:axId val="1573677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73675535"/>
        <c:crosses val="autoZero"/>
        <c:auto val="0"/>
        <c:lblOffset val="100"/>
        <c:baseTimeUnit val="days"/>
      </c:dateAx>
      <c:valAx>
        <c:axId val="1573675535"/>
        <c:scaling>
          <c:orientation val="minMax"/>
          <c:max val="1"/>
        </c:scaling>
        <c:delete val="1"/>
        <c:axPos val="l"/>
        <c:numFmt formatCode="General" sourceLinked="1"/>
        <c:majorTickMark val="none"/>
        <c:minorTickMark val="none"/>
        <c:tickLblPos val="nextTo"/>
        <c:crossAx val="15736774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0.84940000000000004</c:v>
                </c:pt>
                <c:pt idx="1">
                  <c:v>2.7000000000000001E-3</c:v>
                </c:pt>
                <c:pt idx="2">
                  <c:v>3.2899999999999999E-2</c:v>
                </c:pt>
                <c:pt idx="3">
                  <c:v>0.115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B3-4BCA-88B9-5B931ED3E7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73677455"/>
        <c:axId val="1573675535"/>
      </c:barChart>
      <c:dateAx>
        <c:axId val="1573677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73675535"/>
        <c:crosses val="autoZero"/>
        <c:auto val="0"/>
        <c:lblOffset val="100"/>
        <c:baseTimeUnit val="days"/>
      </c:dateAx>
      <c:valAx>
        <c:axId val="1573675535"/>
        <c:scaling>
          <c:orientation val="minMax"/>
          <c:max val="1"/>
        </c:scaling>
        <c:delete val="1"/>
        <c:axPos val="l"/>
        <c:numFmt formatCode="General" sourceLinked="1"/>
        <c:majorTickMark val="none"/>
        <c:minorTickMark val="none"/>
        <c:tickLblPos val="nextTo"/>
        <c:crossAx val="15736774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0.39860000000000001</c:v>
                </c:pt>
                <c:pt idx="1">
                  <c:v>0.12620000000000001</c:v>
                </c:pt>
                <c:pt idx="2">
                  <c:v>0.20810000000000001</c:v>
                </c:pt>
                <c:pt idx="3">
                  <c:v>0.26719999999999999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DC-4C86-BD30-A8CC8F026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73677455"/>
        <c:axId val="1573675535"/>
      </c:barChart>
      <c:dateAx>
        <c:axId val="1573677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73675535"/>
        <c:crosses val="autoZero"/>
        <c:auto val="0"/>
        <c:lblOffset val="100"/>
        <c:baseTimeUnit val="days"/>
      </c:dateAx>
      <c:valAx>
        <c:axId val="1573675535"/>
        <c:scaling>
          <c:orientation val="minMax"/>
          <c:max val="1"/>
        </c:scaling>
        <c:delete val="1"/>
        <c:axPos val="l"/>
        <c:numFmt formatCode="General" sourceLinked="1"/>
        <c:majorTickMark val="none"/>
        <c:minorTickMark val="none"/>
        <c:tickLblPos val="nextTo"/>
        <c:crossAx val="15736774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0.3</c:v>
                </c:pt>
                <c:pt idx="2">
                  <c:v>0.06</c:v>
                </c:pt>
                <c:pt idx="3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EF-4523-955E-8C3E8F9230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73677455"/>
        <c:axId val="1573675535"/>
      </c:barChart>
      <c:dateAx>
        <c:axId val="15736774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73675535"/>
        <c:crosses val="autoZero"/>
        <c:auto val="0"/>
        <c:lblOffset val="100"/>
        <c:baseTimeUnit val="days"/>
      </c:dateAx>
      <c:valAx>
        <c:axId val="1573675535"/>
        <c:scaling>
          <c:orientation val="minMax"/>
          <c:max val="1"/>
        </c:scaling>
        <c:delete val="1"/>
        <c:axPos val="l"/>
        <c:numFmt formatCode="General" sourceLinked="1"/>
        <c:majorTickMark val="none"/>
        <c:minorTickMark val="none"/>
        <c:tickLblPos val="nextTo"/>
        <c:crossAx val="15736774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20703-AF86-4F31-B9FB-F7B8355B7ACE}" type="datetimeFigureOut">
              <a:rPr lang="zh-CN" altLang="en-US" smtClean="0"/>
              <a:t>2025/5/9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741DC-E11E-424D-8624-63C2B9FB9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26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zh-CN" altLang="en-US" b="0" i="0" u="none" dirty="0">
              <a:solidFill>
                <a:srgbClr val="2440B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4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441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9003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1336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1911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6794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9802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7414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8371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0135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763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2438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2662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4661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1777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25757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/>
            <a:endParaRPr lang="zh-CN" altLang="en-US" b="0" i="0" dirty="0">
              <a:effectLst/>
              <a:latin typeface="-apple-system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C0232-94FA-4EBE-BB9B-79FBE486032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8671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1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87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doors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过度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787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92794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prism isInverted="1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29802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49176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flip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56097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gallery dir="l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1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07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:blinds dir="vert"/>
      </p:transition>
    </mc:Choice>
    <mc:Fallback xmlns="">
      <p:transition spd="slow" advClick="0" advTm="5000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80F42DC0-2E3F-F440-A3AA-64F0AA1F84F2}" type="datetime1">
              <a:rPr lang="zh-CN" altLang="en-US"/>
              <a:t>2025/5/9</a:t>
            </a:fld>
            <a:endParaRPr lang="zh-CN" altLang="en-US" sz="19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C5FC99A0-26D8-5E4B-82FB-70809BCEE9F6}" type="slidenum">
              <a:rPr lang="zh-CN" altLang="en-US"/>
              <a:t>‹#›</a:t>
            </a:fld>
            <a:endParaRPr lang="zh-CN" altLang="en-US" sz="1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84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509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116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doors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275040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94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850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doors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1070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36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60" r:id="rId11"/>
    <p:sldLayoutId id="2147483672" r:id="rId12"/>
    <p:sldLayoutId id="2147483673" r:id="rId13"/>
    <p:sldLayoutId id="2147483716" r:id="rId14"/>
    <p:sldLayoutId id="2147483717" r:id="rId15"/>
    <p:sldLayoutId id="2147483718" r:id="rId16"/>
  </p:sldLayoutIdLst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26" Type="http://schemas.openxmlformats.org/officeDocument/2006/relationships/image" Target="../media/image45.png"/><Relationship Id="rId3" Type="http://schemas.openxmlformats.org/officeDocument/2006/relationships/image" Target="../media/image3.png"/><Relationship Id="rId21" Type="http://schemas.openxmlformats.org/officeDocument/2006/relationships/image" Target="../media/image40.png"/><Relationship Id="rId7" Type="http://schemas.openxmlformats.org/officeDocument/2006/relationships/image" Target="../media/image7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5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30.png"/><Relationship Id="rId24" Type="http://schemas.openxmlformats.org/officeDocument/2006/relationships/image" Target="../media/image43.png"/><Relationship Id="rId5" Type="http://schemas.openxmlformats.org/officeDocument/2006/relationships/image" Target="../media/image5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28" Type="http://schemas.openxmlformats.org/officeDocument/2006/relationships/image" Target="../media/image47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4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Relationship Id="rId27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26" Type="http://schemas.openxmlformats.org/officeDocument/2006/relationships/image" Target="../media/image43.png"/><Relationship Id="rId3" Type="http://schemas.openxmlformats.org/officeDocument/2006/relationships/image" Target="../media/image3.png"/><Relationship Id="rId21" Type="http://schemas.openxmlformats.org/officeDocument/2006/relationships/image" Target="../media/image38.png"/><Relationship Id="rId7" Type="http://schemas.openxmlformats.org/officeDocument/2006/relationships/image" Target="../media/image7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5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28.png"/><Relationship Id="rId24" Type="http://schemas.openxmlformats.org/officeDocument/2006/relationships/image" Target="../media/image41.png"/><Relationship Id="rId32" Type="http://schemas.openxmlformats.org/officeDocument/2006/relationships/image" Target="../media/image52.png"/><Relationship Id="rId5" Type="http://schemas.openxmlformats.org/officeDocument/2006/relationships/image" Target="../media/image5.png"/><Relationship Id="rId15" Type="http://schemas.openxmlformats.org/officeDocument/2006/relationships/image" Target="../media/image32.png"/><Relationship Id="rId23" Type="http://schemas.openxmlformats.org/officeDocument/2006/relationships/image" Target="../media/image40.png"/><Relationship Id="rId28" Type="http://schemas.openxmlformats.org/officeDocument/2006/relationships/image" Target="../media/image45.png"/><Relationship Id="rId10" Type="http://schemas.openxmlformats.org/officeDocument/2006/relationships/image" Target="../media/image47.png"/><Relationship Id="rId19" Type="http://schemas.openxmlformats.org/officeDocument/2006/relationships/image" Target="../media/image36.png"/><Relationship Id="rId31" Type="http://schemas.openxmlformats.org/officeDocument/2006/relationships/image" Target="../media/image51.png"/><Relationship Id="rId4" Type="http://schemas.openxmlformats.org/officeDocument/2006/relationships/image" Target="../media/image4.png"/><Relationship Id="rId9" Type="http://schemas.openxmlformats.org/officeDocument/2006/relationships/image" Target="../media/image48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44.png"/><Relationship Id="rId30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5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6" Type="http://schemas.openxmlformats.org/officeDocument/2006/relationships/chart" Target="../charts/chart2.xml"/><Relationship Id="rId20" Type="http://schemas.openxmlformats.org/officeDocument/2006/relationships/chart" Target="../charts/chart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chart" Target="../charts/chart1.xml"/><Relationship Id="rId10" Type="http://schemas.openxmlformats.org/officeDocument/2006/relationships/image" Target="../media/image60.png"/><Relationship Id="rId19" Type="http://schemas.openxmlformats.org/officeDocument/2006/relationships/image" Target="../media/image66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8.sv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svg"/><Relationship Id="rId9" Type="http://schemas.openxmlformats.org/officeDocument/2006/relationships/image" Target="../media/image8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12669" y="3863873"/>
            <a:ext cx="10966661" cy="45719"/>
            <a:chOff x="5280505" y="3963496"/>
            <a:chExt cx="5863771" cy="57767"/>
          </a:xfrm>
          <a:solidFill>
            <a:schemeClr val="tx1"/>
          </a:solidFill>
        </p:grpSpPr>
        <p:sp>
          <p:nvSpPr>
            <p:cNvPr id="6" name="任意多边形 16"/>
            <p:cNvSpPr/>
            <p:nvPr/>
          </p:nvSpPr>
          <p:spPr>
            <a:xfrm>
              <a:off x="5280505" y="3992380"/>
              <a:ext cx="5863771" cy="0"/>
            </a:xfrm>
            <a:custGeom>
              <a:avLst/>
              <a:gdLst>
                <a:gd name="connsiteX0" fmla="*/ 0 w 5863771"/>
                <a:gd name="connsiteY0" fmla="*/ 0 h 0"/>
                <a:gd name="connsiteX1" fmla="*/ 58057 w 5863771"/>
                <a:gd name="connsiteY1" fmla="*/ 0 h 0"/>
                <a:gd name="connsiteX2" fmla="*/ 5863771 w 5863771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63771">
                  <a:moveTo>
                    <a:pt x="0" y="0"/>
                  </a:moveTo>
                  <a:lnTo>
                    <a:pt x="58057" y="0"/>
                  </a:lnTo>
                  <a:lnTo>
                    <a:pt x="5863771" y="0"/>
                  </a:ln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圆角矩形 17"/>
            <p:cNvSpPr/>
            <p:nvPr/>
          </p:nvSpPr>
          <p:spPr>
            <a:xfrm>
              <a:off x="7456740" y="3963496"/>
              <a:ext cx="1511300" cy="5776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5170374" y="4178966"/>
            <a:ext cx="412709" cy="333006"/>
            <a:chOff x="0" y="0"/>
            <a:chExt cx="1088225" cy="869861"/>
          </a:xfrm>
          <a:solidFill>
            <a:schemeClr val="tx1"/>
          </a:solidFill>
        </p:grpSpPr>
        <p:sp>
          <p:nvSpPr>
            <p:cNvPr id="10" name="Freeform 17"/>
            <p:cNvSpPr>
              <a:spLocks noEditPoints="1" noChangeArrowheads="1"/>
            </p:cNvSpPr>
            <p:nvPr/>
          </p:nvSpPr>
          <p:spPr bwMode="auto">
            <a:xfrm>
              <a:off x="0" y="237562"/>
              <a:ext cx="824268" cy="632299"/>
            </a:xfrm>
            <a:custGeom>
              <a:avLst/>
              <a:gdLst>
                <a:gd name="T0" fmla="*/ 274 w 291"/>
                <a:gd name="T1" fmla="*/ 0 h 223"/>
                <a:gd name="T2" fmla="*/ 17 w 291"/>
                <a:gd name="T3" fmla="*/ 0 h 223"/>
                <a:gd name="T4" fmla="*/ 0 w 291"/>
                <a:gd name="T5" fmla="*/ 16 h 223"/>
                <a:gd name="T6" fmla="*/ 0 w 291"/>
                <a:gd name="T7" fmla="*/ 207 h 223"/>
                <a:gd name="T8" fmla="*/ 17 w 291"/>
                <a:gd name="T9" fmla="*/ 223 h 223"/>
                <a:gd name="T10" fmla="*/ 274 w 291"/>
                <a:gd name="T11" fmla="*/ 223 h 223"/>
                <a:gd name="T12" fmla="*/ 291 w 291"/>
                <a:gd name="T13" fmla="*/ 207 h 223"/>
                <a:gd name="T14" fmla="*/ 291 w 291"/>
                <a:gd name="T15" fmla="*/ 16 h 223"/>
                <a:gd name="T16" fmla="*/ 274 w 291"/>
                <a:gd name="T17" fmla="*/ 0 h 223"/>
                <a:gd name="T18" fmla="*/ 270 w 291"/>
                <a:gd name="T19" fmla="*/ 193 h 223"/>
                <a:gd name="T20" fmla="*/ 256 w 291"/>
                <a:gd name="T21" fmla="*/ 207 h 223"/>
                <a:gd name="T22" fmla="*/ 35 w 291"/>
                <a:gd name="T23" fmla="*/ 207 h 223"/>
                <a:gd name="T24" fmla="*/ 21 w 291"/>
                <a:gd name="T25" fmla="*/ 193 h 223"/>
                <a:gd name="T26" fmla="*/ 21 w 291"/>
                <a:gd name="T27" fmla="*/ 30 h 223"/>
                <a:gd name="T28" fmla="*/ 35 w 291"/>
                <a:gd name="T29" fmla="*/ 16 h 223"/>
                <a:gd name="T30" fmla="*/ 256 w 291"/>
                <a:gd name="T31" fmla="*/ 16 h 223"/>
                <a:gd name="T32" fmla="*/ 270 w 291"/>
                <a:gd name="T33" fmla="*/ 30 h 223"/>
                <a:gd name="T34" fmla="*/ 270 w 291"/>
                <a:gd name="T35" fmla="*/ 193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1"/>
                <a:gd name="T55" fmla="*/ 0 h 223"/>
                <a:gd name="T56" fmla="*/ 291 w 291"/>
                <a:gd name="T57" fmla="*/ 223 h 2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1" h="223">
                  <a:moveTo>
                    <a:pt x="27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15"/>
                    <a:pt x="8" y="223"/>
                    <a:pt x="17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1" y="215"/>
                    <a:pt x="291" y="207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7"/>
                    <a:pt x="283" y="0"/>
                    <a:pt x="274" y="0"/>
                  </a:cubicBezTo>
                  <a:moveTo>
                    <a:pt x="270" y="193"/>
                  </a:moveTo>
                  <a:cubicBezTo>
                    <a:pt x="270" y="201"/>
                    <a:pt x="264" y="207"/>
                    <a:pt x="256" y="207"/>
                  </a:cubicBezTo>
                  <a:cubicBezTo>
                    <a:pt x="35" y="207"/>
                    <a:pt x="35" y="207"/>
                    <a:pt x="35" y="207"/>
                  </a:cubicBezTo>
                  <a:cubicBezTo>
                    <a:pt x="27" y="207"/>
                    <a:pt x="21" y="201"/>
                    <a:pt x="21" y="193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2"/>
                    <a:pt x="27" y="16"/>
                    <a:pt x="35" y="16"/>
                  </a:cubicBezTo>
                  <a:cubicBezTo>
                    <a:pt x="256" y="16"/>
                    <a:pt x="256" y="16"/>
                    <a:pt x="256" y="16"/>
                  </a:cubicBezTo>
                  <a:cubicBezTo>
                    <a:pt x="264" y="16"/>
                    <a:pt x="270" y="22"/>
                    <a:pt x="270" y="30"/>
                  </a:cubicBezTo>
                  <a:lnTo>
                    <a:pt x="270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Freeform 18"/>
            <p:cNvSpPr>
              <a:spLocks noChangeArrowheads="1"/>
            </p:cNvSpPr>
            <p:nvPr/>
          </p:nvSpPr>
          <p:spPr bwMode="auto">
            <a:xfrm>
              <a:off x="137978" y="110382"/>
              <a:ext cx="821868" cy="632299"/>
            </a:xfrm>
            <a:custGeom>
              <a:avLst/>
              <a:gdLst>
                <a:gd name="T0" fmla="*/ 274 w 290"/>
                <a:gd name="T1" fmla="*/ 0 h 223"/>
                <a:gd name="T2" fmla="*/ 16 w 290"/>
                <a:gd name="T3" fmla="*/ 0 h 223"/>
                <a:gd name="T4" fmla="*/ 0 w 290"/>
                <a:gd name="T5" fmla="*/ 16 h 223"/>
                <a:gd name="T6" fmla="*/ 0 w 290"/>
                <a:gd name="T7" fmla="*/ 25 h 223"/>
                <a:gd name="T8" fmla="*/ 249 w 290"/>
                <a:gd name="T9" fmla="*/ 25 h 223"/>
                <a:gd name="T10" fmla="*/ 265 w 290"/>
                <a:gd name="T11" fmla="*/ 42 h 223"/>
                <a:gd name="T12" fmla="*/ 265 w 290"/>
                <a:gd name="T13" fmla="*/ 223 h 223"/>
                <a:gd name="T14" fmla="*/ 274 w 290"/>
                <a:gd name="T15" fmla="*/ 223 h 223"/>
                <a:gd name="T16" fmla="*/ 290 w 290"/>
                <a:gd name="T17" fmla="*/ 207 h 223"/>
                <a:gd name="T18" fmla="*/ 290 w 290"/>
                <a:gd name="T19" fmla="*/ 16 h 223"/>
                <a:gd name="T20" fmla="*/ 274 w 290"/>
                <a:gd name="T21" fmla="*/ 0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3"/>
                <a:gd name="T35" fmla="*/ 290 w 290"/>
                <a:gd name="T36" fmla="*/ 223 h 22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3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3"/>
                    <a:pt x="265" y="42"/>
                  </a:cubicBezTo>
                  <a:cubicBezTo>
                    <a:pt x="265" y="223"/>
                    <a:pt x="265" y="223"/>
                    <a:pt x="265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0" y="216"/>
                    <a:pt x="290" y="207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Freeform 19"/>
            <p:cNvSpPr>
              <a:spLocks noChangeArrowheads="1"/>
            </p:cNvSpPr>
            <p:nvPr/>
          </p:nvSpPr>
          <p:spPr bwMode="auto">
            <a:xfrm>
              <a:off x="266357" y="0"/>
              <a:ext cx="821868" cy="628699"/>
            </a:xfrm>
            <a:custGeom>
              <a:avLst/>
              <a:gdLst>
                <a:gd name="T0" fmla="*/ 274 w 290"/>
                <a:gd name="T1" fmla="*/ 0 h 222"/>
                <a:gd name="T2" fmla="*/ 16 w 290"/>
                <a:gd name="T3" fmla="*/ 0 h 222"/>
                <a:gd name="T4" fmla="*/ 0 w 290"/>
                <a:gd name="T5" fmla="*/ 16 h 222"/>
                <a:gd name="T6" fmla="*/ 0 w 290"/>
                <a:gd name="T7" fmla="*/ 25 h 222"/>
                <a:gd name="T8" fmla="*/ 249 w 290"/>
                <a:gd name="T9" fmla="*/ 25 h 222"/>
                <a:gd name="T10" fmla="*/ 265 w 290"/>
                <a:gd name="T11" fmla="*/ 41 h 222"/>
                <a:gd name="T12" fmla="*/ 265 w 290"/>
                <a:gd name="T13" fmla="*/ 222 h 222"/>
                <a:gd name="T14" fmla="*/ 274 w 290"/>
                <a:gd name="T15" fmla="*/ 222 h 222"/>
                <a:gd name="T16" fmla="*/ 290 w 290"/>
                <a:gd name="T17" fmla="*/ 206 h 222"/>
                <a:gd name="T18" fmla="*/ 290 w 290"/>
                <a:gd name="T19" fmla="*/ 16 h 222"/>
                <a:gd name="T20" fmla="*/ 274 w 290"/>
                <a:gd name="T21" fmla="*/ 0 h 2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2"/>
                <a:gd name="T35" fmla="*/ 290 w 290"/>
                <a:gd name="T36" fmla="*/ 222 h 2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2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2"/>
                    <a:pt x="265" y="41"/>
                  </a:cubicBezTo>
                  <a:cubicBezTo>
                    <a:pt x="265" y="222"/>
                    <a:pt x="265" y="222"/>
                    <a:pt x="265" y="222"/>
                  </a:cubicBezTo>
                  <a:cubicBezTo>
                    <a:pt x="274" y="222"/>
                    <a:pt x="274" y="222"/>
                    <a:pt x="274" y="222"/>
                  </a:cubicBezTo>
                  <a:cubicBezTo>
                    <a:pt x="283" y="222"/>
                    <a:pt x="290" y="215"/>
                    <a:pt x="290" y="206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Freeform 20"/>
            <p:cNvSpPr>
              <a:spLocks noChangeArrowheads="1"/>
            </p:cNvSpPr>
            <p:nvPr/>
          </p:nvSpPr>
          <p:spPr bwMode="auto">
            <a:xfrm>
              <a:off x="110382" y="422332"/>
              <a:ext cx="569909" cy="353943"/>
            </a:xfrm>
            <a:custGeom>
              <a:avLst/>
              <a:gdLst>
                <a:gd name="T0" fmla="*/ 71 w 201"/>
                <a:gd name="T1" fmla="*/ 5 h 125"/>
                <a:gd name="T2" fmla="*/ 11 w 201"/>
                <a:gd name="T3" fmla="*/ 109 h 125"/>
                <a:gd name="T4" fmla="*/ 11 w 201"/>
                <a:gd name="T5" fmla="*/ 124 h 125"/>
                <a:gd name="T6" fmla="*/ 192 w 201"/>
                <a:gd name="T7" fmla="*/ 124 h 125"/>
                <a:gd name="T8" fmla="*/ 192 w 201"/>
                <a:gd name="T9" fmla="*/ 108 h 125"/>
                <a:gd name="T10" fmla="*/ 151 w 201"/>
                <a:gd name="T11" fmla="*/ 47 h 125"/>
                <a:gd name="T12" fmla="*/ 117 w 201"/>
                <a:gd name="T13" fmla="*/ 86 h 125"/>
                <a:gd name="T14" fmla="*/ 110 w 201"/>
                <a:gd name="T15" fmla="*/ 81 h 125"/>
                <a:gd name="T16" fmla="*/ 122 w 201"/>
                <a:gd name="T17" fmla="*/ 65 h 125"/>
                <a:gd name="T18" fmla="*/ 81 w 201"/>
                <a:gd name="T19" fmla="*/ 5 h 125"/>
                <a:gd name="T20" fmla="*/ 71 w 201"/>
                <a:gd name="T21" fmla="*/ 5 h 1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25"/>
                <a:gd name="T35" fmla="*/ 201 w 201"/>
                <a:gd name="T36" fmla="*/ 125 h 1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25">
                  <a:moveTo>
                    <a:pt x="71" y="5"/>
                  </a:move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0" y="124"/>
                    <a:pt x="11" y="124"/>
                  </a:cubicBezTo>
                  <a:cubicBezTo>
                    <a:pt x="25" y="125"/>
                    <a:pt x="192" y="124"/>
                    <a:pt x="192" y="124"/>
                  </a:cubicBezTo>
                  <a:cubicBezTo>
                    <a:pt x="192" y="124"/>
                    <a:pt x="201" y="121"/>
                    <a:pt x="192" y="108"/>
                  </a:cubicBezTo>
                  <a:cubicBezTo>
                    <a:pt x="182" y="94"/>
                    <a:pt x="158" y="46"/>
                    <a:pt x="151" y="47"/>
                  </a:cubicBezTo>
                  <a:cubicBezTo>
                    <a:pt x="144" y="47"/>
                    <a:pt x="120" y="83"/>
                    <a:pt x="117" y="86"/>
                  </a:cubicBezTo>
                  <a:cubicBezTo>
                    <a:pt x="115" y="89"/>
                    <a:pt x="108" y="84"/>
                    <a:pt x="110" y="81"/>
                  </a:cubicBezTo>
                  <a:cubicBezTo>
                    <a:pt x="116" y="74"/>
                    <a:pt x="122" y="65"/>
                    <a:pt x="122" y="65"/>
                  </a:cubicBezTo>
                  <a:cubicBezTo>
                    <a:pt x="122" y="65"/>
                    <a:pt x="84" y="9"/>
                    <a:pt x="81" y="5"/>
                  </a:cubicBezTo>
                  <a:cubicBezTo>
                    <a:pt x="78" y="0"/>
                    <a:pt x="73" y="1"/>
                    <a:pt x="71" y="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Oval 21"/>
            <p:cNvSpPr>
              <a:spLocks noChangeArrowheads="1"/>
            </p:cNvSpPr>
            <p:nvPr/>
          </p:nvSpPr>
          <p:spPr bwMode="auto">
            <a:xfrm>
              <a:off x="563909" y="331147"/>
              <a:ext cx="101984" cy="995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 bwMode="auto">
          <a:xfrm>
            <a:off x="7179351" y="4178966"/>
            <a:ext cx="329894" cy="333006"/>
            <a:chOff x="0" y="0"/>
            <a:chExt cx="881859" cy="881859"/>
          </a:xfrm>
          <a:solidFill>
            <a:schemeClr val="tx1"/>
          </a:solidFill>
        </p:grpSpPr>
        <p:sp>
          <p:nvSpPr>
            <p:cNvPr id="16" name="Freeform 22"/>
            <p:cNvSpPr>
              <a:spLocks noEditPoints="1" noChangeArrowheads="1"/>
            </p:cNvSpPr>
            <p:nvPr/>
          </p:nvSpPr>
          <p:spPr bwMode="auto">
            <a:xfrm>
              <a:off x="0" y="0"/>
              <a:ext cx="881859" cy="881859"/>
            </a:xfrm>
            <a:custGeom>
              <a:avLst/>
              <a:gdLst>
                <a:gd name="T0" fmla="*/ 155 w 311"/>
                <a:gd name="T1" fmla="*/ 0 h 311"/>
                <a:gd name="T2" fmla="*/ 0 w 311"/>
                <a:gd name="T3" fmla="*/ 155 h 311"/>
                <a:gd name="T4" fmla="*/ 155 w 311"/>
                <a:gd name="T5" fmla="*/ 311 h 311"/>
                <a:gd name="T6" fmla="*/ 311 w 311"/>
                <a:gd name="T7" fmla="*/ 155 h 311"/>
                <a:gd name="T8" fmla="*/ 155 w 311"/>
                <a:gd name="T9" fmla="*/ 0 h 311"/>
                <a:gd name="T10" fmla="*/ 155 w 311"/>
                <a:gd name="T11" fmla="*/ 289 h 311"/>
                <a:gd name="T12" fmla="*/ 21 w 311"/>
                <a:gd name="T13" fmla="*/ 155 h 311"/>
                <a:gd name="T14" fmla="*/ 155 w 311"/>
                <a:gd name="T15" fmla="*/ 21 h 311"/>
                <a:gd name="T16" fmla="*/ 289 w 311"/>
                <a:gd name="T17" fmla="*/ 155 h 311"/>
                <a:gd name="T18" fmla="*/ 155 w 311"/>
                <a:gd name="T19" fmla="*/ 289 h 3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11"/>
                <a:gd name="T31" fmla="*/ 0 h 311"/>
                <a:gd name="T32" fmla="*/ 311 w 311"/>
                <a:gd name="T33" fmla="*/ 311 h 3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11" h="311">
                  <a:moveTo>
                    <a:pt x="155" y="0"/>
                  </a:moveTo>
                  <a:cubicBezTo>
                    <a:pt x="70" y="0"/>
                    <a:pt x="0" y="69"/>
                    <a:pt x="0" y="155"/>
                  </a:cubicBezTo>
                  <a:cubicBezTo>
                    <a:pt x="0" y="241"/>
                    <a:pt x="70" y="311"/>
                    <a:pt x="155" y="311"/>
                  </a:cubicBezTo>
                  <a:cubicBezTo>
                    <a:pt x="241" y="311"/>
                    <a:pt x="311" y="241"/>
                    <a:pt x="311" y="155"/>
                  </a:cubicBezTo>
                  <a:cubicBezTo>
                    <a:pt x="311" y="69"/>
                    <a:pt x="241" y="0"/>
                    <a:pt x="155" y="0"/>
                  </a:cubicBezTo>
                  <a:moveTo>
                    <a:pt x="155" y="289"/>
                  </a:moveTo>
                  <a:cubicBezTo>
                    <a:pt x="81" y="289"/>
                    <a:pt x="21" y="229"/>
                    <a:pt x="21" y="155"/>
                  </a:cubicBezTo>
                  <a:cubicBezTo>
                    <a:pt x="21" y="81"/>
                    <a:pt x="81" y="21"/>
                    <a:pt x="155" y="21"/>
                  </a:cubicBezTo>
                  <a:cubicBezTo>
                    <a:pt x="229" y="21"/>
                    <a:pt x="289" y="81"/>
                    <a:pt x="289" y="155"/>
                  </a:cubicBezTo>
                  <a:cubicBezTo>
                    <a:pt x="289" y="229"/>
                    <a:pt x="229" y="289"/>
                    <a:pt x="155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" name="Freeform 23"/>
            <p:cNvSpPr>
              <a:spLocks noChangeArrowheads="1"/>
            </p:cNvSpPr>
            <p:nvPr/>
          </p:nvSpPr>
          <p:spPr bwMode="auto">
            <a:xfrm>
              <a:off x="235162" y="70789"/>
              <a:ext cx="430731" cy="428331"/>
            </a:xfrm>
            <a:custGeom>
              <a:avLst/>
              <a:gdLst>
                <a:gd name="T0" fmla="*/ 145 w 152"/>
                <a:gd name="T1" fmla="*/ 53 h 151"/>
                <a:gd name="T2" fmla="*/ 144 w 152"/>
                <a:gd name="T3" fmla="*/ 52 h 151"/>
                <a:gd name="T4" fmla="*/ 125 w 152"/>
                <a:gd name="T5" fmla="*/ 52 h 151"/>
                <a:gd name="T6" fmla="*/ 77 w 152"/>
                <a:gd name="T7" fmla="*/ 106 h 151"/>
                <a:gd name="T8" fmla="*/ 31 w 152"/>
                <a:gd name="T9" fmla="*/ 12 h 151"/>
                <a:gd name="T10" fmla="*/ 11 w 152"/>
                <a:gd name="T11" fmla="*/ 4 h 151"/>
                <a:gd name="T12" fmla="*/ 10 w 152"/>
                <a:gd name="T13" fmla="*/ 4 h 151"/>
                <a:gd name="T14" fmla="*/ 4 w 152"/>
                <a:gd name="T15" fmla="*/ 25 h 151"/>
                <a:gd name="T16" fmla="*/ 60 w 152"/>
                <a:gd name="T17" fmla="*/ 140 h 151"/>
                <a:gd name="T18" fmla="*/ 79 w 152"/>
                <a:gd name="T19" fmla="*/ 148 h 151"/>
                <a:gd name="T20" fmla="*/ 79 w 152"/>
                <a:gd name="T21" fmla="*/ 148 h 151"/>
                <a:gd name="T22" fmla="*/ 80 w 152"/>
                <a:gd name="T23" fmla="*/ 148 h 151"/>
                <a:gd name="T24" fmla="*/ 81 w 152"/>
                <a:gd name="T25" fmla="*/ 147 h 151"/>
                <a:gd name="T26" fmla="*/ 87 w 152"/>
                <a:gd name="T27" fmla="*/ 141 h 151"/>
                <a:gd name="T28" fmla="*/ 148 w 152"/>
                <a:gd name="T29" fmla="*/ 72 h 151"/>
                <a:gd name="T30" fmla="*/ 145 w 152"/>
                <a:gd name="T31" fmla="*/ 53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52"/>
                <a:gd name="T49" fmla="*/ 0 h 151"/>
                <a:gd name="T50" fmla="*/ 152 w 152"/>
                <a:gd name="T51" fmla="*/ 151 h 15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52" h="151">
                  <a:moveTo>
                    <a:pt x="145" y="53"/>
                  </a:moveTo>
                  <a:cubicBezTo>
                    <a:pt x="144" y="52"/>
                    <a:pt x="144" y="52"/>
                    <a:pt x="144" y="52"/>
                  </a:cubicBezTo>
                  <a:cubicBezTo>
                    <a:pt x="138" y="47"/>
                    <a:pt x="129" y="47"/>
                    <a:pt x="125" y="52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4"/>
                    <a:pt x="18" y="0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3" y="8"/>
                    <a:pt x="0" y="17"/>
                    <a:pt x="4" y="25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3" y="148"/>
                    <a:pt x="72" y="151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80" y="148"/>
                    <a:pt x="80" y="148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4" y="146"/>
                    <a:pt x="86" y="144"/>
                    <a:pt x="87" y="141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52" y="67"/>
                    <a:pt x="151" y="59"/>
                    <a:pt x="145" y="5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 bwMode="auto">
          <a:xfrm>
            <a:off x="5861890" y="4178966"/>
            <a:ext cx="397959" cy="333006"/>
            <a:chOff x="0" y="0"/>
            <a:chExt cx="961046" cy="796672"/>
          </a:xfrm>
          <a:solidFill>
            <a:schemeClr val="tx1"/>
          </a:solidFill>
        </p:grpSpPr>
        <p:sp>
          <p:nvSpPr>
            <p:cNvPr id="19" name="Freeform 24"/>
            <p:cNvSpPr>
              <a:spLocks noEditPoints="1" noChangeArrowheads="1"/>
            </p:cNvSpPr>
            <p:nvPr/>
          </p:nvSpPr>
          <p:spPr bwMode="auto">
            <a:xfrm>
              <a:off x="0" y="0"/>
              <a:ext cx="961046" cy="796672"/>
            </a:xfrm>
            <a:custGeom>
              <a:avLst/>
              <a:gdLst>
                <a:gd name="T0" fmla="*/ 321 w 339"/>
                <a:gd name="T1" fmla="*/ 0 h 281"/>
                <a:gd name="T2" fmla="*/ 18 w 339"/>
                <a:gd name="T3" fmla="*/ 0 h 281"/>
                <a:gd name="T4" fmla="*/ 0 w 339"/>
                <a:gd name="T5" fmla="*/ 18 h 281"/>
                <a:gd name="T6" fmla="*/ 0 w 339"/>
                <a:gd name="T7" fmla="*/ 263 h 281"/>
                <a:gd name="T8" fmla="*/ 18 w 339"/>
                <a:gd name="T9" fmla="*/ 281 h 281"/>
                <a:gd name="T10" fmla="*/ 321 w 339"/>
                <a:gd name="T11" fmla="*/ 281 h 281"/>
                <a:gd name="T12" fmla="*/ 339 w 339"/>
                <a:gd name="T13" fmla="*/ 263 h 281"/>
                <a:gd name="T14" fmla="*/ 339 w 339"/>
                <a:gd name="T15" fmla="*/ 18 h 281"/>
                <a:gd name="T16" fmla="*/ 321 w 339"/>
                <a:gd name="T17" fmla="*/ 0 h 281"/>
                <a:gd name="T18" fmla="*/ 316 w 339"/>
                <a:gd name="T19" fmla="*/ 246 h 281"/>
                <a:gd name="T20" fmla="*/ 301 w 339"/>
                <a:gd name="T21" fmla="*/ 262 h 281"/>
                <a:gd name="T22" fmla="*/ 38 w 339"/>
                <a:gd name="T23" fmla="*/ 262 h 281"/>
                <a:gd name="T24" fmla="*/ 23 w 339"/>
                <a:gd name="T25" fmla="*/ 246 h 281"/>
                <a:gd name="T26" fmla="*/ 23 w 339"/>
                <a:gd name="T27" fmla="*/ 35 h 281"/>
                <a:gd name="T28" fmla="*/ 38 w 339"/>
                <a:gd name="T29" fmla="*/ 19 h 281"/>
                <a:gd name="T30" fmla="*/ 301 w 339"/>
                <a:gd name="T31" fmla="*/ 19 h 281"/>
                <a:gd name="T32" fmla="*/ 316 w 339"/>
                <a:gd name="T33" fmla="*/ 35 h 281"/>
                <a:gd name="T34" fmla="*/ 316 w 339"/>
                <a:gd name="T35" fmla="*/ 246 h 2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39"/>
                <a:gd name="T55" fmla="*/ 0 h 281"/>
                <a:gd name="T56" fmla="*/ 339 w 339"/>
                <a:gd name="T57" fmla="*/ 281 h 2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39" h="281">
                  <a:moveTo>
                    <a:pt x="321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73"/>
                    <a:pt x="8" y="281"/>
                    <a:pt x="18" y="281"/>
                  </a:cubicBezTo>
                  <a:cubicBezTo>
                    <a:pt x="321" y="281"/>
                    <a:pt x="321" y="281"/>
                    <a:pt x="321" y="281"/>
                  </a:cubicBezTo>
                  <a:cubicBezTo>
                    <a:pt x="331" y="281"/>
                    <a:pt x="339" y="273"/>
                    <a:pt x="339" y="263"/>
                  </a:cubicBezTo>
                  <a:cubicBezTo>
                    <a:pt x="339" y="18"/>
                    <a:pt x="339" y="18"/>
                    <a:pt x="339" y="18"/>
                  </a:cubicBezTo>
                  <a:cubicBezTo>
                    <a:pt x="339" y="8"/>
                    <a:pt x="331" y="0"/>
                    <a:pt x="321" y="0"/>
                  </a:cubicBezTo>
                  <a:moveTo>
                    <a:pt x="316" y="246"/>
                  </a:moveTo>
                  <a:cubicBezTo>
                    <a:pt x="316" y="255"/>
                    <a:pt x="309" y="262"/>
                    <a:pt x="301" y="262"/>
                  </a:cubicBezTo>
                  <a:cubicBezTo>
                    <a:pt x="38" y="262"/>
                    <a:pt x="38" y="262"/>
                    <a:pt x="38" y="262"/>
                  </a:cubicBezTo>
                  <a:cubicBezTo>
                    <a:pt x="30" y="262"/>
                    <a:pt x="23" y="255"/>
                    <a:pt x="23" y="24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26"/>
                    <a:pt x="30" y="19"/>
                    <a:pt x="38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9" y="19"/>
                    <a:pt x="316" y="26"/>
                    <a:pt x="316" y="35"/>
                  </a:cubicBezTo>
                  <a:lnTo>
                    <a:pt x="316" y="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0" name="Freeform 25"/>
            <p:cNvSpPr>
              <a:spLocks noChangeArrowheads="1"/>
            </p:cNvSpPr>
            <p:nvPr/>
          </p:nvSpPr>
          <p:spPr bwMode="auto">
            <a:xfrm>
              <a:off x="176371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1" name="Freeform 26"/>
            <p:cNvSpPr>
              <a:spLocks noChangeArrowheads="1"/>
            </p:cNvSpPr>
            <p:nvPr/>
          </p:nvSpPr>
          <p:spPr bwMode="auto">
            <a:xfrm>
              <a:off x="176371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2" name="Freeform 27"/>
            <p:cNvSpPr>
              <a:spLocks noChangeArrowheads="1"/>
            </p:cNvSpPr>
            <p:nvPr/>
          </p:nvSpPr>
          <p:spPr bwMode="auto">
            <a:xfrm>
              <a:off x="346744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3" name="Freeform 28"/>
            <p:cNvSpPr>
              <a:spLocks noChangeArrowheads="1"/>
            </p:cNvSpPr>
            <p:nvPr/>
          </p:nvSpPr>
          <p:spPr bwMode="auto">
            <a:xfrm>
              <a:off x="346744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4" name="Freeform 29"/>
            <p:cNvSpPr>
              <a:spLocks noChangeArrowheads="1"/>
            </p:cNvSpPr>
            <p:nvPr/>
          </p:nvSpPr>
          <p:spPr bwMode="auto">
            <a:xfrm>
              <a:off x="346744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5" name="Freeform 30"/>
            <p:cNvSpPr>
              <a:spLocks noChangeArrowheads="1"/>
            </p:cNvSpPr>
            <p:nvPr/>
          </p:nvSpPr>
          <p:spPr bwMode="auto">
            <a:xfrm>
              <a:off x="519516" y="116382"/>
              <a:ext cx="83987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6" name="Freeform 31"/>
            <p:cNvSpPr>
              <a:spLocks noChangeArrowheads="1"/>
            </p:cNvSpPr>
            <p:nvPr/>
          </p:nvSpPr>
          <p:spPr bwMode="auto">
            <a:xfrm>
              <a:off x="519516" y="274756"/>
              <a:ext cx="83987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7" name="Freeform 32"/>
            <p:cNvSpPr>
              <a:spLocks noChangeArrowheads="1"/>
            </p:cNvSpPr>
            <p:nvPr/>
          </p:nvSpPr>
          <p:spPr bwMode="auto">
            <a:xfrm>
              <a:off x="688689" y="116382"/>
              <a:ext cx="85186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8" name="Freeform 33"/>
            <p:cNvSpPr>
              <a:spLocks noChangeArrowheads="1"/>
            </p:cNvSpPr>
            <p:nvPr/>
          </p:nvSpPr>
          <p:spPr bwMode="auto">
            <a:xfrm>
              <a:off x="688689" y="274756"/>
              <a:ext cx="85186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9" name="Freeform 34"/>
            <p:cNvSpPr>
              <a:spLocks noChangeArrowheads="1"/>
            </p:cNvSpPr>
            <p:nvPr/>
          </p:nvSpPr>
          <p:spPr bwMode="auto">
            <a:xfrm>
              <a:off x="176371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30" name="Freeform 84"/>
          <p:cNvSpPr>
            <a:spLocks noChangeAspect="1" noEditPoints="1" noChangeArrowheads="1"/>
          </p:cNvSpPr>
          <p:nvPr/>
        </p:nvSpPr>
        <p:spPr bwMode="auto">
          <a:xfrm>
            <a:off x="4557745" y="4178965"/>
            <a:ext cx="333822" cy="333006"/>
          </a:xfrm>
          <a:custGeom>
            <a:avLst/>
            <a:gdLst>
              <a:gd name="T0" fmla="*/ 170 w 170"/>
              <a:gd name="T1" fmla="*/ 0 h 168"/>
              <a:gd name="T2" fmla="*/ 162 w 170"/>
              <a:gd name="T3" fmla="*/ 16 h 168"/>
              <a:gd name="T4" fmla="*/ 170 w 170"/>
              <a:gd name="T5" fmla="*/ 103 h 168"/>
              <a:gd name="T6" fmla="*/ 93 w 170"/>
              <a:gd name="T7" fmla="*/ 119 h 168"/>
              <a:gd name="T8" fmla="*/ 128 w 170"/>
              <a:gd name="T9" fmla="*/ 152 h 168"/>
              <a:gd name="T10" fmla="*/ 42 w 170"/>
              <a:gd name="T11" fmla="*/ 168 h 168"/>
              <a:gd name="T12" fmla="*/ 77 w 170"/>
              <a:gd name="T13" fmla="*/ 152 h 168"/>
              <a:gd name="T14" fmla="*/ 0 w 170"/>
              <a:gd name="T15" fmla="*/ 119 h 168"/>
              <a:gd name="T16" fmla="*/ 6 w 170"/>
              <a:gd name="T17" fmla="*/ 103 h 168"/>
              <a:gd name="T18" fmla="*/ 0 w 170"/>
              <a:gd name="T19" fmla="*/ 16 h 168"/>
              <a:gd name="T20" fmla="*/ 0 w 170"/>
              <a:gd name="T21" fmla="*/ 0 h 168"/>
              <a:gd name="T22" fmla="*/ 122 w 170"/>
              <a:gd name="T23" fmla="*/ 40 h 168"/>
              <a:gd name="T24" fmla="*/ 115 w 170"/>
              <a:gd name="T25" fmla="*/ 44 h 168"/>
              <a:gd name="T26" fmla="*/ 75 w 170"/>
              <a:gd name="T27" fmla="*/ 52 h 168"/>
              <a:gd name="T28" fmla="*/ 73 w 170"/>
              <a:gd name="T29" fmla="*/ 50 h 168"/>
              <a:gd name="T30" fmla="*/ 50 w 170"/>
              <a:gd name="T31" fmla="*/ 67 h 168"/>
              <a:gd name="T32" fmla="*/ 85 w 170"/>
              <a:gd name="T33" fmla="*/ 65 h 168"/>
              <a:gd name="T34" fmla="*/ 89 w 170"/>
              <a:gd name="T35" fmla="*/ 67 h 168"/>
              <a:gd name="T36" fmla="*/ 120 w 170"/>
              <a:gd name="T37" fmla="*/ 52 h 168"/>
              <a:gd name="T38" fmla="*/ 128 w 170"/>
              <a:gd name="T39" fmla="*/ 40 h 168"/>
              <a:gd name="T40" fmla="*/ 113 w 170"/>
              <a:gd name="T41" fmla="*/ 58 h 168"/>
              <a:gd name="T42" fmla="*/ 122 w 170"/>
              <a:gd name="T43" fmla="*/ 85 h 168"/>
              <a:gd name="T44" fmla="*/ 113 w 170"/>
              <a:gd name="T45" fmla="*/ 58 h 168"/>
              <a:gd name="T46" fmla="*/ 101 w 170"/>
              <a:gd name="T47" fmla="*/ 67 h 168"/>
              <a:gd name="T48" fmla="*/ 109 w 170"/>
              <a:gd name="T49" fmla="*/ 85 h 168"/>
              <a:gd name="T50" fmla="*/ 101 w 170"/>
              <a:gd name="T51" fmla="*/ 67 h 168"/>
              <a:gd name="T52" fmla="*/ 87 w 170"/>
              <a:gd name="T53" fmla="*/ 77 h 168"/>
              <a:gd name="T54" fmla="*/ 95 w 170"/>
              <a:gd name="T55" fmla="*/ 85 h 168"/>
              <a:gd name="T56" fmla="*/ 87 w 170"/>
              <a:gd name="T57" fmla="*/ 77 h 168"/>
              <a:gd name="T58" fmla="*/ 75 w 170"/>
              <a:gd name="T59" fmla="*/ 69 h 168"/>
              <a:gd name="T60" fmla="*/ 83 w 170"/>
              <a:gd name="T61" fmla="*/ 85 h 168"/>
              <a:gd name="T62" fmla="*/ 75 w 170"/>
              <a:gd name="T63" fmla="*/ 69 h 168"/>
              <a:gd name="T64" fmla="*/ 63 w 170"/>
              <a:gd name="T65" fmla="*/ 69 h 168"/>
              <a:gd name="T66" fmla="*/ 71 w 170"/>
              <a:gd name="T67" fmla="*/ 85 h 168"/>
              <a:gd name="T68" fmla="*/ 63 w 170"/>
              <a:gd name="T69" fmla="*/ 69 h 168"/>
              <a:gd name="T70" fmla="*/ 48 w 170"/>
              <a:gd name="T71" fmla="*/ 73 h 168"/>
              <a:gd name="T72" fmla="*/ 56 w 170"/>
              <a:gd name="T73" fmla="*/ 85 h 168"/>
              <a:gd name="T74" fmla="*/ 48 w 170"/>
              <a:gd name="T75" fmla="*/ 73 h 168"/>
              <a:gd name="T76" fmla="*/ 146 w 170"/>
              <a:gd name="T77" fmla="*/ 18 h 168"/>
              <a:gd name="T78" fmla="*/ 24 w 170"/>
              <a:gd name="T79" fmla="*/ 101 h 168"/>
              <a:gd name="T80" fmla="*/ 146 w 170"/>
              <a:gd name="T81" fmla="*/ 18 h 16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70"/>
              <a:gd name="T124" fmla="*/ 0 h 168"/>
              <a:gd name="T125" fmla="*/ 170 w 170"/>
              <a:gd name="T126" fmla="*/ 168 h 16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70" h="168">
                <a:moveTo>
                  <a:pt x="0" y="0"/>
                </a:moveTo>
                <a:lnTo>
                  <a:pt x="170" y="0"/>
                </a:lnTo>
                <a:lnTo>
                  <a:pt x="170" y="16"/>
                </a:lnTo>
                <a:lnTo>
                  <a:pt x="162" y="16"/>
                </a:lnTo>
                <a:lnTo>
                  <a:pt x="162" y="103"/>
                </a:lnTo>
                <a:lnTo>
                  <a:pt x="170" y="103"/>
                </a:lnTo>
                <a:lnTo>
                  <a:pt x="170" y="119"/>
                </a:lnTo>
                <a:lnTo>
                  <a:pt x="93" y="119"/>
                </a:lnTo>
                <a:lnTo>
                  <a:pt x="93" y="152"/>
                </a:lnTo>
                <a:lnTo>
                  <a:pt x="128" y="152"/>
                </a:lnTo>
                <a:lnTo>
                  <a:pt x="128" y="168"/>
                </a:lnTo>
                <a:lnTo>
                  <a:pt x="42" y="168"/>
                </a:lnTo>
                <a:lnTo>
                  <a:pt x="42" y="152"/>
                </a:lnTo>
                <a:lnTo>
                  <a:pt x="77" y="152"/>
                </a:lnTo>
                <a:lnTo>
                  <a:pt x="77" y="119"/>
                </a:lnTo>
                <a:lnTo>
                  <a:pt x="0" y="119"/>
                </a:lnTo>
                <a:lnTo>
                  <a:pt x="0" y="103"/>
                </a:lnTo>
                <a:lnTo>
                  <a:pt x="6" y="103"/>
                </a:lnTo>
                <a:lnTo>
                  <a:pt x="6" y="16"/>
                </a:lnTo>
                <a:lnTo>
                  <a:pt x="0" y="16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128" y="40"/>
                </a:moveTo>
                <a:lnTo>
                  <a:pt x="122" y="40"/>
                </a:lnTo>
                <a:lnTo>
                  <a:pt x="113" y="40"/>
                </a:lnTo>
                <a:lnTo>
                  <a:pt x="115" y="44"/>
                </a:lnTo>
                <a:lnTo>
                  <a:pt x="87" y="61"/>
                </a:lnTo>
                <a:lnTo>
                  <a:pt x="75" y="52"/>
                </a:lnTo>
                <a:lnTo>
                  <a:pt x="75" y="50"/>
                </a:lnTo>
                <a:lnTo>
                  <a:pt x="73" y="50"/>
                </a:lnTo>
                <a:lnTo>
                  <a:pt x="48" y="61"/>
                </a:lnTo>
                <a:lnTo>
                  <a:pt x="50" y="67"/>
                </a:lnTo>
                <a:lnTo>
                  <a:pt x="73" y="56"/>
                </a:lnTo>
                <a:lnTo>
                  <a:pt x="85" y="65"/>
                </a:lnTo>
                <a:lnTo>
                  <a:pt x="87" y="67"/>
                </a:lnTo>
                <a:lnTo>
                  <a:pt x="89" y="67"/>
                </a:lnTo>
                <a:lnTo>
                  <a:pt x="117" y="48"/>
                </a:lnTo>
                <a:lnTo>
                  <a:pt x="120" y="52"/>
                </a:lnTo>
                <a:lnTo>
                  <a:pt x="124" y="46"/>
                </a:lnTo>
                <a:lnTo>
                  <a:pt x="128" y="40"/>
                </a:lnTo>
                <a:lnTo>
                  <a:pt x="128" y="40"/>
                </a:lnTo>
                <a:close/>
                <a:moveTo>
                  <a:pt x="113" y="58"/>
                </a:moveTo>
                <a:lnTo>
                  <a:pt x="113" y="85"/>
                </a:lnTo>
                <a:lnTo>
                  <a:pt x="122" y="85"/>
                </a:lnTo>
                <a:lnTo>
                  <a:pt x="122" y="58"/>
                </a:lnTo>
                <a:lnTo>
                  <a:pt x="113" y="58"/>
                </a:lnTo>
                <a:lnTo>
                  <a:pt x="113" y="58"/>
                </a:lnTo>
                <a:close/>
                <a:moveTo>
                  <a:pt x="101" y="67"/>
                </a:moveTo>
                <a:lnTo>
                  <a:pt x="101" y="85"/>
                </a:lnTo>
                <a:lnTo>
                  <a:pt x="109" y="85"/>
                </a:lnTo>
                <a:lnTo>
                  <a:pt x="109" y="67"/>
                </a:lnTo>
                <a:lnTo>
                  <a:pt x="101" y="67"/>
                </a:lnTo>
                <a:lnTo>
                  <a:pt x="101" y="67"/>
                </a:lnTo>
                <a:close/>
                <a:moveTo>
                  <a:pt x="87" y="77"/>
                </a:moveTo>
                <a:lnTo>
                  <a:pt x="87" y="85"/>
                </a:lnTo>
                <a:lnTo>
                  <a:pt x="95" y="85"/>
                </a:lnTo>
                <a:lnTo>
                  <a:pt x="95" y="77"/>
                </a:lnTo>
                <a:lnTo>
                  <a:pt x="87" y="77"/>
                </a:lnTo>
                <a:lnTo>
                  <a:pt x="87" y="77"/>
                </a:lnTo>
                <a:close/>
                <a:moveTo>
                  <a:pt x="75" y="69"/>
                </a:moveTo>
                <a:lnTo>
                  <a:pt x="75" y="85"/>
                </a:lnTo>
                <a:lnTo>
                  <a:pt x="83" y="85"/>
                </a:lnTo>
                <a:lnTo>
                  <a:pt x="83" y="69"/>
                </a:lnTo>
                <a:lnTo>
                  <a:pt x="75" y="69"/>
                </a:lnTo>
                <a:lnTo>
                  <a:pt x="75" y="69"/>
                </a:lnTo>
                <a:close/>
                <a:moveTo>
                  <a:pt x="63" y="69"/>
                </a:moveTo>
                <a:lnTo>
                  <a:pt x="63" y="85"/>
                </a:lnTo>
                <a:lnTo>
                  <a:pt x="71" y="85"/>
                </a:lnTo>
                <a:lnTo>
                  <a:pt x="71" y="69"/>
                </a:lnTo>
                <a:lnTo>
                  <a:pt x="63" y="69"/>
                </a:lnTo>
                <a:lnTo>
                  <a:pt x="63" y="69"/>
                </a:lnTo>
                <a:close/>
                <a:moveTo>
                  <a:pt x="48" y="73"/>
                </a:moveTo>
                <a:lnTo>
                  <a:pt x="48" y="85"/>
                </a:lnTo>
                <a:lnTo>
                  <a:pt x="56" y="85"/>
                </a:lnTo>
                <a:lnTo>
                  <a:pt x="56" y="73"/>
                </a:lnTo>
                <a:lnTo>
                  <a:pt x="48" y="73"/>
                </a:lnTo>
                <a:lnTo>
                  <a:pt x="48" y="73"/>
                </a:lnTo>
                <a:close/>
                <a:moveTo>
                  <a:pt x="146" y="18"/>
                </a:moveTo>
                <a:lnTo>
                  <a:pt x="24" y="18"/>
                </a:lnTo>
                <a:lnTo>
                  <a:pt x="24" y="101"/>
                </a:lnTo>
                <a:lnTo>
                  <a:pt x="146" y="101"/>
                </a:lnTo>
                <a:lnTo>
                  <a:pt x="146" y="1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1" name="Freeform 9"/>
          <p:cNvSpPr>
            <a:spLocks noChangeAspect="1" noEditPoints="1" noChangeArrowheads="1"/>
          </p:cNvSpPr>
          <p:nvPr/>
        </p:nvSpPr>
        <p:spPr bwMode="auto">
          <a:xfrm>
            <a:off x="6538656" y="4178964"/>
            <a:ext cx="361886" cy="333007"/>
          </a:xfrm>
          <a:custGeom>
            <a:avLst/>
            <a:gdLst>
              <a:gd name="T0" fmla="*/ 141 w 181"/>
              <a:gd name="T1" fmla="*/ 0 h 165"/>
              <a:gd name="T2" fmla="*/ 149 w 181"/>
              <a:gd name="T3" fmla="*/ 8 h 165"/>
              <a:gd name="T4" fmla="*/ 134 w 181"/>
              <a:gd name="T5" fmla="*/ 47 h 165"/>
              <a:gd name="T6" fmla="*/ 33 w 181"/>
              <a:gd name="T7" fmla="*/ 14 h 165"/>
              <a:gd name="T8" fmla="*/ 39 w 181"/>
              <a:gd name="T9" fmla="*/ 20 h 165"/>
              <a:gd name="T10" fmla="*/ 51 w 181"/>
              <a:gd name="T11" fmla="*/ 31 h 165"/>
              <a:gd name="T12" fmla="*/ 33 w 181"/>
              <a:gd name="T13" fmla="*/ 39 h 165"/>
              <a:gd name="T14" fmla="*/ 39 w 181"/>
              <a:gd name="T15" fmla="*/ 45 h 165"/>
              <a:gd name="T16" fmla="*/ 51 w 181"/>
              <a:gd name="T17" fmla="*/ 55 h 165"/>
              <a:gd name="T18" fmla="*/ 33 w 181"/>
              <a:gd name="T19" fmla="*/ 63 h 165"/>
              <a:gd name="T20" fmla="*/ 39 w 181"/>
              <a:gd name="T21" fmla="*/ 67 h 165"/>
              <a:gd name="T22" fmla="*/ 51 w 181"/>
              <a:gd name="T23" fmla="*/ 77 h 165"/>
              <a:gd name="T24" fmla="*/ 33 w 181"/>
              <a:gd name="T25" fmla="*/ 86 h 165"/>
              <a:gd name="T26" fmla="*/ 39 w 181"/>
              <a:gd name="T27" fmla="*/ 90 h 165"/>
              <a:gd name="T28" fmla="*/ 51 w 181"/>
              <a:gd name="T29" fmla="*/ 100 h 165"/>
              <a:gd name="T30" fmla="*/ 33 w 181"/>
              <a:gd name="T31" fmla="*/ 110 h 165"/>
              <a:gd name="T32" fmla="*/ 39 w 181"/>
              <a:gd name="T33" fmla="*/ 116 h 165"/>
              <a:gd name="T34" fmla="*/ 51 w 181"/>
              <a:gd name="T35" fmla="*/ 126 h 165"/>
              <a:gd name="T36" fmla="*/ 33 w 181"/>
              <a:gd name="T37" fmla="*/ 134 h 165"/>
              <a:gd name="T38" fmla="*/ 33 w 181"/>
              <a:gd name="T39" fmla="*/ 151 h 165"/>
              <a:gd name="T40" fmla="*/ 134 w 181"/>
              <a:gd name="T41" fmla="*/ 118 h 165"/>
              <a:gd name="T42" fmla="*/ 149 w 181"/>
              <a:gd name="T43" fmla="*/ 157 h 165"/>
              <a:gd name="T44" fmla="*/ 141 w 181"/>
              <a:gd name="T45" fmla="*/ 165 h 165"/>
              <a:gd name="T46" fmla="*/ 19 w 181"/>
              <a:gd name="T47" fmla="*/ 165 h 165"/>
              <a:gd name="T48" fmla="*/ 19 w 181"/>
              <a:gd name="T49" fmla="*/ 146 h 165"/>
              <a:gd name="T50" fmla="*/ 0 w 181"/>
              <a:gd name="T51" fmla="*/ 132 h 165"/>
              <a:gd name="T52" fmla="*/ 19 w 181"/>
              <a:gd name="T53" fmla="*/ 120 h 165"/>
              <a:gd name="T54" fmla="*/ 0 w 181"/>
              <a:gd name="T55" fmla="*/ 108 h 165"/>
              <a:gd name="T56" fmla="*/ 19 w 181"/>
              <a:gd name="T57" fmla="*/ 98 h 165"/>
              <a:gd name="T58" fmla="*/ 0 w 181"/>
              <a:gd name="T59" fmla="*/ 83 h 165"/>
              <a:gd name="T60" fmla="*/ 19 w 181"/>
              <a:gd name="T61" fmla="*/ 75 h 165"/>
              <a:gd name="T62" fmla="*/ 0 w 181"/>
              <a:gd name="T63" fmla="*/ 61 h 165"/>
              <a:gd name="T64" fmla="*/ 19 w 181"/>
              <a:gd name="T65" fmla="*/ 51 h 165"/>
              <a:gd name="T66" fmla="*/ 0 w 181"/>
              <a:gd name="T67" fmla="*/ 39 h 165"/>
              <a:gd name="T68" fmla="*/ 19 w 181"/>
              <a:gd name="T69" fmla="*/ 8 h 165"/>
              <a:gd name="T70" fmla="*/ 27 w 181"/>
              <a:gd name="T71" fmla="*/ 0 h 165"/>
              <a:gd name="T72" fmla="*/ 63 w 181"/>
              <a:gd name="T73" fmla="*/ 79 h 165"/>
              <a:gd name="T74" fmla="*/ 84 w 181"/>
              <a:gd name="T75" fmla="*/ 88 h 165"/>
              <a:gd name="T76" fmla="*/ 63 w 181"/>
              <a:gd name="T77" fmla="*/ 79 h 165"/>
              <a:gd name="T78" fmla="*/ 63 w 181"/>
              <a:gd name="T79" fmla="*/ 61 h 165"/>
              <a:gd name="T80" fmla="*/ 100 w 181"/>
              <a:gd name="T81" fmla="*/ 69 h 165"/>
              <a:gd name="T82" fmla="*/ 63 w 181"/>
              <a:gd name="T83" fmla="*/ 61 h 165"/>
              <a:gd name="T84" fmla="*/ 63 w 181"/>
              <a:gd name="T85" fmla="*/ 45 h 165"/>
              <a:gd name="T86" fmla="*/ 116 w 181"/>
              <a:gd name="T87" fmla="*/ 53 h 165"/>
              <a:gd name="T88" fmla="*/ 63 w 181"/>
              <a:gd name="T89" fmla="*/ 45 h 165"/>
              <a:gd name="T90" fmla="*/ 63 w 181"/>
              <a:gd name="T91" fmla="*/ 29 h 165"/>
              <a:gd name="T92" fmla="*/ 116 w 181"/>
              <a:gd name="T93" fmla="*/ 35 h 165"/>
              <a:gd name="T94" fmla="*/ 63 w 181"/>
              <a:gd name="T95" fmla="*/ 29 h 165"/>
              <a:gd name="T96" fmla="*/ 84 w 181"/>
              <a:gd name="T97" fmla="*/ 130 h 165"/>
              <a:gd name="T98" fmla="*/ 106 w 181"/>
              <a:gd name="T99" fmla="*/ 130 h 165"/>
              <a:gd name="T100" fmla="*/ 86 w 181"/>
              <a:gd name="T101" fmla="*/ 108 h 165"/>
              <a:gd name="T102" fmla="*/ 84 w 181"/>
              <a:gd name="T103" fmla="*/ 130 h 165"/>
              <a:gd name="T104" fmla="*/ 161 w 181"/>
              <a:gd name="T105" fmla="*/ 37 h 165"/>
              <a:gd name="T106" fmla="*/ 116 w 181"/>
              <a:gd name="T107" fmla="*/ 120 h 165"/>
              <a:gd name="T108" fmla="*/ 161 w 181"/>
              <a:gd name="T109" fmla="*/ 37 h 16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81"/>
              <a:gd name="T166" fmla="*/ 0 h 165"/>
              <a:gd name="T167" fmla="*/ 181 w 181"/>
              <a:gd name="T168" fmla="*/ 165 h 165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81" h="165">
                <a:moveTo>
                  <a:pt x="27" y="0"/>
                </a:moveTo>
                <a:lnTo>
                  <a:pt x="141" y="0"/>
                </a:lnTo>
                <a:lnTo>
                  <a:pt x="149" y="0"/>
                </a:lnTo>
                <a:lnTo>
                  <a:pt x="149" y="8"/>
                </a:lnTo>
                <a:lnTo>
                  <a:pt x="149" y="35"/>
                </a:lnTo>
                <a:lnTo>
                  <a:pt x="134" y="47"/>
                </a:lnTo>
                <a:lnTo>
                  <a:pt x="134" y="14"/>
                </a:lnTo>
                <a:lnTo>
                  <a:pt x="33" y="14"/>
                </a:lnTo>
                <a:lnTo>
                  <a:pt x="33" y="25"/>
                </a:lnTo>
                <a:lnTo>
                  <a:pt x="39" y="20"/>
                </a:lnTo>
                <a:lnTo>
                  <a:pt x="47" y="18"/>
                </a:lnTo>
                <a:lnTo>
                  <a:pt x="51" y="31"/>
                </a:lnTo>
                <a:lnTo>
                  <a:pt x="45" y="35"/>
                </a:lnTo>
                <a:lnTo>
                  <a:pt x="33" y="39"/>
                </a:lnTo>
                <a:lnTo>
                  <a:pt x="33" y="47"/>
                </a:lnTo>
                <a:lnTo>
                  <a:pt x="39" y="45"/>
                </a:lnTo>
                <a:lnTo>
                  <a:pt x="47" y="41"/>
                </a:lnTo>
                <a:lnTo>
                  <a:pt x="51" y="55"/>
                </a:lnTo>
                <a:lnTo>
                  <a:pt x="45" y="57"/>
                </a:lnTo>
                <a:lnTo>
                  <a:pt x="33" y="63"/>
                </a:lnTo>
                <a:lnTo>
                  <a:pt x="33" y="71"/>
                </a:lnTo>
                <a:lnTo>
                  <a:pt x="39" y="67"/>
                </a:lnTo>
                <a:lnTo>
                  <a:pt x="47" y="65"/>
                </a:lnTo>
                <a:lnTo>
                  <a:pt x="51" y="77"/>
                </a:lnTo>
                <a:lnTo>
                  <a:pt x="45" y="81"/>
                </a:lnTo>
                <a:lnTo>
                  <a:pt x="33" y="86"/>
                </a:lnTo>
                <a:lnTo>
                  <a:pt x="33" y="94"/>
                </a:lnTo>
                <a:lnTo>
                  <a:pt x="39" y="90"/>
                </a:lnTo>
                <a:lnTo>
                  <a:pt x="47" y="88"/>
                </a:lnTo>
                <a:lnTo>
                  <a:pt x="51" y="100"/>
                </a:lnTo>
                <a:lnTo>
                  <a:pt x="45" y="104"/>
                </a:lnTo>
                <a:lnTo>
                  <a:pt x="33" y="110"/>
                </a:lnTo>
                <a:lnTo>
                  <a:pt x="33" y="118"/>
                </a:lnTo>
                <a:lnTo>
                  <a:pt x="39" y="116"/>
                </a:lnTo>
                <a:lnTo>
                  <a:pt x="47" y="112"/>
                </a:lnTo>
                <a:lnTo>
                  <a:pt x="51" y="126"/>
                </a:lnTo>
                <a:lnTo>
                  <a:pt x="45" y="128"/>
                </a:lnTo>
                <a:lnTo>
                  <a:pt x="33" y="134"/>
                </a:lnTo>
                <a:lnTo>
                  <a:pt x="33" y="146"/>
                </a:lnTo>
                <a:lnTo>
                  <a:pt x="33" y="151"/>
                </a:lnTo>
                <a:lnTo>
                  <a:pt x="134" y="151"/>
                </a:lnTo>
                <a:lnTo>
                  <a:pt x="134" y="118"/>
                </a:lnTo>
                <a:lnTo>
                  <a:pt x="149" y="106"/>
                </a:lnTo>
                <a:lnTo>
                  <a:pt x="149" y="157"/>
                </a:lnTo>
                <a:lnTo>
                  <a:pt x="149" y="165"/>
                </a:lnTo>
                <a:lnTo>
                  <a:pt x="141" y="165"/>
                </a:lnTo>
                <a:lnTo>
                  <a:pt x="27" y="165"/>
                </a:lnTo>
                <a:lnTo>
                  <a:pt x="19" y="165"/>
                </a:lnTo>
                <a:lnTo>
                  <a:pt x="19" y="157"/>
                </a:lnTo>
                <a:lnTo>
                  <a:pt x="19" y="146"/>
                </a:lnTo>
                <a:lnTo>
                  <a:pt x="4" y="146"/>
                </a:lnTo>
                <a:lnTo>
                  <a:pt x="0" y="132"/>
                </a:lnTo>
                <a:lnTo>
                  <a:pt x="19" y="124"/>
                </a:lnTo>
                <a:lnTo>
                  <a:pt x="19" y="120"/>
                </a:lnTo>
                <a:lnTo>
                  <a:pt x="4" y="120"/>
                </a:lnTo>
                <a:lnTo>
                  <a:pt x="0" y="108"/>
                </a:lnTo>
                <a:lnTo>
                  <a:pt x="19" y="100"/>
                </a:lnTo>
                <a:lnTo>
                  <a:pt x="19" y="98"/>
                </a:lnTo>
                <a:lnTo>
                  <a:pt x="4" y="98"/>
                </a:lnTo>
                <a:lnTo>
                  <a:pt x="0" y="83"/>
                </a:lnTo>
                <a:lnTo>
                  <a:pt x="19" y="77"/>
                </a:lnTo>
                <a:lnTo>
                  <a:pt x="19" y="75"/>
                </a:lnTo>
                <a:lnTo>
                  <a:pt x="4" y="75"/>
                </a:lnTo>
                <a:lnTo>
                  <a:pt x="0" y="61"/>
                </a:lnTo>
                <a:lnTo>
                  <a:pt x="19" y="53"/>
                </a:lnTo>
                <a:lnTo>
                  <a:pt x="19" y="51"/>
                </a:lnTo>
                <a:lnTo>
                  <a:pt x="4" y="51"/>
                </a:lnTo>
                <a:lnTo>
                  <a:pt x="0" y="39"/>
                </a:lnTo>
                <a:lnTo>
                  <a:pt x="19" y="31"/>
                </a:lnTo>
                <a:lnTo>
                  <a:pt x="19" y="8"/>
                </a:lnTo>
                <a:lnTo>
                  <a:pt x="19" y="0"/>
                </a:lnTo>
                <a:lnTo>
                  <a:pt x="27" y="0"/>
                </a:lnTo>
                <a:lnTo>
                  <a:pt x="27" y="0"/>
                </a:lnTo>
                <a:close/>
                <a:moveTo>
                  <a:pt x="63" y="79"/>
                </a:moveTo>
                <a:lnTo>
                  <a:pt x="63" y="88"/>
                </a:lnTo>
                <a:lnTo>
                  <a:pt x="84" y="88"/>
                </a:lnTo>
                <a:lnTo>
                  <a:pt x="84" y="79"/>
                </a:lnTo>
                <a:lnTo>
                  <a:pt x="63" y="79"/>
                </a:lnTo>
                <a:lnTo>
                  <a:pt x="63" y="79"/>
                </a:lnTo>
                <a:close/>
                <a:moveTo>
                  <a:pt x="63" y="61"/>
                </a:moveTo>
                <a:lnTo>
                  <a:pt x="63" y="69"/>
                </a:lnTo>
                <a:lnTo>
                  <a:pt x="100" y="69"/>
                </a:lnTo>
                <a:lnTo>
                  <a:pt x="100" y="61"/>
                </a:lnTo>
                <a:lnTo>
                  <a:pt x="63" y="61"/>
                </a:lnTo>
                <a:lnTo>
                  <a:pt x="63" y="61"/>
                </a:lnTo>
                <a:close/>
                <a:moveTo>
                  <a:pt x="63" y="45"/>
                </a:moveTo>
                <a:lnTo>
                  <a:pt x="63" y="53"/>
                </a:lnTo>
                <a:lnTo>
                  <a:pt x="116" y="53"/>
                </a:lnTo>
                <a:lnTo>
                  <a:pt x="116" y="45"/>
                </a:lnTo>
                <a:lnTo>
                  <a:pt x="63" y="45"/>
                </a:lnTo>
                <a:lnTo>
                  <a:pt x="63" y="45"/>
                </a:lnTo>
                <a:close/>
                <a:moveTo>
                  <a:pt x="63" y="29"/>
                </a:moveTo>
                <a:lnTo>
                  <a:pt x="63" y="35"/>
                </a:lnTo>
                <a:lnTo>
                  <a:pt x="116" y="35"/>
                </a:lnTo>
                <a:lnTo>
                  <a:pt x="116" y="29"/>
                </a:lnTo>
                <a:lnTo>
                  <a:pt x="63" y="29"/>
                </a:lnTo>
                <a:lnTo>
                  <a:pt x="63" y="29"/>
                </a:lnTo>
                <a:close/>
                <a:moveTo>
                  <a:pt x="84" y="130"/>
                </a:moveTo>
                <a:lnTo>
                  <a:pt x="96" y="130"/>
                </a:lnTo>
                <a:lnTo>
                  <a:pt x="106" y="130"/>
                </a:lnTo>
                <a:lnTo>
                  <a:pt x="96" y="118"/>
                </a:lnTo>
                <a:lnTo>
                  <a:pt x="86" y="108"/>
                </a:lnTo>
                <a:lnTo>
                  <a:pt x="86" y="120"/>
                </a:lnTo>
                <a:lnTo>
                  <a:pt x="84" y="130"/>
                </a:lnTo>
                <a:lnTo>
                  <a:pt x="84" y="130"/>
                </a:lnTo>
                <a:close/>
                <a:moveTo>
                  <a:pt x="161" y="37"/>
                </a:moveTo>
                <a:lnTo>
                  <a:pt x="96" y="100"/>
                </a:lnTo>
                <a:lnTo>
                  <a:pt x="116" y="120"/>
                </a:lnTo>
                <a:lnTo>
                  <a:pt x="181" y="57"/>
                </a:lnTo>
                <a:lnTo>
                  <a:pt x="161" y="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8D0E11D-9DF4-3F6F-4654-687E1E87F48B}"/>
              </a:ext>
            </a:extLst>
          </p:cNvPr>
          <p:cNvSpPr txBox="1"/>
          <p:nvPr/>
        </p:nvSpPr>
        <p:spPr>
          <a:xfrm>
            <a:off x="2201830" y="1834558"/>
            <a:ext cx="84229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dirty="0"/>
              <a:t>Coder Reviewer Reranking for Code Generation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66D9E3F-D927-791F-1724-AD43A81C593F}"/>
              </a:ext>
            </a:extLst>
          </p:cNvPr>
          <p:cNvSpPr txBox="1"/>
          <p:nvPr/>
        </p:nvSpPr>
        <p:spPr>
          <a:xfrm>
            <a:off x="2067177" y="2513593"/>
            <a:ext cx="86922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作者：</a:t>
            </a:r>
            <a:r>
              <a:rPr lang="en-US" altLang="zh-CN" dirty="0"/>
              <a:t> </a:t>
            </a:r>
            <a:r>
              <a:rPr lang="en-US" altLang="zh-CN" dirty="0" err="1"/>
              <a:t>Tianyi</a:t>
            </a:r>
            <a:r>
              <a:rPr lang="en-US" altLang="zh-CN" dirty="0"/>
              <a:t> Zhang∗ ,</a:t>
            </a:r>
            <a:r>
              <a:rPr lang="zh-CN" altLang="en-US" dirty="0"/>
              <a:t> </a:t>
            </a:r>
            <a:r>
              <a:rPr lang="en-US" altLang="zh-CN" dirty="0"/>
              <a:t>Tao Yu , </a:t>
            </a:r>
            <a:r>
              <a:rPr lang="en-US" altLang="zh-CN" dirty="0" err="1"/>
              <a:t>Tatsunori</a:t>
            </a:r>
            <a:r>
              <a:rPr lang="en-US" altLang="zh-CN" dirty="0"/>
              <a:t> B. Hashimoto, Mike Lewis, Wen-tau </a:t>
            </a:r>
            <a:r>
              <a:rPr lang="en-US" altLang="zh-CN" dirty="0" err="1"/>
              <a:t>Yih</a:t>
            </a:r>
            <a:r>
              <a:rPr lang="en-US" altLang="zh-CN" dirty="0"/>
              <a:t>,  Daniel Fried, </a:t>
            </a:r>
            <a:r>
              <a:rPr lang="en-US" altLang="zh-CN" dirty="0" err="1"/>
              <a:t>Sida</a:t>
            </a:r>
            <a:r>
              <a:rPr lang="en-US" altLang="zh-CN" dirty="0"/>
              <a:t> I. Wang </a:t>
            </a:r>
            <a:endParaRPr lang="zh-CN" altLang="en-US" dirty="0"/>
          </a:p>
        </p:txBody>
      </p:sp>
      <p:sp>
        <p:nvSpPr>
          <p:cNvPr id="2" name="TextBox 84">
            <a:extLst>
              <a:ext uri="{FF2B5EF4-FFF2-40B4-BE49-F238E27FC236}">
                <a16:creationId xmlns:a16="http://schemas.microsoft.com/office/drawing/2014/main" id="{476CEB15-460A-E38A-0E2E-6F32890F6F97}"/>
              </a:ext>
            </a:extLst>
          </p:cNvPr>
          <p:cNvSpPr txBox="1"/>
          <p:nvPr/>
        </p:nvSpPr>
        <p:spPr>
          <a:xfrm>
            <a:off x="4340000" y="4781343"/>
            <a:ext cx="34740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zh-CN" altLang="en-US" sz="1400" dirty="0"/>
              <a:t>汇报人：邱盈钢    日期：</a:t>
            </a:r>
            <a:r>
              <a:rPr lang="en-US" altLang="zh-CN" sz="1400" dirty="0"/>
              <a:t>2025</a:t>
            </a:r>
            <a:r>
              <a:rPr lang="zh-CN" altLang="en-US" sz="1400" dirty="0"/>
              <a:t>年</a:t>
            </a:r>
            <a:r>
              <a:rPr lang="en-US" altLang="zh-CN" sz="1400" dirty="0"/>
              <a:t>5</a:t>
            </a:r>
            <a:r>
              <a:rPr lang="zh-CN" altLang="en-US" sz="1400" dirty="0"/>
              <a:t>月</a:t>
            </a:r>
            <a:r>
              <a:rPr lang="en-US" altLang="zh-CN" sz="1400" dirty="0"/>
              <a:t>11</a:t>
            </a:r>
            <a:r>
              <a:rPr lang="zh-CN" altLang="en-US" sz="1400" dirty="0"/>
              <a:t>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6E2D061-28BD-2CA1-B8C8-1C185FBA6713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2023</a:t>
            </a:r>
            <a:r>
              <a:rPr lang="zh-CN" altLang="en-US" dirty="0"/>
              <a:t>年 </a:t>
            </a:r>
            <a:r>
              <a:rPr lang="en-US" altLang="zh-CN" dirty="0"/>
              <a:t>ICML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812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1.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大语言模型生成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EEAFD97-0041-F376-2DD1-158E6F148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409" y="695491"/>
            <a:ext cx="8198367" cy="278679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612BACC-9181-6FF1-3E0E-38E7290E4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5409" y="3539469"/>
            <a:ext cx="8198367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8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>
            <a:extLst>
              <a:ext uri="{FF2B5EF4-FFF2-40B4-BE49-F238E27FC236}">
                <a16:creationId xmlns:a16="http://schemas.microsoft.com/office/drawing/2014/main" id="{A9E8E819-F3F8-80E6-660C-21964CEDE033}"/>
              </a:ext>
            </a:extLst>
          </p:cNvPr>
          <p:cNvGrpSpPr/>
          <p:nvPr/>
        </p:nvGrpSpPr>
        <p:grpSpPr>
          <a:xfrm>
            <a:off x="1500552" y="5353619"/>
            <a:ext cx="4325815" cy="328246"/>
            <a:chOff x="1500552" y="4661957"/>
            <a:chExt cx="4325815" cy="3282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矩形: 圆角 50">
                  <a:extLst>
                    <a:ext uri="{FF2B5EF4-FFF2-40B4-BE49-F238E27FC236}">
                      <a16:creationId xmlns:a16="http://schemas.microsoft.com/office/drawing/2014/main" id="{76F73FC7-CAE7-F83C-BFF3-1A35BC89EC77}"/>
                    </a:ext>
                  </a:extLst>
                </p:cNvPr>
                <p:cNvSpPr/>
                <p:nvPr/>
              </p:nvSpPr>
              <p:spPr>
                <a:xfrm>
                  <a:off x="1500552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1" name="矩形: 圆角 50">
                  <a:extLst>
                    <a:ext uri="{FF2B5EF4-FFF2-40B4-BE49-F238E27FC236}">
                      <a16:creationId xmlns:a16="http://schemas.microsoft.com/office/drawing/2014/main" id="{76F73FC7-CAE7-F83C-BFF3-1A35BC89EC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0552" y="4661957"/>
                  <a:ext cx="527538" cy="328246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矩形: 圆角 51">
                  <a:extLst>
                    <a:ext uri="{FF2B5EF4-FFF2-40B4-BE49-F238E27FC236}">
                      <a16:creationId xmlns:a16="http://schemas.microsoft.com/office/drawing/2014/main" id="{DC499B6F-4E4F-95CF-76D4-FC4D9FE347E4}"/>
                    </a:ext>
                  </a:extLst>
                </p:cNvPr>
                <p:cNvSpPr/>
                <p:nvPr/>
              </p:nvSpPr>
              <p:spPr>
                <a:xfrm>
                  <a:off x="4539172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2" name="矩形: 圆角 51">
                  <a:extLst>
                    <a:ext uri="{FF2B5EF4-FFF2-40B4-BE49-F238E27FC236}">
                      <a16:creationId xmlns:a16="http://schemas.microsoft.com/office/drawing/2014/main" id="{DC499B6F-4E4F-95CF-76D4-FC4D9FE347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9172" y="4661957"/>
                  <a:ext cx="527538" cy="328246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矩形: 圆角 52">
                  <a:extLst>
                    <a:ext uri="{FF2B5EF4-FFF2-40B4-BE49-F238E27FC236}">
                      <a16:creationId xmlns:a16="http://schemas.microsoft.com/office/drawing/2014/main" id="{09FFBF49-912B-C5C5-08D2-DBE121A8253F}"/>
                    </a:ext>
                  </a:extLst>
                </p:cNvPr>
                <p:cNvSpPr/>
                <p:nvPr/>
              </p:nvSpPr>
              <p:spPr>
                <a:xfrm>
                  <a:off x="2260207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3" name="矩形: 圆角 52">
                  <a:extLst>
                    <a:ext uri="{FF2B5EF4-FFF2-40B4-BE49-F238E27FC236}">
                      <a16:creationId xmlns:a16="http://schemas.microsoft.com/office/drawing/2014/main" id="{09FFBF49-912B-C5C5-08D2-DBE121A825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207" y="4661957"/>
                  <a:ext cx="527538" cy="328246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矩形: 圆角 53">
                  <a:extLst>
                    <a:ext uri="{FF2B5EF4-FFF2-40B4-BE49-F238E27FC236}">
                      <a16:creationId xmlns:a16="http://schemas.microsoft.com/office/drawing/2014/main" id="{7DB72F58-0270-6403-A44A-BD3BF5FCE75A}"/>
                    </a:ext>
                  </a:extLst>
                </p:cNvPr>
                <p:cNvSpPr/>
                <p:nvPr/>
              </p:nvSpPr>
              <p:spPr>
                <a:xfrm>
                  <a:off x="3019862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4" name="矩形: 圆角 53">
                  <a:extLst>
                    <a:ext uri="{FF2B5EF4-FFF2-40B4-BE49-F238E27FC236}">
                      <a16:creationId xmlns:a16="http://schemas.microsoft.com/office/drawing/2014/main" id="{7DB72F58-0270-6403-A44A-BD3BF5FCE75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9862" y="4661957"/>
                  <a:ext cx="527538" cy="328246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矩形: 圆角 54">
                  <a:extLst>
                    <a:ext uri="{FF2B5EF4-FFF2-40B4-BE49-F238E27FC236}">
                      <a16:creationId xmlns:a16="http://schemas.microsoft.com/office/drawing/2014/main" id="{D61A3EA6-A119-24E8-1D77-FA1AEC085EDD}"/>
                    </a:ext>
                  </a:extLst>
                </p:cNvPr>
                <p:cNvSpPr/>
                <p:nvPr/>
              </p:nvSpPr>
              <p:spPr>
                <a:xfrm>
                  <a:off x="3779517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5" name="矩形: 圆角 54">
                  <a:extLst>
                    <a:ext uri="{FF2B5EF4-FFF2-40B4-BE49-F238E27FC236}">
                      <a16:creationId xmlns:a16="http://schemas.microsoft.com/office/drawing/2014/main" id="{D61A3EA6-A119-24E8-1D77-FA1AEC085E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9517" y="4661957"/>
                  <a:ext cx="527538" cy="328246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矩形: 圆角 55">
                  <a:extLst>
                    <a:ext uri="{FF2B5EF4-FFF2-40B4-BE49-F238E27FC236}">
                      <a16:creationId xmlns:a16="http://schemas.microsoft.com/office/drawing/2014/main" id="{E4E64B40-A4FD-519E-EA4A-17B30FCF7FC3}"/>
                    </a:ext>
                  </a:extLst>
                </p:cNvPr>
                <p:cNvSpPr/>
                <p:nvPr/>
              </p:nvSpPr>
              <p:spPr>
                <a:xfrm>
                  <a:off x="5298829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6" name="矩形: 圆角 55">
                  <a:extLst>
                    <a:ext uri="{FF2B5EF4-FFF2-40B4-BE49-F238E27FC236}">
                      <a16:creationId xmlns:a16="http://schemas.microsoft.com/office/drawing/2014/main" id="{E4E64B40-A4FD-519E-EA4A-17B30FCF7F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8829" y="4661957"/>
                  <a:ext cx="527538" cy="328246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1.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大语言模型生成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112809D-02AB-7B50-03B9-C50B83DC8972}"/>
              </a:ext>
            </a:extLst>
          </p:cNvPr>
          <p:cNvSpPr/>
          <p:nvPr/>
        </p:nvSpPr>
        <p:spPr>
          <a:xfrm>
            <a:off x="1283677" y="3696598"/>
            <a:ext cx="9624646" cy="109024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LLM</a:t>
            </a:r>
            <a:endParaRPr lang="zh-CN" altLang="en-US" sz="3600" dirty="0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4DF46BA-B287-61C2-1AA2-CDCA46462DD3}"/>
              </a:ext>
            </a:extLst>
          </p:cNvPr>
          <p:cNvGrpSpPr/>
          <p:nvPr/>
        </p:nvGrpSpPr>
        <p:grpSpPr>
          <a:xfrm>
            <a:off x="1500552" y="5353619"/>
            <a:ext cx="4325815" cy="328246"/>
            <a:chOff x="1500552" y="4661957"/>
            <a:chExt cx="4325815" cy="3282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: 圆角 3">
                  <a:extLst>
                    <a:ext uri="{FF2B5EF4-FFF2-40B4-BE49-F238E27FC236}">
                      <a16:creationId xmlns:a16="http://schemas.microsoft.com/office/drawing/2014/main" id="{3E87ACDA-04D3-7141-CD80-AEB85EFD7F82}"/>
                    </a:ext>
                  </a:extLst>
                </p:cNvPr>
                <p:cNvSpPr/>
                <p:nvPr/>
              </p:nvSpPr>
              <p:spPr>
                <a:xfrm>
                  <a:off x="1500552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" name="矩形: 圆角 3">
                  <a:extLst>
                    <a:ext uri="{FF2B5EF4-FFF2-40B4-BE49-F238E27FC236}">
                      <a16:creationId xmlns:a16="http://schemas.microsoft.com/office/drawing/2014/main" id="{3E87ACDA-04D3-7141-CD80-AEB85EFD7F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0552" y="4661957"/>
                  <a:ext cx="527538" cy="328246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: 圆角 5">
                  <a:extLst>
                    <a:ext uri="{FF2B5EF4-FFF2-40B4-BE49-F238E27FC236}">
                      <a16:creationId xmlns:a16="http://schemas.microsoft.com/office/drawing/2014/main" id="{207E2D02-C934-0769-BBB2-EC8319ACA980}"/>
                    </a:ext>
                  </a:extLst>
                </p:cNvPr>
                <p:cNvSpPr/>
                <p:nvPr/>
              </p:nvSpPr>
              <p:spPr>
                <a:xfrm>
                  <a:off x="4539172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" name="矩形: 圆角 5">
                  <a:extLst>
                    <a:ext uri="{FF2B5EF4-FFF2-40B4-BE49-F238E27FC236}">
                      <a16:creationId xmlns:a16="http://schemas.microsoft.com/office/drawing/2014/main" id="{207E2D02-C934-0769-BBB2-EC8319ACA9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9172" y="4661957"/>
                  <a:ext cx="527538" cy="328246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: 圆角 6">
                  <a:extLst>
                    <a:ext uri="{FF2B5EF4-FFF2-40B4-BE49-F238E27FC236}">
                      <a16:creationId xmlns:a16="http://schemas.microsoft.com/office/drawing/2014/main" id="{DBE0E3B5-7E2B-B8F6-351C-0B2EA9D84FB2}"/>
                    </a:ext>
                  </a:extLst>
                </p:cNvPr>
                <p:cNvSpPr/>
                <p:nvPr/>
              </p:nvSpPr>
              <p:spPr>
                <a:xfrm>
                  <a:off x="2260207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7" name="矩形: 圆角 6">
                  <a:extLst>
                    <a:ext uri="{FF2B5EF4-FFF2-40B4-BE49-F238E27FC236}">
                      <a16:creationId xmlns:a16="http://schemas.microsoft.com/office/drawing/2014/main" id="{DBE0E3B5-7E2B-B8F6-351C-0B2EA9D84F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207" y="4661957"/>
                  <a:ext cx="527538" cy="328246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: 圆角 7">
                  <a:extLst>
                    <a:ext uri="{FF2B5EF4-FFF2-40B4-BE49-F238E27FC236}">
                      <a16:creationId xmlns:a16="http://schemas.microsoft.com/office/drawing/2014/main" id="{D2E8960F-8112-5BA0-6D26-5DA78A844598}"/>
                    </a:ext>
                  </a:extLst>
                </p:cNvPr>
                <p:cNvSpPr/>
                <p:nvPr/>
              </p:nvSpPr>
              <p:spPr>
                <a:xfrm>
                  <a:off x="3019862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8" name="矩形: 圆角 7">
                  <a:extLst>
                    <a:ext uri="{FF2B5EF4-FFF2-40B4-BE49-F238E27FC236}">
                      <a16:creationId xmlns:a16="http://schemas.microsoft.com/office/drawing/2014/main" id="{D2E8960F-8112-5BA0-6D26-5DA78A8445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9862" y="4661957"/>
                  <a:ext cx="527538" cy="328246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: 圆角 9">
                  <a:extLst>
                    <a:ext uri="{FF2B5EF4-FFF2-40B4-BE49-F238E27FC236}">
                      <a16:creationId xmlns:a16="http://schemas.microsoft.com/office/drawing/2014/main" id="{AEF96B10-FF6B-FAF8-9A52-4F2238EF154B}"/>
                    </a:ext>
                  </a:extLst>
                </p:cNvPr>
                <p:cNvSpPr/>
                <p:nvPr/>
              </p:nvSpPr>
              <p:spPr>
                <a:xfrm>
                  <a:off x="3779517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0" name="矩形: 圆角 9">
                  <a:extLst>
                    <a:ext uri="{FF2B5EF4-FFF2-40B4-BE49-F238E27FC236}">
                      <a16:creationId xmlns:a16="http://schemas.microsoft.com/office/drawing/2014/main" id="{AEF96B10-FF6B-FAF8-9A52-4F2238EF15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9517" y="4661957"/>
                  <a:ext cx="527538" cy="328246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: 圆角 10">
                  <a:extLst>
                    <a:ext uri="{FF2B5EF4-FFF2-40B4-BE49-F238E27FC236}">
                      <a16:creationId xmlns:a16="http://schemas.microsoft.com/office/drawing/2014/main" id="{7FFB4539-C11B-4420-4DD9-FE71A5CF7DBA}"/>
                    </a:ext>
                  </a:extLst>
                </p:cNvPr>
                <p:cNvSpPr/>
                <p:nvPr/>
              </p:nvSpPr>
              <p:spPr>
                <a:xfrm>
                  <a:off x="5298829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1" name="矩形: 圆角 10">
                  <a:extLst>
                    <a:ext uri="{FF2B5EF4-FFF2-40B4-BE49-F238E27FC236}">
                      <a16:creationId xmlns:a16="http://schemas.microsoft.com/office/drawing/2014/main" id="{7FFB4539-C11B-4420-4DD9-FE71A5CF7D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8829" y="4661957"/>
                  <a:ext cx="527538" cy="328246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98BF443-2230-A971-ED05-681F056C9398}"/>
              </a:ext>
            </a:extLst>
          </p:cNvPr>
          <p:cNvCxnSpPr>
            <a:stCxn id="4" idx="0"/>
          </p:cNvCxnSpPr>
          <p:nvPr/>
        </p:nvCxnSpPr>
        <p:spPr>
          <a:xfrm flipV="1">
            <a:off x="1764321" y="4888524"/>
            <a:ext cx="0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B3BFF00-EB4B-5BB4-23DA-3CE7051DA4A7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2523976" y="4888524"/>
            <a:ext cx="0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EA2A1AC-ED7D-93F4-3BEA-A7326C41C582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283631" y="4888524"/>
            <a:ext cx="0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ECD43A9-43FF-AA39-F1F7-CBED674B8DC6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4043286" y="4888524"/>
            <a:ext cx="0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E72D3A6-D04A-1C63-5845-2566762BD7B3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5562596" y="4888524"/>
            <a:ext cx="2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6081240-DE31-A00E-B1C8-E77F861EEACA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802941" y="4888524"/>
            <a:ext cx="0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41E9E170-B61A-CB6A-7205-5E69BF8E0AEC}"/>
              </a:ext>
            </a:extLst>
          </p:cNvPr>
          <p:cNvGrpSpPr/>
          <p:nvPr/>
        </p:nvGrpSpPr>
        <p:grpSpPr>
          <a:xfrm>
            <a:off x="1392115" y="3749709"/>
            <a:ext cx="9407771" cy="411984"/>
            <a:chOff x="1500552" y="2232169"/>
            <a:chExt cx="9407771" cy="411984"/>
          </a:xfrm>
        </p:grpSpPr>
        <p:sp>
          <p:nvSpPr>
            <p:cNvPr id="31" name="双括号 30">
              <a:extLst>
                <a:ext uri="{FF2B5EF4-FFF2-40B4-BE49-F238E27FC236}">
                  <a16:creationId xmlns:a16="http://schemas.microsoft.com/office/drawing/2014/main" id="{EDBB6AFC-A630-DBB2-823B-D810824E9986}"/>
                </a:ext>
              </a:extLst>
            </p:cNvPr>
            <p:cNvSpPr/>
            <p:nvPr/>
          </p:nvSpPr>
          <p:spPr>
            <a:xfrm>
              <a:off x="1500552" y="2232169"/>
              <a:ext cx="9407771" cy="411984"/>
            </a:xfrm>
            <a:prstGeom prst="bracketPair">
              <a:avLst/>
            </a:prstGeom>
            <a:ln w="1905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: 圆角 31">
                  <a:extLst>
                    <a:ext uri="{FF2B5EF4-FFF2-40B4-BE49-F238E27FC236}">
                      <a16:creationId xmlns:a16="http://schemas.microsoft.com/office/drawing/2014/main" id="{9D36B982-628B-99BC-3B72-8D3A8C924C0F}"/>
                    </a:ext>
                  </a:extLst>
                </p:cNvPr>
                <p:cNvSpPr/>
                <p:nvPr/>
              </p:nvSpPr>
              <p:spPr>
                <a:xfrm>
                  <a:off x="1688117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2" name="矩形: 圆角 31">
                  <a:extLst>
                    <a:ext uri="{FF2B5EF4-FFF2-40B4-BE49-F238E27FC236}">
                      <a16:creationId xmlns:a16="http://schemas.microsoft.com/office/drawing/2014/main" id="{9D36B982-628B-99BC-3B72-8D3A8C924C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8117" y="2280020"/>
                  <a:ext cx="527538" cy="328246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: 圆角 32">
                  <a:extLst>
                    <a:ext uri="{FF2B5EF4-FFF2-40B4-BE49-F238E27FC236}">
                      <a16:creationId xmlns:a16="http://schemas.microsoft.com/office/drawing/2014/main" id="{678AF84F-53D8-A5A0-3D80-24E5474CF11E}"/>
                    </a:ext>
                  </a:extLst>
                </p:cNvPr>
                <p:cNvSpPr/>
                <p:nvPr/>
              </p:nvSpPr>
              <p:spPr>
                <a:xfrm>
                  <a:off x="2629871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3" name="矩形: 圆角 32">
                  <a:extLst>
                    <a:ext uri="{FF2B5EF4-FFF2-40B4-BE49-F238E27FC236}">
                      <a16:creationId xmlns:a16="http://schemas.microsoft.com/office/drawing/2014/main" id="{678AF84F-53D8-A5A0-3D80-24E5474CF1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9871" y="2280020"/>
                  <a:ext cx="527538" cy="328246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: 圆角 33">
                  <a:extLst>
                    <a:ext uri="{FF2B5EF4-FFF2-40B4-BE49-F238E27FC236}">
                      <a16:creationId xmlns:a16="http://schemas.microsoft.com/office/drawing/2014/main" id="{1D1DE642-87AC-6E31-2245-D52B18917C03}"/>
                    </a:ext>
                  </a:extLst>
                </p:cNvPr>
                <p:cNvSpPr/>
                <p:nvPr/>
              </p:nvSpPr>
              <p:spPr>
                <a:xfrm>
                  <a:off x="3571625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矩形: 圆角 33">
                  <a:extLst>
                    <a:ext uri="{FF2B5EF4-FFF2-40B4-BE49-F238E27FC236}">
                      <a16:creationId xmlns:a16="http://schemas.microsoft.com/office/drawing/2014/main" id="{1D1DE642-87AC-6E31-2245-D52B18917C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1625" y="2280020"/>
                  <a:ext cx="527538" cy="328246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: 圆角 34">
                  <a:extLst>
                    <a:ext uri="{FF2B5EF4-FFF2-40B4-BE49-F238E27FC236}">
                      <a16:creationId xmlns:a16="http://schemas.microsoft.com/office/drawing/2014/main" id="{D8B2256C-AEC5-D9ED-3A01-7A2014252196}"/>
                    </a:ext>
                  </a:extLst>
                </p:cNvPr>
                <p:cNvSpPr/>
                <p:nvPr/>
              </p:nvSpPr>
              <p:spPr>
                <a:xfrm>
                  <a:off x="4513379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5" name="矩形: 圆角 34">
                  <a:extLst>
                    <a:ext uri="{FF2B5EF4-FFF2-40B4-BE49-F238E27FC236}">
                      <a16:creationId xmlns:a16="http://schemas.microsoft.com/office/drawing/2014/main" id="{D8B2256C-AEC5-D9ED-3A01-7A20142521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3379" y="2280020"/>
                  <a:ext cx="527538" cy="328246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矩形: 圆角 35">
                  <a:extLst>
                    <a:ext uri="{FF2B5EF4-FFF2-40B4-BE49-F238E27FC236}">
                      <a16:creationId xmlns:a16="http://schemas.microsoft.com/office/drawing/2014/main" id="{39200116-9D74-6D4F-B8DC-D5909A7FB6EC}"/>
                    </a:ext>
                  </a:extLst>
                </p:cNvPr>
                <p:cNvSpPr/>
                <p:nvPr/>
              </p:nvSpPr>
              <p:spPr>
                <a:xfrm>
                  <a:off x="5455133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6" name="矩形: 圆角 35">
                  <a:extLst>
                    <a:ext uri="{FF2B5EF4-FFF2-40B4-BE49-F238E27FC236}">
                      <a16:creationId xmlns:a16="http://schemas.microsoft.com/office/drawing/2014/main" id="{39200116-9D74-6D4F-B8DC-D5909A7FB6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5133" y="2280020"/>
                  <a:ext cx="527538" cy="328246"/>
                </a:xfrm>
                <a:prstGeom prst="round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: 圆角 36">
                  <a:extLst>
                    <a:ext uri="{FF2B5EF4-FFF2-40B4-BE49-F238E27FC236}">
                      <a16:creationId xmlns:a16="http://schemas.microsoft.com/office/drawing/2014/main" id="{CFB748B3-8F51-A8D3-F034-12E57D0CF14E}"/>
                    </a:ext>
                  </a:extLst>
                </p:cNvPr>
                <p:cNvSpPr/>
                <p:nvPr/>
              </p:nvSpPr>
              <p:spPr>
                <a:xfrm>
                  <a:off x="6396887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7" name="矩形: 圆角 36">
                  <a:extLst>
                    <a:ext uri="{FF2B5EF4-FFF2-40B4-BE49-F238E27FC236}">
                      <a16:creationId xmlns:a16="http://schemas.microsoft.com/office/drawing/2014/main" id="{CFB748B3-8F51-A8D3-F034-12E57D0CF1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887" y="2280020"/>
                  <a:ext cx="527538" cy="328246"/>
                </a:xfrm>
                <a:prstGeom prst="round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: 圆角 37">
                  <a:extLst>
                    <a:ext uri="{FF2B5EF4-FFF2-40B4-BE49-F238E27FC236}">
                      <a16:creationId xmlns:a16="http://schemas.microsoft.com/office/drawing/2014/main" id="{E1BB1E9D-1F9F-E32D-8836-334B84E31F5B}"/>
                    </a:ext>
                  </a:extLst>
                </p:cNvPr>
                <p:cNvSpPr/>
                <p:nvPr/>
              </p:nvSpPr>
              <p:spPr>
                <a:xfrm>
                  <a:off x="7338641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8" name="矩形: 圆角 37">
                  <a:extLst>
                    <a:ext uri="{FF2B5EF4-FFF2-40B4-BE49-F238E27FC236}">
                      <a16:creationId xmlns:a16="http://schemas.microsoft.com/office/drawing/2014/main" id="{E1BB1E9D-1F9F-E32D-8836-334B84E31F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8641" y="2280020"/>
                  <a:ext cx="527538" cy="328246"/>
                </a:xfrm>
                <a:prstGeom prst="round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: 圆角 38">
                  <a:extLst>
                    <a:ext uri="{FF2B5EF4-FFF2-40B4-BE49-F238E27FC236}">
                      <a16:creationId xmlns:a16="http://schemas.microsoft.com/office/drawing/2014/main" id="{3E61621F-A108-48DD-6812-3F1769D93181}"/>
                    </a:ext>
                  </a:extLst>
                </p:cNvPr>
                <p:cNvSpPr/>
                <p:nvPr/>
              </p:nvSpPr>
              <p:spPr>
                <a:xfrm>
                  <a:off x="8280395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9" name="矩形: 圆角 38">
                  <a:extLst>
                    <a:ext uri="{FF2B5EF4-FFF2-40B4-BE49-F238E27FC236}">
                      <a16:creationId xmlns:a16="http://schemas.microsoft.com/office/drawing/2014/main" id="{3E61621F-A108-48DD-6812-3F1769D931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395" y="2280020"/>
                  <a:ext cx="527538" cy="328246"/>
                </a:xfrm>
                <a:prstGeom prst="round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D010CD6E-CA51-2DE3-5515-306EA6EB4660}"/>
                </a:ext>
              </a:extLst>
            </p:cNvPr>
            <p:cNvSpPr/>
            <p:nvPr/>
          </p:nvSpPr>
          <p:spPr>
            <a:xfrm>
              <a:off x="9123482" y="2285763"/>
              <a:ext cx="724872" cy="328246"/>
            </a:xfrm>
            <a:prstGeom prst="roundRect">
              <a:avLst/>
            </a:prstGeom>
            <a:ln w="19050"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······</a:t>
              </a:r>
              <a:endParaRPr lang="zh-CN" altLang="en-US" sz="20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: 圆角 41">
                  <a:extLst>
                    <a:ext uri="{FF2B5EF4-FFF2-40B4-BE49-F238E27FC236}">
                      <a16:creationId xmlns:a16="http://schemas.microsoft.com/office/drawing/2014/main" id="{346E95B1-E6CE-8A67-37B7-8C495E361D06}"/>
                    </a:ext>
                  </a:extLst>
                </p:cNvPr>
                <p:cNvSpPr/>
                <p:nvPr/>
              </p:nvSpPr>
              <p:spPr>
                <a:xfrm>
                  <a:off x="10163903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2" name="矩形: 圆角 41">
                  <a:extLst>
                    <a:ext uri="{FF2B5EF4-FFF2-40B4-BE49-F238E27FC236}">
                      <a16:creationId xmlns:a16="http://schemas.microsoft.com/office/drawing/2014/main" id="{346E95B1-E6CE-8A67-37B7-8C495E361D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3903" y="2280020"/>
                  <a:ext cx="527538" cy="328246"/>
                </a:xfrm>
                <a:prstGeom prst="round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E69DF924-3D56-4C69-27EC-74BB3199175A}"/>
              </a:ext>
            </a:extLst>
          </p:cNvPr>
          <p:cNvCxnSpPr>
            <a:cxnSpLocks/>
          </p:cNvCxnSpPr>
          <p:nvPr/>
        </p:nvCxnSpPr>
        <p:spPr>
          <a:xfrm flipV="1">
            <a:off x="6096000" y="3335815"/>
            <a:ext cx="0" cy="360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C8EB39CA-5B96-B9DD-FCF5-14F5E1E08F0D}"/>
              </a:ext>
            </a:extLst>
          </p:cNvPr>
          <p:cNvCxnSpPr>
            <a:cxnSpLocks/>
          </p:cNvCxnSpPr>
          <p:nvPr/>
        </p:nvCxnSpPr>
        <p:spPr>
          <a:xfrm flipV="1">
            <a:off x="6096000" y="2414954"/>
            <a:ext cx="0" cy="441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248E180-E42F-CBE9-C6C8-6AAC8ED54005}"/>
              </a:ext>
            </a:extLst>
          </p:cNvPr>
          <p:cNvGrpSpPr/>
          <p:nvPr/>
        </p:nvGrpSpPr>
        <p:grpSpPr>
          <a:xfrm>
            <a:off x="1392115" y="2856723"/>
            <a:ext cx="9407771" cy="411984"/>
            <a:chOff x="1500552" y="2232169"/>
            <a:chExt cx="9407771" cy="411984"/>
          </a:xfrm>
        </p:grpSpPr>
        <p:sp>
          <p:nvSpPr>
            <p:cNvPr id="60" name="双括号 59">
              <a:extLst>
                <a:ext uri="{FF2B5EF4-FFF2-40B4-BE49-F238E27FC236}">
                  <a16:creationId xmlns:a16="http://schemas.microsoft.com/office/drawing/2014/main" id="{0284A721-605C-E75E-6607-EABF676056DD}"/>
                </a:ext>
              </a:extLst>
            </p:cNvPr>
            <p:cNvSpPr/>
            <p:nvPr/>
          </p:nvSpPr>
          <p:spPr>
            <a:xfrm>
              <a:off x="1500552" y="2232169"/>
              <a:ext cx="9407771" cy="411984"/>
            </a:xfrm>
            <a:prstGeom prst="bracketPair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矩形: 圆角 60">
                  <a:extLst>
                    <a:ext uri="{FF2B5EF4-FFF2-40B4-BE49-F238E27FC236}">
                      <a16:creationId xmlns:a16="http://schemas.microsoft.com/office/drawing/2014/main" id="{31B54D36-CB99-3E29-BDBA-A35009762DFF}"/>
                    </a:ext>
                  </a:extLst>
                </p:cNvPr>
                <p:cNvSpPr/>
                <p:nvPr/>
              </p:nvSpPr>
              <p:spPr>
                <a:xfrm>
                  <a:off x="1688117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1" name="矩形: 圆角 60">
                  <a:extLst>
                    <a:ext uri="{FF2B5EF4-FFF2-40B4-BE49-F238E27FC236}">
                      <a16:creationId xmlns:a16="http://schemas.microsoft.com/office/drawing/2014/main" id="{31B54D36-CB99-3E29-BDBA-A35009762D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8117" y="2280020"/>
                  <a:ext cx="527538" cy="328246"/>
                </a:xfrm>
                <a:prstGeom prst="roundRect">
                  <a:avLst/>
                </a:prstGeom>
                <a:blipFill>
                  <a:blip r:embed="rId18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矩形: 圆角 61">
                  <a:extLst>
                    <a:ext uri="{FF2B5EF4-FFF2-40B4-BE49-F238E27FC236}">
                      <a16:creationId xmlns:a16="http://schemas.microsoft.com/office/drawing/2014/main" id="{D0C7E69F-B085-6266-76C4-B7F7A9174DAC}"/>
                    </a:ext>
                  </a:extLst>
                </p:cNvPr>
                <p:cNvSpPr/>
                <p:nvPr/>
              </p:nvSpPr>
              <p:spPr>
                <a:xfrm>
                  <a:off x="2629871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2" name="矩形: 圆角 61">
                  <a:extLst>
                    <a:ext uri="{FF2B5EF4-FFF2-40B4-BE49-F238E27FC236}">
                      <a16:creationId xmlns:a16="http://schemas.microsoft.com/office/drawing/2014/main" id="{D0C7E69F-B085-6266-76C4-B7F7A9174D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9871" y="2280020"/>
                  <a:ext cx="527538" cy="328246"/>
                </a:xfrm>
                <a:prstGeom prst="roundRect">
                  <a:avLst/>
                </a:prstGeom>
                <a:blipFill>
                  <a:blip r:embed="rId19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矩形: 圆角 62">
                  <a:extLst>
                    <a:ext uri="{FF2B5EF4-FFF2-40B4-BE49-F238E27FC236}">
                      <a16:creationId xmlns:a16="http://schemas.microsoft.com/office/drawing/2014/main" id="{CC21BCB4-3A1B-F289-E613-E1CE6D1E6D5B}"/>
                    </a:ext>
                  </a:extLst>
                </p:cNvPr>
                <p:cNvSpPr/>
                <p:nvPr/>
              </p:nvSpPr>
              <p:spPr>
                <a:xfrm>
                  <a:off x="3571625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3" name="矩形: 圆角 62">
                  <a:extLst>
                    <a:ext uri="{FF2B5EF4-FFF2-40B4-BE49-F238E27FC236}">
                      <a16:creationId xmlns:a16="http://schemas.microsoft.com/office/drawing/2014/main" id="{CC21BCB4-3A1B-F289-E613-E1CE6D1E6D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1625" y="2280020"/>
                  <a:ext cx="527538" cy="328246"/>
                </a:xfrm>
                <a:prstGeom prst="roundRect">
                  <a:avLst/>
                </a:prstGeom>
                <a:blipFill>
                  <a:blip r:embed="rId20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矩形: 圆角 63">
                  <a:extLst>
                    <a:ext uri="{FF2B5EF4-FFF2-40B4-BE49-F238E27FC236}">
                      <a16:creationId xmlns:a16="http://schemas.microsoft.com/office/drawing/2014/main" id="{55D821DE-7CED-A3BB-27DA-0B39F425088C}"/>
                    </a:ext>
                  </a:extLst>
                </p:cNvPr>
                <p:cNvSpPr/>
                <p:nvPr/>
              </p:nvSpPr>
              <p:spPr>
                <a:xfrm>
                  <a:off x="4513379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4" name="矩形: 圆角 63">
                  <a:extLst>
                    <a:ext uri="{FF2B5EF4-FFF2-40B4-BE49-F238E27FC236}">
                      <a16:creationId xmlns:a16="http://schemas.microsoft.com/office/drawing/2014/main" id="{55D821DE-7CED-A3BB-27DA-0B39F42508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3379" y="2280020"/>
                  <a:ext cx="527538" cy="328246"/>
                </a:xfrm>
                <a:prstGeom prst="roundRect">
                  <a:avLst/>
                </a:prstGeom>
                <a:blipFill>
                  <a:blip r:embed="rId21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矩形: 圆角 64">
                  <a:extLst>
                    <a:ext uri="{FF2B5EF4-FFF2-40B4-BE49-F238E27FC236}">
                      <a16:creationId xmlns:a16="http://schemas.microsoft.com/office/drawing/2014/main" id="{0C9EA585-9757-5098-0FE3-26AC3490B0C6}"/>
                    </a:ext>
                  </a:extLst>
                </p:cNvPr>
                <p:cNvSpPr/>
                <p:nvPr/>
              </p:nvSpPr>
              <p:spPr>
                <a:xfrm>
                  <a:off x="5455133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5" name="矩形: 圆角 64">
                  <a:extLst>
                    <a:ext uri="{FF2B5EF4-FFF2-40B4-BE49-F238E27FC236}">
                      <a16:creationId xmlns:a16="http://schemas.microsoft.com/office/drawing/2014/main" id="{0C9EA585-9757-5098-0FE3-26AC3490B0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5133" y="2280020"/>
                  <a:ext cx="527538" cy="328246"/>
                </a:xfrm>
                <a:prstGeom prst="roundRect">
                  <a:avLst/>
                </a:prstGeom>
                <a:blipFill>
                  <a:blip r:embed="rId22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矩形: 圆角 65">
                  <a:extLst>
                    <a:ext uri="{FF2B5EF4-FFF2-40B4-BE49-F238E27FC236}">
                      <a16:creationId xmlns:a16="http://schemas.microsoft.com/office/drawing/2014/main" id="{29CFC344-1843-1FF0-BF8E-F7027C9F67E1}"/>
                    </a:ext>
                  </a:extLst>
                </p:cNvPr>
                <p:cNvSpPr/>
                <p:nvPr/>
              </p:nvSpPr>
              <p:spPr>
                <a:xfrm>
                  <a:off x="6396887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6" name="矩形: 圆角 65">
                  <a:extLst>
                    <a:ext uri="{FF2B5EF4-FFF2-40B4-BE49-F238E27FC236}">
                      <a16:creationId xmlns:a16="http://schemas.microsoft.com/office/drawing/2014/main" id="{29CFC344-1843-1FF0-BF8E-F7027C9F67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887" y="2280020"/>
                  <a:ext cx="527538" cy="328246"/>
                </a:xfrm>
                <a:prstGeom prst="roundRect">
                  <a:avLst/>
                </a:prstGeom>
                <a:blipFill>
                  <a:blip r:embed="rId23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矩形: 圆角 66">
                  <a:extLst>
                    <a:ext uri="{FF2B5EF4-FFF2-40B4-BE49-F238E27FC236}">
                      <a16:creationId xmlns:a16="http://schemas.microsoft.com/office/drawing/2014/main" id="{DB6431E6-E409-7198-FD11-69A076D817DC}"/>
                    </a:ext>
                  </a:extLst>
                </p:cNvPr>
                <p:cNvSpPr/>
                <p:nvPr/>
              </p:nvSpPr>
              <p:spPr>
                <a:xfrm>
                  <a:off x="7338641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7" name="矩形: 圆角 66">
                  <a:extLst>
                    <a:ext uri="{FF2B5EF4-FFF2-40B4-BE49-F238E27FC236}">
                      <a16:creationId xmlns:a16="http://schemas.microsoft.com/office/drawing/2014/main" id="{DB6431E6-E409-7198-FD11-69A076D817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8641" y="2280020"/>
                  <a:ext cx="527538" cy="328246"/>
                </a:xfrm>
                <a:prstGeom prst="roundRect">
                  <a:avLst/>
                </a:prstGeom>
                <a:blipFill>
                  <a:blip r:embed="rId24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矩形: 圆角 67">
                  <a:extLst>
                    <a:ext uri="{FF2B5EF4-FFF2-40B4-BE49-F238E27FC236}">
                      <a16:creationId xmlns:a16="http://schemas.microsoft.com/office/drawing/2014/main" id="{3CB7511F-49C9-9117-0E18-9242E651A2A7}"/>
                    </a:ext>
                  </a:extLst>
                </p:cNvPr>
                <p:cNvSpPr/>
                <p:nvPr/>
              </p:nvSpPr>
              <p:spPr>
                <a:xfrm>
                  <a:off x="8280395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8" name="矩形: 圆角 67">
                  <a:extLst>
                    <a:ext uri="{FF2B5EF4-FFF2-40B4-BE49-F238E27FC236}">
                      <a16:creationId xmlns:a16="http://schemas.microsoft.com/office/drawing/2014/main" id="{3CB7511F-49C9-9117-0E18-9242E651A2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395" y="2280020"/>
                  <a:ext cx="527538" cy="328246"/>
                </a:xfrm>
                <a:prstGeom prst="roundRect">
                  <a:avLst/>
                </a:prstGeom>
                <a:blipFill>
                  <a:blip r:embed="rId25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9AF9EFED-B6E7-C0E5-1041-E1E540776E0D}"/>
                </a:ext>
              </a:extLst>
            </p:cNvPr>
            <p:cNvSpPr/>
            <p:nvPr/>
          </p:nvSpPr>
          <p:spPr>
            <a:xfrm>
              <a:off x="9123482" y="2285763"/>
              <a:ext cx="724872" cy="328246"/>
            </a:xfrm>
            <a:prstGeom prst="roundRect">
              <a:avLst/>
            </a:prstGeom>
            <a:ln w="19050"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······</a:t>
              </a:r>
              <a:endParaRPr lang="zh-CN" altLang="en-US" sz="20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矩形: 圆角 69">
                  <a:extLst>
                    <a:ext uri="{FF2B5EF4-FFF2-40B4-BE49-F238E27FC236}">
                      <a16:creationId xmlns:a16="http://schemas.microsoft.com/office/drawing/2014/main" id="{8FE395CF-6EC6-EEAF-1D60-6126C5E3B887}"/>
                    </a:ext>
                  </a:extLst>
                </p:cNvPr>
                <p:cNvSpPr/>
                <p:nvPr/>
              </p:nvSpPr>
              <p:spPr>
                <a:xfrm>
                  <a:off x="10163903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70" name="矩形: 圆角 69">
                  <a:extLst>
                    <a:ext uri="{FF2B5EF4-FFF2-40B4-BE49-F238E27FC236}">
                      <a16:creationId xmlns:a16="http://schemas.microsoft.com/office/drawing/2014/main" id="{8FE395CF-6EC6-EEAF-1D60-6126C5E3B8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3903" y="2280020"/>
                  <a:ext cx="527538" cy="328246"/>
                </a:xfrm>
                <a:prstGeom prst="roundRect">
                  <a:avLst/>
                </a:prstGeom>
                <a:blipFill>
                  <a:blip r:embed="rId26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3" name="文本框 72">
            <a:extLst>
              <a:ext uri="{FF2B5EF4-FFF2-40B4-BE49-F238E27FC236}">
                <a16:creationId xmlns:a16="http://schemas.microsoft.com/office/drawing/2014/main" id="{80F144D0-311F-557B-C70B-34D0509AECC9}"/>
              </a:ext>
            </a:extLst>
          </p:cNvPr>
          <p:cNvSpPr txBox="1"/>
          <p:nvPr/>
        </p:nvSpPr>
        <p:spPr>
          <a:xfrm>
            <a:off x="6234244" y="2438734"/>
            <a:ext cx="1233356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softmax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EF7EE8B-96EC-4A61-E547-8462BD4C6838}"/>
              </a:ext>
            </a:extLst>
          </p:cNvPr>
          <p:cNvSpPr txBox="1"/>
          <p:nvPr/>
        </p:nvSpPr>
        <p:spPr>
          <a:xfrm>
            <a:off x="428096" y="2877335"/>
            <a:ext cx="934700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logits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DDD8110-DDFA-66C0-D9A2-7855AB91B76C}"/>
              </a:ext>
            </a:extLst>
          </p:cNvPr>
          <p:cNvSpPr txBox="1"/>
          <p:nvPr/>
        </p:nvSpPr>
        <p:spPr>
          <a:xfrm>
            <a:off x="428862" y="1998939"/>
            <a:ext cx="934700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概率</a:t>
            </a: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9DF02B50-852D-E7C6-295E-C1EEB4A68FF7}"/>
              </a:ext>
            </a:extLst>
          </p:cNvPr>
          <p:cNvCxnSpPr>
            <a:cxnSpLocks/>
          </p:cNvCxnSpPr>
          <p:nvPr/>
        </p:nvCxnSpPr>
        <p:spPr>
          <a:xfrm flipH="1" flipV="1">
            <a:off x="6095999" y="1395046"/>
            <a:ext cx="2" cy="445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A8DBE88F-788A-06EB-EC1C-5999122A9710}"/>
              </a:ext>
            </a:extLst>
          </p:cNvPr>
          <p:cNvSpPr txBox="1"/>
          <p:nvPr/>
        </p:nvSpPr>
        <p:spPr>
          <a:xfrm>
            <a:off x="6234244" y="1417760"/>
            <a:ext cx="740985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采样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7061BD98-F5B8-7CE0-419B-9ECC0436678C}"/>
                  </a:ext>
                </a:extLst>
              </p:cNvPr>
              <p:cNvSpPr/>
              <p:nvPr/>
            </p:nvSpPr>
            <p:spPr>
              <a:xfrm>
                <a:off x="5831400" y="1007190"/>
                <a:ext cx="529200" cy="327600"/>
              </a:xfrm>
              <a:prstGeom prst="round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7061BD98-F5B8-7CE0-419B-9ECC043667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1400" y="1007190"/>
                <a:ext cx="529200" cy="327600"/>
              </a:xfrm>
              <a:prstGeom prst="roundRect">
                <a:avLst/>
              </a:prstGeom>
              <a:blipFill>
                <a:blip r:embed="rId27"/>
                <a:stretch>
                  <a:fillRect b="-3509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0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1.85185E-6 L -6.25E-7 -0.1393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96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85185E-6 L 0 -0.12361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18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22222E-6 L 0 -0.12338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181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22222E-6 L 0.01823 0.63449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2" y="31644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3" grpId="1"/>
      <p:bldP spid="74" grpId="0"/>
      <p:bldP spid="74" grpId="1"/>
      <p:bldP spid="75" grpId="0"/>
      <p:bldP spid="75" grpId="1"/>
      <p:bldP spid="84" grpId="0"/>
      <p:bldP spid="84" grpId="1"/>
      <p:bldP spid="86" grpId="0" animBg="1"/>
      <p:bldP spid="86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1.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大语言模型生成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112809D-02AB-7B50-03B9-C50B83DC8972}"/>
              </a:ext>
            </a:extLst>
          </p:cNvPr>
          <p:cNvSpPr/>
          <p:nvPr/>
        </p:nvSpPr>
        <p:spPr>
          <a:xfrm>
            <a:off x="1283677" y="3696598"/>
            <a:ext cx="9624646" cy="109024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LLM</a:t>
            </a:r>
            <a:endParaRPr lang="zh-CN" altLang="en-US" sz="3600" dirty="0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4DF46BA-B287-61C2-1AA2-CDCA46462DD3}"/>
              </a:ext>
            </a:extLst>
          </p:cNvPr>
          <p:cNvGrpSpPr/>
          <p:nvPr/>
        </p:nvGrpSpPr>
        <p:grpSpPr>
          <a:xfrm>
            <a:off x="1500552" y="5353619"/>
            <a:ext cx="4325815" cy="328246"/>
            <a:chOff x="1500552" y="4661957"/>
            <a:chExt cx="4325815" cy="3282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: 圆角 3">
                  <a:extLst>
                    <a:ext uri="{FF2B5EF4-FFF2-40B4-BE49-F238E27FC236}">
                      <a16:creationId xmlns:a16="http://schemas.microsoft.com/office/drawing/2014/main" id="{3E87ACDA-04D3-7141-CD80-AEB85EFD7F82}"/>
                    </a:ext>
                  </a:extLst>
                </p:cNvPr>
                <p:cNvSpPr/>
                <p:nvPr/>
              </p:nvSpPr>
              <p:spPr>
                <a:xfrm>
                  <a:off x="1500552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" name="矩形: 圆角 3">
                  <a:extLst>
                    <a:ext uri="{FF2B5EF4-FFF2-40B4-BE49-F238E27FC236}">
                      <a16:creationId xmlns:a16="http://schemas.microsoft.com/office/drawing/2014/main" id="{3E87ACDA-04D3-7141-CD80-AEB85EFD7F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0552" y="4661957"/>
                  <a:ext cx="527538" cy="328246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: 圆角 5">
                  <a:extLst>
                    <a:ext uri="{FF2B5EF4-FFF2-40B4-BE49-F238E27FC236}">
                      <a16:creationId xmlns:a16="http://schemas.microsoft.com/office/drawing/2014/main" id="{207E2D02-C934-0769-BBB2-EC8319ACA980}"/>
                    </a:ext>
                  </a:extLst>
                </p:cNvPr>
                <p:cNvSpPr/>
                <p:nvPr/>
              </p:nvSpPr>
              <p:spPr>
                <a:xfrm>
                  <a:off x="4539172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" name="矩形: 圆角 5">
                  <a:extLst>
                    <a:ext uri="{FF2B5EF4-FFF2-40B4-BE49-F238E27FC236}">
                      <a16:creationId xmlns:a16="http://schemas.microsoft.com/office/drawing/2014/main" id="{207E2D02-C934-0769-BBB2-EC8319ACA9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9172" y="4661957"/>
                  <a:ext cx="527538" cy="328246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: 圆角 6">
                  <a:extLst>
                    <a:ext uri="{FF2B5EF4-FFF2-40B4-BE49-F238E27FC236}">
                      <a16:creationId xmlns:a16="http://schemas.microsoft.com/office/drawing/2014/main" id="{DBE0E3B5-7E2B-B8F6-351C-0B2EA9D84FB2}"/>
                    </a:ext>
                  </a:extLst>
                </p:cNvPr>
                <p:cNvSpPr/>
                <p:nvPr/>
              </p:nvSpPr>
              <p:spPr>
                <a:xfrm>
                  <a:off x="2260207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7" name="矩形: 圆角 6">
                  <a:extLst>
                    <a:ext uri="{FF2B5EF4-FFF2-40B4-BE49-F238E27FC236}">
                      <a16:creationId xmlns:a16="http://schemas.microsoft.com/office/drawing/2014/main" id="{DBE0E3B5-7E2B-B8F6-351C-0B2EA9D84F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207" y="4661957"/>
                  <a:ext cx="527538" cy="328246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: 圆角 7">
                  <a:extLst>
                    <a:ext uri="{FF2B5EF4-FFF2-40B4-BE49-F238E27FC236}">
                      <a16:creationId xmlns:a16="http://schemas.microsoft.com/office/drawing/2014/main" id="{D2E8960F-8112-5BA0-6D26-5DA78A844598}"/>
                    </a:ext>
                  </a:extLst>
                </p:cNvPr>
                <p:cNvSpPr/>
                <p:nvPr/>
              </p:nvSpPr>
              <p:spPr>
                <a:xfrm>
                  <a:off x="3019862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8" name="矩形: 圆角 7">
                  <a:extLst>
                    <a:ext uri="{FF2B5EF4-FFF2-40B4-BE49-F238E27FC236}">
                      <a16:creationId xmlns:a16="http://schemas.microsoft.com/office/drawing/2014/main" id="{D2E8960F-8112-5BA0-6D26-5DA78A8445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9862" y="4661957"/>
                  <a:ext cx="527538" cy="328246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: 圆角 9">
                  <a:extLst>
                    <a:ext uri="{FF2B5EF4-FFF2-40B4-BE49-F238E27FC236}">
                      <a16:creationId xmlns:a16="http://schemas.microsoft.com/office/drawing/2014/main" id="{AEF96B10-FF6B-FAF8-9A52-4F2238EF154B}"/>
                    </a:ext>
                  </a:extLst>
                </p:cNvPr>
                <p:cNvSpPr/>
                <p:nvPr/>
              </p:nvSpPr>
              <p:spPr>
                <a:xfrm>
                  <a:off x="3779517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0" name="矩形: 圆角 9">
                  <a:extLst>
                    <a:ext uri="{FF2B5EF4-FFF2-40B4-BE49-F238E27FC236}">
                      <a16:creationId xmlns:a16="http://schemas.microsoft.com/office/drawing/2014/main" id="{AEF96B10-FF6B-FAF8-9A52-4F2238EF15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9517" y="4661957"/>
                  <a:ext cx="527538" cy="328246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: 圆角 10">
                  <a:extLst>
                    <a:ext uri="{FF2B5EF4-FFF2-40B4-BE49-F238E27FC236}">
                      <a16:creationId xmlns:a16="http://schemas.microsoft.com/office/drawing/2014/main" id="{7FFB4539-C11B-4420-4DD9-FE71A5CF7DBA}"/>
                    </a:ext>
                  </a:extLst>
                </p:cNvPr>
                <p:cNvSpPr/>
                <p:nvPr/>
              </p:nvSpPr>
              <p:spPr>
                <a:xfrm>
                  <a:off x="5298829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1" name="矩形: 圆角 10">
                  <a:extLst>
                    <a:ext uri="{FF2B5EF4-FFF2-40B4-BE49-F238E27FC236}">
                      <a16:creationId xmlns:a16="http://schemas.microsoft.com/office/drawing/2014/main" id="{7FFB4539-C11B-4420-4DD9-FE71A5CF7D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8829" y="4661957"/>
                  <a:ext cx="527538" cy="328246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98BF443-2230-A971-ED05-681F056C9398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764321" y="4888524"/>
            <a:ext cx="0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B3BFF00-EB4B-5BB4-23DA-3CE7051DA4A7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2523976" y="4888524"/>
            <a:ext cx="0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EA2A1AC-ED7D-93F4-3BEA-A7326C41C582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283631" y="4888524"/>
            <a:ext cx="0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ECD43A9-43FF-AA39-F1F7-CBED674B8DC6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4043286" y="4888524"/>
            <a:ext cx="0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E72D3A6-D04A-1C63-5845-2566762BD7B3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5562596" y="4888524"/>
            <a:ext cx="2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6081240-DE31-A00E-B1C8-E77F861EEACA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802941" y="4888524"/>
            <a:ext cx="0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41E9E170-B61A-CB6A-7205-5E69BF8E0AEC}"/>
              </a:ext>
            </a:extLst>
          </p:cNvPr>
          <p:cNvGrpSpPr/>
          <p:nvPr/>
        </p:nvGrpSpPr>
        <p:grpSpPr>
          <a:xfrm>
            <a:off x="1362796" y="2905146"/>
            <a:ext cx="9407771" cy="411984"/>
            <a:chOff x="1500552" y="2232169"/>
            <a:chExt cx="9407771" cy="411984"/>
          </a:xfrm>
        </p:grpSpPr>
        <p:sp>
          <p:nvSpPr>
            <p:cNvPr id="31" name="双括号 30">
              <a:extLst>
                <a:ext uri="{FF2B5EF4-FFF2-40B4-BE49-F238E27FC236}">
                  <a16:creationId xmlns:a16="http://schemas.microsoft.com/office/drawing/2014/main" id="{EDBB6AFC-A630-DBB2-823B-D810824E9986}"/>
                </a:ext>
              </a:extLst>
            </p:cNvPr>
            <p:cNvSpPr/>
            <p:nvPr/>
          </p:nvSpPr>
          <p:spPr>
            <a:xfrm>
              <a:off x="1500552" y="2232169"/>
              <a:ext cx="9407771" cy="411984"/>
            </a:xfrm>
            <a:prstGeom prst="bracketPair">
              <a:avLst/>
            </a:prstGeom>
            <a:ln w="1905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矩形: 圆角 31">
                  <a:extLst>
                    <a:ext uri="{FF2B5EF4-FFF2-40B4-BE49-F238E27FC236}">
                      <a16:creationId xmlns:a16="http://schemas.microsoft.com/office/drawing/2014/main" id="{9D36B982-628B-99BC-3B72-8D3A8C924C0F}"/>
                    </a:ext>
                  </a:extLst>
                </p:cNvPr>
                <p:cNvSpPr/>
                <p:nvPr/>
              </p:nvSpPr>
              <p:spPr>
                <a:xfrm>
                  <a:off x="1688117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2" name="矩形: 圆角 31">
                  <a:extLst>
                    <a:ext uri="{FF2B5EF4-FFF2-40B4-BE49-F238E27FC236}">
                      <a16:creationId xmlns:a16="http://schemas.microsoft.com/office/drawing/2014/main" id="{9D36B982-628B-99BC-3B72-8D3A8C924C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8117" y="2280020"/>
                  <a:ext cx="527538" cy="328246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: 圆角 32">
                  <a:extLst>
                    <a:ext uri="{FF2B5EF4-FFF2-40B4-BE49-F238E27FC236}">
                      <a16:creationId xmlns:a16="http://schemas.microsoft.com/office/drawing/2014/main" id="{678AF84F-53D8-A5A0-3D80-24E5474CF11E}"/>
                    </a:ext>
                  </a:extLst>
                </p:cNvPr>
                <p:cNvSpPr/>
                <p:nvPr/>
              </p:nvSpPr>
              <p:spPr>
                <a:xfrm>
                  <a:off x="2629871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3" name="矩形: 圆角 32">
                  <a:extLst>
                    <a:ext uri="{FF2B5EF4-FFF2-40B4-BE49-F238E27FC236}">
                      <a16:creationId xmlns:a16="http://schemas.microsoft.com/office/drawing/2014/main" id="{678AF84F-53D8-A5A0-3D80-24E5474CF1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9871" y="2280020"/>
                  <a:ext cx="527538" cy="328246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: 圆角 33">
                  <a:extLst>
                    <a:ext uri="{FF2B5EF4-FFF2-40B4-BE49-F238E27FC236}">
                      <a16:creationId xmlns:a16="http://schemas.microsoft.com/office/drawing/2014/main" id="{1D1DE642-87AC-6E31-2245-D52B18917C03}"/>
                    </a:ext>
                  </a:extLst>
                </p:cNvPr>
                <p:cNvSpPr/>
                <p:nvPr/>
              </p:nvSpPr>
              <p:spPr>
                <a:xfrm>
                  <a:off x="3571625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矩形: 圆角 33">
                  <a:extLst>
                    <a:ext uri="{FF2B5EF4-FFF2-40B4-BE49-F238E27FC236}">
                      <a16:creationId xmlns:a16="http://schemas.microsoft.com/office/drawing/2014/main" id="{1D1DE642-87AC-6E31-2245-D52B18917C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1625" y="2280020"/>
                  <a:ext cx="527538" cy="328246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: 圆角 34">
                  <a:extLst>
                    <a:ext uri="{FF2B5EF4-FFF2-40B4-BE49-F238E27FC236}">
                      <a16:creationId xmlns:a16="http://schemas.microsoft.com/office/drawing/2014/main" id="{D8B2256C-AEC5-D9ED-3A01-7A2014252196}"/>
                    </a:ext>
                  </a:extLst>
                </p:cNvPr>
                <p:cNvSpPr/>
                <p:nvPr/>
              </p:nvSpPr>
              <p:spPr>
                <a:xfrm>
                  <a:off x="4513379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5" name="矩形: 圆角 34">
                  <a:extLst>
                    <a:ext uri="{FF2B5EF4-FFF2-40B4-BE49-F238E27FC236}">
                      <a16:creationId xmlns:a16="http://schemas.microsoft.com/office/drawing/2014/main" id="{D8B2256C-AEC5-D9ED-3A01-7A20142521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3379" y="2280020"/>
                  <a:ext cx="527538" cy="328246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矩形: 圆角 35">
                  <a:extLst>
                    <a:ext uri="{FF2B5EF4-FFF2-40B4-BE49-F238E27FC236}">
                      <a16:creationId xmlns:a16="http://schemas.microsoft.com/office/drawing/2014/main" id="{39200116-9D74-6D4F-B8DC-D5909A7FB6EC}"/>
                    </a:ext>
                  </a:extLst>
                </p:cNvPr>
                <p:cNvSpPr/>
                <p:nvPr/>
              </p:nvSpPr>
              <p:spPr>
                <a:xfrm>
                  <a:off x="5455133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6" name="矩形: 圆角 35">
                  <a:extLst>
                    <a:ext uri="{FF2B5EF4-FFF2-40B4-BE49-F238E27FC236}">
                      <a16:creationId xmlns:a16="http://schemas.microsoft.com/office/drawing/2014/main" id="{39200116-9D74-6D4F-B8DC-D5909A7FB6E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5133" y="2280020"/>
                  <a:ext cx="527538" cy="328246"/>
                </a:xfrm>
                <a:prstGeom prst="round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: 圆角 36">
                  <a:extLst>
                    <a:ext uri="{FF2B5EF4-FFF2-40B4-BE49-F238E27FC236}">
                      <a16:creationId xmlns:a16="http://schemas.microsoft.com/office/drawing/2014/main" id="{CFB748B3-8F51-A8D3-F034-12E57D0CF14E}"/>
                    </a:ext>
                  </a:extLst>
                </p:cNvPr>
                <p:cNvSpPr/>
                <p:nvPr/>
              </p:nvSpPr>
              <p:spPr>
                <a:xfrm>
                  <a:off x="6396887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7" name="矩形: 圆角 36">
                  <a:extLst>
                    <a:ext uri="{FF2B5EF4-FFF2-40B4-BE49-F238E27FC236}">
                      <a16:creationId xmlns:a16="http://schemas.microsoft.com/office/drawing/2014/main" id="{CFB748B3-8F51-A8D3-F034-12E57D0CF1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887" y="2280020"/>
                  <a:ext cx="527538" cy="328246"/>
                </a:xfrm>
                <a:prstGeom prst="round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: 圆角 37">
                  <a:extLst>
                    <a:ext uri="{FF2B5EF4-FFF2-40B4-BE49-F238E27FC236}">
                      <a16:creationId xmlns:a16="http://schemas.microsoft.com/office/drawing/2014/main" id="{E1BB1E9D-1F9F-E32D-8836-334B84E31F5B}"/>
                    </a:ext>
                  </a:extLst>
                </p:cNvPr>
                <p:cNvSpPr/>
                <p:nvPr/>
              </p:nvSpPr>
              <p:spPr>
                <a:xfrm>
                  <a:off x="7338641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8" name="矩形: 圆角 37">
                  <a:extLst>
                    <a:ext uri="{FF2B5EF4-FFF2-40B4-BE49-F238E27FC236}">
                      <a16:creationId xmlns:a16="http://schemas.microsoft.com/office/drawing/2014/main" id="{E1BB1E9D-1F9F-E32D-8836-334B84E31F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8641" y="2280020"/>
                  <a:ext cx="527538" cy="328246"/>
                </a:xfrm>
                <a:prstGeom prst="round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: 圆角 38">
                  <a:extLst>
                    <a:ext uri="{FF2B5EF4-FFF2-40B4-BE49-F238E27FC236}">
                      <a16:creationId xmlns:a16="http://schemas.microsoft.com/office/drawing/2014/main" id="{3E61621F-A108-48DD-6812-3F1769D93181}"/>
                    </a:ext>
                  </a:extLst>
                </p:cNvPr>
                <p:cNvSpPr/>
                <p:nvPr/>
              </p:nvSpPr>
              <p:spPr>
                <a:xfrm>
                  <a:off x="8280395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9" name="矩形: 圆角 38">
                  <a:extLst>
                    <a:ext uri="{FF2B5EF4-FFF2-40B4-BE49-F238E27FC236}">
                      <a16:creationId xmlns:a16="http://schemas.microsoft.com/office/drawing/2014/main" id="{3E61621F-A108-48DD-6812-3F1769D931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395" y="2280020"/>
                  <a:ext cx="527538" cy="328246"/>
                </a:xfrm>
                <a:prstGeom prst="round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D010CD6E-CA51-2DE3-5515-306EA6EB4660}"/>
                </a:ext>
              </a:extLst>
            </p:cNvPr>
            <p:cNvSpPr/>
            <p:nvPr/>
          </p:nvSpPr>
          <p:spPr>
            <a:xfrm>
              <a:off x="9123482" y="2285763"/>
              <a:ext cx="724872" cy="328246"/>
            </a:xfrm>
            <a:prstGeom prst="roundRect">
              <a:avLst/>
            </a:prstGeom>
            <a:ln w="19050"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······</a:t>
              </a:r>
              <a:endParaRPr lang="zh-CN" altLang="en-US" sz="20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: 圆角 41">
                  <a:extLst>
                    <a:ext uri="{FF2B5EF4-FFF2-40B4-BE49-F238E27FC236}">
                      <a16:creationId xmlns:a16="http://schemas.microsoft.com/office/drawing/2014/main" id="{346E95B1-E6CE-8A67-37B7-8C495E361D06}"/>
                    </a:ext>
                  </a:extLst>
                </p:cNvPr>
                <p:cNvSpPr/>
                <p:nvPr/>
              </p:nvSpPr>
              <p:spPr>
                <a:xfrm>
                  <a:off x="10163903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2" name="矩形: 圆角 41">
                  <a:extLst>
                    <a:ext uri="{FF2B5EF4-FFF2-40B4-BE49-F238E27FC236}">
                      <a16:creationId xmlns:a16="http://schemas.microsoft.com/office/drawing/2014/main" id="{346E95B1-E6CE-8A67-37B7-8C495E361D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3903" y="2280020"/>
                  <a:ext cx="527538" cy="328246"/>
                </a:xfrm>
                <a:prstGeom prst="round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E69DF924-3D56-4C69-27EC-74BB3199175A}"/>
              </a:ext>
            </a:extLst>
          </p:cNvPr>
          <p:cNvCxnSpPr>
            <a:cxnSpLocks/>
          </p:cNvCxnSpPr>
          <p:nvPr/>
        </p:nvCxnSpPr>
        <p:spPr>
          <a:xfrm flipV="1">
            <a:off x="6096000" y="3335815"/>
            <a:ext cx="0" cy="360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C8EB39CA-5B96-B9DD-FCF5-14F5E1E08F0D}"/>
              </a:ext>
            </a:extLst>
          </p:cNvPr>
          <p:cNvCxnSpPr>
            <a:cxnSpLocks/>
          </p:cNvCxnSpPr>
          <p:nvPr/>
        </p:nvCxnSpPr>
        <p:spPr>
          <a:xfrm flipV="1">
            <a:off x="6096000" y="2414954"/>
            <a:ext cx="0" cy="441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248E180-E42F-CBE9-C6C8-6AAC8ED54005}"/>
              </a:ext>
            </a:extLst>
          </p:cNvPr>
          <p:cNvGrpSpPr/>
          <p:nvPr/>
        </p:nvGrpSpPr>
        <p:grpSpPr>
          <a:xfrm>
            <a:off x="1387216" y="1999109"/>
            <a:ext cx="9407771" cy="411984"/>
            <a:chOff x="1500552" y="2232169"/>
            <a:chExt cx="9407771" cy="411984"/>
          </a:xfrm>
        </p:grpSpPr>
        <p:sp>
          <p:nvSpPr>
            <p:cNvPr id="60" name="双括号 59">
              <a:extLst>
                <a:ext uri="{FF2B5EF4-FFF2-40B4-BE49-F238E27FC236}">
                  <a16:creationId xmlns:a16="http://schemas.microsoft.com/office/drawing/2014/main" id="{0284A721-605C-E75E-6607-EABF676056DD}"/>
                </a:ext>
              </a:extLst>
            </p:cNvPr>
            <p:cNvSpPr/>
            <p:nvPr/>
          </p:nvSpPr>
          <p:spPr>
            <a:xfrm>
              <a:off x="1500552" y="2232169"/>
              <a:ext cx="9407771" cy="411984"/>
            </a:xfrm>
            <a:prstGeom prst="bracketPair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矩形: 圆角 60">
                  <a:extLst>
                    <a:ext uri="{FF2B5EF4-FFF2-40B4-BE49-F238E27FC236}">
                      <a16:creationId xmlns:a16="http://schemas.microsoft.com/office/drawing/2014/main" id="{31B54D36-CB99-3E29-BDBA-A35009762DFF}"/>
                    </a:ext>
                  </a:extLst>
                </p:cNvPr>
                <p:cNvSpPr/>
                <p:nvPr/>
              </p:nvSpPr>
              <p:spPr>
                <a:xfrm>
                  <a:off x="1688117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1" name="矩形: 圆角 60">
                  <a:extLst>
                    <a:ext uri="{FF2B5EF4-FFF2-40B4-BE49-F238E27FC236}">
                      <a16:creationId xmlns:a16="http://schemas.microsoft.com/office/drawing/2014/main" id="{31B54D36-CB99-3E29-BDBA-A35009762D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8117" y="2280020"/>
                  <a:ext cx="527538" cy="328246"/>
                </a:xfrm>
                <a:prstGeom prst="roundRect">
                  <a:avLst/>
                </a:prstGeom>
                <a:blipFill>
                  <a:blip r:embed="rId18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矩形: 圆角 61">
                  <a:extLst>
                    <a:ext uri="{FF2B5EF4-FFF2-40B4-BE49-F238E27FC236}">
                      <a16:creationId xmlns:a16="http://schemas.microsoft.com/office/drawing/2014/main" id="{D0C7E69F-B085-6266-76C4-B7F7A9174DAC}"/>
                    </a:ext>
                  </a:extLst>
                </p:cNvPr>
                <p:cNvSpPr/>
                <p:nvPr/>
              </p:nvSpPr>
              <p:spPr>
                <a:xfrm>
                  <a:off x="2629871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2" name="矩形: 圆角 61">
                  <a:extLst>
                    <a:ext uri="{FF2B5EF4-FFF2-40B4-BE49-F238E27FC236}">
                      <a16:creationId xmlns:a16="http://schemas.microsoft.com/office/drawing/2014/main" id="{D0C7E69F-B085-6266-76C4-B7F7A9174D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9871" y="2280020"/>
                  <a:ext cx="527538" cy="328246"/>
                </a:xfrm>
                <a:prstGeom prst="roundRect">
                  <a:avLst/>
                </a:prstGeom>
                <a:blipFill>
                  <a:blip r:embed="rId19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矩形: 圆角 62">
                  <a:extLst>
                    <a:ext uri="{FF2B5EF4-FFF2-40B4-BE49-F238E27FC236}">
                      <a16:creationId xmlns:a16="http://schemas.microsoft.com/office/drawing/2014/main" id="{CC21BCB4-3A1B-F289-E613-E1CE6D1E6D5B}"/>
                    </a:ext>
                  </a:extLst>
                </p:cNvPr>
                <p:cNvSpPr/>
                <p:nvPr/>
              </p:nvSpPr>
              <p:spPr>
                <a:xfrm>
                  <a:off x="3571625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3" name="矩形: 圆角 62">
                  <a:extLst>
                    <a:ext uri="{FF2B5EF4-FFF2-40B4-BE49-F238E27FC236}">
                      <a16:creationId xmlns:a16="http://schemas.microsoft.com/office/drawing/2014/main" id="{CC21BCB4-3A1B-F289-E613-E1CE6D1E6D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1625" y="2280020"/>
                  <a:ext cx="527538" cy="328246"/>
                </a:xfrm>
                <a:prstGeom prst="roundRect">
                  <a:avLst/>
                </a:prstGeom>
                <a:blipFill>
                  <a:blip r:embed="rId20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矩形: 圆角 63">
                  <a:extLst>
                    <a:ext uri="{FF2B5EF4-FFF2-40B4-BE49-F238E27FC236}">
                      <a16:creationId xmlns:a16="http://schemas.microsoft.com/office/drawing/2014/main" id="{55D821DE-7CED-A3BB-27DA-0B39F425088C}"/>
                    </a:ext>
                  </a:extLst>
                </p:cNvPr>
                <p:cNvSpPr/>
                <p:nvPr/>
              </p:nvSpPr>
              <p:spPr>
                <a:xfrm>
                  <a:off x="4513379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4" name="矩形: 圆角 63">
                  <a:extLst>
                    <a:ext uri="{FF2B5EF4-FFF2-40B4-BE49-F238E27FC236}">
                      <a16:creationId xmlns:a16="http://schemas.microsoft.com/office/drawing/2014/main" id="{55D821DE-7CED-A3BB-27DA-0B39F42508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3379" y="2280020"/>
                  <a:ext cx="527538" cy="328246"/>
                </a:xfrm>
                <a:prstGeom prst="roundRect">
                  <a:avLst/>
                </a:prstGeom>
                <a:blipFill>
                  <a:blip r:embed="rId21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矩形: 圆角 64">
                  <a:extLst>
                    <a:ext uri="{FF2B5EF4-FFF2-40B4-BE49-F238E27FC236}">
                      <a16:creationId xmlns:a16="http://schemas.microsoft.com/office/drawing/2014/main" id="{0C9EA585-9757-5098-0FE3-26AC3490B0C6}"/>
                    </a:ext>
                  </a:extLst>
                </p:cNvPr>
                <p:cNvSpPr/>
                <p:nvPr/>
              </p:nvSpPr>
              <p:spPr>
                <a:xfrm>
                  <a:off x="5455133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5" name="矩形: 圆角 64">
                  <a:extLst>
                    <a:ext uri="{FF2B5EF4-FFF2-40B4-BE49-F238E27FC236}">
                      <a16:creationId xmlns:a16="http://schemas.microsoft.com/office/drawing/2014/main" id="{0C9EA585-9757-5098-0FE3-26AC3490B0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5133" y="2280020"/>
                  <a:ext cx="527538" cy="328246"/>
                </a:xfrm>
                <a:prstGeom prst="roundRect">
                  <a:avLst/>
                </a:prstGeom>
                <a:blipFill>
                  <a:blip r:embed="rId22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矩形: 圆角 65">
                  <a:extLst>
                    <a:ext uri="{FF2B5EF4-FFF2-40B4-BE49-F238E27FC236}">
                      <a16:creationId xmlns:a16="http://schemas.microsoft.com/office/drawing/2014/main" id="{29CFC344-1843-1FF0-BF8E-F7027C9F67E1}"/>
                    </a:ext>
                  </a:extLst>
                </p:cNvPr>
                <p:cNvSpPr/>
                <p:nvPr/>
              </p:nvSpPr>
              <p:spPr>
                <a:xfrm>
                  <a:off x="6396887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6" name="矩形: 圆角 65">
                  <a:extLst>
                    <a:ext uri="{FF2B5EF4-FFF2-40B4-BE49-F238E27FC236}">
                      <a16:creationId xmlns:a16="http://schemas.microsoft.com/office/drawing/2014/main" id="{29CFC344-1843-1FF0-BF8E-F7027C9F67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887" y="2280020"/>
                  <a:ext cx="527538" cy="328246"/>
                </a:xfrm>
                <a:prstGeom prst="roundRect">
                  <a:avLst/>
                </a:prstGeom>
                <a:blipFill>
                  <a:blip r:embed="rId23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矩形: 圆角 66">
                  <a:extLst>
                    <a:ext uri="{FF2B5EF4-FFF2-40B4-BE49-F238E27FC236}">
                      <a16:creationId xmlns:a16="http://schemas.microsoft.com/office/drawing/2014/main" id="{DB6431E6-E409-7198-FD11-69A076D817DC}"/>
                    </a:ext>
                  </a:extLst>
                </p:cNvPr>
                <p:cNvSpPr/>
                <p:nvPr/>
              </p:nvSpPr>
              <p:spPr>
                <a:xfrm>
                  <a:off x="7338641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7" name="矩形: 圆角 66">
                  <a:extLst>
                    <a:ext uri="{FF2B5EF4-FFF2-40B4-BE49-F238E27FC236}">
                      <a16:creationId xmlns:a16="http://schemas.microsoft.com/office/drawing/2014/main" id="{DB6431E6-E409-7198-FD11-69A076D817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8641" y="2280020"/>
                  <a:ext cx="527538" cy="328246"/>
                </a:xfrm>
                <a:prstGeom prst="roundRect">
                  <a:avLst/>
                </a:prstGeom>
                <a:blipFill>
                  <a:blip r:embed="rId24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矩形: 圆角 67">
                  <a:extLst>
                    <a:ext uri="{FF2B5EF4-FFF2-40B4-BE49-F238E27FC236}">
                      <a16:creationId xmlns:a16="http://schemas.microsoft.com/office/drawing/2014/main" id="{3CB7511F-49C9-9117-0E18-9242E651A2A7}"/>
                    </a:ext>
                  </a:extLst>
                </p:cNvPr>
                <p:cNvSpPr/>
                <p:nvPr/>
              </p:nvSpPr>
              <p:spPr>
                <a:xfrm>
                  <a:off x="8280395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8" name="矩形: 圆角 67">
                  <a:extLst>
                    <a:ext uri="{FF2B5EF4-FFF2-40B4-BE49-F238E27FC236}">
                      <a16:creationId xmlns:a16="http://schemas.microsoft.com/office/drawing/2014/main" id="{3CB7511F-49C9-9117-0E18-9242E651A2A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395" y="2280020"/>
                  <a:ext cx="527538" cy="328246"/>
                </a:xfrm>
                <a:prstGeom prst="roundRect">
                  <a:avLst/>
                </a:prstGeom>
                <a:blipFill>
                  <a:blip r:embed="rId25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9AF9EFED-B6E7-C0E5-1041-E1E540776E0D}"/>
                </a:ext>
              </a:extLst>
            </p:cNvPr>
            <p:cNvSpPr/>
            <p:nvPr/>
          </p:nvSpPr>
          <p:spPr>
            <a:xfrm>
              <a:off x="9123482" y="2285763"/>
              <a:ext cx="724872" cy="328246"/>
            </a:xfrm>
            <a:prstGeom prst="roundRect">
              <a:avLst/>
            </a:prstGeom>
            <a:ln w="19050"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······</a:t>
              </a:r>
              <a:endParaRPr lang="zh-CN" altLang="en-US" sz="20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矩形: 圆角 69">
                  <a:extLst>
                    <a:ext uri="{FF2B5EF4-FFF2-40B4-BE49-F238E27FC236}">
                      <a16:creationId xmlns:a16="http://schemas.microsoft.com/office/drawing/2014/main" id="{8FE395CF-6EC6-EEAF-1D60-6126C5E3B887}"/>
                    </a:ext>
                  </a:extLst>
                </p:cNvPr>
                <p:cNvSpPr/>
                <p:nvPr/>
              </p:nvSpPr>
              <p:spPr>
                <a:xfrm>
                  <a:off x="10163903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70" name="矩形: 圆角 69">
                  <a:extLst>
                    <a:ext uri="{FF2B5EF4-FFF2-40B4-BE49-F238E27FC236}">
                      <a16:creationId xmlns:a16="http://schemas.microsoft.com/office/drawing/2014/main" id="{8FE395CF-6EC6-EEAF-1D60-6126C5E3B8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3903" y="2280020"/>
                  <a:ext cx="527538" cy="328246"/>
                </a:xfrm>
                <a:prstGeom prst="roundRect">
                  <a:avLst/>
                </a:prstGeom>
                <a:blipFill>
                  <a:blip r:embed="rId26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3" name="文本框 72">
            <a:extLst>
              <a:ext uri="{FF2B5EF4-FFF2-40B4-BE49-F238E27FC236}">
                <a16:creationId xmlns:a16="http://schemas.microsoft.com/office/drawing/2014/main" id="{80F144D0-311F-557B-C70B-34D0509AECC9}"/>
              </a:ext>
            </a:extLst>
          </p:cNvPr>
          <p:cNvSpPr txBox="1"/>
          <p:nvPr/>
        </p:nvSpPr>
        <p:spPr>
          <a:xfrm>
            <a:off x="6234244" y="2438734"/>
            <a:ext cx="1233356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softmax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EF7EE8B-96EC-4A61-E547-8462BD4C6838}"/>
              </a:ext>
            </a:extLst>
          </p:cNvPr>
          <p:cNvSpPr txBox="1"/>
          <p:nvPr/>
        </p:nvSpPr>
        <p:spPr>
          <a:xfrm>
            <a:off x="428096" y="2877335"/>
            <a:ext cx="934700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logits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DDD8110-DDFA-66C0-D9A2-7855AB91B76C}"/>
              </a:ext>
            </a:extLst>
          </p:cNvPr>
          <p:cNvSpPr txBox="1"/>
          <p:nvPr/>
        </p:nvSpPr>
        <p:spPr>
          <a:xfrm>
            <a:off x="428862" y="1998939"/>
            <a:ext cx="934700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概率</a:t>
            </a: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9DF02B50-852D-E7C6-295E-C1EEB4A68FF7}"/>
              </a:ext>
            </a:extLst>
          </p:cNvPr>
          <p:cNvCxnSpPr>
            <a:cxnSpLocks/>
          </p:cNvCxnSpPr>
          <p:nvPr/>
        </p:nvCxnSpPr>
        <p:spPr>
          <a:xfrm flipH="1" flipV="1">
            <a:off x="6095999" y="1395046"/>
            <a:ext cx="2" cy="445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A8DBE88F-788A-06EB-EC1C-5999122A9710}"/>
              </a:ext>
            </a:extLst>
          </p:cNvPr>
          <p:cNvSpPr txBox="1"/>
          <p:nvPr/>
        </p:nvSpPr>
        <p:spPr>
          <a:xfrm>
            <a:off x="6234244" y="1417760"/>
            <a:ext cx="787879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采样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7061BD98-F5B8-7CE0-419B-9ECC0436678C}"/>
                  </a:ext>
                </a:extLst>
              </p:cNvPr>
              <p:cNvSpPr/>
              <p:nvPr/>
            </p:nvSpPr>
            <p:spPr>
              <a:xfrm>
                <a:off x="5831400" y="1007190"/>
                <a:ext cx="529200" cy="327600"/>
              </a:xfrm>
              <a:prstGeom prst="round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7061BD98-F5B8-7CE0-419B-9ECC043667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1400" y="1007190"/>
                <a:ext cx="529200" cy="327600"/>
              </a:xfrm>
              <a:prstGeom prst="roundRect">
                <a:avLst/>
              </a:prstGeom>
              <a:blipFill>
                <a:blip r:embed="rId27"/>
                <a:stretch>
                  <a:fillRect b="-3509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矩形: 圆角 86">
                <a:extLst>
                  <a:ext uri="{FF2B5EF4-FFF2-40B4-BE49-F238E27FC236}">
                    <a16:creationId xmlns:a16="http://schemas.microsoft.com/office/drawing/2014/main" id="{4BE79966-7893-7EF6-B651-6695C5A57E41}"/>
                  </a:ext>
                </a:extLst>
              </p:cNvPr>
              <p:cNvSpPr/>
              <p:nvPr/>
            </p:nvSpPr>
            <p:spPr>
              <a:xfrm>
                <a:off x="6056821" y="5349792"/>
                <a:ext cx="529200" cy="327600"/>
              </a:xfrm>
              <a:prstGeom prst="round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7" name="矩形: 圆角 86">
                <a:extLst>
                  <a:ext uri="{FF2B5EF4-FFF2-40B4-BE49-F238E27FC236}">
                    <a16:creationId xmlns:a16="http://schemas.microsoft.com/office/drawing/2014/main" id="{4BE79966-7893-7EF6-B651-6695C5A57E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6821" y="5349792"/>
                <a:ext cx="529200" cy="327600"/>
              </a:xfrm>
              <a:prstGeom prst="roundRect">
                <a:avLst/>
              </a:prstGeom>
              <a:blipFill>
                <a:blip r:embed="rId28"/>
                <a:stretch>
                  <a:fillRect b="-3571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1C20870B-0BE3-7ADB-54A8-130F79F9E90D}"/>
              </a:ext>
            </a:extLst>
          </p:cNvPr>
          <p:cNvCxnSpPr>
            <a:cxnSpLocks/>
            <a:stCxn id="87" idx="0"/>
          </p:cNvCxnSpPr>
          <p:nvPr/>
        </p:nvCxnSpPr>
        <p:spPr>
          <a:xfrm flipV="1">
            <a:off x="6321421" y="4888524"/>
            <a:ext cx="0" cy="461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598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4" grpId="0"/>
      <p:bldP spid="75" grpId="0"/>
      <p:bldP spid="84" grpId="0"/>
      <p:bldP spid="8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1.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大语言模型生成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112809D-02AB-7B50-03B9-C50B83DC8972}"/>
              </a:ext>
            </a:extLst>
          </p:cNvPr>
          <p:cNvSpPr/>
          <p:nvPr/>
        </p:nvSpPr>
        <p:spPr>
          <a:xfrm>
            <a:off x="1283677" y="3696598"/>
            <a:ext cx="9624646" cy="109024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dirty="0"/>
              <a:t>LLM</a:t>
            </a:r>
            <a:endParaRPr lang="zh-CN" altLang="en-US" sz="3600" dirty="0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4DF46BA-B287-61C2-1AA2-CDCA46462DD3}"/>
              </a:ext>
            </a:extLst>
          </p:cNvPr>
          <p:cNvGrpSpPr/>
          <p:nvPr/>
        </p:nvGrpSpPr>
        <p:grpSpPr>
          <a:xfrm>
            <a:off x="1500552" y="5353619"/>
            <a:ext cx="4325815" cy="328246"/>
            <a:chOff x="1500552" y="4661957"/>
            <a:chExt cx="4325815" cy="3282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: 圆角 3">
                  <a:extLst>
                    <a:ext uri="{FF2B5EF4-FFF2-40B4-BE49-F238E27FC236}">
                      <a16:creationId xmlns:a16="http://schemas.microsoft.com/office/drawing/2014/main" id="{3E87ACDA-04D3-7141-CD80-AEB85EFD7F82}"/>
                    </a:ext>
                  </a:extLst>
                </p:cNvPr>
                <p:cNvSpPr/>
                <p:nvPr/>
              </p:nvSpPr>
              <p:spPr>
                <a:xfrm>
                  <a:off x="1500552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" name="矩形: 圆角 3">
                  <a:extLst>
                    <a:ext uri="{FF2B5EF4-FFF2-40B4-BE49-F238E27FC236}">
                      <a16:creationId xmlns:a16="http://schemas.microsoft.com/office/drawing/2014/main" id="{3E87ACDA-04D3-7141-CD80-AEB85EFD7F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00552" y="4661957"/>
                  <a:ext cx="527538" cy="328246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: 圆角 5">
                  <a:extLst>
                    <a:ext uri="{FF2B5EF4-FFF2-40B4-BE49-F238E27FC236}">
                      <a16:creationId xmlns:a16="http://schemas.microsoft.com/office/drawing/2014/main" id="{207E2D02-C934-0769-BBB2-EC8319ACA980}"/>
                    </a:ext>
                  </a:extLst>
                </p:cNvPr>
                <p:cNvSpPr/>
                <p:nvPr/>
              </p:nvSpPr>
              <p:spPr>
                <a:xfrm>
                  <a:off x="4539172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" name="矩形: 圆角 5">
                  <a:extLst>
                    <a:ext uri="{FF2B5EF4-FFF2-40B4-BE49-F238E27FC236}">
                      <a16:creationId xmlns:a16="http://schemas.microsoft.com/office/drawing/2014/main" id="{207E2D02-C934-0769-BBB2-EC8319ACA9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9172" y="4661957"/>
                  <a:ext cx="527538" cy="328246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: 圆角 6">
                  <a:extLst>
                    <a:ext uri="{FF2B5EF4-FFF2-40B4-BE49-F238E27FC236}">
                      <a16:creationId xmlns:a16="http://schemas.microsoft.com/office/drawing/2014/main" id="{DBE0E3B5-7E2B-B8F6-351C-0B2EA9D84FB2}"/>
                    </a:ext>
                  </a:extLst>
                </p:cNvPr>
                <p:cNvSpPr/>
                <p:nvPr/>
              </p:nvSpPr>
              <p:spPr>
                <a:xfrm>
                  <a:off x="2260207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7" name="矩形: 圆角 6">
                  <a:extLst>
                    <a:ext uri="{FF2B5EF4-FFF2-40B4-BE49-F238E27FC236}">
                      <a16:creationId xmlns:a16="http://schemas.microsoft.com/office/drawing/2014/main" id="{DBE0E3B5-7E2B-B8F6-351C-0B2EA9D84F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207" y="4661957"/>
                  <a:ext cx="527538" cy="328246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: 圆角 7">
                  <a:extLst>
                    <a:ext uri="{FF2B5EF4-FFF2-40B4-BE49-F238E27FC236}">
                      <a16:creationId xmlns:a16="http://schemas.microsoft.com/office/drawing/2014/main" id="{D2E8960F-8112-5BA0-6D26-5DA78A844598}"/>
                    </a:ext>
                  </a:extLst>
                </p:cNvPr>
                <p:cNvSpPr/>
                <p:nvPr/>
              </p:nvSpPr>
              <p:spPr>
                <a:xfrm>
                  <a:off x="3019862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8" name="矩形: 圆角 7">
                  <a:extLst>
                    <a:ext uri="{FF2B5EF4-FFF2-40B4-BE49-F238E27FC236}">
                      <a16:creationId xmlns:a16="http://schemas.microsoft.com/office/drawing/2014/main" id="{D2E8960F-8112-5BA0-6D26-5DA78A8445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9862" y="4661957"/>
                  <a:ext cx="527538" cy="328246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: 圆角 9">
                  <a:extLst>
                    <a:ext uri="{FF2B5EF4-FFF2-40B4-BE49-F238E27FC236}">
                      <a16:creationId xmlns:a16="http://schemas.microsoft.com/office/drawing/2014/main" id="{AEF96B10-FF6B-FAF8-9A52-4F2238EF154B}"/>
                    </a:ext>
                  </a:extLst>
                </p:cNvPr>
                <p:cNvSpPr/>
                <p:nvPr/>
              </p:nvSpPr>
              <p:spPr>
                <a:xfrm>
                  <a:off x="3779517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0" name="矩形: 圆角 9">
                  <a:extLst>
                    <a:ext uri="{FF2B5EF4-FFF2-40B4-BE49-F238E27FC236}">
                      <a16:creationId xmlns:a16="http://schemas.microsoft.com/office/drawing/2014/main" id="{AEF96B10-FF6B-FAF8-9A52-4F2238EF15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9517" y="4661957"/>
                  <a:ext cx="527538" cy="328246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: 圆角 10">
                  <a:extLst>
                    <a:ext uri="{FF2B5EF4-FFF2-40B4-BE49-F238E27FC236}">
                      <a16:creationId xmlns:a16="http://schemas.microsoft.com/office/drawing/2014/main" id="{7FFB4539-C11B-4420-4DD9-FE71A5CF7DBA}"/>
                    </a:ext>
                  </a:extLst>
                </p:cNvPr>
                <p:cNvSpPr/>
                <p:nvPr/>
              </p:nvSpPr>
              <p:spPr>
                <a:xfrm>
                  <a:off x="5298829" y="4661957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1" name="矩形: 圆角 10">
                  <a:extLst>
                    <a:ext uri="{FF2B5EF4-FFF2-40B4-BE49-F238E27FC236}">
                      <a16:creationId xmlns:a16="http://schemas.microsoft.com/office/drawing/2014/main" id="{7FFB4539-C11B-4420-4DD9-FE71A5CF7D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8829" y="4661957"/>
                  <a:ext cx="527538" cy="328246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98BF443-2230-A971-ED05-681F056C9398}"/>
              </a:ext>
            </a:extLst>
          </p:cNvPr>
          <p:cNvCxnSpPr>
            <a:stCxn id="4" idx="0"/>
          </p:cNvCxnSpPr>
          <p:nvPr/>
        </p:nvCxnSpPr>
        <p:spPr>
          <a:xfrm flipV="1">
            <a:off x="1764321" y="4888524"/>
            <a:ext cx="0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B3BFF00-EB4B-5BB4-23DA-3CE7051DA4A7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2523976" y="4888524"/>
            <a:ext cx="0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7EA2A1AC-ED7D-93F4-3BEA-A7326C41C582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283631" y="4888524"/>
            <a:ext cx="0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ECD43A9-43FF-AA39-F1F7-CBED674B8DC6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4043286" y="4888524"/>
            <a:ext cx="0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E72D3A6-D04A-1C63-5845-2566762BD7B3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5562596" y="4888524"/>
            <a:ext cx="2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6081240-DE31-A00E-B1C8-E77F861EEACA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4802941" y="4888524"/>
            <a:ext cx="0" cy="465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7061BD98-F5B8-7CE0-419B-9ECC0436678C}"/>
                  </a:ext>
                </a:extLst>
              </p:cNvPr>
              <p:cNvSpPr/>
              <p:nvPr/>
            </p:nvSpPr>
            <p:spPr>
              <a:xfrm>
                <a:off x="6850621" y="5349792"/>
                <a:ext cx="529200" cy="327600"/>
              </a:xfrm>
              <a:prstGeom prst="round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6" name="矩形: 圆角 85">
                <a:extLst>
                  <a:ext uri="{FF2B5EF4-FFF2-40B4-BE49-F238E27FC236}">
                    <a16:creationId xmlns:a16="http://schemas.microsoft.com/office/drawing/2014/main" id="{7061BD98-F5B8-7CE0-419B-9ECC043667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621" y="5349792"/>
                <a:ext cx="529200" cy="327600"/>
              </a:xfrm>
              <a:prstGeom prst="roundRect">
                <a:avLst/>
              </a:prstGeom>
              <a:blipFill>
                <a:blip r:embed="rId9"/>
                <a:stretch>
                  <a:fillRect b="-3571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矩形: 圆角 86">
                <a:extLst>
                  <a:ext uri="{FF2B5EF4-FFF2-40B4-BE49-F238E27FC236}">
                    <a16:creationId xmlns:a16="http://schemas.microsoft.com/office/drawing/2014/main" id="{4BE79966-7893-7EF6-B651-6695C5A57E41}"/>
                  </a:ext>
                </a:extLst>
              </p:cNvPr>
              <p:cNvSpPr/>
              <p:nvPr/>
            </p:nvSpPr>
            <p:spPr>
              <a:xfrm>
                <a:off x="6056821" y="5349792"/>
                <a:ext cx="529200" cy="327600"/>
              </a:xfrm>
              <a:prstGeom prst="round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7" name="矩形: 圆角 86">
                <a:extLst>
                  <a:ext uri="{FF2B5EF4-FFF2-40B4-BE49-F238E27FC236}">
                    <a16:creationId xmlns:a16="http://schemas.microsoft.com/office/drawing/2014/main" id="{4BE79966-7893-7EF6-B651-6695C5A57E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6821" y="5349792"/>
                <a:ext cx="529200" cy="327600"/>
              </a:xfrm>
              <a:prstGeom prst="roundRect">
                <a:avLst/>
              </a:prstGeom>
              <a:blipFill>
                <a:blip r:embed="rId10"/>
                <a:stretch>
                  <a:fillRect b="-3571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1C20870B-0BE3-7ADB-54A8-130F79F9E90D}"/>
              </a:ext>
            </a:extLst>
          </p:cNvPr>
          <p:cNvCxnSpPr>
            <a:cxnSpLocks/>
            <a:stCxn id="87" idx="0"/>
          </p:cNvCxnSpPr>
          <p:nvPr/>
        </p:nvCxnSpPr>
        <p:spPr>
          <a:xfrm flipV="1">
            <a:off x="6321421" y="4888524"/>
            <a:ext cx="0" cy="461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B00DF88-BCE0-B634-A057-1738CFB96319}"/>
              </a:ext>
            </a:extLst>
          </p:cNvPr>
          <p:cNvCxnSpPr>
            <a:cxnSpLocks/>
            <a:stCxn id="86" idx="0"/>
          </p:cNvCxnSpPr>
          <p:nvPr/>
        </p:nvCxnSpPr>
        <p:spPr>
          <a:xfrm flipV="1">
            <a:off x="7115221" y="4888524"/>
            <a:ext cx="0" cy="461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>
            <a:extLst>
              <a:ext uri="{FF2B5EF4-FFF2-40B4-BE49-F238E27FC236}">
                <a16:creationId xmlns:a16="http://schemas.microsoft.com/office/drawing/2014/main" id="{204F6C22-7807-D621-4465-27475BA14BAF}"/>
              </a:ext>
            </a:extLst>
          </p:cNvPr>
          <p:cNvGrpSpPr/>
          <p:nvPr/>
        </p:nvGrpSpPr>
        <p:grpSpPr>
          <a:xfrm>
            <a:off x="1362796" y="2905146"/>
            <a:ext cx="9407771" cy="411984"/>
            <a:chOff x="1500552" y="2232169"/>
            <a:chExt cx="9407771" cy="411984"/>
          </a:xfrm>
        </p:grpSpPr>
        <p:sp>
          <p:nvSpPr>
            <p:cNvPr id="12" name="双括号 11">
              <a:extLst>
                <a:ext uri="{FF2B5EF4-FFF2-40B4-BE49-F238E27FC236}">
                  <a16:creationId xmlns:a16="http://schemas.microsoft.com/office/drawing/2014/main" id="{4B6C072E-3C7B-8291-FF7A-FA3C5256611B}"/>
                </a:ext>
              </a:extLst>
            </p:cNvPr>
            <p:cNvSpPr/>
            <p:nvPr/>
          </p:nvSpPr>
          <p:spPr>
            <a:xfrm>
              <a:off x="1500552" y="2232169"/>
              <a:ext cx="9407771" cy="411984"/>
            </a:xfrm>
            <a:prstGeom prst="bracketPair">
              <a:avLst/>
            </a:prstGeom>
            <a:ln w="1905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: 圆角 14">
                  <a:extLst>
                    <a:ext uri="{FF2B5EF4-FFF2-40B4-BE49-F238E27FC236}">
                      <a16:creationId xmlns:a16="http://schemas.microsoft.com/office/drawing/2014/main" id="{D1505726-BD86-F854-704D-678DFABE5C67}"/>
                    </a:ext>
                  </a:extLst>
                </p:cNvPr>
                <p:cNvSpPr/>
                <p:nvPr/>
              </p:nvSpPr>
              <p:spPr>
                <a:xfrm>
                  <a:off x="1688117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" name="矩形: 圆角 14">
                  <a:extLst>
                    <a:ext uri="{FF2B5EF4-FFF2-40B4-BE49-F238E27FC236}">
                      <a16:creationId xmlns:a16="http://schemas.microsoft.com/office/drawing/2014/main" id="{D1505726-BD86-F854-704D-678DFABE5C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8117" y="2280020"/>
                  <a:ext cx="527538" cy="328246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: 圆角 15">
                  <a:extLst>
                    <a:ext uri="{FF2B5EF4-FFF2-40B4-BE49-F238E27FC236}">
                      <a16:creationId xmlns:a16="http://schemas.microsoft.com/office/drawing/2014/main" id="{53146677-C9F4-544F-CF18-9A2DA041EE72}"/>
                    </a:ext>
                  </a:extLst>
                </p:cNvPr>
                <p:cNvSpPr/>
                <p:nvPr/>
              </p:nvSpPr>
              <p:spPr>
                <a:xfrm>
                  <a:off x="2629871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" name="矩形: 圆角 15">
                  <a:extLst>
                    <a:ext uri="{FF2B5EF4-FFF2-40B4-BE49-F238E27FC236}">
                      <a16:creationId xmlns:a16="http://schemas.microsoft.com/office/drawing/2014/main" id="{53146677-C9F4-544F-CF18-9A2DA041EE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9871" y="2280020"/>
                  <a:ext cx="527538" cy="328246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: 圆角 17">
                  <a:extLst>
                    <a:ext uri="{FF2B5EF4-FFF2-40B4-BE49-F238E27FC236}">
                      <a16:creationId xmlns:a16="http://schemas.microsoft.com/office/drawing/2014/main" id="{AF9D6D89-27E1-F525-E9CC-C8F761FF2C02}"/>
                    </a:ext>
                  </a:extLst>
                </p:cNvPr>
                <p:cNvSpPr/>
                <p:nvPr/>
              </p:nvSpPr>
              <p:spPr>
                <a:xfrm>
                  <a:off x="3571625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8" name="矩形: 圆角 17">
                  <a:extLst>
                    <a:ext uri="{FF2B5EF4-FFF2-40B4-BE49-F238E27FC236}">
                      <a16:creationId xmlns:a16="http://schemas.microsoft.com/office/drawing/2014/main" id="{AF9D6D89-27E1-F525-E9CC-C8F761FF2C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1625" y="2280020"/>
                  <a:ext cx="527538" cy="328246"/>
                </a:xfrm>
                <a:prstGeom prst="round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: 圆角 18">
                  <a:extLst>
                    <a:ext uri="{FF2B5EF4-FFF2-40B4-BE49-F238E27FC236}">
                      <a16:creationId xmlns:a16="http://schemas.microsoft.com/office/drawing/2014/main" id="{052EDDF7-31C9-AFF7-AD7F-11D72FB5FC06}"/>
                    </a:ext>
                  </a:extLst>
                </p:cNvPr>
                <p:cNvSpPr/>
                <p:nvPr/>
              </p:nvSpPr>
              <p:spPr>
                <a:xfrm>
                  <a:off x="4513379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9" name="矩形: 圆角 18">
                  <a:extLst>
                    <a:ext uri="{FF2B5EF4-FFF2-40B4-BE49-F238E27FC236}">
                      <a16:creationId xmlns:a16="http://schemas.microsoft.com/office/drawing/2014/main" id="{052EDDF7-31C9-AFF7-AD7F-11D72FB5FC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3379" y="2280020"/>
                  <a:ext cx="527538" cy="328246"/>
                </a:xfrm>
                <a:prstGeom prst="round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矩形: 圆角 22">
                  <a:extLst>
                    <a:ext uri="{FF2B5EF4-FFF2-40B4-BE49-F238E27FC236}">
                      <a16:creationId xmlns:a16="http://schemas.microsoft.com/office/drawing/2014/main" id="{A9D21547-808C-5B63-5504-1AFA3128062C}"/>
                    </a:ext>
                  </a:extLst>
                </p:cNvPr>
                <p:cNvSpPr/>
                <p:nvPr/>
              </p:nvSpPr>
              <p:spPr>
                <a:xfrm>
                  <a:off x="5455133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矩形: 圆角 22">
                  <a:extLst>
                    <a:ext uri="{FF2B5EF4-FFF2-40B4-BE49-F238E27FC236}">
                      <a16:creationId xmlns:a16="http://schemas.microsoft.com/office/drawing/2014/main" id="{A9D21547-808C-5B63-5504-1AFA312806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5133" y="2280020"/>
                  <a:ext cx="527538" cy="328246"/>
                </a:xfrm>
                <a:prstGeom prst="round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矩形: 圆角 23">
                  <a:extLst>
                    <a:ext uri="{FF2B5EF4-FFF2-40B4-BE49-F238E27FC236}">
                      <a16:creationId xmlns:a16="http://schemas.microsoft.com/office/drawing/2014/main" id="{358873B2-1745-857B-7CBA-7CA631D25280}"/>
                    </a:ext>
                  </a:extLst>
                </p:cNvPr>
                <p:cNvSpPr/>
                <p:nvPr/>
              </p:nvSpPr>
              <p:spPr>
                <a:xfrm>
                  <a:off x="6396887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4" name="矩形: 圆角 23">
                  <a:extLst>
                    <a:ext uri="{FF2B5EF4-FFF2-40B4-BE49-F238E27FC236}">
                      <a16:creationId xmlns:a16="http://schemas.microsoft.com/office/drawing/2014/main" id="{358873B2-1745-857B-7CBA-7CA631D252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887" y="2280020"/>
                  <a:ext cx="527538" cy="328246"/>
                </a:xfrm>
                <a:prstGeom prst="round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矩形: 圆角 24">
                  <a:extLst>
                    <a:ext uri="{FF2B5EF4-FFF2-40B4-BE49-F238E27FC236}">
                      <a16:creationId xmlns:a16="http://schemas.microsoft.com/office/drawing/2014/main" id="{D21B9AAC-8443-B6C4-9A88-FF600CB8BCCA}"/>
                    </a:ext>
                  </a:extLst>
                </p:cNvPr>
                <p:cNvSpPr/>
                <p:nvPr/>
              </p:nvSpPr>
              <p:spPr>
                <a:xfrm>
                  <a:off x="7338641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5" name="矩形: 圆角 24">
                  <a:extLst>
                    <a:ext uri="{FF2B5EF4-FFF2-40B4-BE49-F238E27FC236}">
                      <a16:creationId xmlns:a16="http://schemas.microsoft.com/office/drawing/2014/main" id="{D21B9AAC-8443-B6C4-9A88-FF600CB8BC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8641" y="2280020"/>
                  <a:ext cx="527538" cy="328246"/>
                </a:xfrm>
                <a:prstGeom prst="round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矩形: 圆角 25">
                  <a:extLst>
                    <a:ext uri="{FF2B5EF4-FFF2-40B4-BE49-F238E27FC236}">
                      <a16:creationId xmlns:a16="http://schemas.microsoft.com/office/drawing/2014/main" id="{394B645E-0ED5-2BB1-3E0A-46A26AA78CAA}"/>
                    </a:ext>
                  </a:extLst>
                </p:cNvPr>
                <p:cNvSpPr/>
                <p:nvPr/>
              </p:nvSpPr>
              <p:spPr>
                <a:xfrm>
                  <a:off x="8280395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6" name="矩形: 圆角 25">
                  <a:extLst>
                    <a:ext uri="{FF2B5EF4-FFF2-40B4-BE49-F238E27FC236}">
                      <a16:creationId xmlns:a16="http://schemas.microsoft.com/office/drawing/2014/main" id="{394B645E-0ED5-2BB1-3E0A-46A26AA78C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395" y="2280020"/>
                  <a:ext cx="527538" cy="328246"/>
                </a:xfrm>
                <a:prstGeom prst="round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4EE82923-06A5-E426-FC72-1001A48A176B}"/>
                </a:ext>
              </a:extLst>
            </p:cNvPr>
            <p:cNvSpPr/>
            <p:nvPr/>
          </p:nvSpPr>
          <p:spPr>
            <a:xfrm>
              <a:off x="9123482" y="2285763"/>
              <a:ext cx="724872" cy="328246"/>
            </a:xfrm>
            <a:prstGeom prst="roundRect">
              <a:avLst/>
            </a:prstGeom>
            <a:ln w="19050"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······</a:t>
              </a:r>
              <a:endParaRPr lang="zh-CN" altLang="en-US" sz="20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矩形: 圆角 27">
                  <a:extLst>
                    <a:ext uri="{FF2B5EF4-FFF2-40B4-BE49-F238E27FC236}">
                      <a16:creationId xmlns:a16="http://schemas.microsoft.com/office/drawing/2014/main" id="{A1C6BB16-D633-43F3-3D4A-3CC0DDD06739}"/>
                    </a:ext>
                  </a:extLst>
                </p:cNvPr>
                <p:cNvSpPr/>
                <p:nvPr/>
              </p:nvSpPr>
              <p:spPr>
                <a:xfrm>
                  <a:off x="10163903" y="2280020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8" name="矩形: 圆角 27">
                  <a:extLst>
                    <a:ext uri="{FF2B5EF4-FFF2-40B4-BE49-F238E27FC236}">
                      <a16:creationId xmlns:a16="http://schemas.microsoft.com/office/drawing/2014/main" id="{A1C6BB16-D633-43F3-3D4A-3CC0DDD067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3903" y="2280020"/>
                  <a:ext cx="527538" cy="328246"/>
                </a:xfrm>
                <a:prstGeom prst="round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7A0DC7F-EB36-87CA-70BC-7902B1F6C512}"/>
              </a:ext>
            </a:extLst>
          </p:cNvPr>
          <p:cNvCxnSpPr>
            <a:cxnSpLocks/>
          </p:cNvCxnSpPr>
          <p:nvPr/>
        </p:nvCxnSpPr>
        <p:spPr>
          <a:xfrm flipV="1">
            <a:off x="6096000" y="3335815"/>
            <a:ext cx="0" cy="360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CBE21209-3864-30C2-FC4B-D53A8F6A96DA}"/>
              </a:ext>
            </a:extLst>
          </p:cNvPr>
          <p:cNvCxnSpPr>
            <a:cxnSpLocks/>
          </p:cNvCxnSpPr>
          <p:nvPr/>
        </p:nvCxnSpPr>
        <p:spPr>
          <a:xfrm flipV="1">
            <a:off x="6096000" y="2414954"/>
            <a:ext cx="0" cy="441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F7F958A-0ABF-5AED-3C92-546087D24C33}"/>
              </a:ext>
            </a:extLst>
          </p:cNvPr>
          <p:cNvGrpSpPr/>
          <p:nvPr/>
        </p:nvGrpSpPr>
        <p:grpSpPr>
          <a:xfrm>
            <a:off x="1387216" y="1999109"/>
            <a:ext cx="9407771" cy="411984"/>
            <a:chOff x="1500552" y="2232169"/>
            <a:chExt cx="9407771" cy="411984"/>
          </a:xfrm>
        </p:grpSpPr>
        <p:sp>
          <p:nvSpPr>
            <p:cNvPr id="32" name="双括号 31">
              <a:extLst>
                <a:ext uri="{FF2B5EF4-FFF2-40B4-BE49-F238E27FC236}">
                  <a16:creationId xmlns:a16="http://schemas.microsoft.com/office/drawing/2014/main" id="{C2CDC1C4-71F4-9E0F-C30B-5FC586121059}"/>
                </a:ext>
              </a:extLst>
            </p:cNvPr>
            <p:cNvSpPr/>
            <p:nvPr/>
          </p:nvSpPr>
          <p:spPr>
            <a:xfrm>
              <a:off x="1500552" y="2232169"/>
              <a:ext cx="9407771" cy="411984"/>
            </a:xfrm>
            <a:prstGeom prst="bracketPair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矩形: 圆角 32">
                  <a:extLst>
                    <a:ext uri="{FF2B5EF4-FFF2-40B4-BE49-F238E27FC236}">
                      <a16:creationId xmlns:a16="http://schemas.microsoft.com/office/drawing/2014/main" id="{E513A6AC-F0E1-7F17-EF71-82286FD12D3D}"/>
                    </a:ext>
                  </a:extLst>
                </p:cNvPr>
                <p:cNvSpPr/>
                <p:nvPr/>
              </p:nvSpPr>
              <p:spPr>
                <a:xfrm>
                  <a:off x="1688117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3" name="矩形: 圆角 32">
                  <a:extLst>
                    <a:ext uri="{FF2B5EF4-FFF2-40B4-BE49-F238E27FC236}">
                      <a16:creationId xmlns:a16="http://schemas.microsoft.com/office/drawing/2014/main" id="{E513A6AC-F0E1-7F17-EF71-82286FD12D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8117" y="2280020"/>
                  <a:ext cx="527538" cy="328246"/>
                </a:xfrm>
                <a:prstGeom prst="roundRect">
                  <a:avLst/>
                </a:prstGeom>
                <a:blipFill>
                  <a:blip r:embed="rId20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矩形: 圆角 33">
                  <a:extLst>
                    <a:ext uri="{FF2B5EF4-FFF2-40B4-BE49-F238E27FC236}">
                      <a16:creationId xmlns:a16="http://schemas.microsoft.com/office/drawing/2014/main" id="{1C68BCCF-633F-E633-650E-5B7D3CA3BAF3}"/>
                    </a:ext>
                  </a:extLst>
                </p:cNvPr>
                <p:cNvSpPr/>
                <p:nvPr/>
              </p:nvSpPr>
              <p:spPr>
                <a:xfrm>
                  <a:off x="2629871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4" name="矩形: 圆角 33">
                  <a:extLst>
                    <a:ext uri="{FF2B5EF4-FFF2-40B4-BE49-F238E27FC236}">
                      <a16:creationId xmlns:a16="http://schemas.microsoft.com/office/drawing/2014/main" id="{1C68BCCF-633F-E633-650E-5B7D3CA3BA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9871" y="2280020"/>
                  <a:ext cx="527538" cy="328246"/>
                </a:xfrm>
                <a:prstGeom prst="roundRect">
                  <a:avLst/>
                </a:prstGeom>
                <a:blipFill>
                  <a:blip r:embed="rId21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矩形: 圆角 34">
                  <a:extLst>
                    <a:ext uri="{FF2B5EF4-FFF2-40B4-BE49-F238E27FC236}">
                      <a16:creationId xmlns:a16="http://schemas.microsoft.com/office/drawing/2014/main" id="{878F4900-D100-5514-6147-14EEAFEDC432}"/>
                    </a:ext>
                  </a:extLst>
                </p:cNvPr>
                <p:cNvSpPr/>
                <p:nvPr/>
              </p:nvSpPr>
              <p:spPr>
                <a:xfrm>
                  <a:off x="3571625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5" name="矩形: 圆角 34">
                  <a:extLst>
                    <a:ext uri="{FF2B5EF4-FFF2-40B4-BE49-F238E27FC236}">
                      <a16:creationId xmlns:a16="http://schemas.microsoft.com/office/drawing/2014/main" id="{878F4900-D100-5514-6147-14EEAFEDC4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1625" y="2280020"/>
                  <a:ext cx="527538" cy="328246"/>
                </a:xfrm>
                <a:prstGeom prst="roundRect">
                  <a:avLst/>
                </a:prstGeom>
                <a:blipFill>
                  <a:blip r:embed="rId22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矩形: 圆角 35">
                  <a:extLst>
                    <a:ext uri="{FF2B5EF4-FFF2-40B4-BE49-F238E27FC236}">
                      <a16:creationId xmlns:a16="http://schemas.microsoft.com/office/drawing/2014/main" id="{CC91D898-B790-D4B2-1DC4-0DCC2CA287C6}"/>
                    </a:ext>
                  </a:extLst>
                </p:cNvPr>
                <p:cNvSpPr/>
                <p:nvPr/>
              </p:nvSpPr>
              <p:spPr>
                <a:xfrm>
                  <a:off x="4513379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6" name="矩形: 圆角 35">
                  <a:extLst>
                    <a:ext uri="{FF2B5EF4-FFF2-40B4-BE49-F238E27FC236}">
                      <a16:creationId xmlns:a16="http://schemas.microsoft.com/office/drawing/2014/main" id="{CC91D898-B790-D4B2-1DC4-0DCC2CA287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3379" y="2280020"/>
                  <a:ext cx="527538" cy="328246"/>
                </a:xfrm>
                <a:prstGeom prst="roundRect">
                  <a:avLst/>
                </a:prstGeom>
                <a:blipFill>
                  <a:blip r:embed="rId23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: 圆角 36">
                  <a:extLst>
                    <a:ext uri="{FF2B5EF4-FFF2-40B4-BE49-F238E27FC236}">
                      <a16:creationId xmlns:a16="http://schemas.microsoft.com/office/drawing/2014/main" id="{30A76D93-025B-B2F3-347A-D42281A6A4E3}"/>
                    </a:ext>
                  </a:extLst>
                </p:cNvPr>
                <p:cNvSpPr/>
                <p:nvPr/>
              </p:nvSpPr>
              <p:spPr>
                <a:xfrm>
                  <a:off x="5455133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7" name="矩形: 圆角 36">
                  <a:extLst>
                    <a:ext uri="{FF2B5EF4-FFF2-40B4-BE49-F238E27FC236}">
                      <a16:creationId xmlns:a16="http://schemas.microsoft.com/office/drawing/2014/main" id="{30A76D93-025B-B2F3-347A-D42281A6A4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5133" y="2280020"/>
                  <a:ext cx="527538" cy="328246"/>
                </a:xfrm>
                <a:prstGeom prst="roundRect">
                  <a:avLst/>
                </a:prstGeom>
                <a:blipFill>
                  <a:blip r:embed="rId24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: 圆角 37">
                  <a:extLst>
                    <a:ext uri="{FF2B5EF4-FFF2-40B4-BE49-F238E27FC236}">
                      <a16:creationId xmlns:a16="http://schemas.microsoft.com/office/drawing/2014/main" id="{1DD52670-7B1D-7F45-58DE-02DA76F40ECE}"/>
                    </a:ext>
                  </a:extLst>
                </p:cNvPr>
                <p:cNvSpPr/>
                <p:nvPr/>
              </p:nvSpPr>
              <p:spPr>
                <a:xfrm>
                  <a:off x="6396887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8" name="矩形: 圆角 37">
                  <a:extLst>
                    <a:ext uri="{FF2B5EF4-FFF2-40B4-BE49-F238E27FC236}">
                      <a16:creationId xmlns:a16="http://schemas.microsoft.com/office/drawing/2014/main" id="{1DD52670-7B1D-7F45-58DE-02DA76F40E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6887" y="2280020"/>
                  <a:ext cx="527538" cy="328246"/>
                </a:xfrm>
                <a:prstGeom prst="roundRect">
                  <a:avLst/>
                </a:prstGeom>
                <a:blipFill>
                  <a:blip r:embed="rId25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: 圆角 38">
                  <a:extLst>
                    <a:ext uri="{FF2B5EF4-FFF2-40B4-BE49-F238E27FC236}">
                      <a16:creationId xmlns:a16="http://schemas.microsoft.com/office/drawing/2014/main" id="{6DFDBAB7-1821-CA6D-734D-AA2716A95C30}"/>
                    </a:ext>
                  </a:extLst>
                </p:cNvPr>
                <p:cNvSpPr/>
                <p:nvPr/>
              </p:nvSpPr>
              <p:spPr>
                <a:xfrm>
                  <a:off x="7338641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9" name="矩形: 圆角 38">
                  <a:extLst>
                    <a:ext uri="{FF2B5EF4-FFF2-40B4-BE49-F238E27FC236}">
                      <a16:creationId xmlns:a16="http://schemas.microsoft.com/office/drawing/2014/main" id="{6DFDBAB7-1821-CA6D-734D-AA2716A95C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8641" y="2280020"/>
                  <a:ext cx="527538" cy="328246"/>
                </a:xfrm>
                <a:prstGeom prst="roundRect">
                  <a:avLst/>
                </a:prstGeom>
                <a:blipFill>
                  <a:blip r:embed="rId26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矩形: 圆角 39">
                  <a:extLst>
                    <a:ext uri="{FF2B5EF4-FFF2-40B4-BE49-F238E27FC236}">
                      <a16:creationId xmlns:a16="http://schemas.microsoft.com/office/drawing/2014/main" id="{49BDCEDD-23DD-9287-AC3D-99E6168AF677}"/>
                    </a:ext>
                  </a:extLst>
                </p:cNvPr>
                <p:cNvSpPr/>
                <p:nvPr/>
              </p:nvSpPr>
              <p:spPr>
                <a:xfrm>
                  <a:off x="8280395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0" name="矩形: 圆角 39">
                  <a:extLst>
                    <a:ext uri="{FF2B5EF4-FFF2-40B4-BE49-F238E27FC236}">
                      <a16:creationId xmlns:a16="http://schemas.microsoft.com/office/drawing/2014/main" id="{49BDCEDD-23DD-9287-AC3D-99E6168AF6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0395" y="2280020"/>
                  <a:ext cx="527538" cy="328246"/>
                </a:xfrm>
                <a:prstGeom prst="roundRect">
                  <a:avLst/>
                </a:prstGeom>
                <a:blipFill>
                  <a:blip r:embed="rId27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矩形: 圆角 40">
              <a:extLst>
                <a:ext uri="{FF2B5EF4-FFF2-40B4-BE49-F238E27FC236}">
                  <a16:creationId xmlns:a16="http://schemas.microsoft.com/office/drawing/2014/main" id="{B5CE0394-5B8A-B1CE-9F5E-81C52C9145B5}"/>
                </a:ext>
              </a:extLst>
            </p:cNvPr>
            <p:cNvSpPr/>
            <p:nvPr/>
          </p:nvSpPr>
          <p:spPr>
            <a:xfrm>
              <a:off x="9123482" y="2285763"/>
              <a:ext cx="724872" cy="328246"/>
            </a:xfrm>
            <a:prstGeom prst="roundRect">
              <a:avLst/>
            </a:prstGeom>
            <a:ln w="19050"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/>
                <a:t>······</a:t>
              </a:r>
              <a:endParaRPr lang="zh-CN" altLang="en-US" sz="20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: 圆角 41">
                  <a:extLst>
                    <a:ext uri="{FF2B5EF4-FFF2-40B4-BE49-F238E27FC236}">
                      <a16:creationId xmlns:a16="http://schemas.microsoft.com/office/drawing/2014/main" id="{CDD2D45D-D943-6C8F-7FE5-513A2A26B7EF}"/>
                    </a:ext>
                  </a:extLst>
                </p:cNvPr>
                <p:cNvSpPr/>
                <p:nvPr/>
              </p:nvSpPr>
              <p:spPr>
                <a:xfrm>
                  <a:off x="10163903" y="2280020"/>
                  <a:ext cx="527538" cy="328246"/>
                </a:xfrm>
                <a:prstGeom prst="roundRect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2" name="矩形: 圆角 41">
                  <a:extLst>
                    <a:ext uri="{FF2B5EF4-FFF2-40B4-BE49-F238E27FC236}">
                      <a16:creationId xmlns:a16="http://schemas.microsoft.com/office/drawing/2014/main" id="{CDD2D45D-D943-6C8F-7FE5-513A2A26B7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3903" y="2280020"/>
                  <a:ext cx="527538" cy="328246"/>
                </a:xfrm>
                <a:prstGeom prst="roundRect">
                  <a:avLst/>
                </a:prstGeom>
                <a:blipFill>
                  <a:blip r:embed="rId28"/>
                  <a:stretch>
                    <a:fillRect b="-3509"/>
                  </a:stretch>
                </a:blipFill>
                <a:ln w="19050">
                  <a:solidFill>
                    <a:srgbClr val="00B05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BD3F696E-59AA-197B-1C9C-7103F5AF74B2}"/>
              </a:ext>
            </a:extLst>
          </p:cNvPr>
          <p:cNvSpPr txBox="1"/>
          <p:nvPr/>
        </p:nvSpPr>
        <p:spPr>
          <a:xfrm>
            <a:off x="6234244" y="2438734"/>
            <a:ext cx="1233356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softmax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4E464B3-4CE2-799D-3FB1-384141AE4C50}"/>
              </a:ext>
            </a:extLst>
          </p:cNvPr>
          <p:cNvSpPr txBox="1"/>
          <p:nvPr/>
        </p:nvSpPr>
        <p:spPr>
          <a:xfrm>
            <a:off x="428096" y="2877335"/>
            <a:ext cx="934700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logits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C0D4682-4ED2-4C4E-CE0C-5BCECB3F08D3}"/>
              </a:ext>
            </a:extLst>
          </p:cNvPr>
          <p:cNvSpPr txBox="1"/>
          <p:nvPr/>
        </p:nvSpPr>
        <p:spPr>
          <a:xfrm>
            <a:off x="428862" y="1998939"/>
            <a:ext cx="934700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概率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AC6EBB6-91E8-596D-C028-2A65EA6428FD}"/>
              </a:ext>
            </a:extLst>
          </p:cNvPr>
          <p:cNvCxnSpPr>
            <a:cxnSpLocks/>
          </p:cNvCxnSpPr>
          <p:nvPr/>
        </p:nvCxnSpPr>
        <p:spPr>
          <a:xfrm flipH="1" flipV="1">
            <a:off x="6095999" y="1395046"/>
            <a:ext cx="2" cy="445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F8F4DD9B-889E-C311-5757-185DB41A44C8}"/>
              </a:ext>
            </a:extLst>
          </p:cNvPr>
          <p:cNvSpPr txBox="1"/>
          <p:nvPr/>
        </p:nvSpPr>
        <p:spPr>
          <a:xfrm>
            <a:off x="6234244" y="1417760"/>
            <a:ext cx="787879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采样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圆角 48">
                <a:extLst>
                  <a:ext uri="{FF2B5EF4-FFF2-40B4-BE49-F238E27FC236}">
                    <a16:creationId xmlns:a16="http://schemas.microsoft.com/office/drawing/2014/main" id="{72A1BE6F-BCFE-5FF3-EA73-6CB55AE96AC6}"/>
                  </a:ext>
                </a:extLst>
              </p:cNvPr>
              <p:cNvSpPr/>
              <p:nvPr/>
            </p:nvSpPr>
            <p:spPr>
              <a:xfrm>
                <a:off x="5878625" y="973877"/>
                <a:ext cx="529200" cy="327600"/>
              </a:xfrm>
              <a:prstGeom prst="round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𝑒𝑜𝑠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9" name="矩形: 圆角 48">
                <a:extLst>
                  <a:ext uri="{FF2B5EF4-FFF2-40B4-BE49-F238E27FC236}">
                    <a16:creationId xmlns:a16="http://schemas.microsoft.com/office/drawing/2014/main" id="{72A1BE6F-BCFE-5FF3-EA73-6CB55AE96A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625" y="973877"/>
                <a:ext cx="529200" cy="327600"/>
              </a:xfrm>
              <a:prstGeom prst="roundRect">
                <a:avLst/>
              </a:prstGeom>
              <a:blipFill>
                <a:blip r:embed="rId29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4F7E2BE8-AB3A-BF02-D0F6-919B42753752}"/>
              </a:ext>
            </a:extLst>
          </p:cNvPr>
          <p:cNvSpPr/>
          <p:nvPr/>
        </p:nvSpPr>
        <p:spPr>
          <a:xfrm>
            <a:off x="9109628" y="5349792"/>
            <a:ext cx="719033" cy="327600"/>
          </a:xfrm>
          <a:prstGeom prst="roundRect">
            <a:avLst/>
          </a:prstGeom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Cambria Math" panose="02040503050406030204" pitchFamily="18" charset="0"/>
              </a:rPr>
              <a:t>······</a:t>
            </a:r>
            <a:endParaRPr lang="zh-CN" altLang="en-US" sz="2000" b="1" dirty="0">
              <a:solidFill>
                <a:schemeClr val="dk1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956FBB83-7882-9455-BC2F-E7DF9A81C797}"/>
                  </a:ext>
                </a:extLst>
              </p:cNvPr>
              <p:cNvSpPr/>
              <p:nvPr/>
            </p:nvSpPr>
            <p:spPr>
              <a:xfrm>
                <a:off x="10094514" y="5349792"/>
                <a:ext cx="596934" cy="327600"/>
              </a:xfrm>
              <a:prstGeom prst="round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956FBB83-7882-9455-BC2F-E7DF9A81C7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4514" y="5349792"/>
                <a:ext cx="596934" cy="327600"/>
              </a:xfrm>
              <a:prstGeom prst="roundRect">
                <a:avLst/>
              </a:prstGeom>
              <a:blipFill>
                <a:blip r:embed="rId30"/>
                <a:stretch>
                  <a:fillRect l="-6931" b="-3571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4330CD54-1B51-8832-5F4C-CF8759E93D83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10392980" y="4888524"/>
            <a:ext cx="1" cy="461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AE36D7AF-384A-2908-9C2E-11542010359A}"/>
                  </a:ext>
                </a:extLst>
              </p:cNvPr>
              <p:cNvSpPr/>
              <p:nvPr/>
            </p:nvSpPr>
            <p:spPr>
              <a:xfrm>
                <a:off x="7644421" y="5349792"/>
                <a:ext cx="529200" cy="327600"/>
              </a:xfrm>
              <a:prstGeom prst="round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AE36D7AF-384A-2908-9C2E-1154201035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4421" y="5349792"/>
                <a:ext cx="529200" cy="327600"/>
              </a:xfrm>
              <a:prstGeom prst="roundRect">
                <a:avLst/>
              </a:prstGeom>
              <a:blipFill>
                <a:blip r:embed="rId31"/>
                <a:stretch>
                  <a:fillRect b="-3571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858EA9E1-12ED-52E1-3A7C-6BFB4DA55A2D}"/>
              </a:ext>
            </a:extLst>
          </p:cNvPr>
          <p:cNvCxnSpPr>
            <a:cxnSpLocks/>
            <a:stCxn id="53" idx="0"/>
          </p:cNvCxnSpPr>
          <p:nvPr/>
        </p:nvCxnSpPr>
        <p:spPr>
          <a:xfrm flipV="1">
            <a:off x="7909021" y="4888524"/>
            <a:ext cx="0" cy="461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5469460C-B085-6502-1115-93F2207DE6C2}"/>
                  </a:ext>
                </a:extLst>
              </p:cNvPr>
              <p:cNvSpPr/>
              <p:nvPr/>
            </p:nvSpPr>
            <p:spPr>
              <a:xfrm>
                <a:off x="8405693" y="5349792"/>
                <a:ext cx="529200" cy="327600"/>
              </a:xfrm>
              <a:prstGeom prst="round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5469460C-B085-6502-1115-93F2207DE6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5693" y="5349792"/>
                <a:ext cx="529200" cy="327600"/>
              </a:xfrm>
              <a:prstGeom prst="roundRect">
                <a:avLst/>
              </a:prstGeom>
              <a:blipFill>
                <a:blip r:embed="rId32"/>
                <a:stretch>
                  <a:fillRect b="-3571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6517F5DC-BEF5-765D-9511-77D8986030C3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8670293" y="4888524"/>
            <a:ext cx="0" cy="461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590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5" grpId="0"/>
      <p:bldP spid="46" grpId="0"/>
      <p:bldP spid="48" grpId="0"/>
      <p:bldP spid="49" grpId="0" animBg="1"/>
      <p:bldP spid="50" grpId="0" animBg="1"/>
      <p:bldP spid="51" grpId="0" animBg="1"/>
      <p:bldP spid="53" grpId="0" animBg="1"/>
      <p:bldP spid="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1.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大语言模型生成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22F28BD-2287-5920-7885-CF14D27F9C51}"/>
              </a:ext>
            </a:extLst>
          </p:cNvPr>
          <p:cNvSpPr txBox="1"/>
          <p:nvPr/>
        </p:nvSpPr>
        <p:spPr>
          <a:xfrm>
            <a:off x="290644" y="806973"/>
            <a:ext cx="1444371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采样策略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A052750-E615-D42F-BBC2-442FBD22A1BB}"/>
              </a:ext>
            </a:extLst>
          </p:cNvPr>
          <p:cNvSpPr txBox="1"/>
          <p:nvPr/>
        </p:nvSpPr>
        <p:spPr>
          <a:xfrm>
            <a:off x="630614" y="1203556"/>
            <a:ext cx="1444371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贪婪策略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96D01E0-7663-5D60-84FC-2986AB9CD587}"/>
              </a:ext>
            </a:extLst>
          </p:cNvPr>
          <p:cNvSpPr txBox="1"/>
          <p:nvPr/>
        </p:nvSpPr>
        <p:spPr>
          <a:xfrm>
            <a:off x="905608" y="1679900"/>
            <a:ext cx="29630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</a:rPr>
              <a:t>每次选择概率最大的</a:t>
            </a:r>
            <a:r>
              <a:rPr lang="en-US" altLang="zh-CN" dirty="0">
                <a:latin typeface="+mn-ea"/>
              </a:rPr>
              <a:t>token</a:t>
            </a:r>
            <a:endParaRPr lang="zh-CN" altLang="en-US" dirty="0"/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85B3E239-C88B-7646-850F-89AEEF26597C}"/>
              </a:ext>
            </a:extLst>
          </p:cNvPr>
          <p:cNvGrpSpPr/>
          <p:nvPr/>
        </p:nvGrpSpPr>
        <p:grpSpPr>
          <a:xfrm>
            <a:off x="4258409" y="971950"/>
            <a:ext cx="5049714" cy="1544980"/>
            <a:chOff x="4525108" y="1039433"/>
            <a:chExt cx="5049714" cy="1544980"/>
          </a:xfrm>
        </p:grpSpPr>
        <p:sp>
          <p:nvSpPr>
            <p:cNvPr id="61" name="左大括号 60">
              <a:extLst>
                <a:ext uri="{FF2B5EF4-FFF2-40B4-BE49-F238E27FC236}">
                  <a16:creationId xmlns:a16="http://schemas.microsoft.com/office/drawing/2014/main" id="{449438BE-2628-19CE-8ACF-2206FD9FFCAD}"/>
                </a:ext>
              </a:extLst>
            </p:cNvPr>
            <p:cNvSpPr/>
            <p:nvPr/>
          </p:nvSpPr>
          <p:spPr>
            <a:xfrm>
              <a:off x="4525108" y="1203556"/>
              <a:ext cx="211015" cy="87042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矩形: 圆角 61">
                  <a:extLst>
                    <a:ext uri="{FF2B5EF4-FFF2-40B4-BE49-F238E27FC236}">
                      <a16:creationId xmlns:a16="http://schemas.microsoft.com/office/drawing/2014/main" id="{CB6E1EC4-E1BA-A95C-0B92-A79F8D8F034D}"/>
                    </a:ext>
                  </a:extLst>
                </p:cNvPr>
                <p:cNvSpPr/>
                <p:nvPr/>
              </p:nvSpPr>
              <p:spPr>
                <a:xfrm>
                  <a:off x="4865078" y="1039433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2" name="矩形: 圆角 61">
                  <a:extLst>
                    <a:ext uri="{FF2B5EF4-FFF2-40B4-BE49-F238E27FC236}">
                      <a16:creationId xmlns:a16="http://schemas.microsoft.com/office/drawing/2014/main" id="{CB6E1EC4-E1BA-A95C-0B92-A79F8D8F03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5078" y="1039433"/>
                  <a:ext cx="527538" cy="328246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矩形: 圆角 62">
                  <a:extLst>
                    <a:ext uri="{FF2B5EF4-FFF2-40B4-BE49-F238E27FC236}">
                      <a16:creationId xmlns:a16="http://schemas.microsoft.com/office/drawing/2014/main" id="{A7124586-A2EE-C210-01FE-FD3D6B9C06B5}"/>
                    </a:ext>
                  </a:extLst>
                </p:cNvPr>
                <p:cNvSpPr/>
                <p:nvPr/>
              </p:nvSpPr>
              <p:spPr>
                <a:xfrm>
                  <a:off x="5671040" y="1039433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3" name="矩形: 圆角 62">
                  <a:extLst>
                    <a:ext uri="{FF2B5EF4-FFF2-40B4-BE49-F238E27FC236}">
                      <a16:creationId xmlns:a16="http://schemas.microsoft.com/office/drawing/2014/main" id="{A7124586-A2EE-C210-01FE-FD3D6B9C06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040" y="1039433"/>
                  <a:ext cx="527538" cy="328246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矩形: 圆角 63">
                  <a:extLst>
                    <a:ext uri="{FF2B5EF4-FFF2-40B4-BE49-F238E27FC236}">
                      <a16:creationId xmlns:a16="http://schemas.microsoft.com/office/drawing/2014/main" id="{71AE947E-313B-A668-9853-52249212E0C6}"/>
                    </a:ext>
                  </a:extLst>
                </p:cNvPr>
                <p:cNvSpPr/>
                <p:nvPr/>
              </p:nvSpPr>
              <p:spPr>
                <a:xfrm>
                  <a:off x="6477002" y="1039433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4" name="矩形: 圆角 63">
                  <a:extLst>
                    <a:ext uri="{FF2B5EF4-FFF2-40B4-BE49-F238E27FC236}">
                      <a16:creationId xmlns:a16="http://schemas.microsoft.com/office/drawing/2014/main" id="{71AE947E-313B-A668-9853-52249212E0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7002" y="1039433"/>
                  <a:ext cx="527538" cy="328246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矩形: 圆角 64">
                  <a:extLst>
                    <a:ext uri="{FF2B5EF4-FFF2-40B4-BE49-F238E27FC236}">
                      <a16:creationId xmlns:a16="http://schemas.microsoft.com/office/drawing/2014/main" id="{6400479F-C2AD-E1C9-A013-7A509062CEA2}"/>
                    </a:ext>
                  </a:extLst>
                </p:cNvPr>
                <p:cNvSpPr/>
                <p:nvPr/>
              </p:nvSpPr>
              <p:spPr>
                <a:xfrm>
                  <a:off x="7282964" y="1039433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5" name="矩形: 圆角 64">
                  <a:extLst>
                    <a:ext uri="{FF2B5EF4-FFF2-40B4-BE49-F238E27FC236}">
                      <a16:creationId xmlns:a16="http://schemas.microsoft.com/office/drawing/2014/main" id="{6400479F-C2AD-E1C9-A013-7A509062CE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2964" y="1039433"/>
                  <a:ext cx="527538" cy="328246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39E011AB-385A-6F26-9F6C-467354BEFBDF}"/>
                </a:ext>
              </a:extLst>
            </p:cNvPr>
            <p:cNvSpPr/>
            <p:nvPr/>
          </p:nvSpPr>
          <p:spPr>
            <a:xfrm>
              <a:off x="8088924" y="1039433"/>
              <a:ext cx="679938" cy="328246"/>
            </a:xfrm>
            <a:prstGeom prst="roundRect">
              <a:avLst/>
            </a:prstGeom>
            <a:ln w="190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······</a:t>
              </a:r>
              <a:endParaRPr lang="zh-CN" altLang="en-US" b="1" dirty="0"/>
            </a:p>
          </p:txBody>
        </p: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ABF4D0A8-CC11-106F-1D67-5BAD9CC2616B}"/>
                </a:ext>
              </a:extLst>
            </p:cNvPr>
            <p:cNvCxnSpPr>
              <a:stCxn id="62" idx="3"/>
              <a:endCxn id="63" idx="1"/>
            </p:cNvCxnSpPr>
            <p:nvPr/>
          </p:nvCxnSpPr>
          <p:spPr>
            <a:xfrm>
              <a:off x="5392616" y="1203556"/>
              <a:ext cx="2784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27F2B9D4-A1C4-6251-6956-8CEA795A6E60}"/>
                </a:ext>
              </a:extLst>
            </p:cNvPr>
            <p:cNvCxnSpPr>
              <a:cxnSpLocks/>
              <a:stCxn id="63" idx="3"/>
              <a:endCxn id="64" idx="1"/>
            </p:cNvCxnSpPr>
            <p:nvPr/>
          </p:nvCxnSpPr>
          <p:spPr>
            <a:xfrm>
              <a:off x="6198578" y="1203556"/>
              <a:ext cx="2784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2A3598D3-BB56-B8A3-7A74-816CD22F8849}"/>
                </a:ext>
              </a:extLst>
            </p:cNvPr>
            <p:cNvCxnSpPr>
              <a:cxnSpLocks/>
              <a:stCxn id="64" idx="3"/>
              <a:endCxn id="65" idx="1"/>
            </p:cNvCxnSpPr>
            <p:nvPr/>
          </p:nvCxnSpPr>
          <p:spPr>
            <a:xfrm>
              <a:off x="7004540" y="1203556"/>
              <a:ext cx="2784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37EC907B-DA60-9239-8814-06022388C43A}"/>
                </a:ext>
              </a:extLst>
            </p:cNvPr>
            <p:cNvCxnSpPr>
              <a:cxnSpLocks/>
              <a:stCxn id="65" idx="3"/>
              <a:endCxn id="66" idx="1"/>
            </p:cNvCxnSpPr>
            <p:nvPr/>
          </p:nvCxnSpPr>
          <p:spPr>
            <a:xfrm>
              <a:off x="7810502" y="1203556"/>
              <a:ext cx="27842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矩形: 圆角 78">
                  <a:extLst>
                    <a:ext uri="{FF2B5EF4-FFF2-40B4-BE49-F238E27FC236}">
                      <a16:creationId xmlns:a16="http://schemas.microsoft.com/office/drawing/2014/main" id="{033E2DE6-08AD-276D-0C72-FFE4B2F1DD05}"/>
                    </a:ext>
                  </a:extLst>
                </p:cNvPr>
                <p:cNvSpPr/>
                <p:nvPr/>
              </p:nvSpPr>
              <p:spPr>
                <a:xfrm>
                  <a:off x="9047284" y="1039433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79" name="矩形: 圆角 78">
                  <a:extLst>
                    <a:ext uri="{FF2B5EF4-FFF2-40B4-BE49-F238E27FC236}">
                      <a16:creationId xmlns:a16="http://schemas.microsoft.com/office/drawing/2014/main" id="{033E2DE6-08AD-276D-0C72-FFE4B2F1DD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7284" y="1039433"/>
                  <a:ext cx="527538" cy="328246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62C2FF56-E962-08A6-0515-B85B75F9AD66}"/>
                </a:ext>
              </a:extLst>
            </p:cNvPr>
            <p:cNvCxnSpPr>
              <a:cxnSpLocks/>
              <a:stCxn id="66" idx="3"/>
              <a:endCxn id="79" idx="1"/>
            </p:cNvCxnSpPr>
            <p:nvPr/>
          </p:nvCxnSpPr>
          <p:spPr>
            <a:xfrm>
              <a:off x="8768862" y="1203556"/>
              <a:ext cx="27842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矩形: 圆角 89">
                  <a:extLst>
                    <a:ext uri="{FF2B5EF4-FFF2-40B4-BE49-F238E27FC236}">
                      <a16:creationId xmlns:a16="http://schemas.microsoft.com/office/drawing/2014/main" id="{E3BC5DAB-7D70-0BEC-E9E1-A78604AF1884}"/>
                    </a:ext>
                  </a:extLst>
                </p:cNvPr>
                <p:cNvSpPr/>
                <p:nvPr/>
              </p:nvSpPr>
              <p:spPr>
                <a:xfrm>
                  <a:off x="4865078" y="1875744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90" name="矩形: 圆角 89">
                  <a:extLst>
                    <a:ext uri="{FF2B5EF4-FFF2-40B4-BE49-F238E27FC236}">
                      <a16:creationId xmlns:a16="http://schemas.microsoft.com/office/drawing/2014/main" id="{E3BC5DAB-7D70-0BEC-E9E1-A78604AF18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5078" y="1875744"/>
                  <a:ext cx="527538" cy="328246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矩形: 圆角 90">
                  <a:extLst>
                    <a:ext uri="{FF2B5EF4-FFF2-40B4-BE49-F238E27FC236}">
                      <a16:creationId xmlns:a16="http://schemas.microsoft.com/office/drawing/2014/main" id="{39BBB50C-2F40-6777-5A16-A6C417852D96}"/>
                    </a:ext>
                  </a:extLst>
                </p:cNvPr>
                <p:cNvSpPr/>
                <p:nvPr/>
              </p:nvSpPr>
              <p:spPr>
                <a:xfrm>
                  <a:off x="5671040" y="1875744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91" name="矩形: 圆角 90">
                  <a:extLst>
                    <a:ext uri="{FF2B5EF4-FFF2-40B4-BE49-F238E27FC236}">
                      <a16:creationId xmlns:a16="http://schemas.microsoft.com/office/drawing/2014/main" id="{39BBB50C-2F40-6777-5A16-A6C417852D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040" y="1875744"/>
                  <a:ext cx="527538" cy="328246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矩形: 圆角 91">
                  <a:extLst>
                    <a:ext uri="{FF2B5EF4-FFF2-40B4-BE49-F238E27FC236}">
                      <a16:creationId xmlns:a16="http://schemas.microsoft.com/office/drawing/2014/main" id="{F7A409A8-1CF0-3027-536A-1F56C2E41E8A}"/>
                    </a:ext>
                  </a:extLst>
                </p:cNvPr>
                <p:cNvSpPr/>
                <p:nvPr/>
              </p:nvSpPr>
              <p:spPr>
                <a:xfrm>
                  <a:off x="6477002" y="1875744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92" name="矩形: 圆角 91">
                  <a:extLst>
                    <a:ext uri="{FF2B5EF4-FFF2-40B4-BE49-F238E27FC236}">
                      <a16:creationId xmlns:a16="http://schemas.microsoft.com/office/drawing/2014/main" id="{F7A409A8-1CF0-3027-536A-1F56C2E41E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7002" y="1875744"/>
                  <a:ext cx="527538" cy="328246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矩形: 圆角 92">
                  <a:extLst>
                    <a:ext uri="{FF2B5EF4-FFF2-40B4-BE49-F238E27FC236}">
                      <a16:creationId xmlns:a16="http://schemas.microsoft.com/office/drawing/2014/main" id="{4F16A786-6604-D6D9-8C9B-A7A2DA5D330D}"/>
                    </a:ext>
                  </a:extLst>
                </p:cNvPr>
                <p:cNvSpPr/>
                <p:nvPr/>
              </p:nvSpPr>
              <p:spPr>
                <a:xfrm>
                  <a:off x="7282964" y="1875744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93" name="矩形: 圆角 92">
                  <a:extLst>
                    <a:ext uri="{FF2B5EF4-FFF2-40B4-BE49-F238E27FC236}">
                      <a16:creationId xmlns:a16="http://schemas.microsoft.com/office/drawing/2014/main" id="{4F16A786-6604-D6D9-8C9B-A7A2DA5D33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2964" y="1875744"/>
                  <a:ext cx="527538" cy="328246"/>
                </a:xfrm>
                <a:prstGeom prst="round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" name="矩形: 圆角 93">
              <a:extLst>
                <a:ext uri="{FF2B5EF4-FFF2-40B4-BE49-F238E27FC236}">
                  <a16:creationId xmlns:a16="http://schemas.microsoft.com/office/drawing/2014/main" id="{08A2650E-CC64-500C-A1A3-B9449DFA6B5C}"/>
                </a:ext>
              </a:extLst>
            </p:cNvPr>
            <p:cNvSpPr/>
            <p:nvPr/>
          </p:nvSpPr>
          <p:spPr>
            <a:xfrm>
              <a:off x="8088924" y="1875744"/>
              <a:ext cx="679938" cy="328246"/>
            </a:xfrm>
            <a:prstGeom prst="roundRect">
              <a:avLst/>
            </a:prstGeom>
            <a:ln w="19050"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······</a:t>
              </a:r>
              <a:endParaRPr lang="zh-CN" altLang="en-US" b="1" dirty="0"/>
            </a:p>
          </p:txBody>
        </p: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467DAF2D-1C59-1369-8859-559E824B291F}"/>
                </a:ext>
              </a:extLst>
            </p:cNvPr>
            <p:cNvCxnSpPr>
              <a:stCxn id="90" idx="3"/>
              <a:endCxn id="91" idx="1"/>
            </p:cNvCxnSpPr>
            <p:nvPr/>
          </p:nvCxnSpPr>
          <p:spPr>
            <a:xfrm>
              <a:off x="5392616" y="2039867"/>
              <a:ext cx="2784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75CA88FA-D01D-781F-1CFF-831ED07ECA54}"/>
                </a:ext>
              </a:extLst>
            </p:cNvPr>
            <p:cNvCxnSpPr>
              <a:cxnSpLocks/>
              <a:stCxn id="91" idx="3"/>
              <a:endCxn id="92" idx="1"/>
            </p:cNvCxnSpPr>
            <p:nvPr/>
          </p:nvCxnSpPr>
          <p:spPr>
            <a:xfrm>
              <a:off x="6198578" y="2039867"/>
              <a:ext cx="2784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>
              <a:extLst>
                <a:ext uri="{FF2B5EF4-FFF2-40B4-BE49-F238E27FC236}">
                  <a16:creationId xmlns:a16="http://schemas.microsoft.com/office/drawing/2014/main" id="{84BC5E00-F50C-AB33-D727-F224451F2661}"/>
                </a:ext>
              </a:extLst>
            </p:cNvPr>
            <p:cNvCxnSpPr>
              <a:cxnSpLocks/>
              <a:stCxn id="92" idx="3"/>
              <a:endCxn id="93" idx="1"/>
            </p:cNvCxnSpPr>
            <p:nvPr/>
          </p:nvCxnSpPr>
          <p:spPr>
            <a:xfrm>
              <a:off x="7004540" y="2039867"/>
              <a:ext cx="2784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3C116170-88BF-CB38-73BC-829D24BF30E3}"/>
                </a:ext>
              </a:extLst>
            </p:cNvPr>
            <p:cNvCxnSpPr>
              <a:cxnSpLocks/>
              <a:stCxn id="93" idx="3"/>
              <a:endCxn id="94" idx="1"/>
            </p:cNvCxnSpPr>
            <p:nvPr/>
          </p:nvCxnSpPr>
          <p:spPr>
            <a:xfrm>
              <a:off x="7810502" y="2039867"/>
              <a:ext cx="27842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矩形: 圆角 98">
                  <a:extLst>
                    <a:ext uri="{FF2B5EF4-FFF2-40B4-BE49-F238E27FC236}">
                      <a16:creationId xmlns:a16="http://schemas.microsoft.com/office/drawing/2014/main" id="{34366476-8D41-2C63-EAC9-E775A07A3C78}"/>
                    </a:ext>
                  </a:extLst>
                </p:cNvPr>
                <p:cNvSpPr/>
                <p:nvPr/>
              </p:nvSpPr>
              <p:spPr>
                <a:xfrm>
                  <a:off x="9047284" y="1875744"/>
                  <a:ext cx="527538" cy="328246"/>
                </a:xfrm>
                <a:prstGeom prst="roundRect">
                  <a:avLst/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99" name="矩形: 圆角 98">
                  <a:extLst>
                    <a:ext uri="{FF2B5EF4-FFF2-40B4-BE49-F238E27FC236}">
                      <a16:creationId xmlns:a16="http://schemas.microsoft.com/office/drawing/2014/main" id="{34366476-8D41-2C63-EAC9-E775A07A3C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7284" y="1875744"/>
                  <a:ext cx="527538" cy="328246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41D08482-CC84-FDAA-77A1-522A2204A12F}"/>
                </a:ext>
              </a:extLst>
            </p:cNvPr>
            <p:cNvCxnSpPr>
              <a:cxnSpLocks/>
              <a:stCxn id="94" idx="3"/>
              <a:endCxn id="99" idx="1"/>
            </p:cNvCxnSpPr>
            <p:nvPr/>
          </p:nvCxnSpPr>
          <p:spPr>
            <a:xfrm>
              <a:off x="8768862" y="2039867"/>
              <a:ext cx="27842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1A0EA92B-9480-FBEA-294C-8E8BC403A81B}"/>
                </a:ext>
              </a:extLst>
            </p:cNvPr>
            <p:cNvSpPr txBox="1"/>
            <p:nvPr/>
          </p:nvSpPr>
          <p:spPr>
            <a:xfrm>
              <a:off x="4865078" y="1401847"/>
              <a:ext cx="5275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0.5</a:t>
              </a:r>
              <a:endParaRPr lang="zh-CN" altLang="en-US" sz="1400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03F37DA0-6A15-F237-E4FE-A959FE57CEB9}"/>
                </a:ext>
              </a:extLst>
            </p:cNvPr>
            <p:cNvSpPr txBox="1"/>
            <p:nvPr/>
          </p:nvSpPr>
          <p:spPr>
            <a:xfrm>
              <a:off x="4865078" y="2276636"/>
              <a:ext cx="5275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0.3</a:t>
              </a:r>
              <a:endParaRPr lang="zh-CN" altLang="en-US" sz="1400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2C45FA14-60B4-1B42-C76C-FB7526E2F5C6}"/>
                </a:ext>
              </a:extLst>
            </p:cNvPr>
            <p:cNvSpPr txBox="1"/>
            <p:nvPr/>
          </p:nvSpPr>
          <p:spPr>
            <a:xfrm>
              <a:off x="5671040" y="2276636"/>
              <a:ext cx="5275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0.9</a:t>
              </a:r>
              <a:endParaRPr lang="zh-CN" altLang="en-US" sz="1400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E4E92FEC-903D-A527-AEF7-35EE8F0FEC7F}"/>
                </a:ext>
              </a:extLst>
            </p:cNvPr>
            <p:cNvSpPr txBox="1"/>
            <p:nvPr/>
          </p:nvSpPr>
          <p:spPr>
            <a:xfrm>
              <a:off x="6477002" y="2276636"/>
              <a:ext cx="5275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0.9</a:t>
              </a:r>
              <a:endParaRPr lang="zh-CN" altLang="en-US" sz="1400" dirty="0"/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4921432B-381F-9179-109F-6A659E572982}"/>
                </a:ext>
              </a:extLst>
            </p:cNvPr>
            <p:cNvSpPr txBox="1"/>
            <p:nvPr/>
          </p:nvSpPr>
          <p:spPr>
            <a:xfrm>
              <a:off x="7282964" y="2276636"/>
              <a:ext cx="5275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0.9</a:t>
              </a:r>
              <a:endParaRPr lang="zh-CN" altLang="en-US" sz="1400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1D626FF6-95D1-150C-8613-83AECFE4304C}"/>
                </a:ext>
              </a:extLst>
            </p:cNvPr>
            <p:cNvSpPr txBox="1"/>
            <p:nvPr/>
          </p:nvSpPr>
          <p:spPr>
            <a:xfrm>
              <a:off x="9047284" y="2276636"/>
              <a:ext cx="5275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0.9</a:t>
              </a:r>
              <a:endParaRPr lang="zh-CN" altLang="en-US" sz="1400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109EAF6F-9A5D-5223-0447-C4F1A672BAD6}"/>
                </a:ext>
              </a:extLst>
            </p:cNvPr>
            <p:cNvSpPr txBox="1"/>
            <p:nvPr/>
          </p:nvSpPr>
          <p:spPr>
            <a:xfrm>
              <a:off x="5671040" y="1395995"/>
              <a:ext cx="5275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0.1</a:t>
              </a:r>
              <a:endParaRPr lang="zh-CN" altLang="en-US" sz="1400" dirty="0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0FBA9B0D-E571-2CE6-93AE-1AD74EA6B7E0}"/>
                </a:ext>
              </a:extLst>
            </p:cNvPr>
            <p:cNvSpPr txBox="1"/>
            <p:nvPr/>
          </p:nvSpPr>
          <p:spPr>
            <a:xfrm>
              <a:off x="6477002" y="1403844"/>
              <a:ext cx="5275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0.1</a:t>
              </a:r>
              <a:endParaRPr lang="zh-CN" altLang="en-US" sz="1400" dirty="0"/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3981678C-6E2E-DF52-9653-1985EA96C982}"/>
                </a:ext>
              </a:extLst>
            </p:cNvPr>
            <p:cNvSpPr txBox="1"/>
            <p:nvPr/>
          </p:nvSpPr>
          <p:spPr>
            <a:xfrm>
              <a:off x="7282964" y="1395995"/>
              <a:ext cx="5275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0.1</a:t>
              </a:r>
              <a:endParaRPr lang="zh-CN" altLang="en-US" sz="1400" dirty="0"/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6667B188-0A3B-40D7-64D5-604FC184C9AD}"/>
                </a:ext>
              </a:extLst>
            </p:cNvPr>
            <p:cNvSpPr txBox="1"/>
            <p:nvPr/>
          </p:nvSpPr>
          <p:spPr>
            <a:xfrm>
              <a:off x="9047284" y="1406281"/>
              <a:ext cx="5275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dirty="0"/>
                <a:t>0.1</a:t>
              </a:r>
              <a:endParaRPr lang="zh-CN" altLang="en-US" sz="1400" dirty="0"/>
            </a:p>
          </p:txBody>
        </p:sp>
      </p:grpSp>
      <p:sp>
        <p:nvSpPr>
          <p:cNvPr id="112" name="文本框 111">
            <a:extLst>
              <a:ext uri="{FF2B5EF4-FFF2-40B4-BE49-F238E27FC236}">
                <a16:creationId xmlns:a16="http://schemas.microsoft.com/office/drawing/2014/main" id="{772EAAF5-043F-D9C3-DA79-E58C72054794}"/>
              </a:ext>
            </a:extLst>
          </p:cNvPr>
          <p:cNvSpPr txBox="1"/>
          <p:nvPr/>
        </p:nvSpPr>
        <p:spPr>
          <a:xfrm>
            <a:off x="630614" y="2151742"/>
            <a:ext cx="2780802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温度</a:t>
            </a: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(Temperature)</a:t>
            </a:r>
            <a:endParaRPr lang="zh-CN" altLang="en-US" b="1" dirty="0">
              <a:solidFill>
                <a:srgbClr val="268F9C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4812D6A4-EE9D-28CF-5819-5D147862DE20}"/>
                  </a:ext>
                </a:extLst>
              </p:cNvPr>
              <p:cNvSpPr txBox="1"/>
              <p:nvPr/>
            </p:nvSpPr>
            <p:spPr>
              <a:xfrm>
                <a:off x="922128" y="2729181"/>
                <a:ext cx="1936484" cy="715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17" name="文本框 116">
                <a:extLst>
                  <a:ext uri="{FF2B5EF4-FFF2-40B4-BE49-F238E27FC236}">
                    <a16:creationId xmlns:a16="http://schemas.microsoft.com/office/drawing/2014/main" id="{4812D6A4-EE9D-28CF-5819-5D147862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128" y="2729181"/>
                <a:ext cx="1936484" cy="71564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C3CE6C36-0DA7-E6DC-1F5C-FB68DDA1F243}"/>
                  </a:ext>
                </a:extLst>
              </p:cNvPr>
              <p:cNvSpPr txBox="1"/>
              <p:nvPr/>
            </p:nvSpPr>
            <p:spPr>
              <a:xfrm>
                <a:off x="3670436" y="2729180"/>
                <a:ext cx="2189284" cy="7156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18" name="文本框 117">
                <a:extLst>
                  <a:ext uri="{FF2B5EF4-FFF2-40B4-BE49-F238E27FC236}">
                    <a16:creationId xmlns:a16="http://schemas.microsoft.com/office/drawing/2014/main" id="{C3CE6C36-0DA7-E6DC-1F5C-FB68DDA1F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436" y="2729180"/>
                <a:ext cx="2189284" cy="71564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D9CD330C-3B57-8F34-D923-8F6B6A771C0D}"/>
              </a:ext>
            </a:extLst>
          </p:cNvPr>
          <p:cNvCxnSpPr>
            <a:cxnSpLocks/>
            <a:stCxn id="117" idx="3"/>
            <a:endCxn id="118" idx="1"/>
          </p:cNvCxnSpPr>
          <p:nvPr/>
        </p:nvCxnSpPr>
        <p:spPr>
          <a:xfrm flipV="1">
            <a:off x="2858612" y="3087003"/>
            <a:ext cx="81182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文本框 122">
            <a:extLst>
              <a:ext uri="{FF2B5EF4-FFF2-40B4-BE49-F238E27FC236}">
                <a16:creationId xmlns:a16="http://schemas.microsoft.com/office/drawing/2014/main" id="{36DC80C5-F0A1-B349-CB9D-D90F97FAA62C}"/>
              </a:ext>
            </a:extLst>
          </p:cNvPr>
          <p:cNvSpPr txBox="1"/>
          <p:nvPr/>
        </p:nvSpPr>
        <p:spPr>
          <a:xfrm>
            <a:off x="2858612" y="2680333"/>
            <a:ext cx="811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温度</a:t>
            </a:r>
            <a:r>
              <a:rPr lang="en-US" altLang="zh-CN" dirty="0">
                <a:latin typeface="+mn-ea"/>
              </a:rPr>
              <a:t>T</a:t>
            </a:r>
            <a:endParaRPr lang="zh-CN" altLang="en-US" dirty="0"/>
          </a:p>
        </p:txBody>
      </p:sp>
      <p:graphicFrame>
        <p:nvGraphicFramePr>
          <p:cNvPr id="133" name="图表 132">
            <a:extLst>
              <a:ext uri="{FF2B5EF4-FFF2-40B4-BE49-F238E27FC236}">
                <a16:creationId xmlns:a16="http://schemas.microsoft.com/office/drawing/2014/main" id="{E81C4D6C-C5B8-C653-FCA3-95856570B1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4145975"/>
              </p:ext>
            </p:extLst>
          </p:nvPr>
        </p:nvGraphicFramePr>
        <p:xfrm>
          <a:off x="6671544" y="3290680"/>
          <a:ext cx="1543537" cy="13506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487641B6-024B-4ADF-AA1E-32884F5A78F7}"/>
              </a:ext>
            </a:extLst>
          </p:cNvPr>
          <p:cNvGrpSpPr/>
          <p:nvPr/>
        </p:nvGrpSpPr>
        <p:grpSpPr>
          <a:xfrm>
            <a:off x="9241825" y="2561912"/>
            <a:ext cx="1543538" cy="2808182"/>
            <a:chOff x="9081475" y="2711020"/>
            <a:chExt cx="1543538" cy="2808182"/>
          </a:xfrm>
        </p:grpSpPr>
        <p:graphicFrame>
          <p:nvGraphicFramePr>
            <p:cNvPr id="134" name="图表 133">
              <a:extLst>
                <a:ext uri="{FF2B5EF4-FFF2-40B4-BE49-F238E27FC236}">
                  <a16:creationId xmlns:a16="http://schemas.microsoft.com/office/drawing/2014/main" id="{E1FC1D92-02D6-3C0A-4FD9-DA8F8EB4889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77924831"/>
                </p:ext>
              </p:extLst>
            </p:nvPr>
          </p:nvGraphicFramePr>
          <p:xfrm>
            <a:off x="9081475" y="2711020"/>
            <a:ext cx="1543537" cy="135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6"/>
            </a:graphicData>
          </a:graphic>
        </p:graphicFrame>
        <p:graphicFrame>
          <p:nvGraphicFramePr>
            <p:cNvPr id="135" name="图表 134">
              <a:extLst>
                <a:ext uri="{FF2B5EF4-FFF2-40B4-BE49-F238E27FC236}">
                  <a16:creationId xmlns:a16="http://schemas.microsoft.com/office/drawing/2014/main" id="{1C2B4DB5-6925-59BD-E53D-49D6E5443A0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27473470"/>
                </p:ext>
              </p:extLst>
            </p:nvPr>
          </p:nvGraphicFramePr>
          <p:xfrm>
            <a:off x="9081476" y="4169202"/>
            <a:ext cx="1543537" cy="135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7"/>
            </a:graphicData>
          </a:graphic>
        </p:graphicFrame>
      </p:grp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13D81F5C-86FF-8343-D6DC-C37245EDE40A}"/>
              </a:ext>
            </a:extLst>
          </p:cNvPr>
          <p:cNvCxnSpPr>
            <a:cxnSpLocks/>
            <a:stCxn id="133" idx="3"/>
            <a:endCxn id="134" idx="1"/>
          </p:cNvCxnSpPr>
          <p:nvPr/>
        </p:nvCxnSpPr>
        <p:spPr>
          <a:xfrm flipV="1">
            <a:off x="8215081" y="3236912"/>
            <a:ext cx="1026744" cy="729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2787D497-A24B-898E-3A5A-DCD9838CB7AF}"/>
              </a:ext>
            </a:extLst>
          </p:cNvPr>
          <p:cNvCxnSpPr>
            <a:cxnSpLocks/>
            <a:stCxn id="133" idx="3"/>
            <a:endCxn id="135" idx="1"/>
          </p:cNvCxnSpPr>
          <p:nvPr/>
        </p:nvCxnSpPr>
        <p:spPr>
          <a:xfrm>
            <a:off x="8215081" y="3966003"/>
            <a:ext cx="1026745" cy="729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D8D4DFE4-1530-DFEA-9535-A1C2F9CD7975}"/>
                  </a:ext>
                </a:extLst>
              </p:cNvPr>
              <p:cNvSpPr txBox="1"/>
              <p:nvPr/>
            </p:nvSpPr>
            <p:spPr>
              <a:xfrm>
                <a:off x="8116903" y="3194441"/>
                <a:ext cx="10267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D8D4DFE4-1530-DFEA-9535-A1C2F9CD7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903" y="3194441"/>
                <a:ext cx="1026744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83768D7F-DB90-A713-4A23-47CE83577EFB}"/>
                  </a:ext>
                </a:extLst>
              </p:cNvPr>
              <p:cNvSpPr txBox="1"/>
              <p:nvPr/>
            </p:nvSpPr>
            <p:spPr>
              <a:xfrm>
                <a:off x="8165992" y="4410343"/>
                <a:ext cx="10267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83768D7F-DB90-A713-4A23-47CE83577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5992" y="4410343"/>
                <a:ext cx="1026744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文本框 151">
            <a:extLst>
              <a:ext uri="{FF2B5EF4-FFF2-40B4-BE49-F238E27FC236}">
                <a16:creationId xmlns:a16="http://schemas.microsoft.com/office/drawing/2014/main" id="{09D89BE1-2827-4783-E77E-AA4CC7F20445}"/>
              </a:ext>
            </a:extLst>
          </p:cNvPr>
          <p:cNvSpPr txBox="1"/>
          <p:nvPr/>
        </p:nvSpPr>
        <p:spPr>
          <a:xfrm>
            <a:off x="630614" y="3660685"/>
            <a:ext cx="2780802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Top-k 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采样</a:t>
            </a: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4FF4AC3C-B169-31AC-0319-27B29B80E9DD}"/>
              </a:ext>
            </a:extLst>
          </p:cNvPr>
          <p:cNvSpPr txBox="1"/>
          <p:nvPr/>
        </p:nvSpPr>
        <p:spPr>
          <a:xfrm>
            <a:off x="969669" y="4113820"/>
            <a:ext cx="4391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</a:rPr>
              <a:t>在概率最大的前 </a:t>
            </a:r>
            <a:r>
              <a:rPr lang="en-US" altLang="zh-CN" dirty="0">
                <a:latin typeface="+mn-ea"/>
              </a:rPr>
              <a:t>k </a:t>
            </a:r>
            <a:r>
              <a:rPr lang="zh-CN" altLang="en-US" dirty="0">
                <a:latin typeface="+mn-ea"/>
              </a:rPr>
              <a:t>个</a:t>
            </a:r>
            <a:r>
              <a:rPr lang="en-US" altLang="zh-CN" dirty="0">
                <a:latin typeface="+mn-ea"/>
              </a:rPr>
              <a:t>token</a:t>
            </a:r>
            <a:r>
              <a:rPr lang="zh-CN" altLang="en-US" dirty="0">
                <a:latin typeface="+mn-ea"/>
              </a:rPr>
              <a:t>中进行采样</a:t>
            </a:r>
            <a:endParaRPr lang="zh-CN" altLang="en-US" dirty="0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6A6B7473-84B1-651F-3090-F28297DF8EE3}"/>
              </a:ext>
            </a:extLst>
          </p:cNvPr>
          <p:cNvSpPr txBox="1"/>
          <p:nvPr/>
        </p:nvSpPr>
        <p:spPr>
          <a:xfrm>
            <a:off x="630614" y="4624317"/>
            <a:ext cx="2780802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Top-p 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采样</a:t>
            </a: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A8284372-4878-66B2-E924-5989C5076789}"/>
              </a:ext>
            </a:extLst>
          </p:cNvPr>
          <p:cNvSpPr txBox="1"/>
          <p:nvPr/>
        </p:nvSpPr>
        <p:spPr>
          <a:xfrm>
            <a:off x="969669" y="5092406"/>
            <a:ext cx="6809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</a:rPr>
              <a:t>概率从大往小相加，相加值刚好超过</a:t>
            </a:r>
            <a:r>
              <a:rPr lang="en-US" altLang="zh-CN" dirty="0">
                <a:latin typeface="+mn-ea"/>
              </a:rPr>
              <a:t>p</a:t>
            </a:r>
            <a:r>
              <a:rPr lang="zh-CN" altLang="en-US" dirty="0">
                <a:latin typeface="+mn-ea"/>
              </a:rPr>
              <a:t>时，没有相加的</a:t>
            </a:r>
            <a:r>
              <a:rPr lang="en-US" altLang="zh-CN" dirty="0">
                <a:latin typeface="+mn-ea"/>
              </a:rPr>
              <a:t>token</a:t>
            </a:r>
            <a:r>
              <a:rPr lang="zh-CN" altLang="en-US" dirty="0">
                <a:latin typeface="+mn-ea"/>
              </a:rPr>
              <a:t>忽略</a:t>
            </a:r>
            <a:endParaRPr lang="zh-CN" altLang="en-US" dirty="0"/>
          </a:p>
        </p:txBody>
      </p:sp>
      <p:graphicFrame>
        <p:nvGraphicFramePr>
          <p:cNvPr id="157" name="图表 156">
            <a:extLst>
              <a:ext uri="{FF2B5EF4-FFF2-40B4-BE49-F238E27FC236}">
                <a16:creationId xmlns:a16="http://schemas.microsoft.com/office/drawing/2014/main" id="{F0436025-2F95-90AA-C5D6-64597E350F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9712205"/>
              </p:ext>
            </p:extLst>
          </p:nvPr>
        </p:nvGraphicFramePr>
        <p:xfrm>
          <a:off x="1158408" y="5330240"/>
          <a:ext cx="2292815" cy="13506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159" name="文本框 158">
            <a:extLst>
              <a:ext uri="{FF2B5EF4-FFF2-40B4-BE49-F238E27FC236}">
                <a16:creationId xmlns:a16="http://schemas.microsoft.com/office/drawing/2014/main" id="{753F8185-2750-F2F5-3104-AB943E5F0459}"/>
              </a:ext>
            </a:extLst>
          </p:cNvPr>
          <p:cNvSpPr txBox="1"/>
          <p:nvPr/>
        </p:nvSpPr>
        <p:spPr>
          <a:xfrm>
            <a:off x="3484573" y="5746439"/>
            <a:ext cx="5547813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dirty="0">
                <a:latin typeface="+mn-ea"/>
              </a:rPr>
              <a:t>p</a:t>
            </a:r>
            <a:r>
              <a:rPr lang="zh-CN" altLang="en-US" dirty="0">
                <a:latin typeface="+mn-ea"/>
              </a:rPr>
              <a:t>为</a:t>
            </a:r>
            <a:r>
              <a:rPr lang="en-US" altLang="zh-CN" dirty="0">
                <a:latin typeface="+mn-ea"/>
              </a:rPr>
              <a:t>0.9</a:t>
            </a:r>
            <a:r>
              <a:rPr lang="zh-CN" altLang="en-US" dirty="0">
                <a:latin typeface="+mn-ea"/>
              </a:rPr>
              <a:t>时，选择前两个</a:t>
            </a:r>
            <a:r>
              <a:rPr lang="en-US" altLang="zh-CN" dirty="0">
                <a:latin typeface="+mn-ea"/>
              </a:rPr>
              <a:t>token</a:t>
            </a:r>
            <a:r>
              <a:rPr lang="zh-CN" altLang="en-US" dirty="0">
                <a:latin typeface="+mn-ea"/>
              </a:rPr>
              <a:t>进行采样</a:t>
            </a:r>
            <a:endParaRPr lang="en-US" altLang="zh-CN" dirty="0">
              <a:latin typeface="+mn-ea"/>
            </a:endParaRPr>
          </a:p>
          <a:p>
            <a:pPr>
              <a:spcBef>
                <a:spcPts val="600"/>
              </a:spcBef>
            </a:pPr>
            <a:r>
              <a:rPr lang="en-US" altLang="zh-CN" dirty="0">
                <a:latin typeface="+mn-ea"/>
              </a:rPr>
              <a:t>p</a:t>
            </a:r>
            <a:r>
              <a:rPr lang="zh-CN" altLang="en-US" dirty="0">
                <a:latin typeface="+mn-ea"/>
              </a:rPr>
              <a:t>为</a:t>
            </a:r>
            <a:r>
              <a:rPr lang="en-US" altLang="zh-CN" dirty="0">
                <a:latin typeface="+mn-ea"/>
              </a:rPr>
              <a:t>0.95</a:t>
            </a:r>
            <a:r>
              <a:rPr lang="zh-CN" altLang="en-US" dirty="0">
                <a:latin typeface="+mn-ea"/>
              </a:rPr>
              <a:t>时，选择前三个</a:t>
            </a:r>
            <a:r>
              <a:rPr lang="en-US" altLang="zh-CN" dirty="0">
                <a:latin typeface="+mn-ea"/>
              </a:rPr>
              <a:t>token</a:t>
            </a:r>
            <a:r>
              <a:rPr lang="zh-CN" altLang="en-US" dirty="0">
                <a:latin typeface="+mn-ea"/>
              </a:rPr>
              <a:t>进行采样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2438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0" grpId="0"/>
      <p:bldP spid="112" grpId="0"/>
      <p:bldP spid="117" grpId="0"/>
      <p:bldP spid="118" grpId="0"/>
      <p:bldP spid="123" grpId="0"/>
      <p:bldGraphic spid="133" grpId="0">
        <p:bldAsOne/>
      </p:bldGraphic>
      <p:bldP spid="150" grpId="0"/>
      <p:bldP spid="151" grpId="0"/>
      <p:bldP spid="152" grpId="0"/>
      <p:bldP spid="153" grpId="0"/>
      <p:bldP spid="154" grpId="0"/>
      <p:bldP spid="155" grpId="0"/>
      <p:bldGraphic spid="157" grpId="0">
        <p:bldAsOne/>
      </p:bldGraphic>
      <p:bldP spid="15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2.</a:t>
            </a:r>
            <a:r>
              <a:rPr lang="zh-CN" altLang="en-US" sz="2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问题与挑战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22F28BD-2287-5920-7885-CF14D27F9C51}"/>
              </a:ext>
            </a:extLst>
          </p:cNvPr>
          <p:cNvSpPr txBox="1"/>
          <p:nvPr/>
        </p:nvSpPr>
        <p:spPr>
          <a:xfrm>
            <a:off x="290644" y="806973"/>
            <a:ext cx="1444371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981345-6825-C994-3881-7DC6C05271D0}"/>
              </a:ext>
            </a:extLst>
          </p:cNvPr>
          <p:cNvSpPr txBox="1"/>
          <p:nvPr/>
        </p:nvSpPr>
        <p:spPr>
          <a:xfrm>
            <a:off x="706315" y="1315037"/>
            <a:ext cx="7640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n-ea"/>
              </a:rPr>
              <a:t>对于同一个输入的多个输出，如何确定这些输出的好坏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23BBEB-4BBA-EEB6-5888-50BF1580F476}"/>
              </a:ext>
            </a:extLst>
          </p:cNvPr>
          <p:cNvSpPr txBox="1"/>
          <p:nvPr/>
        </p:nvSpPr>
        <p:spPr>
          <a:xfrm>
            <a:off x="290644" y="1907332"/>
            <a:ext cx="1444371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排序策略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5727CD-4A05-FA44-ADA3-EEC24AC6024F}"/>
              </a:ext>
            </a:extLst>
          </p:cNvPr>
          <p:cNvSpPr txBox="1"/>
          <p:nvPr/>
        </p:nvSpPr>
        <p:spPr>
          <a:xfrm>
            <a:off x="706315" y="2303915"/>
            <a:ext cx="2780802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随机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94FAAC-3C5E-ED60-242B-4E1905A47F4A}"/>
              </a:ext>
            </a:extLst>
          </p:cNvPr>
          <p:cNvSpPr txBox="1"/>
          <p:nvPr/>
        </p:nvSpPr>
        <p:spPr>
          <a:xfrm>
            <a:off x="1012829" y="2700498"/>
            <a:ext cx="4391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在多个输出中随机选择一个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5D6BE7-FB97-7312-B037-915798C3F32A}"/>
              </a:ext>
            </a:extLst>
          </p:cNvPr>
          <p:cNvSpPr txBox="1"/>
          <p:nvPr/>
        </p:nvSpPr>
        <p:spPr>
          <a:xfrm>
            <a:off x="706314" y="3056491"/>
            <a:ext cx="4240823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以输出概率排序 </a:t>
            </a: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(Coder)</a:t>
            </a:r>
            <a:endParaRPr lang="zh-CN" altLang="en-US" b="1" dirty="0">
              <a:solidFill>
                <a:srgbClr val="268F9C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421B7EE-E83B-669D-E5A7-FEA138ABB8FD}"/>
                  </a:ext>
                </a:extLst>
              </p:cNvPr>
              <p:cNvSpPr txBox="1"/>
              <p:nvPr/>
            </p:nvSpPr>
            <p:spPr>
              <a:xfrm>
                <a:off x="1012828" y="3418839"/>
                <a:ext cx="4848709" cy="683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3421B7EE-E83B-669D-E5A7-FEA138ABB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828" y="3418839"/>
                <a:ext cx="4848709" cy="6836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D9A4A16-A365-0A24-9A2E-83852D36065B}"/>
                  </a:ext>
                </a:extLst>
              </p:cNvPr>
              <p:cNvSpPr txBox="1"/>
              <p:nvPr/>
            </p:nvSpPr>
            <p:spPr>
              <a:xfrm>
                <a:off x="1012828" y="4073015"/>
                <a:ext cx="3409702" cy="3784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为模型输入提示，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dirty="0"/>
                  <a:t>为上下文</a:t>
                </a:r>
                <a:endParaRPr lang="en-US" altLang="zh-CN" dirty="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D9A4A16-A365-0A24-9A2E-83852D360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828" y="4073015"/>
                <a:ext cx="3409702" cy="378481"/>
              </a:xfrm>
              <a:prstGeom prst="rect">
                <a:avLst/>
              </a:prstGeom>
              <a:blipFill>
                <a:blip r:embed="rId4"/>
                <a:stretch>
                  <a:fillRect t="-8065" b="-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43AA782D-9FEF-B9E2-4EE1-2C250F1583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981" y="2071300"/>
            <a:ext cx="3409702" cy="226111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B48DE28-78F4-4561-A72D-1E54772580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708" y="4332416"/>
            <a:ext cx="3409702" cy="240529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BD3B30A-7A19-3447-455F-B811729F58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3311" y="4440096"/>
            <a:ext cx="3409702" cy="2297614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02FF92AD-6286-8BF0-E214-F928DD2B98FE}"/>
              </a:ext>
            </a:extLst>
          </p:cNvPr>
          <p:cNvSpPr txBox="1"/>
          <p:nvPr/>
        </p:nvSpPr>
        <p:spPr>
          <a:xfrm>
            <a:off x="706314" y="4930316"/>
            <a:ext cx="4240823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归一化输出概率 </a:t>
            </a: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(</a:t>
            </a:r>
            <a:r>
              <a:rPr lang="en-US" altLang="zh-CN" b="1" dirty="0" err="1">
                <a:solidFill>
                  <a:srgbClr val="268F9C"/>
                </a:solidFill>
                <a:latin typeface="+mn-ea"/>
              </a:rPr>
              <a:t>N.Coder</a:t>
            </a: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)</a:t>
            </a:r>
            <a:endParaRPr lang="zh-CN" altLang="en-US" b="1" dirty="0">
              <a:solidFill>
                <a:srgbClr val="268F9C"/>
              </a:solidFill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19A87AE-57F2-498C-0C2A-3B18D1CC0EE0}"/>
                  </a:ext>
                </a:extLst>
              </p:cNvPr>
              <p:cNvSpPr txBox="1"/>
              <p:nvPr/>
            </p:nvSpPr>
            <p:spPr>
              <a:xfrm>
                <a:off x="1012828" y="5356181"/>
                <a:ext cx="1861038" cy="659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func>
                        <m:func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19A87AE-57F2-498C-0C2A-3B18D1CC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828" y="5356181"/>
                <a:ext cx="1861038" cy="6594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21591D6-BC16-13CA-7A68-818079BA2663}"/>
                  </a:ext>
                </a:extLst>
              </p:cNvPr>
              <p:cNvSpPr txBox="1"/>
              <p:nvPr/>
            </p:nvSpPr>
            <p:spPr>
              <a:xfrm>
                <a:off x="971781" y="4440096"/>
                <a:ext cx="36353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dirty="0"/>
                  <a:t>为模型参数，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en-US" dirty="0"/>
                  <a:t>为生成的代码</a:t>
                </a: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21591D6-BC16-13CA-7A68-818079BA2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781" y="4440096"/>
                <a:ext cx="3635388" cy="369332"/>
              </a:xfrm>
              <a:prstGeom prst="rect">
                <a:avLst/>
              </a:prstGeom>
              <a:blipFill>
                <a:blip r:embed="rId9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CF318C7E-B254-A29C-E737-8D8C3A03E2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8704" y="2228343"/>
            <a:ext cx="2767710" cy="19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931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1" grpId="0"/>
      <p:bldP spid="12" grpId="0"/>
      <p:bldP spid="23" grpId="0"/>
      <p:bldP spid="25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noProof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3.</a:t>
            </a:r>
            <a:r>
              <a:rPr lang="zh-CN" altLang="en-US" sz="2800" noProof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动机与方法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8E63DA-76BD-5A68-5B64-778F290628A8}"/>
              </a:ext>
            </a:extLst>
          </p:cNvPr>
          <p:cNvSpPr txBox="1"/>
          <p:nvPr/>
        </p:nvSpPr>
        <p:spPr>
          <a:xfrm>
            <a:off x="436222" y="840532"/>
            <a:ext cx="1896670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软件开发过程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657AA2B-266D-8C1F-6A89-93B94652866F}"/>
              </a:ext>
            </a:extLst>
          </p:cNvPr>
          <p:cNvGrpSpPr/>
          <p:nvPr/>
        </p:nvGrpSpPr>
        <p:grpSpPr>
          <a:xfrm>
            <a:off x="1031441" y="1487874"/>
            <a:ext cx="3833762" cy="1354435"/>
            <a:chOff x="1031441" y="1487874"/>
            <a:chExt cx="3833762" cy="1354435"/>
          </a:xfrm>
        </p:grpSpPr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C412A849-2F0F-32C7-764B-7871051E3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58408" y="1532918"/>
              <a:ext cx="900568" cy="900568"/>
            </a:xfrm>
            <a:prstGeom prst="rect">
              <a:avLst/>
            </a:prstGeom>
          </p:spPr>
        </p:pic>
        <p:pic>
          <p:nvPicPr>
            <p:cNvPr id="7" name="图形 6">
              <a:extLst>
                <a:ext uri="{FF2B5EF4-FFF2-40B4-BE49-F238E27FC236}">
                  <a16:creationId xmlns:a16="http://schemas.microsoft.com/office/drawing/2014/main" id="{FD09DE06-3739-4B98-35C9-C018CB753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83623" y="1533486"/>
              <a:ext cx="900000" cy="9000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B16A739-8167-EF8E-CCF4-2A13F4BEA0CA}"/>
                </a:ext>
              </a:extLst>
            </p:cNvPr>
            <p:cNvSpPr txBox="1"/>
            <p:nvPr/>
          </p:nvSpPr>
          <p:spPr>
            <a:xfrm>
              <a:off x="1031441" y="2471382"/>
              <a:ext cx="1263161" cy="3663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latin typeface="+mn-ea"/>
                </a:rPr>
                <a:t>Coder</a:t>
              </a:r>
              <a:endParaRPr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5071227-F8D5-FA6D-596E-A852F40ED168}"/>
                </a:ext>
              </a:extLst>
            </p:cNvPr>
            <p:cNvSpPr txBox="1"/>
            <p:nvPr/>
          </p:nvSpPr>
          <p:spPr>
            <a:xfrm>
              <a:off x="3602042" y="2472977"/>
              <a:ext cx="12631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latin typeface="+mn-ea"/>
                </a:rPr>
                <a:t>Reviewer</a:t>
              </a:r>
              <a:endParaRPr lang="zh-CN" altLang="en-US" b="1" dirty="0">
                <a:latin typeface="+mn-ea"/>
              </a:endParaRPr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4406F1A2-F2B7-9F71-3806-47B9DA4B7BA1}"/>
                </a:ext>
              </a:extLst>
            </p:cNvPr>
            <p:cNvCxnSpPr>
              <a:cxnSpLocks/>
            </p:cNvCxnSpPr>
            <p:nvPr/>
          </p:nvCxnSpPr>
          <p:spPr>
            <a:xfrm>
              <a:off x="2294602" y="1854248"/>
              <a:ext cx="1452497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B2B6672-F213-12D0-3895-47D0A6AC8EDE}"/>
                </a:ext>
              </a:extLst>
            </p:cNvPr>
            <p:cNvSpPr txBox="1"/>
            <p:nvPr/>
          </p:nvSpPr>
          <p:spPr>
            <a:xfrm>
              <a:off x="2389269" y="1487874"/>
              <a:ext cx="126316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+mn-ea"/>
                </a:rPr>
                <a:t>代码实现</a:t>
              </a:r>
              <a:endParaRPr lang="zh-CN" altLang="en-US" sz="16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3B038EE-A259-8D52-E635-A980F3CA81FD}"/>
                </a:ext>
              </a:extLst>
            </p:cNvPr>
            <p:cNvSpPr txBox="1"/>
            <p:nvPr/>
          </p:nvSpPr>
          <p:spPr>
            <a:xfrm>
              <a:off x="2389269" y="2270045"/>
              <a:ext cx="126316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dirty="0">
                  <a:latin typeface="+mn-ea"/>
                </a:rPr>
                <a:t>质量审阅</a:t>
              </a:r>
              <a:endParaRPr lang="zh-CN" altLang="en-US" sz="1600" dirty="0"/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7146ED7F-8E06-FF15-E070-FF82E313BE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78292" y="2126998"/>
              <a:ext cx="1374138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13CFC9C7-5E0F-44C6-55C4-994781773DFD}"/>
              </a:ext>
            </a:extLst>
          </p:cNvPr>
          <p:cNvSpPr txBox="1"/>
          <p:nvPr/>
        </p:nvSpPr>
        <p:spPr>
          <a:xfrm>
            <a:off x="436222" y="2869754"/>
            <a:ext cx="4768235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en-US" altLang="zh-CN" dirty="0"/>
              <a:t>Reviewer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AEED09C-77E6-E1B7-744B-DA0B95E9E955}"/>
                  </a:ext>
                </a:extLst>
              </p:cNvPr>
              <p:cNvSpPr txBox="1"/>
              <p:nvPr/>
            </p:nvSpPr>
            <p:spPr>
              <a:xfrm>
                <a:off x="849720" y="3291627"/>
                <a:ext cx="4318037" cy="6703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subSup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5AEED09C-77E6-E1B7-744B-DA0B95E9E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720" y="3291627"/>
                <a:ext cx="4318037" cy="6703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图片 23">
            <a:extLst>
              <a:ext uri="{FF2B5EF4-FFF2-40B4-BE49-F238E27FC236}">
                <a16:creationId xmlns:a16="http://schemas.microsoft.com/office/drawing/2014/main" id="{BC3458C1-F438-4E8D-3F28-B521D8E446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3938" y="3068045"/>
            <a:ext cx="6108792" cy="215447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18CD571B-576C-4113-48D0-1511A7736359}"/>
              </a:ext>
            </a:extLst>
          </p:cNvPr>
          <p:cNvSpPr txBox="1"/>
          <p:nvPr/>
        </p:nvSpPr>
        <p:spPr>
          <a:xfrm>
            <a:off x="436222" y="4123296"/>
            <a:ext cx="6101860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en-US" altLang="zh-CN" dirty="0"/>
              <a:t>Coder-Reviewer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C193E38-F334-F36E-7DAE-DE00E4AE2A54}"/>
                  </a:ext>
                </a:extLst>
              </p:cNvPr>
              <p:cNvSpPr txBox="1"/>
              <p:nvPr/>
            </p:nvSpPr>
            <p:spPr>
              <a:xfrm>
                <a:off x="849720" y="4517506"/>
                <a:ext cx="23566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C193E38-F334-F36E-7DAE-DE00E4AE2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720" y="4517506"/>
                <a:ext cx="2356669" cy="369332"/>
              </a:xfrm>
              <a:prstGeom prst="rect">
                <a:avLst/>
              </a:prstGeom>
              <a:blipFill>
                <a:blip r:embed="rId9"/>
                <a:stretch>
                  <a:fillRect l="-775" b="-14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419F9059-906C-450D-89FC-4844C91D0DFB}"/>
              </a:ext>
            </a:extLst>
          </p:cNvPr>
          <p:cNvSpPr txBox="1"/>
          <p:nvPr/>
        </p:nvSpPr>
        <p:spPr>
          <a:xfrm>
            <a:off x="436222" y="4970467"/>
            <a:ext cx="2857963" cy="403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en-US" altLang="zh-CN" dirty="0" err="1"/>
              <a:t>N.Coder</a:t>
            </a:r>
            <a:r>
              <a:rPr lang="en-US" altLang="zh-CN" dirty="0"/>
              <a:t>-Reviewer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C868CBF-FC26-919B-0556-E807548DE7DC}"/>
                  </a:ext>
                </a:extLst>
              </p:cNvPr>
              <p:cNvSpPr txBox="1"/>
              <p:nvPr/>
            </p:nvSpPr>
            <p:spPr>
              <a:xfrm>
                <a:off x="849720" y="5440600"/>
                <a:ext cx="3833903" cy="660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f>
                            <m:fPr>
                              <m:ctrlP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0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altLang="zh-CN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altLang="zh-CN" i="1" dirty="0" err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func>
                        <m:func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C868CBF-FC26-919B-0556-E807548DE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720" y="5440600"/>
                <a:ext cx="3833903" cy="66005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496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1" grpId="0"/>
      <p:bldP spid="22" grpId="0"/>
      <p:bldP spid="26" grpId="0"/>
      <p:bldP spid="28" grpId="0"/>
      <p:bldP spid="29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noProof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3.</a:t>
            </a:r>
            <a:r>
              <a:rPr lang="zh-CN" altLang="en-US" sz="2800" noProof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动机与方法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8CD571B-576C-4113-48D0-1511A7736359}"/>
              </a:ext>
            </a:extLst>
          </p:cNvPr>
          <p:cNvSpPr txBox="1"/>
          <p:nvPr/>
        </p:nvSpPr>
        <p:spPr>
          <a:xfrm>
            <a:off x="546074" y="842115"/>
            <a:ext cx="2888788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en-US" altLang="zh-CN" dirty="0"/>
              <a:t>Coder-Reviewer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C193E38-F334-F36E-7DAE-DE00E4AE2A54}"/>
                  </a:ext>
                </a:extLst>
              </p:cNvPr>
              <p:cNvSpPr txBox="1"/>
              <p:nvPr/>
            </p:nvSpPr>
            <p:spPr>
              <a:xfrm>
                <a:off x="914070" y="1236325"/>
                <a:ext cx="235666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zh-CN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3C193E38-F334-F36E-7DAE-DE00E4AE2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070" y="1236325"/>
                <a:ext cx="2356669" cy="369332"/>
              </a:xfrm>
              <a:prstGeom prst="rect">
                <a:avLst/>
              </a:prstGeom>
              <a:blipFill>
                <a:blip r:embed="rId3"/>
                <a:stretch>
                  <a:fillRect l="-775"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44FC07FF-617F-A19F-8A2E-87CE80CFB885}"/>
              </a:ext>
            </a:extLst>
          </p:cNvPr>
          <p:cNvSpPr txBox="1"/>
          <p:nvPr/>
        </p:nvSpPr>
        <p:spPr>
          <a:xfrm>
            <a:off x="542194" y="1721703"/>
            <a:ext cx="6101860" cy="396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本质上为最大化加权互信息（</a:t>
            </a:r>
            <a:r>
              <a:rPr lang="en-US" altLang="zh-CN" b="1" dirty="0">
                <a:solidFill>
                  <a:srgbClr val="268F9C"/>
                </a:solidFill>
                <a:latin typeface="+mn-ea"/>
              </a:rPr>
              <a:t>Mutual Information</a:t>
            </a: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）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C5F1064-9499-8779-6927-5E135FCB1E19}"/>
              </a:ext>
            </a:extLst>
          </p:cNvPr>
          <p:cNvSpPr txBox="1"/>
          <p:nvPr/>
        </p:nvSpPr>
        <p:spPr>
          <a:xfrm>
            <a:off x="897436" y="2313556"/>
            <a:ext cx="1194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互信息：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457670C0-6D3D-045D-444E-EC8ABCD2C2B1}"/>
                  </a:ext>
                </a:extLst>
              </p:cNvPr>
              <p:cNvSpPr txBox="1"/>
              <p:nvPr/>
            </p:nvSpPr>
            <p:spPr>
              <a:xfrm>
                <a:off x="1765274" y="2144567"/>
                <a:ext cx="1669588" cy="676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457670C0-6D3D-045D-444E-EC8ABCD2C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274" y="2144567"/>
                <a:ext cx="1669588" cy="6765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本框 40">
            <a:extLst>
              <a:ext uri="{FF2B5EF4-FFF2-40B4-BE49-F238E27FC236}">
                <a16:creationId xmlns:a16="http://schemas.microsoft.com/office/drawing/2014/main" id="{0889F1F0-76FD-5BFB-8F9C-6B61BC43DE8B}"/>
              </a:ext>
            </a:extLst>
          </p:cNvPr>
          <p:cNvSpPr txBox="1"/>
          <p:nvPr/>
        </p:nvSpPr>
        <p:spPr>
          <a:xfrm>
            <a:off x="897436" y="3046371"/>
            <a:ext cx="1341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加权互信息：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E44F5AD5-60DF-D6DB-ED35-8A6E991A2BCD}"/>
                  </a:ext>
                </a:extLst>
              </p:cNvPr>
              <p:cNvSpPr txBox="1"/>
              <p:nvPr/>
            </p:nvSpPr>
            <p:spPr>
              <a:xfrm>
                <a:off x="2092404" y="2878500"/>
                <a:ext cx="1776211" cy="6771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18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E44F5AD5-60DF-D6DB-ED35-8A6E991A2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404" y="2878500"/>
                <a:ext cx="1776211" cy="6771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BF01C4B-7299-5611-C7E0-B93F746A5EF5}"/>
                  </a:ext>
                </a:extLst>
              </p:cNvPr>
              <p:cNvSpPr txBox="1"/>
              <p:nvPr/>
            </p:nvSpPr>
            <p:spPr>
              <a:xfrm>
                <a:off x="3868615" y="2085659"/>
                <a:ext cx="4666116" cy="1129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func>
                        <m:func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18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func>
                        <m:func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b="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func>
                        <m:func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b="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BF01C4B-7299-5611-C7E0-B93F746A5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8615" y="2085659"/>
                <a:ext cx="4666116" cy="11299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本框 44">
            <a:extLst>
              <a:ext uri="{FF2B5EF4-FFF2-40B4-BE49-F238E27FC236}">
                <a16:creationId xmlns:a16="http://schemas.microsoft.com/office/drawing/2014/main" id="{44D912F3-E08B-7B0E-787D-17B8D2550BFF}"/>
              </a:ext>
            </a:extLst>
          </p:cNvPr>
          <p:cNvSpPr txBox="1"/>
          <p:nvPr/>
        </p:nvSpPr>
        <p:spPr>
          <a:xfrm>
            <a:off x="546074" y="3686231"/>
            <a:ext cx="1776211" cy="39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互信息性质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50FE449-406A-9475-6DCC-CC64FAA3CD15}"/>
                  </a:ext>
                </a:extLst>
              </p:cNvPr>
              <p:cNvSpPr txBox="1"/>
              <p:nvPr/>
            </p:nvSpPr>
            <p:spPr>
              <a:xfrm>
                <a:off x="861872" y="4570093"/>
                <a:ext cx="5609265" cy="679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MI</m:t>
                          </m:r>
                          <m:r>
                            <a:rPr lang="en-US" altLang="zh-CN" b="0" i="0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b="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b="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50FE449-406A-9475-6DCC-CC64FAA3C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72" y="4570093"/>
                <a:ext cx="5609265" cy="6790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本框 47">
            <a:extLst>
              <a:ext uri="{FF2B5EF4-FFF2-40B4-BE49-F238E27FC236}">
                <a16:creationId xmlns:a16="http://schemas.microsoft.com/office/drawing/2014/main" id="{31FD96BA-F649-198E-F840-5FF9843B6EE2}"/>
              </a:ext>
            </a:extLst>
          </p:cNvPr>
          <p:cNvSpPr txBox="1"/>
          <p:nvPr/>
        </p:nvSpPr>
        <p:spPr>
          <a:xfrm>
            <a:off x="855846" y="4157176"/>
            <a:ext cx="25790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表示两个事件的相关程度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7488292F-D298-EA7C-A2AC-014B83AFD568}"/>
                  </a:ext>
                </a:extLst>
              </p:cNvPr>
              <p:cNvSpPr txBox="1"/>
              <p:nvPr/>
            </p:nvSpPr>
            <p:spPr>
              <a:xfrm>
                <a:off x="897436" y="5323487"/>
                <a:ext cx="62888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MI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&gt; 0</a:t>
                </a:r>
                <a:r>
                  <a:rPr lang="zh-CN" altLang="en-US" dirty="0"/>
                  <a:t>，两个事件同时发生的概率 </a:t>
                </a:r>
                <a:r>
                  <a:rPr lang="en-US" altLang="zh-CN" dirty="0"/>
                  <a:t>&gt; </a:t>
                </a:r>
                <a:r>
                  <a:rPr lang="zh-CN" altLang="en-US" dirty="0"/>
                  <a:t>事件单独发生的概率</a:t>
                </a:r>
              </a:p>
            </p:txBody>
          </p:sp>
        </mc:Choice>
        <mc:Fallback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7488292F-D298-EA7C-A2AC-014B83AFD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36" y="5323487"/>
                <a:ext cx="6288810" cy="369332"/>
              </a:xfrm>
              <a:prstGeom prst="rect">
                <a:avLst/>
              </a:prstGeom>
              <a:blipFill>
                <a:blip r:embed="rId8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17CA6A0B-965E-BBA7-1EB7-C464D5624FB9}"/>
                  </a:ext>
                </a:extLst>
              </p:cNvPr>
              <p:cNvSpPr txBox="1"/>
              <p:nvPr/>
            </p:nvSpPr>
            <p:spPr>
              <a:xfrm>
                <a:off x="897436" y="5803560"/>
                <a:ext cx="62888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MI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&lt; 0</a:t>
                </a:r>
                <a:r>
                  <a:rPr lang="zh-CN" altLang="en-US" dirty="0"/>
                  <a:t>，两个事件同时发生的概率 </a:t>
                </a:r>
                <a:r>
                  <a:rPr lang="en-US" altLang="zh-CN" dirty="0"/>
                  <a:t>&lt; </a:t>
                </a:r>
                <a:r>
                  <a:rPr lang="zh-CN" altLang="en-US" dirty="0"/>
                  <a:t>事件单独发生的概率</a:t>
                </a:r>
              </a:p>
            </p:txBody>
          </p:sp>
        </mc:Choice>
        <mc:Fallback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17CA6A0B-965E-BBA7-1EB7-C464D5624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36" y="5803560"/>
                <a:ext cx="6288810" cy="369332"/>
              </a:xfrm>
              <a:prstGeom prst="rect">
                <a:avLst/>
              </a:prstGeom>
              <a:blipFill>
                <a:blip r:embed="rId9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8422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8" grpId="0"/>
      <p:bldP spid="40" grpId="0"/>
      <p:bldP spid="41" grpId="0"/>
      <p:bldP spid="42" grpId="0"/>
      <p:bldP spid="43" grpId="0"/>
      <p:bldP spid="45" grpId="0"/>
      <p:bldP spid="47" grpId="0"/>
      <p:bldP spid="48" grpId="0"/>
      <p:bldP spid="50" grpId="0"/>
      <p:bldP spid="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noProof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3.</a:t>
            </a:r>
            <a:r>
              <a:rPr lang="zh-CN" altLang="en-US" sz="2800" noProof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动机与方法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95651F-1C22-802D-CBF4-7208F239899C}"/>
              </a:ext>
            </a:extLst>
          </p:cNvPr>
          <p:cNvSpPr txBox="1"/>
          <p:nvPr/>
        </p:nvSpPr>
        <p:spPr>
          <a:xfrm>
            <a:off x="546074" y="842115"/>
            <a:ext cx="2888788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zh-CN" altLang="en-US" dirty="0"/>
              <a:t>案例分析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D866191-10A3-3517-7704-0CB974C79605}"/>
              </a:ext>
            </a:extLst>
          </p:cNvPr>
          <p:cNvSpPr txBox="1"/>
          <p:nvPr/>
        </p:nvSpPr>
        <p:spPr>
          <a:xfrm>
            <a:off x="823548" y="1635866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ReturnOnly</a:t>
            </a:r>
            <a:r>
              <a:rPr lang="zh-CN" altLang="en-US" dirty="0"/>
              <a:t>：生成的代码只有</a:t>
            </a:r>
            <a:r>
              <a:rPr lang="en-US" altLang="zh-CN" dirty="0"/>
              <a:t>return</a:t>
            </a:r>
            <a:r>
              <a:rPr lang="zh-CN" altLang="en-US" dirty="0"/>
              <a:t>语句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4231677-5DED-C930-F9F4-8D6E22C16D94}"/>
              </a:ext>
            </a:extLst>
          </p:cNvPr>
          <p:cNvSpPr txBox="1"/>
          <p:nvPr/>
        </p:nvSpPr>
        <p:spPr>
          <a:xfrm>
            <a:off x="546074" y="1239283"/>
            <a:ext cx="2780802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特殊输出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43E0B2F-FF07-0C67-C248-928D220938EC}"/>
              </a:ext>
            </a:extLst>
          </p:cNvPr>
          <p:cNvSpPr txBox="1"/>
          <p:nvPr/>
        </p:nvSpPr>
        <p:spPr>
          <a:xfrm>
            <a:off x="823548" y="2005198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Repetitive</a:t>
            </a:r>
            <a:r>
              <a:rPr lang="zh-CN" altLang="en-US" dirty="0"/>
              <a:t>：生成的代码中包含重复的</a:t>
            </a:r>
            <a:r>
              <a:rPr lang="en-US" altLang="zh-CN" dirty="0"/>
              <a:t>print</a:t>
            </a:r>
            <a:r>
              <a:rPr lang="zh-CN" altLang="en-US" dirty="0"/>
              <a:t>语句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786AA13-A519-E9A6-E6B2-130E035E6704}"/>
              </a:ext>
            </a:extLst>
          </p:cNvPr>
          <p:cNvSpPr txBox="1"/>
          <p:nvPr/>
        </p:nvSpPr>
        <p:spPr>
          <a:xfrm>
            <a:off x="823548" y="2374530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CopyPrompt</a:t>
            </a:r>
            <a:r>
              <a:rPr lang="zh-CN" altLang="en-US" dirty="0"/>
              <a:t>：生成的代码中只包含重复的输入指令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6CF4200-A032-86C1-5F30-27F5A890F37F}"/>
              </a:ext>
            </a:extLst>
          </p:cNvPr>
          <p:cNvSpPr txBox="1"/>
          <p:nvPr/>
        </p:nvSpPr>
        <p:spPr>
          <a:xfrm>
            <a:off x="546074" y="2747281"/>
            <a:ext cx="2780802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评价指标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6106AC8-530B-9BBE-70CC-A5170780907C}"/>
                  </a:ext>
                </a:extLst>
              </p:cNvPr>
              <p:cNvSpPr txBox="1"/>
              <p:nvPr/>
            </p:nvSpPr>
            <p:spPr>
              <a:xfrm>
                <a:off x="823548" y="3143864"/>
                <a:ext cx="6101860" cy="5206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Mean Reciprocal Rank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O</m:t>
                            </m:r>
                          </m:e>
                        </m:d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𝑟𝑎𝑛𝑘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6106AC8-530B-9BBE-70CC-A51707809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48" y="3143864"/>
                <a:ext cx="6101860" cy="520655"/>
              </a:xfrm>
              <a:prstGeom prst="rect">
                <a:avLst/>
              </a:prstGeom>
              <a:blipFill>
                <a:blip r:embed="rId3"/>
                <a:stretch>
                  <a:fillRect l="-799" t="-74118" b="-115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>
            <a:extLst>
              <a:ext uri="{FF2B5EF4-FFF2-40B4-BE49-F238E27FC236}">
                <a16:creationId xmlns:a16="http://schemas.microsoft.com/office/drawing/2014/main" id="{5C7B4BEA-2430-2B74-CC06-BEFC15A11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076" y="1122213"/>
            <a:ext cx="4349120" cy="268059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389B48DC-49E6-0AB8-61CB-524668896730}"/>
              </a:ext>
            </a:extLst>
          </p:cNvPr>
          <p:cNvSpPr txBox="1"/>
          <p:nvPr/>
        </p:nvSpPr>
        <p:spPr>
          <a:xfrm>
            <a:off x="546074" y="3714137"/>
            <a:ext cx="2888788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zh-CN" altLang="en-US" dirty="0"/>
              <a:t>过滤方法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DA67BCD-6C28-F592-9EFF-062877C52E1E}"/>
              </a:ext>
            </a:extLst>
          </p:cNvPr>
          <p:cNvSpPr txBox="1"/>
          <p:nvPr/>
        </p:nvSpPr>
        <p:spPr>
          <a:xfrm>
            <a:off x="823548" y="4157965"/>
            <a:ext cx="5272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去除掉只包含</a:t>
            </a:r>
            <a:r>
              <a:rPr lang="en-US" altLang="zh-CN" dirty="0"/>
              <a:t>return</a:t>
            </a:r>
            <a:r>
              <a:rPr lang="zh-CN" altLang="en-US" dirty="0"/>
              <a:t>语句或者</a:t>
            </a:r>
            <a:r>
              <a:rPr lang="en-US" altLang="zh-CN" dirty="0"/>
              <a:t>pass</a:t>
            </a:r>
            <a:r>
              <a:rPr lang="zh-CN" altLang="en-US" dirty="0"/>
              <a:t>语句的代码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1B5A138-AE74-34B1-19F8-8072153B8C67}"/>
              </a:ext>
            </a:extLst>
          </p:cNvPr>
          <p:cNvSpPr txBox="1"/>
          <p:nvPr/>
        </p:nvSpPr>
        <p:spPr>
          <a:xfrm>
            <a:off x="823548" y="4690049"/>
            <a:ext cx="4391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en-US" dirty="0"/>
              <a:t>去除掉包含重复代码语句的代码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215B945-CF2F-A695-371C-09AD352711D6}"/>
              </a:ext>
            </a:extLst>
          </p:cNvPr>
          <p:cNvSpPr txBox="1"/>
          <p:nvPr/>
        </p:nvSpPr>
        <p:spPr>
          <a:xfrm>
            <a:off x="823548" y="5222133"/>
            <a:ext cx="66206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对于所有生成的代码去除掉代码注释，并将</a:t>
            </a:r>
            <a:r>
              <a:rPr lang="en-US" altLang="zh-CN" dirty="0"/>
              <a:t>print</a:t>
            </a:r>
            <a:r>
              <a:rPr lang="zh-CN" altLang="en-US" dirty="0"/>
              <a:t>和</a:t>
            </a:r>
            <a:r>
              <a:rPr lang="en-US" altLang="zh-CN" dirty="0"/>
              <a:t>assert</a:t>
            </a:r>
            <a:r>
              <a:rPr lang="zh-CN" altLang="en-US" dirty="0"/>
              <a:t>语句中的字符串替换为空字符串</a:t>
            </a:r>
          </a:p>
        </p:txBody>
      </p:sp>
    </p:spTree>
    <p:extLst>
      <p:ext uri="{BB962C8B-B14F-4D97-AF65-F5344CB8AC3E}">
        <p14:creationId xmlns:p14="http://schemas.microsoft.com/office/powerpoint/2010/main" val="2027195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/>
      <p:bldP spid="11" grpId="0"/>
      <p:bldP spid="12" grpId="0"/>
      <p:bldP spid="18" grpId="0"/>
      <p:bldP spid="19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noProof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4.</a:t>
            </a:r>
            <a:r>
              <a:rPr lang="zh-CN" altLang="en-US" sz="2800">
                <a:solidFill>
                  <a:srgbClr val="000000">
                    <a:lumMod val="75000"/>
                    <a:lumOff val="25000"/>
                  </a:srgbClr>
                </a:solidFill>
              </a:rPr>
              <a:t>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E91EC2-77DC-7F19-609D-F28121877BD6}"/>
              </a:ext>
            </a:extLst>
          </p:cNvPr>
          <p:cNvSpPr txBox="1"/>
          <p:nvPr/>
        </p:nvSpPr>
        <p:spPr>
          <a:xfrm>
            <a:off x="546074" y="842115"/>
            <a:ext cx="2888788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zh-CN" altLang="en-US" dirty="0"/>
              <a:t>实验设置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9B9A46C-0EE3-4684-C343-313DA298BCAA}"/>
              </a:ext>
            </a:extLst>
          </p:cNvPr>
          <p:cNvSpPr txBox="1"/>
          <p:nvPr/>
        </p:nvSpPr>
        <p:spPr>
          <a:xfrm>
            <a:off x="546074" y="1236325"/>
            <a:ext cx="2780802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数据集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D5DDA0-8A42-F0FE-41E7-701EBEA1ECDB}"/>
              </a:ext>
            </a:extLst>
          </p:cNvPr>
          <p:cNvSpPr txBox="1"/>
          <p:nvPr/>
        </p:nvSpPr>
        <p:spPr>
          <a:xfrm>
            <a:off x="1714500" y="1249949"/>
            <a:ext cx="7359162" cy="38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HumanEval</a:t>
            </a:r>
            <a:r>
              <a:rPr lang="zh-CN" altLang="en-US" dirty="0"/>
              <a:t>、</a:t>
            </a:r>
            <a:r>
              <a:rPr lang="en-US" altLang="zh-CN" dirty="0"/>
              <a:t>MBPP-Sanitized</a:t>
            </a:r>
            <a:r>
              <a:rPr lang="zh-CN" altLang="en-US" dirty="0"/>
              <a:t>、</a:t>
            </a:r>
            <a:r>
              <a:rPr lang="en-US" altLang="zh-CN" dirty="0"/>
              <a:t>Plotting</a:t>
            </a:r>
            <a:r>
              <a:rPr lang="zh-CN" altLang="en-US" dirty="0"/>
              <a:t>、</a:t>
            </a:r>
            <a:r>
              <a:rPr lang="en-US" altLang="zh-CN" dirty="0"/>
              <a:t>MBPP</a:t>
            </a:r>
            <a:r>
              <a:rPr lang="zh-CN" altLang="en-US" dirty="0"/>
              <a:t>、</a:t>
            </a:r>
            <a:r>
              <a:rPr lang="en-US" altLang="zh-CN" dirty="0"/>
              <a:t>Spider</a:t>
            </a:r>
            <a:r>
              <a:rPr lang="zh-CN" altLang="en-US" dirty="0"/>
              <a:t>、</a:t>
            </a:r>
            <a:r>
              <a:rPr lang="en-US" altLang="zh-CN" dirty="0"/>
              <a:t>NL2Bash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22825BF-E6A9-158A-F127-A8E51F09CAB7}"/>
              </a:ext>
            </a:extLst>
          </p:cNvPr>
          <p:cNvSpPr txBox="1"/>
          <p:nvPr/>
        </p:nvSpPr>
        <p:spPr>
          <a:xfrm>
            <a:off x="546074" y="1690676"/>
            <a:ext cx="966203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模型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6F1C264-8324-41B7-3BC3-8BA2856CBA9B}"/>
              </a:ext>
            </a:extLst>
          </p:cNvPr>
          <p:cNvSpPr txBox="1"/>
          <p:nvPr/>
        </p:nvSpPr>
        <p:spPr>
          <a:xfrm>
            <a:off x="1397977" y="1704301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Codex</a:t>
            </a:r>
            <a:r>
              <a:rPr lang="zh-CN" altLang="en-US" dirty="0"/>
              <a:t>、</a:t>
            </a:r>
            <a:r>
              <a:rPr lang="en-US" altLang="zh-CN" dirty="0" err="1"/>
              <a:t>InCoder</a:t>
            </a:r>
            <a:r>
              <a:rPr lang="zh-CN" altLang="en-US" dirty="0"/>
              <a:t>、</a:t>
            </a:r>
            <a:r>
              <a:rPr lang="en-US" altLang="zh-CN" dirty="0" err="1"/>
              <a:t>CodeGen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56BFC2B-16CA-2963-A822-63AE2139C8ED}"/>
              </a:ext>
            </a:extLst>
          </p:cNvPr>
          <p:cNvSpPr txBox="1"/>
          <p:nvPr/>
        </p:nvSpPr>
        <p:spPr>
          <a:xfrm>
            <a:off x="546074" y="2140614"/>
            <a:ext cx="1974388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268F9C"/>
                </a:solidFill>
                <a:latin typeface="+mn-ea"/>
              </a:rPr>
              <a:t>参数设置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2B49908-9C68-CD79-0003-C18B41D61DBD}"/>
              </a:ext>
            </a:extLst>
          </p:cNvPr>
          <p:cNvSpPr txBox="1"/>
          <p:nvPr/>
        </p:nvSpPr>
        <p:spPr>
          <a:xfrm>
            <a:off x="835270" y="2590552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Temperature</a:t>
            </a:r>
            <a:r>
              <a:rPr lang="zh-CN" altLang="en-US" dirty="0"/>
              <a:t>为</a:t>
            </a:r>
            <a:r>
              <a:rPr lang="en-US" altLang="zh-CN" dirty="0"/>
              <a:t>0.4</a:t>
            </a:r>
            <a:r>
              <a:rPr lang="zh-CN" altLang="en-US" dirty="0"/>
              <a:t>，最大生成</a:t>
            </a:r>
            <a:r>
              <a:rPr lang="en-US" altLang="zh-CN" dirty="0"/>
              <a:t>token</a:t>
            </a:r>
            <a:r>
              <a:rPr lang="zh-CN" altLang="en-US" dirty="0"/>
              <a:t>为</a:t>
            </a:r>
            <a:r>
              <a:rPr lang="en-US" altLang="zh-CN" dirty="0"/>
              <a:t>300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CACD49-CDA5-1278-DAEC-28E8F3B0D8D9}"/>
              </a:ext>
            </a:extLst>
          </p:cNvPr>
          <p:cNvSpPr txBox="1"/>
          <p:nvPr/>
        </p:nvSpPr>
        <p:spPr>
          <a:xfrm>
            <a:off x="546074" y="2930375"/>
            <a:ext cx="9352085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zh-CN" altLang="en-US" dirty="0"/>
              <a:t>评价指标计算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A7CA040-41A1-582F-D801-4111A8403FE2}"/>
              </a:ext>
            </a:extLst>
          </p:cNvPr>
          <p:cNvSpPr txBox="1"/>
          <p:nvPr/>
        </p:nvSpPr>
        <p:spPr>
          <a:xfrm>
            <a:off x="835269" y="3350413"/>
            <a:ext cx="638614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r>
              <a:rPr lang="zh-CN" altLang="en-US" dirty="0"/>
              <a:t>采样</a:t>
            </a:r>
            <a:r>
              <a:rPr lang="en-US" altLang="zh-CN" dirty="0"/>
              <a:t>125</a:t>
            </a:r>
            <a:r>
              <a:rPr lang="zh-CN" altLang="en-US" dirty="0"/>
              <a:t>个输出</a:t>
            </a:r>
            <a:endParaRPr lang="en-US" altLang="zh-CN" dirty="0"/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zh-CN" altLang="en-US" dirty="0"/>
              <a:t>然后再从</a:t>
            </a:r>
            <a:r>
              <a:rPr lang="en-US" altLang="zh-CN" dirty="0"/>
              <a:t>125</a:t>
            </a:r>
            <a:r>
              <a:rPr lang="zh-CN" altLang="en-US" dirty="0"/>
              <a:t>个输出中采样</a:t>
            </a:r>
            <a:r>
              <a:rPr lang="en-US" altLang="zh-CN" dirty="0"/>
              <a:t>25</a:t>
            </a:r>
            <a:r>
              <a:rPr lang="zh-CN" altLang="en-US" dirty="0"/>
              <a:t>个样本，计算</a:t>
            </a:r>
            <a:r>
              <a:rPr lang="en-US" altLang="zh-CN" dirty="0"/>
              <a:t>rank1</a:t>
            </a:r>
            <a:r>
              <a:rPr lang="zh-CN" altLang="en-US" dirty="0"/>
              <a:t>的通过率</a:t>
            </a:r>
            <a:endParaRPr lang="en-US" altLang="zh-CN" dirty="0"/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zh-CN" altLang="en-US" dirty="0"/>
              <a:t>重复</a:t>
            </a:r>
            <a:r>
              <a:rPr lang="en-US" altLang="zh-CN" dirty="0"/>
              <a:t>2</a:t>
            </a:r>
            <a:r>
              <a:rPr lang="zh-CN" altLang="en-US" dirty="0"/>
              <a:t>的操作</a:t>
            </a:r>
            <a:r>
              <a:rPr lang="en-US" altLang="zh-CN" dirty="0"/>
              <a:t>50</a:t>
            </a:r>
            <a:r>
              <a:rPr lang="zh-CN" altLang="en-US" dirty="0"/>
              <a:t>次，然后计算平均通过率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AD04BBE-D0C1-614B-4FBF-E2656A45B43A}"/>
              </a:ext>
            </a:extLst>
          </p:cNvPr>
          <p:cNvSpPr txBox="1"/>
          <p:nvPr/>
        </p:nvSpPr>
        <p:spPr>
          <a:xfrm>
            <a:off x="546074" y="4457202"/>
            <a:ext cx="9352085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zh-CN" altLang="en-US" dirty="0"/>
              <a:t>排序方法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7FC5CAD-D9D7-EF26-5FD7-7DD600F3F412}"/>
              </a:ext>
            </a:extLst>
          </p:cNvPr>
          <p:cNvSpPr txBox="1"/>
          <p:nvPr/>
        </p:nvSpPr>
        <p:spPr>
          <a:xfrm>
            <a:off x="835269" y="4883356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dirty="0"/>
              <a:t>基线：</a:t>
            </a:r>
            <a:r>
              <a:rPr lang="en-US" altLang="zh-CN" dirty="0"/>
              <a:t>Random</a:t>
            </a:r>
            <a:r>
              <a:rPr lang="zh-CN" altLang="en-US" dirty="0"/>
              <a:t>、</a:t>
            </a:r>
            <a:r>
              <a:rPr lang="en-US" altLang="zh-CN" dirty="0"/>
              <a:t>Coder</a:t>
            </a:r>
            <a:r>
              <a:rPr lang="zh-CN" altLang="en-US" dirty="0"/>
              <a:t>、</a:t>
            </a:r>
            <a:r>
              <a:rPr lang="en-US" altLang="zh-CN" dirty="0"/>
              <a:t>N. Coder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EB4D443-40E0-087F-12DC-4F2E1F829783}"/>
              </a:ext>
            </a:extLst>
          </p:cNvPr>
          <p:cNvSpPr txBox="1"/>
          <p:nvPr/>
        </p:nvSpPr>
        <p:spPr>
          <a:xfrm>
            <a:off x="835269" y="5218750"/>
            <a:ext cx="7488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本文提出的方法：</a:t>
            </a:r>
            <a:r>
              <a:rPr lang="en-US" altLang="zh-CN" dirty="0"/>
              <a:t> Reviewer</a:t>
            </a:r>
            <a:r>
              <a:rPr lang="zh-CN" altLang="en-US" dirty="0"/>
              <a:t>、</a:t>
            </a:r>
            <a:r>
              <a:rPr lang="en-US" altLang="zh-CN" dirty="0"/>
              <a:t> Coder-Reviewer</a:t>
            </a:r>
            <a:r>
              <a:rPr lang="zh-CN" altLang="en-US" dirty="0"/>
              <a:t>、</a:t>
            </a:r>
            <a:r>
              <a:rPr lang="en-US" altLang="zh-CN" dirty="0"/>
              <a:t> N. Coder-Reviewer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DE877C-02D6-3C68-9BEF-4766C2D1A6FD}"/>
              </a:ext>
            </a:extLst>
          </p:cNvPr>
          <p:cNvSpPr txBox="1"/>
          <p:nvPr/>
        </p:nvSpPr>
        <p:spPr>
          <a:xfrm>
            <a:off x="835269" y="5562835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SOTA</a:t>
            </a:r>
            <a:r>
              <a:rPr lang="zh-CN" altLang="en-US" dirty="0"/>
              <a:t>：</a:t>
            </a:r>
            <a:r>
              <a:rPr lang="en-US" altLang="zh-CN" dirty="0"/>
              <a:t> MBR-EXEC</a:t>
            </a:r>
            <a:r>
              <a:rPr lang="zh-CN" altLang="en-US" dirty="0"/>
              <a:t>、</a:t>
            </a:r>
            <a:r>
              <a:rPr lang="en-US" altLang="zh-CN" dirty="0" err="1"/>
              <a:t>CodeT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1550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9" grpId="0"/>
      <p:bldP spid="10" grpId="0"/>
      <p:bldP spid="11" grpId="0"/>
      <p:bldP spid="12" grpId="0"/>
      <p:bldP spid="14" grpId="0"/>
      <p:bldP spid="15" grpId="0"/>
      <p:bldP spid="17" grpId="0"/>
      <p:bldP spid="19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noProof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4.</a:t>
            </a:r>
            <a:r>
              <a:rPr lang="zh-CN" altLang="en-US" sz="2800">
                <a:solidFill>
                  <a:srgbClr val="000000">
                    <a:lumMod val="75000"/>
                    <a:lumOff val="25000"/>
                  </a:srgbClr>
                </a:solidFill>
              </a:rPr>
              <a:t>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E91EC2-77DC-7F19-609D-F28121877BD6}"/>
              </a:ext>
            </a:extLst>
          </p:cNvPr>
          <p:cNvSpPr txBox="1"/>
          <p:nvPr/>
        </p:nvSpPr>
        <p:spPr>
          <a:xfrm>
            <a:off x="546074" y="842115"/>
            <a:ext cx="2888788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zh-CN" altLang="en-US" dirty="0"/>
              <a:t>实验结果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4DCB58E-4D75-3985-54AC-B6B58AFF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399" y="1776911"/>
            <a:ext cx="8870340" cy="391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446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noProof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4.</a:t>
            </a:r>
            <a:r>
              <a:rPr lang="zh-CN" altLang="en-US" sz="2800">
                <a:solidFill>
                  <a:srgbClr val="000000">
                    <a:lumMod val="75000"/>
                    <a:lumOff val="25000"/>
                  </a:srgbClr>
                </a:solidFill>
              </a:rPr>
              <a:t>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E91EC2-77DC-7F19-609D-F28121877BD6}"/>
              </a:ext>
            </a:extLst>
          </p:cNvPr>
          <p:cNvSpPr txBox="1"/>
          <p:nvPr/>
        </p:nvSpPr>
        <p:spPr>
          <a:xfrm>
            <a:off x="546074" y="842115"/>
            <a:ext cx="2888788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zh-CN" altLang="en-US" dirty="0"/>
              <a:t>实验结果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DBF6C1-B73C-A390-7776-7F137DF54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179" y="842114"/>
            <a:ext cx="7696583" cy="447066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D23A1C2-EE7E-5CE7-A036-C733567B75C5}"/>
              </a:ext>
            </a:extLst>
          </p:cNvPr>
          <p:cNvSpPr/>
          <p:nvPr/>
        </p:nvSpPr>
        <p:spPr>
          <a:xfrm>
            <a:off x="3540760" y="2785851"/>
            <a:ext cx="351790" cy="39421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4243BE9-4407-2260-897D-F45D417E5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349" y="5398929"/>
            <a:ext cx="6049302" cy="123391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AD280CA-A6C0-65A5-51DA-9671C310D3A8}"/>
              </a:ext>
            </a:extLst>
          </p:cNvPr>
          <p:cNvSpPr/>
          <p:nvPr/>
        </p:nvSpPr>
        <p:spPr>
          <a:xfrm>
            <a:off x="5694080" y="2783522"/>
            <a:ext cx="351790" cy="404899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404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noProof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4.</a:t>
            </a:r>
            <a:r>
              <a:rPr lang="zh-CN" altLang="en-US" sz="2800">
                <a:solidFill>
                  <a:srgbClr val="000000">
                    <a:lumMod val="75000"/>
                    <a:lumOff val="25000"/>
                  </a:srgbClr>
                </a:solidFill>
              </a:rPr>
              <a:t>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E91EC2-77DC-7F19-609D-F28121877BD6}"/>
              </a:ext>
            </a:extLst>
          </p:cNvPr>
          <p:cNvSpPr txBox="1"/>
          <p:nvPr/>
        </p:nvSpPr>
        <p:spPr>
          <a:xfrm>
            <a:off x="546074" y="842115"/>
            <a:ext cx="2888788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zh-CN" altLang="en-US" dirty="0"/>
              <a:t>实验结果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C3B4436-0B89-221E-CAD2-6CF257343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735" y="1289143"/>
            <a:ext cx="3818254" cy="269687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B4EA036-C4BD-B31A-DFF3-C31D35146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443968"/>
            <a:ext cx="3563215" cy="238722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0CFD074-9224-3544-6B30-EF7E233D7D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735" y="4025217"/>
            <a:ext cx="3692701" cy="255072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AA9FAE2-345B-3EE4-BCB1-B0FEBB6822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7156" y="4341774"/>
            <a:ext cx="2762672" cy="195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9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noProof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4.</a:t>
            </a:r>
            <a:r>
              <a:rPr lang="zh-CN" altLang="en-US" sz="2800">
                <a:solidFill>
                  <a:srgbClr val="000000">
                    <a:lumMod val="75000"/>
                    <a:lumOff val="25000"/>
                  </a:srgbClr>
                </a:solidFill>
              </a:rPr>
              <a:t>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E91EC2-77DC-7F19-609D-F28121877BD6}"/>
              </a:ext>
            </a:extLst>
          </p:cNvPr>
          <p:cNvSpPr txBox="1"/>
          <p:nvPr/>
        </p:nvSpPr>
        <p:spPr>
          <a:xfrm>
            <a:off x="546074" y="842115"/>
            <a:ext cx="2888788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zh-CN" altLang="en-US" dirty="0"/>
              <a:t>实验结果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D3348C2-935A-705E-7650-2E42036C0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672" y="2173742"/>
            <a:ext cx="7110814" cy="308889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7937E8A-C579-B422-BA91-58326B37F606}"/>
              </a:ext>
            </a:extLst>
          </p:cNvPr>
          <p:cNvSpPr txBox="1"/>
          <p:nvPr/>
        </p:nvSpPr>
        <p:spPr>
          <a:xfrm>
            <a:off x="962762" y="1236325"/>
            <a:ext cx="6329289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pPr marL="0" indent="0">
              <a:spcAft>
                <a:spcPts val="600"/>
              </a:spcAft>
              <a:buNone/>
            </a:pPr>
            <a:r>
              <a:rPr lang="zh-CN" altLang="en-US" b="0" dirty="0">
                <a:solidFill>
                  <a:schemeClr val="tx1"/>
                </a:solidFill>
                <a:latin typeface="+mn-lt"/>
              </a:rPr>
              <a:t>探究作者提出的过滤方法的有效性，作者进行了消融实验</a:t>
            </a:r>
          </a:p>
        </p:txBody>
      </p:sp>
    </p:spTree>
    <p:extLst>
      <p:ext uri="{BB962C8B-B14F-4D97-AF65-F5344CB8AC3E}">
        <p14:creationId xmlns:p14="http://schemas.microsoft.com/office/powerpoint/2010/main" val="3498231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4">
            <a:extLst>
              <a:ext uri="{FF2B5EF4-FFF2-40B4-BE49-F238E27FC236}">
                <a16:creationId xmlns:a16="http://schemas.microsoft.com/office/drawing/2014/main" id="{9436878A-C9CA-2FAE-74B5-A11616112B9E}"/>
              </a:ext>
            </a:extLst>
          </p:cNvPr>
          <p:cNvSpPr txBox="1"/>
          <p:nvPr userDrawn="1"/>
        </p:nvSpPr>
        <p:spPr>
          <a:xfrm>
            <a:off x="1158408" y="152874"/>
            <a:ext cx="10585337" cy="542617"/>
          </a:xfrm>
          <a:prstGeom prst="rect">
            <a:avLst/>
          </a:prstGeom>
        </p:spPr>
        <p:txBody>
          <a:bodyPr vert="horz" lIns="91440" tIns="45721" rIns="91440" bIns="45721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>
              <a:spcBef>
                <a:spcPct val="20000"/>
              </a:spcBef>
            </a:pPr>
            <a:r>
              <a:rPr lang="en-US" altLang="zh-CN" sz="2800" noProof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4.</a:t>
            </a:r>
            <a:r>
              <a:rPr lang="zh-CN" altLang="en-US" sz="2800">
                <a:solidFill>
                  <a:srgbClr val="000000">
                    <a:lumMod val="75000"/>
                    <a:lumOff val="25000"/>
                  </a:srgbClr>
                </a:solidFill>
              </a:rPr>
              <a:t>实验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8E91EC2-77DC-7F19-609D-F28121877BD6}"/>
              </a:ext>
            </a:extLst>
          </p:cNvPr>
          <p:cNvSpPr txBox="1"/>
          <p:nvPr/>
        </p:nvSpPr>
        <p:spPr>
          <a:xfrm>
            <a:off x="546074" y="842115"/>
            <a:ext cx="2888788" cy="394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r>
              <a:rPr lang="zh-CN" altLang="en-US" dirty="0"/>
              <a:t>实验结果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5CD8AA7-7186-7DD9-355F-8C5A796FC0F2}"/>
                  </a:ext>
                </a:extLst>
              </p:cNvPr>
              <p:cNvSpPr txBox="1"/>
              <p:nvPr/>
            </p:nvSpPr>
            <p:spPr>
              <a:xfrm>
                <a:off x="982364" y="1606715"/>
                <a:ext cx="4904995" cy="1129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func>
                        <m:func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sSup>
                                <m:sSupPr>
                                  <m:ctrlP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18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b="0" i="1" dirty="0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8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func>
                        <m:func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b="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altLang="zh-CN" sz="1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800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func>
                        <m:funcPr>
                          <m:ctrlP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800" b="0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18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en-US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5CD8AA7-7186-7DD9-355F-8C5A796FC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364" y="1606715"/>
                <a:ext cx="4904995" cy="11299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3E91C7A6-DA42-9A86-AAF6-7A3A9A25145A}"/>
              </a:ext>
            </a:extLst>
          </p:cNvPr>
          <p:cNvSpPr txBox="1"/>
          <p:nvPr/>
        </p:nvSpPr>
        <p:spPr>
          <a:xfrm>
            <a:off x="962762" y="1236325"/>
            <a:ext cx="6329289" cy="39658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285750" indent="-285750">
              <a:lnSpc>
                <a:spcPct val="120000"/>
              </a:lnSpc>
              <a:buFont typeface="Wingdings" panose="05000000000000000000" pitchFamily="2" charset="2"/>
              <a:buChar char="Ø"/>
              <a:defRPr b="1">
                <a:solidFill>
                  <a:srgbClr val="268F9C"/>
                </a:solidFill>
                <a:latin typeface="+mn-ea"/>
              </a:defRPr>
            </a:lvl1pPr>
          </a:lstStyle>
          <a:p>
            <a:pPr marL="0" indent="0">
              <a:spcAft>
                <a:spcPts val="600"/>
              </a:spcAft>
              <a:buNone/>
            </a:pPr>
            <a:r>
              <a:rPr lang="en-US" altLang="zh-CN" b="0" dirty="0">
                <a:solidFill>
                  <a:schemeClr val="tx1"/>
                </a:solidFill>
                <a:latin typeface="+mn-lt"/>
              </a:rPr>
              <a:t>Coder-Reviewer</a:t>
            </a:r>
            <a:r>
              <a:rPr lang="zh-CN" altLang="en-US" b="0" dirty="0">
                <a:solidFill>
                  <a:schemeClr val="tx1"/>
                </a:solidFill>
                <a:latin typeface="+mn-lt"/>
              </a:rPr>
              <a:t>本质是加权互信息的特殊情况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53AE27A-CED8-A629-48C3-9EE286AE8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306" y="2907082"/>
            <a:ext cx="7998106" cy="360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86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2" y="776798"/>
            <a:ext cx="5070060" cy="5454498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sp>
        <p:nvSpPr>
          <p:cNvPr id="4" name="TextBox 13"/>
          <p:cNvSpPr txBox="1"/>
          <p:nvPr/>
        </p:nvSpPr>
        <p:spPr>
          <a:xfrm>
            <a:off x="6625590" y="2456034"/>
            <a:ext cx="36967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3600" dirty="0">
                <a:latin typeface="Lato" panose="020F0502020204030203" pitchFamily="34" charset="0"/>
                <a:ea typeface="+mj-ea"/>
              </a:rPr>
              <a:t>谢谢倾听</a:t>
            </a:r>
            <a:endParaRPr lang="en-US" altLang="zh-CN" sz="3600" dirty="0">
              <a:latin typeface="Lato" panose="020F0502020204030203" pitchFamily="34" charset="0"/>
              <a:ea typeface="+mj-ea"/>
            </a:endParaRPr>
          </a:p>
          <a:p>
            <a:pPr lvl="0" algn="ctr">
              <a:defRPr/>
            </a:pPr>
            <a:r>
              <a:rPr lang="zh-CN" altLang="en-US" sz="3600" dirty="0">
                <a:latin typeface="Lato" panose="020F0502020204030203" pitchFamily="34" charset="0"/>
                <a:ea typeface="+mj-ea"/>
              </a:rPr>
              <a:t>请大家批评指正</a:t>
            </a:r>
            <a:endParaRPr lang="en-US" altLang="zh-CN" sz="3600" dirty="0">
              <a:latin typeface="+mj-ea"/>
              <a:ea typeface="+mj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741065" y="3837410"/>
            <a:ext cx="5863771" cy="57767"/>
            <a:chOff x="5280505" y="3963496"/>
            <a:chExt cx="5863771" cy="57767"/>
          </a:xfrm>
          <a:solidFill>
            <a:schemeClr val="tx1"/>
          </a:solidFill>
        </p:grpSpPr>
        <p:sp>
          <p:nvSpPr>
            <p:cNvPr id="6" name="任意多边形 16"/>
            <p:cNvSpPr/>
            <p:nvPr/>
          </p:nvSpPr>
          <p:spPr>
            <a:xfrm>
              <a:off x="5280505" y="3992380"/>
              <a:ext cx="5863771" cy="0"/>
            </a:xfrm>
            <a:custGeom>
              <a:avLst/>
              <a:gdLst>
                <a:gd name="connsiteX0" fmla="*/ 0 w 5863771"/>
                <a:gd name="connsiteY0" fmla="*/ 0 h 0"/>
                <a:gd name="connsiteX1" fmla="*/ 58057 w 5863771"/>
                <a:gd name="connsiteY1" fmla="*/ 0 h 0"/>
                <a:gd name="connsiteX2" fmla="*/ 5863771 w 5863771"/>
                <a:gd name="connsiteY2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63771">
                  <a:moveTo>
                    <a:pt x="0" y="0"/>
                  </a:moveTo>
                  <a:lnTo>
                    <a:pt x="58057" y="0"/>
                  </a:lnTo>
                  <a:lnTo>
                    <a:pt x="5863771" y="0"/>
                  </a:ln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圆角矩形 17"/>
            <p:cNvSpPr/>
            <p:nvPr/>
          </p:nvSpPr>
          <p:spPr>
            <a:xfrm>
              <a:off x="7456740" y="3963496"/>
              <a:ext cx="1511300" cy="5776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7782456" y="4205439"/>
            <a:ext cx="412709" cy="333006"/>
            <a:chOff x="0" y="0"/>
            <a:chExt cx="1088225" cy="869861"/>
          </a:xfrm>
          <a:solidFill>
            <a:schemeClr val="tx1"/>
          </a:solidFill>
        </p:grpSpPr>
        <p:sp>
          <p:nvSpPr>
            <p:cNvPr id="10" name="Freeform 17"/>
            <p:cNvSpPr>
              <a:spLocks noEditPoints="1" noChangeArrowheads="1"/>
            </p:cNvSpPr>
            <p:nvPr/>
          </p:nvSpPr>
          <p:spPr bwMode="auto">
            <a:xfrm>
              <a:off x="0" y="237562"/>
              <a:ext cx="824268" cy="632299"/>
            </a:xfrm>
            <a:custGeom>
              <a:avLst/>
              <a:gdLst>
                <a:gd name="T0" fmla="*/ 274 w 291"/>
                <a:gd name="T1" fmla="*/ 0 h 223"/>
                <a:gd name="T2" fmla="*/ 17 w 291"/>
                <a:gd name="T3" fmla="*/ 0 h 223"/>
                <a:gd name="T4" fmla="*/ 0 w 291"/>
                <a:gd name="T5" fmla="*/ 16 h 223"/>
                <a:gd name="T6" fmla="*/ 0 w 291"/>
                <a:gd name="T7" fmla="*/ 207 h 223"/>
                <a:gd name="T8" fmla="*/ 17 w 291"/>
                <a:gd name="T9" fmla="*/ 223 h 223"/>
                <a:gd name="T10" fmla="*/ 274 w 291"/>
                <a:gd name="T11" fmla="*/ 223 h 223"/>
                <a:gd name="T12" fmla="*/ 291 w 291"/>
                <a:gd name="T13" fmla="*/ 207 h 223"/>
                <a:gd name="T14" fmla="*/ 291 w 291"/>
                <a:gd name="T15" fmla="*/ 16 h 223"/>
                <a:gd name="T16" fmla="*/ 274 w 291"/>
                <a:gd name="T17" fmla="*/ 0 h 223"/>
                <a:gd name="T18" fmla="*/ 270 w 291"/>
                <a:gd name="T19" fmla="*/ 193 h 223"/>
                <a:gd name="T20" fmla="*/ 256 w 291"/>
                <a:gd name="T21" fmla="*/ 207 h 223"/>
                <a:gd name="T22" fmla="*/ 35 w 291"/>
                <a:gd name="T23" fmla="*/ 207 h 223"/>
                <a:gd name="T24" fmla="*/ 21 w 291"/>
                <a:gd name="T25" fmla="*/ 193 h 223"/>
                <a:gd name="T26" fmla="*/ 21 w 291"/>
                <a:gd name="T27" fmla="*/ 30 h 223"/>
                <a:gd name="T28" fmla="*/ 35 w 291"/>
                <a:gd name="T29" fmla="*/ 16 h 223"/>
                <a:gd name="T30" fmla="*/ 256 w 291"/>
                <a:gd name="T31" fmla="*/ 16 h 223"/>
                <a:gd name="T32" fmla="*/ 270 w 291"/>
                <a:gd name="T33" fmla="*/ 30 h 223"/>
                <a:gd name="T34" fmla="*/ 270 w 291"/>
                <a:gd name="T35" fmla="*/ 193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291"/>
                <a:gd name="T55" fmla="*/ 0 h 223"/>
                <a:gd name="T56" fmla="*/ 291 w 291"/>
                <a:gd name="T57" fmla="*/ 223 h 223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291" h="223">
                  <a:moveTo>
                    <a:pt x="274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7"/>
                    <a:pt x="0" y="16"/>
                  </a:cubicBezTo>
                  <a:cubicBezTo>
                    <a:pt x="0" y="207"/>
                    <a:pt x="0" y="207"/>
                    <a:pt x="0" y="207"/>
                  </a:cubicBezTo>
                  <a:cubicBezTo>
                    <a:pt x="0" y="215"/>
                    <a:pt x="8" y="223"/>
                    <a:pt x="17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1" y="215"/>
                    <a:pt x="291" y="207"/>
                  </a:cubicBezTo>
                  <a:cubicBezTo>
                    <a:pt x="291" y="16"/>
                    <a:pt x="291" y="16"/>
                    <a:pt x="291" y="16"/>
                  </a:cubicBezTo>
                  <a:cubicBezTo>
                    <a:pt x="291" y="7"/>
                    <a:pt x="283" y="0"/>
                    <a:pt x="274" y="0"/>
                  </a:cubicBezTo>
                  <a:moveTo>
                    <a:pt x="270" y="193"/>
                  </a:moveTo>
                  <a:cubicBezTo>
                    <a:pt x="270" y="201"/>
                    <a:pt x="264" y="207"/>
                    <a:pt x="256" y="207"/>
                  </a:cubicBezTo>
                  <a:cubicBezTo>
                    <a:pt x="35" y="207"/>
                    <a:pt x="35" y="207"/>
                    <a:pt x="35" y="207"/>
                  </a:cubicBezTo>
                  <a:cubicBezTo>
                    <a:pt x="27" y="207"/>
                    <a:pt x="21" y="201"/>
                    <a:pt x="21" y="193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1" y="22"/>
                    <a:pt x="27" y="16"/>
                    <a:pt x="35" y="16"/>
                  </a:cubicBezTo>
                  <a:cubicBezTo>
                    <a:pt x="256" y="16"/>
                    <a:pt x="256" y="16"/>
                    <a:pt x="256" y="16"/>
                  </a:cubicBezTo>
                  <a:cubicBezTo>
                    <a:pt x="264" y="16"/>
                    <a:pt x="270" y="22"/>
                    <a:pt x="270" y="30"/>
                  </a:cubicBezTo>
                  <a:lnTo>
                    <a:pt x="270" y="1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1" name="Freeform 18"/>
            <p:cNvSpPr>
              <a:spLocks noChangeArrowheads="1"/>
            </p:cNvSpPr>
            <p:nvPr/>
          </p:nvSpPr>
          <p:spPr bwMode="auto">
            <a:xfrm>
              <a:off x="137978" y="110382"/>
              <a:ext cx="821868" cy="632299"/>
            </a:xfrm>
            <a:custGeom>
              <a:avLst/>
              <a:gdLst>
                <a:gd name="T0" fmla="*/ 274 w 290"/>
                <a:gd name="T1" fmla="*/ 0 h 223"/>
                <a:gd name="T2" fmla="*/ 16 w 290"/>
                <a:gd name="T3" fmla="*/ 0 h 223"/>
                <a:gd name="T4" fmla="*/ 0 w 290"/>
                <a:gd name="T5" fmla="*/ 16 h 223"/>
                <a:gd name="T6" fmla="*/ 0 w 290"/>
                <a:gd name="T7" fmla="*/ 25 h 223"/>
                <a:gd name="T8" fmla="*/ 249 w 290"/>
                <a:gd name="T9" fmla="*/ 25 h 223"/>
                <a:gd name="T10" fmla="*/ 265 w 290"/>
                <a:gd name="T11" fmla="*/ 42 h 223"/>
                <a:gd name="T12" fmla="*/ 265 w 290"/>
                <a:gd name="T13" fmla="*/ 223 h 223"/>
                <a:gd name="T14" fmla="*/ 274 w 290"/>
                <a:gd name="T15" fmla="*/ 223 h 223"/>
                <a:gd name="T16" fmla="*/ 290 w 290"/>
                <a:gd name="T17" fmla="*/ 207 h 223"/>
                <a:gd name="T18" fmla="*/ 290 w 290"/>
                <a:gd name="T19" fmla="*/ 16 h 223"/>
                <a:gd name="T20" fmla="*/ 274 w 290"/>
                <a:gd name="T21" fmla="*/ 0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3"/>
                <a:gd name="T35" fmla="*/ 290 w 290"/>
                <a:gd name="T36" fmla="*/ 223 h 22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3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3"/>
                    <a:pt x="265" y="42"/>
                  </a:cubicBezTo>
                  <a:cubicBezTo>
                    <a:pt x="265" y="223"/>
                    <a:pt x="265" y="223"/>
                    <a:pt x="265" y="223"/>
                  </a:cubicBezTo>
                  <a:cubicBezTo>
                    <a:pt x="274" y="223"/>
                    <a:pt x="274" y="223"/>
                    <a:pt x="274" y="223"/>
                  </a:cubicBezTo>
                  <a:cubicBezTo>
                    <a:pt x="283" y="223"/>
                    <a:pt x="290" y="216"/>
                    <a:pt x="290" y="207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2" name="Freeform 19"/>
            <p:cNvSpPr>
              <a:spLocks noChangeArrowheads="1"/>
            </p:cNvSpPr>
            <p:nvPr/>
          </p:nvSpPr>
          <p:spPr bwMode="auto">
            <a:xfrm>
              <a:off x="266357" y="0"/>
              <a:ext cx="821868" cy="628699"/>
            </a:xfrm>
            <a:custGeom>
              <a:avLst/>
              <a:gdLst>
                <a:gd name="T0" fmla="*/ 274 w 290"/>
                <a:gd name="T1" fmla="*/ 0 h 222"/>
                <a:gd name="T2" fmla="*/ 16 w 290"/>
                <a:gd name="T3" fmla="*/ 0 h 222"/>
                <a:gd name="T4" fmla="*/ 0 w 290"/>
                <a:gd name="T5" fmla="*/ 16 h 222"/>
                <a:gd name="T6" fmla="*/ 0 w 290"/>
                <a:gd name="T7" fmla="*/ 25 h 222"/>
                <a:gd name="T8" fmla="*/ 249 w 290"/>
                <a:gd name="T9" fmla="*/ 25 h 222"/>
                <a:gd name="T10" fmla="*/ 265 w 290"/>
                <a:gd name="T11" fmla="*/ 41 h 222"/>
                <a:gd name="T12" fmla="*/ 265 w 290"/>
                <a:gd name="T13" fmla="*/ 222 h 222"/>
                <a:gd name="T14" fmla="*/ 274 w 290"/>
                <a:gd name="T15" fmla="*/ 222 h 222"/>
                <a:gd name="T16" fmla="*/ 290 w 290"/>
                <a:gd name="T17" fmla="*/ 206 h 222"/>
                <a:gd name="T18" fmla="*/ 290 w 290"/>
                <a:gd name="T19" fmla="*/ 16 h 222"/>
                <a:gd name="T20" fmla="*/ 274 w 290"/>
                <a:gd name="T21" fmla="*/ 0 h 2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0"/>
                <a:gd name="T34" fmla="*/ 0 h 222"/>
                <a:gd name="T35" fmla="*/ 290 w 290"/>
                <a:gd name="T36" fmla="*/ 222 h 2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0" h="222">
                  <a:moveTo>
                    <a:pt x="274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249" y="25"/>
                    <a:pt x="249" y="25"/>
                    <a:pt x="249" y="25"/>
                  </a:cubicBezTo>
                  <a:cubicBezTo>
                    <a:pt x="258" y="25"/>
                    <a:pt x="265" y="32"/>
                    <a:pt x="265" y="41"/>
                  </a:cubicBezTo>
                  <a:cubicBezTo>
                    <a:pt x="265" y="222"/>
                    <a:pt x="265" y="222"/>
                    <a:pt x="265" y="222"/>
                  </a:cubicBezTo>
                  <a:cubicBezTo>
                    <a:pt x="274" y="222"/>
                    <a:pt x="274" y="222"/>
                    <a:pt x="274" y="222"/>
                  </a:cubicBezTo>
                  <a:cubicBezTo>
                    <a:pt x="283" y="222"/>
                    <a:pt x="290" y="215"/>
                    <a:pt x="290" y="206"/>
                  </a:cubicBezTo>
                  <a:cubicBezTo>
                    <a:pt x="290" y="16"/>
                    <a:pt x="290" y="16"/>
                    <a:pt x="290" y="16"/>
                  </a:cubicBezTo>
                  <a:cubicBezTo>
                    <a:pt x="290" y="7"/>
                    <a:pt x="283" y="0"/>
                    <a:pt x="27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3" name="Freeform 20"/>
            <p:cNvSpPr>
              <a:spLocks noChangeArrowheads="1"/>
            </p:cNvSpPr>
            <p:nvPr/>
          </p:nvSpPr>
          <p:spPr bwMode="auto">
            <a:xfrm>
              <a:off x="110382" y="422332"/>
              <a:ext cx="569909" cy="353943"/>
            </a:xfrm>
            <a:custGeom>
              <a:avLst/>
              <a:gdLst>
                <a:gd name="T0" fmla="*/ 71 w 201"/>
                <a:gd name="T1" fmla="*/ 5 h 125"/>
                <a:gd name="T2" fmla="*/ 11 w 201"/>
                <a:gd name="T3" fmla="*/ 109 h 125"/>
                <a:gd name="T4" fmla="*/ 11 w 201"/>
                <a:gd name="T5" fmla="*/ 124 h 125"/>
                <a:gd name="T6" fmla="*/ 192 w 201"/>
                <a:gd name="T7" fmla="*/ 124 h 125"/>
                <a:gd name="T8" fmla="*/ 192 w 201"/>
                <a:gd name="T9" fmla="*/ 108 h 125"/>
                <a:gd name="T10" fmla="*/ 151 w 201"/>
                <a:gd name="T11" fmla="*/ 47 h 125"/>
                <a:gd name="T12" fmla="*/ 117 w 201"/>
                <a:gd name="T13" fmla="*/ 86 h 125"/>
                <a:gd name="T14" fmla="*/ 110 w 201"/>
                <a:gd name="T15" fmla="*/ 81 h 125"/>
                <a:gd name="T16" fmla="*/ 122 w 201"/>
                <a:gd name="T17" fmla="*/ 65 h 125"/>
                <a:gd name="T18" fmla="*/ 81 w 201"/>
                <a:gd name="T19" fmla="*/ 5 h 125"/>
                <a:gd name="T20" fmla="*/ 71 w 201"/>
                <a:gd name="T21" fmla="*/ 5 h 12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01"/>
                <a:gd name="T34" fmla="*/ 0 h 125"/>
                <a:gd name="T35" fmla="*/ 201 w 201"/>
                <a:gd name="T36" fmla="*/ 125 h 12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01" h="125">
                  <a:moveTo>
                    <a:pt x="71" y="5"/>
                  </a:moveTo>
                  <a:cubicBezTo>
                    <a:pt x="11" y="109"/>
                    <a:pt x="11" y="109"/>
                    <a:pt x="11" y="109"/>
                  </a:cubicBezTo>
                  <a:cubicBezTo>
                    <a:pt x="11" y="109"/>
                    <a:pt x="0" y="124"/>
                    <a:pt x="11" y="124"/>
                  </a:cubicBezTo>
                  <a:cubicBezTo>
                    <a:pt x="25" y="125"/>
                    <a:pt x="192" y="124"/>
                    <a:pt x="192" y="124"/>
                  </a:cubicBezTo>
                  <a:cubicBezTo>
                    <a:pt x="192" y="124"/>
                    <a:pt x="201" y="121"/>
                    <a:pt x="192" y="108"/>
                  </a:cubicBezTo>
                  <a:cubicBezTo>
                    <a:pt x="182" y="94"/>
                    <a:pt x="158" y="46"/>
                    <a:pt x="151" y="47"/>
                  </a:cubicBezTo>
                  <a:cubicBezTo>
                    <a:pt x="144" y="47"/>
                    <a:pt x="120" y="83"/>
                    <a:pt x="117" y="86"/>
                  </a:cubicBezTo>
                  <a:cubicBezTo>
                    <a:pt x="115" y="89"/>
                    <a:pt x="108" y="84"/>
                    <a:pt x="110" y="81"/>
                  </a:cubicBezTo>
                  <a:cubicBezTo>
                    <a:pt x="116" y="74"/>
                    <a:pt x="122" y="65"/>
                    <a:pt x="122" y="65"/>
                  </a:cubicBezTo>
                  <a:cubicBezTo>
                    <a:pt x="122" y="65"/>
                    <a:pt x="84" y="9"/>
                    <a:pt x="81" y="5"/>
                  </a:cubicBezTo>
                  <a:cubicBezTo>
                    <a:pt x="78" y="0"/>
                    <a:pt x="73" y="1"/>
                    <a:pt x="71" y="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4" name="Oval 21"/>
            <p:cNvSpPr>
              <a:spLocks noChangeArrowheads="1"/>
            </p:cNvSpPr>
            <p:nvPr/>
          </p:nvSpPr>
          <p:spPr bwMode="auto">
            <a:xfrm>
              <a:off x="563909" y="331147"/>
              <a:ext cx="101984" cy="99584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 bwMode="auto">
          <a:xfrm>
            <a:off x="9791433" y="4205439"/>
            <a:ext cx="329894" cy="333006"/>
            <a:chOff x="0" y="0"/>
            <a:chExt cx="881859" cy="881859"/>
          </a:xfrm>
          <a:solidFill>
            <a:schemeClr val="tx1"/>
          </a:solidFill>
        </p:grpSpPr>
        <p:sp>
          <p:nvSpPr>
            <p:cNvPr id="16" name="Freeform 22"/>
            <p:cNvSpPr>
              <a:spLocks noEditPoints="1" noChangeArrowheads="1"/>
            </p:cNvSpPr>
            <p:nvPr/>
          </p:nvSpPr>
          <p:spPr bwMode="auto">
            <a:xfrm>
              <a:off x="0" y="0"/>
              <a:ext cx="881859" cy="881859"/>
            </a:xfrm>
            <a:custGeom>
              <a:avLst/>
              <a:gdLst>
                <a:gd name="T0" fmla="*/ 155 w 311"/>
                <a:gd name="T1" fmla="*/ 0 h 311"/>
                <a:gd name="T2" fmla="*/ 0 w 311"/>
                <a:gd name="T3" fmla="*/ 155 h 311"/>
                <a:gd name="T4" fmla="*/ 155 w 311"/>
                <a:gd name="T5" fmla="*/ 311 h 311"/>
                <a:gd name="T6" fmla="*/ 311 w 311"/>
                <a:gd name="T7" fmla="*/ 155 h 311"/>
                <a:gd name="T8" fmla="*/ 155 w 311"/>
                <a:gd name="T9" fmla="*/ 0 h 311"/>
                <a:gd name="T10" fmla="*/ 155 w 311"/>
                <a:gd name="T11" fmla="*/ 289 h 311"/>
                <a:gd name="T12" fmla="*/ 21 w 311"/>
                <a:gd name="T13" fmla="*/ 155 h 311"/>
                <a:gd name="T14" fmla="*/ 155 w 311"/>
                <a:gd name="T15" fmla="*/ 21 h 311"/>
                <a:gd name="T16" fmla="*/ 289 w 311"/>
                <a:gd name="T17" fmla="*/ 155 h 311"/>
                <a:gd name="T18" fmla="*/ 155 w 311"/>
                <a:gd name="T19" fmla="*/ 289 h 31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11"/>
                <a:gd name="T31" fmla="*/ 0 h 311"/>
                <a:gd name="T32" fmla="*/ 311 w 311"/>
                <a:gd name="T33" fmla="*/ 311 h 31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11" h="311">
                  <a:moveTo>
                    <a:pt x="155" y="0"/>
                  </a:moveTo>
                  <a:cubicBezTo>
                    <a:pt x="70" y="0"/>
                    <a:pt x="0" y="69"/>
                    <a:pt x="0" y="155"/>
                  </a:cubicBezTo>
                  <a:cubicBezTo>
                    <a:pt x="0" y="241"/>
                    <a:pt x="70" y="311"/>
                    <a:pt x="155" y="311"/>
                  </a:cubicBezTo>
                  <a:cubicBezTo>
                    <a:pt x="241" y="311"/>
                    <a:pt x="311" y="241"/>
                    <a:pt x="311" y="155"/>
                  </a:cubicBezTo>
                  <a:cubicBezTo>
                    <a:pt x="311" y="69"/>
                    <a:pt x="241" y="0"/>
                    <a:pt x="155" y="0"/>
                  </a:cubicBezTo>
                  <a:moveTo>
                    <a:pt x="155" y="289"/>
                  </a:moveTo>
                  <a:cubicBezTo>
                    <a:pt x="81" y="289"/>
                    <a:pt x="21" y="229"/>
                    <a:pt x="21" y="155"/>
                  </a:cubicBezTo>
                  <a:cubicBezTo>
                    <a:pt x="21" y="81"/>
                    <a:pt x="81" y="21"/>
                    <a:pt x="155" y="21"/>
                  </a:cubicBezTo>
                  <a:cubicBezTo>
                    <a:pt x="229" y="21"/>
                    <a:pt x="289" y="81"/>
                    <a:pt x="289" y="155"/>
                  </a:cubicBezTo>
                  <a:cubicBezTo>
                    <a:pt x="289" y="229"/>
                    <a:pt x="229" y="289"/>
                    <a:pt x="155" y="28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7" name="Freeform 23"/>
            <p:cNvSpPr>
              <a:spLocks noChangeArrowheads="1"/>
            </p:cNvSpPr>
            <p:nvPr/>
          </p:nvSpPr>
          <p:spPr bwMode="auto">
            <a:xfrm>
              <a:off x="235162" y="70789"/>
              <a:ext cx="430731" cy="428331"/>
            </a:xfrm>
            <a:custGeom>
              <a:avLst/>
              <a:gdLst>
                <a:gd name="T0" fmla="*/ 145 w 152"/>
                <a:gd name="T1" fmla="*/ 53 h 151"/>
                <a:gd name="T2" fmla="*/ 144 w 152"/>
                <a:gd name="T3" fmla="*/ 52 h 151"/>
                <a:gd name="T4" fmla="*/ 125 w 152"/>
                <a:gd name="T5" fmla="*/ 52 h 151"/>
                <a:gd name="T6" fmla="*/ 77 w 152"/>
                <a:gd name="T7" fmla="*/ 106 h 151"/>
                <a:gd name="T8" fmla="*/ 31 w 152"/>
                <a:gd name="T9" fmla="*/ 12 h 151"/>
                <a:gd name="T10" fmla="*/ 11 w 152"/>
                <a:gd name="T11" fmla="*/ 4 h 151"/>
                <a:gd name="T12" fmla="*/ 10 w 152"/>
                <a:gd name="T13" fmla="*/ 4 h 151"/>
                <a:gd name="T14" fmla="*/ 4 w 152"/>
                <a:gd name="T15" fmla="*/ 25 h 151"/>
                <a:gd name="T16" fmla="*/ 60 w 152"/>
                <a:gd name="T17" fmla="*/ 140 h 151"/>
                <a:gd name="T18" fmla="*/ 79 w 152"/>
                <a:gd name="T19" fmla="*/ 148 h 151"/>
                <a:gd name="T20" fmla="*/ 79 w 152"/>
                <a:gd name="T21" fmla="*/ 148 h 151"/>
                <a:gd name="T22" fmla="*/ 80 w 152"/>
                <a:gd name="T23" fmla="*/ 148 h 151"/>
                <a:gd name="T24" fmla="*/ 81 w 152"/>
                <a:gd name="T25" fmla="*/ 147 h 151"/>
                <a:gd name="T26" fmla="*/ 87 w 152"/>
                <a:gd name="T27" fmla="*/ 141 h 151"/>
                <a:gd name="T28" fmla="*/ 148 w 152"/>
                <a:gd name="T29" fmla="*/ 72 h 151"/>
                <a:gd name="T30" fmla="*/ 145 w 152"/>
                <a:gd name="T31" fmla="*/ 53 h 15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52"/>
                <a:gd name="T49" fmla="*/ 0 h 151"/>
                <a:gd name="T50" fmla="*/ 152 w 152"/>
                <a:gd name="T51" fmla="*/ 151 h 151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52" h="151">
                  <a:moveTo>
                    <a:pt x="145" y="53"/>
                  </a:moveTo>
                  <a:cubicBezTo>
                    <a:pt x="144" y="52"/>
                    <a:pt x="144" y="52"/>
                    <a:pt x="144" y="52"/>
                  </a:cubicBezTo>
                  <a:cubicBezTo>
                    <a:pt x="138" y="47"/>
                    <a:pt x="129" y="47"/>
                    <a:pt x="125" y="52"/>
                  </a:cubicBezTo>
                  <a:cubicBezTo>
                    <a:pt x="77" y="106"/>
                    <a:pt x="77" y="106"/>
                    <a:pt x="77" y="106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27" y="4"/>
                    <a:pt x="18" y="0"/>
                    <a:pt x="11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3" y="8"/>
                    <a:pt x="0" y="17"/>
                    <a:pt x="4" y="25"/>
                  </a:cubicBezTo>
                  <a:cubicBezTo>
                    <a:pt x="60" y="140"/>
                    <a:pt x="60" y="140"/>
                    <a:pt x="60" y="140"/>
                  </a:cubicBezTo>
                  <a:cubicBezTo>
                    <a:pt x="63" y="148"/>
                    <a:pt x="72" y="151"/>
                    <a:pt x="79" y="148"/>
                  </a:cubicBezTo>
                  <a:cubicBezTo>
                    <a:pt x="79" y="148"/>
                    <a:pt x="79" y="148"/>
                    <a:pt x="79" y="148"/>
                  </a:cubicBezTo>
                  <a:cubicBezTo>
                    <a:pt x="79" y="148"/>
                    <a:pt x="80" y="148"/>
                    <a:pt x="80" y="148"/>
                  </a:cubicBezTo>
                  <a:cubicBezTo>
                    <a:pt x="81" y="147"/>
                    <a:pt x="81" y="147"/>
                    <a:pt x="81" y="147"/>
                  </a:cubicBezTo>
                  <a:cubicBezTo>
                    <a:pt x="84" y="146"/>
                    <a:pt x="86" y="144"/>
                    <a:pt x="87" y="141"/>
                  </a:cubicBezTo>
                  <a:cubicBezTo>
                    <a:pt x="148" y="72"/>
                    <a:pt x="148" y="72"/>
                    <a:pt x="148" y="72"/>
                  </a:cubicBezTo>
                  <a:cubicBezTo>
                    <a:pt x="152" y="67"/>
                    <a:pt x="151" y="59"/>
                    <a:pt x="145" y="5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 bwMode="auto">
          <a:xfrm>
            <a:off x="8473972" y="4205439"/>
            <a:ext cx="397959" cy="333006"/>
            <a:chOff x="0" y="0"/>
            <a:chExt cx="961046" cy="796672"/>
          </a:xfrm>
          <a:solidFill>
            <a:schemeClr val="tx1"/>
          </a:solidFill>
        </p:grpSpPr>
        <p:sp>
          <p:nvSpPr>
            <p:cNvPr id="19" name="Freeform 24"/>
            <p:cNvSpPr>
              <a:spLocks noEditPoints="1" noChangeArrowheads="1"/>
            </p:cNvSpPr>
            <p:nvPr/>
          </p:nvSpPr>
          <p:spPr bwMode="auto">
            <a:xfrm>
              <a:off x="0" y="0"/>
              <a:ext cx="961046" cy="796672"/>
            </a:xfrm>
            <a:custGeom>
              <a:avLst/>
              <a:gdLst>
                <a:gd name="T0" fmla="*/ 321 w 339"/>
                <a:gd name="T1" fmla="*/ 0 h 281"/>
                <a:gd name="T2" fmla="*/ 18 w 339"/>
                <a:gd name="T3" fmla="*/ 0 h 281"/>
                <a:gd name="T4" fmla="*/ 0 w 339"/>
                <a:gd name="T5" fmla="*/ 18 h 281"/>
                <a:gd name="T6" fmla="*/ 0 w 339"/>
                <a:gd name="T7" fmla="*/ 263 h 281"/>
                <a:gd name="T8" fmla="*/ 18 w 339"/>
                <a:gd name="T9" fmla="*/ 281 h 281"/>
                <a:gd name="T10" fmla="*/ 321 w 339"/>
                <a:gd name="T11" fmla="*/ 281 h 281"/>
                <a:gd name="T12" fmla="*/ 339 w 339"/>
                <a:gd name="T13" fmla="*/ 263 h 281"/>
                <a:gd name="T14" fmla="*/ 339 w 339"/>
                <a:gd name="T15" fmla="*/ 18 h 281"/>
                <a:gd name="T16" fmla="*/ 321 w 339"/>
                <a:gd name="T17" fmla="*/ 0 h 281"/>
                <a:gd name="T18" fmla="*/ 316 w 339"/>
                <a:gd name="T19" fmla="*/ 246 h 281"/>
                <a:gd name="T20" fmla="*/ 301 w 339"/>
                <a:gd name="T21" fmla="*/ 262 h 281"/>
                <a:gd name="T22" fmla="*/ 38 w 339"/>
                <a:gd name="T23" fmla="*/ 262 h 281"/>
                <a:gd name="T24" fmla="*/ 23 w 339"/>
                <a:gd name="T25" fmla="*/ 246 h 281"/>
                <a:gd name="T26" fmla="*/ 23 w 339"/>
                <a:gd name="T27" fmla="*/ 35 h 281"/>
                <a:gd name="T28" fmla="*/ 38 w 339"/>
                <a:gd name="T29" fmla="*/ 19 h 281"/>
                <a:gd name="T30" fmla="*/ 301 w 339"/>
                <a:gd name="T31" fmla="*/ 19 h 281"/>
                <a:gd name="T32" fmla="*/ 316 w 339"/>
                <a:gd name="T33" fmla="*/ 35 h 281"/>
                <a:gd name="T34" fmla="*/ 316 w 339"/>
                <a:gd name="T35" fmla="*/ 246 h 28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39"/>
                <a:gd name="T55" fmla="*/ 0 h 281"/>
                <a:gd name="T56" fmla="*/ 339 w 339"/>
                <a:gd name="T57" fmla="*/ 281 h 281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39" h="281">
                  <a:moveTo>
                    <a:pt x="321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63"/>
                    <a:pt x="0" y="263"/>
                    <a:pt x="0" y="263"/>
                  </a:cubicBezTo>
                  <a:cubicBezTo>
                    <a:pt x="0" y="273"/>
                    <a:pt x="8" y="281"/>
                    <a:pt x="18" y="281"/>
                  </a:cubicBezTo>
                  <a:cubicBezTo>
                    <a:pt x="321" y="281"/>
                    <a:pt x="321" y="281"/>
                    <a:pt x="321" y="281"/>
                  </a:cubicBezTo>
                  <a:cubicBezTo>
                    <a:pt x="331" y="281"/>
                    <a:pt x="339" y="273"/>
                    <a:pt x="339" y="263"/>
                  </a:cubicBezTo>
                  <a:cubicBezTo>
                    <a:pt x="339" y="18"/>
                    <a:pt x="339" y="18"/>
                    <a:pt x="339" y="18"/>
                  </a:cubicBezTo>
                  <a:cubicBezTo>
                    <a:pt x="339" y="8"/>
                    <a:pt x="331" y="0"/>
                    <a:pt x="321" y="0"/>
                  </a:cubicBezTo>
                  <a:moveTo>
                    <a:pt x="316" y="246"/>
                  </a:moveTo>
                  <a:cubicBezTo>
                    <a:pt x="316" y="255"/>
                    <a:pt x="309" y="262"/>
                    <a:pt x="301" y="262"/>
                  </a:cubicBezTo>
                  <a:cubicBezTo>
                    <a:pt x="38" y="262"/>
                    <a:pt x="38" y="262"/>
                    <a:pt x="38" y="262"/>
                  </a:cubicBezTo>
                  <a:cubicBezTo>
                    <a:pt x="30" y="262"/>
                    <a:pt x="23" y="255"/>
                    <a:pt x="23" y="246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26"/>
                    <a:pt x="30" y="19"/>
                    <a:pt x="38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9" y="19"/>
                    <a:pt x="316" y="26"/>
                    <a:pt x="316" y="35"/>
                  </a:cubicBezTo>
                  <a:lnTo>
                    <a:pt x="316" y="2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0" name="Freeform 25"/>
            <p:cNvSpPr>
              <a:spLocks noChangeArrowheads="1"/>
            </p:cNvSpPr>
            <p:nvPr/>
          </p:nvSpPr>
          <p:spPr bwMode="auto">
            <a:xfrm>
              <a:off x="176371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1" name="Freeform 26"/>
            <p:cNvSpPr>
              <a:spLocks noChangeArrowheads="1"/>
            </p:cNvSpPr>
            <p:nvPr/>
          </p:nvSpPr>
          <p:spPr bwMode="auto">
            <a:xfrm>
              <a:off x="176371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2" name="Freeform 27"/>
            <p:cNvSpPr>
              <a:spLocks noChangeArrowheads="1"/>
            </p:cNvSpPr>
            <p:nvPr/>
          </p:nvSpPr>
          <p:spPr bwMode="auto">
            <a:xfrm>
              <a:off x="346744" y="116382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3" name="Freeform 28"/>
            <p:cNvSpPr>
              <a:spLocks noChangeArrowheads="1"/>
            </p:cNvSpPr>
            <p:nvPr/>
          </p:nvSpPr>
          <p:spPr bwMode="auto">
            <a:xfrm>
              <a:off x="346744" y="274756"/>
              <a:ext cx="87586" cy="88786"/>
            </a:xfrm>
            <a:custGeom>
              <a:avLst/>
              <a:gdLst>
                <a:gd name="T0" fmla="*/ 31 w 31"/>
                <a:gd name="T1" fmla="*/ 24 h 31"/>
                <a:gd name="T2" fmla="*/ 24 w 31"/>
                <a:gd name="T3" fmla="*/ 31 h 31"/>
                <a:gd name="T4" fmla="*/ 8 w 31"/>
                <a:gd name="T5" fmla="*/ 31 h 31"/>
                <a:gd name="T6" fmla="*/ 0 w 31"/>
                <a:gd name="T7" fmla="*/ 24 h 31"/>
                <a:gd name="T8" fmla="*/ 0 w 31"/>
                <a:gd name="T9" fmla="*/ 8 h 31"/>
                <a:gd name="T10" fmla="*/ 8 w 31"/>
                <a:gd name="T11" fmla="*/ 0 h 31"/>
                <a:gd name="T12" fmla="*/ 24 w 31"/>
                <a:gd name="T13" fmla="*/ 0 h 31"/>
                <a:gd name="T14" fmla="*/ 31 w 31"/>
                <a:gd name="T15" fmla="*/ 8 h 31"/>
                <a:gd name="T16" fmla="*/ 31 w 31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1"/>
                <a:gd name="T29" fmla="*/ 31 w 31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1">
                  <a:moveTo>
                    <a:pt x="31" y="24"/>
                  </a:moveTo>
                  <a:cubicBezTo>
                    <a:pt x="31" y="28"/>
                    <a:pt x="28" y="31"/>
                    <a:pt x="24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4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4"/>
                    <a:pt x="31" y="8"/>
                  </a:cubicBezTo>
                  <a:lnTo>
                    <a:pt x="31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4" name="Freeform 29"/>
            <p:cNvSpPr>
              <a:spLocks noChangeArrowheads="1"/>
            </p:cNvSpPr>
            <p:nvPr/>
          </p:nvSpPr>
          <p:spPr bwMode="auto">
            <a:xfrm>
              <a:off x="346744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5" name="Freeform 30"/>
            <p:cNvSpPr>
              <a:spLocks noChangeArrowheads="1"/>
            </p:cNvSpPr>
            <p:nvPr/>
          </p:nvSpPr>
          <p:spPr bwMode="auto">
            <a:xfrm>
              <a:off x="519516" y="116382"/>
              <a:ext cx="83987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6" name="Freeform 31"/>
            <p:cNvSpPr>
              <a:spLocks noChangeArrowheads="1"/>
            </p:cNvSpPr>
            <p:nvPr/>
          </p:nvSpPr>
          <p:spPr bwMode="auto">
            <a:xfrm>
              <a:off x="519516" y="274756"/>
              <a:ext cx="83987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7" name="Freeform 32"/>
            <p:cNvSpPr>
              <a:spLocks noChangeArrowheads="1"/>
            </p:cNvSpPr>
            <p:nvPr/>
          </p:nvSpPr>
          <p:spPr bwMode="auto">
            <a:xfrm>
              <a:off x="688689" y="116382"/>
              <a:ext cx="85186" cy="85186"/>
            </a:xfrm>
            <a:custGeom>
              <a:avLst/>
              <a:gdLst>
                <a:gd name="T0" fmla="*/ 30 w 30"/>
                <a:gd name="T1" fmla="*/ 23 h 30"/>
                <a:gd name="T2" fmla="*/ 23 w 30"/>
                <a:gd name="T3" fmla="*/ 30 h 30"/>
                <a:gd name="T4" fmla="*/ 7 w 30"/>
                <a:gd name="T5" fmla="*/ 30 h 30"/>
                <a:gd name="T6" fmla="*/ 0 w 30"/>
                <a:gd name="T7" fmla="*/ 23 h 30"/>
                <a:gd name="T8" fmla="*/ 0 w 30"/>
                <a:gd name="T9" fmla="*/ 7 h 30"/>
                <a:gd name="T10" fmla="*/ 7 w 30"/>
                <a:gd name="T11" fmla="*/ 0 h 30"/>
                <a:gd name="T12" fmla="*/ 23 w 30"/>
                <a:gd name="T13" fmla="*/ 0 h 30"/>
                <a:gd name="T14" fmla="*/ 30 w 30"/>
                <a:gd name="T15" fmla="*/ 7 h 30"/>
                <a:gd name="T16" fmla="*/ 30 w 30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0"/>
                <a:gd name="T29" fmla="*/ 30 w 30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0">
                  <a:moveTo>
                    <a:pt x="30" y="23"/>
                  </a:moveTo>
                  <a:cubicBezTo>
                    <a:pt x="30" y="27"/>
                    <a:pt x="27" y="30"/>
                    <a:pt x="23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3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3"/>
                    <a:pt x="30" y="7"/>
                  </a:cubicBezTo>
                  <a:lnTo>
                    <a:pt x="30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8" name="Freeform 33"/>
            <p:cNvSpPr>
              <a:spLocks noChangeArrowheads="1"/>
            </p:cNvSpPr>
            <p:nvPr/>
          </p:nvSpPr>
          <p:spPr bwMode="auto">
            <a:xfrm>
              <a:off x="688689" y="274756"/>
              <a:ext cx="85186" cy="88786"/>
            </a:xfrm>
            <a:custGeom>
              <a:avLst/>
              <a:gdLst>
                <a:gd name="T0" fmla="*/ 30 w 30"/>
                <a:gd name="T1" fmla="*/ 24 h 31"/>
                <a:gd name="T2" fmla="*/ 23 w 30"/>
                <a:gd name="T3" fmla="*/ 31 h 31"/>
                <a:gd name="T4" fmla="*/ 7 w 30"/>
                <a:gd name="T5" fmla="*/ 31 h 31"/>
                <a:gd name="T6" fmla="*/ 0 w 30"/>
                <a:gd name="T7" fmla="*/ 24 h 31"/>
                <a:gd name="T8" fmla="*/ 0 w 30"/>
                <a:gd name="T9" fmla="*/ 8 h 31"/>
                <a:gd name="T10" fmla="*/ 7 w 30"/>
                <a:gd name="T11" fmla="*/ 0 h 31"/>
                <a:gd name="T12" fmla="*/ 23 w 30"/>
                <a:gd name="T13" fmla="*/ 0 h 31"/>
                <a:gd name="T14" fmla="*/ 30 w 30"/>
                <a:gd name="T15" fmla="*/ 8 h 31"/>
                <a:gd name="T16" fmla="*/ 30 w 30"/>
                <a:gd name="T17" fmla="*/ 2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1"/>
                <a:gd name="T29" fmla="*/ 30 w 30"/>
                <a:gd name="T30" fmla="*/ 31 h 3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1">
                  <a:moveTo>
                    <a:pt x="30" y="24"/>
                  </a:moveTo>
                  <a:cubicBezTo>
                    <a:pt x="30" y="28"/>
                    <a:pt x="27" y="31"/>
                    <a:pt x="23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3" y="31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0"/>
                    <a:pt x="30" y="4"/>
                    <a:pt x="30" y="8"/>
                  </a:cubicBezTo>
                  <a:lnTo>
                    <a:pt x="30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29" name="Freeform 34"/>
            <p:cNvSpPr>
              <a:spLocks noChangeArrowheads="1"/>
            </p:cNvSpPr>
            <p:nvPr/>
          </p:nvSpPr>
          <p:spPr bwMode="auto">
            <a:xfrm>
              <a:off x="176371" y="436730"/>
              <a:ext cx="87586" cy="85186"/>
            </a:xfrm>
            <a:custGeom>
              <a:avLst/>
              <a:gdLst>
                <a:gd name="T0" fmla="*/ 31 w 31"/>
                <a:gd name="T1" fmla="*/ 23 h 30"/>
                <a:gd name="T2" fmla="*/ 24 w 31"/>
                <a:gd name="T3" fmla="*/ 30 h 30"/>
                <a:gd name="T4" fmla="*/ 8 w 31"/>
                <a:gd name="T5" fmla="*/ 30 h 30"/>
                <a:gd name="T6" fmla="*/ 0 w 31"/>
                <a:gd name="T7" fmla="*/ 23 h 30"/>
                <a:gd name="T8" fmla="*/ 0 w 31"/>
                <a:gd name="T9" fmla="*/ 7 h 30"/>
                <a:gd name="T10" fmla="*/ 8 w 31"/>
                <a:gd name="T11" fmla="*/ 0 h 30"/>
                <a:gd name="T12" fmla="*/ 24 w 31"/>
                <a:gd name="T13" fmla="*/ 0 h 30"/>
                <a:gd name="T14" fmla="*/ 31 w 31"/>
                <a:gd name="T15" fmla="*/ 7 h 30"/>
                <a:gd name="T16" fmla="*/ 31 w 31"/>
                <a:gd name="T17" fmla="*/ 23 h 3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0"/>
                <a:gd name="T29" fmla="*/ 31 w 31"/>
                <a:gd name="T30" fmla="*/ 30 h 3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0">
                  <a:moveTo>
                    <a:pt x="31" y="23"/>
                  </a:moveTo>
                  <a:cubicBezTo>
                    <a:pt x="31" y="27"/>
                    <a:pt x="28" y="30"/>
                    <a:pt x="24" y="30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4" y="30"/>
                    <a:pt x="0" y="27"/>
                    <a:pt x="0" y="23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3"/>
                    <a:pt x="4" y="0"/>
                    <a:pt x="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8" y="0"/>
                    <a:pt x="31" y="3"/>
                    <a:pt x="31" y="7"/>
                  </a:cubicBezTo>
                  <a:lnTo>
                    <a:pt x="31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cs"/>
                <a:sym typeface="宋体" panose="02010600030101010101" pitchFamily="2" charset="-122"/>
              </a:endParaRPr>
            </a:p>
          </p:txBody>
        </p:sp>
      </p:grpSp>
      <p:sp>
        <p:nvSpPr>
          <p:cNvPr id="30" name="Freeform 84"/>
          <p:cNvSpPr>
            <a:spLocks noChangeAspect="1" noEditPoints="1" noChangeArrowheads="1"/>
          </p:cNvSpPr>
          <p:nvPr/>
        </p:nvSpPr>
        <p:spPr bwMode="auto">
          <a:xfrm>
            <a:off x="7169827" y="4205438"/>
            <a:ext cx="333822" cy="333006"/>
          </a:xfrm>
          <a:custGeom>
            <a:avLst/>
            <a:gdLst>
              <a:gd name="T0" fmla="*/ 170 w 170"/>
              <a:gd name="T1" fmla="*/ 0 h 168"/>
              <a:gd name="T2" fmla="*/ 162 w 170"/>
              <a:gd name="T3" fmla="*/ 16 h 168"/>
              <a:gd name="T4" fmla="*/ 170 w 170"/>
              <a:gd name="T5" fmla="*/ 103 h 168"/>
              <a:gd name="T6" fmla="*/ 93 w 170"/>
              <a:gd name="T7" fmla="*/ 119 h 168"/>
              <a:gd name="T8" fmla="*/ 128 w 170"/>
              <a:gd name="T9" fmla="*/ 152 h 168"/>
              <a:gd name="T10" fmla="*/ 42 w 170"/>
              <a:gd name="T11" fmla="*/ 168 h 168"/>
              <a:gd name="T12" fmla="*/ 77 w 170"/>
              <a:gd name="T13" fmla="*/ 152 h 168"/>
              <a:gd name="T14" fmla="*/ 0 w 170"/>
              <a:gd name="T15" fmla="*/ 119 h 168"/>
              <a:gd name="T16" fmla="*/ 6 w 170"/>
              <a:gd name="T17" fmla="*/ 103 h 168"/>
              <a:gd name="T18" fmla="*/ 0 w 170"/>
              <a:gd name="T19" fmla="*/ 16 h 168"/>
              <a:gd name="T20" fmla="*/ 0 w 170"/>
              <a:gd name="T21" fmla="*/ 0 h 168"/>
              <a:gd name="T22" fmla="*/ 122 w 170"/>
              <a:gd name="T23" fmla="*/ 40 h 168"/>
              <a:gd name="T24" fmla="*/ 115 w 170"/>
              <a:gd name="T25" fmla="*/ 44 h 168"/>
              <a:gd name="T26" fmla="*/ 75 w 170"/>
              <a:gd name="T27" fmla="*/ 52 h 168"/>
              <a:gd name="T28" fmla="*/ 73 w 170"/>
              <a:gd name="T29" fmla="*/ 50 h 168"/>
              <a:gd name="T30" fmla="*/ 50 w 170"/>
              <a:gd name="T31" fmla="*/ 67 h 168"/>
              <a:gd name="T32" fmla="*/ 85 w 170"/>
              <a:gd name="T33" fmla="*/ 65 h 168"/>
              <a:gd name="T34" fmla="*/ 89 w 170"/>
              <a:gd name="T35" fmla="*/ 67 h 168"/>
              <a:gd name="T36" fmla="*/ 120 w 170"/>
              <a:gd name="T37" fmla="*/ 52 h 168"/>
              <a:gd name="T38" fmla="*/ 128 w 170"/>
              <a:gd name="T39" fmla="*/ 40 h 168"/>
              <a:gd name="T40" fmla="*/ 113 w 170"/>
              <a:gd name="T41" fmla="*/ 58 h 168"/>
              <a:gd name="T42" fmla="*/ 122 w 170"/>
              <a:gd name="T43" fmla="*/ 85 h 168"/>
              <a:gd name="T44" fmla="*/ 113 w 170"/>
              <a:gd name="T45" fmla="*/ 58 h 168"/>
              <a:gd name="T46" fmla="*/ 101 w 170"/>
              <a:gd name="T47" fmla="*/ 67 h 168"/>
              <a:gd name="T48" fmla="*/ 109 w 170"/>
              <a:gd name="T49" fmla="*/ 85 h 168"/>
              <a:gd name="T50" fmla="*/ 101 w 170"/>
              <a:gd name="T51" fmla="*/ 67 h 168"/>
              <a:gd name="T52" fmla="*/ 87 w 170"/>
              <a:gd name="T53" fmla="*/ 77 h 168"/>
              <a:gd name="T54" fmla="*/ 95 w 170"/>
              <a:gd name="T55" fmla="*/ 85 h 168"/>
              <a:gd name="T56" fmla="*/ 87 w 170"/>
              <a:gd name="T57" fmla="*/ 77 h 168"/>
              <a:gd name="T58" fmla="*/ 75 w 170"/>
              <a:gd name="T59" fmla="*/ 69 h 168"/>
              <a:gd name="T60" fmla="*/ 83 w 170"/>
              <a:gd name="T61" fmla="*/ 85 h 168"/>
              <a:gd name="T62" fmla="*/ 75 w 170"/>
              <a:gd name="T63" fmla="*/ 69 h 168"/>
              <a:gd name="T64" fmla="*/ 63 w 170"/>
              <a:gd name="T65" fmla="*/ 69 h 168"/>
              <a:gd name="T66" fmla="*/ 71 w 170"/>
              <a:gd name="T67" fmla="*/ 85 h 168"/>
              <a:gd name="T68" fmla="*/ 63 w 170"/>
              <a:gd name="T69" fmla="*/ 69 h 168"/>
              <a:gd name="T70" fmla="*/ 48 w 170"/>
              <a:gd name="T71" fmla="*/ 73 h 168"/>
              <a:gd name="T72" fmla="*/ 56 w 170"/>
              <a:gd name="T73" fmla="*/ 85 h 168"/>
              <a:gd name="T74" fmla="*/ 48 w 170"/>
              <a:gd name="T75" fmla="*/ 73 h 168"/>
              <a:gd name="T76" fmla="*/ 146 w 170"/>
              <a:gd name="T77" fmla="*/ 18 h 168"/>
              <a:gd name="T78" fmla="*/ 24 w 170"/>
              <a:gd name="T79" fmla="*/ 101 h 168"/>
              <a:gd name="T80" fmla="*/ 146 w 170"/>
              <a:gd name="T81" fmla="*/ 18 h 16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70"/>
              <a:gd name="T124" fmla="*/ 0 h 168"/>
              <a:gd name="T125" fmla="*/ 170 w 170"/>
              <a:gd name="T126" fmla="*/ 168 h 16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70" h="168">
                <a:moveTo>
                  <a:pt x="0" y="0"/>
                </a:moveTo>
                <a:lnTo>
                  <a:pt x="170" y="0"/>
                </a:lnTo>
                <a:lnTo>
                  <a:pt x="170" y="16"/>
                </a:lnTo>
                <a:lnTo>
                  <a:pt x="162" y="16"/>
                </a:lnTo>
                <a:lnTo>
                  <a:pt x="162" y="103"/>
                </a:lnTo>
                <a:lnTo>
                  <a:pt x="170" y="103"/>
                </a:lnTo>
                <a:lnTo>
                  <a:pt x="170" y="119"/>
                </a:lnTo>
                <a:lnTo>
                  <a:pt x="93" y="119"/>
                </a:lnTo>
                <a:lnTo>
                  <a:pt x="93" y="152"/>
                </a:lnTo>
                <a:lnTo>
                  <a:pt x="128" y="152"/>
                </a:lnTo>
                <a:lnTo>
                  <a:pt x="128" y="168"/>
                </a:lnTo>
                <a:lnTo>
                  <a:pt x="42" y="168"/>
                </a:lnTo>
                <a:lnTo>
                  <a:pt x="42" y="152"/>
                </a:lnTo>
                <a:lnTo>
                  <a:pt x="77" y="152"/>
                </a:lnTo>
                <a:lnTo>
                  <a:pt x="77" y="119"/>
                </a:lnTo>
                <a:lnTo>
                  <a:pt x="0" y="119"/>
                </a:lnTo>
                <a:lnTo>
                  <a:pt x="0" y="103"/>
                </a:lnTo>
                <a:lnTo>
                  <a:pt x="6" y="103"/>
                </a:lnTo>
                <a:lnTo>
                  <a:pt x="6" y="16"/>
                </a:lnTo>
                <a:lnTo>
                  <a:pt x="0" y="16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128" y="40"/>
                </a:moveTo>
                <a:lnTo>
                  <a:pt x="122" y="40"/>
                </a:lnTo>
                <a:lnTo>
                  <a:pt x="113" y="40"/>
                </a:lnTo>
                <a:lnTo>
                  <a:pt x="115" y="44"/>
                </a:lnTo>
                <a:lnTo>
                  <a:pt x="87" y="61"/>
                </a:lnTo>
                <a:lnTo>
                  <a:pt x="75" y="52"/>
                </a:lnTo>
                <a:lnTo>
                  <a:pt x="75" y="50"/>
                </a:lnTo>
                <a:lnTo>
                  <a:pt x="73" y="50"/>
                </a:lnTo>
                <a:lnTo>
                  <a:pt x="48" y="61"/>
                </a:lnTo>
                <a:lnTo>
                  <a:pt x="50" y="67"/>
                </a:lnTo>
                <a:lnTo>
                  <a:pt x="73" y="56"/>
                </a:lnTo>
                <a:lnTo>
                  <a:pt x="85" y="65"/>
                </a:lnTo>
                <a:lnTo>
                  <a:pt x="87" y="67"/>
                </a:lnTo>
                <a:lnTo>
                  <a:pt x="89" y="67"/>
                </a:lnTo>
                <a:lnTo>
                  <a:pt x="117" y="48"/>
                </a:lnTo>
                <a:lnTo>
                  <a:pt x="120" y="52"/>
                </a:lnTo>
                <a:lnTo>
                  <a:pt x="124" y="46"/>
                </a:lnTo>
                <a:lnTo>
                  <a:pt x="128" y="40"/>
                </a:lnTo>
                <a:lnTo>
                  <a:pt x="128" y="40"/>
                </a:lnTo>
                <a:close/>
                <a:moveTo>
                  <a:pt x="113" y="58"/>
                </a:moveTo>
                <a:lnTo>
                  <a:pt x="113" y="85"/>
                </a:lnTo>
                <a:lnTo>
                  <a:pt x="122" y="85"/>
                </a:lnTo>
                <a:lnTo>
                  <a:pt x="122" y="58"/>
                </a:lnTo>
                <a:lnTo>
                  <a:pt x="113" y="58"/>
                </a:lnTo>
                <a:lnTo>
                  <a:pt x="113" y="58"/>
                </a:lnTo>
                <a:close/>
                <a:moveTo>
                  <a:pt x="101" y="67"/>
                </a:moveTo>
                <a:lnTo>
                  <a:pt x="101" y="85"/>
                </a:lnTo>
                <a:lnTo>
                  <a:pt x="109" y="85"/>
                </a:lnTo>
                <a:lnTo>
                  <a:pt x="109" y="67"/>
                </a:lnTo>
                <a:lnTo>
                  <a:pt x="101" y="67"/>
                </a:lnTo>
                <a:lnTo>
                  <a:pt x="101" y="67"/>
                </a:lnTo>
                <a:close/>
                <a:moveTo>
                  <a:pt x="87" y="77"/>
                </a:moveTo>
                <a:lnTo>
                  <a:pt x="87" y="85"/>
                </a:lnTo>
                <a:lnTo>
                  <a:pt x="95" y="85"/>
                </a:lnTo>
                <a:lnTo>
                  <a:pt x="95" y="77"/>
                </a:lnTo>
                <a:lnTo>
                  <a:pt x="87" y="77"/>
                </a:lnTo>
                <a:lnTo>
                  <a:pt x="87" y="77"/>
                </a:lnTo>
                <a:close/>
                <a:moveTo>
                  <a:pt x="75" y="69"/>
                </a:moveTo>
                <a:lnTo>
                  <a:pt x="75" y="85"/>
                </a:lnTo>
                <a:lnTo>
                  <a:pt x="83" y="85"/>
                </a:lnTo>
                <a:lnTo>
                  <a:pt x="83" y="69"/>
                </a:lnTo>
                <a:lnTo>
                  <a:pt x="75" y="69"/>
                </a:lnTo>
                <a:lnTo>
                  <a:pt x="75" y="69"/>
                </a:lnTo>
                <a:close/>
                <a:moveTo>
                  <a:pt x="63" y="69"/>
                </a:moveTo>
                <a:lnTo>
                  <a:pt x="63" y="85"/>
                </a:lnTo>
                <a:lnTo>
                  <a:pt x="71" y="85"/>
                </a:lnTo>
                <a:lnTo>
                  <a:pt x="71" y="69"/>
                </a:lnTo>
                <a:lnTo>
                  <a:pt x="63" y="69"/>
                </a:lnTo>
                <a:lnTo>
                  <a:pt x="63" y="69"/>
                </a:lnTo>
                <a:close/>
                <a:moveTo>
                  <a:pt x="48" y="73"/>
                </a:moveTo>
                <a:lnTo>
                  <a:pt x="48" y="85"/>
                </a:lnTo>
                <a:lnTo>
                  <a:pt x="56" y="85"/>
                </a:lnTo>
                <a:lnTo>
                  <a:pt x="56" y="73"/>
                </a:lnTo>
                <a:lnTo>
                  <a:pt x="48" y="73"/>
                </a:lnTo>
                <a:lnTo>
                  <a:pt x="48" y="73"/>
                </a:lnTo>
                <a:close/>
                <a:moveTo>
                  <a:pt x="146" y="18"/>
                </a:moveTo>
                <a:lnTo>
                  <a:pt x="24" y="18"/>
                </a:lnTo>
                <a:lnTo>
                  <a:pt x="24" y="101"/>
                </a:lnTo>
                <a:lnTo>
                  <a:pt x="146" y="101"/>
                </a:lnTo>
                <a:lnTo>
                  <a:pt x="146" y="1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31" name="Freeform 9"/>
          <p:cNvSpPr>
            <a:spLocks noChangeAspect="1" noEditPoints="1" noChangeArrowheads="1"/>
          </p:cNvSpPr>
          <p:nvPr/>
        </p:nvSpPr>
        <p:spPr bwMode="auto">
          <a:xfrm>
            <a:off x="9150738" y="4205437"/>
            <a:ext cx="361886" cy="333007"/>
          </a:xfrm>
          <a:custGeom>
            <a:avLst/>
            <a:gdLst>
              <a:gd name="T0" fmla="*/ 141 w 181"/>
              <a:gd name="T1" fmla="*/ 0 h 165"/>
              <a:gd name="T2" fmla="*/ 149 w 181"/>
              <a:gd name="T3" fmla="*/ 8 h 165"/>
              <a:gd name="T4" fmla="*/ 134 w 181"/>
              <a:gd name="T5" fmla="*/ 47 h 165"/>
              <a:gd name="T6" fmla="*/ 33 w 181"/>
              <a:gd name="T7" fmla="*/ 14 h 165"/>
              <a:gd name="T8" fmla="*/ 39 w 181"/>
              <a:gd name="T9" fmla="*/ 20 h 165"/>
              <a:gd name="T10" fmla="*/ 51 w 181"/>
              <a:gd name="T11" fmla="*/ 31 h 165"/>
              <a:gd name="T12" fmla="*/ 33 w 181"/>
              <a:gd name="T13" fmla="*/ 39 h 165"/>
              <a:gd name="T14" fmla="*/ 39 w 181"/>
              <a:gd name="T15" fmla="*/ 45 h 165"/>
              <a:gd name="T16" fmla="*/ 51 w 181"/>
              <a:gd name="T17" fmla="*/ 55 h 165"/>
              <a:gd name="T18" fmla="*/ 33 w 181"/>
              <a:gd name="T19" fmla="*/ 63 h 165"/>
              <a:gd name="T20" fmla="*/ 39 w 181"/>
              <a:gd name="T21" fmla="*/ 67 h 165"/>
              <a:gd name="T22" fmla="*/ 51 w 181"/>
              <a:gd name="T23" fmla="*/ 77 h 165"/>
              <a:gd name="T24" fmla="*/ 33 w 181"/>
              <a:gd name="T25" fmla="*/ 86 h 165"/>
              <a:gd name="T26" fmla="*/ 39 w 181"/>
              <a:gd name="T27" fmla="*/ 90 h 165"/>
              <a:gd name="T28" fmla="*/ 51 w 181"/>
              <a:gd name="T29" fmla="*/ 100 h 165"/>
              <a:gd name="T30" fmla="*/ 33 w 181"/>
              <a:gd name="T31" fmla="*/ 110 h 165"/>
              <a:gd name="T32" fmla="*/ 39 w 181"/>
              <a:gd name="T33" fmla="*/ 116 h 165"/>
              <a:gd name="T34" fmla="*/ 51 w 181"/>
              <a:gd name="T35" fmla="*/ 126 h 165"/>
              <a:gd name="T36" fmla="*/ 33 w 181"/>
              <a:gd name="T37" fmla="*/ 134 h 165"/>
              <a:gd name="T38" fmla="*/ 33 w 181"/>
              <a:gd name="T39" fmla="*/ 151 h 165"/>
              <a:gd name="T40" fmla="*/ 134 w 181"/>
              <a:gd name="T41" fmla="*/ 118 h 165"/>
              <a:gd name="T42" fmla="*/ 149 w 181"/>
              <a:gd name="T43" fmla="*/ 157 h 165"/>
              <a:gd name="T44" fmla="*/ 141 w 181"/>
              <a:gd name="T45" fmla="*/ 165 h 165"/>
              <a:gd name="T46" fmla="*/ 19 w 181"/>
              <a:gd name="T47" fmla="*/ 165 h 165"/>
              <a:gd name="T48" fmla="*/ 19 w 181"/>
              <a:gd name="T49" fmla="*/ 146 h 165"/>
              <a:gd name="T50" fmla="*/ 0 w 181"/>
              <a:gd name="T51" fmla="*/ 132 h 165"/>
              <a:gd name="T52" fmla="*/ 19 w 181"/>
              <a:gd name="T53" fmla="*/ 120 h 165"/>
              <a:gd name="T54" fmla="*/ 0 w 181"/>
              <a:gd name="T55" fmla="*/ 108 h 165"/>
              <a:gd name="T56" fmla="*/ 19 w 181"/>
              <a:gd name="T57" fmla="*/ 98 h 165"/>
              <a:gd name="T58" fmla="*/ 0 w 181"/>
              <a:gd name="T59" fmla="*/ 83 h 165"/>
              <a:gd name="T60" fmla="*/ 19 w 181"/>
              <a:gd name="T61" fmla="*/ 75 h 165"/>
              <a:gd name="T62" fmla="*/ 0 w 181"/>
              <a:gd name="T63" fmla="*/ 61 h 165"/>
              <a:gd name="T64" fmla="*/ 19 w 181"/>
              <a:gd name="T65" fmla="*/ 51 h 165"/>
              <a:gd name="T66" fmla="*/ 0 w 181"/>
              <a:gd name="T67" fmla="*/ 39 h 165"/>
              <a:gd name="T68" fmla="*/ 19 w 181"/>
              <a:gd name="T69" fmla="*/ 8 h 165"/>
              <a:gd name="T70" fmla="*/ 27 w 181"/>
              <a:gd name="T71" fmla="*/ 0 h 165"/>
              <a:gd name="T72" fmla="*/ 63 w 181"/>
              <a:gd name="T73" fmla="*/ 79 h 165"/>
              <a:gd name="T74" fmla="*/ 84 w 181"/>
              <a:gd name="T75" fmla="*/ 88 h 165"/>
              <a:gd name="T76" fmla="*/ 63 w 181"/>
              <a:gd name="T77" fmla="*/ 79 h 165"/>
              <a:gd name="T78" fmla="*/ 63 w 181"/>
              <a:gd name="T79" fmla="*/ 61 h 165"/>
              <a:gd name="T80" fmla="*/ 100 w 181"/>
              <a:gd name="T81" fmla="*/ 69 h 165"/>
              <a:gd name="T82" fmla="*/ 63 w 181"/>
              <a:gd name="T83" fmla="*/ 61 h 165"/>
              <a:gd name="T84" fmla="*/ 63 w 181"/>
              <a:gd name="T85" fmla="*/ 45 h 165"/>
              <a:gd name="T86" fmla="*/ 116 w 181"/>
              <a:gd name="T87" fmla="*/ 53 h 165"/>
              <a:gd name="T88" fmla="*/ 63 w 181"/>
              <a:gd name="T89" fmla="*/ 45 h 165"/>
              <a:gd name="T90" fmla="*/ 63 w 181"/>
              <a:gd name="T91" fmla="*/ 29 h 165"/>
              <a:gd name="T92" fmla="*/ 116 w 181"/>
              <a:gd name="T93" fmla="*/ 35 h 165"/>
              <a:gd name="T94" fmla="*/ 63 w 181"/>
              <a:gd name="T95" fmla="*/ 29 h 165"/>
              <a:gd name="T96" fmla="*/ 84 w 181"/>
              <a:gd name="T97" fmla="*/ 130 h 165"/>
              <a:gd name="T98" fmla="*/ 106 w 181"/>
              <a:gd name="T99" fmla="*/ 130 h 165"/>
              <a:gd name="T100" fmla="*/ 86 w 181"/>
              <a:gd name="T101" fmla="*/ 108 h 165"/>
              <a:gd name="T102" fmla="*/ 84 w 181"/>
              <a:gd name="T103" fmla="*/ 130 h 165"/>
              <a:gd name="T104" fmla="*/ 161 w 181"/>
              <a:gd name="T105" fmla="*/ 37 h 165"/>
              <a:gd name="T106" fmla="*/ 116 w 181"/>
              <a:gd name="T107" fmla="*/ 120 h 165"/>
              <a:gd name="T108" fmla="*/ 161 w 181"/>
              <a:gd name="T109" fmla="*/ 37 h 16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81"/>
              <a:gd name="T166" fmla="*/ 0 h 165"/>
              <a:gd name="T167" fmla="*/ 181 w 181"/>
              <a:gd name="T168" fmla="*/ 165 h 165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81" h="165">
                <a:moveTo>
                  <a:pt x="27" y="0"/>
                </a:moveTo>
                <a:lnTo>
                  <a:pt x="141" y="0"/>
                </a:lnTo>
                <a:lnTo>
                  <a:pt x="149" y="0"/>
                </a:lnTo>
                <a:lnTo>
                  <a:pt x="149" y="8"/>
                </a:lnTo>
                <a:lnTo>
                  <a:pt x="149" y="35"/>
                </a:lnTo>
                <a:lnTo>
                  <a:pt x="134" y="47"/>
                </a:lnTo>
                <a:lnTo>
                  <a:pt x="134" y="14"/>
                </a:lnTo>
                <a:lnTo>
                  <a:pt x="33" y="14"/>
                </a:lnTo>
                <a:lnTo>
                  <a:pt x="33" y="25"/>
                </a:lnTo>
                <a:lnTo>
                  <a:pt x="39" y="20"/>
                </a:lnTo>
                <a:lnTo>
                  <a:pt x="47" y="18"/>
                </a:lnTo>
                <a:lnTo>
                  <a:pt x="51" y="31"/>
                </a:lnTo>
                <a:lnTo>
                  <a:pt x="45" y="35"/>
                </a:lnTo>
                <a:lnTo>
                  <a:pt x="33" y="39"/>
                </a:lnTo>
                <a:lnTo>
                  <a:pt x="33" y="47"/>
                </a:lnTo>
                <a:lnTo>
                  <a:pt x="39" y="45"/>
                </a:lnTo>
                <a:lnTo>
                  <a:pt x="47" y="41"/>
                </a:lnTo>
                <a:lnTo>
                  <a:pt x="51" y="55"/>
                </a:lnTo>
                <a:lnTo>
                  <a:pt x="45" y="57"/>
                </a:lnTo>
                <a:lnTo>
                  <a:pt x="33" y="63"/>
                </a:lnTo>
                <a:lnTo>
                  <a:pt x="33" y="71"/>
                </a:lnTo>
                <a:lnTo>
                  <a:pt x="39" y="67"/>
                </a:lnTo>
                <a:lnTo>
                  <a:pt x="47" y="65"/>
                </a:lnTo>
                <a:lnTo>
                  <a:pt x="51" y="77"/>
                </a:lnTo>
                <a:lnTo>
                  <a:pt x="45" y="81"/>
                </a:lnTo>
                <a:lnTo>
                  <a:pt x="33" y="86"/>
                </a:lnTo>
                <a:lnTo>
                  <a:pt x="33" y="94"/>
                </a:lnTo>
                <a:lnTo>
                  <a:pt x="39" y="90"/>
                </a:lnTo>
                <a:lnTo>
                  <a:pt x="47" y="88"/>
                </a:lnTo>
                <a:lnTo>
                  <a:pt x="51" y="100"/>
                </a:lnTo>
                <a:lnTo>
                  <a:pt x="45" y="104"/>
                </a:lnTo>
                <a:lnTo>
                  <a:pt x="33" y="110"/>
                </a:lnTo>
                <a:lnTo>
                  <a:pt x="33" y="118"/>
                </a:lnTo>
                <a:lnTo>
                  <a:pt x="39" y="116"/>
                </a:lnTo>
                <a:lnTo>
                  <a:pt x="47" y="112"/>
                </a:lnTo>
                <a:lnTo>
                  <a:pt x="51" y="126"/>
                </a:lnTo>
                <a:lnTo>
                  <a:pt x="45" y="128"/>
                </a:lnTo>
                <a:lnTo>
                  <a:pt x="33" y="134"/>
                </a:lnTo>
                <a:lnTo>
                  <a:pt x="33" y="146"/>
                </a:lnTo>
                <a:lnTo>
                  <a:pt x="33" y="151"/>
                </a:lnTo>
                <a:lnTo>
                  <a:pt x="134" y="151"/>
                </a:lnTo>
                <a:lnTo>
                  <a:pt x="134" y="118"/>
                </a:lnTo>
                <a:lnTo>
                  <a:pt x="149" y="106"/>
                </a:lnTo>
                <a:lnTo>
                  <a:pt x="149" y="157"/>
                </a:lnTo>
                <a:lnTo>
                  <a:pt x="149" y="165"/>
                </a:lnTo>
                <a:lnTo>
                  <a:pt x="141" y="165"/>
                </a:lnTo>
                <a:lnTo>
                  <a:pt x="27" y="165"/>
                </a:lnTo>
                <a:lnTo>
                  <a:pt x="19" y="165"/>
                </a:lnTo>
                <a:lnTo>
                  <a:pt x="19" y="157"/>
                </a:lnTo>
                <a:lnTo>
                  <a:pt x="19" y="146"/>
                </a:lnTo>
                <a:lnTo>
                  <a:pt x="4" y="146"/>
                </a:lnTo>
                <a:lnTo>
                  <a:pt x="0" y="132"/>
                </a:lnTo>
                <a:lnTo>
                  <a:pt x="19" y="124"/>
                </a:lnTo>
                <a:lnTo>
                  <a:pt x="19" y="120"/>
                </a:lnTo>
                <a:lnTo>
                  <a:pt x="4" y="120"/>
                </a:lnTo>
                <a:lnTo>
                  <a:pt x="0" y="108"/>
                </a:lnTo>
                <a:lnTo>
                  <a:pt x="19" y="100"/>
                </a:lnTo>
                <a:lnTo>
                  <a:pt x="19" y="98"/>
                </a:lnTo>
                <a:lnTo>
                  <a:pt x="4" y="98"/>
                </a:lnTo>
                <a:lnTo>
                  <a:pt x="0" y="83"/>
                </a:lnTo>
                <a:lnTo>
                  <a:pt x="19" y="77"/>
                </a:lnTo>
                <a:lnTo>
                  <a:pt x="19" y="75"/>
                </a:lnTo>
                <a:lnTo>
                  <a:pt x="4" y="75"/>
                </a:lnTo>
                <a:lnTo>
                  <a:pt x="0" y="61"/>
                </a:lnTo>
                <a:lnTo>
                  <a:pt x="19" y="53"/>
                </a:lnTo>
                <a:lnTo>
                  <a:pt x="19" y="51"/>
                </a:lnTo>
                <a:lnTo>
                  <a:pt x="4" y="51"/>
                </a:lnTo>
                <a:lnTo>
                  <a:pt x="0" y="39"/>
                </a:lnTo>
                <a:lnTo>
                  <a:pt x="19" y="31"/>
                </a:lnTo>
                <a:lnTo>
                  <a:pt x="19" y="8"/>
                </a:lnTo>
                <a:lnTo>
                  <a:pt x="19" y="0"/>
                </a:lnTo>
                <a:lnTo>
                  <a:pt x="27" y="0"/>
                </a:lnTo>
                <a:lnTo>
                  <a:pt x="27" y="0"/>
                </a:lnTo>
                <a:close/>
                <a:moveTo>
                  <a:pt x="63" y="79"/>
                </a:moveTo>
                <a:lnTo>
                  <a:pt x="63" y="88"/>
                </a:lnTo>
                <a:lnTo>
                  <a:pt x="84" y="88"/>
                </a:lnTo>
                <a:lnTo>
                  <a:pt x="84" y="79"/>
                </a:lnTo>
                <a:lnTo>
                  <a:pt x="63" y="79"/>
                </a:lnTo>
                <a:lnTo>
                  <a:pt x="63" y="79"/>
                </a:lnTo>
                <a:close/>
                <a:moveTo>
                  <a:pt x="63" y="61"/>
                </a:moveTo>
                <a:lnTo>
                  <a:pt x="63" y="69"/>
                </a:lnTo>
                <a:lnTo>
                  <a:pt x="100" y="69"/>
                </a:lnTo>
                <a:lnTo>
                  <a:pt x="100" y="61"/>
                </a:lnTo>
                <a:lnTo>
                  <a:pt x="63" y="61"/>
                </a:lnTo>
                <a:lnTo>
                  <a:pt x="63" y="61"/>
                </a:lnTo>
                <a:close/>
                <a:moveTo>
                  <a:pt x="63" y="45"/>
                </a:moveTo>
                <a:lnTo>
                  <a:pt x="63" y="53"/>
                </a:lnTo>
                <a:lnTo>
                  <a:pt x="116" y="53"/>
                </a:lnTo>
                <a:lnTo>
                  <a:pt x="116" y="45"/>
                </a:lnTo>
                <a:lnTo>
                  <a:pt x="63" y="45"/>
                </a:lnTo>
                <a:lnTo>
                  <a:pt x="63" y="45"/>
                </a:lnTo>
                <a:close/>
                <a:moveTo>
                  <a:pt x="63" y="29"/>
                </a:moveTo>
                <a:lnTo>
                  <a:pt x="63" y="35"/>
                </a:lnTo>
                <a:lnTo>
                  <a:pt x="116" y="35"/>
                </a:lnTo>
                <a:lnTo>
                  <a:pt x="116" y="29"/>
                </a:lnTo>
                <a:lnTo>
                  <a:pt x="63" y="29"/>
                </a:lnTo>
                <a:lnTo>
                  <a:pt x="63" y="29"/>
                </a:lnTo>
                <a:close/>
                <a:moveTo>
                  <a:pt x="84" y="130"/>
                </a:moveTo>
                <a:lnTo>
                  <a:pt x="96" y="130"/>
                </a:lnTo>
                <a:lnTo>
                  <a:pt x="106" y="130"/>
                </a:lnTo>
                <a:lnTo>
                  <a:pt x="96" y="118"/>
                </a:lnTo>
                <a:lnTo>
                  <a:pt x="86" y="108"/>
                </a:lnTo>
                <a:lnTo>
                  <a:pt x="86" y="120"/>
                </a:lnTo>
                <a:lnTo>
                  <a:pt x="84" y="130"/>
                </a:lnTo>
                <a:lnTo>
                  <a:pt x="84" y="130"/>
                </a:lnTo>
                <a:close/>
                <a:moveTo>
                  <a:pt x="161" y="37"/>
                </a:moveTo>
                <a:lnTo>
                  <a:pt x="96" y="100"/>
                </a:lnTo>
                <a:lnTo>
                  <a:pt x="116" y="120"/>
                </a:lnTo>
                <a:lnTo>
                  <a:pt x="181" y="57"/>
                </a:lnTo>
                <a:lnTo>
                  <a:pt x="161" y="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27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夏雨家 https://xnwe.taobao.com/">
  <a:themeElements>
    <a:clrScheme name="MC-欧美风主题色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68F9C"/>
      </a:accent1>
      <a:accent2>
        <a:srgbClr val="2A566E"/>
      </a:accent2>
      <a:accent3>
        <a:srgbClr val="D71D49"/>
      </a:accent3>
      <a:accent4>
        <a:srgbClr val="268F9C"/>
      </a:accent4>
      <a:accent5>
        <a:srgbClr val="2A566E"/>
      </a:accent5>
      <a:accent6>
        <a:srgbClr val="D71D49"/>
      </a:accent6>
      <a:hlink>
        <a:srgbClr val="0563C1"/>
      </a:hlink>
      <a:folHlink>
        <a:srgbClr val="954F72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烟灰色玻璃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 anchor="ctr">
        <a:spAutoFit/>
      </a:bodyPr>
      <a:lstStyle>
        <a:defPPr>
          <a:lnSpc>
            <a:spcPct val="120000"/>
          </a:lnSpc>
          <a:defRPr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11336</TotalTime>
  <Words>782</Words>
  <Application>Microsoft Office PowerPoint</Application>
  <PresentationFormat>宽屏</PresentationFormat>
  <Paragraphs>255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-apple-system</vt:lpstr>
      <vt:lpstr>等线</vt:lpstr>
      <vt:lpstr>微软雅黑</vt:lpstr>
      <vt:lpstr>Arial</vt:lpstr>
      <vt:lpstr>Calibri</vt:lpstr>
      <vt:lpstr>Cambria Math</vt:lpstr>
      <vt:lpstr>Lato</vt:lpstr>
      <vt:lpstr>Wingdings</vt:lpstr>
      <vt:lpstr>夏雨家 https://xnwe.taobao.com/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盈钢 邱</dc:creator>
  <cp:lastModifiedBy>盈钢 邱</cp:lastModifiedBy>
  <cp:revision>754</cp:revision>
  <dcterms:created xsi:type="dcterms:W3CDTF">2024-11-06T01:21:23Z</dcterms:created>
  <dcterms:modified xsi:type="dcterms:W3CDTF">2025-05-11T11:20:49Z</dcterms:modified>
</cp:coreProperties>
</file>