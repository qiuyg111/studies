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"/>
  </p:notesMasterIdLst>
  <p:handoutMasterIdLst>
    <p:handoutMasterId r:id="rId10"/>
  </p:handoutMasterIdLst>
  <p:sldIdLst>
    <p:sldId id="321" r:id="rId2"/>
    <p:sldId id="397" r:id="rId3"/>
    <p:sldId id="399" r:id="rId4"/>
    <p:sldId id="398" r:id="rId5"/>
    <p:sldId id="400" r:id="rId6"/>
    <p:sldId id="402" r:id="rId7"/>
    <p:sldId id="36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3EF657-181C-4883-9D5A-AB9F1355040F}">
          <p14:sldIdLst>
            <p14:sldId id="321"/>
            <p14:sldId id="397"/>
            <p14:sldId id="399"/>
            <p14:sldId id="398"/>
            <p14:sldId id="400"/>
            <p14:sldId id="402"/>
            <p14:sldId id="3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AE43C"/>
    <a:srgbClr val="3C79E4"/>
    <a:srgbClr val="EFEFEF"/>
    <a:srgbClr val="D71D49"/>
    <a:srgbClr val="00B0F0"/>
    <a:srgbClr val="F2F2F2"/>
    <a:srgbClr val="FFC000"/>
    <a:srgbClr val="3333FF"/>
    <a:srgbClr val="268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0" autoAdjust="0"/>
    <p:restoredTop sz="78403" autoAdjust="0"/>
  </p:normalViewPr>
  <p:slideViewPr>
    <p:cSldViewPr snapToGrid="0">
      <p:cViewPr varScale="1">
        <p:scale>
          <a:sx n="64" d="100"/>
          <a:sy n="64" d="100"/>
        </p:scale>
        <p:origin x="158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528"/>
    </p:cViewPr>
  </p:sorterViewPr>
  <p:notesViewPr>
    <p:cSldViewPr snapToGrid="0"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1DED5E9-5E65-75DF-6F8F-9397969A99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928676-1620-BA72-09D4-E850F57216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A95C1-E06F-4CA8-8396-75D76C7FF345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7F4734-9C38-86A8-BFD7-397DAFBB16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611FE7-67FD-CA31-CFF8-018F6649C4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DBA3F-305F-43D9-8EEC-18859E489F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1739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607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26F91-231C-F436-C0FF-E58C781D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D1F1DF-3D58-0A8D-7DE3-DEF525B1C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228F2C-DAFE-AB42-D8B1-DBCDF4901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9026B6-BDB9-0760-E274-F89F90DA5F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857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641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898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1087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088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717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671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87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78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9279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10" name="幻灯片编号占位符 4">
            <a:extLst>
              <a:ext uri="{FF2B5EF4-FFF2-40B4-BE49-F238E27FC236}">
                <a16:creationId xmlns:a16="http://schemas.microsoft.com/office/drawing/2014/main" id="{2B8B9416-4EDE-A1A1-C0F2-77D74E32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5471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 smtClean="0"/>
              <a:t>‹#›</a:t>
            </a:fld>
            <a:endParaRPr lang="zh-CN" altLang="en-US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4917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56097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07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  <a:t>2025/2/22</a:t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 smtClean="0"/>
              <a:t>‹#›</a:t>
            </a:fld>
            <a:endParaRPr lang="zh-CN" altLang="en-US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8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50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11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275040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94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85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1070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36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60" r:id="rId11"/>
    <p:sldLayoutId id="2147483672" r:id="rId12"/>
    <p:sldLayoutId id="2147483673" r:id="rId13"/>
    <p:sldLayoutId id="2147483716" r:id="rId14"/>
    <p:sldLayoutId id="2147483717" r:id="rId15"/>
    <p:sldLayoutId id="2147483718" r:id="rId16"/>
  </p:sldLayoutIdLst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3799-56BC-1721-CCC5-4F9C8AE25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5025EA-C510-B2D4-9C13-987D7341752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>
            <a:extLst>
              <a:ext uri="{FF2B5EF4-FFF2-40B4-BE49-F238E27FC236}">
                <a16:creationId xmlns:a16="http://schemas.microsoft.com/office/drawing/2014/main" id="{694C5BD6-8148-1792-B20E-178C398FED9E}"/>
              </a:ext>
            </a:extLst>
          </p:cNvPr>
          <p:cNvSpPr txBox="1"/>
          <p:nvPr/>
        </p:nvSpPr>
        <p:spPr>
          <a:xfrm>
            <a:off x="6168578" y="2460523"/>
            <a:ext cx="4897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3600" b="1" dirty="0">
                <a:latin typeface="+mj-ea"/>
                <a:ea typeface="+mj-ea"/>
              </a:rPr>
              <a:t>基于大语言模型的模型融合方法研究</a:t>
            </a:r>
            <a:endParaRPr lang="en-US" altLang="zh-CN" sz="3600" b="1" dirty="0">
              <a:latin typeface="+mj-ea"/>
              <a:ea typeface="+mj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B8DEA75-CB92-6935-D189-F116DC0F2751}"/>
              </a:ext>
            </a:extLst>
          </p:cNvPr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812DCD59-2A21-127E-C6E0-4E2B48A8974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4993C0E4-5FE3-EA5B-77E1-1D46E5597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CA545872-B65F-8A97-AD68-8C70E834D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99D65965-C08B-10F7-FB64-9DC268D0D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>
              <a:extLst>
                <a:ext uri="{FF2B5EF4-FFF2-40B4-BE49-F238E27FC236}">
                  <a16:creationId xmlns:a16="http://schemas.microsoft.com/office/drawing/2014/main" id="{1F0A4445-FDE3-E1E2-56D7-E77F52D77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E30BEF5-6F88-B6EF-BF9F-72DC6400D0B7}"/>
              </a:ext>
            </a:extLst>
          </p:cNvPr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30ED5BA2-C969-03E4-27A7-904798C32DE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>
              <a:extLst>
                <a:ext uri="{FF2B5EF4-FFF2-40B4-BE49-F238E27FC236}">
                  <a16:creationId xmlns:a16="http://schemas.microsoft.com/office/drawing/2014/main" id="{18A32CC3-BBDE-D027-B752-8CB2D9E2A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F8B4535-F665-2746-CDE3-E0BF1E937588}"/>
              </a:ext>
            </a:extLst>
          </p:cNvPr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>
              <a:extLst>
                <a:ext uri="{FF2B5EF4-FFF2-40B4-BE49-F238E27FC236}">
                  <a16:creationId xmlns:a16="http://schemas.microsoft.com/office/drawing/2014/main" id="{DBAC8F9C-E557-FA06-87A2-CD40B2A2AD0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>
              <a:extLst>
                <a:ext uri="{FF2B5EF4-FFF2-40B4-BE49-F238E27FC236}">
                  <a16:creationId xmlns:a16="http://schemas.microsoft.com/office/drawing/2014/main" id="{59F087C0-842E-A639-490E-37B33ECAB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16DA54DC-66B0-A798-8AE4-642BB1738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E6429012-747F-9029-BB8A-2C7314774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879C25E2-714F-3416-0177-C171B2235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4B35CFD7-5269-55D3-183F-BDC4DE488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BED9CF6D-BED0-8A95-BB97-3A5486158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74A73CB8-C9BF-A1A8-B2CF-A4A9B8401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36D3CD9D-AC8C-EB4A-E701-06BBC001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E60FB2C9-8CD1-C67F-309C-B67BD5230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1FEC72C5-4A8B-A3C8-16B3-EEDDAFE82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>
            <a:extLst>
              <a:ext uri="{FF2B5EF4-FFF2-40B4-BE49-F238E27FC236}">
                <a16:creationId xmlns:a16="http://schemas.microsoft.com/office/drawing/2014/main" id="{6797AD06-53C4-8BC3-1136-48D01A5E6ADD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>
            <a:extLst>
              <a:ext uri="{FF2B5EF4-FFF2-40B4-BE49-F238E27FC236}">
                <a16:creationId xmlns:a16="http://schemas.microsoft.com/office/drawing/2014/main" id="{BEC44DA7-8778-505C-C233-98FF112E3044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2" name="TextBox 84">
            <a:extLst>
              <a:ext uri="{FF2B5EF4-FFF2-40B4-BE49-F238E27FC236}">
                <a16:creationId xmlns:a16="http://schemas.microsoft.com/office/drawing/2014/main" id="{42674401-C06A-9652-9E0F-B10545C3FA80}"/>
              </a:ext>
            </a:extLst>
          </p:cNvPr>
          <p:cNvSpPr txBox="1"/>
          <p:nvPr/>
        </p:nvSpPr>
        <p:spPr>
          <a:xfrm>
            <a:off x="6908794" y="4881983"/>
            <a:ext cx="3504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汇报人：邱盈钢    日期：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69664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介绍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654DB1-22FB-E092-C570-3735E9C22A42}"/>
              </a:ext>
            </a:extLst>
          </p:cNvPr>
          <p:cNvSpPr txBox="1"/>
          <p:nvPr/>
        </p:nvSpPr>
        <p:spPr>
          <a:xfrm>
            <a:off x="358113" y="839017"/>
            <a:ext cx="156447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chemeClr val="accent1"/>
                </a:solidFill>
                <a:effectLst/>
                <a:latin typeface="+mn-ea"/>
              </a:rPr>
              <a:t>模型融合</a:t>
            </a:r>
            <a:endParaRPr lang="en-US" altLang="zh-CN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6BF9D8-756D-976F-372B-C63D3032AEAE}"/>
              </a:ext>
            </a:extLst>
          </p:cNvPr>
          <p:cNvSpPr txBox="1"/>
          <p:nvPr/>
        </p:nvSpPr>
        <p:spPr>
          <a:xfrm>
            <a:off x="358113" y="1211997"/>
            <a:ext cx="1138563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i="0" dirty="0">
                <a:effectLst/>
                <a:latin typeface="+mn-ea"/>
              </a:rPr>
              <a:t>通过对模型权重参数进行操作，将多个能力不同的模型融合成一个模型</a:t>
            </a:r>
            <a:endParaRPr lang="en-US" altLang="zh-CN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A1AA904-55F4-C781-5185-CF646B6ACA2A}"/>
              </a:ext>
            </a:extLst>
          </p:cNvPr>
          <p:cNvSpPr txBox="1"/>
          <p:nvPr/>
        </p:nvSpPr>
        <p:spPr>
          <a:xfrm>
            <a:off x="346390" y="1608953"/>
            <a:ext cx="1138563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b="1" i="0" dirty="0">
                <a:solidFill>
                  <a:schemeClr val="accent1"/>
                </a:solidFill>
                <a:effectLst/>
                <a:latin typeface="+mn-ea"/>
              </a:rPr>
              <a:t>优点：</a:t>
            </a:r>
            <a:r>
              <a:rPr lang="en-US" altLang="zh-CN" i="0" dirty="0">
                <a:effectLst/>
                <a:latin typeface="+mn-ea"/>
              </a:rPr>
              <a:t>1.</a:t>
            </a:r>
            <a:r>
              <a:rPr lang="zh-CN" altLang="en-US" i="0" dirty="0">
                <a:effectLst/>
                <a:latin typeface="+mn-ea"/>
              </a:rPr>
              <a:t>压缩模型大小；</a:t>
            </a:r>
            <a:r>
              <a:rPr lang="en-US" altLang="zh-CN" i="0" dirty="0">
                <a:effectLst/>
                <a:latin typeface="+mn-ea"/>
              </a:rPr>
              <a:t>2.</a:t>
            </a:r>
            <a:r>
              <a:rPr lang="zh-CN" altLang="en-US" i="0" dirty="0">
                <a:effectLst/>
                <a:latin typeface="+mn-ea"/>
              </a:rPr>
              <a:t>充分利用已有的模型；</a:t>
            </a:r>
            <a:r>
              <a:rPr lang="en-US" altLang="zh-CN" i="0" dirty="0">
                <a:effectLst/>
                <a:latin typeface="+mn-ea"/>
              </a:rPr>
              <a:t>3.</a:t>
            </a:r>
            <a:r>
              <a:rPr lang="zh-CN" altLang="en-US" i="0" dirty="0">
                <a:effectLst/>
                <a:latin typeface="+mn-ea"/>
              </a:rPr>
              <a:t>可扩展性好</a:t>
            </a:r>
            <a:endParaRPr lang="en-US" altLang="zh-CN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2188CA-4FFA-A269-5AE1-0EE180B5CA70}"/>
              </a:ext>
            </a:extLst>
          </p:cNvPr>
          <p:cNvSpPr txBox="1"/>
          <p:nvPr/>
        </p:nvSpPr>
        <p:spPr>
          <a:xfrm>
            <a:off x="346390" y="2378889"/>
            <a:ext cx="156447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chemeClr val="accent1"/>
                </a:solidFill>
                <a:effectLst/>
                <a:latin typeface="+mn-ea"/>
              </a:rPr>
              <a:t>分类</a:t>
            </a:r>
            <a:endParaRPr lang="en-US" altLang="zh-CN" b="1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A3ACEFE8-961E-7A45-57EC-13FEEE7E044B}"/>
              </a:ext>
            </a:extLst>
          </p:cNvPr>
          <p:cNvGrpSpPr/>
          <p:nvPr/>
        </p:nvGrpSpPr>
        <p:grpSpPr>
          <a:xfrm>
            <a:off x="1136498" y="3086100"/>
            <a:ext cx="4959502" cy="3111328"/>
            <a:chOff x="1136498" y="2850873"/>
            <a:chExt cx="5418956" cy="332836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E139BDD-AE01-DDC5-3B31-F0F7B3E5BF2B}"/>
                </a:ext>
              </a:extLst>
            </p:cNvPr>
            <p:cNvSpPr/>
            <p:nvPr/>
          </p:nvSpPr>
          <p:spPr>
            <a:xfrm>
              <a:off x="1136498" y="4118545"/>
              <a:ext cx="1257800" cy="434897"/>
            </a:xfrm>
            <a:prstGeom prst="rect">
              <a:avLst/>
            </a:prstGeom>
            <a:solidFill>
              <a:srgbClr val="ED7D31"/>
            </a:solidFill>
            <a:ln w="12700" cap="flat" cmpd="sng" algn="ctr">
              <a:solidFill>
                <a:srgbClr val="ED7D31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模型融合</a:t>
              </a:r>
            </a:p>
          </p:txBody>
        </p:sp>
        <p:cxnSp>
          <p:nvCxnSpPr>
            <p:cNvPr id="30" name="连接符: 肘形 29">
              <a:extLst>
                <a:ext uri="{FF2B5EF4-FFF2-40B4-BE49-F238E27FC236}">
                  <a16:creationId xmlns:a16="http://schemas.microsoft.com/office/drawing/2014/main" id="{656EB837-4390-7E75-C0AC-38DCB8A247D7}"/>
                </a:ext>
              </a:extLst>
            </p:cNvPr>
            <p:cNvCxnSpPr>
              <a:cxnSpLocks/>
              <a:stCxn id="27" idx="3"/>
              <a:endCxn id="28" idx="1"/>
            </p:cNvCxnSpPr>
            <p:nvPr/>
          </p:nvCxnSpPr>
          <p:spPr>
            <a:xfrm flipV="1">
              <a:off x="2394298" y="3068323"/>
              <a:ext cx="689927" cy="126767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3512039-D0B9-E7D0-A5BD-4446A0C80FCC}"/>
                </a:ext>
              </a:extLst>
            </p:cNvPr>
            <p:cNvSpPr/>
            <p:nvPr/>
          </p:nvSpPr>
          <p:spPr>
            <a:xfrm>
              <a:off x="5208943" y="2850873"/>
              <a:ext cx="1346511" cy="434897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任务算术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FE446ED-3EDE-7CBF-6809-67A2E4CDCAC7}"/>
                </a:ext>
              </a:extLst>
            </p:cNvPr>
            <p:cNvSpPr/>
            <p:nvPr/>
          </p:nvSpPr>
          <p:spPr>
            <a:xfrm>
              <a:off x="3084225" y="2850874"/>
              <a:ext cx="1434791" cy="434897"/>
            </a:xfrm>
            <a:prstGeom prst="rect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基本方法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2F8FE94-B4C4-D427-723F-A7AD563C542A}"/>
                </a:ext>
              </a:extLst>
            </p:cNvPr>
            <p:cNvSpPr/>
            <p:nvPr/>
          </p:nvSpPr>
          <p:spPr>
            <a:xfrm>
              <a:off x="3084225" y="4118546"/>
              <a:ext cx="1434791" cy="434897"/>
            </a:xfrm>
            <a:prstGeom prst="rect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融合中方法</a:t>
              </a: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997BA16E-F8C7-5EDC-29EE-DF4D3FE92F8D}"/>
                </a:ext>
              </a:extLst>
            </p:cNvPr>
            <p:cNvSpPr/>
            <p:nvPr/>
          </p:nvSpPr>
          <p:spPr>
            <a:xfrm>
              <a:off x="3084225" y="5744339"/>
              <a:ext cx="1434791" cy="434897"/>
            </a:xfrm>
            <a:prstGeom prst="rect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融合前方法</a:t>
              </a:r>
            </a:p>
          </p:txBody>
        </p:sp>
        <p:cxnSp>
          <p:nvCxnSpPr>
            <p:cNvPr id="71" name="连接符: 肘形 70">
              <a:extLst>
                <a:ext uri="{FF2B5EF4-FFF2-40B4-BE49-F238E27FC236}">
                  <a16:creationId xmlns:a16="http://schemas.microsoft.com/office/drawing/2014/main" id="{71E5A7DD-7D72-ABF1-0EED-2AEA4DEC6C9A}"/>
                </a:ext>
              </a:extLst>
            </p:cNvPr>
            <p:cNvCxnSpPr>
              <a:cxnSpLocks/>
              <a:stCxn id="27" idx="3"/>
              <a:endCxn id="70" idx="1"/>
            </p:cNvCxnSpPr>
            <p:nvPr/>
          </p:nvCxnSpPr>
          <p:spPr>
            <a:xfrm>
              <a:off x="2394298" y="4335994"/>
              <a:ext cx="689927" cy="162579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C1B0ACC8-6F5C-E3EF-E878-AEF6D0F44303}"/>
                </a:ext>
              </a:extLst>
            </p:cNvPr>
            <p:cNvCxnSpPr>
              <a:cxnSpLocks/>
              <a:stCxn id="27" idx="3"/>
              <a:endCxn id="29" idx="1"/>
            </p:cNvCxnSpPr>
            <p:nvPr/>
          </p:nvCxnSpPr>
          <p:spPr>
            <a:xfrm>
              <a:off x="2394298" y="4335994"/>
              <a:ext cx="68992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连接符: 肘形 94">
              <a:extLst>
                <a:ext uri="{FF2B5EF4-FFF2-40B4-BE49-F238E27FC236}">
                  <a16:creationId xmlns:a16="http://schemas.microsoft.com/office/drawing/2014/main" id="{EB600089-8063-47DD-B142-B201D2C65DF4}"/>
                </a:ext>
              </a:extLst>
            </p:cNvPr>
            <p:cNvCxnSpPr>
              <a:cxnSpLocks/>
              <a:stCxn id="28" idx="3"/>
              <a:endCxn id="33" idx="1"/>
            </p:cNvCxnSpPr>
            <p:nvPr/>
          </p:nvCxnSpPr>
          <p:spPr>
            <a:xfrm flipV="1">
              <a:off x="4519016" y="3068322"/>
              <a:ext cx="689927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9CADC474-67C0-91A3-839A-ED7AD303890C}"/>
                </a:ext>
              </a:extLst>
            </p:cNvPr>
            <p:cNvSpPr/>
            <p:nvPr/>
          </p:nvSpPr>
          <p:spPr>
            <a:xfrm>
              <a:off x="5208943" y="5744337"/>
              <a:ext cx="1346511" cy="434897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架构对齐</a:t>
              </a:r>
            </a:p>
          </p:txBody>
        </p:sp>
        <p:cxnSp>
          <p:nvCxnSpPr>
            <p:cNvPr id="101" name="连接符: 肘形 100">
              <a:extLst>
                <a:ext uri="{FF2B5EF4-FFF2-40B4-BE49-F238E27FC236}">
                  <a16:creationId xmlns:a16="http://schemas.microsoft.com/office/drawing/2014/main" id="{F387D86F-CB5D-41DD-EAD4-9CCC5917713F}"/>
                </a:ext>
              </a:extLst>
            </p:cNvPr>
            <p:cNvCxnSpPr>
              <a:cxnSpLocks/>
              <a:stCxn id="70" idx="3"/>
              <a:endCxn id="100" idx="1"/>
            </p:cNvCxnSpPr>
            <p:nvPr/>
          </p:nvCxnSpPr>
          <p:spPr>
            <a:xfrm flipV="1">
              <a:off x="4519016" y="5961785"/>
              <a:ext cx="689927" cy="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F3889EAF-6EAE-69F8-EC2E-4A8242FA25C8}"/>
                </a:ext>
              </a:extLst>
            </p:cNvPr>
            <p:cNvSpPr/>
            <p:nvPr/>
          </p:nvSpPr>
          <p:spPr>
            <a:xfrm>
              <a:off x="5208943" y="3701051"/>
              <a:ext cx="1346511" cy="434897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b="1" kern="0" dirty="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rPr>
                <a:t>基于权重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78D1246B-756C-07C2-8776-A88449917AC7}"/>
                </a:ext>
              </a:extLst>
            </p:cNvPr>
            <p:cNvSpPr/>
            <p:nvPr/>
          </p:nvSpPr>
          <p:spPr>
            <a:xfrm>
              <a:off x="5208942" y="4533826"/>
              <a:ext cx="1346511" cy="434897"/>
            </a:xfrm>
            <a:prstGeom prst="rect">
              <a:avLst/>
            </a:prstGeom>
            <a:solidFill>
              <a:srgbClr val="70AD47"/>
            </a:solidFill>
            <a:ln w="12700" cap="flat" cmpd="sng" algn="ctr">
              <a:solidFill>
                <a:srgbClr val="70AD47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b="1" kern="0" dirty="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rPr>
                <a:t>基于子空间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18" name="连接符: 肘形 117">
              <a:extLst>
                <a:ext uri="{FF2B5EF4-FFF2-40B4-BE49-F238E27FC236}">
                  <a16:creationId xmlns:a16="http://schemas.microsoft.com/office/drawing/2014/main" id="{DAB43B26-E1B8-62B1-3D1E-7BD315FFD9F5}"/>
                </a:ext>
              </a:extLst>
            </p:cNvPr>
            <p:cNvCxnSpPr>
              <a:cxnSpLocks/>
              <a:stCxn id="29" idx="3"/>
              <a:endCxn id="111" idx="1"/>
            </p:cNvCxnSpPr>
            <p:nvPr/>
          </p:nvCxnSpPr>
          <p:spPr>
            <a:xfrm>
              <a:off x="4519016" y="4335994"/>
              <a:ext cx="689926" cy="41527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连接符: 肘形 118">
              <a:extLst>
                <a:ext uri="{FF2B5EF4-FFF2-40B4-BE49-F238E27FC236}">
                  <a16:creationId xmlns:a16="http://schemas.microsoft.com/office/drawing/2014/main" id="{ABF55DCB-0693-613E-E1D0-E10680636C97}"/>
                </a:ext>
              </a:extLst>
            </p:cNvPr>
            <p:cNvCxnSpPr>
              <a:cxnSpLocks/>
              <a:stCxn id="29" idx="3"/>
              <a:endCxn id="108" idx="1"/>
            </p:cNvCxnSpPr>
            <p:nvPr/>
          </p:nvCxnSpPr>
          <p:spPr>
            <a:xfrm flipV="1">
              <a:off x="4519016" y="3918500"/>
              <a:ext cx="689927" cy="41749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右大括号 170">
            <a:extLst>
              <a:ext uri="{FF2B5EF4-FFF2-40B4-BE49-F238E27FC236}">
                <a16:creationId xmlns:a16="http://schemas.microsoft.com/office/drawing/2014/main" id="{EBCB4A77-0819-4796-BE69-F12D6A7FB04C}"/>
              </a:ext>
            </a:extLst>
          </p:cNvPr>
          <p:cNvSpPr/>
          <p:nvPr/>
        </p:nvSpPr>
        <p:spPr>
          <a:xfrm>
            <a:off x="6203294" y="4084109"/>
            <a:ext cx="286018" cy="77847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DFC0EC00-1FC5-68F8-A96B-9178E218EE9B}"/>
              </a:ext>
            </a:extLst>
          </p:cNvPr>
          <p:cNvSpPr txBox="1"/>
          <p:nvPr/>
        </p:nvSpPr>
        <p:spPr>
          <a:xfrm>
            <a:off x="6515810" y="5646003"/>
            <a:ext cx="4789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50000"/>
              </a:lnSpc>
              <a:defRPr i="0">
                <a:effectLst/>
                <a:latin typeface="+mn-ea"/>
              </a:defRPr>
            </a:lvl2pPr>
          </a:lstStyle>
          <a:p>
            <a:r>
              <a:rPr lang="zh-CN" altLang="en-US" sz="1600" b="1" dirty="0"/>
              <a:t>在模型融合前，执行一些操作，使得其能够符合模型融合所需的条件</a:t>
            </a:r>
          </a:p>
        </p:txBody>
      </p:sp>
      <p:sp>
        <p:nvSpPr>
          <p:cNvPr id="176" name="右大括号 175">
            <a:extLst>
              <a:ext uri="{FF2B5EF4-FFF2-40B4-BE49-F238E27FC236}">
                <a16:creationId xmlns:a16="http://schemas.microsoft.com/office/drawing/2014/main" id="{4D5AA803-6EC9-A3E5-EF4D-36685C6D8E5A}"/>
              </a:ext>
            </a:extLst>
          </p:cNvPr>
          <p:cNvSpPr/>
          <p:nvPr/>
        </p:nvSpPr>
        <p:spPr>
          <a:xfrm>
            <a:off x="6229793" y="5789424"/>
            <a:ext cx="286018" cy="40653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0B1F9EF4-D3F3-83DC-8A5E-21D8D0F91007}"/>
              </a:ext>
            </a:extLst>
          </p:cNvPr>
          <p:cNvSpPr txBox="1"/>
          <p:nvPr/>
        </p:nvSpPr>
        <p:spPr>
          <a:xfrm>
            <a:off x="6515811" y="4180956"/>
            <a:ext cx="47895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2pPr lvl="1">
              <a:lnSpc>
                <a:spcPct val="150000"/>
              </a:lnSpc>
              <a:defRPr i="0">
                <a:effectLst/>
                <a:latin typeface="+mn-ea"/>
              </a:defRPr>
            </a:lvl2pPr>
          </a:lstStyle>
          <a:p>
            <a:r>
              <a:rPr lang="zh-CN" altLang="en-US" sz="1600" b="1" dirty="0"/>
              <a:t>在模型融合时，加入一些额外的操作来提升融合后的模型的性能</a:t>
            </a:r>
          </a:p>
        </p:txBody>
      </p:sp>
    </p:spTree>
    <p:extLst>
      <p:ext uri="{BB962C8B-B14F-4D97-AF65-F5344CB8AC3E}">
        <p14:creationId xmlns:p14="http://schemas.microsoft.com/office/powerpoint/2010/main" val="369138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2.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任务算术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654DB1-22FB-E092-C570-3735E9C22A42}"/>
              </a:ext>
            </a:extLst>
          </p:cNvPr>
          <p:cNvSpPr txBox="1"/>
          <p:nvPr/>
        </p:nvSpPr>
        <p:spPr>
          <a:xfrm>
            <a:off x="358113" y="839017"/>
            <a:ext cx="156447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chemeClr val="accent1"/>
                </a:solidFill>
                <a:effectLst/>
                <a:latin typeface="+mn-ea"/>
              </a:rPr>
              <a:t>任务向量</a:t>
            </a:r>
            <a:endParaRPr lang="en-US" altLang="zh-CN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2DB2105-BB5E-784B-2FA6-8CC7A3FFF805}"/>
              </a:ext>
            </a:extLst>
          </p:cNvPr>
          <p:cNvSpPr txBox="1"/>
          <p:nvPr/>
        </p:nvSpPr>
        <p:spPr>
          <a:xfrm>
            <a:off x="358113" y="1329305"/>
            <a:ext cx="10585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268F9C"/>
                </a:solidFill>
                <a:latin typeface="+mn-ea"/>
              </a:rPr>
              <a:t>      </a:t>
            </a:r>
            <a:r>
              <a:rPr lang="zh-CN" altLang="en-US" dirty="0">
                <a:latin typeface="+mn-ea"/>
              </a:rPr>
              <a:t>通过微调后的模型权重参数减去预训练模型的权重参数获得</a:t>
            </a:r>
            <a:r>
              <a:rPr lang="zh-CN" altLang="en-US" b="1" dirty="0">
                <a:solidFill>
                  <a:schemeClr val="accent4"/>
                </a:solidFill>
                <a:latin typeface="+mn-ea"/>
              </a:rPr>
              <a:t>任务向量</a:t>
            </a:r>
            <a:endParaRPr lang="en-US" altLang="zh-CN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9F9EFE-1565-F644-2AA8-75921831A5E4}"/>
              </a:ext>
            </a:extLst>
          </p:cNvPr>
          <p:cNvSpPr txBox="1"/>
          <p:nvPr/>
        </p:nvSpPr>
        <p:spPr>
          <a:xfrm>
            <a:off x="825811" y="2284288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+mn-ea"/>
              </a:rPr>
              <a:t>对任务向量进行算术运算来控制模型行为称为</a:t>
            </a:r>
            <a:r>
              <a:rPr lang="zh-CN" altLang="en-US" b="1" dirty="0">
                <a:solidFill>
                  <a:schemeClr val="accent4"/>
                </a:solidFill>
                <a:latin typeface="+mn-ea"/>
              </a:rPr>
              <a:t>任务算术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8104B4-5C88-2923-3608-C8315D921A9B}"/>
              </a:ext>
            </a:extLst>
          </p:cNvPr>
          <p:cNvSpPr txBox="1"/>
          <p:nvPr/>
        </p:nvSpPr>
        <p:spPr>
          <a:xfrm>
            <a:off x="358113" y="1730017"/>
            <a:ext cx="156447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chemeClr val="accent1"/>
                </a:solidFill>
                <a:effectLst/>
                <a:latin typeface="+mn-ea"/>
              </a:rPr>
              <a:t>任务算术</a:t>
            </a:r>
            <a:endParaRPr lang="en-US" altLang="zh-CN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DE4A09-AB03-F8C2-D8D0-9AA185D60183}"/>
              </a:ext>
            </a:extLst>
          </p:cNvPr>
          <p:cNvSpPr txBox="1"/>
          <p:nvPr/>
        </p:nvSpPr>
        <p:spPr>
          <a:xfrm>
            <a:off x="1527697" y="5257676"/>
            <a:ext cx="11905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任务向量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668158D-EA04-6DFE-5715-972CF0740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947" y="3302979"/>
            <a:ext cx="5961095" cy="180280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BA764F8-A605-8F53-375B-C16C50B6BE09}"/>
              </a:ext>
            </a:extLst>
          </p:cNvPr>
          <p:cNvSpPr txBox="1"/>
          <p:nvPr/>
        </p:nvSpPr>
        <p:spPr>
          <a:xfrm>
            <a:off x="3876741" y="5253905"/>
            <a:ext cx="11905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遗忘向量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7ACF4F-B5B6-F2ED-9AF7-0501FCEF5FCC}"/>
              </a:ext>
            </a:extLst>
          </p:cNvPr>
          <p:cNvSpPr txBox="1"/>
          <p:nvPr/>
        </p:nvSpPr>
        <p:spPr>
          <a:xfrm>
            <a:off x="6225785" y="5255872"/>
            <a:ext cx="11905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融合向量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7520204-FD86-E695-CCAB-E2A0DD32F3F0}"/>
              </a:ext>
            </a:extLst>
          </p:cNvPr>
          <p:cNvCxnSpPr>
            <a:cxnSpLocks/>
          </p:cNvCxnSpPr>
          <p:nvPr/>
        </p:nvCxnSpPr>
        <p:spPr>
          <a:xfrm>
            <a:off x="7751766" y="3375193"/>
            <a:ext cx="0" cy="1637689"/>
          </a:xfrm>
          <a:prstGeom prst="line">
            <a:avLst/>
          </a:prstGeom>
          <a:ln w="139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A56ADC9-CC7D-EC1C-379C-0DBAFD7CE48F}"/>
              </a:ext>
            </a:extLst>
          </p:cNvPr>
          <p:cNvGrpSpPr/>
          <p:nvPr/>
        </p:nvGrpSpPr>
        <p:grpSpPr>
          <a:xfrm>
            <a:off x="8248302" y="3501194"/>
            <a:ext cx="1670899" cy="1511688"/>
            <a:chOff x="8783187" y="3490389"/>
            <a:chExt cx="1952558" cy="177222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A9E5A2C-3C98-7FF9-6608-1F89C676B3F1}"/>
                </a:ext>
              </a:extLst>
            </p:cNvPr>
            <p:cNvSpPr/>
            <p:nvPr/>
          </p:nvSpPr>
          <p:spPr>
            <a:xfrm rot="21378359">
              <a:off x="8783187" y="4724399"/>
              <a:ext cx="288000" cy="288000"/>
            </a:xfrm>
            <a:prstGeom prst="ellipse">
              <a:avLst/>
            </a:prstGeom>
            <a:solidFill>
              <a:srgbClr val="EFEFEF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FCFF27C-7C4E-2C36-85FA-5F7F1D7A2422}"/>
                    </a:ext>
                  </a:extLst>
                </p:cNvPr>
                <p:cNvSpPr txBox="1"/>
                <p:nvPr/>
              </p:nvSpPr>
              <p:spPr>
                <a:xfrm>
                  <a:off x="8783187" y="4868399"/>
                  <a:ext cx="1190559" cy="394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pre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FCFF27C-7C4E-2C36-85FA-5F7F1D7A24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3187" y="4868399"/>
                  <a:ext cx="1190559" cy="394210"/>
                </a:xfrm>
                <a:prstGeom prst="rect">
                  <a:avLst/>
                </a:prstGeom>
                <a:blipFill>
                  <a:blip r:embed="rId4"/>
                  <a:stretch>
                    <a:fillRect b="-236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ED234B9-A4A5-B3CC-80E6-79AA2E33BA79}"/>
                </a:ext>
              </a:extLst>
            </p:cNvPr>
            <p:cNvSpPr/>
            <p:nvPr/>
          </p:nvSpPr>
          <p:spPr>
            <a:xfrm rot="21263254">
              <a:off x="9793212" y="3490389"/>
              <a:ext cx="288000" cy="288000"/>
            </a:xfrm>
            <a:prstGeom prst="ellipse">
              <a:avLst/>
            </a:prstGeom>
            <a:solidFill>
              <a:srgbClr val="EFEFEF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03BA456-2570-BBED-9702-6C3FD27098A0}"/>
                    </a:ext>
                  </a:extLst>
                </p:cNvPr>
                <p:cNvSpPr txBox="1"/>
                <p:nvPr/>
              </p:nvSpPr>
              <p:spPr>
                <a:xfrm>
                  <a:off x="9973745" y="3660568"/>
                  <a:ext cx="76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03BA456-2570-BBED-9702-6C3FD2709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3745" y="3660568"/>
                  <a:ext cx="762000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738" b="-134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5A24DD3-E1A8-D452-52B3-B55F3F4AA254}"/>
                </a:ext>
              </a:extLst>
            </p:cNvPr>
            <p:cNvCxnSpPr>
              <a:cxnSpLocks/>
              <a:stCxn id="9" idx="7"/>
              <a:endCxn id="11" idx="3"/>
            </p:cNvCxnSpPr>
            <p:nvPr/>
          </p:nvCxnSpPr>
          <p:spPr>
            <a:xfrm flipV="1">
              <a:off x="9022238" y="3745682"/>
              <a:ext cx="823597" cy="1014545"/>
            </a:xfrm>
            <a:prstGeom prst="straightConnector1">
              <a:avLst/>
            </a:prstGeom>
            <a:ln w="31750">
              <a:solidFill>
                <a:srgbClr val="3C79E4"/>
              </a:solidFill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55D94C7-5ECB-0ED8-57C6-212AF5428E38}"/>
                    </a:ext>
                  </a:extLst>
                </p:cNvPr>
                <p:cNvSpPr txBox="1"/>
                <p:nvPr/>
              </p:nvSpPr>
              <p:spPr>
                <a:xfrm>
                  <a:off x="9378466" y="4291055"/>
                  <a:ext cx="119055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55D94C7-5ECB-0ED8-57C6-212AF5428E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8466" y="4291055"/>
                  <a:ext cx="1190559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599" b="-134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F5162F1-FF2F-126F-54C3-B6B59A764F20}"/>
              </a:ext>
            </a:extLst>
          </p:cNvPr>
          <p:cNvSpPr txBox="1"/>
          <p:nvPr/>
        </p:nvSpPr>
        <p:spPr>
          <a:xfrm>
            <a:off x="8458205" y="5143397"/>
            <a:ext cx="1018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修改后的模型参数</a:t>
            </a:r>
          </a:p>
        </p:txBody>
      </p:sp>
    </p:spTree>
    <p:extLst>
      <p:ext uri="{BB962C8B-B14F-4D97-AF65-F5344CB8AC3E}">
        <p14:creationId xmlns:p14="http://schemas.microsoft.com/office/powerpoint/2010/main" val="389791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3.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融合中方法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D0567F-EB21-B814-E477-B8BED876418E}"/>
              </a:ext>
            </a:extLst>
          </p:cNvPr>
          <p:cNvSpPr txBox="1"/>
          <p:nvPr/>
        </p:nvSpPr>
        <p:spPr>
          <a:xfrm>
            <a:off x="358112" y="839017"/>
            <a:ext cx="202167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chemeClr val="accent1"/>
                </a:solidFill>
                <a:effectLst/>
                <a:latin typeface="+mn-ea"/>
              </a:rPr>
              <a:t>基于权重的方法</a:t>
            </a:r>
            <a:endParaRPr lang="en-US" altLang="zh-CN" b="1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F68F255-C9DA-72F8-29E1-A870B9E4212C}"/>
              </a:ext>
            </a:extLst>
          </p:cNvPr>
          <p:cNvGrpSpPr/>
          <p:nvPr/>
        </p:nvGrpSpPr>
        <p:grpSpPr>
          <a:xfrm>
            <a:off x="3723656" y="1885795"/>
            <a:ext cx="1433364" cy="965658"/>
            <a:chOff x="8783190" y="3660571"/>
            <a:chExt cx="1960995" cy="1360615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177596A-8A34-17C5-25DA-1B072E3F3B52}"/>
                </a:ext>
              </a:extLst>
            </p:cNvPr>
            <p:cNvSpPr/>
            <p:nvPr/>
          </p:nvSpPr>
          <p:spPr>
            <a:xfrm rot="21378359">
              <a:off x="8783190" y="4724401"/>
              <a:ext cx="288000" cy="288000"/>
            </a:xfrm>
            <a:prstGeom prst="ellipse">
              <a:avLst/>
            </a:prstGeom>
            <a:solidFill>
              <a:srgbClr val="EFEFEF"/>
            </a:solidFill>
            <a:ln w="2921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78E2D07-1BE9-E8A2-1C46-AE085C0FC51D}"/>
                    </a:ext>
                  </a:extLst>
                </p:cNvPr>
                <p:cNvSpPr txBox="1"/>
                <p:nvPr/>
              </p:nvSpPr>
              <p:spPr>
                <a:xfrm>
                  <a:off x="8892932" y="4626977"/>
                  <a:ext cx="1190559" cy="3942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pre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78E2D07-1BE9-E8A2-1C46-AE085C0FC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2932" y="4626977"/>
                  <a:ext cx="1190559" cy="394209"/>
                </a:xfrm>
                <a:prstGeom prst="rect">
                  <a:avLst/>
                </a:prstGeom>
                <a:blipFill>
                  <a:blip r:embed="rId3"/>
                  <a:stretch>
                    <a:fillRect b="-478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8DDE78E-718A-C1EF-76A3-414E5ADB579C}"/>
                </a:ext>
              </a:extLst>
            </p:cNvPr>
            <p:cNvSpPr/>
            <p:nvPr/>
          </p:nvSpPr>
          <p:spPr>
            <a:xfrm rot="21263254">
              <a:off x="9593539" y="3701235"/>
              <a:ext cx="288000" cy="288000"/>
            </a:xfrm>
            <a:prstGeom prst="ellipse">
              <a:avLst/>
            </a:prstGeom>
            <a:solidFill>
              <a:srgbClr val="EFEFEF"/>
            </a:solidFill>
            <a:ln w="2921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7F79D6F-0316-DFF3-9318-26D797469EB5}"/>
                    </a:ext>
                  </a:extLst>
                </p:cNvPr>
                <p:cNvSpPr txBox="1"/>
                <p:nvPr/>
              </p:nvSpPr>
              <p:spPr>
                <a:xfrm>
                  <a:off x="9973751" y="3660571"/>
                  <a:ext cx="7620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7F79D6F-0316-DFF3-9318-26D797469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3751" y="3660571"/>
                  <a:ext cx="76200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3187" b="-372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6A54D290-7F2F-4855-3F9C-84716B776CA9}"/>
                </a:ext>
              </a:extLst>
            </p:cNvPr>
            <p:cNvCxnSpPr>
              <a:cxnSpLocks/>
              <a:stCxn id="20" idx="7"/>
              <a:endCxn id="22" idx="3"/>
            </p:cNvCxnSpPr>
            <p:nvPr/>
          </p:nvCxnSpPr>
          <p:spPr>
            <a:xfrm flipV="1">
              <a:off x="9022428" y="3956825"/>
              <a:ext cx="623439" cy="803206"/>
            </a:xfrm>
            <a:prstGeom prst="straightConnector1">
              <a:avLst/>
            </a:prstGeom>
            <a:ln w="34925">
              <a:solidFill>
                <a:srgbClr val="3C79E4"/>
              </a:solidFill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C9B9EB1-1D47-9BE2-704B-0603AB1E8797}"/>
                    </a:ext>
                  </a:extLst>
                </p:cNvPr>
                <p:cNvSpPr txBox="1"/>
                <p:nvPr/>
              </p:nvSpPr>
              <p:spPr>
                <a:xfrm>
                  <a:off x="9334147" y="4211259"/>
                  <a:ext cx="1410038" cy="5203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C9B9EB1-1D47-9BE2-704B-0603AB1E8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4147" y="4211259"/>
                  <a:ext cx="1410038" cy="52039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62B4BB1-47DF-685A-236F-9F47B3517219}"/>
              </a:ext>
            </a:extLst>
          </p:cNvPr>
          <p:cNvCxnSpPr>
            <a:cxnSpLocks/>
          </p:cNvCxnSpPr>
          <p:nvPr/>
        </p:nvCxnSpPr>
        <p:spPr>
          <a:xfrm>
            <a:off x="5566387" y="1576140"/>
            <a:ext cx="0" cy="1421703"/>
          </a:xfrm>
          <a:prstGeom prst="line">
            <a:avLst/>
          </a:prstGeom>
          <a:ln w="1397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C4DAEAE6-0A9D-A411-8E7A-25B586064EE3}"/>
              </a:ext>
            </a:extLst>
          </p:cNvPr>
          <p:cNvGrpSpPr/>
          <p:nvPr/>
        </p:nvGrpSpPr>
        <p:grpSpPr>
          <a:xfrm>
            <a:off x="1083136" y="1494503"/>
            <a:ext cx="2231153" cy="1356950"/>
            <a:chOff x="1083136" y="1494503"/>
            <a:chExt cx="2231153" cy="13569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7B8CF6FB-6E9F-AE3D-0531-32D35A13230C}"/>
                    </a:ext>
                  </a:extLst>
                </p:cNvPr>
                <p:cNvSpPr txBox="1"/>
                <p:nvPr/>
              </p:nvSpPr>
              <p:spPr>
                <a:xfrm>
                  <a:off x="1083136" y="2089250"/>
                  <a:ext cx="87022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7B8CF6FB-6E9F-AE3D-0531-32D35A132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136" y="2089250"/>
                  <a:ext cx="870224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7ABB3D5D-C640-1784-C8A6-5E11B1C42CFB}"/>
                </a:ext>
              </a:extLst>
            </p:cNvPr>
            <p:cNvGrpSpPr/>
            <p:nvPr/>
          </p:nvGrpSpPr>
          <p:grpSpPr>
            <a:xfrm>
              <a:off x="1658014" y="1494503"/>
              <a:ext cx="1656275" cy="1356950"/>
              <a:chOff x="883658" y="1494503"/>
              <a:chExt cx="1656275" cy="1356950"/>
            </a:xfrm>
          </p:grpSpPr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E8FD3E89-570A-D9E5-B58E-DE3A245BC4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8528" y="1791124"/>
                <a:ext cx="708603" cy="161970"/>
              </a:xfrm>
              <a:prstGeom prst="straightConnector1">
                <a:avLst/>
              </a:prstGeom>
              <a:ln w="34925">
                <a:solidFill>
                  <a:srgbClr val="FFC000">
                    <a:alpha val="50000"/>
                  </a:srgbClr>
                </a:solidFill>
                <a:prstDash val="dash"/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8858B9B0-36D7-7022-F016-1F640436AEA1}"/>
                  </a:ext>
                </a:extLst>
              </p:cNvPr>
              <p:cNvCxnSpPr>
                <a:cxnSpLocks/>
                <a:stCxn id="31" idx="7"/>
              </p:cNvCxnSpPr>
              <p:nvPr/>
            </p:nvCxnSpPr>
            <p:spPr>
              <a:xfrm flipV="1">
                <a:off x="1058529" y="1750935"/>
                <a:ext cx="755350" cy="875663"/>
              </a:xfrm>
              <a:prstGeom prst="straightConnector1">
                <a:avLst/>
              </a:prstGeom>
              <a:ln w="34925">
                <a:solidFill>
                  <a:srgbClr val="3C79E4"/>
                </a:solidFill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9CE764E9-A38C-44E1-9DD2-F8B8C89B2505}"/>
                  </a:ext>
                </a:extLst>
              </p:cNvPr>
              <p:cNvCxnSpPr>
                <a:cxnSpLocks/>
                <a:stCxn id="31" idx="7"/>
              </p:cNvCxnSpPr>
              <p:nvPr/>
            </p:nvCxnSpPr>
            <p:spPr>
              <a:xfrm flipV="1">
                <a:off x="1058529" y="1939570"/>
                <a:ext cx="0" cy="687028"/>
              </a:xfrm>
              <a:prstGeom prst="straightConnector1">
                <a:avLst/>
              </a:prstGeom>
              <a:ln w="34925">
                <a:solidFill>
                  <a:srgbClr val="1AE43C"/>
                </a:solidFill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E0EEDECA-D927-9CFD-66B0-0185C4E983FB}"/>
                  </a:ext>
                </a:extLst>
              </p:cNvPr>
              <p:cNvCxnSpPr>
                <a:cxnSpLocks/>
                <a:stCxn id="31" idx="7"/>
              </p:cNvCxnSpPr>
              <p:nvPr/>
            </p:nvCxnSpPr>
            <p:spPr>
              <a:xfrm flipV="1">
                <a:off x="1058529" y="2446293"/>
                <a:ext cx="751097" cy="180305"/>
              </a:xfrm>
              <a:prstGeom prst="straightConnector1">
                <a:avLst/>
              </a:prstGeom>
              <a:ln w="34925">
                <a:solidFill>
                  <a:srgbClr val="FFC000"/>
                </a:solidFill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2B44EF49-C8FE-1D7E-14C7-D801CC201B68}"/>
                  </a:ext>
                </a:extLst>
              </p:cNvPr>
              <p:cNvSpPr/>
              <p:nvPr/>
            </p:nvSpPr>
            <p:spPr>
              <a:xfrm rot="21378359">
                <a:off x="883658" y="2601309"/>
                <a:ext cx="210510" cy="204400"/>
              </a:xfrm>
              <a:prstGeom prst="ellipse">
                <a:avLst/>
              </a:prstGeom>
              <a:solidFill>
                <a:srgbClr val="EFEFEF"/>
              </a:solidFill>
              <a:ln w="2921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7943990B-C2D8-EA12-1BDB-8BE5041FE0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213" y="1750935"/>
                <a:ext cx="0" cy="695358"/>
              </a:xfrm>
              <a:prstGeom prst="straightConnector1">
                <a:avLst/>
              </a:prstGeom>
              <a:ln w="34925">
                <a:solidFill>
                  <a:srgbClr val="1AE43C">
                    <a:alpha val="50000"/>
                  </a:srgbClr>
                </a:solidFill>
                <a:prstDash val="dash"/>
                <a:headEnd type="none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3C9BDCD3-5D9C-C319-2DF3-2CEE4E7AFCFA}"/>
                      </a:ext>
                    </a:extLst>
                  </p:cNvPr>
                  <p:cNvSpPr txBox="1"/>
                  <p:nvPr/>
                </p:nvSpPr>
                <p:spPr>
                  <a:xfrm>
                    <a:off x="1066823" y="2482121"/>
                    <a:ext cx="87022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3C9BDCD3-5D9C-C319-2DF3-2CEE4E7AFC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6823" y="2482121"/>
                    <a:ext cx="870224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4EA2A53F-3EF3-0F79-ACE6-1AE6296C16B5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709" y="1494503"/>
                    <a:ext cx="870224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new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4EA2A53F-3EF3-0F79-ACE6-1AE6296C16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9709" y="1494503"/>
                    <a:ext cx="870224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A02BB778-99E6-57D8-B0DB-C3449D4F1594}"/>
              </a:ext>
            </a:extLst>
          </p:cNvPr>
          <p:cNvGrpSpPr/>
          <p:nvPr/>
        </p:nvGrpSpPr>
        <p:grpSpPr>
          <a:xfrm>
            <a:off x="5975754" y="1758320"/>
            <a:ext cx="2364883" cy="1284369"/>
            <a:chOff x="4834050" y="1734952"/>
            <a:chExt cx="2364883" cy="1284369"/>
          </a:xfrm>
        </p:grpSpPr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400E96CA-84AC-E883-D11A-478813D9C92D}"/>
                </a:ext>
              </a:extLst>
            </p:cNvPr>
            <p:cNvCxnSpPr>
              <a:cxnSpLocks/>
              <a:stCxn id="94" idx="7"/>
            </p:cNvCxnSpPr>
            <p:nvPr/>
          </p:nvCxnSpPr>
          <p:spPr>
            <a:xfrm flipV="1">
              <a:off x="5739502" y="2429388"/>
              <a:ext cx="1003129" cy="219586"/>
            </a:xfrm>
            <a:prstGeom prst="straightConnector1">
              <a:avLst/>
            </a:prstGeom>
            <a:ln w="34925">
              <a:solidFill>
                <a:srgbClr val="FFC000">
                  <a:alpha val="53000"/>
                </a:srgbClr>
              </a:solidFill>
              <a:prstDash val="dash"/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2026914D-4C28-7187-8ADA-BA994E6BEC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4299" y="2085970"/>
              <a:ext cx="586383" cy="129118"/>
            </a:xfrm>
            <a:prstGeom prst="straightConnector1">
              <a:avLst/>
            </a:prstGeom>
            <a:ln w="34925">
              <a:solidFill>
                <a:srgbClr val="FFC000">
                  <a:alpha val="50000"/>
                </a:srgbClr>
              </a:solidFill>
              <a:prstDash val="dash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0F764077-AF9B-C36A-2CD8-F663A81BB32C}"/>
                </a:ext>
              </a:extLst>
            </p:cNvPr>
            <p:cNvCxnSpPr>
              <a:cxnSpLocks/>
              <a:stCxn id="94" idx="7"/>
            </p:cNvCxnSpPr>
            <p:nvPr/>
          </p:nvCxnSpPr>
          <p:spPr>
            <a:xfrm flipV="1">
              <a:off x="5739502" y="2085970"/>
              <a:ext cx="655198" cy="563004"/>
            </a:xfrm>
            <a:prstGeom prst="straightConnector1">
              <a:avLst/>
            </a:prstGeom>
            <a:ln w="34925">
              <a:solidFill>
                <a:srgbClr val="3C79E4"/>
              </a:solidFill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324C4B1A-1018-B575-7234-4B7B5FCFB636}"/>
                </a:ext>
              </a:extLst>
            </p:cNvPr>
            <p:cNvCxnSpPr>
              <a:cxnSpLocks/>
              <a:stCxn id="94" idx="7"/>
            </p:cNvCxnSpPr>
            <p:nvPr/>
          </p:nvCxnSpPr>
          <p:spPr>
            <a:xfrm flipV="1">
              <a:off x="5739502" y="2211142"/>
              <a:ext cx="0" cy="437832"/>
            </a:xfrm>
            <a:prstGeom prst="straightConnector1">
              <a:avLst/>
            </a:prstGeom>
            <a:ln w="34925">
              <a:solidFill>
                <a:srgbClr val="1AE43C"/>
              </a:solidFill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0E87A571-571A-D0CD-911E-D4F84737CC8A}"/>
                </a:ext>
              </a:extLst>
            </p:cNvPr>
            <p:cNvCxnSpPr>
              <a:cxnSpLocks/>
              <a:stCxn id="94" idx="7"/>
            </p:cNvCxnSpPr>
            <p:nvPr/>
          </p:nvCxnSpPr>
          <p:spPr>
            <a:xfrm flipV="1">
              <a:off x="5739502" y="2507590"/>
              <a:ext cx="683254" cy="141384"/>
            </a:xfrm>
            <a:prstGeom prst="straightConnector1">
              <a:avLst/>
            </a:prstGeom>
            <a:ln w="34925">
              <a:solidFill>
                <a:srgbClr val="FFC000"/>
              </a:solidFill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F8136CF7-0F72-49F9-7A71-1BAD267FDF7D}"/>
                </a:ext>
              </a:extLst>
            </p:cNvPr>
            <p:cNvSpPr/>
            <p:nvPr/>
          </p:nvSpPr>
          <p:spPr>
            <a:xfrm rot="21378359">
              <a:off x="5564631" y="2623685"/>
              <a:ext cx="210510" cy="204400"/>
            </a:xfrm>
            <a:prstGeom prst="ellipse">
              <a:avLst/>
            </a:prstGeom>
            <a:solidFill>
              <a:srgbClr val="EFEFEF"/>
            </a:solidFill>
            <a:ln w="2921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865E9D52-C7B2-092C-9A9F-F385D62496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255" y="2108269"/>
              <a:ext cx="16241" cy="357885"/>
            </a:xfrm>
            <a:prstGeom prst="straightConnector1">
              <a:avLst/>
            </a:prstGeom>
            <a:ln w="34925">
              <a:solidFill>
                <a:srgbClr val="1AE43C">
                  <a:alpha val="50000"/>
                </a:srgbClr>
              </a:solidFill>
              <a:prstDash val="dash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A2976F10-24F8-ED1E-F098-991B1DBFCAA3}"/>
                    </a:ext>
                  </a:extLst>
                </p:cNvPr>
                <p:cNvSpPr txBox="1"/>
                <p:nvPr/>
              </p:nvSpPr>
              <p:spPr>
                <a:xfrm>
                  <a:off x="5880751" y="2649989"/>
                  <a:ext cx="91606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A2976F10-24F8-ED1E-F098-991B1DBFC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0751" y="2649989"/>
                  <a:ext cx="916065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947F869F-28C1-695D-AF94-6C40F592E497}"/>
                    </a:ext>
                  </a:extLst>
                </p:cNvPr>
                <p:cNvSpPr txBox="1"/>
                <p:nvPr/>
              </p:nvSpPr>
              <p:spPr>
                <a:xfrm>
                  <a:off x="4834050" y="2236981"/>
                  <a:ext cx="102398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947F869F-28C1-695D-AF94-6C40F592E4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4050" y="2236981"/>
                  <a:ext cx="1023984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6D4E7A81-B7FC-3E80-D9E3-CB13B5C4C2C1}"/>
                    </a:ext>
                  </a:extLst>
                </p:cNvPr>
                <p:cNvSpPr txBox="1"/>
                <p:nvPr/>
              </p:nvSpPr>
              <p:spPr>
                <a:xfrm>
                  <a:off x="6328709" y="1734952"/>
                  <a:ext cx="87022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6D4E7A81-B7FC-3E80-D9E3-CB13B5C4C2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8709" y="1734952"/>
                  <a:ext cx="87022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DC3F1DF9-9989-34E8-1B00-D53F6ECE0B2A}"/>
                </a:ext>
              </a:extLst>
            </p:cNvPr>
            <p:cNvCxnSpPr>
              <a:cxnSpLocks/>
              <a:stCxn id="94" idx="7"/>
            </p:cNvCxnSpPr>
            <p:nvPr/>
          </p:nvCxnSpPr>
          <p:spPr>
            <a:xfrm flipV="1">
              <a:off x="5739502" y="1773311"/>
              <a:ext cx="24797" cy="875663"/>
            </a:xfrm>
            <a:prstGeom prst="straightConnector1">
              <a:avLst/>
            </a:prstGeom>
            <a:ln w="34925">
              <a:solidFill>
                <a:srgbClr val="1AE43C">
                  <a:alpha val="50000"/>
                </a:srgbClr>
              </a:solidFill>
              <a:prstDash val="dash"/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DE15163C-1D5B-0654-0490-B5D2B0632706}"/>
              </a:ext>
            </a:extLst>
          </p:cNvPr>
          <p:cNvGrpSpPr/>
          <p:nvPr/>
        </p:nvGrpSpPr>
        <p:grpSpPr>
          <a:xfrm>
            <a:off x="8750003" y="1851998"/>
            <a:ext cx="1651539" cy="1029431"/>
            <a:chOff x="7631289" y="1888406"/>
            <a:chExt cx="1651539" cy="1029431"/>
          </a:xfrm>
        </p:grpSpPr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630E7DB7-0763-C1C2-6001-080FE0F30E3A}"/>
                </a:ext>
              </a:extLst>
            </p:cNvPr>
            <p:cNvSpPr/>
            <p:nvPr/>
          </p:nvSpPr>
          <p:spPr>
            <a:xfrm rot="21378359">
              <a:off x="7631289" y="2601168"/>
              <a:ext cx="210510" cy="204400"/>
            </a:xfrm>
            <a:prstGeom prst="ellipse">
              <a:avLst/>
            </a:prstGeom>
            <a:solidFill>
              <a:srgbClr val="EFEFEF"/>
            </a:solidFill>
            <a:ln w="2921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EDFC525B-F564-5C13-48A6-921F064F870B}"/>
                    </a:ext>
                  </a:extLst>
                </p:cNvPr>
                <p:cNvSpPr txBox="1"/>
                <p:nvPr/>
              </p:nvSpPr>
              <p:spPr>
                <a:xfrm>
                  <a:off x="7738181" y="2638058"/>
                  <a:ext cx="870224" cy="2797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pre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EDFC525B-F564-5C13-48A6-921F064F87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8181" y="2638058"/>
                  <a:ext cx="870224" cy="279779"/>
                </a:xfrm>
                <a:prstGeom prst="rect">
                  <a:avLst/>
                </a:prstGeom>
                <a:blipFill>
                  <a:blip r:embed="rId12"/>
                  <a:stretch>
                    <a:fillRect b="-478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89B5993C-1976-9CE4-9553-2685069827B6}"/>
                </a:ext>
              </a:extLst>
            </p:cNvPr>
            <p:cNvSpPr/>
            <p:nvPr/>
          </p:nvSpPr>
          <p:spPr>
            <a:xfrm rot="806902">
              <a:off x="8298579" y="2039340"/>
              <a:ext cx="210510" cy="204400"/>
            </a:xfrm>
            <a:prstGeom prst="ellipse">
              <a:avLst/>
            </a:prstGeom>
            <a:solidFill>
              <a:srgbClr val="EFEFEF"/>
            </a:solidFill>
            <a:ln w="2921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3892304B-0005-9F60-465B-71803E41CF8D}"/>
                    </a:ext>
                  </a:extLst>
                </p:cNvPr>
                <p:cNvSpPr txBox="1"/>
                <p:nvPr/>
              </p:nvSpPr>
              <p:spPr>
                <a:xfrm>
                  <a:off x="8725854" y="1888406"/>
                  <a:ext cx="556974" cy="2621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3892304B-0005-9F60-465B-71803E41C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5854" y="1888406"/>
                  <a:ext cx="556974" cy="262123"/>
                </a:xfrm>
                <a:prstGeom prst="rect">
                  <a:avLst/>
                </a:prstGeom>
                <a:blipFill>
                  <a:blip r:embed="rId13"/>
                  <a:stretch>
                    <a:fillRect l="-13187" b="-372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2192610B-504D-90BD-6B2A-4EFE6C006BC5}"/>
                </a:ext>
              </a:extLst>
            </p:cNvPr>
            <p:cNvCxnSpPr>
              <a:cxnSpLocks/>
              <a:stCxn id="138" idx="7"/>
              <a:endCxn id="141" idx="3"/>
            </p:cNvCxnSpPr>
            <p:nvPr/>
          </p:nvCxnSpPr>
          <p:spPr>
            <a:xfrm flipV="1">
              <a:off x="7806160" y="2194515"/>
              <a:ext cx="508481" cy="431942"/>
            </a:xfrm>
            <a:prstGeom prst="straightConnector1">
              <a:avLst/>
            </a:prstGeom>
            <a:ln w="34925">
              <a:solidFill>
                <a:srgbClr val="3C79E4"/>
              </a:solidFill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7DC9B256-AEC2-5F5F-FE28-D997CC4F5061}"/>
                    </a:ext>
                  </a:extLst>
                </p:cNvPr>
                <p:cNvSpPr txBox="1"/>
                <p:nvPr/>
              </p:nvSpPr>
              <p:spPr>
                <a:xfrm>
                  <a:off x="7873757" y="2341264"/>
                  <a:ext cx="103064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7DC9B256-AEC2-5F5F-FE28-D997CC4F50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3757" y="2341264"/>
                  <a:ext cx="103064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9" name="文本框 158">
            <a:extLst>
              <a:ext uri="{FF2B5EF4-FFF2-40B4-BE49-F238E27FC236}">
                <a16:creationId xmlns:a16="http://schemas.microsoft.com/office/drawing/2014/main" id="{617BECE0-7EBA-2A00-D078-9EF73C7E3D16}"/>
              </a:ext>
            </a:extLst>
          </p:cNvPr>
          <p:cNvSpPr txBox="1"/>
          <p:nvPr/>
        </p:nvSpPr>
        <p:spPr>
          <a:xfrm>
            <a:off x="2332546" y="3490059"/>
            <a:ext cx="2021673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latin typeface="+mn-ea"/>
              </a:rPr>
              <a:t>暴力搜索</a:t>
            </a:r>
            <a:endParaRPr lang="en-US" altLang="zh-CN" sz="1400" b="1" dirty="0">
              <a:latin typeface="+mn-ea"/>
            </a:endParaRPr>
          </a:p>
        </p:txBody>
      </p:sp>
      <p:pic>
        <p:nvPicPr>
          <p:cNvPr id="160" name="图片 159">
            <a:extLst>
              <a:ext uri="{FF2B5EF4-FFF2-40B4-BE49-F238E27FC236}">
                <a16:creationId xmlns:a16="http://schemas.microsoft.com/office/drawing/2014/main" id="{09EC00EE-46C0-D88D-FF40-F9219058DB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2884" y="3904981"/>
            <a:ext cx="2697383" cy="2606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FE2DF61F-EA1A-5235-1EFE-6FCD77320AB6}"/>
                  </a:ext>
                </a:extLst>
              </p:cNvPr>
              <p:cNvSpPr txBox="1"/>
              <p:nvPr/>
            </p:nvSpPr>
            <p:spPr>
              <a:xfrm>
                <a:off x="4731331" y="4352221"/>
                <a:ext cx="6414378" cy="1526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zh-CN" altLang="en-US" sz="1600" dirty="0">
                    <a:latin typeface="+mn-ea"/>
                  </a:rPr>
                  <a:t>暴力搜索代价太大</a:t>
                </a:r>
                <a:endParaRPr lang="en-US" altLang="zh-CN" sz="1600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zh-CN" altLang="en-US" sz="1600" dirty="0">
                    <a:latin typeface="+mn-ea"/>
                  </a:rPr>
                  <a:t>通过数学推导，得出融合系数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1600" dirty="0">
                    <a:latin typeface="+mn-ea"/>
                  </a:rPr>
                  <a:t> </a:t>
                </a:r>
                <a:r>
                  <a:rPr lang="zh-CN" altLang="en-US" sz="1600" dirty="0">
                    <a:latin typeface="+mn-ea"/>
                  </a:rPr>
                  <a:t>的解</a:t>
                </a:r>
                <a:endParaRPr lang="en-US" altLang="zh-CN" sz="1600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zh-CN" altLang="en-US" sz="1600" dirty="0">
                    <a:latin typeface="+mn-ea"/>
                  </a:rPr>
                  <a:t>将融合系数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1600" dirty="0">
                    <a:latin typeface="+mn-ea"/>
                  </a:rPr>
                  <a:t> 视为可训练参数，通过深度学习自适应的学习最佳的融合系数</a:t>
                </a:r>
                <a:endParaRPr lang="en-US" altLang="zh-CN" sz="1600" dirty="0">
                  <a:latin typeface="+mn-ea"/>
                </a:endParaRPr>
              </a:p>
            </p:txBody>
          </p:sp>
        </mc:Choice>
        <mc:Fallback xmlns="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FE2DF61F-EA1A-5235-1EFE-6FCD77320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331" y="4352221"/>
                <a:ext cx="6414378" cy="1526187"/>
              </a:xfrm>
              <a:prstGeom prst="rect">
                <a:avLst/>
              </a:prstGeom>
              <a:blipFill>
                <a:blip r:embed="rId16"/>
                <a:stretch>
                  <a:fillRect l="-665" b="-4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98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3.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融合中方法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D0567F-EB21-B814-E477-B8BED876418E}"/>
              </a:ext>
            </a:extLst>
          </p:cNvPr>
          <p:cNvSpPr txBox="1"/>
          <p:nvPr/>
        </p:nvSpPr>
        <p:spPr>
          <a:xfrm>
            <a:off x="358112" y="839017"/>
            <a:ext cx="202167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chemeClr val="accent1"/>
                </a:solidFill>
                <a:effectLst/>
                <a:latin typeface="+mn-ea"/>
              </a:rPr>
              <a:t>基于子空间的方法</a:t>
            </a:r>
            <a:endParaRPr lang="en-US" altLang="zh-CN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6B9BEF-4787-8971-0EC5-8CC95BD8A6F9}"/>
              </a:ext>
            </a:extLst>
          </p:cNvPr>
          <p:cNvSpPr txBox="1"/>
          <p:nvPr/>
        </p:nvSpPr>
        <p:spPr>
          <a:xfrm>
            <a:off x="676722" y="1315690"/>
            <a:ext cx="1004143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dirty="0">
                <a:latin typeface="+mn-ea"/>
              </a:rPr>
              <a:t>在任务算术中，并没有考虑参数之间的干扰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参数冗余：一些参数再微调时只有些许改变，对性能影响不大，但对模型合并会造成较大影响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符号冲突：不同模型在同一参数上可能符号不同，这是直接合并会缩小该参数的大小，对模型的性能造成影响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4A3D58-AA1B-410E-AFF5-8ED077FE1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920" y="3429000"/>
            <a:ext cx="4323739" cy="265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0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F0209E55-BFC8-7933-20EB-3445FA935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115" y="1297925"/>
            <a:ext cx="5539467" cy="3277791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4.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融合前方法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D0567F-EB21-B814-E477-B8BED876418E}"/>
              </a:ext>
            </a:extLst>
          </p:cNvPr>
          <p:cNvSpPr txBox="1"/>
          <p:nvPr/>
        </p:nvSpPr>
        <p:spPr>
          <a:xfrm>
            <a:off x="358112" y="839017"/>
            <a:ext cx="202167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chemeClr val="accent1"/>
                </a:solidFill>
                <a:effectLst/>
                <a:latin typeface="+mn-ea"/>
              </a:rPr>
              <a:t>架构对齐</a:t>
            </a:r>
            <a:endParaRPr lang="en-US" altLang="zh-CN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2EDB3C-CD51-9AB4-73C2-E737F2975BDB}"/>
              </a:ext>
            </a:extLst>
          </p:cNvPr>
          <p:cNvSpPr txBox="1"/>
          <p:nvPr/>
        </p:nvSpPr>
        <p:spPr>
          <a:xfrm>
            <a:off x="724172" y="1466161"/>
            <a:ext cx="436868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不同功能模型有不同架构，就算架构一样，直接平均模型的参数，其输出也往往没有意义</a:t>
            </a:r>
            <a:endParaRPr lang="en-US" altLang="zh-CN" dirty="0">
              <a:latin typeface="+mn-ea"/>
            </a:endParaRP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类似于</a:t>
            </a:r>
            <a:r>
              <a:rPr lang="zh-CN" altLang="en-US" b="1" dirty="0">
                <a:latin typeface="+mn-ea"/>
              </a:rPr>
              <a:t>蒸馏</a:t>
            </a:r>
            <a:r>
              <a:rPr lang="zh-CN" altLang="en-US" dirty="0">
                <a:latin typeface="+mn-ea"/>
              </a:rPr>
              <a:t>，选出一个</a:t>
            </a:r>
            <a:r>
              <a:rPr lang="zh-CN" altLang="en-US" b="1" dirty="0">
                <a:latin typeface="+mn-ea"/>
              </a:rPr>
              <a:t>跟模型</a:t>
            </a:r>
            <a:r>
              <a:rPr lang="zh-CN" altLang="en-US" dirty="0">
                <a:latin typeface="+mn-ea"/>
              </a:rPr>
              <a:t>，作为微调的初始化模型，其它模型通过将</a:t>
            </a:r>
            <a:r>
              <a:rPr lang="zh-CN" altLang="en-US" b="1" dirty="0">
                <a:latin typeface="+mn-ea"/>
              </a:rPr>
              <a:t>自己的输出作为跟模型训练目标</a:t>
            </a:r>
            <a:r>
              <a:rPr lang="zh-CN" altLang="en-US" dirty="0">
                <a:latin typeface="+mn-ea"/>
              </a:rPr>
              <a:t>，向跟模型的架构对齐</a:t>
            </a:r>
            <a:endParaRPr lang="en-US" altLang="zh-CN" dirty="0">
              <a:latin typeface="+mn-ea"/>
            </a:endParaRP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最后利用融合中的方法，对模型进行融合获得最终模型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B87DB6-B5F7-E29B-5DC9-FFDB648CA10A}"/>
              </a:ext>
            </a:extLst>
          </p:cNvPr>
          <p:cNvSpPr/>
          <p:nvPr/>
        </p:nvSpPr>
        <p:spPr>
          <a:xfrm>
            <a:off x="6451076" y="2936820"/>
            <a:ext cx="895851" cy="79865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475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/>
          <p:cNvSpPr txBox="1"/>
          <p:nvPr/>
        </p:nvSpPr>
        <p:spPr>
          <a:xfrm>
            <a:off x="6625590" y="2456034"/>
            <a:ext cx="3696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3600" dirty="0">
                <a:latin typeface="Lato" panose="020F0502020204030203" pitchFamily="34" charset="0"/>
                <a:ea typeface="+mj-ea"/>
              </a:rPr>
              <a:t>谢谢聆听</a:t>
            </a:r>
            <a:endParaRPr lang="en-US" altLang="zh-CN" sz="3600" dirty="0">
              <a:latin typeface="Lato" panose="020F0502020204030203" pitchFamily="34" charset="0"/>
              <a:ea typeface="+mj-ea"/>
            </a:endParaRPr>
          </a:p>
          <a:p>
            <a:pPr lvl="0" algn="ctr">
              <a:defRPr/>
            </a:pPr>
            <a:r>
              <a:rPr lang="zh-CN" altLang="en-US" sz="3600" dirty="0">
                <a:latin typeface="Lato" panose="020F0502020204030203" pitchFamily="34" charset="0"/>
                <a:ea typeface="+mj-ea"/>
              </a:rPr>
              <a:t>请老师批评指正</a:t>
            </a:r>
            <a:endParaRPr lang="en-US" altLang="zh-CN" sz="3600" dirty="0"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41065" y="3837410"/>
            <a:ext cx="5863771" cy="57767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27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烟灰色玻璃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9663</TotalTime>
  <Words>405</Words>
  <Application>Microsoft Office PowerPoint</Application>
  <PresentationFormat>宽屏</PresentationFormat>
  <Paragraphs>66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-apple-system</vt:lpstr>
      <vt:lpstr>等线</vt:lpstr>
      <vt:lpstr>微软雅黑</vt:lpstr>
      <vt:lpstr>Arial</vt:lpstr>
      <vt:lpstr>Calibri</vt:lpstr>
      <vt:lpstr>Cambria Math</vt:lpstr>
      <vt:lpstr>Lato</vt:lpstr>
      <vt:lpstr>Wingdings</vt:lpstr>
      <vt:lpstr>夏雨家 https://xnwe.taobao.com/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盈钢 邱</cp:lastModifiedBy>
  <cp:revision>789</cp:revision>
  <dcterms:created xsi:type="dcterms:W3CDTF">2024-11-06T01:21:23Z</dcterms:created>
  <dcterms:modified xsi:type="dcterms:W3CDTF">2025-02-22T01:03:34Z</dcterms:modified>
</cp:coreProperties>
</file>