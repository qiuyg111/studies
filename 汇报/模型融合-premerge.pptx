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50"/>
  </p:notesMasterIdLst>
  <p:sldIdLst>
    <p:sldId id="321" r:id="rId3"/>
    <p:sldId id="257" r:id="rId4"/>
    <p:sldId id="256" r:id="rId5"/>
    <p:sldId id="314" r:id="rId6"/>
    <p:sldId id="323" r:id="rId7"/>
    <p:sldId id="325" r:id="rId8"/>
    <p:sldId id="322" r:id="rId9"/>
    <p:sldId id="324" r:id="rId10"/>
    <p:sldId id="326" r:id="rId11"/>
    <p:sldId id="327" r:id="rId12"/>
    <p:sldId id="328" r:id="rId13"/>
    <p:sldId id="329" r:id="rId14"/>
    <p:sldId id="330" r:id="rId15"/>
    <p:sldId id="331" r:id="rId16"/>
    <p:sldId id="332" r:id="rId17"/>
    <p:sldId id="333" r:id="rId18"/>
    <p:sldId id="334" r:id="rId19"/>
    <p:sldId id="336" r:id="rId20"/>
    <p:sldId id="338" r:id="rId21"/>
    <p:sldId id="337" r:id="rId22"/>
    <p:sldId id="339" r:id="rId23"/>
    <p:sldId id="340" r:id="rId24"/>
    <p:sldId id="342" r:id="rId25"/>
    <p:sldId id="341" r:id="rId26"/>
    <p:sldId id="343" r:id="rId27"/>
    <p:sldId id="344" r:id="rId28"/>
    <p:sldId id="345" r:id="rId29"/>
    <p:sldId id="346" r:id="rId30"/>
    <p:sldId id="347" r:id="rId31"/>
    <p:sldId id="348" r:id="rId32"/>
    <p:sldId id="349" r:id="rId33"/>
    <p:sldId id="350" r:id="rId34"/>
    <p:sldId id="351" r:id="rId35"/>
    <p:sldId id="352" r:id="rId36"/>
    <p:sldId id="353" r:id="rId37"/>
    <p:sldId id="354" r:id="rId38"/>
    <p:sldId id="355" r:id="rId39"/>
    <p:sldId id="356" r:id="rId40"/>
    <p:sldId id="357" r:id="rId41"/>
    <p:sldId id="358" r:id="rId42"/>
    <p:sldId id="359" r:id="rId43"/>
    <p:sldId id="360" r:id="rId44"/>
    <p:sldId id="361" r:id="rId45"/>
    <p:sldId id="363" r:id="rId46"/>
    <p:sldId id="362" r:id="rId47"/>
    <p:sldId id="364" r:id="rId48"/>
    <p:sldId id="365" r:id="rId4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70" autoAdjust="0"/>
    <p:restoredTop sz="79082" autoAdjust="0"/>
  </p:normalViewPr>
  <p:slideViewPr>
    <p:cSldViewPr snapToGrid="0">
      <p:cViewPr varScale="1">
        <p:scale>
          <a:sx n="67" d="100"/>
          <a:sy n="67" d="100"/>
        </p:scale>
        <p:origin x="1454" y="48"/>
      </p:cViewPr>
      <p:guideLst/>
    </p:cSldViewPr>
  </p:slideViewPr>
  <p:outlineViewPr>
    <p:cViewPr>
      <p:scale>
        <a:sx n="33" d="100"/>
        <a:sy n="33" d="100"/>
      </p:scale>
      <p:origin x="0" y="-4037"/>
    </p:cViewPr>
  </p:outlin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D20703-AF86-4F31-B9FB-F7B8355B7ACE}" type="datetimeFigureOut">
              <a:rPr lang="zh-CN" altLang="en-US" smtClean="0"/>
              <a:t>2024/11/10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8741DC-E11E-424D-8624-63C2B9FB9B1B}" type="slidenum">
              <a:rPr lang="zh-CN" altLang="en-US" smtClean="0"/>
              <a:t>‹#›</a:t>
            </a:fld>
            <a:endParaRPr lang="zh-CN" altLang="en-US"/>
          </a:p>
        </p:txBody>
      </p:sp>
    </p:spTree>
    <p:extLst>
      <p:ext uri="{BB962C8B-B14F-4D97-AF65-F5344CB8AC3E}">
        <p14:creationId xmlns:p14="http://schemas.microsoft.com/office/powerpoint/2010/main" val="2747260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26F91-231C-F436-C0FF-E58C781D02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1D1F1DF-3D58-0A8D-7DE3-DEF525B1C3A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5228F2C-DAFE-AB42-D8B1-DBCDF4901560}"/>
              </a:ext>
            </a:extLst>
          </p:cNvPr>
          <p:cNvSpPr>
            <a:spLocks noGrp="1"/>
          </p:cNvSpPr>
          <p:nvPr>
            <p:ph type="body" idx="1"/>
          </p:nvPr>
        </p:nvSpPr>
        <p:spPr/>
        <p:txBody>
          <a:bodyPr/>
          <a:lstStyle/>
          <a:p>
            <a:pPr algn="l" fontAlgn="base"/>
            <a:r>
              <a:rPr lang="zh-CN" altLang="en-US" b="0" i="0" dirty="0">
                <a:effectLst/>
                <a:latin typeface="-apple-system"/>
              </a:rPr>
              <a:t>老师、师兄下午好，我今天要汇报的是模型融合中的预融合方法论文的阅读报告</a:t>
            </a:r>
          </a:p>
        </p:txBody>
      </p:sp>
      <p:sp>
        <p:nvSpPr>
          <p:cNvPr id="4" name="灯片编号占位符 3">
            <a:extLst>
              <a:ext uri="{FF2B5EF4-FFF2-40B4-BE49-F238E27FC236}">
                <a16:creationId xmlns:a16="http://schemas.microsoft.com/office/drawing/2014/main" id="{719026B6-BDB9-0760-E274-F89F90DA5F13}"/>
              </a:ext>
            </a:extLst>
          </p:cNvPr>
          <p:cNvSpPr>
            <a:spLocks noGrp="1"/>
          </p:cNvSpPr>
          <p:nvPr>
            <p:ph type="sldNum" sz="quarter" idx="10"/>
          </p:nvPr>
        </p:nvSpPr>
        <p:spPr/>
        <p:txBody>
          <a:bodyPr/>
          <a:lstStyle/>
          <a:p>
            <a:fld id="{D34C0232-94FA-4EBE-BB9B-79FBE486032D}" type="slidenum">
              <a:rPr lang="zh-CN" altLang="en-US" smtClean="0"/>
              <a:t>1</a:t>
            </a:fld>
            <a:endParaRPr lang="zh-CN" altLang="en-US"/>
          </a:p>
        </p:txBody>
      </p:sp>
    </p:spTree>
    <p:extLst>
      <p:ext uri="{BB962C8B-B14F-4D97-AF65-F5344CB8AC3E}">
        <p14:creationId xmlns:p14="http://schemas.microsoft.com/office/powerpoint/2010/main" val="42888571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我将从这五个方面来汇报我这几周的工作，首先我先简述一下预融合方法有哪些，接着介绍三个不同的预融合方法，最后再讲讲再阅读过程的出现的问题以及困难</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endParaRPr lang="zh-CN" altLang="en-US" b="0" i="0" dirty="0">
              <a:effectLst/>
              <a:latin typeface="-apple-system"/>
            </a:endParaRPr>
          </a:p>
        </p:txBody>
      </p:sp>
      <p:sp>
        <p:nvSpPr>
          <p:cNvPr id="4" name="灯片编号占位符 3"/>
          <p:cNvSpPr>
            <a:spLocks noGrp="1"/>
          </p:cNvSpPr>
          <p:nvPr>
            <p:ph type="sldNum" sz="quarter" idx="10"/>
          </p:nvPr>
        </p:nvSpPr>
        <p:spPr/>
        <p:txBody>
          <a:bodyPr/>
          <a:lstStyle/>
          <a:p>
            <a:fld id="{D34C0232-94FA-4EBE-BB9B-79FBE486032D}"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r>
              <a:rPr lang="zh-CN" altLang="en-US" dirty="0"/>
              <a:t>预融合的主要目标是为模型融合阶段提供更好的融合条件</a:t>
            </a:r>
            <a:endParaRPr lang="en-US" altLang="zh-CN" dirty="0"/>
          </a:p>
          <a:p>
            <a:r>
              <a:rPr lang="zh-CN" altLang="en-US" dirty="0"/>
              <a:t>其主要分为三类分别是线性微调、架构转换、权重对齐</a:t>
            </a:r>
            <a:endParaRPr lang="en-US" altLang="zh-CN" dirty="0"/>
          </a:p>
          <a:p>
            <a:r>
              <a:rPr lang="zh-CN" altLang="en-US" dirty="0"/>
              <a:t>线性微调指模型直接再切空间内线性优化，而不是直接非线性微调模型，如</a:t>
            </a:r>
            <a:r>
              <a:rPr lang="en-US" altLang="zh-CN" dirty="0"/>
              <a:t>a</a:t>
            </a:r>
            <a:r>
              <a:rPr lang="zh-CN" altLang="en-US" dirty="0"/>
              <a:t>所示，线性微调时，参数只在黄色平面内变化，线性微调的好处时能够提高模型权重解缠能力，减轻不同任务之间的干扰</a:t>
            </a:r>
            <a:endParaRPr lang="en-US" altLang="zh-CN" dirty="0"/>
          </a:p>
          <a:p>
            <a:r>
              <a:rPr lang="zh-CN" altLang="en-US" dirty="0"/>
              <a:t>当模型具有不同架构时，模型的参数就不能直接融合，之就需要将不同模型转换为统一架构，这通常是通过知识蒸馏的技术实现的，转换为同一架构后就可以使用模型融合算法融合模型的参数</a:t>
            </a:r>
            <a:endParaRPr lang="en-US" altLang="zh-CN" dirty="0"/>
          </a:p>
          <a:p>
            <a:r>
              <a:rPr lang="zh-CN" altLang="en-US" dirty="0"/>
              <a:t>最后一个权重对齐，有研究表明同一功能网络如果其初始化参数不同，那么他们优化后的最终参数也会有很大的不同，这时如果直接平均网络参数，往往会产生非常差的结果，因此就要将权重对齐，使他们尽可能接近，即让他们的权重尽量再同一局部最小值区域，这时在融合参数就会产生较好的结果</a:t>
            </a:r>
            <a:endParaRPr lang="en-US" altLang="zh-CN" dirty="0"/>
          </a:p>
          <a:p>
            <a:r>
              <a:rPr lang="zh-CN" altLang="en-US" dirty="0"/>
              <a:t>接下来我就从这三个方面来汇报我最近阅读的论文</a:t>
            </a: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0991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r>
              <a:rPr lang="zh-CN" altLang="en-US" b="0" i="0" dirty="0">
                <a:effectLst/>
                <a:latin typeface="-apple-system"/>
              </a:rPr>
              <a:t>首先是线性微调</a:t>
            </a:r>
          </a:p>
        </p:txBody>
      </p:sp>
      <p:sp>
        <p:nvSpPr>
          <p:cNvPr id="4" name="灯片编号占位符 3"/>
          <p:cNvSpPr>
            <a:spLocks noGrp="1"/>
          </p:cNvSpPr>
          <p:nvPr>
            <p:ph type="sldNum" sz="quarter" idx="10"/>
          </p:nvPr>
        </p:nvSpPr>
        <p:spPr/>
        <p:txBody>
          <a:bodyPr/>
          <a:lstStyle/>
          <a:p>
            <a:fld id="{D34C0232-94FA-4EBE-BB9B-79FBE486032D}" type="slidenum">
              <a:rPr lang="zh-CN" altLang="en-US" smtClean="0"/>
              <a:t>5</a:t>
            </a:fld>
            <a:endParaRPr lang="zh-CN" altLang="en-US"/>
          </a:p>
        </p:txBody>
      </p:sp>
    </p:spTree>
    <p:extLst>
      <p:ext uri="{BB962C8B-B14F-4D97-AF65-F5344CB8AC3E}">
        <p14:creationId xmlns:p14="http://schemas.microsoft.com/office/powerpoint/2010/main" val="29480332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r>
              <a:rPr lang="zh-CN" altLang="en-US" b="0" i="0" dirty="0">
                <a:effectLst/>
                <a:latin typeface="-apple-system"/>
              </a:rPr>
              <a:t>在这个方面比较具有代表性工作是。。。。。</a:t>
            </a:r>
            <a:endParaRPr lang="en-US" altLang="zh-CN" b="0" i="0" dirty="0">
              <a:effectLst/>
              <a:latin typeface="-apple-system"/>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zh-CN" altLang="en-US" b="0" i="0" dirty="0">
                <a:effectLst/>
                <a:latin typeface="-apple-system"/>
              </a:rPr>
              <a:t>这篇文章的作者是吉列尔莫等人，来自</a:t>
            </a:r>
            <a:r>
              <a:rPr lang="zh-CN" altLang="en-US" b="0" i="0" u="sng" dirty="0">
                <a:solidFill>
                  <a:srgbClr val="2440B3"/>
                </a:solidFill>
                <a:effectLst/>
                <a:latin typeface="Arial" panose="020B0604020202020204" pitchFamily="34" charset="0"/>
              </a:rPr>
              <a:t>洛桑联邦理工学院，这篇文章发表在了</a:t>
            </a:r>
            <a:r>
              <a:rPr lang="en-US" altLang="zh-CN" b="0" i="0" u="sng" dirty="0">
                <a:solidFill>
                  <a:srgbClr val="2440B3"/>
                </a:solidFill>
                <a:effectLst/>
                <a:latin typeface="Arial" panose="020B0604020202020204" pitchFamily="34" charset="0"/>
              </a:rPr>
              <a:t>2023</a:t>
            </a:r>
            <a:r>
              <a:rPr lang="zh-CN" altLang="en-US" b="0" i="0" u="sng" dirty="0">
                <a:solidFill>
                  <a:srgbClr val="2440B3"/>
                </a:solidFill>
                <a:effectLst/>
                <a:latin typeface="Arial" panose="020B0604020202020204" pitchFamily="34" charset="0"/>
              </a:rPr>
              <a:t>年的</a:t>
            </a:r>
            <a:r>
              <a:rPr lang="en-US" altLang="zh-CN" dirty="0" err="1"/>
              <a:t>NeurIPS</a:t>
            </a:r>
            <a:r>
              <a:rPr lang="zh-CN" altLang="en-US" dirty="0"/>
              <a:t>上</a:t>
            </a:r>
            <a:endParaRPr lang="zh-CN" altLang="en-US" b="0" i="0" u="sng" dirty="0">
              <a:solidFill>
                <a:srgbClr val="2440B3"/>
              </a:solidFill>
              <a:effectLst/>
              <a:latin typeface="Arial" panose="020B0604020202020204" pitchFamily="34" charset="0"/>
            </a:endParaRPr>
          </a:p>
        </p:txBody>
      </p:sp>
      <p:sp>
        <p:nvSpPr>
          <p:cNvPr id="4" name="灯片编号占位符 3"/>
          <p:cNvSpPr>
            <a:spLocks noGrp="1"/>
          </p:cNvSpPr>
          <p:nvPr>
            <p:ph type="sldNum" sz="quarter" idx="10"/>
          </p:nvPr>
        </p:nvSpPr>
        <p:spPr/>
        <p:txBody>
          <a:bodyPr/>
          <a:lstStyle/>
          <a:p>
            <a:fld id="{D34C0232-94FA-4EBE-BB9B-79FBE486032D}" type="slidenum">
              <a:rPr lang="zh-CN" altLang="en-US" smtClean="0"/>
              <a:t>6</a:t>
            </a:fld>
            <a:endParaRPr lang="zh-CN" altLang="en-US"/>
          </a:p>
        </p:txBody>
      </p:sp>
    </p:spTree>
    <p:extLst>
      <p:ext uri="{BB962C8B-B14F-4D97-AF65-F5344CB8AC3E}">
        <p14:creationId xmlns:p14="http://schemas.microsoft.com/office/powerpoint/2010/main" val="3356403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r>
              <a:rPr lang="zh-CN" altLang="en-US" dirty="0"/>
              <a:t>在讲这篇文章的工作前，我先介绍一下任务向量，这是这篇文章的基础背景，任务向量一词出自于</a:t>
            </a:r>
            <a:r>
              <a:rPr lang="en-US" altLang="zh-CN" dirty="0"/>
              <a:t>editing</a:t>
            </a:r>
            <a:r>
              <a:rPr lang="zh-CN" altLang="en-US" dirty="0"/>
              <a:t>。。。这篇文章，作者是</a:t>
            </a:r>
            <a:r>
              <a:rPr lang="en-US" altLang="zh-CN" sz="1200" dirty="0">
                <a:latin typeface="+mn-ea"/>
              </a:rPr>
              <a:t>Gabriel</a:t>
            </a:r>
            <a:r>
              <a:rPr lang="zh-CN" altLang="en-US" sz="1200" dirty="0">
                <a:latin typeface="+mn-ea"/>
              </a:rPr>
              <a:t>，来自华盛顿大学，这篇文章的主要思想是用微调后的模型权重减去其预训练模型的权重，从而获得任务向量就如这个图</a:t>
            </a:r>
            <a:r>
              <a:rPr lang="en-US" altLang="zh-CN" sz="1200" dirty="0">
                <a:latin typeface="+mn-ea"/>
              </a:rPr>
              <a:t>a</a:t>
            </a:r>
            <a:r>
              <a:rPr lang="zh-CN" altLang="en-US" sz="1200" dirty="0">
                <a:latin typeface="+mn-ea"/>
              </a:rPr>
              <a:t>所示，然后对任务向量进行加减等操作来控制模型行为</a:t>
            </a:r>
            <a:endParaRPr lang="en-US" altLang="zh-CN" sz="1200" dirty="0">
              <a:latin typeface="+mn-ea"/>
            </a:endParaRPr>
          </a:p>
          <a:p>
            <a:r>
              <a:rPr lang="zh-CN" altLang="en-US" sz="1200" dirty="0">
                <a:latin typeface="+mn-ea"/>
              </a:rPr>
              <a:t>例如，如果我们想对多个任务进行融合，就像图</a:t>
            </a:r>
            <a:r>
              <a:rPr lang="en-US" altLang="zh-CN" sz="1200" dirty="0">
                <a:latin typeface="+mn-ea"/>
              </a:rPr>
              <a:t>c</a:t>
            </a:r>
            <a:r>
              <a:rPr lang="zh-CN" altLang="en-US" sz="1200" dirty="0">
                <a:latin typeface="+mn-ea"/>
              </a:rPr>
              <a:t>一样，我们就将任务向量加到预训练模型的参数即可</a:t>
            </a:r>
            <a:endParaRPr lang="en-US" altLang="zh-CN" sz="1200" dirty="0">
              <a:latin typeface="+mn-ea"/>
            </a:endParaRPr>
          </a:p>
          <a:p>
            <a:r>
              <a:rPr lang="zh-CN" altLang="en-US" sz="1200" dirty="0">
                <a:latin typeface="+mn-ea"/>
              </a:rPr>
              <a:t>如果相对某个任务遗忘，那我们就用模型减去这个任务向量即可</a:t>
            </a:r>
            <a:endParaRPr lang="en-US" altLang="zh-CN" sz="1200" dirty="0">
              <a:latin typeface="+mn-ea"/>
            </a:endParaRPr>
          </a:p>
          <a:p>
            <a:r>
              <a:rPr lang="zh-CN" altLang="en-US" sz="1200" dirty="0">
                <a:latin typeface="+mn-ea"/>
              </a:rPr>
              <a:t>如果想进行任务类比，例如</a:t>
            </a:r>
            <a:r>
              <a:rPr lang="en-US" altLang="zh-CN" sz="1200" dirty="0">
                <a:latin typeface="+mn-ea"/>
              </a:rPr>
              <a:t>A</a:t>
            </a:r>
            <a:r>
              <a:rPr lang="zh-CN" altLang="en-US" sz="1200" dirty="0">
                <a:latin typeface="+mn-ea"/>
              </a:rPr>
              <a:t>对于</a:t>
            </a:r>
            <a:r>
              <a:rPr lang="en-US" altLang="zh-CN" sz="1200" dirty="0">
                <a:latin typeface="+mn-ea"/>
              </a:rPr>
              <a:t>B</a:t>
            </a:r>
            <a:r>
              <a:rPr lang="zh-CN" altLang="en-US" sz="1200" dirty="0">
                <a:latin typeface="+mn-ea"/>
              </a:rPr>
              <a:t>就行</a:t>
            </a:r>
            <a:r>
              <a:rPr lang="en-US" altLang="zh-CN" sz="1200" dirty="0">
                <a:latin typeface="+mn-ea"/>
              </a:rPr>
              <a:t>C</a:t>
            </a:r>
            <a:r>
              <a:rPr lang="zh-CN" altLang="en-US" sz="1200" dirty="0">
                <a:latin typeface="+mn-ea"/>
              </a:rPr>
              <a:t>对于</a:t>
            </a:r>
            <a:r>
              <a:rPr lang="en-US" altLang="zh-CN" sz="1200" dirty="0">
                <a:latin typeface="+mn-ea"/>
              </a:rPr>
              <a:t>D</a:t>
            </a:r>
            <a:r>
              <a:rPr lang="zh-CN" altLang="en-US" sz="1200" dirty="0">
                <a:latin typeface="+mn-ea"/>
              </a:rPr>
              <a:t>一样，那么我们就可以用</a:t>
            </a:r>
            <a:r>
              <a:rPr lang="en-US" altLang="zh-CN" sz="1200" dirty="0">
                <a:latin typeface="+mn-ea"/>
              </a:rPr>
              <a:t>A,B,C</a:t>
            </a:r>
            <a:r>
              <a:rPr lang="zh-CN" altLang="en-US" sz="1200" dirty="0">
                <a:latin typeface="+mn-ea"/>
              </a:rPr>
              <a:t>这三个任务向量构造出</a:t>
            </a:r>
            <a:r>
              <a:rPr lang="en-US" altLang="zh-CN" sz="1200" dirty="0">
                <a:latin typeface="+mn-ea"/>
              </a:rPr>
              <a:t>D</a:t>
            </a:r>
            <a:r>
              <a:rPr lang="zh-CN" altLang="en-US" sz="1200" dirty="0">
                <a:latin typeface="+mn-ea"/>
              </a:rPr>
              <a:t>的任务向量，就像</a:t>
            </a:r>
            <a:r>
              <a:rPr lang="en-US" altLang="zh-CN" sz="1200" dirty="0">
                <a:latin typeface="+mn-ea"/>
              </a:rPr>
              <a:t>d</a:t>
            </a:r>
            <a:r>
              <a:rPr lang="zh-CN" altLang="en-US" sz="1200" dirty="0">
                <a:latin typeface="+mn-ea"/>
              </a:rPr>
              <a:t>一样，</a:t>
            </a:r>
            <a:r>
              <a:rPr lang="en-US" altLang="zh-CN" sz="1200" dirty="0">
                <a:latin typeface="+mn-ea"/>
              </a:rPr>
              <a:t>B-A</a:t>
            </a:r>
            <a:r>
              <a:rPr lang="zh-CN" altLang="en-US" sz="1200" dirty="0">
                <a:latin typeface="+mn-ea"/>
              </a:rPr>
              <a:t>代表的是这两个任务间的差距，因为</a:t>
            </a:r>
            <a:r>
              <a:rPr lang="en-US" altLang="zh-CN" sz="1200" dirty="0">
                <a:latin typeface="+mn-ea"/>
              </a:rPr>
              <a:t>A</a:t>
            </a:r>
            <a:r>
              <a:rPr lang="zh-CN" altLang="en-US" sz="1200" dirty="0">
                <a:latin typeface="+mn-ea"/>
              </a:rPr>
              <a:t>对于</a:t>
            </a:r>
            <a:r>
              <a:rPr lang="en-US" altLang="zh-CN" sz="1200" dirty="0">
                <a:latin typeface="+mn-ea"/>
              </a:rPr>
              <a:t>B</a:t>
            </a:r>
            <a:r>
              <a:rPr lang="zh-CN" altLang="en-US" sz="1200" dirty="0">
                <a:latin typeface="+mn-ea"/>
              </a:rPr>
              <a:t>类似于</a:t>
            </a:r>
            <a:r>
              <a:rPr lang="en-US" altLang="zh-CN" sz="1200" dirty="0">
                <a:latin typeface="+mn-ea"/>
              </a:rPr>
              <a:t>C</a:t>
            </a:r>
            <a:r>
              <a:rPr lang="zh-CN" altLang="en-US" sz="1200" dirty="0">
                <a:latin typeface="+mn-ea"/>
              </a:rPr>
              <a:t>对于</a:t>
            </a:r>
            <a:r>
              <a:rPr lang="en-US" altLang="zh-CN" sz="1200" dirty="0">
                <a:latin typeface="+mn-ea"/>
              </a:rPr>
              <a:t>D</a:t>
            </a:r>
            <a:r>
              <a:rPr lang="zh-CN" altLang="en-US" sz="1200" dirty="0">
                <a:latin typeface="+mn-ea"/>
              </a:rPr>
              <a:t>，那</a:t>
            </a:r>
            <a:r>
              <a:rPr lang="en-US" altLang="zh-CN" sz="1200" dirty="0">
                <a:latin typeface="+mn-ea"/>
              </a:rPr>
              <a:t>C</a:t>
            </a:r>
            <a:r>
              <a:rPr lang="zh-CN" altLang="en-US" sz="1200" dirty="0">
                <a:latin typeface="+mn-ea"/>
              </a:rPr>
              <a:t>与</a:t>
            </a:r>
            <a:r>
              <a:rPr lang="en-US" altLang="zh-CN" sz="1200" dirty="0">
                <a:latin typeface="+mn-ea"/>
              </a:rPr>
              <a:t>D</a:t>
            </a:r>
            <a:r>
              <a:rPr lang="zh-CN" altLang="en-US" sz="1200" dirty="0">
                <a:latin typeface="+mn-ea"/>
              </a:rPr>
              <a:t>的差距与</a:t>
            </a:r>
            <a:r>
              <a:rPr lang="en-US" altLang="zh-CN" sz="1200" dirty="0">
                <a:latin typeface="+mn-ea"/>
              </a:rPr>
              <a:t>A</a:t>
            </a:r>
            <a:r>
              <a:rPr lang="zh-CN" altLang="en-US" sz="1200" dirty="0">
                <a:latin typeface="+mn-ea"/>
              </a:rPr>
              <a:t>和</a:t>
            </a:r>
            <a:r>
              <a:rPr lang="en-US" altLang="zh-CN" sz="1200" dirty="0">
                <a:latin typeface="+mn-ea"/>
              </a:rPr>
              <a:t>B</a:t>
            </a:r>
            <a:r>
              <a:rPr lang="zh-CN" altLang="en-US" sz="1200" dirty="0">
                <a:latin typeface="+mn-ea"/>
              </a:rPr>
              <a:t>的差距类似，将</a:t>
            </a:r>
            <a:r>
              <a:rPr lang="en-US" altLang="zh-CN" sz="1200" dirty="0">
                <a:latin typeface="+mn-ea"/>
              </a:rPr>
              <a:t>C</a:t>
            </a:r>
            <a:r>
              <a:rPr lang="zh-CN" altLang="en-US" sz="1200" dirty="0">
                <a:latin typeface="+mn-ea"/>
              </a:rPr>
              <a:t>的任务向量加上</a:t>
            </a:r>
            <a:r>
              <a:rPr lang="en-US" altLang="zh-CN" sz="1200" dirty="0">
                <a:latin typeface="+mn-ea"/>
              </a:rPr>
              <a:t>A</a:t>
            </a:r>
            <a:r>
              <a:rPr lang="zh-CN" altLang="en-US" sz="1200" dirty="0">
                <a:latin typeface="+mn-ea"/>
              </a:rPr>
              <a:t>和</a:t>
            </a:r>
            <a:r>
              <a:rPr lang="en-US" altLang="zh-CN" sz="1200" dirty="0">
                <a:latin typeface="+mn-ea"/>
              </a:rPr>
              <a:t>B</a:t>
            </a:r>
            <a:r>
              <a:rPr lang="zh-CN" altLang="en-US" sz="1200" dirty="0">
                <a:latin typeface="+mn-ea"/>
              </a:rPr>
              <a:t>之间的差距就能构造出</a:t>
            </a:r>
            <a:r>
              <a:rPr lang="en-US" altLang="zh-CN" sz="1200" dirty="0">
                <a:latin typeface="+mn-ea"/>
              </a:rPr>
              <a:t>D</a:t>
            </a:r>
            <a:r>
              <a:rPr lang="zh-CN" altLang="en-US" sz="1200" dirty="0">
                <a:latin typeface="+mn-ea"/>
              </a:rPr>
              <a:t>的任务向量</a:t>
            </a: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7999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r>
              <a:rPr lang="zh-CN" altLang="en-US" dirty="0"/>
              <a:t>介绍完任务向量后，开始介绍切空间优化这篇文章，任务向量虽然在很多工作中都实现了非常好的效果，但是研究者对任务向量的理解非常有限</a:t>
            </a:r>
            <a:endParaRPr lang="en-US" altLang="zh-CN" dirty="0"/>
          </a:p>
          <a:p>
            <a:r>
              <a:rPr lang="zh-CN" altLang="en-US" dirty="0"/>
              <a:t>因此作者首先定义了一系列符号，对任务算术进行了数学形式上的解释</a:t>
            </a:r>
            <a:endParaRPr lang="en-US" altLang="zh-CN" dirty="0"/>
          </a:p>
          <a:p>
            <a:r>
              <a:rPr lang="zh-CN" altLang="en-US" dirty="0"/>
              <a:t>然后为了探究任务算术的有效性，作者提出了权重解缠的概念，一个模型如果满足权重解缠，那么他就满足任务算术的性质</a:t>
            </a:r>
            <a:endParaRPr lang="en-US" altLang="zh-CN" dirty="0"/>
          </a:p>
          <a:p>
            <a:r>
              <a:rPr lang="zh-CN" altLang="en-US" dirty="0"/>
              <a:t>然后作者为了提高模型权重解缠能力以及模型融合后的性能，提出了在切空间内优化的方法</a:t>
            </a:r>
            <a:endParaRPr lang="en-US" altLang="zh-CN" dirty="0"/>
          </a:p>
          <a:p>
            <a:r>
              <a:rPr lang="zh-CN" altLang="en-US" dirty="0"/>
              <a:t>最后用实验说明了权重解缠属性只在预训练模型中出现，在随机初始化上的模型并不满足任务算术的性质</a:t>
            </a: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698710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ea"/>
                    <a:ea typeface="+mn-ea"/>
                    <a:cs typeface="+mn-cs"/>
                  </a:rPr>
                  <a:t>然后这里我介绍作者对任务算术进行的形式化解释，作者认为一个神经网络满足任务算术，那么他满足这个公式</a:t>
                </a:r>
                <a:endParaRPr lang="en-US" altLang="zh-CN" sz="1200" kern="120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ea"/>
                    <a:ea typeface="+mn-ea"/>
                    <a:cs typeface="+mn-cs"/>
                  </a:rPr>
                  <a:t>这个公式的意思是，对一个模型，他的参数是预训练模型的参数加上不同任务向量的线性组合，对于一个来自任务</a:t>
                </a:r>
                <a:r>
                  <a:rPr lang="en-US" altLang="zh-CN" sz="1200" kern="1200" dirty="0">
                    <a:solidFill>
                      <a:schemeClr val="tx1"/>
                    </a:solidFill>
                    <a:latin typeface="+mn-ea"/>
                    <a:ea typeface="+mn-ea"/>
                    <a:cs typeface="+mn-cs"/>
                  </a:rPr>
                  <a:t>t</a:t>
                </a:r>
                <a:r>
                  <a:rPr lang="zh-CN" altLang="en-US" sz="1200" kern="1200" dirty="0">
                    <a:solidFill>
                      <a:schemeClr val="tx1"/>
                    </a:solidFill>
                    <a:latin typeface="+mn-ea"/>
                    <a:ea typeface="+mn-ea"/>
                    <a:cs typeface="+mn-cs"/>
                  </a:rPr>
                  <a:t>的数据，模型的输出等价于预训练模型参数直接加相应任务向量的输出，对于不属于任何任务的数据，他的输出就等价于预训练模型的输出</a:t>
                </a:r>
                <a:endParaRPr lang="en-US" altLang="zh-CN" sz="1200" kern="120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ea"/>
                    <a:ea typeface="+mn-ea"/>
                    <a:cs typeface="+mn-cs"/>
                  </a:rPr>
                  <a:t>公式说明</a:t>
                </a:r>
                <a14:m>
                  <m:oMath xmlns:m="http://schemas.openxmlformats.org/officeDocument/2006/math">
                    <m:r>
                      <a:rPr lang="zh-CN" altLang="en-US" sz="1200" kern="1200" dirty="0" smtClean="0">
                        <a:solidFill>
                          <a:schemeClr val="tx1"/>
                        </a:solidFill>
                        <a:latin typeface="Cambria Math" panose="02040503050406030204" pitchFamily="18" charset="0"/>
                        <a:ea typeface="+mn-ea"/>
                        <a:cs typeface="+mn-cs"/>
                      </a:rPr>
                      <m:t>，如果</m:t>
                    </m:r>
                    <m:sSub>
                      <m:sSubPr>
                        <m:ctrlPr>
                          <a:rPr lang="en-US" altLang="zh-CN" sz="1200" i="1" kern="1200" smtClean="0">
                            <a:solidFill>
                              <a:schemeClr val="tx1"/>
                            </a:solidFill>
                            <a:latin typeface="Cambria Math" panose="02040503050406030204" pitchFamily="18" charset="0"/>
                            <a:ea typeface="+mn-ea"/>
                            <a:cs typeface="+mn-cs"/>
                          </a:rPr>
                        </m:ctrlPr>
                      </m:sSubPr>
                      <m:e>
                        <m:r>
                          <a:rPr lang="en-US" altLang="zh-CN" sz="1200" kern="1200" smtClean="0">
                            <a:solidFill>
                              <a:schemeClr val="tx1"/>
                            </a:solidFill>
                            <a:latin typeface="Cambria Math" panose="02040503050406030204" pitchFamily="18" charset="0"/>
                            <a:ea typeface="+mn-ea"/>
                            <a:cs typeface="+mn-cs"/>
                          </a:rPr>
                          <m:t>𝜏</m:t>
                        </m:r>
                      </m:e>
                      <m:sub>
                        <m:r>
                          <a:rPr lang="en-US" altLang="zh-CN" sz="1200" kern="1200" smtClean="0">
                            <a:solidFill>
                              <a:schemeClr val="tx1"/>
                            </a:solidFill>
                            <a:latin typeface="Cambria Math" panose="02040503050406030204" pitchFamily="18" charset="0"/>
                            <a:ea typeface="+mn-ea"/>
                            <a:cs typeface="+mn-cs"/>
                          </a:rPr>
                          <m:t>𝑡</m:t>
                        </m:r>
                      </m:sub>
                    </m:sSub>
                  </m:oMath>
                </a14:m>
                <a:r>
                  <a:rPr lang="zh-CN" altLang="en-US" sz="1200" kern="1200" dirty="0">
                    <a:solidFill>
                      <a:schemeClr val="tx1"/>
                    </a:solidFill>
                    <a:latin typeface="+mn-ea"/>
                    <a:ea typeface="+mn-ea"/>
                    <a:cs typeface="+mn-cs"/>
                  </a:rPr>
                  <a:t>为不同任务的任务向量，模型加上不同任务向量只会影响对应任务数据的输出，而不会影响其他任务数据的输出</a:t>
                </a:r>
                <a:endParaRPr lang="en-US" altLang="zh-CN" sz="1200" kern="120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ea"/>
                    <a:ea typeface="+mn-ea"/>
                    <a:cs typeface="+mn-cs"/>
                  </a:rPr>
                  <a:t>从而就达到了不同任务之间不会互相干扰</a:t>
                </a:r>
                <a:endParaRPr lang="en-US" altLang="zh-CN" sz="1200" kern="120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kern="1200" dirty="0">
                  <a:solidFill>
                    <a:schemeClr val="tx1"/>
                  </a:solidFill>
                  <a:latin typeface="+mn-ea"/>
                  <a:ea typeface="+mn-ea"/>
                  <a:cs typeface="+mn-cs"/>
                </a:endParaRPr>
              </a:p>
            </p:txBody>
          </p:sp>
        </mc:Choice>
        <mc:Fallback xmlns="">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然后这里我介绍作者对任务算术进行的形式化解释，作者认为</a:t>
                </a:r>
                <a:r>
                  <a:rPr lang="zh-CN" altLang="en-US" b="1" dirty="0">
                    <a:solidFill>
                      <a:srgbClr val="268F9C"/>
                    </a:solidFill>
                    <a:latin typeface="+mn-ea"/>
                  </a:rPr>
                  <a:t>一个神经网络满足任务算术，那么他满足这个公式</a:t>
                </a:r>
                <a:endParaRPr lang="en-US" altLang="zh-CN" b="1" dirty="0">
                  <a:solidFill>
                    <a:srgbClr val="268F9C"/>
                  </a:solidFill>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268F9C"/>
                    </a:solidFill>
                    <a:latin typeface="+mn-ea"/>
                  </a:rPr>
                  <a:t>这个公式的意思是，对一个模型，他的参数是预训练模型的参数加上不同任务向量的线性组合，对于一个来自任务</a:t>
                </a:r>
                <a:r>
                  <a:rPr lang="en-US" altLang="zh-CN" b="1" dirty="0">
                    <a:solidFill>
                      <a:srgbClr val="268F9C"/>
                    </a:solidFill>
                    <a:latin typeface="+mn-ea"/>
                  </a:rPr>
                  <a:t>t</a:t>
                </a:r>
                <a:r>
                  <a:rPr lang="zh-CN" altLang="en-US" b="1" dirty="0">
                    <a:solidFill>
                      <a:srgbClr val="268F9C"/>
                    </a:solidFill>
                    <a:latin typeface="+mn-ea"/>
                  </a:rPr>
                  <a:t>的数据，模型的输出等价于预训练模型参数直接加相应任务向量的输出，对于不属于任何任务的数据，他的输出就等价于预训练模型的输出</a:t>
                </a:r>
                <a:endParaRPr lang="en-US" altLang="zh-CN" b="1" dirty="0">
                  <a:solidFill>
                    <a:srgbClr val="268F9C"/>
                  </a:solidFill>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268F9C"/>
                    </a:solidFill>
                    <a:latin typeface="+mn-ea"/>
                  </a:rPr>
                  <a:t>公式说明</a:t>
                </a:r>
                <a:r>
                  <a:rPr lang="zh-CN" altLang="en-US" b="1" i="0" dirty="0">
                    <a:solidFill>
                      <a:srgbClr val="268F9C"/>
                    </a:solidFill>
                    <a:latin typeface="Cambria Math" panose="02040503050406030204" pitchFamily="18" charset="0"/>
                  </a:rPr>
                  <a:t>，如果</a:t>
                </a:r>
                <a:r>
                  <a:rPr lang="en-US" altLang="zh-CN" b="0" i="0">
                    <a:solidFill>
                      <a:schemeClr val="tx1"/>
                    </a:solidFill>
                    <a:latin typeface="Cambria Math" panose="02040503050406030204" pitchFamily="18" charset="0"/>
                  </a:rPr>
                  <a:t>𝜏_𝑡</a:t>
                </a:r>
                <a:r>
                  <a:rPr lang="zh-CN" altLang="en-US" dirty="0">
                    <a:solidFill>
                      <a:schemeClr val="tx1"/>
                    </a:solidFill>
                    <a:latin typeface="+mn-ea"/>
                  </a:rPr>
                  <a:t>为不同任务的任务向量，模型</a:t>
                </a:r>
                <a:r>
                  <a:rPr lang="zh-CN" altLang="en-US" dirty="0">
                    <a:latin typeface="+mn-ea"/>
                  </a:rPr>
                  <a:t>加上</a:t>
                </a:r>
                <a:r>
                  <a:rPr lang="zh-CN" altLang="en-US" dirty="0">
                    <a:solidFill>
                      <a:schemeClr val="tx1"/>
                    </a:solidFill>
                    <a:latin typeface="+mn-ea"/>
                  </a:rPr>
                  <a:t>不同任务向量只会影响对应任务数据的输出，而不会影响其他任务数据的输出</a:t>
                </a:r>
                <a:endParaRPr lang="en-US" altLang="zh-CN" dirty="0">
                  <a:solidFill>
                    <a:schemeClr val="tx1"/>
                  </a:solidFill>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chemeClr val="tx1"/>
                    </a:solidFill>
                    <a:latin typeface="+mn-ea"/>
                  </a:rPr>
                  <a:t>从而就达到了不同任务之间不会互相干扰</a:t>
                </a:r>
                <a:endParaRPr lang="en-US" altLang="zh-CN" dirty="0">
                  <a:solidFill>
                    <a:srgbClr val="268F9C"/>
                  </a:solidFill>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mc:Fallback>
      </mc:AlternateContent>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86107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r>
              <a:rPr lang="zh-CN" altLang="en-US" dirty="0"/>
              <a:t>之前的工作认为模型具有任务算术属性的原因是因为模型的微调实在线性区域里进行的，即模型对应的函数满足一阶泰勒展开</a:t>
            </a:r>
            <a:endParaRPr lang="en-US" altLang="zh-CN" dirty="0"/>
          </a:p>
          <a:p>
            <a:endParaRPr lang="en-US" altLang="zh-CN" dirty="0"/>
          </a:p>
          <a:p>
            <a:r>
              <a:rPr lang="zh-CN" altLang="en-US" dirty="0"/>
              <a:t>然后作者为了验证模型是否是在线性区域里微调的，他就构建了一个后线性化模型来验证之前工作的假设是否成立</a:t>
            </a:r>
            <a:endParaRPr lang="en-US" altLang="zh-CN" dirty="0"/>
          </a:p>
          <a:p>
            <a:endParaRPr lang="en-US" altLang="zh-CN" dirty="0"/>
          </a:p>
          <a:p>
            <a:r>
              <a:rPr lang="zh-CN" altLang="en-US" dirty="0"/>
              <a:t>结果如图所示，这个图是原始微调模型与后线性化模型在单精度上的对比</a:t>
            </a:r>
            <a:endParaRPr lang="en-US" altLang="zh-CN" dirty="0"/>
          </a:p>
          <a:p>
            <a:endParaRPr lang="en-US" altLang="zh-CN" dirty="0"/>
          </a:p>
          <a:p>
            <a:r>
              <a:rPr lang="zh-CN" altLang="en-US" dirty="0"/>
              <a:t>图中不同颜色的点代表了不同的数据集，通过这个图我们看出原始微调模型的单任务精度在绝大多数的情况都显著优于后线性化模型</a:t>
            </a:r>
            <a:endParaRPr lang="en-US" altLang="zh-CN" dirty="0"/>
          </a:p>
          <a:p>
            <a:endParaRPr lang="en-US" altLang="zh-CN" dirty="0"/>
          </a:p>
          <a:p>
            <a:r>
              <a:rPr lang="zh-CN" altLang="en-US" dirty="0"/>
              <a:t>这个结果说明了模型的任务算术属性不是因为线性微调，而是模型的非线性造成的</a:t>
            </a: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7994823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r>
              <a:rPr lang="zh-CN" altLang="en-US" dirty="0"/>
              <a:t>作者还做了任务融合和任务遗忘的实验</a:t>
            </a:r>
            <a:endParaRPr lang="en-US" altLang="zh-CN" dirty="0"/>
          </a:p>
          <a:p>
            <a:endParaRPr lang="en-US" altLang="zh-CN" dirty="0"/>
          </a:p>
          <a:p>
            <a:r>
              <a:rPr lang="zh-CN" altLang="en-US" dirty="0"/>
              <a:t>在这个表中</a:t>
            </a:r>
            <a:r>
              <a:rPr lang="en-US" altLang="zh-CN" dirty="0"/>
              <a:t>pre-train</a:t>
            </a:r>
            <a:r>
              <a:rPr lang="zh-CN" altLang="en-US" dirty="0"/>
              <a:t>是预训练模型的结果，</a:t>
            </a:r>
            <a:r>
              <a:rPr lang="en-US" altLang="zh-CN" dirty="0"/>
              <a:t>Non-</a:t>
            </a:r>
            <a:r>
              <a:rPr lang="en-US" altLang="zh-CN" dirty="0" err="1"/>
              <a:t>lin</a:t>
            </a:r>
            <a:r>
              <a:rPr lang="en-US" altLang="zh-CN" dirty="0"/>
              <a:t> FT</a:t>
            </a:r>
            <a:r>
              <a:rPr lang="zh-CN" altLang="en-US" dirty="0"/>
              <a:t>是直接在原始模型上进行任务算术，</a:t>
            </a:r>
            <a:r>
              <a:rPr lang="en-US" altLang="zh-CN" dirty="0"/>
              <a:t>post-hoc </a:t>
            </a:r>
            <a:r>
              <a:rPr lang="en-US" altLang="zh-CN" dirty="0" err="1"/>
              <a:t>lin</a:t>
            </a:r>
            <a:r>
              <a:rPr lang="zh-CN" altLang="en-US" dirty="0"/>
              <a:t>是在后线性化模型上进行任务算术，</a:t>
            </a:r>
            <a:endParaRPr lang="en-US" altLang="zh-CN" dirty="0"/>
          </a:p>
          <a:p>
            <a:endParaRPr lang="en-US" altLang="zh-CN" dirty="0"/>
          </a:p>
          <a:p>
            <a:r>
              <a:rPr lang="en-US" altLang="zh-CN" dirty="0"/>
              <a:t>abs</a:t>
            </a:r>
            <a:r>
              <a:rPr lang="zh-CN" altLang="en-US" dirty="0"/>
              <a:t>是模型的绝对精度，是不同任务准确率的平均，</a:t>
            </a:r>
            <a:endParaRPr lang="en-US" altLang="zh-CN" dirty="0"/>
          </a:p>
          <a:p>
            <a:endParaRPr lang="en-US" altLang="zh-CN" dirty="0"/>
          </a:p>
          <a:p>
            <a:r>
              <a:rPr lang="en-US" altLang="zh-CN" dirty="0"/>
              <a:t>norm</a:t>
            </a:r>
            <a:r>
              <a:rPr lang="zh-CN" altLang="en-US" dirty="0"/>
              <a:t>是归一化精度，这是他的公式，其代表的是模型相较于融合前模型能保持的相对精确率</a:t>
            </a:r>
            <a:endParaRPr lang="en-US" altLang="zh-CN" dirty="0"/>
          </a:p>
          <a:p>
            <a:endParaRPr lang="en-US" altLang="zh-CN" dirty="0"/>
          </a:p>
          <a:p>
            <a:r>
              <a:rPr lang="zh-CN" altLang="en-US" dirty="0"/>
              <a:t>实验结果表明，原始模型额绝对精度显著优于后线性化模型，但是原始模型的归一化精度却低于后线性化模型，在任务遗忘的实验中，原始模型甚至不如后线性化模型</a:t>
            </a:r>
            <a:endParaRPr lang="en-US" altLang="zh-CN" dirty="0"/>
          </a:p>
          <a:p>
            <a:endParaRPr lang="en-US" altLang="zh-CN" dirty="0"/>
          </a:p>
          <a:p>
            <a:r>
              <a:rPr lang="zh-CN" altLang="en-US" dirty="0"/>
              <a:t>通过这个实验，进一步说明模型任务算术有效而原因不能归因与模型在线性区域内微调</a:t>
            </a:r>
            <a:endParaRPr lang="en-US" altLang="zh-CN"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381667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sz="1600" kern="1200" dirty="0">
                    <a:solidFill>
                      <a:schemeClr val="tx1"/>
                    </a:solidFill>
                    <a:latin typeface="+mn-lt"/>
                    <a:ea typeface="+mn-ea"/>
                    <a:cs typeface="+mn-cs"/>
                  </a:rPr>
                  <a:t>既然模型不能用线性微调来解释，作者就提出了模型满足任务算术的必要条件，就是权重解缠</a:t>
                </a:r>
                <a:endParaRPr lang="en-US" altLang="zh-CN" sz="1600" kern="1200" dirty="0">
                  <a:solidFill>
                    <a:schemeClr val="tx1"/>
                  </a:solidFill>
                  <a:latin typeface="+mn-lt"/>
                  <a:ea typeface="+mn-ea"/>
                  <a:cs typeface="+mn-cs"/>
                </a:endParaRPr>
              </a:p>
              <a:p>
                <a:pPr marL="285750" indent="-285750">
                  <a:buFont typeface="Wingdings" panose="05000000000000000000" pitchFamily="2" charset="2"/>
                  <a:buChar char="Ø"/>
                </a:pPr>
                <a:endParaRPr lang="en-US" altLang="zh-CN" sz="1600" kern="1200" dirty="0">
                  <a:solidFill>
                    <a:schemeClr val="tx1"/>
                  </a:solidFill>
                  <a:latin typeface="+mn-lt"/>
                  <a:ea typeface="+mn-ea"/>
                  <a:cs typeface="+mn-cs"/>
                </a:endParaRPr>
              </a:p>
              <a:p>
                <a:pPr marL="0" indent="0">
                  <a:buFont typeface="Wingdings" panose="05000000000000000000" pitchFamily="2" charset="2"/>
                  <a:buNone/>
                </a:pPr>
                <a:r>
                  <a:rPr lang="zh-CN" altLang="en-US" sz="1600" kern="1200" dirty="0">
                    <a:solidFill>
                      <a:schemeClr val="tx1"/>
                    </a:solidFill>
                    <a:latin typeface="+mn-lt"/>
                    <a:ea typeface="+mn-ea"/>
                    <a:cs typeface="+mn-cs"/>
                  </a:rPr>
                  <a:t>公式解释：</a:t>
                </a:r>
                <a:endParaRPr lang="en-US" altLang="zh-CN" sz="1600" kern="1200" dirty="0">
                  <a:solidFill>
                    <a:schemeClr val="tx1"/>
                  </a:solidFill>
                  <a:latin typeface="+mn-lt"/>
                  <a:ea typeface="+mn-ea"/>
                  <a:cs typeface="+mn-cs"/>
                </a:endParaRPr>
              </a:p>
              <a:p>
                <a:pPr marL="0" indent="0">
                  <a:buFont typeface="Wingdings" panose="05000000000000000000" pitchFamily="2" charset="2"/>
                  <a:buNone/>
                </a:pPr>
                <a:endParaRPr lang="en-US" altLang="zh-CN" sz="1600" kern="1200" dirty="0">
                  <a:solidFill>
                    <a:schemeClr val="tx1"/>
                  </a:solidFill>
                  <a:latin typeface="+mn-lt"/>
                  <a:ea typeface="+mn-ea"/>
                  <a:cs typeface="+mn-cs"/>
                </a:endParaRPr>
              </a:p>
              <a:p>
                <a:pPr marL="0" indent="0">
                  <a:buFont typeface="Wingdings" panose="05000000000000000000" pitchFamily="2" charset="2"/>
                  <a:buNone/>
                </a:pPr>
                <a:r>
                  <a:rPr lang="zh-CN" altLang="en-US" sz="1600" kern="1200" dirty="0">
                    <a:solidFill>
                      <a:schemeClr val="tx1"/>
                    </a:solidFill>
                    <a:latin typeface="+mn-lt"/>
                    <a:ea typeface="+mn-ea"/>
                    <a:cs typeface="+mn-cs"/>
                  </a:rPr>
                  <a:t>局部性：函数 </a:t>
                </a:r>
                <a14:m>
                  <m:oMath xmlns:m="http://schemas.openxmlformats.org/officeDocument/2006/math">
                    <m:sSub>
                      <m:sSubPr>
                        <m:ctrlPr>
                          <a:rPr lang="en-US" altLang="zh-CN" sz="1600" i="1" kern="1200" smtClean="0">
                            <a:solidFill>
                              <a:schemeClr val="tx1"/>
                            </a:solidFill>
                            <a:latin typeface="Cambria Math" panose="02040503050406030204" pitchFamily="18" charset="0"/>
                            <a:ea typeface="+mn-ea"/>
                            <a:cs typeface="+mn-cs"/>
                          </a:rPr>
                        </m:ctrlPr>
                      </m:sSubPr>
                      <m:e>
                        <m:r>
                          <a:rPr lang="en-US" altLang="zh-CN" sz="1600" kern="1200" smtClean="0">
                            <a:solidFill>
                              <a:schemeClr val="tx1"/>
                            </a:solidFill>
                            <a:latin typeface="Cambria Math" panose="02040503050406030204" pitchFamily="18" charset="0"/>
                            <a:ea typeface="+mn-ea"/>
                            <a:cs typeface="+mn-cs"/>
                          </a:rPr>
                          <m:t>𝑔</m:t>
                        </m:r>
                      </m:e>
                      <m:sub>
                        <m:r>
                          <a:rPr lang="en-US" altLang="zh-CN" sz="1600" kern="1200" smtClean="0">
                            <a:solidFill>
                              <a:schemeClr val="tx1"/>
                            </a:solidFill>
                            <a:latin typeface="Cambria Math" panose="02040503050406030204" pitchFamily="18" charset="0"/>
                            <a:ea typeface="+mn-ea"/>
                            <a:cs typeface="+mn-cs"/>
                          </a:rPr>
                          <m:t>𝑡</m:t>
                        </m:r>
                      </m:sub>
                    </m:sSub>
                  </m:oMath>
                </a14:m>
                <a:r>
                  <a:rPr lang="zh-CN" altLang="en-US" sz="1600" kern="1200" dirty="0">
                    <a:solidFill>
                      <a:schemeClr val="tx1"/>
                    </a:solidFill>
                    <a:latin typeface="+mn-lt"/>
                    <a:ea typeface="+mn-ea"/>
                    <a:cs typeface="+mn-cs"/>
                  </a:rPr>
                  <a:t> 在任务</a:t>
                </a:r>
                <a14:m>
                  <m:oMath xmlns:m="http://schemas.openxmlformats.org/officeDocument/2006/math">
                    <m:sSub>
                      <m:sSubPr>
                        <m:ctrlPr>
                          <a:rPr lang="en-US" altLang="zh-CN" sz="1600" i="1" kern="1200" smtClean="0">
                            <a:solidFill>
                              <a:schemeClr val="tx1"/>
                            </a:solidFill>
                            <a:latin typeface="Cambria Math" panose="02040503050406030204" pitchFamily="18" charset="0"/>
                            <a:ea typeface="+mn-ea"/>
                            <a:cs typeface="+mn-cs"/>
                          </a:rPr>
                        </m:ctrlPr>
                      </m:sSubPr>
                      <m:e>
                        <m:r>
                          <a:rPr lang="en-US" altLang="zh-CN" sz="1600" kern="1200" smtClean="0">
                            <a:solidFill>
                              <a:schemeClr val="tx1"/>
                            </a:solidFill>
                            <a:latin typeface="Cambria Math" panose="02040503050406030204" pitchFamily="18" charset="0"/>
                            <a:ea typeface="+mn-ea"/>
                            <a:cs typeface="+mn-cs"/>
                          </a:rPr>
                          <m:t>𝑇</m:t>
                        </m:r>
                      </m:e>
                      <m:sub>
                        <m:r>
                          <a:rPr lang="en-US" altLang="zh-CN" sz="1600" kern="1200" smtClean="0">
                            <a:solidFill>
                              <a:schemeClr val="tx1"/>
                            </a:solidFill>
                            <a:latin typeface="Cambria Math" panose="02040503050406030204" pitchFamily="18" charset="0"/>
                            <a:ea typeface="+mn-ea"/>
                            <a:cs typeface="+mn-cs"/>
                          </a:rPr>
                          <m:t>𝑡</m:t>
                        </m:r>
                      </m:sub>
                    </m:sSub>
                  </m:oMath>
                </a14:m>
                <a:r>
                  <a:rPr lang="zh-CN" altLang="en-US" sz="1600" kern="1200" dirty="0">
                    <a:solidFill>
                      <a:schemeClr val="tx1"/>
                    </a:solidFill>
                    <a:latin typeface="+mn-lt"/>
                    <a:ea typeface="+mn-ea"/>
                    <a:cs typeface="+mn-cs"/>
                  </a:rPr>
                  <a:t>的输入区域</a:t>
                </a:r>
                <a14:m>
                  <m:oMath xmlns:m="http://schemas.openxmlformats.org/officeDocument/2006/math">
                    <m:r>
                      <a:rPr lang="en-US" altLang="zh-CN" sz="1600" kern="1200" smtClean="0">
                        <a:solidFill>
                          <a:schemeClr val="tx1"/>
                        </a:solidFill>
                        <a:latin typeface="Cambria Math" panose="02040503050406030204" pitchFamily="18" charset="0"/>
                        <a:ea typeface="+mn-ea"/>
                        <a:cs typeface="+mn-cs"/>
                      </a:rPr>
                      <m:t> </m:t>
                    </m:r>
                    <m:sSub>
                      <m:sSubPr>
                        <m:ctrlPr>
                          <a:rPr lang="en-US" altLang="zh-CN" sz="1600" i="1" kern="1200" smtClean="0">
                            <a:solidFill>
                              <a:schemeClr val="tx1"/>
                            </a:solidFill>
                            <a:latin typeface="Cambria Math" panose="02040503050406030204" pitchFamily="18" charset="0"/>
                            <a:ea typeface="+mn-ea"/>
                            <a:cs typeface="+mn-cs"/>
                          </a:rPr>
                        </m:ctrlPr>
                      </m:sSubPr>
                      <m:e>
                        <m:r>
                          <a:rPr lang="en-US" altLang="zh-CN" sz="1600" kern="1200" smtClean="0">
                            <a:solidFill>
                              <a:schemeClr val="tx1"/>
                            </a:solidFill>
                            <a:latin typeface="Cambria Math" panose="02040503050406030204" pitchFamily="18" charset="0"/>
                            <a:ea typeface="+mn-ea"/>
                            <a:cs typeface="+mn-cs"/>
                          </a:rPr>
                          <m:t>𝐷</m:t>
                        </m:r>
                      </m:e>
                      <m:sub>
                        <m:r>
                          <a:rPr lang="en-US" altLang="zh-CN" sz="1600" kern="1200" smtClean="0">
                            <a:solidFill>
                              <a:schemeClr val="tx1"/>
                            </a:solidFill>
                            <a:latin typeface="Cambria Math" panose="02040503050406030204" pitchFamily="18" charset="0"/>
                            <a:ea typeface="+mn-ea"/>
                            <a:cs typeface="+mn-cs"/>
                          </a:rPr>
                          <m:t>𝑡</m:t>
                        </m:r>
                      </m:sub>
                    </m:sSub>
                    <m:r>
                      <a:rPr lang="en-US" altLang="zh-CN" sz="1600" kern="1200" smtClean="0">
                        <a:solidFill>
                          <a:schemeClr val="tx1"/>
                        </a:solidFill>
                        <a:latin typeface="Cambria Math" panose="02040503050406030204" pitchFamily="18" charset="0"/>
                        <a:ea typeface="+mn-ea"/>
                        <a:cs typeface="+mn-cs"/>
                      </a:rPr>
                      <m:t> </m:t>
                    </m:r>
                  </m:oMath>
                </a14:m>
                <a:r>
                  <a:rPr lang="zh-CN" altLang="en-US" sz="1600" kern="1200" dirty="0">
                    <a:solidFill>
                      <a:schemeClr val="tx1"/>
                    </a:solidFill>
                    <a:latin typeface="+mn-lt"/>
                    <a:ea typeface="+mn-ea"/>
                    <a:cs typeface="+mn-cs"/>
                  </a:rPr>
                  <a:t>内有效，在其他区域内则为零，即不产生影响。这就保证了不同任务之间的相互独立。</a:t>
                </a:r>
                <a:endParaRPr lang="en-US" altLang="zh-CN" sz="1600" kern="1200" dirty="0">
                  <a:solidFill>
                    <a:schemeClr val="tx1"/>
                  </a:solidFill>
                  <a:latin typeface="+mn-lt"/>
                  <a:ea typeface="+mn-ea"/>
                  <a:cs typeface="+mn-cs"/>
                </a:endParaRPr>
              </a:p>
              <a:p>
                <a:pPr marL="0" indent="0">
                  <a:buFont typeface="Wingdings" panose="05000000000000000000" pitchFamily="2" charset="2"/>
                  <a:buNone/>
                </a:pPr>
                <a:endParaRPr lang="en-US" altLang="zh-CN" sz="1600" kern="1200" dirty="0">
                  <a:solidFill>
                    <a:schemeClr val="tx1"/>
                  </a:solidFill>
                  <a:latin typeface="+mn-lt"/>
                  <a:ea typeface="+mn-ea"/>
                  <a:cs typeface="+mn-cs"/>
                </a:endParaRPr>
              </a:p>
              <a:p>
                <a:pPr marL="0" indent="0">
                  <a:buFont typeface="Wingdings" panose="05000000000000000000" pitchFamily="2" charset="2"/>
                  <a:buNone/>
                </a:pPr>
                <a:r>
                  <a:rPr lang="zh-CN" altLang="en-US" sz="1600" kern="1200" dirty="0">
                    <a:solidFill>
                      <a:schemeClr val="tx1"/>
                    </a:solidFill>
                    <a:latin typeface="+mn-lt"/>
                    <a:ea typeface="+mn-ea"/>
                    <a:cs typeface="+mn-cs"/>
                  </a:rPr>
                  <a:t>分离性：每个局部化函数 </a:t>
                </a:r>
                <a14:m>
                  <m:oMath xmlns:m="http://schemas.openxmlformats.org/officeDocument/2006/math">
                    <m:sSub>
                      <m:sSubPr>
                        <m:ctrlPr>
                          <a:rPr lang="en-US" altLang="zh-CN" sz="1600" i="1" kern="1200" smtClean="0">
                            <a:solidFill>
                              <a:schemeClr val="tx1"/>
                            </a:solidFill>
                            <a:latin typeface="Cambria Math" panose="02040503050406030204" pitchFamily="18" charset="0"/>
                            <a:ea typeface="+mn-ea"/>
                            <a:cs typeface="+mn-cs"/>
                          </a:rPr>
                        </m:ctrlPr>
                      </m:sSubPr>
                      <m:e>
                        <m:r>
                          <a:rPr lang="en-US" altLang="zh-CN" sz="1600" kern="1200" smtClean="0">
                            <a:solidFill>
                              <a:schemeClr val="tx1"/>
                            </a:solidFill>
                            <a:latin typeface="Cambria Math" panose="02040503050406030204" pitchFamily="18" charset="0"/>
                            <a:ea typeface="+mn-ea"/>
                            <a:cs typeface="+mn-cs"/>
                          </a:rPr>
                          <m:t>𝑔</m:t>
                        </m:r>
                      </m:e>
                      <m:sub>
                        <m:r>
                          <a:rPr lang="en-US" altLang="zh-CN" sz="1600" kern="1200" smtClean="0">
                            <a:solidFill>
                              <a:schemeClr val="tx1"/>
                            </a:solidFill>
                            <a:latin typeface="Cambria Math" panose="02040503050406030204" pitchFamily="18" charset="0"/>
                            <a:ea typeface="+mn-ea"/>
                            <a:cs typeface="+mn-cs"/>
                          </a:rPr>
                          <m:t>𝑡</m:t>
                        </m:r>
                      </m:sub>
                    </m:sSub>
                  </m:oMath>
                </a14:m>
                <a:r>
                  <a:rPr lang="zh-CN" altLang="en-US" sz="1600" kern="1200" dirty="0">
                    <a:solidFill>
                      <a:schemeClr val="tx1"/>
                    </a:solidFill>
                    <a:latin typeface="+mn-lt"/>
                    <a:ea typeface="+mn-ea"/>
                    <a:cs typeface="+mn-cs"/>
                  </a:rPr>
                  <a:t> 对应一个任务，通过对应的任务向量 </a:t>
                </a:r>
                <a14:m>
                  <m:oMath xmlns:m="http://schemas.openxmlformats.org/officeDocument/2006/math">
                    <m:sSub>
                      <m:sSubPr>
                        <m:ctrlPr>
                          <a:rPr lang="en-US" altLang="zh-CN" sz="1600" i="1" kern="1200" smtClean="0">
                            <a:solidFill>
                              <a:schemeClr val="tx1"/>
                            </a:solidFill>
                            <a:latin typeface="Cambria Math" panose="02040503050406030204" pitchFamily="18" charset="0"/>
                            <a:ea typeface="+mn-ea"/>
                            <a:cs typeface="+mn-cs"/>
                          </a:rPr>
                        </m:ctrlPr>
                      </m:sSubPr>
                      <m:e>
                        <m:r>
                          <a:rPr lang="en-US" altLang="zh-CN" sz="1600" kern="1200" smtClean="0">
                            <a:solidFill>
                              <a:schemeClr val="tx1"/>
                            </a:solidFill>
                            <a:latin typeface="Cambria Math" panose="02040503050406030204" pitchFamily="18" charset="0"/>
                            <a:ea typeface="+mn-ea"/>
                            <a:cs typeface="+mn-cs"/>
                          </a:rPr>
                          <m:t>𝜏</m:t>
                        </m:r>
                      </m:e>
                      <m:sub>
                        <m:r>
                          <a:rPr lang="en-US" altLang="zh-CN" sz="1600" kern="1200" smtClean="0">
                            <a:solidFill>
                              <a:schemeClr val="tx1"/>
                            </a:solidFill>
                            <a:latin typeface="Cambria Math" panose="02040503050406030204" pitchFamily="18" charset="0"/>
                            <a:ea typeface="+mn-ea"/>
                            <a:cs typeface="+mn-cs"/>
                          </a:rPr>
                          <m:t>𝑡</m:t>
                        </m:r>
                      </m:sub>
                    </m:sSub>
                  </m:oMath>
                </a14:m>
                <a:r>
                  <a:rPr lang="zh-CN" altLang="en-US" sz="1600" kern="1200" dirty="0">
                    <a:solidFill>
                      <a:schemeClr val="tx1"/>
                    </a:solidFill>
                    <a:latin typeface="+mn-lt"/>
                    <a:ea typeface="+mn-ea"/>
                    <a:cs typeface="+mn-cs"/>
                  </a:rPr>
                  <a:t> 来控制该任务的表现，而不干扰其他任务。这种分离性通过权重解耦来实现。</a:t>
                </a:r>
                <a:endParaRPr lang="en-US" altLang="zh-CN" sz="1600" kern="1200" dirty="0">
                  <a:solidFill>
                    <a:schemeClr val="tx1"/>
                  </a:solidFill>
                  <a:latin typeface="+mn-lt"/>
                  <a:ea typeface="+mn-ea"/>
                  <a:cs typeface="+mn-cs"/>
                </a:endParaRPr>
              </a:p>
              <a:p>
                <a:pPr marL="0" indent="0">
                  <a:buFont typeface="Wingdings" panose="05000000000000000000" pitchFamily="2" charset="2"/>
                  <a:buNone/>
                </a:pPr>
                <a:endParaRPr lang="en-US" altLang="zh-CN" sz="1600" kern="1200" dirty="0">
                  <a:solidFill>
                    <a:schemeClr val="tx1"/>
                  </a:solidFill>
                  <a:latin typeface="+mn-lt"/>
                  <a:ea typeface="+mn-ea"/>
                  <a:cs typeface="+mn-cs"/>
                </a:endParaRPr>
              </a:p>
              <a:p>
                <a:pPr marL="0" indent="0">
                  <a:buFont typeface="Wingdings" panose="05000000000000000000" pitchFamily="2" charset="2"/>
                  <a:buNone/>
                </a:pPr>
                <a:r>
                  <a:rPr lang="zh-CN" altLang="en-US" sz="1600" kern="1200" dirty="0">
                    <a:solidFill>
                      <a:schemeClr val="tx1"/>
                    </a:solidFill>
                    <a:latin typeface="+mn-lt"/>
                    <a:ea typeface="+mn-ea"/>
                    <a:cs typeface="+mn-cs"/>
                  </a:rPr>
                  <a:t>独立性：局部化函数的设计允许我们对不同任务进行独立操作，例如对任务向量进行加权、组合等操作，而不会影响其他任务的表现。这种独立性使得任务算术成为可能</a:t>
                </a:r>
                <a:endParaRPr lang="en-US" altLang="zh-CN" sz="1600" kern="1200" dirty="0">
                  <a:solidFill>
                    <a:schemeClr val="tx1"/>
                  </a:solidFill>
                  <a:latin typeface="+mn-lt"/>
                  <a:ea typeface="+mn-ea"/>
                  <a:cs typeface="+mn-cs"/>
                </a:endParaRPr>
              </a:p>
              <a:p>
                <a:endParaRPr lang="zh-CN" altLang="en-US" sz="1600" kern="1200" dirty="0">
                  <a:solidFill>
                    <a:schemeClr val="tx1"/>
                  </a:solidFill>
                  <a:latin typeface="+mn-lt"/>
                  <a:ea typeface="+mn-ea"/>
                  <a:cs typeface="+mn-cs"/>
                </a:endParaRPr>
              </a:p>
            </p:txBody>
          </p:sp>
        </mc:Choice>
        <mc:Fallback xmlns="">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285750" indent="-285750">
                  <a:buFont typeface="Wingdings" panose="05000000000000000000" pitchFamily="2" charset="2"/>
                  <a:buChar char="Ø"/>
                </a:pPr>
                <a:r>
                  <a:rPr lang="zh-CN" altLang="en-US" b="1" dirty="0">
                    <a:solidFill>
                      <a:srgbClr val="268F9C"/>
                    </a:solidFill>
                    <a:latin typeface="+mn-ea"/>
                  </a:rPr>
                  <a:t>公式解释：</a:t>
                </a:r>
                <a:endParaRPr lang="en-US" altLang="zh-CN" b="1" dirty="0">
                  <a:solidFill>
                    <a:srgbClr val="268F9C"/>
                  </a:solidFill>
                  <a:latin typeface="+mn-ea"/>
                </a:endParaRPr>
              </a:p>
              <a:p>
                <a:pPr marL="742950" lvl="1" indent="-285750">
                  <a:buFont typeface="Wingdings" panose="05000000000000000000" pitchFamily="2" charset="2"/>
                  <a:buChar char="l"/>
                </a:pPr>
                <a:r>
                  <a:rPr lang="zh-CN" altLang="en-US" sz="1600" b="1" dirty="0">
                    <a:latin typeface="+mn-ea"/>
                  </a:rPr>
                  <a:t>局部性</a:t>
                </a:r>
                <a:r>
                  <a:rPr lang="zh-CN" altLang="en-US" sz="1600" dirty="0">
                    <a:latin typeface="+mn-ea"/>
                  </a:rPr>
                  <a:t>：函数 </a:t>
                </a:r>
                <a:r>
                  <a:rPr lang="en-US" altLang="zh-CN" sz="1600" b="0" i="0">
                    <a:latin typeface="Cambria Math" panose="02040503050406030204" pitchFamily="18" charset="0"/>
                  </a:rPr>
                  <a:t>𝑔_𝑡</a:t>
                </a:r>
                <a:r>
                  <a:rPr lang="zh-CN" altLang="en-US" sz="1600" dirty="0">
                    <a:latin typeface="+mn-ea"/>
                  </a:rPr>
                  <a:t> 在任务</a:t>
                </a:r>
                <a:r>
                  <a:rPr lang="en-US" altLang="zh-CN" sz="1600" b="0" i="0">
                    <a:latin typeface="Cambria Math" panose="02040503050406030204" pitchFamily="18" charset="0"/>
                  </a:rPr>
                  <a:t>𝑇_𝑡</a:t>
                </a:r>
                <a:r>
                  <a:rPr lang="zh-CN" altLang="en-US" sz="1600" dirty="0">
                    <a:latin typeface="+mn-ea"/>
                  </a:rPr>
                  <a:t>的输入区域</a:t>
                </a:r>
                <a:r>
                  <a:rPr lang="en-US" altLang="zh-CN" sz="1600" b="0" i="0">
                    <a:latin typeface="Cambria Math" panose="02040503050406030204" pitchFamily="18" charset="0"/>
                  </a:rPr>
                  <a:t> 𝐷_𝑡  </a:t>
                </a:r>
                <a:r>
                  <a:rPr lang="zh-CN" altLang="en-US" sz="1600" dirty="0">
                    <a:latin typeface="+mn-ea"/>
                  </a:rPr>
                  <a:t>内有效，在其他区域内则为零，即不产生影响。这就保证了不同任务之间的相互独立。</a:t>
                </a:r>
                <a:endParaRPr lang="en-US" altLang="zh-CN" sz="1600" dirty="0">
                  <a:latin typeface="+mn-ea"/>
                </a:endParaRPr>
              </a:p>
              <a:p>
                <a:pPr marL="742950" lvl="1" indent="-285750">
                  <a:buFont typeface="Wingdings" panose="05000000000000000000" pitchFamily="2" charset="2"/>
                  <a:buChar char="l"/>
                </a:pPr>
                <a:r>
                  <a:rPr lang="zh-CN" altLang="en-US" sz="1600" b="1" dirty="0"/>
                  <a:t>分离性</a:t>
                </a:r>
                <a:r>
                  <a:rPr lang="zh-CN" altLang="en-US" sz="1600" dirty="0"/>
                  <a:t>：每个局部化函数 </a:t>
                </a:r>
                <a:r>
                  <a:rPr lang="en-US" altLang="zh-CN" sz="1600" b="0" i="0">
                    <a:latin typeface="Cambria Math" panose="02040503050406030204" pitchFamily="18" charset="0"/>
                  </a:rPr>
                  <a:t>𝑔_𝑡</a:t>
                </a:r>
                <a:r>
                  <a:rPr lang="zh-CN" altLang="en-US" sz="1600" dirty="0"/>
                  <a:t> 对应一个任务，通过对应的任务向量 </a:t>
                </a:r>
                <a:r>
                  <a:rPr lang="en-US" altLang="zh-CN" sz="1600" b="0" i="0">
                    <a:latin typeface="Cambria Math" panose="02040503050406030204" pitchFamily="18" charset="0"/>
                  </a:rPr>
                  <a:t>𝜏_𝑡</a:t>
                </a:r>
                <a:r>
                  <a:rPr lang="zh-CN" altLang="en-US" sz="1600" dirty="0"/>
                  <a:t> 来控制该任务的表现，而不干扰其他任务。这种分离性通过权重解耦来实现。</a:t>
                </a:r>
                <a:endParaRPr lang="en-US" altLang="zh-CN" sz="1600" dirty="0"/>
              </a:p>
              <a:p>
                <a:pPr marL="742950" lvl="1" indent="-285750">
                  <a:buFont typeface="Wingdings" panose="05000000000000000000" pitchFamily="2" charset="2"/>
                  <a:buChar char="l"/>
                </a:pPr>
                <a:r>
                  <a:rPr lang="zh-CN" altLang="en-US" sz="1600" b="1" dirty="0"/>
                  <a:t>独立性</a:t>
                </a:r>
                <a:r>
                  <a:rPr lang="zh-CN" altLang="en-US" sz="1600" dirty="0"/>
                  <a:t>：局部化函数的设计允许我们对不同任务进行独立操作，例如对任务向量进行加权、组合等操作，而不会影响其他任务的表现。这种独立性使得任务算术成为可能</a:t>
                </a:r>
                <a:endParaRPr lang="en-US" altLang="zh-CN" sz="1600" dirty="0">
                  <a:latin typeface="+mn-ea"/>
                </a:endParaRPr>
              </a:p>
              <a:p>
                <a:endParaRPr lang="zh-CN" altLang="en-US" dirty="0"/>
              </a:p>
            </p:txBody>
          </p:sp>
        </mc:Fallback>
      </mc:AlternateContent>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453796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sz="1600" dirty="0">
                <a:latin typeface="+mn-ea"/>
              </a:rPr>
              <a:t>作者为了形象的展示模型权重解缠属性，他使用了这个公式来对权重解缠进行可视化，作者称为解缠误差</a:t>
            </a:r>
            <a:endParaRPr lang="en-US" altLang="zh-CN" sz="1600" dirty="0">
              <a:latin typeface="+mn-ea"/>
            </a:endParaRPr>
          </a:p>
          <a:p>
            <a:pPr marL="0" indent="0">
              <a:buFont typeface="Wingdings" panose="05000000000000000000" pitchFamily="2" charset="2"/>
              <a:buNone/>
            </a:pPr>
            <a:r>
              <a:rPr lang="zh-CN" altLang="en-US" sz="1600" dirty="0">
                <a:latin typeface="+mn-ea"/>
              </a:rPr>
              <a:t>这个公式的意思如果融合后的模型与单任务这个模型的输出一样，那么</a:t>
            </a:r>
            <a:r>
              <a:rPr lang="en-US" altLang="zh-CN" sz="1600" dirty="0" err="1">
                <a:latin typeface="+mn-ea"/>
              </a:rPr>
              <a:t>dist</a:t>
            </a:r>
            <a:r>
              <a:rPr lang="zh-CN" altLang="en-US" sz="1600" dirty="0">
                <a:latin typeface="+mn-ea"/>
              </a:rPr>
              <a:t>这个函数就为</a:t>
            </a:r>
            <a:r>
              <a:rPr lang="en-US" altLang="zh-CN" sz="1600" dirty="0">
                <a:latin typeface="+mn-ea"/>
              </a:rPr>
              <a:t>0</a:t>
            </a:r>
            <a:r>
              <a:rPr lang="zh-CN" altLang="en-US" sz="1600" dirty="0">
                <a:latin typeface="+mn-ea"/>
              </a:rPr>
              <a:t>，否则就为</a:t>
            </a:r>
            <a:r>
              <a:rPr lang="en-US" altLang="zh-CN" sz="1600" dirty="0">
                <a:latin typeface="+mn-ea"/>
              </a:rPr>
              <a:t>1</a:t>
            </a:r>
            <a:r>
              <a:rPr lang="zh-CN" altLang="en-US" sz="1600" dirty="0">
                <a:latin typeface="+mn-ea"/>
              </a:rPr>
              <a:t>，这个公式越接近</a:t>
            </a:r>
            <a:r>
              <a:rPr lang="en-US" altLang="zh-CN" sz="1600" dirty="0">
                <a:latin typeface="+mn-ea"/>
              </a:rPr>
              <a:t>0</a:t>
            </a:r>
            <a:r>
              <a:rPr lang="zh-CN" altLang="en-US" sz="1600" dirty="0">
                <a:latin typeface="+mn-ea"/>
              </a:rPr>
              <a:t>，说明不同任务之间的干扰就越小</a:t>
            </a:r>
            <a:endParaRPr lang="en-US" altLang="zh-CN" sz="1600" dirty="0">
              <a:latin typeface="+mn-ea"/>
            </a:endParaRPr>
          </a:p>
          <a:p>
            <a:pPr marL="0" indent="0">
              <a:buFont typeface="Wingdings" panose="05000000000000000000" pitchFamily="2" charset="2"/>
              <a:buNone/>
            </a:pPr>
            <a:r>
              <a:rPr lang="zh-CN" altLang="en-US" sz="1600" dirty="0">
                <a:latin typeface="+mn-ea"/>
              </a:rPr>
              <a:t>这个图就是权重解缠的可视化结果，这个图展示了，后线性化模型的解缠误差显著低于原始模型</a:t>
            </a:r>
            <a:endParaRPr lang="en-US" altLang="zh-CN" sz="1600" dirty="0">
              <a:latin typeface="+mn-ea"/>
            </a:endParaRPr>
          </a:p>
          <a:p>
            <a:pPr marL="0" indent="0">
              <a:buFont typeface="Wingdings" panose="05000000000000000000" pitchFamily="2" charset="2"/>
              <a:buNone/>
            </a:pPr>
            <a:r>
              <a:rPr lang="zh-CN" altLang="en-US" sz="1600" dirty="0">
                <a:latin typeface="+mn-ea"/>
              </a:rPr>
              <a:t>这个结果与之前的模型归一化准确率高于原始模型的结果相一致</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483465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en-US" altLang="zh-CN" sz="1600" dirty="0">
              <a:latin typeface="+mn-ea"/>
            </a:endParaRPr>
          </a:p>
          <a:p>
            <a:r>
              <a:rPr lang="zh-CN" altLang="en-US" dirty="0"/>
              <a:t>通过之前的实验，我们可以得到，原始的模型在单个任务的精度显著高于后线性化模型</a:t>
            </a:r>
            <a:endParaRPr lang="en-US" altLang="zh-CN" dirty="0"/>
          </a:p>
          <a:p>
            <a:r>
              <a:rPr lang="zh-CN" altLang="en-US" dirty="0"/>
              <a:t>但在任务融合的归一化精度以及权重解缠方面都优于原始微调模型</a:t>
            </a:r>
            <a:endParaRPr lang="en-US" altLang="zh-CN" dirty="0"/>
          </a:p>
          <a:p>
            <a:r>
              <a:rPr lang="zh-CN" altLang="en-US" dirty="0"/>
              <a:t>因此，如果能够提高后线性化模型在单任务上的精度，那么就会提高任务融合的准确率</a:t>
            </a:r>
            <a:endParaRPr lang="en-US" altLang="zh-CN" dirty="0"/>
          </a:p>
          <a:p>
            <a:r>
              <a:rPr lang="zh-CN" altLang="en-US" dirty="0"/>
              <a:t>因此作者直接让模型在切空间内进行微调，就是优化这个公式，以提高线性模型在单任务上的准确率</a:t>
            </a:r>
            <a:endParaRPr lang="en-US" altLang="zh-CN"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599438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sz="1600" dirty="0">
                <a:latin typeface="+mn-ea"/>
              </a:rPr>
              <a:t>第一个图展示了切空间微调后的模型与原始模型在单任务精度上的对比，从这个图中可以发现线性微调后的模型在单任务精度的性能得到了显著提升</a:t>
            </a:r>
            <a:endParaRPr lang="en-US" altLang="zh-CN" sz="1600" dirty="0">
              <a:latin typeface="+mn-ea"/>
            </a:endParaRPr>
          </a:p>
          <a:p>
            <a:pPr marL="0" indent="0">
              <a:buFont typeface="Wingdings" panose="05000000000000000000" pitchFamily="2" charset="2"/>
              <a:buNone/>
            </a:pPr>
            <a:r>
              <a:rPr lang="zh-CN" altLang="en-US" sz="1600" dirty="0">
                <a:latin typeface="+mn-ea"/>
              </a:rPr>
              <a:t>在任务融合中，由于提升了单任务的精度，并且利用了线性模型的权重解缠属性，其都实现的最优的性能</a:t>
            </a:r>
            <a:endParaRPr lang="en-US" altLang="zh-CN" sz="1600" dirty="0">
              <a:latin typeface="+mn-ea"/>
            </a:endParaRPr>
          </a:p>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595011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sz="1600" dirty="0">
                <a:latin typeface="+mn-ea"/>
              </a:rPr>
              <a:t>最后，作者还研究了权重解缠这个属性是模型本身所具有的还是只在预训练模型中出现，作者对数据参数化的模型进行微调，然后进行任务融合额实验</a:t>
            </a:r>
            <a:endParaRPr lang="en-US" altLang="zh-CN" sz="1600" dirty="0">
              <a:latin typeface="+mn-ea"/>
            </a:endParaRPr>
          </a:p>
          <a:p>
            <a:pPr marL="0" indent="0">
              <a:buFont typeface="Wingdings" panose="05000000000000000000" pitchFamily="2" charset="2"/>
              <a:buNone/>
            </a:pPr>
            <a:r>
              <a:rPr lang="zh-CN" altLang="en-US" sz="1600" dirty="0">
                <a:latin typeface="+mn-ea"/>
              </a:rPr>
              <a:t>可以看到在任何模型中，其融合后的精度都显著下降，所以权重解缠这个属性不是模型与生俱来的，而是存在于预训练模型当中的</a:t>
            </a:r>
            <a:endParaRPr lang="en-US" altLang="zh-CN" sz="1600" dirty="0">
              <a:latin typeface="+mn-ea"/>
            </a:endParaRPr>
          </a:p>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3787265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sz="1600">
                <a:latin typeface="+mn-ea"/>
              </a:rPr>
              <a:t>最后，对这篇文文章做个总结</a:t>
            </a:r>
            <a:endParaRPr lang="en-US" altLang="zh-CN" sz="1600" dirty="0">
              <a:latin typeface="+mn-ea"/>
            </a:endParaRPr>
          </a:p>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043240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endParaRPr lang="zh-CN" altLang="en-US" b="0" i="0" dirty="0">
              <a:effectLst/>
              <a:latin typeface="-apple-system"/>
            </a:endParaRPr>
          </a:p>
        </p:txBody>
      </p:sp>
      <p:sp>
        <p:nvSpPr>
          <p:cNvPr id="4" name="灯片编号占位符 3"/>
          <p:cNvSpPr>
            <a:spLocks noGrp="1"/>
          </p:cNvSpPr>
          <p:nvPr>
            <p:ph type="sldNum" sz="quarter" idx="10"/>
          </p:nvPr>
        </p:nvSpPr>
        <p:spPr/>
        <p:txBody>
          <a:bodyPr/>
          <a:lstStyle/>
          <a:p>
            <a:fld id="{D34C0232-94FA-4EBE-BB9B-79FBE486032D}" type="slidenum">
              <a:rPr lang="zh-CN" altLang="en-US" smtClean="0"/>
              <a:t>18</a:t>
            </a:fld>
            <a:endParaRPr lang="zh-CN" altLang="en-US"/>
          </a:p>
        </p:txBody>
      </p:sp>
    </p:spTree>
    <p:extLst>
      <p:ext uri="{BB962C8B-B14F-4D97-AF65-F5344CB8AC3E}">
        <p14:creationId xmlns:p14="http://schemas.microsoft.com/office/powerpoint/2010/main" val="19746658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r>
              <a:rPr lang="zh-CN" altLang="en-US" b="0" i="0" dirty="0">
                <a:effectLst/>
                <a:latin typeface="-apple-system"/>
              </a:rPr>
              <a:t>中山大学，</a:t>
            </a:r>
          </a:p>
        </p:txBody>
      </p:sp>
      <p:sp>
        <p:nvSpPr>
          <p:cNvPr id="4" name="灯片编号占位符 3"/>
          <p:cNvSpPr>
            <a:spLocks noGrp="1"/>
          </p:cNvSpPr>
          <p:nvPr>
            <p:ph type="sldNum" sz="quarter" idx="10"/>
          </p:nvPr>
        </p:nvSpPr>
        <p:spPr/>
        <p:txBody>
          <a:bodyPr/>
          <a:lstStyle/>
          <a:p>
            <a:fld id="{D34C0232-94FA-4EBE-BB9B-79FBE486032D}" type="slidenum">
              <a:rPr lang="zh-CN" altLang="en-US" smtClean="0"/>
              <a:t>19</a:t>
            </a:fld>
            <a:endParaRPr lang="zh-CN" altLang="en-US"/>
          </a:p>
        </p:txBody>
      </p:sp>
    </p:spTree>
    <p:extLst>
      <p:ext uri="{BB962C8B-B14F-4D97-AF65-F5344CB8AC3E}">
        <p14:creationId xmlns:p14="http://schemas.microsoft.com/office/powerpoint/2010/main" val="35866572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sz="1600" dirty="0">
                <a:latin typeface="+mn-ea"/>
              </a:rPr>
              <a:t>首先，我先对这篇论文进行一个总体的介绍</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这篇文章提出的背景是这样的：大语言模型在各个自然语言处理任务上取得了非常大的成功，然后将这些不同架构模型的优点集中到一个模型中是非常有前景的，这也是这篇文章的一个主要工作</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在这个文章之前也有许多融合的方法</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第一个就是集成方法，他的主要思想是在推理时同时部署多个不同的模型，对于一个输入，每个模型都会推理一遍得到输出，然后再将这些输出通过加权平均等操作聚合起来，虽然集成方法可以提高模型的性能，但是其计算资源，内存资源开销也是非常大的，因为他要同时维护多个模型同时运行</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第二个就是权重融合方法，就如之前提到的任务算术方法，这个方法虽然可以大幅减少资源的开销并保持不错的性能，但是他要求在相同架构上进行，如果模型额架构不一样，那就不能直接在权重空间内融合模型</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在这个工作之前的工作时</a:t>
            </a:r>
            <a:r>
              <a:rPr lang="en-US" altLang="zh-CN" sz="1600" dirty="0" err="1">
                <a:latin typeface="+mn-ea"/>
              </a:rPr>
              <a:t>FuseLLM</a:t>
            </a:r>
            <a:r>
              <a:rPr lang="zh-CN" altLang="en-US" sz="1600" dirty="0">
                <a:latin typeface="+mn-ea"/>
              </a:rPr>
              <a:t>，这个方法他主要时利用的知识蒸馏技术来融合不同的模型的，在这个工作中他主要解决了不同模型输出融合的一个问题，因为不同语言模型他的分词器不同，得到的</a:t>
            </a:r>
            <a:r>
              <a:rPr lang="en-US" altLang="zh-CN" sz="1600" dirty="0">
                <a:latin typeface="+mn-ea"/>
              </a:rPr>
              <a:t>token</a:t>
            </a:r>
            <a:r>
              <a:rPr lang="zh-CN" altLang="en-US" sz="1600" dirty="0">
                <a:latin typeface="+mn-ea"/>
              </a:rPr>
              <a:t>分布也不相同，因此需要先将不同模型的</a:t>
            </a:r>
            <a:r>
              <a:rPr lang="en-US" altLang="zh-CN" sz="1600" dirty="0">
                <a:latin typeface="+mn-ea"/>
              </a:rPr>
              <a:t>token</a:t>
            </a:r>
            <a:r>
              <a:rPr lang="zh-CN" altLang="en-US" sz="1600" dirty="0">
                <a:latin typeface="+mn-ea"/>
              </a:rPr>
              <a:t>对齐后，才能进行输出的融合</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en-US" altLang="zh-CN" sz="1600" dirty="0" err="1">
                <a:latin typeface="+mn-ea"/>
              </a:rPr>
              <a:t>Fusechat</a:t>
            </a:r>
            <a:r>
              <a:rPr lang="zh-CN" altLang="en-US" sz="1600" dirty="0">
                <a:latin typeface="+mn-ea"/>
              </a:rPr>
              <a:t>是改进的</a:t>
            </a:r>
            <a:r>
              <a:rPr lang="en-US" altLang="zh-CN" sz="1600" dirty="0" err="1">
                <a:latin typeface="+mn-ea"/>
              </a:rPr>
              <a:t>fusellm</a:t>
            </a:r>
            <a:r>
              <a:rPr lang="zh-CN" altLang="en-US" sz="1600" dirty="0">
                <a:latin typeface="+mn-ea"/>
              </a:rPr>
              <a:t>这个方法</a:t>
            </a:r>
            <a:endParaRPr lang="en-US" altLang="zh-CN" sz="1600" dirty="0">
              <a:latin typeface="+mn-ea"/>
            </a:endParaRPr>
          </a:p>
          <a:p>
            <a:pPr marL="0" indent="0">
              <a:buFont typeface="Wingdings" panose="05000000000000000000" pitchFamily="2" charset="2"/>
              <a:buNone/>
            </a:pPr>
            <a:r>
              <a:rPr lang="zh-CN" altLang="en-US" sz="1600" dirty="0">
                <a:latin typeface="+mn-ea"/>
              </a:rPr>
              <a:t>在</a:t>
            </a:r>
            <a:r>
              <a:rPr lang="en-US" altLang="zh-CN" sz="1600" dirty="0" err="1">
                <a:latin typeface="+mn-ea"/>
              </a:rPr>
              <a:t>fusechat</a:t>
            </a:r>
            <a:r>
              <a:rPr lang="zh-CN" altLang="en-US" sz="1600" dirty="0">
                <a:latin typeface="+mn-ea"/>
              </a:rPr>
              <a:t>中，他融合的都是同一大小的模型，例如模型都是</a:t>
            </a:r>
            <a:r>
              <a:rPr lang="en-US" altLang="zh-CN" sz="1600" dirty="0">
                <a:latin typeface="+mn-ea"/>
              </a:rPr>
              <a:t>7b</a:t>
            </a:r>
            <a:r>
              <a:rPr lang="zh-CN" altLang="en-US" sz="1600" dirty="0">
                <a:latin typeface="+mn-ea"/>
              </a:rPr>
              <a:t>或</a:t>
            </a:r>
            <a:r>
              <a:rPr lang="en-US" altLang="zh-CN" sz="1600" dirty="0">
                <a:latin typeface="+mn-ea"/>
              </a:rPr>
              <a:t>3b</a:t>
            </a:r>
            <a:r>
              <a:rPr lang="zh-CN" altLang="en-US" sz="1600" dirty="0">
                <a:latin typeface="+mn-ea"/>
              </a:rPr>
              <a:t>，而</a:t>
            </a:r>
            <a:r>
              <a:rPr lang="en-US" altLang="zh-CN" sz="1600" dirty="0" err="1">
                <a:latin typeface="+mn-ea"/>
              </a:rPr>
              <a:t>fusechat</a:t>
            </a:r>
            <a:r>
              <a:rPr lang="zh-CN" altLang="en-US" sz="1600" dirty="0">
                <a:latin typeface="+mn-ea"/>
              </a:rPr>
              <a:t>中则融合了不同大小的一个模型</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第二个改进是在部署时动态融合知识，</a:t>
            </a:r>
            <a:r>
              <a:rPr lang="en-US" altLang="zh-CN" sz="1600" dirty="0" err="1">
                <a:latin typeface="+mn-ea"/>
              </a:rPr>
              <a:t>fusellm</a:t>
            </a:r>
            <a:r>
              <a:rPr lang="zh-CN" altLang="en-US" sz="1600" dirty="0">
                <a:latin typeface="+mn-ea"/>
              </a:rPr>
              <a:t>他需要在训练时融合所有源模型的输出，然后训练，因此要融入一个新知识，就要通过训练来获得知识</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而</a:t>
            </a:r>
            <a:r>
              <a:rPr lang="en-US" altLang="zh-CN" sz="1600" dirty="0" err="1">
                <a:latin typeface="+mn-ea"/>
              </a:rPr>
              <a:t>fusechat</a:t>
            </a:r>
            <a:r>
              <a:rPr lang="zh-CN" altLang="en-US" sz="1600" dirty="0">
                <a:latin typeface="+mn-ea"/>
              </a:rPr>
              <a:t>他可以在部署后动态的融入知识，因为他不需要训练最终的模型，而是通过权重融合方法融入知识</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最后一个改进是减缓了知识蒸馏的难度，因为</a:t>
            </a:r>
            <a:r>
              <a:rPr lang="en-US" altLang="zh-CN" sz="1600" dirty="0" err="1">
                <a:latin typeface="+mn-ea"/>
              </a:rPr>
              <a:t>fusechat</a:t>
            </a:r>
            <a:r>
              <a:rPr lang="zh-CN" altLang="en-US" sz="1600" dirty="0">
                <a:latin typeface="+mn-ea"/>
              </a:rPr>
              <a:t>他需要将多个模型的输出进行对齐合并，而</a:t>
            </a:r>
            <a:r>
              <a:rPr lang="en-US" altLang="zh-CN" sz="1600" dirty="0" err="1">
                <a:latin typeface="+mn-ea"/>
              </a:rPr>
              <a:t>fusechat</a:t>
            </a:r>
            <a:r>
              <a:rPr lang="zh-CN" altLang="en-US" sz="1600" dirty="0">
                <a:latin typeface="+mn-ea"/>
              </a:rPr>
              <a:t>则是选择一个中心模型，与源模型两两融合知识</a:t>
            </a:r>
            <a:endParaRPr lang="en-US" altLang="zh-CN" sz="1600" dirty="0">
              <a:latin typeface="+mn-ea"/>
            </a:endParaRPr>
          </a:p>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767160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en-US" altLang="zh-CN" sz="1600" dirty="0">
              <a:latin typeface="+mn-ea"/>
            </a:endParaRPr>
          </a:p>
          <a:p>
            <a:r>
              <a:rPr lang="zh-CN" altLang="en-US" dirty="0"/>
              <a:t>这篇文章发表在了</a:t>
            </a:r>
            <a:r>
              <a:rPr lang="en-US" altLang="zh-CN" dirty="0" err="1"/>
              <a:t>eccv</a:t>
            </a:r>
            <a:r>
              <a:rPr lang="zh-CN" altLang="en-US" dirty="0"/>
              <a:t>上</a:t>
            </a:r>
            <a:endParaRPr lang="en-US" altLang="zh-CN" dirty="0"/>
          </a:p>
          <a:p>
            <a:endParaRPr lang="en-US" altLang="zh-CN" dirty="0"/>
          </a:p>
          <a:p>
            <a:r>
              <a:rPr lang="zh-CN" altLang="en-US" dirty="0"/>
              <a:t>其基本思想是通过知识蒸馏来合并模型</a:t>
            </a:r>
            <a:endParaRPr lang="en-US" altLang="zh-CN" dirty="0"/>
          </a:p>
          <a:p>
            <a:endParaRPr lang="en-US" altLang="zh-CN" dirty="0"/>
          </a:p>
          <a:p>
            <a:r>
              <a:rPr lang="zh-CN" altLang="en-US" dirty="0"/>
              <a:t>首先不同模型有不同的架构，就算不同功能的模型具有同一架构，直接平均他们的参数得到模型的输出也往往没有意义的，因为这两个模型的权重距离非常远</a:t>
            </a:r>
            <a:endParaRPr lang="en-US" altLang="zh-CN" dirty="0"/>
          </a:p>
          <a:p>
            <a:endParaRPr lang="en-US" altLang="zh-CN" dirty="0"/>
          </a:p>
          <a:p>
            <a:r>
              <a:rPr lang="zh-CN" altLang="en-US" dirty="0"/>
              <a:t>为了解决这个问题，作者首先选出一个模型作为跟模型，然后将其视为初始化模型来提取不同模型的知识，这样其他模型就与这个跟模型对齐了，对齐后的模型的权重距离就会接近，这时在平均参数，就会得到融合了不同模型知识的一个输出</a:t>
            </a: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7449377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r>
              <a:rPr lang="zh-CN" altLang="en-US" dirty="0"/>
              <a:t>然后开始介绍</a:t>
            </a:r>
            <a:r>
              <a:rPr lang="en-US" altLang="zh-CN" dirty="0" err="1"/>
              <a:t>fusechat</a:t>
            </a:r>
            <a:r>
              <a:rPr lang="zh-CN" altLang="en-US" dirty="0"/>
              <a:t>他的主要方法</a:t>
            </a:r>
            <a:endParaRPr lang="en-US" altLang="zh-CN" dirty="0"/>
          </a:p>
          <a:p>
            <a:endParaRPr lang="en-US" altLang="zh-CN" dirty="0"/>
          </a:p>
          <a:p>
            <a:r>
              <a:rPr lang="zh-CN" altLang="en-US" dirty="0"/>
              <a:t>与</a:t>
            </a:r>
            <a:r>
              <a:rPr lang="en-US" altLang="zh-CN" dirty="0" err="1"/>
              <a:t>fusellm</a:t>
            </a:r>
            <a:r>
              <a:rPr lang="zh-CN" altLang="en-US" dirty="0"/>
              <a:t>直接融合不同模型的知识不同</a:t>
            </a:r>
            <a:r>
              <a:rPr lang="en-US" altLang="zh-CN" dirty="0" err="1"/>
              <a:t>fusechat</a:t>
            </a:r>
            <a:r>
              <a:rPr lang="zh-CN" altLang="en-US" dirty="0"/>
              <a:t>是一个两阶段的模型</a:t>
            </a:r>
            <a:endParaRPr lang="en-US" altLang="zh-CN" dirty="0"/>
          </a:p>
          <a:p>
            <a:endParaRPr lang="en-US" altLang="zh-CN" dirty="0"/>
          </a:p>
          <a:p>
            <a:r>
              <a:rPr lang="zh-CN" altLang="en-US" dirty="0"/>
              <a:t>第一个阶段时知识融合，与</a:t>
            </a:r>
            <a:r>
              <a:rPr lang="en-US" altLang="zh-CN" dirty="0" err="1"/>
              <a:t>gan</a:t>
            </a:r>
            <a:r>
              <a:rPr lang="en-US" altLang="zh-CN" dirty="0"/>
              <a:t> cocktail</a:t>
            </a:r>
            <a:r>
              <a:rPr lang="zh-CN" altLang="en-US" dirty="0"/>
              <a:t>类似，他也是选择一个模型作为中心模型与源模型进行两两知识融合，然后得到多个目标网络，这些目标网络在权重空间内非常接近，因此可以进行权重融合操作</a:t>
            </a:r>
            <a:endParaRPr lang="en-US" altLang="zh-CN" dirty="0"/>
          </a:p>
          <a:p>
            <a:endParaRPr lang="en-US" altLang="zh-CN" dirty="0"/>
          </a:p>
          <a:p>
            <a:r>
              <a:rPr lang="zh-CN" altLang="en-US" dirty="0"/>
              <a:t>第二阶段就是在权重空间内对模型进行合并，从而得到最终模型</a:t>
            </a:r>
            <a:endParaRPr lang="en-US" altLang="zh-CN"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972661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en-US" altLang="zh-CN" sz="1600" dirty="0">
              <a:latin typeface="+mn-ea"/>
            </a:endParaRPr>
          </a:p>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655390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en-US" altLang="zh-CN" sz="1600" dirty="0">
              <a:latin typeface="+mn-ea"/>
            </a:endParaRPr>
          </a:p>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711997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en-US" altLang="zh-CN" sz="1600" dirty="0">
              <a:latin typeface="+mn-ea"/>
            </a:endParaRPr>
          </a:p>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6527833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en-US" altLang="zh-CN" sz="1600" dirty="0">
              <a:latin typeface="+mn-ea"/>
            </a:endParaRPr>
          </a:p>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267001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en-US" altLang="zh-CN" sz="1600" dirty="0">
              <a:latin typeface="+mn-ea"/>
            </a:endParaRPr>
          </a:p>
          <a:p>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992290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sz="1600" dirty="0">
                <a:latin typeface="+mn-ea"/>
              </a:rPr>
              <a:t>得到多个目标模型后，作者就在权重空间中对模型进行合并</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合并过程分为三步</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首先时选择，作者认为不同模型同一参数维度上，如果方差越大，那么就说明模型优势的区分度越高，因此作者选择方差前</a:t>
            </a:r>
            <a:r>
              <a:rPr lang="en-US" altLang="zh-CN" sz="1600" dirty="0">
                <a:latin typeface="+mn-ea"/>
              </a:rPr>
              <a:t>%tau</a:t>
            </a:r>
            <a:r>
              <a:rPr lang="zh-CN" altLang="en-US" sz="1600" dirty="0">
                <a:latin typeface="+mn-ea"/>
              </a:rPr>
              <a:t>的维度出来进行下一步操作</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接着是根据选出的不同模型的参数相对大小来计算权重</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最后，由于两个模型参数在同一纬度如果符号不一样，说明这两个模型在这个参数维度上存在冲突，因此作者将与总体方向冲突的参数擦除掉，置为</a:t>
            </a:r>
            <a:r>
              <a:rPr lang="en-US" altLang="zh-CN" sz="1600" dirty="0">
                <a:latin typeface="+mn-ea"/>
              </a:rPr>
              <a:t>0</a:t>
            </a: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818734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sz="1600" dirty="0">
                <a:latin typeface="+mn-ea"/>
              </a:rPr>
              <a:t>然后我讲解一下这个文章的主要的实验结果</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这个实验的第一个评价指标是</a:t>
            </a:r>
            <a:r>
              <a:rPr lang="en-US" altLang="zh-CN" sz="1600" dirty="0">
                <a:latin typeface="+mn-ea"/>
              </a:rPr>
              <a:t>win rate</a:t>
            </a:r>
            <a:r>
              <a:rPr lang="zh-CN" altLang="en-US" sz="1600" dirty="0">
                <a:latin typeface="+mn-ea"/>
              </a:rPr>
              <a:t>，他是与</a:t>
            </a:r>
            <a:r>
              <a:rPr lang="en-US" altLang="zh-CN" sz="1600" dirty="0">
                <a:latin typeface="+mn-ea"/>
              </a:rPr>
              <a:t>gpt4</a:t>
            </a:r>
            <a:r>
              <a:rPr lang="zh-CN" altLang="en-US" sz="1600" dirty="0">
                <a:latin typeface="+mn-ea"/>
              </a:rPr>
              <a:t>相比生成的内容更优的比率，</a:t>
            </a:r>
            <a:r>
              <a:rPr lang="en-US" altLang="zh-CN" sz="1600" dirty="0">
                <a:latin typeface="+mn-ea"/>
              </a:rPr>
              <a:t>lc win rate</a:t>
            </a:r>
            <a:r>
              <a:rPr lang="zh-CN" altLang="en-US" sz="1600" dirty="0">
                <a:latin typeface="+mn-ea"/>
              </a:rPr>
              <a:t>是去除掉生成内容长度的影响后，模型生成的内容更优秀的比率</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第二个是推理任务得分，他主要是给模型输入例如数学问题之类的推理问题，然后模型生成推过程和答案，然后</a:t>
            </a:r>
            <a:r>
              <a:rPr lang="en-US" altLang="zh-CN" sz="1600" dirty="0">
                <a:latin typeface="+mn-ea"/>
              </a:rPr>
              <a:t>gpt4</a:t>
            </a:r>
            <a:r>
              <a:rPr lang="zh-CN" altLang="en-US" sz="1600" dirty="0">
                <a:latin typeface="+mn-ea"/>
              </a:rPr>
              <a:t>评价他的推理过程和答案的得分，得分越高，说明生成的内容越好</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第一行是专用模型的实验结果</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第二行是源模型的实验结果</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第三行是集成方法的实验结果</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我们主要是看第四行的实验结果</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第一个</a:t>
            </a:r>
            <a:r>
              <a:rPr lang="en-US" altLang="zh-CN" sz="1600" dirty="0" err="1">
                <a:latin typeface="+mn-ea"/>
              </a:rPr>
              <a:t>sft</a:t>
            </a:r>
            <a:r>
              <a:rPr lang="zh-CN" altLang="en-US" sz="1600" dirty="0">
                <a:latin typeface="+mn-ea"/>
              </a:rPr>
              <a:t>模型是指在中心模型上进行监督微调产生的结果</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en-US" altLang="zh-CN" sz="1600" dirty="0">
                <a:latin typeface="+mn-ea"/>
              </a:rPr>
              <a:t>Muti</a:t>
            </a:r>
            <a:r>
              <a:rPr lang="zh-CN" altLang="en-US" sz="1600" dirty="0">
                <a:latin typeface="+mn-ea"/>
              </a:rPr>
              <a:t>是指</a:t>
            </a:r>
            <a:r>
              <a:rPr lang="en-US" altLang="zh-CN" sz="1600" dirty="0" err="1">
                <a:latin typeface="+mn-ea"/>
              </a:rPr>
              <a:t>fuseLLM</a:t>
            </a:r>
            <a:r>
              <a:rPr lang="zh-CN" altLang="en-US" sz="1600" dirty="0">
                <a:latin typeface="+mn-ea"/>
              </a:rPr>
              <a:t>的结果</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后面的模型是与中心模型两两知识融合后的目标模型的结果</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最后一个是目标模型参数合并过后的结果</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此实验结果可以看出</a:t>
            </a:r>
            <a:r>
              <a:rPr lang="en-US" altLang="zh-CN" sz="1600" dirty="0" err="1">
                <a:latin typeface="+mn-ea"/>
              </a:rPr>
              <a:t>fusechat</a:t>
            </a:r>
            <a:r>
              <a:rPr lang="zh-CN" altLang="en-US" sz="1600" dirty="0">
                <a:latin typeface="+mn-ea"/>
              </a:rPr>
              <a:t>在这几个指标上都达到了最优，相较于原始监督的微调模型都有较大提升</a:t>
            </a:r>
            <a:endParaRPr lang="en-US" altLang="zh-CN" sz="1600" dirty="0">
              <a:latin typeface="+mn-ea"/>
            </a:endParaRP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0410477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sz="1600" dirty="0">
                <a:latin typeface="+mn-ea"/>
              </a:rPr>
              <a:t>这个图展示的是</a:t>
            </a:r>
            <a:r>
              <a:rPr lang="en-US" altLang="zh-CN" sz="1600" dirty="0" err="1">
                <a:latin typeface="+mn-ea"/>
              </a:rPr>
              <a:t>fusechat</a:t>
            </a:r>
            <a:r>
              <a:rPr lang="zh-CN" altLang="en-US" sz="1600" dirty="0">
                <a:latin typeface="+mn-ea"/>
              </a:rPr>
              <a:t>与目标模型以及源模型之间的结果对比，</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可以看出</a:t>
            </a:r>
            <a:r>
              <a:rPr lang="en-US" altLang="zh-CN" sz="1600" dirty="0" err="1">
                <a:latin typeface="+mn-ea"/>
              </a:rPr>
              <a:t>fusechat</a:t>
            </a:r>
            <a:r>
              <a:rPr lang="zh-CN" altLang="en-US" sz="1600" dirty="0">
                <a:latin typeface="+mn-ea"/>
              </a:rPr>
              <a:t>融合了不同模型的优势，比如图</a:t>
            </a:r>
            <a:r>
              <a:rPr lang="en-US" altLang="zh-CN" sz="1600" dirty="0">
                <a:latin typeface="+mn-ea"/>
              </a:rPr>
              <a:t>e</a:t>
            </a:r>
            <a:r>
              <a:rPr lang="zh-CN" altLang="en-US" sz="1600" dirty="0">
                <a:latin typeface="+mn-ea"/>
              </a:rPr>
              <a:t>，中心模型在</a:t>
            </a:r>
            <a:r>
              <a:rPr lang="en-US" altLang="zh-CN" sz="1600" dirty="0">
                <a:latin typeface="+mn-ea"/>
              </a:rPr>
              <a:t>math</a:t>
            </a:r>
            <a:r>
              <a:rPr lang="zh-CN" altLang="en-US" sz="1600" dirty="0">
                <a:latin typeface="+mn-ea"/>
              </a:rPr>
              <a:t>上的得分较低，但是融合了源模型这方面的优势后，其在</a:t>
            </a:r>
            <a:r>
              <a:rPr lang="en-US" altLang="zh-CN" sz="1600" dirty="0">
                <a:latin typeface="+mn-ea"/>
              </a:rPr>
              <a:t>math</a:t>
            </a:r>
            <a:r>
              <a:rPr lang="zh-CN" altLang="en-US" sz="1600" dirty="0">
                <a:latin typeface="+mn-ea"/>
              </a:rPr>
              <a:t>上的准确率也得到了提升</a:t>
            </a:r>
            <a:endParaRPr lang="en-US" altLang="zh-CN" sz="1600" dirty="0">
              <a:latin typeface="+mn-ea"/>
            </a:endParaRP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941437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sz="1600" dirty="0">
                <a:latin typeface="+mn-ea"/>
              </a:rPr>
              <a:t>最后，对这篇文章进行一个总结</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这篇文章，他主要是对</a:t>
            </a:r>
            <a:r>
              <a:rPr lang="en-US" altLang="zh-CN" sz="1600" dirty="0" err="1">
                <a:latin typeface="+mn-ea"/>
              </a:rPr>
              <a:t>fusellm</a:t>
            </a:r>
            <a:r>
              <a:rPr lang="zh-CN" altLang="en-US" sz="1600" dirty="0">
                <a:latin typeface="+mn-ea"/>
              </a:rPr>
              <a:t>的一个改进，通过两两知识融合的技术缓解了知识蒸馏的难度</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然后，通过知识蒸馏以及参数合并的操作，合并了不同模型的知识以及优势</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最后通过实验证明了</a:t>
            </a:r>
            <a:r>
              <a:rPr lang="en-US" altLang="zh-CN" sz="1600" dirty="0" err="1">
                <a:latin typeface="+mn-ea"/>
              </a:rPr>
              <a:t>fusechat</a:t>
            </a:r>
            <a:r>
              <a:rPr lang="zh-CN" altLang="en-US" sz="1600" dirty="0">
                <a:latin typeface="+mn-ea"/>
              </a:rPr>
              <a:t>的优越性能</a:t>
            </a:r>
            <a:endParaRPr lang="en-US" altLang="zh-CN" sz="1600" dirty="0">
              <a:latin typeface="+mn-ea"/>
            </a:endParaRP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238880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endParaRPr lang="zh-CN" altLang="en-US" b="0" i="0" dirty="0">
              <a:effectLst/>
              <a:latin typeface="-apple-system"/>
            </a:endParaRPr>
          </a:p>
        </p:txBody>
      </p:sp>
      <p:sp>
        <p:nvSpPr>
          <p:cNvPr id="4" name="灯片编号占位符 3"/>
          <p:cNvSpPr>
            <a:spLocks noGrp="1"/>
          </p:cNvSpPr>
          <p:nvPr>
            <p:ph type="sldNum" sz="quarter" idx="10"/>
          </p:nvPr>
        </p:nvSpPr>
        <p:spPr/>
        <p:txBody>
          <a:bodyPr/>
          <a:lstStyle/>
          <a:p>
            <a:fld id="{D34C0232-94FA-4EBE-BB9B-79FBE486032D}" type="slidenum">
              <a:rPr lang="zh-CN" altLang="en-US" smtClean="0"/>
              <a:t>32</a:t>
            </a:fld>
            <a:endParaRPr lang="zh-CN" altLang="en-US"/>
          </a:p>
        </p:txBody>
      </p:sp>
    </p:spTree>
    <p:extLst>
      <p:ext uri="{BB962C8B-B14F-4D97-AF65-F5344CB8AC3E}">
        <p14:creationId xmlns:p14="http://schemas.microsoft.com/office/powerpoint/2010/main" val="10726858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zh-CN" altLang="en-US" b="0" i="0" dirty="0">
                <a:effectLst/>
                <a:latin typeface="-apple-system"/>
              </a:rPr>
              <a:t>洛桑联邦理工学院</a:t>
            </a:r>
            <a:endParaRPr lang="en-US" altLang="zh-CN" b="0" i="0" dirty="0">
              <a:effectLst/>
              <a:latin typeface="-apple-system"/>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zh-CN" altLang="en-US" b="0" i="0" dirty="0">
                <a:effectLst/>
                <a:latin typeface="-apple-system"/>
              </a:rPr>
              <a:t>发表在了</a:t>
            </a:r>
            <a:r>
              <a:rPr lang="en-US" altLang="zh-CN" b="0" i="0" dirty="0">
                <a:effectLst/>
                <a:latin typeface="-apple-system"/>
              </a:rPr>
              <a:t>2019</a:t>
            </a:r>
            <a:r>
              <a:rPr lang="zh-CN" altLang="en-US" b="0" i="0" dirty="0">
                <a:effectLst/>
                <a:latin typeface="-apple-system"/>
              </a:rPr>
              <a:t>年的</a:t>
            </a:r>
            <a:r>
              <a:rPr lang="en-US" altLang="zh-CN" b="0" i="0" dirty="0" err="1">
                <a:effectLst/>
                <a:latin typeface="-apple-system"/>
              </a:rPr>
              <a:t>neurIPS</a:t>
            </a:r>
            <a:endParaRPr lang="zh-CN" altLang="en-US" b="0" i="0" dirty="0">
              <a:effectLst/>
              <a:latin typeface="-apple-system"/>
            </a:endParaRPr>
          </a:p>
        </p:txBody>
      </p:sp>
      <p:sp>
        <p:nvSpPr>
          <p:cNvPr id="4" name="灯片编号占位符 3"/>
          <p:cNvSpPr>
            <a:spLocks noGrp="1"/>
          </p:cNvSpPr>
          <p:nvPr>
            <p:ph type="sldNum" sz="quarter" idx="10"/>
          </p:nvPr>
        </p:nvSpPr>
        <p:spPr/>
        <p:txBody>
          <a:bodyPr/>
          <a:lstStyle/>
          <a:p>
            <a:fld id="{D34C0232-94FA-4EBE-BB9B-79FBE486032D}" type="slidenum">
              <a:rPr lang="zh-CN" altLang="en-US" smtClean="0"/>
              <a:t>33</a:t>
            </a:fld>
            <a:endParaRPr lang="zh-CN" altLang="en-US"/>
          </a:p>
        </p:txBody>
      </p:sp>
    </p:spTree>
    <p:extLst>
      <p:ext uri="{BB962C8B-B14F-4D97-AF65-F5344CB8AC3E}">
        <p14:creationId xmlns:p14="http://schemas.microsoft.com/office/powerpoint/2010/main" val="27568904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en-US" altLang="zh-CN" sz="1600" dirty="0">
              <a:latin typeface="+mn-ea"/>
            </a:endParaRPr>
          </a:p>
          <a:p>
            <a:r>
              <a:rPr lang="zh-CN" altLang="en-US" dirty="0"/>
              <a:t>首先还是先介绍一下这篇文章的主要工作</a:t>
            </a:r>
            <a:endParaRPr lang="en-US" altLang="zh-CN" dirty="0"/>
          </a:p>
          <a:p>
            <a:endParaRPr lang="en-US" altLang="zh-CN" dirty="0"/>
          </a:p>
          <a:p>
            <a:r>
              <a:rPr lang="zh-CN" altLang="en-US" dirty="0"/>
              <a:t>这文章主要是为了解决这三种方法里存在的问题</a:t>
            </a:r>
            <a:endParaRPr lang="en-US" altLang="zh-CN" dirty="0"/>
          </a:p>
          <a:p>
            <a:endParaRPr lang="en-US" altLang="zh-CN" dirty="0"/>
          </a:p>
          <a:p>
            <a:r>
              <a:rPr lang="zh-CN" altLang="en-US" dirty="0"/>
              <a:t>第一个集成方法，之前讲过了，它主要缺陷是资源耗费比较大</a:t>
            </a:r>
            <a:endParaRPr lang="en-US" altLang="zh-CN" dirty="0"/>
          </a:p>
          <a:p>
            <a:endParaRPr lang="en-US" altLang="zh-CN" dirty="0"/>
          </a:p>
          <a:p>
            <a:r>
              <a:rPr lang="zh-CN" altLang="en-US" dirty="0"/>
              <a:t>第二个是参数平均，有研究表明，同一功能的两个模型，如果他们的初始化参数不同，那么最后训练后得到的参数也会有很大的不同，如果直接平均参数，那么往往会得到很差的效果</a:t>
            </a:r>
            <a:endParaRPr lang="en-US" altLang="zh-CN" dirty="0"/>
          </a:p>
          <a:p>
            <a:endParaRPr lang="en-US" altLang="zh-CN" dirty="0"/>
          </a:p>
          <a:p>
            <a:r>
              <a:rPr lang="zh-CN" altLang="en-US" dirty="0"/>
              <a:t>第三个是知识蒸馏，知识蒸馏的前提是能够的到教师模型的训练数据，如果教师模型的训练数据私有，那么就无法进行知识蒸馏</a:t>
            </a:r>
            <a:endParaRPr lang="en-US" altLang="zh-CN" dirty="0"/>
          </a:p>
          <a:p>
            <a:endParaRPr lang="en-US" altLang="zh-CN" dirty="0"/>
          </a:p>
          <a:p>
            <a:r>
              <a:rPr lang="zh-CN" altLang="en-US" dirty="0"/>
              <a:t>为了解决这三个方法存在问题，作者提出了利用最优传输来解决参数对齐的问题，让两个差距很大的参数对齐到差距较小的参数</a:t>
            </a:r>
            <a:endParaRPr lang="en-US" altLang="zh-CN" dirty="0"/>
          </a:p>
          <a:p>
            <a:endParaRPr lang="en-US" altLang="zh-CN" dirty="0"/>
          </a:p>
          <a:p>
            <a:r>
              <a:rPr lang="zh-CN" altLang="en-US" dirty="0"/>
              <a:t>实验证明，对齐后的参数进行平均其效果远优于参数直接平均的方法</a:t>
            </a: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162059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sz="1600" dirty="0">
                <a:latin typeface="+mn-ea"/>
              </a:rPr>
              <a:t>首先介绍一下最优传输</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最优传输他的起源是蒙日问题，他是蒙日两百多年前提出的，其问题是如何将一个沙盘里的沙子以最小的花费传输的另一个沙盘里的沙子</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如这个图所示，</a:t>
            </a:r>
            <a:endParaRPr lang="en-US" altLang="zh-CN" sz="1600" dirty="0">
              <a:latin typeface="+mn-ea"/>
            </a:endParaRPr>
          </a:p>
          <a:p>
            <a:pPr marL="0" indent="0">
              <a:buFont typeface="Wingdings" panose="05000000000000000000" pitchFamily="2" charset="2"/>
              <a:buNone/>
            </a:pPr>
            <a:r>
              <a:rPr lang="zh-CN" altLang="en-US" sz="1600" dirty="0">
                <a:latin typeface="+mn-ea"/>
              </a:rPr>
              <a:t>在不同的地方有几堆沙子，就是图中红色点，蓝色点就是沙子需要运往的目的地，红色点离蓝色点的距离越远，那么开销就越大，</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现在我们需要将这几堆沙子以最小的代价运输到蓝色点</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这个运输过程可以用一个矩阵描述，就是右边这个图</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绿色点就代表从红色点要运多少沙子到蓝色点</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sz="1600" dirty="0">
                <a:latin typeface="+mn-ea"/>
              </a:rPr>
              <a:t>这个矩阵有一个约束</a:t>
            </a:r>
            <a:endParaRPr lang="en-US" altLang="zh-CN" sz="1600" dirty="0">
              <a:latin typeface="+mn-ea"/>
            </a:endParaRPr>
          </a:p>
          <a:p>
            <a:pPr marL="0" indent="0">
              <a:buFont typeface="Wingdings" panose="05000000000000000000" pitchFamily="2" charset="2"/>
              <a:buNone/>
            </a:pPr>
            <a:r>
              <a:rPr lang="zh-CN" altLang="en-US" sz="1600" dirty="0">
                <a:latin typeface="+mn-ea"/>
              </a:rPr>
              <a:t>就是绿色点横着相加就等于红色点的值</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竖着相加就等于蓝色点的值</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在最优传输问题中还规定了每个点相加必须为</a:t>
            </a:r>
            <a:r>
              <a:rPr lang="en-US" altLang="zh-CN" sz="1600" dirty="0">
                <a:latin typeface="+mn-ea"/>
              </a:rPr>
              <a:t>1</a:t>
            </a:r>
            <a:r>
              <a:rPr lang="zh-CN" altLang="en-US" sz="1600" dirty="0">
                <a:latin typeface="+mn-ea"/>
              </a:rPr>
              <a:t>，相当于将这些点的值归一化来表示这些点的概率测度</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通过这个约束以及每个点之间的开销，我们可以用线性规划的计算求解出这个最优传输矩阵</a:t>
            </a:r>
            <a:endParaRPr lang="en-US" altLang="zh-CN" sz="1600" dirty="0">
              <a:latin typeface="+mn-ea"/>
            </a:endParaRP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525757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sz="1600" dirty="0">
                <a:latin typeface="+mn-ea"/>
              </a:rPr>
              <a:t>然后，介绍这篇文章他的一个动机</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不同神经元间他往往缺少一对一的关系</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例如这个图，有两个功能相同的模型但是他们的参数差距很大</a:t>
            </a:r>
            <a:endParaRPr lang="en-US" altLang="zh-CN" sz="1600" dirty="0">
              <a:latin typeface="+mn-ea"/>
            </a:endParaRPr>
          </a:p>
          <a:p>
            <a:pPr marL="0" indent="0">
              <a:buFont typeface="Wingdings" panose="05000000000000000000" pitchFamily="2" charset="2"/>
              <a:buNone/>
            </a:pPr>
            <a:r>
              <a:rPr lang="zh-CN" altLang="en-US" sz="1600" dirty="0">
                <a:latin typeface="+mn-ea"/>
              </a:rPr>
              <a:t>在这一层中，第一个神经元可能不与第二个模型中的第一个神经元相对应，而是与第二个模型中的第三个神经元相对应</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pPr marL="0" indent="0">
              <a:buFont typeface="Wingdings" panose="05000000000000000000" pitchFamily="2" charset="2"/>
              <a:buNone/>
            </a:pPr>
            <a:r>
              <a:rPr lang="zh-CN" altLang="en-US" sz="1600" dirty="0">
                <a:latin typeface="+mn-ea"/>
              </a:rPr>
              <a:t>如果我们知道同一层中不同神经元的一一对应关系，那么我们就可以直接在参数空间融合这两个模型</a:t>
            </a:r>
            <a:endParaRPr lang="en-US" altLang="zh-CN" sz="1600" dirty="0">
              <a:latin typeface="+mn-ea"/>
            </a:endParaRPr>
          </a:p>
          <a:p>
            <a:pPr marL="0" indent="0">
              <a:buFont typeface="Wingdings" panose="05000000000000000000" pitchFamily="2" charset="2"/>
              <a:buNone/>
            </a:pPr>
            <a:endParaRPr lang="en-US" altLang="zh-CN" sz="1600" dirty="0">
              <a:latin typeface="+mn-ea"/>
            </a:endParaRPr>
          </a:p>
          <a:p>
            <a:r>
              <a:rPr lang="zh-CN" altLang="en-US" dirty="0"/>
              <a:t>神经元之间的对应关系，可以用一个置换矩阵来表示，神经元之间对齐则使用置换矩阵乘以对应神经元参数即可</a:t>
            </a: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061360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dirty="0"/>
              <a:t>为了求出置换矩阵，作者把权重对齐问题转换为了一个最优传输的问题</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在这篇文章中权重对齐是在每一层中进行的，当进行到</a:t>
            </a:r>
            <a:r>
              <a:rPr lang="en-US" altLang="zh-CN" dirty="0"/>
              <a:t>l</a:t>
            </a:r>
            <a:r>
              <a:rPr lang="zh-CN" altLang="en-US" dirty="0"/>
              <a:t>层时，前面的所有层都以及对齐完毕</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在这里，我们像描述如何将两个神经网络对齐，然后后面扩展到多个神经网络对齐</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首先，我们定义每个层的概率测度</a:t>
            </a:r>
            <a:endParaRPr lang="en-US" altLang="zh-CN" dirty="0"/>
          </a:p>
          <a:p>
            <a:pPr marL="0" indent="0">
              <a:buFont typeface="Wingdings" panose="05000000000000000000" pitchFamily="2" charset="2"/>
              <a:buNone/>
            </a:pPr>
            <a:r>
              <a:rPr lang="zh-CN" altLang="en-US" dirty="0"/>
              <a:t>其中</a:t>
            </a:r>
            <a:r>
              <a:rPr lang="en-US" altLang="zh-CN" dirty="0"/>
              <a:t>alpha</a:t>
            </a:r>
            <a:r>
              <a:rPr lang="zh-CN" altLang="en-US" dirty="0"/>
              <a:t>代表的是每个神经元的重要度，这这篇文章中，作者认为每个神经元同等重要，即他们的概率分布都为</a:t>
            </a:r>
            <a:r>
              <a:rPr lang="en-US" altLang="zh-CN" dirty="0"/>
              <a:t>1/n</a:t>
            </a:r>
          </a:p>
          <a:p>
            <a:pPr marL="0" indent="0">
              <a:buFont typeface="Wingdings" panose="05000000000000000000" pitchFamily="2" charset="2"/>
              <a:buNone/>
            </a:pPr>
            <a:endParaRPr lang="en-US" altLang="zh-CN" dirty="0"/>
          </a:p>
          <a:p>
            <a:pPr marL="0" indent="0">
              <a:buFont typeface="Wingdings" panose="05000000000000000000" pitchFamily="2" charset="2"/>
              <a:buNone/>
            </a:pPr>
            <a:r>
              <a:rPr lang="en-US" altLang="zh-CN" dirty="0"/>
              <a:t>X</a:t>
            </a:r>
            <a:r>
              <a:rPr lang="zh-CN" altLang="en-US" dirty="0"/>
              <a:t>和</a:t>
            </a:r>
            <a:r>
              <a:rPr lang="en-US" altLang="zh-CN" dirty="0"/>
              <a:t>Y</a:t>
            </a:r>
            <a:r>
              <a:rPr lang="zh-CN" altLang="en-US" dirty="0"/>
              <a:t>则是代表的每个神经元的基本度量，表示神经元在度量空间所处的位置</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在对齐第</a:t>
            </a:r>
            <a:r>
              <a:rPr lang="en-US" altLang="zh-CN" dirty="0"/>
              <a:t>l</a:t>
            </a:r>
            <a:r>
              <a:rPr lang="zh-CN" altLang="en-US" dirty="0"/>
              <a:t>层之前，首先要对其其输入边的权重，因为上一层的神经元对齐后，会影响这个输入边的排列很分布</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对齐方式就是直接与上一层的传输矩阵相乘，乘以</a:t>
            </a:r>
            <a:r>
              <a:rPr lang="en-US" altLang="zh-CN" dirty="0" err="1"/>
              <a:t>diag</a:t>
            </a:r>
            <a:r>
              <a:rPr lang="zh-CN" altLang="en-US" dirty="0"/>
              <a:t>这一项的原因是，我们在对其概率分布赋值时进行了归一化的操作，因此要除以这一项去除掉归一化的影响</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然后接下来我们通过这一层的概率测度来求解出最优传输矩阵，然后用得到后的最优传输矩阵与权重相乘，就得到了对齐后的权重</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最后再将对齐后的权重进行融合，例如简单的直接平均从而得到融合后的模型</a:t>
            </a: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612104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dirty="0"/>
              <a:t>然后，对于神经元基础度量的计算，作者提出了两种方式来计算</a:t>
            </a:r>
            <a:endParaRPr lang="en-US" altLang="zh-CN" dirty="0"/>
          </a:p>
          <a:p>
            <a:pPr marL="0" indent="0">
              <a:buFont typeface="Wingdings" panose="05000000000000000000" pitchFamily="2" charset="2"/>
              <a:buNone/>
            </a:pPr>
            <a:r>
              <a:rPr lang="zh-CN" altLang="en-US" dirty="0"/>
              <a:t>第一个时基于激活的计算方式，</a:t>
            </a:r>
            <a:endParaRPr lang="en-US" altLang="zh-CN" dirty="0"/>
          </a:p>
          <a:p>
            <a:pPr marL="0" indent="0">
              <a:buFont typeface="Wingdings" panose="05000000000000000000" pitchFamily="2" charset="2"/>
              <a:buNone/>
            </a:pPr>
            <a:endParaRPr lang="en-US" altLang="zh-CN" dirty="0"/>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dirty="0"/>
              <a:t>就如右边这个图描述</a:t>
            </a:r>
            <a:endParaRPr lang="en-US" altLang="zh-CN" dirty="0"/>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dirty="0"/>
              <a:t>作者首先在训练数据中随机采样一些样本输入到网络中，然后记录每个神经元对应输入的激活函数的值，然后将这些值组成的向量作为一个数据元的基本度量</a:t>
            </a:r>
            <a:endParaRPr lang="en-US" altLang="zh-CN" dirty="0"/>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dirty="0"/>
              <a:t>作者认为，如果两个神经元越接近，那么他们的激活值就应该接近</a:t>
            </a:r>
            <a:endParaRPr lang="en-US" altLang="zh-CN" dirty="0"/>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dirty="0"/>
              <a:t>第二个就是基于权重的度量</a:t>
            </a:r>
            <a:endParaRPr lang="en-US" altLang="zh-CN" dirty="0"/>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dirty="0"/>
              <a:t>作者直接将输入边权重作为神经元的基础度量</a:t>
            </a:r>
            <a:endParaRPr lang="en-US" altLang="zh-CN" dirty="0"/>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dirty="0"/>
              <a:t>然后计算两个神经元之间的距离，作者就直接使用的欧式距离来计算的</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891643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dirty="0"/>
              <a:t>这个就是多个模型融合的算法</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这个算法的输入就是需要融合的所有模型，以及融合模型的初始化模型</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输出就是融合后的模型权重</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首先算法遍历不同层的神经元，</a:t>
            </a:r>
            <a:endParaRPr lang="en-US" altLang="zh-CN" dirty="0"/>
          </a:p>
          <a:p>
            <a:pPr marL="0" indent="0">
              <a:buFont typeface="Wingdings" panose="05000000000000000000" pitchFamily="2" charset="2"/>
              <a:buNone/>
            </a:pPr>
            <a:r>
              <a:rPr lang="zh-CN" altLang="en-US" dirty="0"/>
              <a:t>先计算出初始化模型的概率测度以及基础度量</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然后依次融合每个模型</a:t>
            </a:r>
            <a:endParaRPr lang="en-US" altLang="zh-CN" dirty="0"/>
          </a:p>
          <a:p>
            <a:pPr marL="0" indent="0">
              <a:buFont typeface="Wingdings" panose="05000000000000000000" pitchFamily="2" charset="2"/>
              <a:buNone/>
            </a:pPr>
            <a:r>
              <a:rPr lang="zh-CN" altLang="en-US" dirty="0"/>
              <a:t>融合过程也想之前两个模型融合一样，先对齐输入边权重，然后计算概率测度，概率测度，</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接着计算两个网络不同神经元间的距离，</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最后利用最有传输求解出最优传输矩阵</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然后与权重相乘完成对齐</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最后将对齐后的权重直接平均就得到的输出参数</a:t>
            </a:r>
            <a:endParaRPr lang="en-US" altLang="zh-CN"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273672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dirty="0"/>
              <a:t>然后，介绍一下这篇文章的主要实验结果</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第一个实验作者模拟了联邦学习的情景，即一个模型他的训练数据范围更广，知识更加全面，另一个模型则是只在特定领域有较强的性能，</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然后实验结果如图</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对于两个不同的模型，他们初始化参数相同时，那么直接平均参数的方法还能够保持相当的性能，</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但是在两个初始化参数不同的模型上，他的性能就下降的非常快</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而作者提出的对齐后在融合的方法，则实现了相当好的性能</a:t>
            </a:r>
            <a:endParaRPr lang="en-US" altLang="zh-CN"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344068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dirty="0"/>
              <a:t>然后，作者还进行了合并多个模型的实验</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他将多个在</a:t>
            </a:r>
            <a:r>
              <a:rPr lang="en-US" altLang="zh-CN" dirty="0" err="1"/>
              <a:t>cifar</a:t>
            </a:r>
            <a:r>
              <a:rPr lang="en-US" altLang="zh-CN" dirty="0"/>
              <a:t> 10</a:t>
            </a:r>
            <a:r>
              <a:rPr lang="zh-CN" altLang="en-US" dirty="0"/>
              <a:t>上训练的模型进行融合，可以发现，直接平均的模型效果非常的差，而对齐在融合则保持的相当的性能</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并且，在少量微调的情况想，对齐后的模型能迅速恢复性能，而直接平均得到的模型则没有成功</a:t>
            </a: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399317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771039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endParaRPr lang="zh-CN" altLang="en-US" b="0" i="0" dirty="0">
              <a:effectLst/>
              <a:latin typeface="-apple-system"/>
            </a:endParaRPr>
          </a:p>
        </p:txBody>
      </p:sp>
      <p:sp>
        <p:nvSpPr>
          <p:cNvPr id="4" name="灯片编号占位符 3"/>
          <p:cNvSpPr>
            <a:spLocks noGrp="1"/>
          </p:cNvSpPr>
          <p:nvPr>
            <p:ph type="sldNum" sz="quarter" idx="10"/>
          </p:nvPr>
        </p:nvSpPr>
        <p:spPr/>
        <p:txBody>
          <a:bodyPr/>
          <a:lstStyle/>
          <a:p>
            <a:fld id="{D34C0232-94FA-4EBE-BB9B-79FBE486032D}" type="slidenum">
              <a:rPr lang="zh-CN" altLang="en-US" smtClean="0"/>
              <a:t>43</a:t>
            </a:fld>
            <a:endParaRPr lang="zh-CN" altLang="en-US"/>
          </a:p>
        </p:txBody>
      </p:sp>
    </p:spTree>
    <p:extLst>
      <p:ext uri="{BB962C8B-B14F-4D97-AF65-F5344CB8AC3E}">
        <p14:creationId xmlns:p14="http://schemas.microsoft.com/office/powerpoint/2010/main" val="427653272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845146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8188640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7167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endParaRPr lang="zh-CN" altLang="en-US" b="0" i="0" dirty="0">
              <a:effectLst/>
              <a:latin typeface="-apple-system"/>
            </a:endParaRPr>
          </a:p>
        </p:txBody>
      </p:sp>
      <p:sp>
        <p:nvSpPr>
          <p:cNvPr id="4" name="灯片编号占位符 3"/>
          <p:cNvSpPr>
            <a:spLocks noGrp="1"/>
          </p:cNvSpPr>
          <p:nvPr>
            <p:ph type="sldNum" sz="quarter" idx="10"/>
          </p:nvPr>
        </p:nvSpPr>
        <p:spPr/>
        <p:txBody>
          <a:bodyPr/>
          <a:lstStyle/>
          <a:p>
            <a:fld id="{D34C0232-94FA-4EBE-BB9B-79FBE486032D}" type="slidenum">
              <a:rPr lang="zh-CN" altLang="en-US" smtClean="0"/>
              <a:t>47</a:t>
            </a:fld>
            <a:endParaRPr lang="zh-CN" altLang="en-US"/>
          </a:p>
        </p:txBody>
      </p:sp>
    </p:spTree>
    <p:extLst>
      <p:ext uri="{BB962C8B-B14F-4D97-AF65-F5344CB8AC3E}">
        <p14:creationId xmlns:p14="http://schemas.microsoft.com/office/powerpoint/2010/main" val="2958671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16C215-5202-13EF-42AF-A0A9C951B79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AF25953-F854-3CD5-858F-C403A54C6E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947CF4D-D227-4B53-3391-D2EE2F96C1F7}"/>
              </a:ext>
            </a:extLst>
          </p:cNvPr>
          <p:cNvSpPr>
            <a:spLocks noGrp="1"/>
          </p:cNvSpPr>
          <p:nvPr>
            <p:ph type="dt" sz="half" idx="10"/>
          </p:nvPr>
        </p:nvSpPr>
        <p:spPr/>
        <p:txBody>
          <a:bodyPr/>
          <a:lstStyle/>
          <a:p>
            <a:fld id="{51DC5532-29E1-4962-B89A-5E66037076ED}" type="datetimeFigureOut">
              <a:rPr lang="zh-CN" altLang="en-US" smtClean="0"/>
              <a:t>2024/11/10</a:t>
            </a:fld>
            <a:endParaRPr lang="zh-CN" altLang="en-US"/>
          </a:p>
        </p:txBody>
      </p:sp>
      <p:sp>
        <p:nvSpPr>
          <p:cNvPr id="5" name="页脚占位符 4">
            <a:extLst>
              <a:ext uri="{FF2B5EF4-FFF2-40B4-BE49-F238E27FC236}">
                <a16:creationId xmlns:a16="http://schemas.microsoft.com/office/drawing/2014/main" id="{EBDA3839-6774-2743-E5EA-9FE66A55DE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F79D8E2-AAB5-1158-68F9-129C60671D28}"/>
              </a:ext>
            </a:extLst>
          </p:cNvPr>
          <p:cNvSpPr>
            <a:spLocks noGrp="1"/>
          </p:cNvSpPr>
          <p:nvPr>
            <p:ph type="sldNum" sz="quarter" idx="12"/>
          </p:nvPr>
        </p:nvSpPr>
        <p:spPr/>
        <p:txBody>
          <a:bodyPr/>
          <a:lstStyle/>
          <a:p>
            <a:fld id="{6FA36419-CD13-42A3-8088-E2C6F1FBB0A3}" type="slidenum">
              <a:rPr lang="zh-CN" altLang="en-US" smtClean="0"/>
              <a:t>‹#›</a:t>
            </a:fld>
            <a:endParaRPr lang="zh-CN" altLang="en-US"/>
          </a:p>
        </p:txBody>
      </p:sp>
    </p:spTree>
    <p:extLst>
      <p:ext uri="{BB962C8B-B14F-4D97-AF65-F5344CB8AC3E}">
        <p14:creationId xmlns:p14="http://schemas.microsoft.com/office/powerpoint/2010/main" val="3734697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7F8B6-EF5E-7934-C1E4-A170A981FF6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B2BBDC9-CD9A-4614-2BB8-9B442CB9BBA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3CE65A1-2640-87E1-6EB5-A47EB983EEFB}"/>
              </a:ext>
            </a:extLst>
          </p:cNvPr>
          <p:cNvSpPr>
            <a:spLocks noGrp="1"/>
          </p:cNvSpPr>
          <p:nvPr>
            <p:ph type="dt" sz="half" idx="10"/>
          </p:nvPr>
        </p:nvSpPr>
        <p:spPr/>
        <p:txBody>
          <a:bodyPr/>
          <a:lstStyle/>
          <a:p>
            <a:fld id="{51DC5532-29E1-4962-B89A-5E66037076ED}" type="datetimeFigureOut">
              <a:rPr lang="zh-CN" altLang="en-US" smtClean="0"/>
              <a:t>2024/11/10</a:t>
            </a:fld>
            <a:endParaRPr lang="zh-CN" altLang="en-US"/>
          </a:p>
        </p:txBody>
      </p:sp>
      <p:sp>
        <p:nvSpPr>
          <p:cNvPr id="5" name="页脚占位符 4">
            <a:extLst>
              <a:ext uri="{FF2B5EF4-FFF2-40B4-BE49-F238E27FC236}">
                <a16:creationId xmlns:a16="http://schemas.microsoft.com/office/drawing/2014/main" id="{720C6186-A309-071F-9D6D-3A956870A4B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99CFF29-6BC1-ED68-4080-CB5AA1DBD68D}"/>
              </a:ext>
            </a:extLst>
          </p:cNvPr>
          <p:cNvSpPr>
            <a:spLocks noGrp="1"/>
          </p:cNvSpPr>
          <p:nvPr>
            <p:ph type="sldNum" sz="quarter" idx="12"/>
          </p:nvPr>
        </p:nvSpPr>
        <p:spPr/>
        <p:txBody>
          <a:bodyPr/>
          <a:lstStyle/>
          <a:p>
            <a:fld id="{6FA36419-CD13-42A3-8088-E2C6F1FBB0A3}" type="slidenum">
              <a:rPr lang="zh-CN" altLang="en-US" smtClean="0"/>
              <a:t>‹#›</a:t>
            </a:fld>
            <a:endParaRPr lang="zh-CN" altLang="en-US"/>
          </a:p>
        </p:txBody>
      </p:sp>
    </p:spTree>
    <p:extLst>
      <p:ext uri="{BB962C8B-B14F-4D97-AF65-F5344CB8AC3E}">
        <p14:creationId xmlns:p14="http://schemas.microsoft.com/office/powerpoint/2010/main" val="2217612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E4A8A0-1C9E-1896-9FCD-2228FA28776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B2C4BEF-03A3-1BD6-822E-384F165AA4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23B2A3A-7985-39D8-49FC-B62A77236539}"/>
              </a:ext>
            </a:extLst>
          </p:cNvPr>
          <p:cNvSpPr>
            <a:spLocks noGrp="1"/>
          </p:cNvSpPr>
          <p:nvPr>
            <p:ph type="dt" sz="half" idx="10"/>
          </p:nvPr>
        </p:nvSpPr>
        <p:spPr/>
        <p:txBody>
          <a:bodyPr/>
          <a:lstStyle/>
          <a:p>
            <a:fld id="{51DC5532-29E1-4962-B89A-5E66037076ED}" type="datetimeFigureOut">
              <a:rPr lang="zh-CN" altLang="en-US" smtClean="0"/>
              <a:t>2024/11/10</a:t>
            </a:fld>
            <a:endParaRPr lang="zh-CN" altLang="en-US"/>
          </a:p>
        </p:txBody>
      </p:sp>
      <p:sp>
        <p:nvSpPr>
          <p:cNvPr id="5" name="页脚占位符 4">
            <a:extLst>
              <a:ext uri="{FF2B5EF4-FFF2-40B4-BE49-F238E27FC236}">
                <a16:creationId xmlns:a16="http://schemas.microsoft.com/office/drawing/2014/main" id="{F5F9F086-CD04-1AE0-6D3F-D5BE192FB1F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E1FFDE6-2600-2037-E72F-8E17B205692B}"/>
              </a:ext>
            </a:extLst>
          </p:cNvPr>
          <p:cNvSpPr>
            <a:spLocks noGrp="1"/>
          </p:cNvSpPr>
          <p:nvPr>
            <p:ph type="sldNum" sz="quarter" idx="12"/>
          </p:nvPr>
        </p:nvSpPr>
        <p:spPr/>
        <p:txBody>
          <a:bodyPr/>
          <a:lstStyle/>
          <a:p>
            <a:fld id="{6FA36419-CD13-42A3-8088-E2C6F1FBB0A3}" type="slidenum">
              <a:rPr lang="zh-CN" altLang="en-US" smtClean="0"/>
              <a:t>‹#›</a:t>
            </a:fld>
            <a:endParaRPr lang="zh-CN" altLang="en-US"/>
          </a:p>
        </p:txBody>
      </p:sp>
    </p:spTree>
    <p:extLst>
      <p:ext uri="{BB962C8B-B14F-4D97-AF65-F5344CB8AC3E}">
        <p14:creationId xmlns:p14="http://schemas.microsoft.com/office/powerpoint/2010/main" val="2801979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5468E1-6F43-A9CF-30BA-2718FFACB34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A465BEE-FE2C-D652-388D-1D349568A4E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5CCE943-5841-70FA-0127-E2515ABD36A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E273E1B-E403-0995-1C40-F136149D10A5}"/>
              </a:ext>
            </a:extLst>
          </p:cNvPr>
          <p:cNvSpPr>
            <a:spLocks noGrp="1"/>
          </p:cNvSpPr>
          <p:nvPr>
            <p:ph type="dt" sz="half" idx="10"/>
          </p:nvPr>
        </p:nvSpPr>
        <p:spPr/>
        <p:txBody>
          <a:bodyPr/>
          <a:lstStyle/>
          <a:p>
            <a:fld id="{51DC5532-29E1-4962-B89A-5E66037076ED}" type="datetimeFigureOut">
              <a:rPr lang="zh-CN" altLang="en-US" smtClean="0"/>
              <a:t>2024/11/10</a:t>
            </a:fld>
            <a:endParaRPr lang="zh-CN" altLang="en-US"/>
          </a:p>
        </p:txBody>
      </p:sp>
      <p:sp>
        <p:nvSpPr>
          <p:cNvPr id="6" name="页脚占位符 5">
            <a:extLst>
              <a:ext uri="{FF2B5EF4-FFF2-40B4-BE49-F238E27FC236}">
                <a16:creationId xmlns:a16="http://schemas.microsoft.com/office/drawing/2014/main" id="{65CB5688-EA6E-BFE9-25A7-431578DDF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72BD814-18D9-6ED2-D8D4-C3D2590ED646}"/>
              </a:ext>
            </a:extLst>
          </p:cNvPr>
          <p:cNvSpPr>
            <a:spLocks noGrp="1"/>
          </p:cNvSpPr>
          <p:nvPr>
            <p:ph type="sldNum" sz="quarter" idx="12"/>
          </p:nvPr>
        </p:nvSpPr>
        <p:spPr/>
        <p:txBody>
          <a:bodyPr/>
          <a:lstStyle/>
          <a:p>
            <a:fld id="{6FA36419-CD13-42A3-8088-E2C6F1FBB0A3}" type="slidenum">
              <a:rPr lang="zh-CN" altLang="en-US" smtClean="0"/>
              <a:t>‹#›</a:t>
            </a:fld>
            <a:endParaRPr lang="zh-CN" altLang="en-US"/>
          </a:p>
        </p:txBody>
      </p:sp>
    </p:spTree>
    <p:extLst>
      <p:ext uri="{BB962C8B-B14F-4D97-AF65-F5344CB8AC3E}">
        <p14:creationId xmlns:p14="http://schemas.microsoft.com/office/powerpoint/2010/main" val="1345693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822F2A-1C5E-AC1A-E47B-F6F3358D7ED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B7D888B-5DDB-DE4F-6F66-779FF090B5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6C8609A-2D41-8C7E-C29E-B618DAA0224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C1D8510-90A9-77E1-20F8-74CC6B6926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85A3A84-BDF0-5868-14A0-123D8495AA0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DAAE97F-7764-CE07-15D0-3F629A399EC4}"/>
              </a:ext>
            </a:extLst>
          </p:cNvPr>
          <p:cNvSpPr>
            <a:spLocks noGrp="1"/>
          </p:cNvSpPr>
          <p:nvPr>
            <p:ph type="dt" sz="half" idx="10"/>
          </p:nvPr>
        </p:nvSpPr>
        <p:spPr/>
        <p:txBody>
          <a:bodyPr/>
          <a:lstStyle/>
          <a:p>
            <a:fld id="{51DC5532-29E1-4962-B89A-5E66037076ED}" type="datetimeFigureOut">
              <a:rPr lang="zh-CN" altLang="en-US" smtClean="0"/>
              <a:t>2024/11/10</a:t>
            </a:fld>
            <a:endParaRPr lang="zh-CN" altLang="en-US"/>
          </a:p>
        </p:txBody>
      </p:sp>
      <p:sp>
        <p:nvSpPr>
          <p:cNvPr id="8" name="页脚占位符 7">
            <a:extLst>
              <a:ext uri="{FF2B5EF4-FFF2-40B4-BE49-F238E27FC236}">
                <a16:creationId xmlns:a16="http://schemas.microsoft.com/office/drawing/2014/main" id="{1D966376-ADEF-856D-28FD-BEA510D9074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982E1F6-0CBB-5892-58E1-4FFA666CF662}"/>
              </a:ext>
            </a:extLst>
          </p:cNvPr>
          <p:cNvSpPr>
            <a:spLocks noGrp="1"/>
          </p:cNvSpPr>
          <p:nvPr>
            <p:ph type="sldNum" sz="quarter" idx="12"/>
          </p:nvPr>
        </p:nvSpPr>
        <p:spPr/>
        <p:txBody>
          <a:bodyPr/>
          <a:lstStyle/>
          <a:p>
            <a:fld id="{6FA36419-CD13-42A3-8088-E2C6F1FBB0A3}" type="slidenum">
              <a:rPr lang="zh-CN" altLang="en-US" smtClean="0"/>
              <a:t>‹#›</a:t>
            </a:fld>
            <a:endParaRPr lang="zh-CN" altLang="en-US"/>
          </a:p>
        </p:txBody>
      </p:sp>
    </p:spTree>
    <p:extLst>
      <p:ext uri="{BB962C8B-B14F-4D97-AF65-F5344CB8AC3E}">
        <p14:creationId xmlns:p14="http://schemas.microsoft.com/office/powerpoint/2010/main" val="1819850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FCE427-E94B-E359-C2B3-38E71F2F4A0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50E0A5D-509E-0A83-4401-8D888DDCF7B9}"/>
              </a:ext>
            </a:extLst>
          </p:cNvPr>
          <p:cNvSpPr>
            <a:spLocks noGrp="1"/>
          </p:cNvSpPr>
          <p:nvPr>
            <p:ph type="dt" sz="half" idx="10"/>
          </p:nvPr>
        </p:nvSpPr>
        <p:spPr/>
        <p:txBody>
          <a:bodyPr/>
          <a:lstStyle/>
          <a:p>
            <a:fld id="{51DC5532-29E1-4962-B89A-5E66037076ED}" type="datetimeFigureOut">
              <a:rPr lang="zh-CN" altLang="en-US" smtClean="0"/>
              <a:t>2024/11/10</a:t>
            </a:fld>
            <a:endParaRPr lang="zh-CN" altLang="en-US"/>
          </a:p>
        </p:txBody>
      </p:sp>
      <p:sp>
        <p:nvSpPr>
          <p:cNvPr id="4" name="页脚占位符 3">
            <a:extLst>
              <a:ext uri="{FF2B5EF4-FFF2-40B4-BE49-F238E27FC236}">
                <a16:creationId xmlns:a16="http://schemas.microsoft.com/office/drawing/2014/main" id="{53AD27F2-B936-C9B9-023A-F1711C86AA5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9C15ECA-C57F-3BB2-0C61-2BD7027EB8C7}"/>
              </a:ext>
            </a:extLst>
          </p:cNvPr>
          <p:cNvSpPr>
            <a:spLocks noGrp="1"/>
          </p:cNvSpPr>
          <p:nvPr>
            <p:ph type="sldNum" sz="quarter" idx="12"/>
          </p:nvPr>
        </p:nvSpPr>
        <p:spPr/>
        <p:txBody>
          <a:bodyPr/>
          <a:lstStyle/>
          <a:p>
            <a:fld id="{6FA36419-CD13-42A3-8088-E2C6F1FBB0A3}" type="slidenum">
              <a:rPr lang="zh-CN" altLang="en-US" smtClean="0"/>
              <a:t>‹#›</a:t>
            </a:fld>
            <a:endParaRPr lang="zh-CN" altLang="en-US"/>
          </a:p>
        </p:txBody>
      </p:sp>
    </p:spTree>
    <p:extLst>
      <p:ext uri="{BB962C8B-B14F-4D97-AF65-F5344CB8AC3E}">
        <p14:creationId xmlns:p14="http://schemas.microsoft.com/office/powerpoint/2010/main" val="3665008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EDF4F3B-DD6F-4055-AA1C-E21523BEC339}"/>
              </a:ext>
            </a:extLst>
          </p:cNvPr>
          <p:cNvSpPr>
            <a:spLocks noGrp="1"/>
          </p:cNvSpPr>
          <p:nvPr>
            <p:ph type="dt" sz="half" idx="10"/>
          </p:nvPr>
        </p:nvSpPr>
        <p:spPr/>
        <p:txBody>
          <a:bodyPr/>
          <a:lstStyle/>
          <a:p>
            <a:fld id="{51DC5532-29E1-4962-B89A-5E66037076ED}" type="datetimeFigureOut">
              <a:rPr lang="zh-CN" altLang="en-US" smtClean="0"/>
              <a:t>2024/11/10</a:t>
            </a:fld>
            <a:endParaRPr lang="zh-CN" altLang="en-US"/>
          </a:p>
        </p:txBody>
      </p:sp>
      <p:sp>
        <p:nvSpPr>
          <p:cNvPr id="3" name="页脚占位符 2">
            <a:extLst>
              <a:ext uri="{FF2B5EF4-FFF2-40B4-BE49-F238E27FC236}">
                <a16:creationId xmlns:a16="http://schemas.microsoft.com/office/drawing/2014/main" id="{EA8F76B1-CE70-E77E-698D-201AA31268F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DB93997-E13F-71AB-B43C-A30140819720}"/>
              </a:ext>
            </a:extLst>
          </p:cNvPr>
          <p:cNvSpPr>
            <a:spLocks noGrp="1"/>
          </p:cNvSpPr>
          <p:nvPr>
            <p:ph type="sldNum" sz="quarter" idx="12"/>
          </p:nvPr>
        </p:nvSpPr>
        <p:spPr/>
        <p:txBody>
          <a:bodyPr/>
          <a:lstStyle/>
          <a:p>
            <a:fld id="{6FA36419-CD13-42A3-8088-E2C6F1FBB0A3}" type="slidenum">
              <a:rPr lang="zh-CN" altLang="en-US" smtClean="0"/>
              <a:t>‹#›</a:t>
            </a:fld>
            <a:endParaRPr lang="zh-CN" altLang="en-US"/>
          </a:p>
        </p:txBody>
      </p:sp>
    </p:spTree>
    <p:extLst>
      <p:ext uri="{BB962C8B-B14F-4D97-AF65-F5344CB8AC3E}">
        <p14:creationId xmlns:p14="http://schemas.microsoft.com/office/powerpoint/2010/main" val="157374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66521-7A95-9550-7ADC-591C64392E9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F286AA5-5C7E-F91A-0812-3FEEC9B167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03F7B44-0CA6-CC8D-A3F3-A092A3959C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F517518-CEB5-1A5F-6430-5DC4CF64B46B}"/>
              </a:ext>
            </a:extLst>
          </p:cNvPr>
          <p:cNvSpPr>
            <a:spLocks noGrp="1"/>
          </p:cNvSpPr>
          <p:nvPr>
            <p:ph type="dt" sz="half" idx="10"/>
          </p:nvPr>
        </p:nvSpPr>
        <p:spPr/>
        <p:txBody>
          <a:bodyPr/>
          <a:lstStyle/>
          <a:p>
            <a:fld id="{51DC5532-29E1-4962-B89A-5E66037076ED}" type="datetimeFigureOut">
              <a:rPr lang="zh-CN" altLang="en-US" smtClean="0"/>
              <a:t>2024/11/10</a:t>
            </a:fld>
            <a:endParaRPr lang="zh-CN" altLang="en-US"/>
          </a:p>
        </p:txBody>
      </p:sp>
      <p:sp>
        <p:nvSpPr>
          <p:cNvPr id="6" name="页脚占位符 5">
            <a:extLst>
              <a:ext uri="{FF2B5EF4-FFF2-40B4-BE49-F238E27FC236}">
                <a16:creationId xmlns:a16="http://schemas.microsoft.com/office/drawing/2014/main" id="{AFADE44D-6CD3-6BCE-FEF1-7ADC1E19A21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D8E2461-ABB5-405A-2F5C-340B38F8DD32}"/>
              </a:ext>
            </a:extLst>
          </p:cNvPr>
          <p:cNvSpPr>
            <a:spLocks noGrp="1"/>
          </p:cNvSpPr>
          <p:nvPr>
            <p:ph type="sldNum" sz="quarter" idx="12"/>
          </p:nvPr>
        </p:nvSpPr>
        <p:spPr/>
        <p:txBody>
          <a:bodyPr/>
          <a:lstStyle/>
          <a:p>
            <a:fld id="{6FA36419-CD13-42A3-8088-E2C6F1FBB0A3}" type="slidenum">
              <a:rPr lang="zh-CN" altLang="en-US" smtClean="0"/>
              <a:t>‹#›</a:t>
            </a:fld>
            <a:endParaRPr lang="zh-CN" altLang="en-US"/>
          </a:p>
        </p:txBody>
      </p:sp>
    </p:spTree>
    <p:extLst>
      <p:ext uri="{BB962C8B-B14F-4D97-AF65-F5344CB8AC3E}">
        <p14:creationId xmlns:p14="http://schemas.microsoft.com/office/powerpoint/2010/main" val="7889670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EFDE62-04AD-97E0-68A0-C8FD7131B01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D533CE6-5D41-B1B5-1165-1B299E9360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7EB6630-1035-3B11-A235-1FDCF8FBFF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4A3E1FF-AC45-4937-186D-1234C0976260}"/>
              </a:ext>
            </a:extLst>
          </p:cNvPr>
          <p:cNvSpPr>
            <a:spLocks noGrp="1"/>
          </p:cNvSpPr>
          <p:nvPr>
            <p:ph type="dt" sz="half" idx="10"/>
          </p:nvPr>
        </p:nvSpPr>
        <p:spPr/>
        <p:txBody>
          <a:bodyPr/>
          <a:lstStyle/>
          <a:p>
            <a:fld id="{51DC5532-29E1-4962-B89A-5E66037076ED}" type="datetimeFigureOut">
              <a:rPr lang="zh-CN" altLang="en-US" smtClean="0"/>
              <a:t>2024/11/10</a:t>
            </a:fld>
            <a:endParaRPr lang="zh-CN" altLang="en-US"/>
          </a:p>
        </p:txBody>
      </p:sp>
      <p:sp>
        <p:nvSpPr>
          <p:cNvPr id="6" name="页脚占位符 5">
            <a:extLst>
              <a:ext uri="{FF2B5EF4-FFF2-40B4-BE49-F238E27FC236}">
                <a16:creationId xmlns:a16="http://schemas.microsoft.com/office/drawing/2014/main" id="{15D95A55-CDF0-4783-AA3F-8AB9BC18F84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5870F37-CCFA-9E32-629E-FE525C7BEDB5}"/>
              </a:ext>
            </a:extLst>
          </p:cNvPr>
          <p:cNvSpPr>
            <a:spLocks noGrp="1"/>
          </p:cNvSpPr>
          <p:nvPr>
            <p:ph type="sldNum" sz="quarter" idx="12"/>
          </p:nvPr>
        </p:nvSpPr>
        <p:spPr/>
        <p:txBody>
          <a:bodyPr/>
          <a:lstStyle/>
          <a:p>
            <a:fld id="{6FA36419-CD13-42A3-8088-E2C6F1FBB0A3}" type="slidenum">
              <a:rPr lang="zh-CN" altLang="en-US" smtClean="0"/>
              <a:t>‹#›</a:t>
            </a:fld>
            <a:endParaRPr lang="zh-CN" altLang="en-US"/>
          </a:p>
        </p:txBody>
      </p:sp>
    </p:spTree>
    <p:extLst>
      <p:ext uri="{BB962C8B-B14F-4D97-AF65-F5344CB8AC3E}">
        <p14:creationId xmlns:p14="http://schemas.microsoft.com/office/powerpoint/2010/main" val="3896583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4209F4-05C9-79A3-7870-EDF81E45A30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E4534E5-D9E3-D03D-DBAE-DA7E7BC598A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A4C496E-ABF1-C3BE-08D0-D809AE0107B7}"/>
              </a:ext>
            </a:extLst>
          </p:cNvPr>
          <p:cNvSpPr>
            <a:spLocks noGrp="1"/>
          </p:cNvSpPr>
          <p:nvPr>
            <p:ph type="dt" sz="half" idx="10"/>
          </p:nvPr>
        </p:nvSpPr>
        <p:spPr/>
        <p:txBody>
          <a:bodyPr/>
          <a:lstStyle/>
          <a:p>
            <a:fld id="{51DC5532-29E1-4962-B89A-5E66037076ED}" type="datetimeFigureOut">
              <a:rPr lang="zh-CN" altLang="en-US" smtClean="0"/>
              <a:t>2024/11/10</a:t>
            </a:fld>
            <a:endParaRPr lang="zh-CN" altLang="en-US"/>
          </a:p>
        </p:txBody>
      </p:sp>
      <p:sp>
        <p:nvSpPr>
          <p:cNvPr id="5" name="页脚占位符 4">
            <a:extLst>
              <a:ext uri="{FF2B5EF4-FFF2-40B4-BE49-F238E27FC236}">
                <a16:creationId xmlns:a16="http://schemas.microsoft.com/office/drawing/2014/main" id="{F1B8BE24-5954-0F53-E5B1-2C37148E7CB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938BA0D-929C-4CDB-00FC-FF054581AEA7}"/>
              </a:ext>
            </a:extLst>
          </p:cNvPr>
          <p:cNvSpPr>
            <a:spLocks noGrp="1"/>
          </p:cNvSpPr>
          <p:nvPr>
            <p:ph type="sldNum" sz="quarter" idx="12"/>
          </p:nvPr>
        </p:nvSpPr>
        <p:spPr/>
        <p:txBody>
          <a:bodyPr/>
          <a:lstStyle/>
          <a:p>
            <a:fld id="{6FA36419-CD13-42A3-8088-E2C6F1FBB0A3}" type="slidenum">
              <a:rPr lang="zh-CN" altLang="en-US" smtClean="0"/>
              <a:t>‹#›</a:t>
            </a:fld>
            <a:endParaRPr lang="zh-CN" altLang="en-US"/>
          </a:p>
        </p:txBody>
      </p:sp>
    </p:spTree>
    <p:extLst>
      <p:ext uri="{BB962C8B-B14F-4D97-AF65-F5344CB8AC3E}">
        <p14:creationId xmlns:p14="http://schemas.microsoft.com/office/powerpoint/2010/main" val="37497484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EC75FAC-FF1C-4599-197D-AC0B0C75543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3CD6CB0-A85A-9CBD-A31C-311703EA2C8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183493A-F9C0-FFDC-DECA-48197F65524B}"/>
              </a:ext>
            </a:extLst>
          </p:cNvPr>
          <p:cNvSpPr>
            <a:spLocks noGrp="1"/>
          </p:cNvSpPr>
          <p:nvPr>
            <p:ph type="dt" sz="half" idx="10"/>
          </p:nvPr>
        </p:nvSpPr>
        <p:spPr/>
        <p:txBody>
          <a:bodyPr/>
          <a:lstStyle/>
          <a:p>
            <a:fld id="{51DC5532-29E1-4962-B89A-5E66037076ED}" type="datetimeFigureOut">
              <a:rPr lang="zh-CN" altLang="en-US" smtClean="0"/>
              <a:t>2024/11/10</a:t>
            </a:fld>
            <a:endParaRPr lang="zh-CN" altLang="en-US"/>
          </a:p>
        </p:txBody>
      </p:sp>
      <p:sp>
        <p:nvSpPr>
          <p:cNvPr id="5" name="页脚占位符 4">
            <a:extLst>
              <a:ext uri="{FF2B5EF4-FFF2-40B4-BE49-F238E27FC236}">
                <a16:creationId xmlns:a16="http://schemas.microsoft.com/office/drawing/2014/main" id="{43634631-F2A8-9A24-1307-F9BDBB1D040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6A83160-A335-69E1-4DF0-4919679074F3}"/>
              </a:ext>
            </a:extLst>
          </p:cNvPr>
          <p:cNvSpPr>
            <a:spLocks noGrp="1"/>
          </p:cNvSpPr>
          <p:nvPr>
            <p:ph type="sldNum" sz="quarter" idx="12"/>
          </p:nvPr>
        </p:nvSpPr>
        <p:spPr/>
        <p:txBody>
          <a:bodyPr/>
          <a:lstStyle/>
          <a:p>
            <a:fld id="{6FA36419-CD13-42A3-8088-E2C6F1FBB0A3}" type="slidenum">
              <a:rPr lang="zh-CN" altLang="en-US" smtClean="0"/>
              <a:t>‹#›</a:t>
            </a:fld>
            <a:endParaRPr lang="zh-CN" altLang="en-US"/>
          </a:p>
        </p:txBody>
      </p:sp>
    </p:spTree>
    <p:extLst>
      <p:ext uri="{BB962C8B-B14F-4D97-AF65-F5344CB8AC3E}">
        <p14:creationId xmlns:p14="http://schemas.microsoft.com/office/powerpoint/2010/main" val="17110482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首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5509646"/>
      </p:ext>
    </p:extLst>
  </p:cSld>
  <p:clrMapOvr>
    <a:masterClrMapping/>
  </p:clrMapOvr>
  <mc:AlternateContent xmlns:mc="http://schemas.openxmlformats.org/markup-compatibility/2006" xmlns:p14="http://schemas.microsoft.com/office/powerpoint/2010/main">
    <mc:Choice Requires="p14">
      <p:transition spd="slow" p14:dur="1400" advClick="0" advTm="5000">
        <p14:ripple/>
      </p:transition>
    </mc:Choice>
    <mc:Fallback xmlns="">
      <p:transition spd="slow" advClick="0" advTm="5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首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919991"/>
      </p:ext>
    </p:extLst>
  </p:cSld>
  <p:clrMapOvr>
    <a:masterClrMapping/>
  </p:clrMapOvr>
  <mc:AlternateContent xmlns:mc="http://schemas.openxmlformats.org/markup-compatibility/2006" xmlns:p14="http://schemas.microsoft.com/office/powerpoint/2010/main">
    <mc:Choice Requires="p14">
      <p:transition spd="slow" p14:dur="1400" advClick="0" advTm="5000">
        <p14:ripple/>
      </p:transition>
    </mc:Choice>
    <mc:Fallback xmlns="">
      <p:transition spd="slow" advClick="0" advTm="5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1874750"/>
      </p:ext>
    </p:extLst>
  </p:cSld>
  <p:clrMapOvr>
    <a:masterClrMapping/>
  </p:clrMapOvr>
  <mc:AlternateContent xmlns:mc="http://schemas.openxmlformats.org/markup-compatibility/2006" xmlns:p14="http://schemas.microsoft.com/office/powerpoint/2010/main">
    <mc:Choice Requires="p14">
      <p:transition spd="slow" p14:dur="1400" advClick="0" advTm="5000">
        <p14:doors dir="vert"/>
      </p:transition>
    </mc:Choice>
    <mc:Fallback xmlns="">
      <p:transition spd="slow" advClick="0" advTm="5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过度页1">
    <p:spTree>
      <p:nvGrpSpPr>
        <p:cNvPr id="1" name=""/>
        <p:cNvGrpSpPr/>
        <p:nvPr/>
      </p:nvGrpSpPr>
      <p:grpSpPr>
        <a:xfrm>
          <a:off x="0" y="0"/>
          <a:ext cx="0" cy="0"/>
          <a:chOff x="0" y="0"/>
          <a:chExt cx="0" cy="0"/>
        </a:xfrm>
      </p:grpSpPr>
    </p:spTree>
    <p:extLst>
      <p:ext uri="{BB962C8B-B14F-4D97-AF65-F5344CB8AC3E}">
        <p14:creationId xmlns:p14="http://schemas.microsoft.com/office/powerpoint/2010/main" val="459787248"/>
      </p:ext>
    </p:extLst>
  </p:cSld>
  <p:clrMapOvr>
    <a:masterClrMapping/>
  </p:clrMapOvr>
  <mc:AlternateContent xmlns:mc="http://schemas.openxmlformats.org/markup-compatibility/2006" xmlns:p14="http://schemas.microsoft.com/office/powerpoint/2010/main">
    <mc:Choice Requires="p14">
      <p:transition spd="slow" p14:dur="900" advClick="0" advTm="5000">
        <p14:warp dir="in"/>
      </p:transition>
    </mc:Choice>
    <mc:Fallback xmlns="">
      <p:transition spd="slow" advClick="0" advTm="5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927944760"/>
      </p:ext>
    </p:extLst>
  </p:cSld>
  <p:clrMapOvr>
    <a:masterClrMapping/>
  </p:clrMapOvr>
  <mc:AlternateContent xmlns:mc="http://schemas.openxmlformats.org/markup-compatibility/2006" xmlns:p14="http://schemas.microsoft.com/office/powerpoint/2010/main">
    <mc:Choice Requires="p14">
      <p:transition spd="slow" p14:dur="1600" advClick="0" advTm="5000">
        <p14:prism isInverted="1"/>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298023556"/>
      </p:ext>
    </p:extLst>
  </p:cSld>
  <p:clrMapOvr>
    <a:masterClrMapping/>
  </p:clrMapOvr>
  <mc:AlternateContent xmlns:mc="http://schemas.openxmlformats.org/markup-compatibility/2006" xmlns:p14="http://schemas.microsoft.com/office/powerpoint/2010/main">
    <mc:Choice Requires="p14">
      <p:transition spd="slow" p14:dur="1250" advClick="0" advTm="5000">
        <p14:switch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491769650"/>
      </p:ext>
    </p:extLst>
  </p:cSld>
  <p:clrMapOvr>
    <a:masterClrMapping/>
  </p:clrMapOvr>
  <mc:AlternateContent xmlns:mc="http://schemas.openxmlformats.org/markup-compatibility/2006" xmlns:p14="http://schemas.microsoft.com/office/powerpoint/2010/main">
    <mc:Choice Requires="p14">
      <p:transition spd="slow" p14:dur="1250" advClick="0" advTm="5000">
        <p14:flip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560972404"/>
      </p:ext>
    </p:extLst>
  </p:cSld>
  <p:clrMapOvr>
    <a:masterClrMapping/>
  </p:clrMapOvr>
  <mc:AlternateContent xmlns:mc="http://schemas.openxmlformats.org/markup-compatibility/2006" xmlns:p14="http://schemas.microsoft.com/office/powerpoint/2010/main">
    <mc:Choice Requires="p14">
      <p:transition spd="slow" p14:dur="1600" advClick="0" advTm="5000">
        <p14:gallery dir="l"/>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819806"/>
      </p:ext>
    </p:extLst>
  </p:cSld>
  <p:clrMapOvr>
    <a:masterClrMapping/>
  </p:clrMapOvr>
  <mc:AlternateContent xmlns:mc="http://schemas.openxmlformats.org/markup-compatibility/2006" xmlns:p14="http://schemas.microsoft.com/office/powerpoint/2010/main">
    <mc:Choice Requires="p14">
      <p:transition spd="slow" p14:dur="900" advClick="0" advTm="5000">
        <p14:warp dir="in"/>
      </p:transition>
    </mc:Choice>
    <mc:Fallback xmlns="">
      <p:transition spd="slow" advClick="0" advTm="5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版权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9074605"/>
      </p:ext>
    </p:extLst>
  </p:cSld>
  <p:clrMapOvr>
    <a:masterClrMapping/>
  </p:clrMapOvr>
  <mc:AlternateContent xmlns:mc="http://schemas.openxmlformats.org/markup-compatibility/2006" xmlns:p14="http://schemas.microsoft.com/office/powerpoint/2010/main">
    <mc:Choice Requires="p14">
      <p:transition spd="slow" p14:dur="1600" advClick="0" advTm="5000">
        <p:blinds dir="vert"/>
      </p:transition>
    </mc:Choice>
    <mc:Fallback xmlns="">
      <p:transition spd="slow" advClick="0" advTm="5000">
        <p:blinds dir="vert"/>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lIns="121917" tIns="60958" rIns="121917" bIns="60958"/>
          <a:lstStyle/>
          <a:p>
            <a:r>
              <a:rPr lang="zh-CN" altLang="en-US"/>
              <a:t>单击此处编辑母版标题样式</a:t>
            </a:r>
          </a:p>
        </p:txBody>
      </p:sp>
      <p:sp>
        <p:nvSpPr>
          <p:cNvPr id="3" name="日期占位符 2"/>
          <p:cNvSpPr>
            <a:spLocks noGrp="1"/>
          </p:cNvSpPr>
          <p:nvPr>
            <p:ph type="dt" sz="half" idx="10"/>
          </p:nvPr>
        </p:nvSpPr>
        <p:spPr>
          <a:xfrm>
            <a:off x="838200" y="6356351"/>
            <a:ext cx="2743200" cy="365125"/>
          </a:xfrm>
          <a:prstGeom prst="rect">
            <a:avLst/>
          </a:prstGeom>
        </p:spPr>
        <p:txBody>
          <a:bodyPr lIns="121917" tIns="60958" rIns="121917" bIns="60958"/>
          <a:lstStyle>
            <a:lvl1pPr>
              <a:defRPr/>
            </a:lvl1pPr>
          </a:lstStyle>
          <a:p>
            <a:fld id="{80F42DC0-2E3F-F440-A3AA-64F0AA1F84F2}" type="datetime1">
              <a:rPr lang="zh-CN" altLang="en-US"/>
              <a:t>2024/11/10</a:t>
            </a:fld>
            <a:endParaRPr lang="zh-CN" altLang="en-US" sz="1900">
              <a:solidFill>
                <a:schemeClr val="tx1"/>
              </a:solidFill>
            </a:endParaRPr>
          </a:p>
        </p:txBody>
      </p:sp>
      <p:sp>
        <p:nvSpPr>
          <p:cNvPr id="4" name="页脚占位符 3"/>
          <p:cNvSpPr>
            <a:spLocks noGrp="1"/>
          </p:cNvSpPr>
          <p:nvPr>
            <p:ph type="ftr" sz="quarter" idx="11"/>
          </p:nvPr>
        </p:nvSpPr>
        <p:spPr>
          <a:xfrm>
            <a:off x="4038600" y="6356351"/>
            <a:ext cx="4114800" cy="365125"/>
          </a:xfrm>
          <a:prstGeom prst="rect">
            <a:avLst/>
          </a:prstGeom>
        </p:spPr>
        <p:txBody>
          <a:bodyPr lIns="121917" tIns="60958" rIns="121917" bIns="60958"/>
          <a:lstStyle>
            <a:lvl1pPr>
              <a:defRPr/>
            </a:lvl1pPr>
          </a:lstStyle>
          <a:p>
            <a:endParaRPr lang="zh-CN" altLang="zh-CN"/>
          </a:p>
        </p:txBody>
      </p:sp>
      <p:sp>
        <p:nvSpPr>
          <p:cNvPr id="5" name="幻灯片编号占位符 4"/>
          <p:cNvSpPr>
            <a:spLocks noGrp="1"/>
          </p:cNvSpPr>
          <p:nvPr>
            <p:ph type="sldNum" sz="quarter" idx="12"/>
          </p:nvPr>
        </p:nvSpPr>
        <p:spPr>
          <a:xfrm>
            <a:off x="8610600" y="6356351"/>
            <a:ext cx="2743200" cy="365125"/>
          </a:xfrm>
          <a:prstGeom prst="rect">
            <a:avLst/>
          </a:prstGeom>
        </p:spPr>
        <p:txBody>
          <a:bodyPr lIns="121917" tIns="60958" rIns="121917" bIns="60958"/>
          <a:lstStyle>
            <a:lvl1pPr>
              <a:defRPr/>
            </a:lvl1pPr>
          </a:lstStyle>
          <a:p>
            <a:fld id="{C5FC99A0-26D8-5E4B-82FB-70809BCEE9F6}" type="slidenum">
              <a:rPr lang="zh-CN" altLang="en-US"/>
              <a:t>‹#›</a:t>
            </a:fld>
            <a:endParaRPr lang="zh-CN" altLang="en-US" sz="1900">
              <a:solidFill>
                <a:schemeClr val="tx1"/>
              </a:solidFill>
            </a:endParaRPr>
          </a:p>
        </p:txBody>
      </p:sp>
    </p:spTree>
    <p:extLst>
      <p:ext uri="{BB962C8B-B14F-4D97-AF65-F5344CB8AC3E}">
        <p14:creationId xmlns:p14="http://schemas.microsoft.com/office/powerpoint/2010/main" val="40728416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2.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2371256-C293-7018-0C27-1E50A372C6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B476A28-6FBE-7B70-91CE-7E7019C5DE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CC265EC-9F55-4D20-01A4-3A78E62430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DC5532-29E1-4962-B89A-5E66037076ED}" type="datetimeFigureOut">
              <a:rPr lang="zh-CN" altLang="en-US" smtClean="0"/>
              <a:t>2024/11/10</a:t>
            </a:fld>
            <a:endParaRPr lang="zh-CN" altLang="en-US"/>
          </a:p>
        </p:txBody>
      </p:sp>
      <p:sp>
        <p:nvSpPr>
          <p:cNvPr id="5" name="页脚占位符 4">
            <a:extLst>
              <a:ext uri="{FF2B5EF4-FFF2-40B4-BE49-F238E27FC236}">
                <a16:creationId xmlns:a16="http://schemas.microsoft.com/office/drawing/2014/main" id="{CE8AB6A4-366B-213A-A843-66A51A55F8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381CC7A-9C06-0FA2-1880-EEE90A2231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A36419-CD13-42A3-8088-E2C6F1FBB0A3}" type="slidenum">
              <a:rPr lang="zh-CN" altLang="en-US" smtClean="0"/>
              <a:t>‹#›</a:t>
            </a:fld>
            <a:endParaRPr lang="zh-CN" altLang="en-US"/>
          </a:p>
        </p:txBody>
      </p:sp>
    </p:spTree>
    <p:extLst>
      <p:ext uri="{BB962C8B-B14F-4D97-AF65-F5344CB8AC3E}">
        <p14:creationId xmlns:p14="http://schemas.microsoft.com/office/powerpoint/2010/main" val="21737716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36594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mc:AlternateContent xmlns:mc="http://schemas.openxmlformats.org/markup-compatibility/2006" xmlns:p14="http://schemas.microsoft.com/office/powerpoint/2010/main">
    <mc:Choice Requires="p14">
      <p:transition p14:dur="10" advClick="0" advTm="5000"/>
    </mc:Choice>
    <mc:Fallback xmlns="">
      <p:transition advClick="0" advTm="5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7.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7.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7.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7.xml"/><Relationship Id="rId5" Type="http://schemas.openxmlformats.org/officeDocument/2006/relationships/image" Target="../media/image150.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7.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7.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7.xml"/><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7.xml"/><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7.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1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1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17.xml"/><Relationship Id="rId5" Type="http://schemas.openxmlformats.org/officeDocument/2006/relationships/image" Target="../media/image46.png"/><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5.xml"/><Relationship Id="rId1" Type="http://schemas.openxmlformats.org/officeDocument/2006/relationships/slideLayout" Target="../slideLayouts/slideLayout17.xml"/><Relationship Id="rId4" Type="http://schemas.openxmlformats.org/officeDocument/2006/relationships/image" Target="../media/image49.png"/></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7.png"/><Relationship Id="rId7" Type="http://schemas.openxmlformats.org/officeDocument/2006/relationships/image" Target="../media/image53.png"/><Relationship Id="rId2" Type="http://schemas.openxmlformats.org/officeDocument/2006/relationships/notesSlide" Target="../notesSlides/notesSlide37.xml"/><Relationship Id="rId1" Type="http://schemas.openxmlformats.org/officeDocument/2006/relationships/slideLayout" Target="../slideLayouts/slideLayout17.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55.png"/></Relationships>
</file>

<file path=ppt/slides/_rels/slide38.xml.rels><?xml version="1.0" encoding="UTF-8" standalone="yes"?>
<Relationships xmlns="http://schemas.openxmlformats.org/package/2006/relationships"><Relationship Id="rId8" Type="http://schemas.openxmlformats.org/officeDocument/2006/relationships/image" Target="../media/image570.png"/><Relationship Id="rId3" Type="http://schemas.openxmlformats.org/officeDocument/2006/relationships/image" Target="../media/image56.png"/><Relationship Id="rId7" Type="http://schemas.openxmlformats.org/officeDocument/2006/relationships/image" Target="../media/image560.png"/><Relationship Id="rId2" Type="http://schemas.openxmlformats.org/officeDocument/2006/relationships/notesSlide" Target="../notesSlides/notesSlide38.xml"/><Relationship Id="rId1" Type="http://schemas.openxmlformats.org/officeDocument/2006/relationships/slideLayout" Target="../slideLayouts/slideLayout17.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30.png"/></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0.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4.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43799-56BC-1721-CCC5-4F9C8AE25119}"/>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DA5025EA-C510-B2D4-9C13-987D73417520}"/>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28592" y="776798"/>
            <a:ext cx="5070060" cy="5454498"/>
          </a:xfrm>
          <a:prstGeom prst="rect">
            <a:avLst/>
          </a:prstGeom>
          <a:effectLst>
            <a:innerShdw blurRad="63500" dist="50800" dir="16200000">
              <a:prstClr val="black">
                <a:alpha val="50000"/>
              </a:prstClr>
            </a:innerShdw>
          </a:effectLst>
        </p:spPr>
      </p:pic>
      <p:sp>
        <p:nvSpPr>
          <p:cNvPr id="4" name="TextBox 13">
            <a:extLst>
              <a:ext uri="{FF2B5EF4-FFF2-40B4-BE49-F238E27FC236}">
                <a16:creationId xmlns:a16="http://schemas.microsoft.com/office/drawing/2014/main" id="{694C5BD6-8148-1792-B20E-178C398FED9E}"/>
              </a:ext>
            </a:extLst>
          </p:cNvPr>
          <p:cNvSpPr txBox="1"/>
          <p:nvPr/>
        </p:nvSpPr>
        <p:spPr>
          <a:xfrm>
            <a:off x="5142583" y="2614328"/>
            <a:ext cx="7303686" cy="1200329"/>
          </a:xfrm>
          <a:prstGeom prst="rect">
            <a:avLst/>
          </a:prstGeom>
          <a:noFill/>
        </p:spPr>
        <p:txBody>
          <a:bodyPr wrap="square" rtlCol="0">
            <a:spAutoFit/>
          </a:bodyPr>
          <a:lstStyle/>
          <a:p>
            <a:pPr lvl="0" algn="ctr">
              <a:defRPr/>
            </a:pPr>
            <a:r>
              <a:rPr lang="zh-CN" altLang="en-US" sz="3600" b="1" dirty="0">
                <a:latin typeface="+mj-ea"/>
                <a:ea typeface="+mj-ea"/>
              </a:rPr>
              <a:t>模型融合预融合方法</a:t>
            </a:r>
            <a:endParaRPr lang="en-US" altLang="zh-CN" sz="3600" b="1" dirty="0">
              <a:latin typeface="+mj-ea"/>
              <a:ea typeface="+mj-ea"/>
            </a:endParaRPr>
          </a:p>
          <a:p>
            <a:pPr lvl="0" algn="ctr">
              <a:defRPr/>
            </a:pPr>
            <a:r>
              <a:rPr lang="zh-CN" altLang="en-US" sz="3600" b="1" dirty="0">
                <a:latin typeface="+mj-ea"/>
                <a:ea typeface="+mj-ea"/>
              </a:rPr>
              <a:t>论文阅读报告</a:t>
            </a:r>
            <a:endParaRPr lang="en-US" altLang="zh-CN" sz="3600" b="1" dirty="0">
              <a:latin typeface="+mj-ea"/>
              <a:ea typeface="+mj-ea"/>
            </a:endParaRPr>
          </a:p>
        </p:txBody>
      </p:sp>
      <p:grpSp>
        <p:nvGrpSpPr>
          <p:cNvPr id="9" name="组合 8">
            <a:extLst>
              <a:ext uri="{FF2B5EF4-FFF2-40B4-BE49-F238E27FC236}">
                <a16:creationId xmlns:a16="http://schemas.microsoft.com/office/drawing/2014/main" id="{8B8DEA75-CB92-6935-D189-F116DC0F2751}"/>
              </a:ext>
            </a:extLst>
          </p:cNvPr>
          <p:cNvGrpSpPr/>
          <p:nvPr/>
        </p:nvGrpSpPr>
        <p:grpSpPr bwMode="auto">
          <a:xfrm>
            <a:off x="7782456" y="4205439"/>
            <a:ext cx="412709" cy="333006"/>
            <a:chOff x="0" y="0"/>
            <a:chExt cx="1088225" cy="869861"/>
          </a:xfrm>
          <a:solidFill>
            <a:schemeClr val="tx1"/>
          </a:solidFill>
        </p:grpSpPr>
        <p:sp>
          <p:nvSpPr>
            <p:cNvPr id="10" name="Freeform 17">
              <a:extLst>
                <a:ext uri="{FF2B5EF4-FFF2-40B4-BE49-F238E27FC236}">
                  <a16:creationId xmlns:a16="http://schemas.microsoft.com/office/drawing/2014/main" id="{812DCD59-2A21-127E-C6E0-4E2B48A89743}"/>
                </a:ext>
              </a:extLst>
            </p:cNvPr>
            <p:cNvSpPr>
              <a:spLocks noEditPoints="1" noChangeArrowheads="1"/>
            </p:cNvSpPr>
            <p:nvPr/>
          </p:nvSpPr>
          <p:spPr bwMode="auto">
            <a:xfrm>
              <a:off x="0" y="237562"/>
              <a:ext cx="824268" cy="632299"/>
            </a:xfrm>
            <a:custGeom>
              <a:avLst/>
              <a:gdLst>
                <a:gd name="T0" fmla="*/ 274 w 291"/>
                <a:gd name="T1" fmla="*/ 0 h 223"/>
                <a:gd name="T2" fmla="*/ 17 w 291"/>
                <a:gd name="T3" fmla="*/ 0 h 223"/>
                <a:gd name="T4" fmla="*/ 0 w 291"/>
                <a:gd name="T5" fmla="*/ 16 h 223"/>
                <a:gd name="T6" fmla="*/ 0 w 291"/>
                <a:gd name="T7" fmla="*/ 207 h 223"/>
                <a:gd name="T8" fmla="*/ 17 w 291"/>
                <a:gd name="T9" fmla="*/ 223 h 223"/>
                <a:gd name="T10" fmla="*/ 274 w 291"/>
                <a:gd name="T11" fmla="*/ 223 h 223"/>
                <a:gd name="T12" fmla="*/ 291 w 291"/>
                <a:gd name="T13" fmla="*/ 207 h 223"/>
                <a:gd name="T14" fmla="*/ 291 w 291"/>
                <a:gd name="T15" fmla="*/ 16 h 223"/>
                <a:gd name="T16" fmla="*/ 274 w 291"/>
                <a:gd name="T17" fmla="*/ 0 h 223"/>
                <a:gd name="T18" fmla="*/ 270 w 291"/>
                <a:gd name="T19" fmla="*/ 193 h 223"/>
                <a:gd name="T20" fmla="*/ 256 w 291"/>
                <a:gd name="T21" fmla="*/ 207 h 223"/>
                <a:gd name="T22" fmla="*/ 35 w 291"/>
                <a:gd name="T23" fmla="*/ 207 h 223"/>
                <a:gd name="T24" fmla="*/ 21 w 291"/>
                <a:gd name="T25" fmla="*/ 193 h 223"/>
                <a:gd name="T26" fmla="*/ 21 w 291"/>
                <a:gd name="T27" fmla="*/ 30 h 223"/>
                <a:gd name="T28" fmla="*/ 35 w 291"/>
                <a:gd name="T29" fmla="*/ 16 h 223"/>
                <a:gd name="T30" fmla="*/ 256 w 291"/>
                <a:gd name="T31" fmla="*/ 16 h 223"/>
                <a:gd name="T32" fmla="*/ 270 w 291"/>
                <a:gd name="T33" fmla="*/ 30 h 223"/>
                <a:gd name="T34" fmla="*/ 270 w 291"/>
                <a:gd name="T35" fmla="*/ 19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1"/>
                <a:gd name="T55" fmla="*/ 0 h 223"/>
                <a:gd name="T56" fmla="*/ 291 w 291"/>
                <a:gd name="T57" fmla="*/ 223 h 2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1" h="223">
                  <a:moveTo>
                    <a:pt x="274" y="0"/>
                  </a:moveTo>
                  <a:cubicBezTo>
                    <a:pt x="17" y="0"/>
                    <a:pt x="17" y="0"/>
                    <a:pt x="17" y="0"/>
                  </a:cubicBezTo>
                  <a:cubicBezTo>
                    <a:pt x="8" y="0"/>
                    <a:pt x="0" y="7"/>
                    <a:pt x="0" y="16"/>
                  </a:cubicBezTo>
                  <a:cubicBezTo>
                    <a:pt x="0" y="207"/>
                    <a:pt x="0" y="207"/>
                    <a:pt x="0" y="207"/>
                  </a:cubicBezTo>
                  <a:cubicBezTo>
                    <a:pt x="0" y="215"/>
                    <a:pt x="8" y="223"/>
                    <a:pt x="17" y="223"/>
                  </a:cubicBezTo>
                  <a:cubicBezTo>
                    <a:pt x="274" y="223"/>
                    <a:pt x="274" y="223"/>
                    <a:pt x="274" y="223"/>
                  </a:cubicBezTo>
                  <a:cubicBezTo>
                    <a:pt x="283" y="223"/>
                    <a:pt x="291" y="215"/>
                    <a:pt x="291" y="207"/>
                  </a:cubicBezTo>
                  <a:cubicBezTo>
                    <a:pt x="291" y="16"/>
                    <a:pt x="291" y="16"/>
                    <a:pt x="291" y="16"/>
                  </a:cubicBezTo>
                  <a:cubicBezTo>
                    <a:pt x="291" y="7"/>
                    <a:pt x="283" y="0"/>
                    <a:pt x="274" y="0"/>
                  </a:cubicBezTo>
                  <a:moveTo>
                    <a:pt x="270" y="193"/>
                  </a:moveTo>
                  <a:cubicBezTo>
                    <a:pt x="270" y="201"/>
                    <a:pt x="264" y="207"/>
                    <a:pt x="256" y="207"/>
                  </a:cubicBezTo>
                  <a:cubicBezTo>
                    <a:pt x="35" y="207"/>
                    <a:pt x="35" y="207"/>
                    <a:pt x="35" y="207"/>
                  </a:cubicBezTo>
                  <a:cubicBezTo>
                    <a:pt x="27" y="207"/>
                    <a:pt x="21" y="201"/>
                    <a:pt x="21" y="193"/>
                  </a:cubicBezTo>
                  <a:cubicBezTo>
                    <a:pt x="21" y="30"/>
                    <a:pt x="21" y="30"/>
                    <a:pt x="21" y="30"/>
                  </a:cubicBezTo>
                  <a:cubicBezTo>
                    <a:pt x="21" y="22"/>
                    <a:pt x="27" y="16"/>
                    <a:pt x="35" y="16"/>
                  </a:cubicBezTo>
                  <a:cubicBezTo>
                    <a:pt x="256" y="16"/>
                    <a:pt x="256" y="16"/>
                    <a:pt x="256" y="16"/>
                  </a:cubicBezTo>
                  <a:cubicBezTo>
                    <a:pt x="264" y="16"/>
                    <a:pt x="270" y="22"/>
                    <a:pt x="270" y="30"/>
                  </a:cubicBezTo>
                  <a:lnTo>
                    <a:pt x="270" y="19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1" name="Freeform 18">
              <a:extLst>
                <a:ext uri="{FF2B5EF4-FFF2-40B4-BE49-F238E27FC236}">
                  <a16:creationId xmlns:a16="http://schemas.microsoft.com/office/drawing/2014/main" id="{4993C0E4-5FE3-EA5B-77E1-1D46E55978C8}"/>
                </a:ext>
              </a:extLst>
            </p:cNvPr>
            <p:cNvSpPr>
              <a:spLocks noChangeArrowheads="1"/>
            </p:cNvSpPr>
            <p:nvPr/>
          </p:nvSpPr>
          <p:spPr bwMode="auto">
            <a:xfrm>
              <a:off x="137978" y="110382"/>
              <a:ext cx="821868" cy="632299"/>
            </a:xfrm>
            <a:custGeom>
              <a:avLst/>
              <a:gdLst>
                <a:gd name="T0" fmla="*/ 274 w 290"/>
                <a:gd name="T1" fmla="*/ 0 h 223"/>
                <a:gd name="T2" fmla="*/ 16 w 290"/>
                <a:gd name="T3" fmla="*/ 0 h 223"/>
                <a:gd name="T4" fmla="*/ 0 w 290"/>
                <a:gd name="T5" fmla="*/ 16 h 223"/>
                <a:gd name="T6" fmla="*/ 0 w 290"/>
                <a:gd name="T7" fmla="*/ 25 h 223"/>
                <a:gd name="T8" fmla="*/ 249 w 290"/>
                <a:gd name="T9" fmla="*/ 25 h 223"/>
                <a:gd name="T10" fmla="*/ 265 w 290"/>
                <a:gd name="T11" fmla="*/ 42 h 223"/>
                <a:gd name="T12" fmla="*/ 265 w 290"/>
                <a:gd name="T13" fmla="*/ 223 h 223"/>
                <a:gd name="T14" fmla="*/ 274 w 290"/>
                <a:gd name="T15" fmla="*/ 223 h 223"/>
                <a:gd name="T16" fmla="*/ 290 w 290"/>
                <a:gd name="T17" fmla="*/ 207 h 223"/>
                <a:gd name="T18" fmla="*/ 290 w 290"/>
                <a:gd name="T19" fmla="*/ 16 h 223"/>
                <a:gd name="T20" fmla="*/ 274 w 29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3"/>
                <a:gd name="T35" fmla="*/ 290 w 29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3">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3"/>
                    <a:pt x="265" y="42"/>
                  </a:cubicBezTo>
                  <a:cubicBezTo>
                    <a:pt x="265" y="223"/>
                    <a:pt x="265" y="223"/>
                    <a:pt x="265" y="223"/>
                  </a:cubicBezTo>
                  <a:cubicBezTo>
                    <a:pt x="274" y="223"/>
                    <a:pt x="274" y="223"/>
                    <a:pt x="274" y="223"/>
                  </a:cubicBezTo>
                  <a:cubicBezTo>
                    <a:pt x="283" y="223"/>
                    <a:pt x="290" y="216"/>
                    <a:pt x="290" y="207"/>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2" name="Freeform 19">
              <a:extLst>
                <a:ext uri="{FF2B5EF4-FFF2-40B4-BE49-F238E27FC236}">
                  <a16:creationId xmlns:a16="http://schemas.microsoft.com/office/drawing/2014/main" id="{CA545872-B65F-8A97-AD68-8C70E834D0C4}"/>
                </a:ext>
              </a:extLst>
            </p:cNvPr>
            <p:cNvSpPr>
              <a:spLocks noChangeArrowheads="1"/>
            </p:cNvSpPr>
            <p:nvPr/>
          </p:nvSpPr>
          <p:spPr bwMode="auto">
            <a:xfrm>
              <a:off x="266357" y="0"/>
              <a:ext cx="821868" cy="628699"/>
            </a:xfrm>
            <a:custGeom>
              <a:avLst/>
              <a:gdLst>
                <a:gd name="T0" fmla="*/ 274 w 290"/>
                <a:gd name="T1" fmla="*/ 0 h 222"/>
                <a:gd name="T2" fmla="*/ 16 w 290"/>
                <a:gd name="T3" fmla="*/ 0 h 222"/>
                <a:gd name="T4" fmla="*/ 0 w 290"/>
                <a:gd name="T5" fmla="*/ 16 h 222"/>
                <a:gd name="T6" fmla="*/ 0 w 290"/>
                <a:gd name="T7" fmla="*/ 25 h 222"/>
                <a:gd name="T8" fmla="*/ 249 w 290"/>
                <a:gd name="T9" fmla="*/ 25 h 222"/>
                <a:gd name="T10" fmla="*/ 265 w 290"/>
                <a:gd name="T11" fmla="*/ 41 h 222"/>
                <a:gd name="T12" fmla="*/ 265 w 290"/>
                <a:gd name="T13" fmla="*/ 222 h 222"/>
                <a:gd name="T14" fmla="*/ 274 w 290"/>
                <a:gd name="T15" fmla="*/ 222 h 222"/>
                <a:gd name="T16" fmla="*/ 290 w 290"/>
                <a:gd name="T17" fmla="*/ 206 h 222"/>
                <a:gd name="T18" fmla="*/ 290 w 290"/>
                <a:gd name="T19" fmla="*/ 16 h 222"/>
                <a:gd name="T20" fmla="*/ 274 w 290"/>
                <a:gd name="T21" fmla="*/ 0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2"/>
                <a:gd name="T35" fmla="*/ 290 w 290"/>
                <a:gd name="T36" fmla="*/ 222 h 2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2">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2"/>
                    <a:pt x="265" y="41"/>
                  </a:cubicBezTo>
                  <a:cubicBezTo>
                    <a:pt x="265" y="222"/>
                    <a:pt x="265" y="222"/>
                    <a:pt x="265" y="222"/>
                  </a:cubicBezTo>
                  <a:cubicBezTo>
                    <a:pt x="274" y="222"/>
                    <a:pt x="274" y="222"/>
                    <a:pt x="274" y="222"/>
                  </a:cubicBezTo>
                  <a:cubicBezTo>
                    <a:pt x="283" y="222"/>
                    <a:pt x="290" y="215"/>
                    <a:pt x="290" y="206"/>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3" name="Freeform 20">
              <a:extLst>
                <a:ext uri="{FF2B5EF4-FFF2-40B4-BE49-F238E27FC236}">
                  <a16:creationId xmlns:a16="http://schemas.microsoft.com/office/drawing/2014/main" id="{99D65965-C08B-10F7-FB64-9DC268D0DABF}"/>
                </a:ext>
              </a:extLst>
            </p:cNvPr>
            <p:cNvSpPr>
              <a:spLocks noChangeArrowheads="1"/>
            </p:cNvSpPr>
            <p:nvPr/>
          </p:nvSpPr>
          <p:spPr bwMode="auto">
            <a:xfrm>
              <a:off x="110382" y="422332"/>
              <a:ext cx="569909" cy="353943"/>
            </a:xfrm>
            <a:custGeom>
              <a:avLst/>
              <a:gdLst>
                <a:gd name="T0" fmla="*/ 71 w 201"/>
                <a:gd name="T1" fmla="*/ 5 h 125"/>
                <a:gd name="T2" fmla="*/ 11 w 201"/>
                <a:gd name="T3" fmla="*/ 109 h 125"/>
                <a:gd name="T4" fmla="*/ 11 w 201"/>
                <a:gd name="T5" fmla="*/ 124 h 125"/>
                <a:gd name="T6" fmla="*/ 192 w 201"/>
                <a:gd name="T7" fmla="*/ 124 h 125"/>
                <a:gd name="T8" fmla="*/ 192 w 201"/>
                <a:gd name="T9" fmla="*/ 108 h 125"/>
                <a:gd name="T10" fmla="*/ 151 w 201"/>
                <a:gd name="T11" fmla="*/ 47 h 125"/>
                <a:gd name="T12" fmla="*/ 117 w 201"/>
                <a:gd name="T13" fmla="*/ 86 h 125"/>
                <a:gd name="T14" fmla="*/ 110 w 201"/>
                <a:gd name="T15" fmla="*/ 81 h 125"/>
                <a:gd name="T16" fmla="*/ 122 w 201"/>
                <a:gd name="T17" fmla="*/ 65 h 125"/>
                <a:gd name="T18" fmla="*/ 81 w 201"/>
                <a:gd name="T19" fmla="*/ 5 h 125"/>
                <a:gd name="T20" fmla="*/ 71 w 201"/>
                <a:gd name="T21" fmla="*/ 5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25"/>
                <a:gd name="T35" fmla="*/ 201 w 201"/>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25">
                  <a:moveTo>
                    <a:pt x="71" y="5"/>
                  </a:moveTo>
                  <a:cubicBezTo>
                    <a:pt x="11" y="109"/>
                    <a:pt x="11" y="109"/>
                    <a:pt x="11" y="109"/>
                  </a:cubicBezTo>
                  <a:cubicBezTo>
                    <a:pt x="11" y="109"/>
                    <a:pt x="0" y="124"/>
                    <a:pt x="11" y="124"/>
                  </a:cubicBezTo>
                  <a:cubicBezTo>
                    <a:pt x="25" y="125"/>
                    <a:pt x="192" y="124"/>
                    <a:pt x="192" y="124"/>
                  </a:cubicBezTo>
                  <a:cubicBezTo>
                    <a:pt x="192" y="124"/>
                    <a:pt x="201" y="121"/>
                    <a:pt x="192" y="108"/>
                  </a:cubicBezTo>
                  <a:cubicBezTo>
                    <a:pt x="182" y="94"/>
                    <a:pt x="158" y="46"/>
                    <a:pt x="151" y="47"/>
                  </a:cubicBezTo>
                  <a:cubicBezTo>
                    <a:pt x="144" y="47"/>
                    <a:pt x="120" y="83"/>
                    <a:pt x="117" y="86"/>
                  </a:cubicBezTo>
                  <a:cubicBezTo>
                    <a:pt x="115" y="89"/>
                    <a:pt x="108" y="84"/>
                    <a:pt x="110" y="81"/>
                  </a:cubicBezTo>
                  <a:cubicBezTo>
                    <a:pt x="116" y="74"/>
                    <a:pt x="122" y="65"/>
                    <a:pt x="122" y="65"/>
                  </a:cubicBezTo>
                  <a:cubicBezTo>
                    <a:pt x="122" y="65"/>
                    <a:pt x="84" y="9"/>
                    <a:pt x="81" y="5"/>
                  </a:cubicBezTo>
                  <a:cubicBezTo>
                    <a:pt x="78" y="0"/>
                    <a:pt x="73" y="1"/>
                    <a:pt x="71" y="5"/>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4" name="Oval 21">
              <a:extLst>
                <a:ext uri="{FF2B5EF4-FFF2-40B4-BE49-F238E27FC236}">
                  <a16:creationId xmlns:a16="http://schemas.microsoft.com/office/drawing/2014/main" id="{1F0A4445-FDE3-E1E2-56D7-E77F52D77A8C}"/>
                </a:ext>
              </a:extLst>
            </p:cNvPr>
            <p:cNvSpPr>
              <a:spLocks noChangeArrowheads="1"/>
            </p:cNvSpPr>
            <p:nvPr/>
          </p:nvSpPr>
          <p:spPr bwMode="auto">
            <a:xfrm>
              <a:off x="563909" y="331147"/>
              <a:ext cx="101984" cy="99584"/>
            </a:xfrm>
            <a:prstGeom prst="ellipse">
              <a:avLst/>
            </a:pr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5" name="组合 14">
            <a:extLst>
              <a:ext uri="{FF2B5EF4-FFF2-40B4-BE49-F238E27FC236}">
                <a16:creationId xmlns:a16="http://schemas.microsoft.com/office/drawing/2014/main" id="{EE30BEF5-6F88-B6EF-BF9F-72DC6400D0B7}"/>
              </a:ext>
            </a:extLst>
          </p:cNvPr>
          <p:cNvGrpSpPr/>
          <p:nvPr/>
        </p:nvGrpSpPr>
        <p:grpSpPr bwMode="auto">
          <a:xfrm>
            <a:off x="9791433" y="4205439"/>
            <a:ext cx="329894" cy="333006"/>
            <a:chOff x="0" y="0"/>
            <a:chExt cx="881859" cy="881859"/>
          </a:xfrm>
          <a:solidFill>
            <a:schemeClr val="tx1"/>
          </a:solidFill>
        </p:grpSpPr>
        <p:sp>
          <p:nvSpPr>
            <p:cNvPr id="16" name="Freeform 22">
              <a:extLst>
                <a:ext uri="{FF2B5EF4-FFF2-40B4-BE49-F238E27FC236}">
                  <a16:creationId xmlns:a16="http://schemas.microsoft.com/office/drawing/2014/main" id="{30ED5BA2-C969-03E4-27A7-904798C32DE3}"/>
                </a:ext>
              </a:extLst>
            </p:cNvPr>
            <p:cNvSpPr>
              <a:spLocks noEditPoints="1" noChangeArrowheads="1"/>
            </p:cNvSpPr>
            <p:nvPr/>
          </p:nvSpPr>
          <p:spPr bwMode="auto">
            <a:xfrm>
              <a:off x="0" y="0"/>
              <a:ext cx="881859" cy="881859"/>
            </a:xfrm>
            <a:custGeom>
              <a:avLst/>
              <a:gdLst>
                <a:gd name="T0" fmla="*/ 155 w 311"/>
                <a:gd name="T1" fmla="*/ 0 h 311"/>
                <a:gd name="T2" fmla="*/ 0 w 311"/>
                <a:gd name="T3" fmla="*/ 155 h 311"/>
                <a:gd name="T4" fmla="*/ 155 w 311"/>
                <a:gd name="T5" fmla="*/ 311 h 311"/>
                <a:gd name="T6" fmla="*/ 311 w 311"/>
                <a:gd name="T7" fmla="*/ 155 h 311"/>
                <a:gd name="T8" fmla="*/ 155 w 311"/>
                <a:gd name="T9" fmla="*/ 0 h 311"/>
                <a:gd name="T10" fmla="*/ 155 w 311"/>
                <a:gd name="T11" fmla="*/ 289 h 311"/>
                <a:gd name="T12" fmla="*/ 21 w 311"/>
                <a:gd name="T13" fmla="*/ 155 h 311"/>
                <a:gd name="T14" fmla="*/ 155 w 311"/>
                <a:gd name="T15" fmla="*/ 21 h 311"/>
                <a:gd name="T16" fmla="*/ 289 w 311"/>
                <a:gd name="T17" fmla="*/ 155 h 311"/>
                <a:gd name="T18" fmla="*/ 155 w 311"/>
                <a:gd name="T19" fmla="*/ 289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1"/>
                <a:gd name="T31" fmla="*/ 0 h 311"/>
                <a:gd name="T32" fmla="*/ 311 w 311"/>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1" h="311">
                  <a:moveTo>
                    <a:pt x="155" y="0"/>
                  </a:moveTo>
                  <a:cubicBezTo>
                    <a:pt x="70" y="0"/>
                    <a:pt x="0" y="69"/>
                    <a:pt x="0" y="155"/>
                  </a:cubicBezTo>
                  <a:cubicBezTo>
                    <a:pt x="0" y="241"/>
                    <a:pt x="70" y="311"/>
                    <a:pt x="155" y="311"/>
                  </a:cubicBezTo>
                  <a:cubicBezTo>
                    <a:pt x="241" y="311"/>
                    <a:pt x="311" y="241"/>
                    <a:pt x="311" y="155"/>
                  </a:cubicBezTo>
                  <a:cubicBezTo>
                    <a:pt x="311" y="69"/>
                    <a:pt x="241" y="0"/>
                    <a:pt x="155" y="0"/>
                  </a:cubicBezTo>
                  <a:moveTo>
                    <a:pt x="155" y="289"/>
                  </a:moveTo>
                  <a:cubicBezTo>
                    <a:pt x="81" y="289"/>
                    <a:pt x="21" y="229"/>
                    <a:pt x="21" y="155"/>
                  </a:cubicBezTo>
                  <a:cubicBezTo>
                    <a:pt x="21" y="81"/>
                    <a:pt x="81" y="21"/>
                    <a:pt x="155" y="21"/>
                  </a:cubicBezTo>
                  <a:cubicBezTo>
                    <a:pt x="229" y="21"/>
                    <a:pt x="289" y="81"/>
                    <a:pt x="289" y="155"/>
                  </a:cubicBezTo>
                  <a:cubicBezTo>
                    <a:pt x="289" y="229"/>
                    <a:pt x="229" y="289"/>
                    <a:pt x="155" y="289"/>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7" name="Freeform 23">
              <a:extLst>
                <a:ext uri="{FF2B5EF4-FFF2-40B4-BE49-F238E27FC236}">
                  <a16:creationId xmlns:a16="http://schemas.microsoft.com/office/drawing/2014/main" id="{18A32CC3-BBDE-D027-B752-8CB2D9E2AF8C}"/>
                </a:ext>
              </a:extLst>
            </p:cNvPr>
            <p:cNvSpPr>
              <a:spLocks noChangeArrowheads="1"/>
            </p:cNvSpPr>
            <p:nvPr/>
          </p:nvSpPr>
          <p:spPr bwMode="auto">
            <a:xfrm>
              <a:off x="235162" y="70789"/>
              <a:ext cx="430731" cy="428331"/>
            </a:xfrm>
            <a:custGeom>
              <a:avLst/>
              <a:gdLst>
                <a:gd name="T0" fmla="*/ 145 w 152"/>
                <a:gd name="T1" fmla="*/ 53 h 151"/>
                <a:gd name="T2" fmla="*/ 144 w 152"/>
                <a:gd name="T3" fmla="*/ 52 h 151"/>
                <a:gd name="T4" fmla="*/ 125 w 152"/>
                <a:gd name="T5" fmla="*/ 52 h 151"/>
                <a:gd name="T6" fmla="*/ 77 w 152"/>
                <a:gd name="T7" fmla="*/ 106 h 151"/>
                <a:gd name="T8" fmla="*/ 31 w 152"/>
                <a:gd name="T9" fmla="*/ 12 h 151"/>
                <a:gd name="T10" fmla="*/ 11 w 152"/>
                <a:gd name="T11" fmla="*/ 4 h 151"/>
                <a:gd name="T12" fmla="*/ 10 w 152"/>
                <a:gd name="T13" fmla="*/ 4 h 151"/>
                <a:gd name="T14" fmla="*/ 4 w 152"/>
                <a:gd name="T15" fmla="*/ 25 h 151"/>
                <a:gd name="T16" fmla="*/ 60 w 152"/>
                <a:gd name="T17" fmla="*/ 140 h 151"/>
                <a:gd name="T18" fmla="*/ 79 w 152"/>
                <a:gd name="T19" fmla="*/ 148 h 151"/>
                <a:gd name="T20" fmla="*/ 79 w 152"/>
                <a:gd name="T21" fmla="*/ 148 h 151"/>
                <a:gd name="T22" fmla="*/ 80 w 152"/>
                <a:gd name="T23" fmla="*/ 148 h 151"/>
                <a:gd name="T24" fmla="*/ 81 w 152"/>
                <a:gd name="T25" fmla="*/ 147 h 151"/>
                <a:gd name="T26" fmla="*/ 87 w 152"/>
                <a:gd name="T27" fmla="*/ 141 h 151"/>
                <a:gd name="T28" fmla="*/ 148 w 152"/>
                <a:gd name="T29" fmla="*/ 72 h 151"/>
                <a:gd name="T30" fmla="*/ 145 w 152"/>
                <a:gd name="T31" fmla="*/ 53 h 1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1"/>
                <a:gd name="T50" fmla="*/ 152 w 152"/>
                <a:gd name="T51" fmla="*/ 151 h 1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1">
                  <a:moveTo>
                    <a:pt x="145" y="53"/>
                  </a:moveTo>
                  <a:cubicBezTo>
                    <a:pt x="144" y="52"/>
                    <a:pt x="144" y="52"/>
                    <a:pt x="144" y="52"/>
                  </a:cubicBezTo>
                  <a:cubicBezTo>
                    <a:pt x="138" y="47"/>
                    <a:pt x="129" y="47"/>
                    <a:pt x="125" y="52"/>
                  </a:cubicBezTo>
                  <a:cubicBezTo>
                    <a:pt x="77" y="106"/>
                    <a:pt x="77" y="106"/>
                    <a:pt x="77" y="106"/>
                  </a:cubicBezTo>
                  <a:cubicBezTo>
                    <a:pt x="31" y="12"/>
                    <a:pt x="31" y="12"/>
                    <a:pt x="31" y="12"/>
                  </a:cubicBezTo>
                  <a:cubicBezTo>
                    <a:pt x="27" y="4"/>
                    <a:pt x="18" y="0"/>
                    <a:pt x="11" y="4"/>
                  </a:cubicBezTo>
                  <a:cubicBezTo>
                    <a:pt x="10" y="4"/>
                    <a:pt x="10" y="4"/>
                    <a:pt x="10" y="4"/>
                  </a:cubicBezTo>
                  <a:cubicBezTo>
                    <a:pt x="3" y="8"/>
                    <a:pt x="0" y="17"/>
                    <a:pt x="4" y="25"/>
                  </a:cubicBezTo>
                  <a:cubicBezTo>
                    <a:pt x="60" y="140"/>
                    <a:pt x="60" y="140"/>
                    <a:pt x="60" y="140"/>
                  </a:cubicBezTo>
                  <a:cubicBezTo>
                    <a:pt x="63" y="148"/>
                    <a:pt x="72" y="151"/>
                    <a:pt x="79" y="148"/>
                  </a:cubicBezTo>
                  <a:cubicBezTo>
                    <a:pt x="79" y="148"/>
                    <a:pt x="79" y="148"/>
                    <a:pt x="79" y="148"/>
                  </a:cubicBezTo>
                  <a:cubicBezTo>
                    <a:pt x="79" y="148"/>
                    <a:pt x="80" y="148"/>
                    <a:pt x="80" y="148"/>
                  </a:cubicBezTo>
                  <a:cubicBezTo>
                    <a:pt x="81" y="147"/>
                    <a:pt x="81" y="147"/>
                    <a:pt x="81" y="147"/>
                  </a:cubicBezTo>
                  <a:cubicBezTo>
                    <a:pt x="84" y="146"/>
                    <a:pt x="86" y="144"/>
                    <a:pt x="87" y="141"/>
                  </a:cubicBezTo>
                  <a:cubicBezTo>
                    <a:pt x="148" y="72"/>
                    <a:pt x="148" y="72"/>
                    <a:pt x="148" y="72"/>
                  </a:cubicBezTo>
                  <a:cubicBezTo>
                    <a:pt x="152" y="67"/>
                    <a:pt x="151" y="59"/>
                    <a:pt x="145" y="53"/>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8" name="组合 17">
            <a:extLst>
              <a:ext uri="{FF2B5EF4-FFF2-40B4-BE49-F238E27FC236}">
                <a16:creationId xmlns:a16="http://schemas.microsoft.com/office/drawing/2014/main" id="{4F8B4535-F665-2746-CDE3-E0BF1E937588}"/>
              </a:ext>
            </a:extLst>
          </p:cNvPr>
          <p:cNvGrpSpPr/>
          <p:nvPr/>
        </p:nvGrpSpPr>
        <p:grpSpPr bwMode="auto">
          <a:xfrm>
            <a:off x="8473972" y="4205439"/>
            <a:ext cx="397959" cy="333006"/>
            <a:chOff x="0" y="0"/>
            <a:chExt cx="961046" cy="796672"/>
          </a:xfrm>
          <a:solidFill>
            <a:schemeClr val="tx1"/>
          </a:solidFill>
        </p:grpSpPr>
        <p:sp>
          <p:nvSpPr>
            <p:cNvPr id="19" name="Freeform 24">
              <a:extLst>
                <a:ext uri="{FF2B5EF4-FFF2-40B4-BE49-F238E27FC236}">
                  <a16:creationId xmlns:a16="http://schemas.microsoft.com/office/drawing/2014/main" id="{DBAC8F9C-E557-FA06-87A2-CD40B2A2AD00}"/>
                </a:ext>
              </a:extLst>
            </p:cNvPr>
            <p:cNvSpPr>
              <a:spLocks noEditPoints="1" noChangeArrowheads="1"/>
            </p:cNvSpPr>
            <p:nvPr/>
          </p:nvSpPr>
          <p:spPr bwMode="auto">
            <a:xfrm>
              <a:off x="0" y="0"/>
              <a:ext cx="961046" cy="796672"/>
            </a:xfrm>
            <a:custGeom>
              <a:avLst/>
              <a:gdLst>
                <a:gd name="T0" fmla="*/ 321 w 339"/>
                <a:gd name="T1" fmla="*/ 0 h 281"/>
                <a:gd name="T2" fmla="*/ 18 w 339"/>
                <a:gd name="T3" fmla="*/ 0 h 281"/>
                <a:gd name="T4" fmla="*/ 0 w 339"/>
                <a:gd name="T5" fmla="*/ 18 h 281"/>
                <a:gd name="T6" fmla="*/ 0 w 339"/>
                <a:gd name="T7" fmla="*/ 263 h 281"/>
                <a:gd name="T8" fmla="*/ 18 w 339"/>
                <a:gd name="T9" fmla="*/ 281 h 281"/>
                <a:gd name="T10" fmla="*/ 321 w 339"/>
                <a:gd name="T11" fmla="*/ 281 h 281"/>
                <a:gd name="T12" fmla="*/ 339 w 339"/>
                <a:gd name="T13" fmla="*/ 263 h 281"/>
                <a:gd name="T14" fmla="*/ 339 w 339"/>
                <a:gd name="T15" fmla="*/ 18 h 281"/>
                <a:gd name="T16" fmla="*/ 321 w 339"/>
                <a:gd name="T17" fmla="*/ 0 h 281"/>
                <a:gd name="T18" fmla="*/ 316 w 339"/>
                <a:gd name="T19" fmla="*/ 246 h 281"/>
                <a:gd name="T20" fmla="*/ 301 w 339"/>
                <a:gd name="T21" fmla="*/ 262 h 281"/>
                <a:gd name="T22" fmla="*/ 38 w 339"/>
                <a:gd name="T23" fmla="*/ 262 h 281"/>
                <a:gd name="T24" fmla="*/ 23 w 339"/>
                <a:gd name="T25" fmla="*/ 246 h 281"/>
                <a:gd name="T26" fmla="*/ 23 w 339"/>
                <a:gd name="T27" fmla="*/ 35 h 281"/>
                <a:gd name="T28" fmla="*/ 38 w 339"/>
                <a:gd name="T29" fmla="*/ 19 h 281"/>
                <a:gd name="T30" fmla="*/ 301 w 339"/>
                <a:gd name="T31" fmla="*/ 19 h 281"/>
                <a:gd name="T32" fmla="*/ 316 w 339"/>
                <a:gd name="T33" fmla="*/ 35 h 281"/>
                <a:gd name="T34" fmla="*/ 316 w 339"/>
                <a:gd name="T35" fmla="*/ 246 h 2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9"/>
                <a:gd name="T55" fmla="*/ 0 h 281"/>
                <a:gd name="T56" fmla="*/ 339 w 339"/>
                <a:gd name="T57" fmla="*/ 281 h 2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9" h="281">
                  <a:moveTo>
                    <a:pt x="321" y="0"/>
                  </a:moveTo>
                  <a:cubicBezTo>
                    <a:pt x="18" y="0"/>
                    <a:pt x="18" y="0"/>
                    <a:pt x="18" y="0"/>
                  </a:cubicBezTo>
                  <a:cubicBezTo>
                    <a:pt x="8" y="0"/>
                    <a:pt x="0" y="8"/>
                    <a:pt x="0" y="18"/>
                  </a:cubicBezTo>
                  <a:cubicBezTo>
                    <a:pt x="0" y="263"/>
                    <a:pt x="0" y="263"/>
                    <a:pt x="0" y="263"/>
                  </a:cubicBezTo>
                  <a:cubicBezTo>
                    <a:pt x="0" y="273"/>
                    <a:pt x="8" y="281"/>
                    <a:pt x="18" y="281"/>
                  </a:cubicBezTo>
                  <a:cubicBezTo>
                    <a:pt x="321" y="281"/>
                    <a:pt x="321" y="281"/>
                    <a:pt x="321" y="281"/>
                  </a:cubicBezTo>
                  <a:cubicBezTo>
                    <a:pt x="331" y="281"/>
                    <a:pt x="339" y="273"/>
                    <a:pt x="339" y="263"/>
                  </a:cubicBezTo>
                  <a:cubicBezTo>
                    <a:pt x="339" y="18"/>
                    <a:pt x="339" y="18"/>
                    <a:pt x="339" y="18"/>
                  </a:cubicBezTo>
                  <a:cubicBezTo>
                    <a:pt x="339" y="8"/>
                    <a:pt x="331" y="0"/>
                    <a:pt x="321" y="0"/>
                  </a:cubicBezTo>
                  <a:moveTo>
                    <a:pt x="316" y="246"/>
                  </a:moveTo>
                  <a:cubicBezTo>
                    <a:pt x="316" y="255"/>
                    <a:pt x="309" y="262"/>
                    <a:pt x="301" y="262"/>
                  </a:cubicBezTo>
                  <a:cubicBezTo>
                    <a:pt x="38" y="262"/>
                    <a:pt x="38" y="262"/>
                    <a:pt x="38" y="262"/>
                  </a:cubicBezTo>
                  <a:cubicBezTo>
                    <a:pt x="30" y="262"/>
                    <a:pt x="23" y="255"/>
                    <a:pt x="23" y="246"/>
                  </a:cubicBezTo>
                  <a:cubicBezTo>
                    <a:pt x="23" y="35"/>
                    <a:pt x="23" y="35"/>
                    <a:pt x="23" y="35"/>
                  </a:cubicBezTo>
                  <a:cubicBezTo>
                    <a:pt x="23" y="26"/>
                    <a:pt x="30" y="19"/>
                    <a:pt x="38" y="19"/>
                  </a:cubicBezTo>
                  <a:cubicBezTo>
                    <a:pt x="301" y="19"/>
                    <a:pt x="301" y="19"/>
                    <a:pt x="301" y="19"/>
                  </a:cubicBezTo>
                  <a:cubicBezTo>
                    <a:pt x="309" y="19"/>
                    <a:pt x="316" y="26"/>
                    <a:pt x="316" y="35"/>
                  </a:cubicBezTo>
                  <a:lnTo>
                    <a:pt x="316" y="24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0" name="Freeform 25">
              <a:extLst>
                <a:ext uri="{FF2B5EF4-FFF2-40B4-BE49-F238E27FC236}">
                  <a16:creationId xmlns:a16="http://schemas.microsoft.com/office/drawing/2014/main" id="{59F087C0-842E-A639-490E-37B33ECAB4E5}"/>
                </a:ext>
              </a:extLst>
            </p:cNvPr>
            <p:cNvSpPr>
              <a:spLocks noChangeArrowheads="1"/>
            </p:cNvSpPr>
            <p:nvPr/>
          </p:nvSpPr>
          <p:spPr bwMode="auto">
            <a:xfrm>
              <a:off x="176371"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1" name="Freeform 26">
              <a:extLst>
                <a:ext uri="{FF2B5EF4-FFF2-40B4-BE49-F238E27FC236}">
                  <a16:creationId xmlns:a16="http://schemas.microsoft.com/office/drawing/2014/main" id="{16DA54DC-66B0-A798-8AE4-642BB1738A35}"/>
                </a:ext>
              </a:extLst>
            </p:cNvPr>
            <p:cNvSpPr>
              <a:spLocks noChangeArrowheads="1"/>
            </p:cNvSpPr>
            <p:nvPr/>
          </p:nvSpPr>
          <p:spPr bwMode="auto">
            <a:xfrm>
              <a:off x="176371"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2" name="Freeform 27">
              <a:extLst>
                <a:ext uri="{FF2B5EF4-FFF2-40B4-BE49-F238E27FC236}">
                  <a16:creationId xmlns:a16="http://schemas.microsoft.com/office/drawing/2014/main" id="{E6429012-747F-9029-BB8A-2C7314774906}"/>
                </a:ext>
              </a:extLst>
            </p:cNvPr>
            <p:cNvSpPr>
              <a:spLocks noChangeArrowheads="1"/>
            </p:cNvSpPr>
            <p:nvPr/>
          </p:nvSpPr>
          <p:spPr bwMode="auto">
            <a:xfrm>
              <a:off x="346744"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3" name="Freeform 28">
              <a:extLst>
                <a:ext uri="{FF2B5EF4-FFF2-40B4-BE49-F238E27FC236}">
                  <a16:creationId xmlns:a16="http://schemas.microsoft.com/office/drawing/2014/main" id="{879C25E2-714F-3416-0177-C171B2235F6A}"/>
                </a:ext>
              </a:extLst>
            </p:cNvPr>
            <p:cNvSpPr>
              <a:spLocks noChangeArrowheads="1"/>
            </p:cNvSpPr>
            <p:nvPr/>
          </p:nvSpPr>
          <p:spPr bwMode="auto">
            <a:xfrm>
              <a:off x="346744"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4" name="Freeform 29">
              <a:extLst>
                <a:ext uri="{FF2B5EF4-FFF2-40B4-BE49-F238E27FC236}">
                  <a16:creationId xmlns:a16="http://schemas.microsoft.com/office/drawing/2014/main" id="{4B35CFD7-5269-55D3-183F-BDC4DE488405}"/>
                </a:ext>
              </a:extLst>
            </p:cNvPr>
            <p:cNvSpPr>
              <a:spLocks noChangeArrowheads="1"/>
            </p:cNvSpPr>
            <p:nvPr/>
          </p:nvSpPr>
          <p:spPr bwMode="auto">
            <a:xfrm>
              <a:off x="346744"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5" name="Freeform 30">
              <a:extLst>
                <a:ext uri="{FF2B5EF4-FFF2-40B4-BE49-F238E27FC236}">
                  <a16:creationId xmlns:a16="http://schemas.microsoft.com/office/drawing/2014/main" id="{BED9CF6D-BED0-8A95-BB97-3A5486158AA2}"/>
                </a:ext>
              </a:extLst>
            </p:cNvPr>
            <p:cNvSpPr>
              <a:spLocks noChangeArrowheads="1"/>
            </p:cNvSpPr>
            <p:nvPr/>
          </p:nvSpPr>
          <p:spPr bwMode="auto">
            <a:xfrm>
              <a:off x="519516" y="116382"/>
              <a:ext cx="83987"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6" name="Freeform 31">
              <a:extLst>
                <a:ext uri="{FF2B5EF4-FFF2-40B4-BE49-F238E27FC236}">
                  <a16:creationId xmlns:a16="http://schemas.microsoft.com/office/drawing/2014/main" id="{74A73CB8-C9BF-A1A8-B2CF-A4A9B84017F9}"/>
                </a:ext>
              </a:extLst>
            </p:cNvPr>
            <p:cNvSpPr>
              <a:spLocks noChangeArrowheads="1"/>
            </p:cNvSpPr>
            <p:nvPr/>
          </p:nvSpPr>
          <p:spPr bwMode="auto">
            <a:xfrm>
              <a:off x="519516" y="274756"/>
              <a:ext cx="83987"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7" name="Freeform 32">
              <a:extLst>
                <a:ext uri="{FF2B5EF4-FFF2-40B4-BE49-F238E27FC236}">
                  <a16:creationId xmlns:a16="http://schemas.microsoft.com/office/drawing/2014/main" id="{36D3CD9D-AC8C-EB4A-E701-06BBC001D7AD}"/>
                </a:ext>
              </a:extLst>
            </p:cNvPr>
            <p:cNvSpPr>
              <a:spLocks noChangeArrowheads="1"/>
            </p:cNvSpPr>
            <p:nvPr/>
          </p:nvSpPr>
          <p:spPr bwMode="auto">
            <a:xfrm>
              <a:off x="688689" y="116382"/>
              <a:ext cx="85186"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8" name="Freeform 33">
              <a:extLst>
                <a:ext uri="{FF2B5EF4-FFF2-40B4-BE49-F238E27FC236}">
                  <a16:creationId xmlns:a16="http://schemas.microsoft.com/office/drawing/2014/main" id="{E60FB2C9-8CD1-C67F-309C-B67BD5230BD3}"/>
                </a:ext>
              </a:extLst>
            </p:cNvPr>
            <p:cNvSpPr>
              <a:spLocks noChangeArrowheads="1"/>
            </p:cNvSpPr>
            <p:nvPr/>
          </p:nvSpPr>
          <p:spPr bwMode="auto">
            <a:xfrm>
              <a:off x="688689" y="274756"/>
              <a:ext cx="85186"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9" name="Freeform 34">
              <a:extLst>
                <a:ext uri="{FF2B5EF4-FFF2-40B4-BE49-F238E27FC236}">
                  <a16:creationId xmlns:a16="http://schemas.microsoft.com/office/drawing/2014/main" id="{1FEC72C5-4A8B-A3C8-16B3-EEDDAFE82AF5}"/>
                </a:ext>
              </a:extLst>
            </p:cNvPr>
            <p:cNvSpPr>
              <a:spLocks noChangeArrowheads="1"/>
            </p:cNvSpPr>
            <p:nvPr/>
          </p:nvSpPr>
          <p:spPr bwMode="auto">
            <a:xfrm>
              <a:off x="176371"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sp>
        <p:nvSpPr>
          <p:cNvPr id="30" name="Freeform 84">
            <a:extLst>
              <a:ext uri="{FF2B5EF4-FFF2-40B4-BE49-F238E27FC236}">
                <a16:creationId xmlns:a16="http://schemas.microsoft.com/office/drawing/2014/main" id="{6797AD06-53C4-8BC3-1136-48D01A5E6ADD}"/>
              </a:ext>
            </a:extLst>
          </p:cNvPr>
          <p:cNvSpPr>
            <a:spLocks noChangeAspect="1" noEditPoints="1" noChangeArrowheads="1"/>
          </p:cNvSpPr>
          <p:nvPr/>
        </p:nvSpPr>
        <p:spPr bwMode="auto">
          <a:xfrm>
            <a:off x="7169827" y="4205438"/>
            <a:ext cx="333822" cy="333006"/>
          </a:xfrm>
          <a:custGeom>
            <a:avLst/>
            <a:gdLst>
              <a:gd name="T0" fmla="*/ 170 w 170"/>
              <a:gd name="T1" fmla="*/ 0 h 168"/>
              <a:gd name="T2" fmla="*/ 162 w 170"/>
              <a:gd name="T3" fmla="*/ 16 h 168"/>
              <a:gd name="T4" fmla="*/ 170 w 170"/>
              <a:gd name="T5" fmla="*/ 103 h 168"/>
              <a:gd name="T6" fmla="*/ 93 w 170"/>
              <a:gd name="T7" fmla="*/ 119 h 168"/>
              <a:gd name="T8" fmla="*/ 128 w 170"/>
              <a:gd name="T9" fmla="*/ 152 h 168"/>
              <a:gd name="T10" fmla="*/ 42 w 170"/>
              <a:gd name="T11" fmla="*/ 168 h 168"/>
              <a:gd name="T12" fmla="*/ 77 w 170"/>
              <a:gd name="T13" fmla="*/ 152 h 168"/>
              <a:gd name="T14" fmla="*/ 0 w 170"/>
              <a:gd name="T15" fmla="*/ 119 h 168"/>
              <a:gd name="T16" fmla="*/ 6 w 170"/>
              <a:gd name="T17" fmla="*/ 103 h 168"/>
              <a:gd name="T18" fmla="*/ 0 w 170"/>
              <a:gd name="T19" fmla="*/ 16 h 168"/>
              <a:gd name="T20" fmla="*/ 0 w 170"/>
              <a:gd name="T21" fmla="*/ 0 h 168"/>
              <a:gd name="T22" fmla="*/ 122 w 170"/>
              <a:gd name="T23" fmla="*/ 40 h 168"/>
              <a:gd name="T24" fmla="*/ 115 w 170"/>
              <a:gd name="T25" fmla="*/ 44 h 168"/>
              <a:gd name="T26" fmla="*/ 75 w 170"/>
              <a:gd name="T27" fmla="*/ 52 h 168"/>
              <a:gd name="T28" fmla="*/ 73 w 170"/>
              <a:gd name="T29" fmla="*/ 50 h 168"/>
              <a:gd name="T30" fmla="*/ 50 w 170"/>
              <a:gd name="T31" fmla="*/ 67 h 168"/>
              <a:gd name="T32" fmla="*/ 85 w 170"/>
              <a:gd name="T33" fmla="*/ 65 h 168"/>
              <a:gd name="T34" fmla="*/ 89 w 170"/>
              <a:gd name="T35" fmla="*/ 67 h 168"/>
              <a:gd name="T36" fmla="*/ 120 w 170"/>
              <a:gd name="T37" fmla="*/ 52 h 168"/>
              <a:gd name="T38" fmla="*/ 128 w 170"/>
              <a:gd name="T39" fmla="*/ 40 h 168"/>
              <a:gd name="T40" fmla="*/ 113 w 170"/>
              <a:gd name="T41" fmla="*/ 58 h 168"/>
              <a:gd name="T42" fmla="*/ 122 w 170"/>
              <a:gd name="T43" fmla="*/ 85 h 168"/>
              <a:gd name="T44" fmla="*/ 113 w 170"/>
              <a:gd name="T45" fmla="*/ 58 h 168"/>
              <a:gd name="T46" fmla="*/ 101 w 170"/>
              <a:gd name="T47" fmla="*/ 67 h 168"/>
              <a:gd name="T48" fmla="*/ 109 w 170"/>
              <a:gd name="T49" fmla="*/ 85 h 168"/>
              <a:gd name="T50" fmla="*/ 101 w 170"/>
              <a:gd name="T51" fmla="*/ 67 h 168"/>
              <a:gd name="T52" fmla="*/ 87 w 170"/>
              <a:gd name="T53" fmla="*/ 77 h 168"/>
              <a:gd name="T54" fmla="*/ 95 w 170"/>
              <a:gd name="T55" fmla="*/ 85 h 168"/>
              <a:gd name="T56" fmla="*/ 87 w 170"/>
              <a:gd name="T57" fmla="*/ 77 h 168"/>
              <a:gd name="T58" fmla="*/ 75 w 170"/>
              <a:gd name="T59" fmla="*/ 69 h 168"/>
              <a:gd name="T60" fmla="*/ 83 w 170"/>
              <a:gd name="T61" fmla="*/ 85 h 168"/>
              <a:gd name="T62" fmla="*/ 75 w 170"/>
              <a:gd name="T63" fmla="*/ 69 h 168"/>
              <a:gd name="T64" fmla="*/ 63 w 170"/>
              <a:gd name="T65" fmla="*/ 69 h 168"/>
              <a:gd name="T66" fmla="*/ 71 w 170"/>
              <a:gd name="T67" fmla="*/ 85 h 168"/>
              <a:gd name="T68" fmla="*/ 63 w 170"/>
              <a:gd name="T69" fmla="*/ 69 h 168"/>
              <a:gd name="T70" fmla="*/ 48 w 170"/>
              <a:gd name="T71" fmla="*/ 73 h 168"/>
              <a:gd name="T72" fmla="*/ 56 w 170"/>
              <a:gd name="T73" fmla="*/ 85 h 168"/>
              <a:gd name="T74" fmla="*/ 48 w 170"/>
              <a:gd name="T75" fmla="*/ 73 h 168"/>
              <a:gd name="T76" fmla="*/ 146 w 170"/>
              <a:gd name="T77" fmla="*/ 18 h 168"/>
              <a:gd name="T78" fmla="*/ 24 w 170"/>
              <a:gd name="T79" fmla="*/ 101 h 168"/>
              <a:gd name="T80" fmla="*/ 146 w 170"/>
              <a:gd name="T81" fmla="*/ 18 h 1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
              <a:gd name="T124" fmla="*/ 0 h 168"/>
              <a:gd name="T125" fmla="*/ 170 w 170"/>
              <a:gd name="T126" fmla="*/ 168 h 1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 h="168">
                <a:moveTo>
                  <a:pt x="0" y="0"/>
                </a:moveTo>
                <a:lnTo>
                  <a:pt x="170" y="0"/>
                </a:lnTo>
                <a:lnTo>
                  <a:pt x="170" y="16"/>
                </a:lnTo>
                <a:lnTo>
                  <a:pt x="162" y="16"/>
                </a:lnTo>
                <a:lnTo>
                  <a:pt x="162" y="103"/>
                </a:lnTo>
                <a:lnTo>
                  <a:pt x="170" y="103"/>
                </a:lnTo>
                <a:lnTo>
                  <a:pt x="170" y="119"/>
                </a:lnTo>
                <a:lnTo>
                  <a:pt x="93" y="119"/>
                </a:lnTo>
                <a:lnTo>
                  <a:pt x="93" y="152"/>
                </a:lnTo>
                <a:lnTo>
                  <a:pt x="128" y="152"/>
                </a:lnTo>
                <a:lnTo>
                  <a:pt x="128" y="168"/>
                </a:lnTo>
                <a:lnTo>
                  <a:pt x="42" y="168"/>
                </a:lnTo>
                <a:lnTo>
                  <a:pt x="42" y="152"/>
                </a:lnTo>
                <a:lnTo>
                  <a:pt x="77" y="152"/>
                </a:lnTo>
                <a:lnTo>
                  <a:pt x="77" y="119"/>
                </a:lnTo>
                <a:lnTo>
                  <a:pt x="0" y="119"/>
                </a:lnTo>
                <a:lnTo>
                  <a:pt x="0" y="103"/>
                </a:lnTo>
                <a:lnTo>
                  <a:pt x="6" y="103"/>
                </a:lnTo>
                <a:lnTo>
                  <a:pt x="6" y="16"/>
                </a:lnTo>
                <a:lnTo>
                  <a:pt x="0" y="16"/>
                </a:lnTo>
                <a:lnTo>
                  <a:pt x="0" y="0"/>
                </a:lnTo>
                <a:lnTo>
                  <a:pt x="0" y="0"/>
                </a:lnTo>
                <a:close/>
                <a:moveTo>
                  <a:pt x="128" y="40"/>
                </a:moveTo>
                <a:lnTo>
                  <a:pt x="122" y="40"/>
                </a:lnTo>
                <a:lnTo>
                  <a:pt x="113" y="40"/>
                </a:lnTo>
                <a:lnTo>
                  <a:pt x="115" y="44"/>
                </a:lnTo>
                <a:lnTo>
                  <a:pt x="87" y="61"/>
                </a:lnTo>
                <a:lnTo>
                  <a:pt x="75" y="52"/>
                </a:lnTo>
                <a:lnTo>
                  <a:pt x="75" y="50"/>
                </a:lnTo>
                <a:lnTo>
                  <a:pt x="73" y="50"/>
                </a:lnTo>
                <a:lnTo>
                  <a:pt x="48" y="61"/>
                </a:lnTo>
                <a:lnTo>
                  <a:pt x="50" y="67"/>
                </a:lnTo>
                <a:lnTo>
                  <a:pt x="73" y="56"/>
                </a:lnTo>
                <a:lnTo>
                  <a:pt x="85" y="65"/>
                </a:lnTo>
                <a:lnTo>
                  <a:pt x="87" y="67"/>
                </a:lnTo>
                <a:lnTo>
                  <a:pt x="89" y="67"/>
                </a:lnTo>
                <a:lnTo>
                  <a:pt x="117" y="48"/>
                </a:lnTo>
                <a:lnTo>
                  <a:pt x="120" y="52"/>
                </a:lnTo>
                <a:lnTo>
                  <a:pt x="124" y="46"/>
                </a:lnTo>
                <a:lnTo>
                  <a:pt x="128" y="40"/>
                </a:lnTo>
                <a:lnTo>
                  <a:pt x="128" y="40"/>
                </a:lnTo>
                <a:close/>
                <a:moveTo>
                  <a:pt x="113" y="58"/>
                </a:moveTo>
                <a:lnTo>
                  <a:pt x="113" y="85"/>
                </a:lnTo>
                <a:lnTo>
                  <a:pt x="122" y="85"/>
                </a:lnTo>
                <a:lnTo>
                  <a:pt x="122" y="58"/>
                </a:lnTo>
                <a:lnTo>
                  <a:pt x="113" y="58"/>
                </a:lnTo>
                <a:lnTo>
                  <a:pt x="113" y="58"/>
                </a:lnTo>
                <a:close/>
                <a:moveTo>
                  <a:pt x="101" y="67"/>
                </a:moveTo>
                <a:lnTo>
                  <a:pt x="101" y="85"/>
                </a:lnTo>
                <a:lnTo>
                  <a:pt x="109" y="85"/>
                </a:lnTo>
                <a:lnTo>
                  <a:pt x="109" y="67"/>
                </a:lnTo>
                <a:lnTo>
                  <a:pt x="101" y="67"/>
                </a:lnTo>
                <a:lnTo>
                  <a:pt x="101" y="67"/>
                </a:lnTo>
                <a:close/>
                <a:moveTo>
                  <a:pt x="87" y="77"/>
                </a:moveTo>
                <a:lnTo>
                  <a:pt x="87" y="85"/>
                </a:lnTo>
                <a:lnTo>
                  <a:pt x="95" y="85"/>
                </a:lnTo>
                <a:lnTo>
                  <a:pt x="95" y="77"/>
                </a:lnTo>
                <a:lnTo>
                  <a:pt x="87" y="77"/>
                </a:lnTo>
                <a:lnTo>
                  <a:pt x="87" y="77"/>
                </a:lnTo>
                <a:close/>
                <a:moveTo>
                  <a:pt x="75" y="69"/>
                </a:moveTo>
                <a:lnTo>
                  <a:pt x="75" y="85"/>
                </a:lnTo>
                <a:lnTo>
                  <a:pt x="83" y="85"/>
                </a:lnTo>
                <a:lnTo>
                  <a:pt x="83" y="69"/>
                </a:lnTo>
                <a:lnTo>
                  <a:pt x="75" y="69"/>
                </a:lnTo>
                <a:lnTo>
                  <a:pt x="75" y="69"/>
                </a:lnTo>
                <a:close/>
                <a:moveTo>
                  <a:pt x="63" y="69"/>
                </a:moveTo>
                <a:lnTo>
                  <a:pt x="63" y="85"/>
                </a:lnTo>
                <a:lnTo>
                  <a:pt x="71" y="85"/>
                </a:lnTo>
                <a:lnTo>
                  <a:pt x="71" y="69"/>
                </a:lnTo>
                <a:lnTo>
                  <a:pt x="63" y="69"/>
                </a:lnTo>
                <a:lnTo>
                  <a:pt x="63" y="69"/>
                </a:lnTo>
                <a:close/>
                <a:moveTo>
                  <a:pt x="48" y="73"/>
                </a:moveTo>
                <a:lnTo>
                  <a:pt x="48" y="85"/>
                </a:lnTo>
                <a:lnTo>
                  <a:pt x="56" y="85"/>
                </a:lnTo>
                <a:lnTo>
                  <a:pt x="56" y="73"/>
                </a:lnTo>
                <a:lnTo>
                  <a:pt x="48" y="73"/>
                </a:lnTo>
                <a:lnTo>
                  <a:pt x="48" y="73"/>
                </a:lnTo>
                <a:close/>
                <a:moveTo>
                  <a:pt x="146" y="18"/>
                </a:moveTo>
                <a:lnTo>
                  <a:pt x="24" y="18"/>
                </a:lnTo>
                <a:lnTo>
                  <a:pt x="24" y="101"/>
                </a:lnTo>
                <a:lnTo>
                  <a:pt x="146" y="101"/>
                </a:lnTo>
                <a:lnTo>
                  <a:pt x="146" y="18"/>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1" name="Freeform 9">
            <a:extLst>
              <a:ext uri="{FF2B5EF4-FFF2-40B4-BE49-F238E27FC236}">
                <a16:creationId xmlns:a16="http://schemas.microsoft.com/office/drawing/2014/main" id="{BEC44DA7-8778-505C-C233-98FF112E3044}"/>
              </a:ext>
            </a:extLst>
          </p:cNvPr>
          <p:cNvSpPr>
            <a:spLocks noChangeAspect="1" noEditPoints="1" noChangeArrowheads="1"/>
          </p:cNvSpPr>
          <p:nvPr/>
        </p:nvSpPr>
        <p:spPr bwMode="auto">
          <a:xfrm>
            <a:off x="9150738" y="4205437"/>
            <a:ext cx="361886" cy="333007"/>
          </a:xfrm>
          <a:custGeom>
            <a:avLst/>
            <a:gdLst>
              <a:gd name="T0" fmla="*/ 141 w 181"/>
              <a:gd name="T1" fmla="*/ 0 h 165"/>
              <a:gd name="T2" fmla="*/ 149 w 181"/>
              <a:gd name="T3" fmla="*/ 8 h 165"/>
              <a:gd name="T4" fmla="*/ 134 w 181"/>
              <a:gd name="T5" fmla="*/ 47 h 165"/>
              <a:gd name="T6" fmla="*/ 33 w 181"/>
              <a:gd name="T7" fmla="*/ 14 h 165"/>
              <a:gd name="T8" fmla="*/ 39 w 181"/>
              <a:gd name="T9" fmla="*/ 20 h 165"/>
              <a:gd name="T10" fmla="*/ 51 w 181"/>
              <a:gd name="T11" fmla="*/ 31 h 165"/>
              <a:gd name="T12" fmla="*/ 33 w 181"/>
              <a:gd name="T13" fmla="*/ 39 h 165"/>
              <a:gd name="T14" fmla="*/ 39 w 181"/>
              <a:gd name="T15" fmla="*/ 45 h 165"/>
              <a:gd name="T16" fmla="*/ 51 w 181"/>
              <a:gd name="T17" fmla="*/ 55 h 165"/>
              <a:gd name="T18" fmla="*/ 33 w 181"/>
              <a:gd name="T19" fmla="*/ 63 h 165"/>
              <a:gd name="T20" fmla="*/ 39 w 181"/>
              <a:gd name="T21" fmla="*/ 67 h 165"/>
              <a:gd name="T22" fmla="*/ 51 w 181"/>
              <a:gd name="T23" fmla="*/ 77 h 165"/>
              <a:gd name="T24" fmla="*/ 33 w 181"/>
              <a:gd name="T25" fmla="*/ 86 h 165"/>
              <a:gd name="T26" fmla="*/ 39 w 181"/>
              <a:gd name="T27" fmla="*/ 90 h 165"/>
              <a:gd name="T28" fmla="*/ 51 w 181"/>
              <a:gd name="T29" fmla="*/ 100 h 165"/>
              <a:gd name="T30" fmla="*/ 33 w 181"/>
              <a:gd name="T31" fmla="*/ 110 h 165"/>
              <a:gd name="T32" fmla="*/ 39 w 181"/>
              <a:gd name="T33" fmla="*/ 116 h 165"/>
              <a:gd name="T34" fmla="*/ 51 w 181"/>
              <a:gd name="T35" fmla="*/ 126 h 165"/>
              <a:gd name="T36" fmla="*/ 33 w 181"/>
              <a:gd name="T37" fmla="*/ 134 h 165"/>
              <a:gd name="T38" fmla="*/ 33 w 181"/>
              <a:gd name="T39" fmla="*/ 151 h 165"/>
              <a:gd name="T40" fmla="*/ 134 w 181"/>
              <a:gd name="T41" fmla="*/ 118 h 165"/>
              <a:gd name="T42" fmla="*/ 149 w 181"/>
              <a:gd name="T43" fmla="*/ 157 h 165"/>
              <a:gd name="T44" fmla="*/ 141 w 181"/>
              <a:gd name="T45" fmla="*/ 165 h 165"/>
              <a:gd name="T46" fmla="*/ 19 w 181"/>
              <a:gd name="T47" fmla="*/ 165 h 165"/>
              <a:gd name="T48" fmla="*/ 19 w 181"/>
              <a:gd name="T49" fmla="*/ 146 h 165"/>
              <a:gd name="T50" fmla="*/ 0 w 181"/>
              <a:gd name="T51" fmla="*/ 132 h 165"/>
              <a:gd name="T52" fmla="*/ 19 w 181"/>
              <a:gd name="T53" fmla="*/ 120 h 165"/>
              <a:gd name="T54" fmla="*/ 0 w 181"/>
              <a:gd name="T55" fmla="*/ 108 h 165"/>
              <a:gd name="T56" fmla="*/ 19 w 181"/>
              <a:gd name="T57" fmla="*/ 98 h 165"/>
              <a:gd name="T58" fmla="*/ 0 w 181"/>
              <a:gd name="T59" fmla="*/ 83 h 165"/>
              <a:gd name="T60" fmla="*/ 19 w 181"/>
              <a:gd name="T61" fmla="*/ 75 h 165"/>
              <a:gd name="T62" fmla="*/ 0 w 181"/>
              <a:gd name="T63" fmla="*/ 61 h 165"/>
              <a:gd name="T64" fmla="*/ 19 w 181"/>
              <a:gd name="T65" fmla="*/ 51 h 165"/>
              <a:gd name="T66" fmla="*/ 0 w 181"/>
              <a:gd name="T67" fmla="*/ 39 h 165"/>
              <a:gd name="T68" fmla="*/ 19 w 181"/>
              <a:gd name="T69" fmla="*/ 8 h 165"/>
              <a:gd name="T70" fmla="*/ 27 w 181"/>
              <a:gd name="T71" fmla="*/ 0 h 165"/>
              <a:gd name="T72" fmla="*/ 63 w 181"/>
              <a:gd name="T73" fmla="*/ 79 h 165"/>
              <a:gd name="T74" fmla="*/ 84 w 181"/>
              <a:gd name="T75" fmla="*/ 88 h 165"/>
              <a:gd name="T76" fmla="*/ 63 w 181"/>
              <a:gd name="T77" fmla="*/ 79 h 165"/>
              <a:gd name="T78" fmla="*/ 63 w 181"/>
              <a:gd name="T79" fmla="*/ 61 h 165"/>
              <a:gd name="T80" fmla="*/ 100 w 181"/>
              <a:gd name="T81" fmla="*/ 69 h 165"/>
              <a:gd name="T82" fmla="*/ 63 w 181"/>
              <a:gd name="T83" fmla="*/ 61 h 165"/>
              <a:gd name="T84" fmla="*/ 63 w 181"/>
              <a:gd name="T85" fmla="*/ 45 h 165"/>
              <a:gd name="T86" fmla="*/ 116 w 181"/>
              <a:gd name="T87" fmla="*/ 53 h 165"/>
              <a:gd name="T88" fmla="*/ 63 w 181"/>
              <a:gd name="T89" fmla="*/ 45 h 165"/>
              <a:gd name="T90" fmla="*/ 63 w 181"/>
              <a:gd name="T91" fmla="*/ 29 h 165"/>
              <a:gd name="T92" fmla="*/ 116 w 181"/>
              <a:gd name="T93" fmla="*/ 35 h 165"/>
              <a:gd name="T94" fmla="*/ 63 w 181"/>
              <a:gd name="T95" fmla="*/ 29 h 165"/>
              <a:gd name="T96" fmla="*/ 84 w 181"/>
              <a:gd name="T97" fmla="*/ 130 h 165"/>
              <a:gd name="T98" fmla="*/ 106 w 181"/>
              <a:gd name="T99" fmla="*/ 130 h 165"/>
              <a:gd name="T100" fmla="*/ 86 w 181"/>
              <a:gd name="T101" fmla="*/ 108 h 165"/>
              <a:gd name="T102" fmla="*/ 84 w 181"/>
              <a:gd name="T103" fmla="*/ 130 h 165"/>
              <a:gd name="T104" fmla="*/ 161 w 181"/>
              <a:gd name="T105" fmla="*/ 37 h 165"/>
              <a:gd name="T106" fmla="*/ 116 w 181"/>
              <a:gd name="T107" fmla="*/ 120 h 165"/>
              <a:gd name="T108" fmla="*/ 161 w 181"/>
              <a:gd name="T109" fmla="*/ 37 h 1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1"/>
              <a:gd name="T166" fmla="*/ 0 h 165"/>
              <a:gd name="T167" fmla="*/ 181 w 181"/>
              <a:gd name="T168" fmla="*/ 165 h 1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1" h="165">
                <a:moveTo>
                  <a:pt x="27" y="0"/>
                </a:moveTo>
                <a:lnTo>
                  <a:pt x="141" y="0"/>
                </a:lnTo>
                <a:lnTo>
                  <a:pt x="149" y="0"/>
                </a:lnTo>
                <a:lnTo>
                  <a:pt x="149" y="8"/>
                </a:lnTo>
                <a:lnTo>
                  <a:pt x="149" y="35"/>
                </a:lnTo>
                <a:lnTo>
                  <a:pt x="134" y="47"/>
                </a:lnTo>
                <a:lnTo>
                  <a:pt x="134" y="14"/>
                </a:lnTo>
                <a:lnTo>
                  <a:pt x="33" y="14"/>
                </a:lnTo>
                <a:lnTo>
                  <a:pt x="33" y="25"/>
                </a:lnTo>
                <a:lnTo>
                  <a:pt x="39" y="20"/>
                </a:lnTo>
                <a:lnTo>
                  <a:pt x="47" y="18"/>
                </a:lnTo>
                <a:lnTo>
                  <a:pt x="51" y="31"/>
                </a:lnTo>
                <a:lnTo>
                  <a:pt x="45" y="35"/>
                </a:lnTo>
                <a:lnTo>
                  <a:pt x="33" y="39"/>
                </a:lnTo>
                <a:lnTo>
                  <a:pt x="33" y="47"/>
                </a:lnTo>
                <a:lnTo>
                  <a:pt x="39" y="45"/>
                </a:lnTo>
                <a:lnTo>
                  <a:pt x="47" y="41"/>
                </a:lnTo>
                <a:lnTo>
                  <a:pt x="51" y="55"/>
                </a:lnTo>
                <a:lnTo>
                  <a:pt x="45" y="57"/>
                </a:lnTo>
                <a:lnTo>
                  <a:pt x="33" y="63"/>
                </a:lnTo>
                <a:lnTo>
                  <a:pt x="33" y="71"/>
                </a:lnTo>
                <a:lnTo>
                  <a:pt x="39" y="67"/>
                </a:lnTo>
                <a:lnTo>
                  <a:pt x="47" y="65"/>
                </a:lnTo>
                <a:lnTo>
                  <a:pt x="51" y="77"/>
                </a:lnTo>
                <a:lnTo>
                  <a:pt x="45" y="81"/>
                </a:lnTo>
                <a:lnTo>
                  <a:pt x="33" y="86"/>
                </a:lnTo>
                <a:lnTo>
                  <a:pt x="33" y="94"/>
                </a:lnTo>
                <a:lnTo>
                  <a:pt x="39" y="90"/>
                </a:lnTo>
                <a:lnTo>
                  <a:pt x="47" y="88"/>
                </a:lnTo>
                <a:lnTo>
                  <a:pt x="51" y="100"/>
                </a:lnTo>
                <a:lnTo>
                  <a:pt x="45" y="104"/>
                </a:lnTo>
                <a:lnTo>
                  <a:pt x="33" y="110"/>
                </a:lnTo>
                <a:lnTo>
                  <a:pt x="33" y="118"/>
                </a:lnTo>
                <a:lnTo>
                  <a:pt x="39" y="116"/>
                </a:lnTo>
                <a:lnTo>
                  <a:pt x="47" y="112"/>
                </a:lnTo>
                <a:lnTo>
                  <a:pt x="51" y="126"/>
                </a:lnTo>
                <a:lnTo>
                  <a:pt x="45" y="128"/>
                </a:lnTo>
                <a:lnTo>
                  <a:pt x="33" y="134"/>
                </a:lnTo>
                <a:lnTo>
                  <a:pt x="33" y="146"/>
                </a:lnTo>
                <a:lnTo>
                  <a:pt x="33" y="151"/>
                </a:lnTo>
                <a:lnTo>
                  <a:pt x="134" y="151"/>
                </a:lnTo>
                <a:lnTo>
                  <a:pt x="134" y="118"/>
                </a:lnTo>
                <a:lnTo>
                  <a:pt x="149" y="106"/>
                </a:lnTo>
                <a:lnTo>
                  <a:pt x="149" y="157"/>
                </a:lnTo>
                <a:lnTo>
                  <a:pt x="149" y="165"/>
                </a:lnTo>
                <a:lnTo>
                  <a:pt x="141" y="165"/>
                </a:lnTo>
                <a:lnTo>
                  <a:pt x="27" y="165"/>
                </a:lnTo>
                <a:lnTo>
                  <a:pt x="19" y="165"/>
                </a:lnTo>
                <a:lnTo>
                  <a:pt x="19" y="157"/>
                </a:lnTo>
                <a:lnTo>
                  <a:pt x="19" y="146"/>
                </a:lnTo>
                <a:lnTo>
                  <a:pt x="4" y="146"/>
                </a:lnTo>
                <a:lnTo>
                  <a:pt x="0" y="132"/>
                </a:lnTo>
                <a:lnTo>
                  <a:pt x="19" y="124"/>
                </a:lnTo>
                <a:lnTo>
                  <a:pt x="19" y="120"/>
                </a:lnTo>
                <a:lnTo>
                  <a:pt x="4" y="120"/>
                </a:lnTo>
                <a:lnTo>
                  <a:pt x="0" y="108"/>
                </a:lnTo>
                <a:lnTo>
                  <a:pt x="19" y="100"/>
                </a:lnTo>
                <a:lnTo>
                  <a:pt x="19" y="98"/>
                </a:lnTo>
                <a:lnTo>
                  <a:pt x="4" y="98"/>
                </a:lnTo>
                <a:lnTo>
                  <a:pt x="0" y="83"/>
                </a:lnTo>
                <a:lnTo>
                  <a:pt x="19" y="77"/>
                </a:lnTo>
                <a:lnTo>
                  <a:pt x="19" y="75"/>
                </a:lnTo>
                <a:lnTo>
                  <a:pt x="4" y="75"/>
                </a:lnTo>
                <a:lnTo>
                  <a:pt x="0" y="61"/>
                </a:lnTo>
                <a:lnTo>
                  <a:pt x="19" y="53"/>
                </a:lnTo>
                <a:lnTo>
                  <a:pt x="19" y="51"/>
                </a:lnTo>
                <a:lnTo>
                  <a:pt x="4" y="51"/>
                </a:lnTo>
                <a:lnTo>
                  <a:pt x="0" y="39"/>
                </a:lnTo>
                <a:lnTo>
                  <a:pt x="19" y="31"/>
                </a:lnTo>
                <a:lnTo>
                  <a:pt x="19" y="8"/>
                </a:lnTo>
                <a:lnTo>
                  <a:pt x="19" y="0"/>
                </a:lnTo>
                <a:lnTo>
                  <a:pt x="27" y="0"/>
                </a:lnTo>
                <a:lnTo>
                  <a:pt x="27" y="0"/>
                </a:lnTo>
                <a:close/>
                <a:moveTo>
                  <a:pt x="63" y="79"/>
                </a:moveTo>
                <a:lnTo>
                  <a:pt x="63" y="88"/>
                </a:lnTo>
                <a:lnTo>
                  <a:pt x="84" y="88"/>
                </a:lnTo>
                <a:lnTo>
                  <a:pt x="84" y="79"/>
                </a:lnTo>
                <a:lnTo>
                  <a:pt x="63" y="79"/>
                </a:lnTo>
                <a:lnTo>
                  <a:pt x="63" y="79"/>
                </a:lnTo>
                <a:close/>
                <a:moveTo>
                  <a:pt x="63" y="61"/>
                </a:moveTo>
                <a:lnTo>
                  <a:pt x="63" y="69"/>
                </a:lnTo>
                <a:lnTo>
                  <a:pt x="100" y="69"/>
                </a:lnTo>
                <a:lnTo>
                  <a:pt x="100" y="61"/>
                </a:lnTo>
                <a:lnTo>
                  <a:pt x="63" y="61"/>
                </a:lnTo>
                <a:lnTo>
                  <a:pt x="63" y="61"/>
                </a:lnTo>
                <a:close/>
                <a:moveTo>
                  <a:pt x="63" y="45"/>
                </a:moveTo>
                <a:lnTo>
                  <a:pt x="63" y="53"/>
                </a:lnTo>
                <a:lnTo>
                  <a:pt x="116" y="53"/>
                </a:lnTo>
                <a:lnTo>
                  <a:pt x="116" y="45"/>
                </a:lnTo>
                <a:lnTo>
                  <a:pt x="63" y="45"/>
                </a:lnTo>
                <a:lnTo>
                  <a:pt x="63" y="45"/>
                </a:lnTo>
                <a:close/>
                <a:moveTo>
                  <a:pt x="63" y="29"/>
                </a:moveTo>
                <a:lnTo>
                  <a:pt x="63" y="35"/>
                </a:lnTo>
                <a:lnTo>
                  <a:pt x="116" y="35"/>
                </a:lnTo>
                <a:lnTo>
                  <a:pt x="116" y="29"/>
                </a:lnTo>
                <a:lnTo>
                  <a:pt x="63" y="29"/>
                </a:lnTo>
                <a:lnTo>
                  <a:pt x="63" y="29"/>
                </a:lnTo>
                <a:close/>
                <a:moveTo>
                  <a:pt x="84" y="130"/>
                </a:moveTo>
                <a:lnTo>
                  <a:pt x="96" y="130"/>
                </a:lnTo>
                <a:lnTo>
                  <a:pt x="106" y="130"/>
                </a:lnTo>
                <a:lnTo>
                  <a:pt x="96" y="118"/>
                </a:lnTo>
                <a:lnTo>
                  <a:pt x="86" y="108"/>
                </a:lnTo>
                <a:lnTo>
                  <a:pt x="86" y="120"/>
                </a:lnTo>
                <a:lnTo>
                  <a:pt x="84" y="130"/>
                </a:lnTo>
                <a:lnTo>
                  <a:pt x="84" y="130"/>
                </a:lnTo>
                <a:close/>
                <a:moveTo>
                  <a:pt x="161" y="37"/>
                </a:moveTo>
                <a:lnTo>
                  <a:pt x="96" y="100"/>
                </a:lnTo>
                <a:lnTo>
                  <a:pt x="116" y="120"/>
                </a:lnTo>
                <a:lnTo>
                  <a:pt x="181" y="57"/>
                </a:lnTo>
                <a:lnTo>
                  <a:pt x="161" y="37"/>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2" name="TextBox 84">
            <a:extLst>
              <a:ext uri="{FF2B5EF4-FFF2-40B4-BE49-F238E27FC236}">
                <a16:creationId xmlns:a16="http://schemas.microsoft.com/office/drawing/2014/main" id="{42674401-C06A-9652-9E0F-B10545C3FA80}"/>
              </a:ext>
            </a:extLst>
          </p:cNvPr>
          <p:cNvSpPr txBox="1"/>
          <p:nvPr/>
        </p:nvSpPr>
        <p:spPr>
          <a:xfrm>
            <a:off x="6908794" y="4881983"/>
            <a:ext cx="3615092" cy="307777"/>
          </a:xfrm>
          <a:prstGeom prst="rect">
            <a:avLst/>
          </a:prstGeom>
          <a:noFill/>
        </p:spPr>
        <p:txBody>
          <a:bodyPr wrap="none" rtlCol="0">
            <a:spAutoFit/>
          </a:bodyPr>
          <a:lstStyle/>
          <a:p>
            <a:r>
              <a:rPr lang="zh-CN" altLang="en-US" sz="1400" b="1" dirty="0">
                <a:solidFill>
                  <a:sysClr val="windowText" lastClr="000000"/>
                </a:solidFill>
                <a:latin typeface="微软雅黑" panose="020B0503020204020204" pitchFamily="34" charset="-122"/>
                <a:ea typeface="微软雅黑" panose="020B0503020204020204" pitchFamily="34" charset="-122"/>
              </a:rPr>
              <a:t>汇报人：邱盈钢    日期：</a:t>
            </a:r>
            <a:r>
              <a:rPr lang="en-US" altLang="zh-CN" sz="1400" b="1" dirty="0">
                <a:solidFill>
                  <a:sysClr val="windowText" lastClr="000000"/>
                </a:solidFill>
                <a:latin typeface="微软雅黑" panose="020B0503020204020204" pitchFamily="34" charset="-122"/>
                <a:ea typeface="微软雅黑" panose="020B0503020204020204" pitchFamily="34" charset="-122"/>
              </a:rPr>
              <a:t>2024</a:t>
            </a:r>
            <a:r>
              <a:rPr lang="zh-CN" altLang="en-US" sz="1400" b="1" dirty="0">
                <a:solidFill>
                  <a:sysClr val="windowText" lastClr="000000"/>
                </a:solidFill>
                <a:latin typeface="微软雅黑" panose="020B0503020204020204" pitchFamily="34" charset="-122"/>
                <a:ea typeface="微软雅黑" panose="020B0503020204020204" pitchFamily="34" charset="-122"/>
              </a:rPr>
              <a:t>年</a:t>
            </a:r>
            <a:r>
              <a:rPr lang="en-US" altLang="zh-CN" sz="1400" b="1" dirty="0">
                <a:solidFill>
                  <a:sysClr val="windowText" lastClr="000000"/>
                </a:solidFill>
                <a:latin typeface="微软雅黑" panose="020B0503020204020204" pitchFamily="34" charset="-122"/>
                <a:ea typeface="微软雅黑" panose="020B0503020204020204" pitchFamily="34" charset="-122"/>
              </a:rPr>
              <a:t>11</a:t>
            </a:r>
            <a:r>
              <a:rPr lang="zh-CN" altLang="en-US" sz="1400" b="1" dirty="0">
                <a:solidFill>
                  <a:sysClr val="windowText" lastClr="000000"/>
                </a:solidFill>
                <a:latin typeface="微软雅黑" panose="020B0503020204020204" pitchFamily="34" charset="-122"/>
                <a:ea typeface="微软雅黑" panose="020B0503020204020204" pitchFamily="34" charset="-122"/>
              </a:rPr>
              <a:t>月</a:t>
            </a:r>
            <a:r>
              <a:rPr lang="en-US" altLang="zh-CN" sz="1400" b="1" dirty="0">
                <a:solidFill>
                  <a:sysClr val="windowText" lastClr="000000"/>
                </a:solidFill>
                <a:latin typeface="微软雅黑" panose="020B0503020204020204" pitchFamily="34" charset="-122"/>
                <a:ea typeface="微软雅黑" panose="020B0503020204020204" pitchFamily="34" charset="-122"/>
              </a:rPr>
              <a:t>10</a:t>
            </a:r>
            <a:r>
              <a:rPr lang="zh-CN" altLang="en-US" sz="1400" b="1" dirty="0">
                <a:solidFill>
                  <a:sysClr val="windowText" lastClr="000000"/>
                </a:solidFill>
                <a:latin typeface="微软雅黑" panose="020B0503020204020204" pitchFamily="34" charset="-122"/>
                <a:ea typeface="微软雅黑" panose="020B0503020204020204" pitchFamily="34" charset="-122"/>
              </a:rPr>
              <a:t>日</a:t>
            </a:r>
          </a:p>
        </p:txBody>
      </p:sp>
    </p:spTree>
    <p:extLst>
      <p:ext uri="{BB962C8B-B14F-4D97-AF65-F5344CB8AC3E}">
        <p14:creationId xmlns:p14="http://schemas.microsoft.com/office/powerpoint/2010/main" val="6966430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a:cxnSpLocks noChangeShapeType="1"/>
          </p:cNvCxnSpPr>
          <p:nvPr/>
        </p:nvCxnSpPr>
        <p:spPr bwMode="auto">
          <a:xfrm>
            <a:off x="538563" y="2433326"/>
            <a:ext cx="11047638" cy="0"/>
          </a:xfrm>
          <a:prstGeom prst="line">
            <a:avLst/>
          </a:prstGeom>
          <a:noFill/>
          <a:ln w="9525">
            <a:solidFill>
              <a:schemeClr val="accent1"/>
            </a:solidFill>
            <a:round/>
          </a:ln>
          <a:effectLst/>
        </p:spPr>
      </p:cxnSp>
      <p:sp>
        <p:nvSpPr>
          <p:cNvPr id="3" name="TextBox 4"/>
          <p:cNvSpPr txBox="1">
            <a:spLocks noChangeArrowheads="1"/>
          </p:cNvSpPr>
          <p:nvPr/>
        </p:nvSpPr>
        <p:spPr bwMode="auto">
          <a:xfrm>
            <a:off x="2496508" y="1581855"/>
            <a:ext cx="1559580" cy="748538"/>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265" b="1" i="0" u="none" strike="noStrike" kern="1200" cap="none" spc="0" normalizeH="0" baseline="0" noProof="0" dirty="0">
                <a:ln>
                  <a:noFill/>
                </a:ln>
                <a:solidFill>
                  <a:srgbClr val="2A566E"/>
                </a:solidFill>
                <a:effectLst/>
                <a:uLnTx/>
                <a:uFillTx/>
                <a:latin typeface="微软雅黑" panose="020B0503020204020204" pitchFamily="34" charset="-122"/>
                <a:ea typeface="微软雅黑" panose="020B0503020204020204" pitchFamily="34" charset="-122"/>
                <a:cs typeface="+mn-cs"/>
              </a:rPr>
              <a:t>目录</a:t>
            </a:r>
          </a:p>
        </p:txBody>
      </p:sp>
      <p:sp>
        <p:nvSpPr>
          <p:cNvPr id="4" name="TextBox 5"/>
          <p:cNvSpPr txBox="1">
            <a:spLocks noChangeArrowheads="1"/>
          </p:cNvSpPr>
          <p:nvPr/>
        </p:nvSpPr>
        <p:spPr bwMode="auto">
          <a:xfrm>
            <a:off x="1141350" y="1761447"/>
            <a:ext cx="1882892" cy="461345"/>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2A566E"/>
                </a:solidFill>
                <a:effectLst/>
                <a:uLnTx/>
                <a:uFillTx/>
                <a:latin typeface="Arial"/>
                <a:ea typeface="微软雅黑" panose="020B0503020204020204" pitchFamily="34" charset="-122"/>
                <a:cs typeface="+mn-cs"/>
              </a:rPr>
              <a:t>Contents</a:t>
            </a:r>
            <a:endParaRPr kumimoji="0" lang="zh-CN" altLang="en-US" sz="2400" b="1" i="0" u="none" strike="noStrike" kern="1200" cap="none" spc="0" normalizeH="0" baseline="0" noProof="0" dirty="0">
              <a:ln>
                <a:noFill/>
              </a:ln>
              <a:solidFill>
                <a:srgbClr val="2A566E"/>
              </a:solidFill>
              <a:effectLst/>
              <a:uLnTx/>
              <a:uFillTx/>
              <a:latin typeface="Arial"/>
              <a:ea typeface="微软雅黑" panose="020B0503020204020204" pitchFamily="34" charset="-122"/>
              <a:cs typeface="+mn-cs"/>
            </a:endParaRPr>
          </a:p>
        </p:txBody>
      </p:sp>
      <p:sp>
        <p:nvSpPr>
          <p:cNvPr id="5" name="矩形 4"/>
          <p:cNvSpPr>
            <a:spLocks noChangeArrowheads="1"/>
          </p:cNvSpPr>
          <p:nvPr/>
        </p:nvSpPr>
        <p:spPr bwMode="auto">
          <a:xfrm>
            <a:off x="3763" y="1570259"/>
            <a:ext cx="534802" cy="534802"/>
          </a:xfrm>
          <a:prstGeom prst="rect">
            <a:avLst/>
          </a:prstGeom>
          <a:solidFill>
            <a:schemeClr val="accent1"/>
          </a:solid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grpSp>
        <p:nvGrpSpPr>
          <p:cNvPr id="37" name="组合 36">
            <a:extLst>
              <a:ext uri="{FF2B5EF4-FFF2-40B4-BE49-F238E27FC236}">
                <a16:creationId xmlns:a16="http://schemas.microsoft.com/office/drawing/2014/main" id="{BC056637-90A2-0C27-BBD9-6EFEAD7640DD}"/>
              </a:ext>
            </a:extLst>
          </p:cNvPr>
          <p:cNvGrpSpPr/>
          <p:nvPr/>
        </p:nvGrpSpPr>
        <p:grpSpPr>
          <a:xfrm>
            <a:off x="2436937" y="3167182"/>
            <a:ext cx="731025" cy="729103"/>
            <a:chOff x="2436937" y="3175425"/>
            <a:chExt cx="731025" cy="729103"/>
          </a:xfrm>
        </p:grpSpPr>
        <p:sp>
          <p:nvSpPr>
            <p:cNvPr id="6" name="AutoShape 3"/>
            <p:cNvSpPr>
              <a:spLocks noChangeAspect="1" noChangeArrowheads="1" noTextEdit="1"/>
            </p:cNvSpPr>
            <p:nvPr/>
          </p:nvSpPr>
          <p:spPr bwMode="auto">
            <a:xfrm>
              <a:off x="2436937" y="3175425"/>
              <a:ext cx="723330" cy="721405"/>
            </a:xfrm>
            <a:prstGeom prst="rect">
              <a:avLst/>
            </a:prstGeom>
            <a:no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7" name="Oval 5"/>
            <p:cNvSpPr>
              <a:spLocks noChangeArrowheads="1"/>
            </p:cNvSpPr>
            <p:nvPr/>
          </p:nvSpPr>
          <p:spPr bwMode="auto">
            <a:xfrm>
              <a:off x="2436937" y="3175426"/>
              <a:ext cx="731025" cy="729102"/>
            </a:xfrm>
            <a:prstGeom prst="ellipse">
              <a:avLst/>
            </a:prstGeom>
            <a:solidFill>
              <a:schemeClr val="bg2"/>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8" name="Oval 6"/>
            <p:cNvSpPr>
              <a:spLocks noChangeArrowheads="1"/>
            </p:cNvSpPr>
            <p:nvPr/>
          </p:nvSpPr>
          <p:spPr bwMode="auto">
            <a:xfrm>
              <a:off x="2508862" y="3247348"/>
              <a:ext cx="602133" cy="600209"/>
            </a:xfrm>
            <a:prstGeom prst="ellipse">
              <a:avLst/>
            </a:prstGeom>
            <a:solidFill>
              <a:schemeClr val="accent1"/>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9" name="TextBox 14"/>
            <p:cNvSpPr txBox="1">
              <a:spLocks noChangeArrowheads="1"/>
            </p:cNvSpPr>
            <p:nvPr/>
          </p:nvSpPr>
          <p:spPr bwMode="auto">
            <a:xfrm>
              <a:off x="2614630" y="3264273"/>
              <a:ext cx="443287" cy="584455"/>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1</a:t>
              </a:r>
              <a:endParaRPr kumimoji="0" lang="zh-CN" altLang="en-US" sz="32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sp>
        <p:nvSpPr>
          <p:cNvPr id="10" name="TextBox 15"/>
          <p:cNvSpPr txBox="1">
            <a:spLocks noChangeArrowheads="1"/>
          </p:cNvSpPr>
          <p:nvPr/>
        </p:nvSpPr>
        <p:spPr bwMode="auto">
          <a:xfrm>
            <a:off x="3300170" y="3247589"/>
            <a:ext cx="3212844" cy="584775"/>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000000">
                    <a:lumMod val="75000"/>
                    <a:lumOff val="25000"/>
                  </a:srgbClr>
                </a:solidFill>
                <a:latin typeface="微软雅黑" panose="020B0503020204020204" pitchFamily="34" charset="-122"/>
                <a:ea typeface="微软雅黑" panose="020B0503020204020204" pitchFamily="34" charset="-122"/>
              </a:rPr>
              <a:t>预融合方法概述</a:t>
            </a:r>
            <a:endParaRPr kumimoji="0" lang="zh-CN" altLang="en-US" sz="320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grpSp>
        <p:nvGrpSpPr>
          <p:cNvPr id="36" name="组合 35">
            <a:extLst>
              <a:ext uri="{FF2B5EF4-FFF2-40B4-BE49-F238E27FC236}">
                <a16:creationId xmlns:a16="http://schemas.microsoft.com/office/drawing/2014/main" id="{730156E4-1C19-8C80-A404-B9F62E7A89E0}"/>
              </a:ext>
            </a:extLst>
          </p:cNvPr>
          <p:cNvGrpSpPr/>
          <p:nvPr/>
        </p:nvGrpSpPr>
        <p:grpSpPr>
          <a:xfrm>
            <a:off x="2436937" y="4427277"/>
            <a:ext cx="731025" cy="729103"/>
            <a:chOff x="2461213" y="4672959"/>
            <a:chExt cx="731025" cy="729103"/>
          </a:xfrm>
        </p:grpSpPr>
        <p:sp>
          <p:nvSpPr>
            <p:cNvPr id="11" name="AutoShape 3"/>
            <p:cNvSpPr>
              <a:spLocks noChangeAspect="1" noChangeArrowheads="1" noTextEdit="1"/>
            </p:cNvSpPr>
            <p:nvPr/>
          </p:nvSpPr>
          <p:spPr bwMode="auto">
            <a:xfrm>
              <a:off x="2461213" y="4672959"/>
              <a:ext cx="723330" cy="721405"/>
            </a:xfrm>
            <a:prstGeom prst="rect">
              <a:avLst/>
            </a:prstGeom>
            <a:no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12" name="Oval 5"/>
            <p:cNvSpPr>
              <a:spLocks noChangeArrowheads="1"/>
            </p:cNvSpPr>
            <p:nvPr/>
          </p:nvSpPr>
          <p:spPr bwMode="auto">
            <a:xfrm>
              <a:off x="2461213" y="4672960"/>
              <a:ext cx="731025" cy="729102"/>
            </a:xfrm>
            <a:prstGeom prst="ellipse">
              <a:avLst/>
            </a:prstGeom>
            <a:solidFill>
              <a:schemeClr val="bg2"/>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13" name="Oval 6"/>
            <p:cNvSpPr>
              <a:spLocks noChangeArrowheads="1"/>
            </p:cNvSpPr>
            <p:nvPr/>
          </p:nvSpPr>
          <p:spPr bwMode="auto">
            <a:xfrm>
              <a:off x="2533138" y="4744882"/>
              <a:ext cx="602133" cy="600209"/>
            </a:xfrm>
            <a:prstGeom prst="ellipse">
              <a:avLst/>
            </a:prstGeom>
            <a:solidFill>
              <a:schemeClr val="accent1"/>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14" name="TextBox 19"/>
            <p:cNvSpPr txBox="1">
              <a:spLocks noChangeArrowheads="1"/>
            </p:cNvSpPr>
            <p:nvPr/>
          </p:nvSpPr>
          <p:spPr bwMode="auto">
            <a:xfrm>
              <a:off x="2604810" y="4761808"/>
              <a:ext cx="443287" cy="584455"/>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FF"/>
                  </a:solidFill>
                  <a:latin typeface="微软雅黑" panose="020B0503020204020204" pitchFamily="34" charset="-122"/>
                  <a:ea typeface="微软雅黑" panose="020B0503020204020204" pitchFamily="34" charset="-122"/>
                </a:rPr>
                <a:t>3</a:t>
              </a:r>
              <a:endParaRPr kumimoji="0" lang="zh-CN" altLang="en-US" sz="32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sp>
        <p:nvSpPr>
          <p:cNvPr id="15" name="TextBox 20"/>
          <p:cNvSpPr txBox="1">
            <a:spLocks noChangeArrowheads="1"/>
          </p:cNvSpPr>
          <p:nvPr/>
        </p:nvSpPr>
        <p:spPr bwMode="auto">
          <a:xfrm>
            <a:off x="3300170" y="4499441"/>
            <a:ext cx="2100506" cy="584775"/>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000000">
                    <a:lumMod val="75000"/>
                    <a:lumOff val="25000"/>
                  </a:srgbClr>
                </a:solidFill>
                <a:latin typeface="微软雅黑" panose="020B0503020204020204" pitchFamily="34" charset="-122"/>
                <a:ea typeface="微软雅黑" panose="020B0503020204020204" pitchFamily="34" charset="-122"/>
              </a:rPr>
              <a:t>架构转换</a:t>
            </a:r>
            <a:endParaRPr kumimoji="0" lang="zh-CN" altLang="en-US" sz="320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grpSp>
        <p:nvGrpSpPr>
          <p:cNvPr id="38" name="组合 37">
            <a:extLst>
              <a:ext uri="{FF2B5EF4-FFF2-40B4-BE49-F238E27FC236}">
                <a16:creationId xmlns:a16="http://schemas.microsoft.com/office/drawing/2014/main" id="{F5E51B17-BA25-4FCC-88F0-584EABBDE948}"/>
              </a:ext>
            </a:extLst>
          </p:cNvPr>
          <p:cNvGrpSpPr/>
          <p:nvPr/>
        </p:nvGrpSpPr>
        <p:grpSpPr>
          <a:xfrm>
            <a:off x="6649459" y="3167182"/>
            <a:ext cx="731025" cy="729103"/>
            <a:chOff x="6649459" y="3167182"/>
            <a:chExt cx="731025" cy="729103"/>
          </a:xfrm>
        </p:grpSpPr>
        <p:sp>
          <p:nvSpPr>
            <p:cNvPr id="16" name="AutoShape 3"/>
            <p:cNvSpPr>
              <a:spLocks noChangeAspect="1" noChangeArrowheads="1" noTextEdit="1"/>
            </p:cNvSpPr>
            <p:nvPr/>
          </p:nvSpPr>
          <p:spPr bwMode="auto">
            <a:xfrm>
              <a:off x="6649460" y="3167183"/>
              <a:ext cx="723330" cy="721408"/>
            </a:xfrm>
            <a:prstGeom prst="rect">
              <a:avLst/>
            </a:prstGeom>
            <a:no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17" name="Oval 5"/>
            <p:cNvSpPr>
              <a:spLocks noChangeArrowheads="1"/>
            </p:cNvSpPr>
            <p:nvPr/>
          </p:nvSpPr>
          <p:spPr bwMode="auto">
            <a:xfrm>
              <a:off x="6649459" y="3167182"/>
              <a:ext cx="731025" cy="729103"/>
            </a:xfrm>
            <a:prstGeom prst="ellipse">
              <a:avLst/>
            </a:prstGeom>
            <a:solidFill>
              <a:schemeClr val="bg2"/>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18" name="Oval 6"/>
            <p:cNvSpPr>
              <a:spLocks noChangeArrowheads="1"/>
            </p:cNvSpPr>
            <p:nvPr/>
          </p:nvSpPr>
          <p:spPr bwMode="auto">
            <a:xfrm>
              <a:off x="6721384" y="3239103"/>
              <a:ext cx="602133" cy="600209"/>
            </a:xfrm>
            <a:prstGeom prst="ellipse">
              <a:avLst/>
            </a:prstGeom>
            <a:solidFill>
              <a:schemeClr val="accent1"/>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19" name="TextBox 24"/>
            <p:cNvSpPr txBox="1">
              <a:spLocks noChangeArrowheads="1"/>
            </p:cNvSpPr>
            <p:nvPr/>
          </p:nvSpPr>
          <p:spPr bwMode="auto">
            <a:xfrm>
              <a:off x="6793057" y="3258144"/>
              <a:ext cx="443287" cy="584455"/>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FF"/>
                  </a:solidFill>
                  <a:latin typeface="微软雅黑" panose="020B0503020204020204" pitchFamily="34" charset="-122"/>
                  <a:ea typeface="微软雅黑" panose="020B0503020204020204" pitchFamily="34" charset="-122"/>
                </a:rPr>
                <a:t>2</a:t>
              </a:r>
              <a:endParaRPr kumimoji="0" lang="zh-CN" altLang="en-US" sz="32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sp>
        <p:nvSpPr>
          <p:cNvPr id="20" name="TextBox 25"/>
          <p:cNvSpPr txBox="1">
            <a:spLocks noChangeArrowheads="1"/>
          </p:cNvSpPr>
          <p:nvPr/>
        </p:nvSpPr>
        <p:spPr bwMode="auto">
          <a:xfrm>
            <a:off x="7514646" y="3247589"/>
            <a:ext cx="2922869" cy="584775"/>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000000">
                    <a:lumMod val="75000"/>
                    <a:lumOff val="25000"/>
                  </a:srgbClr>
                </a:solidFill>
                <a:latin typeface="微软雅黑" panose="020B0503020204020204" pitchFamily="34" charset="-122"/>
                <a:ea typeface="微软雅黑" panose="020B0503020204020204" pitchFamily="34" charset="-122"/>
              </a:rPr>
              <a:t>线性微调</a:t>
            </a:r>
            <a:endParaRPr kumimoji="0" lang="zh-CN" altLang="en-US" sz="320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grpSp>
        <p:nvGrpSpPr>
          <p:cNvPr id="39" name="组合 38">
            <a:extLst>
              <a:ext uri="{FF2B5EF4-FFF2-40B4-BE49-F238E27FC236}">
                <a16:creationId xmlns:a16="http://schemas.microsoft.com/office/drawing/2014/main" id="{BA8F926A-5AB9-A68A-2FA7-0FD6C0776870}"/>
              </a:ext>
            </a:extLst>
          </p:cNvPr>
          <p:cNvGrpSpPr/>
          <p:nvPr/>
        </p:nvGrpSpPr>
        <p:grpSpPr>
          <a:xfrm>
            <a:off x="6673735" y="4427277"/>
            <a:ext cx="731025" cy="729102"/>
            <a:chOff x="6673735" y="4703228"/>
            <a:chExt cx="731025" cy="729102"/>
          </a:xfrm>
        </p:grpSpPr>
        <p:sp>
          <p:nvSpPr>
            <p:cNvPr id="21" name="Oval 5"/>
            <p:cNvSpPr>
              <a:spLocks noChangeArrowheads="1"/>
            </p:cNvSpPr>
            <p:nvPr/>
          </p:nvSpPr>
          <p:spPr bwMode="auto">
            <a:xfrm>
              <a:off x="6673735" y="4703228"/>
              <a:ext cx="731025" cy="729102"/>
            </a:xfrm>
            <a:prstGeom prst="ellipse">
              <a:avLst/>
            </a:prstGeom>
            <a:solidFill>
              <a:schemeClr val="bg2"/>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22" name="Oval 6"/>
            <p:cNvSpPr>
              <a:spLocks noChangeArrowheads="1"/>
            </p:cNvSpPr>
            <p:nvPr/>
          </p:nvSpPr>
          <p:spPr bwMode="auto">
            <a:xfrm>
              <a:off x="6745660" y="4766696"/>
              <a:ext cx="602133" cy="600209"/>
            </a:xfrm>
            <a:prstGeom prst="ellipse">
              <a:avLst/>
            </a:prstGeom>
            <a:solidFill>
              <a:schemeClr val="accent1"/>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23" name="TextBox 29"/>
            <p:cNvSpPr txBox="1">
              <a:spLocks noChangeArrowheads="1"/>
            </p:cNvSpPr>
            <p:nvPr/>
          </p:nvSpPr>
          <p:spPr bwMode="auto">
            <a:xfrm>
              <a:off x="6817333" y="4760192"/>
              <a:ext cx="443287" cy="584455"/>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4</a:t>
              </a:r>
              <a:endParaRPr kumimoji="0" lang="zh-CN" altLang="en-US" sz="32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sp>
        <p:nvSpPr>
          <p:cNvPr id="24" name="TextBox 30"/>
          <p:cNvSpPr txBox="1">
            <a:spLocks noChangeArrowheads="1"/>
          </p:cNvSpPr>
          <p:nvPr/>
        </p:nvSpPr>
        <p:spPr bwMode="auto">
          <a:xfrm>
            <a:off x="7514646" y="4499441"/>
            <a:ext cx="2922869" cy="584775"/>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000000">
                    <a:lumMod val="75000"/>
                    <a:lumOff val="25000"/>
                  </a:srgbClr>
                </a:solidFill>
                <a:latin typeface="微软雅黑" panose="020B0503020204020204" pitchFamily="34" charset="-122"/>
                <a:ea typeface="微软雅黑" panose="020B0503020204020204" pitchFamily="34" charset="-122"/>
              </a:rPr>
              <a:t>权重对齐</a:t>
            </a:r>
            <a:endParaRPr kumimoji="0" lang="zh-CN" altLang="en-US" sz="320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25" name="矩形 24"/>
          <p:cNvSpPr>
            <a:spLocks noChangeArrowheads="1"/>
          </p:cNvSpPr>
          <p:nvPr/>
        </p:nvSpPr>
        <p:spPr bwMode="auto">
          <a:xfrm>
            <a:off x="516407" y="2314882"/>
            <a:ext cx="534802" cy="143928"/>
          </a:xfrm>
          <a:prstGeom prst="rect">
            <a:avLst/>
          </a:prstGeom>
          <a:solidFill>
            <a:schemeClr val="accent2"/>
          </a:solid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grpSp>
        <p:nvGrpSpPr>
          <p:cNvPr id="35" name="组合 34">
            <a:extLst>
              <a:ext uri="{FF2B5EF4-FFF2-40B4-BE49-F238E27FC236}">
                <a16:creationId xmlns:a16="http://schemas.microsoft.com/office/drawing/2014/main" id="{44EBDA05-530F-41D7-A177-04D2214870F6}"/>
              </a:ext>
            </a:extLst>
          </p:cNvPr>
          <p:cNvGrpSpPr/>
          <p:nvPr/>
        </p:nvGrpSpPr>
        <p:grpSpPr>
          <a:xfrm>
            <a:off x="2436937" y="5679129"/>
            <a:ext cx="731025" cy="729102"/>
            <a:chOff x="2461213" y="5679129"/>
            <a:chExt cx="731025" cy="729102"/>
          </a:xfrm>
        </p:grpSpPr>
        <p:sp>
          <p:nvSpPr>
            <p:cNvPr id="26" name="AutoShape 3">
              <a:extLst>
                <a:ext uri="{FF2B5EF4-FFF2-40B4-BE49-F238E27FC236}">
                  <a16:creationId xmlns:a16="http://schemas.microsoft.com/office/drawing/2014/main" id="{1A0D5EF0-44DD-FC3A-5739-20B1995806E4}"/>
                </a:ext>
              </a:extLst>
            </p:cNvPr>
            <p:cNvSpPr>
              <a:spLocks noChangeAspect="1" noChangeArrowheads="1" noTextEdit="1"/>
            </p:cNvSpPr>
            <p:nvPr/>
          </p:nvSpPr>
          <p:spPr bwMode="auto">
            <a:xfrm>
              <a:off x="2461213" y="5682978"/>
              <a:ext cx="723330" cy="721405"/>
            </a:xfrm>
            <a:prstGeom prst="rect">
              <a:avLst/>
            </a:prstGeom>
            <a:no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27" name="Oval 5">
              <a:extLst>
                <a:ext uri="{FF2B5EF4-FFF2-40B4-BE49-F238E27FC236}">
                  <a16:creationId xmlns:a16="http://schemas.microsoft.com/office/drawing/2014/main" id="{3285C52B-9687-1149-D352-F58C8387ADC3}"/>
                </a:ext>
              </a:extLst>
            </p:cNvPr>
            <p:cNvSpPr>
              <a:spLocks noChangeArrowheads="1"/>
            </p:cNvSpPr>
            <p:nvPr/>
          </p:nvSpPr>
          <p:spPr bwMode="auto">
            <a:xfrm>
              <a:off x="2461213" y="5679129"/>
              <a:ext cx="731025" cy="729102"/>
            </a:xfrm>
            <a:prstGeom prst="ellipse">
              <a:avLst/>
            </a:prstGeom>
            <a:solidFill>
              <a:schemeClr val="bg2"/>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28" name="Oval 6">
              <a:extLst>
                <a:ext uri="{FF2B5EF4-FFF2-40B4-BE49-F238E27FC236}">
                  <a16:creationId xmlns:a16="http://schemas.microsoft.com/office/drawing/2014/main" id="{FAF23AA8-2BB5-2E25-3ACB-ACE427E5B00A}"/>
                </a:ext>
              </a:extLst>
            </p:cNvPr>
            <p:cNvSpPr>
              <a:spLocks noChangeArrowheads="1"/>
            </p:cNvSpPr>
            <p:nvPr/>
          </p:nvSpPr>
          <p:spPr bwMode="auto">
            <a:xfrm>
              <a:off x="2533138" y="5743576"/>
              <a:ext cx="602133" cy="600209"/>
            </a:xfrm>
            <a:prstGeom prst="ellipse">
              <a:avLst/>
            </a:prstGeom>
            <a:solidFill>
              <a:schemeClr val="accent1"/>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29" name="TextBox 19">
              <a:extLst>
                <a:ext uri="{FF2B5EF4-FFF2-40B4-BE49-F238E27FC236}">
                  <a16:creationId xmlns:a16="http://schemas.microsoft.com/office/drawing/2014/main" id="{A7F5EE2F-BDC9-4BA6-4EEB-FE310BB49D26}"/>
                </a:ext>
              </a:extLst>
            </p:cNvPr>
            <p:cNvSpPr txBox="1">
              <a:spLocks noChangeArrowheads="1"/>
            </p:cNvSpPr>
            <p:nvPr/>
          </p:nvSpPr>
          <p:spPr bwMode="auto">
            <a:xfrm>
              <a:off x="2604810" y="5751453"/>
              <a:ext cx="443287" cy="584455"/>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noProof="0" dirty="0">
                  <a:solidFill>
                    <a:srgbClr val="FFFFFF"/>
                  </a:solidFill>
                  <a:latin typeface="微软雅黑" panose="020B0503020204020204" pitchFamily="34" charset="-122"/>
                  <a:ea typeface="微软雅黑" panose="020B0503020204020204" pitchFamily="34" charset="-122"/>
                </a:rPr>
                <a:t>5</a:t>
              </a:r>
              <a:endParaRPr kumimoji="0" lang="zh-CN" altLang="en-US" sz="32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sp>
        <p:nvSpPr>
          <p:cNvPr id="34" name="TextBox 20">
            <a:extLst>
              <a:ext uri="{FF2B5EF4-FFF2-40B4-BE49-F238E27FC236}">
                <a16:creationId xmlns:a16="http://schemas.microsoft.com/office/drawing/2014/main" id="{786728F9-1CE5-68CE-B5B2-07E1C3F55409}"/>
              </a:ext>
            </a:extLst>
          </p:cNvPr>
          <p:cNvSpPr txBox="1">
            <a:spLocks noChangeArrowheads="1"/>
          </p:cNvSpPr>
          <p:nvPr/>
        </p:nvSpPr>
        <p:spPr bwMode="auto">
          <a:xfrm>
            <a:off x="3300170" y="5751293"/>
            <a:ext cx="1490906" cy="584775"/>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noProof="0" dirty="0">
                <a:solidFill>
                  <a:srgbClr val="000000">
                    <a:lumMod val="75000"/>
                    <a:lumOff val="25000"/>
                  </a:srgbClr>
                </a:solidFill>
                <a:latin typeface="微软雅黑" panose="020B0503020204020204" pitchFamily="34" charset="-122"/>
                <a:ea typeface="微软雅黑" panose="020B0503020204020204" pitchFamily="34" charset="-122"/>
              </a:rPr>
              <a:t>总结</a:t>
            </a:r>
            <a:endParaRPr kumimoji="0" lang="zh-CN" altLang="en-US" sz="320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28592" y="776798"/>
            <a:ext cx="5070060" cy="5454498"/>
          </a:xfrm>
          <a:prstGeom prst="rect">
            <a:avLst/>
          </a:prstGeom>
          <a:effectLst>
            <a:innerShdw blurRad="63500" dist="50800" dir="16200000">
              <a:prstClr val="black">
                <a:alpha val="50000"/>
              </a:prstClr>
            </a:innerShdw>
          </a:effectLst>
        </p:spPr>
      </p:pic>
      <p:sp>
        <p:nvSpPr>
          <p:cNvPr id="4" name="TextBox 13"/>
          <p:cNvSpPr txBox="1"/>
          <p:nvPr/>
        </p:nvSpPr>
        <p:spPr>
          <a:xfrm>
            <a:off x="4633624" y="2857716"/>
            <a:ext cx="7680695" cy="646331"/>
          </a:xfrm>
          <a:prstGeom prst="rect">
            <a:avLst/>
          </a:prstGeom>
          <a:noFill/>
        </p:spPr>
        <p:txBody>
          <a:bodyPr wrap="square" rtlCol="0">
            <a:spAutoFit/>
          </a:bodyPr>
          <a:lstStyle/>
          <a:p>
            <a:pPr lvl="0" algn="ctr">
              <a:defRPr/>
            </a:pPr>
            <a:r>
              <a:rPr lang="en-US" altLang="zh-CN" sz="3600" dirty="0">
                <a:latin typeface="Lato" panose="020F0502020204030203" pitchFamily="34" charset="0"/>
              </a:rPr>
              <a:t>1.</a:t>
            </a:r>
            <a:r>
              <a:rPr lang="zh-CN" altLang="en-US" sz="3600" dirty="0">
                <a:latin typeface="Lato" panose="020F0502020204030203" pitchFamily="34" charset="0"/>
              </a:rPr>
              <a:t>预融合方法概述</a:t>
            </a:r>
            <a:endParaRPr lang="en-US" altLang="zh-CN" sz="3600" b="1" dirty="0">
              <a:latin typeface="+mj-ea"/>
              <a:ea typeface="+mj-ea"/>
            </a:endParaRPr>
          </a:p>
        </p:txBody>
      </p:sp>
      <p:grpSp>
        <p:nvGrpSpPr>
          <p:cNvPr id="5" name="组合 4"/>
          <p:cNvGrpSpPr/>
          <p:nvPr/>
        </p:nvGrpSpPr>
        <p:grpSpPr>
          <a:xfrm>
            <a:off x="5741065" y="3837410"/>
            <a:ext cx="5863771" cy="57767"/>
            <a:chOff x="5280505" y="3963496"/>
            <a:chExt cx="5863771" cy="57767"/>
          </a:xfrm>
          <a:solidFill>
            <a:schemeClr val="tx1"/>
          </a:solidFill>
        </p:grpSpPr>
        <p:sp>
          <p:nvSpPr>
            <p:cNvPr id="6" name="任意多边形 16"/>
            <p:cNvSpPr/>
            <p:nvPr/>
          </p:nvSpPr>
          <p:spPr>
            <a:xfrm>
              <a:off x="5280505" y="3992380"/>
              <a:ext cx="5863771" cy="0"/>
            </a:xfrm>
            <a:custGeom>
              <a:avLst/>
              <a:gdLst>
                <a:gd name="connsiteX0" fmla="*/ 0 w 5863771"/>
                <a:gd name="connsiteY0" fmla="*/ 0 h 0"/>
                <a:gd name="connsiteX1" fmla="*/ 58057 w 5863771"/>
                <a:gd name="connsiteY1" fmla="*/ 0 h 0"/>
                <a:gd name="connsiteX2" fmla="*/ 5863771 w 5863771"/>
                <a:gd name="connsiteY2" fmla="*/ 0 h 0"/>
              </a:gdLst>
              <a:ahLst/>
              <a:cxnLst>
                <a:cxn ang="0">
                  <a:pos x="connsiteX0" y="connsiteY0"/>
                </a:cxn>
                <a:cxn ang="0">
                  <a:pos x="connsiteX1" y="connsiteY1"/>
                </a:cxn>
                <a:cxn ang="0">
                  <a:pos x="connsiteX2" y="connsiteY2"/>
                </a:cxn>
              </a:cxnLst>
              <a:rect l="l" t="t" r="r" b="b"/>
              <a:pathLst>
                <a:path w="5863771">
                  <a:moveTo>
                    <a:pt x="0" y="0"/>
                  </a:moveTo>
                  <a:lnTo>
                    <a:pt x="58057" y="0"/>
                  </a:lnTo>
                  <a:lnTo>
                    <a:pt x="5863771" y="0"/>
                  </a:lnTo>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sp>
          <p:nvSpPr>
            <p:cNvPr id="7" name="圆角矩形 17"/>
            <p:cNvSpPr/>
            <p:nvPr/>
          </p:nvSpPr>
          <p:spPr>
            <a:xfrm>
              <a:off x="7456740" y="3963496"/>
              <a:ext cx="1511300" cy="5776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grpSp>
      <p:grpSp>
        <p:nvGrpSpPr>
          <p:cNvPr id="9" name="组合 8"/>
          <p:cNvGrpSpPr/>
          <p:nvPr/>
        </p:nvGrpSpPr>
        <p:grpSpPr bwMode="auto">
          <a:xfrm>
            <a:off x="7782456" y="4205439"/>
            <a:ext cx="412709" cy="333006"/>
            <a:chOff x="0" y="0"/>
            <a:chExt cx="1088225" cy="869861"/>
          </a:xfrm>
          <a:solidFill>
            <a:schemeClr val="tx1"/>
          </a:solidFill>
        </p:grpSpPr>
        <p:sp>
          <p:nvSpPr>
            <p:cNvPr id="10" name="Freeform 17"/>
            <p:cNvSpPr>
              <a:spLocks noEditPoints="1" noChangeArrowheads="1"/>
            </p:cNvSpPr>
            <p:nvPr/>
          </p:nvSpPr>
          <p:spPr bwMode="auto">
            <a:xfrm>
              <a:off x="0" y="237562"/>
              <a:ext cx="824268" cy="632299"/>
            </a:xfrm>
            <a:custGeom>
              <a:avLst/>
              <a:gdLst>
                <a:gd name="T0" fmla="*/ 274 w 291"/>
                <a:gd name="T1" fmla="*/ 0 h 223"/>
                <a:gd name="T2" fmla="*/ 17 w 291"/>
                <a:gd name="T3" fmla="*/ 0 h 223"/>
                <a:gd name="T4" fmla="*/ 0 w 291"/>
                <a:gd name="T5" fmla="*/ 16 h 223"/>
                <a:gd name="T6" fmla="*/ 0 w 291"/>
                <a:gd name="T7" fmla="*/ 207 h 223"/>
                <a:gd name="T8" fmla="*/ 17 w 291"/>
                <a:gd name="T9" fmla="*/ 223 h 223"/>
                <a:gd name="T10" fmla="*/ 274 w 291"/>
                <a:gd name="T11" fmla="*/ 223 h 223"/>
                <a:gd name="T12" fmla="*/ 291 w 291"/>
                <a:gd name="T13" fmla="*/ 207 h 223"/>
                <a:gd name="T14" fmla="*/ 291 w 291"/>
                <a:gd name="T15" fmla="*/ 16 h 223"/>
                <a:gd name="T16" fmla="*/ 274 w 291"/>
                <a:gd name="T17" fmla="*/ 0 h 223"/>
                <a:gd name="T18" fmla="*/ 270 w 291"/>
                <a:gd name="T19" fmla="*/ 193 h 223"/>
                <a:gd name="T20" fmla="*/ 256 w 291"/>
                <a:gd name="T21" fmla="*/ 207 h 223"/>
                <a:gd name="T22" fmla="*/ 35 w 291"/>
                <a:gd name="T23" fmla="*/ 207 h 223"/>
                <a:gd name="T24" fmla="*/ 21 w 291"/>
                <a:gd name="T25" fmla="*/ 193 h 223"/>
                <a:gd name="T26" fmla="*/ 21 w 291"/>
                <a:gd name="T27" fmla="*/ 30 h 223"/>
                <a:gd name="T28" fmla="*/ 35 w 291"/>
                <a:gd name="T29" fmla="*/ 16 h 223"/>
                <a:gd name="T30" fmla="*/ 256 w 291"/>
                <a:gd name="T31" fmla="*/ 16 h 223"/>
                <a:gd name="T32" fmla="*/ 270 w 291"/>
                <a:gd name="T33" fmla="*/ 30 h 223"/>
                <a:gd name="T34" fmla="*/ 270 w 291"/>
                <a:gd name="T35" fmla="*/ 19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1"/>
                <a:gd name="T55" fmla="*/ 0 h 223"/>
                <a:gd name="T56" fmla="*/ 291 w 291"/>
                <a:gd name="T57" fmla="*/ 223 h 2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1" h="223">
                  <a:moveTo>
                    <a:pt x="274" y="0"/>
                  </a:moveTo>
                  <a:cubicBezTo>
                    <a:pt x="17" y="0"/>
                    <a:pt x="17" y="0"/>
                    <a:pt x="17" y="0"/>
                  </a:cubicBezTo>
                  <a:cubicBezTo>
                    <a:pt x="8" y="0"/>
                    <a:pt x="0" y="7"/>
                    <a:pt x="0" y="16"/>
                  </a:cubicBezTo>
                  <a:cubicBezTo>
                    <a:pt x="0" y="207"/>
                    <a:pt x="0" y="207"/>
                    <a:pt x="0" y="207"/>
                  </a:cubicBezTo>
                  <a:cubicBezTo>
                    <a:pt x="0" y="215"/>
                    <a:pt x="8" y="223"/>
                    <a:pt x="17" y="223"/>
                  </a:cubicBezTo>
                  <a:cubicBezTo>
                    <a:pt x="274" y="223"/>
                    <a:pt x="274" y="223"/>
                    <a:pt x="274" y="223"/>
                  </a:cubicBezTo>
                  <a:cubicBezTo>
                    <a:pt x="283" y="223"/>
                    <a:pt x="291" y="215"/>
                    <a:pt x="291" y="207"/>
                  </a:cubicBezTo>
                  <a:cubicBezTo>
                    <a:pt x="291" y="16"/>
                    <a:pt x="291" y="16"/>
                    <a:pt x="291" y="16"/>
                  </a:cubicBezTo>
                  <a:cubicBezTo>
                    <a:pt x="291" y="7"/>
                    <a:pt x="283" y="0"/>
                    <a:pt x="274" y="0"/>
                  </a:cubicBezTo>
                  <a:moveTo>
                    <a:pt x="270" y="193"/>
                  </a:moveTo>
                  <a:cubicBezTo>
                    <a:pt x="270" y="201"/>
                    <a:pt x="264" y="207"/>
                    <a:pt x="256" y="207"/>
                  </a:cubicBezTo>
                  <a:cubicBezTo>
                    <a:pt x="35" y="207"/>
                    <a:pt x="35" y="207"/>
                    <a:pt x="35" y="207"/>
                  </a:cubicBezTo>
                  <a:cubicBezTo>
                    <a:pt x="27" y="207"/>
                    <a:pt x="21" y="201"/>
                    <a:pt x="21" y="193"/>
                  </a:cubicBezTo>
                  <a:cubicBezTo>
                    <a:pt x="21" y="30"/>
                    <a:pt x="21" y="30"/>
                    <a:pt x="21" y="30"/>
                  </a:cubicBezTo>
                  <a:cubicBezTo>
                    <a:pt x="21" y="22"/>
                    <a:pt x="27" y="16"/>
                    <a:pt x="35" y="16"/>
                  </a:cubicBezTo>
                  <a:cubicBezTo>
                    <a:pt x="256" y="16"/>
                    <a:pt x="256" y="16"/>
                    <a:pt x="256" y="16"/>
                  </a:cubicBezTo>
                  <a:cubicBezTo>
                    <a:pt x="264" y="16"/>
                    <a:pt x="270" y="22"/>
                    <a:pt x="270" y="30"/>
                  </a:cubicBezTo>
                  <a:lnTo>
                    <a:pt x="270" y="19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1" name="Freeform 18"/>
            <p:cNvSpPr>
              <a:spLocks noChangeArrowheads="1"/>
            </p:cNvSpPr>
            <p:nvPr/>
          </p:nvSpPr>
          <p:spPr bwMode="auto">
            <a:xfrm>
              <a:off x="137978" y="110382"/>
              <a:ext cx="821868" cy="632299"/>
            </a:xfrm>
            <a:custGeom>
              <a:avLst/>
              <a:gdLst>
                <a:gd name="T0" fmla="*/ 274 w 290"/>
                <a:gd name="T1" fmla="*/ 0 h 223"/>
                <a:gd name="T2" fmla="*/ 16 w 290"/>
                <a:gd name="T3" fmla="*/ 0 h 223"/>
                <a:gd name="T4" fmla="*/ 0 w 290"/>
                <a:gd name="T5" fmla="*/ 16 h 223"/>
                <a:gd name="T6" fmla="*/ 0 w 290"/>
                <a:gd name="T7" fmla="*/ 25 h 223"/>
                <a:gd name="T8" fmla="*/ 249 w 290"/>
                <a:gd name="T9" fmla="*/ 25 h 223"/>
                <a:gd name="T10" fmla="*/ 265 w 290"/>
                <a:gd name="T11" fmla="*/ 42 h 223"/>
                <a:gd name="T12" fmla="*/ 265 w 290"/>
                <a:gd name="T13" fmla="*/ 223 h 223"/>
                <a:gd name="T14" fmla="*/ 274 w 290"/>
                <a:gd name="T15" fmla="*/ 223 h 223"/>
                <a:gd name="T16" fmla="*/ 290 w 290"/>
                <a:gd name="T17" fmla="*/ 207 h 223"/>
                <a:gd name="T18" fmla="*/ 290 w 290"/>
                <a:gd name="T19" fmla="*/ 16 h 223"/>
                <a:gd name="T20" fmla="*/ 274 w 29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3"/>
                <a:gd name="T35" fmla="*/ 290 w 29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3">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3"/>
                    <a:pt x="265" y="42"/>
                  </a:cubicBezTo>
                  <a:cubicBezTo>
                    <a:pt x="265" y="223"/>
                    <a:pt x="265" y="223"/>
                    <a:pt x="265" y="223"/>
                  </a:cubicBezTo>
                  <a:cubicBezTo>
                    <a:pt x="274" y="223"/>
                    <a:pt x="274" y="223"/>
                    <a:pt x="274" y="223"/>
                  </a:cubicBezTo>
                  <a:cubicBezTo>
                    <a:pt x="283" y="223"/>
                    <a:pt x="290" y="216"/>
                    <a:pt x="290" y="207"/>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2" name="Freeform 19"/>
            <p:cNvSpPr>
              <a:spLocks noChangeArrowheads="1"/>
            </p:cNvSpPr>
            <p:nvPr/>
          </p:nvSpPr>
          <p:spPr bwMode="auto">
            <a:xfrm>
              <a:off x="266357" y="0"/>
              <a:ext cx="821868" cy="628699"/>
            </a:xfrm>
            <a:custGeom>
              <a:avLst/>
              <a:gdLst>
                <a:gd name="T0" fmla="*/ 274 w 290"/>
                <a:gd name="T1" fmla="*/ 0 h 222"/>
                <a:gd name="T2" fmla="*/ 16 w 290"/>
                <a:gd name="T3" fmla="*/ 0 h 222"/>
                <a:gd name="T4" fmla="*/ 0 w 290"/>
                <a:gd name="T5" fmla="*/ 16 h 222"/>
                <a:gd name="T6" fmla="*/ 0 w 290"/>
                <a:gd name="T7" fmla="*/ 25 h 222"/>
                <a:gd name="T8" fmla="*/ 249 w 290"/>
                <a:gd name="T9" fmla="*/ 25 h 222"/>
                <a:gd name="T10" fmla="*/ 265 w 290"/>
                <a:gd name="T11" fmla="*/ 41 h 222"/>
                <a:gd name="T12" fmla="*/ 265 w 290"/>
                <a:gd name="T13" fmla="*/ 222 h 222"/>
                <a:gd name="T14" fmla="*/ 274 w 290"/>
                <a:gd name="T15" fmla="*/ 222 h 222"/>
                <a:gd name="T16" fmla="*/ 290 w 290"/>
                <a:gd name="T17" fmla="*/ 206 h 222"/>
                <a:gd name="T18" fmla="*/ 290 w 290"/>
                <a:gd name="T19" fmla="*/ 16 h 222"/>
                <a:gd name="T20" fmla="*/ 274 w 290"/>
                <a:gd name="T21" fmla="*/ 0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2"/>
                <a:gd name="T35" fmla="*/ 290 w 290"/>
                <a:gd name="T36" fmla="*/ 222 h 2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2">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2"/>
                    <a:pt x="265" y="41"/>
                  </a:cubicBezTo>
                  <a:cubicBezTo>
                    <a:pt x="265" y="222"/>
                    <a:pt x="265" y="222"/>
                    <a:pt x="265" y="222"/>
                  </a:cubicBezTo>
                  <a:cubicBezTo>
                    <a:pt x="274" y="222"/>
                    <a:pt x="274" y="222"/>
                    <a:pt x="274" y="222"/>
                  </a:cubicBezTo>
                  <a:cubicBezTo>
                    <a:pt x="283" y="222"/>
                    <a:pt x="290" y="215"/>
                    <a:pt x="290" y="206"/>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3" name="Freeform 20"/>
            <p:cNvSpPr>
              <a:spLocks noChangeArrowheads="1"/>
            </p:cNvSpPr>
            <p:nvPr/>
          </p:nvSpPr>
          <p:spPr bwMode="auto">
            <a:xfrm>
              <a:off x="110382" y="422332"/>
              <a:ext cx="569909" cy="353943"/>
            </a:xfrm>
            <a:custGeom>
              <a:avLst/>
              <a:gdLst>
                <a:gd name="T0" fmla="*/ 71 w 201"/>
                <a:gd name="T1" fmla="*/ 5 h 125"/>
                <a:gd name="T2" fmla="*/ 11 w 201"/>
                <a:gd name="T3" fmla="*/ 109 h 125"/>
                <a:gd name="T4" fmla="*/ 11 w 201"/>
                <a:gd name="T5" fmla="*/ 124 h 125"/>
                <a:gd name="T6" fmla="*/ 192 w 201"/>
                <a:gd name="T7" fmla="*/ 124 h 125"/>
                <a:gd name="T8" fmla="*/ 192 w 201"/>
                <a:gd name="T9" fmla="*/ 108 h 125"/>
                <a:gd name="T10" fmla="*/ 151 w 201"/>
                <a:gd name="T11" fmla="*/ 47 h 125"/>
                <a:gd name="T12" fmla="*/ 117 w 201"/>
                <a:gd name="T13" fmla="*/ 86 h 125"/>
                <a:gd name="T14" fmla="*/ 110 w 201"/>
                <a:gd name="T15" fmla="*/ 81 h 125"/>
                <a:gd name="T16" fmla="*/ 122 w 201"/>
                <a:gd name="T17" fmla="*/ 65 h 125"/>
                <a:gd name="T18" fmla="*/ 81 w 201"/>
                <a:gd name="T19" fmla="*/ 5 h 125"/>
                <a:gd name="T20" fmla="*/ 71 w 201"/>
                <a:gd name="T21" fmla="*/ 5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25"/>
                <a:gd name="T35" fmla="*/ 201 w 201"/>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25">
                  <a:moveTo>
                    <a:pt x="71" y="5"/>
                  </a:moveTo>
                  <a:cubicBezTo>
                    <a:pt x="11" y="109"/>
                    <a:pt x="11" y="109"/>
                    <a:pt x="11" y="109"/>
                  </a:cubicBezTo>
                  <a:cubicBezTo>
                    <a:pt x="11" y="109"/>
                    <a:pt x="0" y="124"/>
                    <a:pt x="11" y="124"/>
                  </a:cubicBezTo>
                  <a:cubicBezTo>
                    <a:pt x="25" y="125"/>
                    <a:pt x="192" y="124"/>
                    <a:pt x="192" y="124"/>
                  </a:cubicBezTo>
                  <a:cubicBezTo>
                    <a:pt x="192" y="124"/>
                    <a:pt x="201" y="121"/>
                    <a:pt x="192" y="108"/>
                  </a:cubicBezTo>
                  <a:cubicBezTo>
                    <a:pt x="182" y="94"/>
                    <a:pt x="158" y="46"/>
                    <a:pt x="151" y="47"/>
                  </a:cubicBezTo>
                  <a:cubicBezTo>
                    <a:pt x="144" y="47"/>
                    <a:pt x="120" y="83"/>
                    <a:pt x="117" y="86"/>
                  </a:cubicBezTo>
                  <a:cubicBezTo>
                    <a:pt x="115" y="89"/>
                    <a:pt x="108" y="84"/>
                    <a:pt x="110" y="81"/>
                  </a:cubicBezTo>
                  <a:cubicBezTo>
                    <a:pt x="116" y="74"/>
                    <a:pt x="122" y="65"/>
                    <a:pt x="122" y="65"/>
                  </a:cubicBezTo>
                  <a:cubicBezTo>
                    <a:pt x="122" y="65"/>
                    <a:pt x="84" y="9"/>
                    <a:pt x="81" y="5"/>
                  </a:cubicBezTo>
                  <a:cubicBezTo>
                    <a:pt x="78" y="0"/>
                    <a:pt x="73" y="1"/>
                    <a:pt x="71" y="5"/>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4" name="Oval 21"/>
            <p:cNvSpPr>
              <a:spLocks noChangeArrowheads="1"/>
            </p:cNvSpPr>
            <p:nvPr/>
          </p:nvSpPr>
          <p:spPr bwMode="auto">
            <a:xfrm>
              <a:off x="563909" y="331147"/>
              <a:ext cx="101984" cy="99584"/>
            </a:xfrm>
            <a:prstGeom prst="ellipse">
              <a:avLst/>
            </a:pr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5" name="组合 14"/>
          <p:cNvGrpSpPr/>
          <p:nvPr/>
        </p:nvGrpSpPr>
        <p:grpSpPr bwMode="auto">
          <a:xfrm>
            <a:off x="9791433" y="4205439"/>
            <a:ext cx="329894" cy="333006"/>
            <a:chOff x="0" y="0"/>
            <a:chExt cx="881859" cy="881859"/>
          </a:xfrm>
          <a:solidFill>
            <a:schemeClr val="tx1"/>
          </a:solidFill>
        </p:grpSpPr>
        <p:sp>
          <p:nvSpPr>
            <p:cNvPr id="16" name="Freeform 22"/>
            <p:cNvSpPr>
              <a:spLocks noEditPoints="1" noChangeArrowheads="1"/>
            </p:cNvSpPr>
            <p:nvPr/>
          </p:nvSpPr>
          <p:spPr bwMode="auto">
            <a:xfrm>
              <a:off x="0" y="0"/>
              <a:ext cx="881859" cy="881859"/>
            </a:xfrm>
            <a:custGeom>
              <a:avLst/>
              <a:gdLst>
                <a:gd name="T0" fmla="*/ 155 w 311"/>
                <a:gd name="T1" fmla="*/ 0 h 311"/>
                <a:gd name="T2" fmla="*/ 0 w 311"/>
                <a:gd name="T3" fmla="*/ 155 h 311"/>
                <a:gd name="T4" fmla="*/ 155 w 311"/>
                <a:gd name="T5" fmla="*/ 311 h 311"/>
                <a:gd name="T6" fmla="*/ 311 w 311"/>
                <a:gd name="T7" fmla="*/ 155 h 311"/>
                <a:gd name="T8" fmla="*/ 155 w 311"/>
                <a:gd name="T9" fmla="*/ 0 h 311"/>
                <a:gd name="T10" fmla="*/ 155 w 311"/>
                <a:gd name="T11" fmla="*/ 289 h 311"/>
                <a:gd name="T12" fmla="*/ 21 w 311"/>
                <a:gd name="T13" fmla="*/ 155 h 311"/>
                <a:gd name="T14" fmla="*/ 155 w 311"/>
                <a:gd name="T15" fmla="*/ 21 h 311"/>
                <a:gd name="T16" fmla="*/ 289 w 311"/>
                <a:gd name="T17" fmla="*/ 155 h 311"/>
                <a:gd name="T18" fmla="*/ 155 w 311"/>
                <a:gd name="T19" fmla="*/ 289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1"/>
                <a:gd name="T31" fmla="*/ 0 h 311"/>
                <a:gd name="T32" fmla="*/ 311 w 311"/>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1" h="311">
                  <a:moveTo>
                    <a:pt x="155" y="0"/>
                  </a:moveTo>
                  <a:cubicBezTo>
                    <a:pt x="70" y="0"/>
                    <a:pt x="0" y="69"/>
                    <a:pt x="0" y="155"/>
                  </a:cubicBezTo>
                  <a:cubicBezTo>
                    <a:pt x="0" y="241"/>
                    <a:pt x="70" y="311"/>
                    <a:pt x="155" y="311"/>
                  </a:cubicBezTo>
                  <a:cubicBezTo>
                    <a:pt x="241" y="311"/>
                    <a:pt x="311" y="241"/>
                    <a:pt x="311" y="155"/>
                  </a:cubicBezTo>
                  <a:cubicBezTo>
                    <a:pt x="311" y="69"/>
                    <a:pt x="241" y="0"/>
                    <a:pt x="155" y="0"/>
                  </a:cubicBezTo>
                  <a:moveTo>
                    <a:pt x="155" y="289"/>
                  </a:moveTo>
                  <a:cubicBezTo>
                    <a:pt x="81" y="289"/>
                    <a:pt x="21" y="229"/>
                    <a:pt x="21" y="155"/>
                  </a:cubicBezTo>
                  <a:cubicBezTo>
                    <a:pt x="21" y="81"/>
                    <a:pt x="81" y="21"/>
                    <a:pt x="155" y="21"/>
                  </a:cubicBezTo>
                  <a:cubicBezTo>
                    <a:pt x="229" y="21"/>
                    <a:pt x="289" y="81"/>
                    <a:pt x="289" y="155"/>
                  </a:cubicBezTo>
                  <a:cubicBezTo>
                    <a:pt x="289" y="229"/>
                    <a:pt x="229" y="289"/>
                    <a:pt x="155" y="289"/>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7" name="Freeform 23"/>
            <p:cNvSpPr>
              <a:spLocks noChangeArrowheads="1"/>
            </p:cNvSpPr>
            <p:nvPr/>
          </p:nvSpPr>
          <p:spPr bwMode="auto">
            <a:xfrm>
              <a:off x="235162" y="70789"/>
              <a:ext cx="430731" cy="428331"/>
            </a:xfrm>
            <a:custGeom>
              <a:avLst/>
              <a:gdLst>
                <a:gd name="T0" fmla="*/ 145 w 152"/>
                <a:gd name="T1" fmla="*/ 53 h 151"/>
                <a:gd name="T2" fmla="*/ 144 w 152"/>
                <a:gd name="T3" fmla="*/ 52 h 151"/>
                <a:gd name="T4" fmla="*/ 125 w 152"/>
                <a:gd name="T5" fmla="*/ 52 h 151"/>
                <a:gd name="T6" fmla="*/ 77 w 152"/>
                <a:gd name="T7" fmla="*/ 106 h 151"/>
                <a:gd name="T8" fmla="*/ 31 w 152"/>
                <a:gd name="T9" fmla="*/ 12 h 151"/>
                <a:gd name="T10" fmla="*/ 11 w 152"/>
                <a:gd name="T11" fmla="*/ 4 h 151"/>
                <a:gd name="T12" fmla="*/ 10 w 152"/>
                <a:gd name="T13" fmla="*/ 4 h 151"/>
                <a:gd name="T14" fmla="*/ 4 w 152"/>
                <a:gd name="T15" fmla="*/ 25 h 151"/>
                <a:gd name="T16" fmla="*/ 60 w 152"/>
                <a:gd name="T17" fmla="*/ 140 h 151"/>
                <a:gd name="T18" fmla="*/ 79 w 152"/>
                <a:gd name="T19" fmla="*/ 148 h 151"/>
                <a:gd name="T20" fmla="*/ 79 w 152"/>
                <a:gd name="T21" fmla="*/ 148 h 151"/>
                <a:gd name="T22" fmla="*/ 80 w 152"/>
                <a:gd name="T23" fmla="*/ 148 h 151"/>
                <a:gd name="T24" fmla="*/ 81 w 152"/>
                <a:gd name="T25" fmla="*/ 147 h 151"/>
                <a:gd name="T26" fmla="*/ 87 w 152"/>
                <a:gd name="T27" fmla="*/ 141 h 151"/>
                <a:gd name="T28" fmla="*/ 148 w 152"/>
                <a:gd name="T29" fmla="*/ 72 h 151"/>
                <a:gd name="T30" fmla="*/ 145 w 152"/>
                <a:gd name="T31" fmla="*/ 53 h 1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1"/>
                <a:gd name="T50" fmla="*/ 152 w 152"/>
                <a:gd name="T51" fmla="*/ 151 h 1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1">
                  <a:moveTo>
                    <a:pt x="145" y="53"/>
                  </a:moveTo>
                  <a:cubicBezTo>
                    <a:pt x="144" y="52"/>
                    <a:pt x="144" y="52"/>
                    <a:pt x="144" y="52"/>
                  </a:cubicBezTo>
                  <a:cubicBezTo>
                    <a:pt x="138" y="47"/>
                    <a:pt x="129" y="47"/>
                    <a:pt x="125" y="52"/>
                  </a:cubicBezTo>
                  <a:cubicBezTo>
                    <a:pt x="77" y="106"/>
                    <a:pt x="77" y="106"/>
                    <a:pt x="77" y="106"/>
                  </a:cubicBezTo>
                  <a:cubicBezTo>
                    <a:pt x="31" y="12"/>
                    <a:pt x="31" y="12"/>
                    <a:pt x="31" y="12"/>
                  </a:cubicBezTo>
                  <a:cubicBezTo>
                    <a:pt x="27" y="4"/>
                    <a:pt x="18" y="0"/>
                    <a:pt x="11" y="4"/>
                  </a:cubicBezTo>
                  <a:cubicBezTo>
                    <a:pt x="10" y="4"/>
                    <a:pt x="10" y="4"/>
                    <a:pt x="10" y="4"/>
                  </a:cubicBezTo>
                  <a:cubicBezTo>
                    <a:pt x="3" y="8"/>
                    <a:pt x="0" y="17"/>
                    <a:pt x="4" y="25"/>
                  </a:cubicBezTo>
                  <a:cubicBezTo>
                    <a:pt x="60" y="140"/>
                    <a:pt x="60" y="140"/>
                    <a:pt x="60" y="140"/>
                  </a:cubicBezTo>
                  <a:cubicBezTo>
                    <a:pt x="63" y="148"/>
                    <a:pt x="72" y="151"/>
                    <a:pt x="79" y="148"/>
                  </a:cubicBezTo>
                  <a:cubicBezTo>
                    <a:pt x="79" y="148"/>
                    <a:pt x="79" y="148"/>
                    <a:pt x="79" y="148"/>
                  </a:cubicBezTo>
                  <a:cubicBezTo>
                    <a:pt x="79" y="148"/>
                    <a:pt x="80" y="148"/>
                    <a:pt x="80" y="148"/>
                  </a:cubicBezTo>
                  <a:cubicBezTo>
                    <a:pt x="81" y="147"/>
                    <a:pt x="81" y="147"/>
                    <a:pt x="81" y="147"/>
                  </a:cubicBezTo>
                  <a:cubicBezTo>
                    <a:pt x="84" y="146"/>
                    <a:pt x="86" y="144"/>
                    <a:pt x="87" y="141"/>
                  </a:cubicBezTo>
                  <a:cubicBezTo>
                    <a:pt x="148" y="72"/>
                    <a:pt x="148" y="72"/>
                    <a:pt x="148" y="72"/>
                  </a:cubicBezTo>
                  <a:cubicBezTo>
                    <a:pt x="152" y="67"/>
                    <a:pt x="151" y="59"/>
                    <a:pt x="145" y="53"/>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8" name="组合 17"/>
          <p:cNvGrpSpPr/>
          <p:nvPr/>
        </p:nvGrpSpPr>
        <p:grpSpPr bwMode="auto">
          <a:xfrm>
            <a:off x="8473972" y="4205439"/>
            <a:ext cx="397959" cy="333006"/>
            <a:chOff x="0" y="0"/>
            <a:chExt cx="961046" cy="796672"/>
          </a:xfrm>
          <a:solidFill>
            <a:schemeClr val="tx1"/>
          </a:solidFill>
        </p:grpSpPr>
        <p:sp>
          <p:nvSpPr>
            <p:cNvPr id="19" name="Freeform 24"/>
            <p:cNvSpPr>
              <a:spLocks noEditPoints="1" noChangeArrowheads="1"/>
            </p:cNvSpPr>
            <p:nvPr/>
          </p:nvSpPr>
          <p:spPr bwMode="auto">
            <a:xfrm>
              <a:off x="0" y="0"/>
              <a:ext cx="961046" cy="796672"/>
            </a:xfrm>
            <a:custGeom>
              <a:avLst/>
              <a:gdLst>
                <a:gd name="T0" fmla="*/ 321 w 339"/>
                <a:gd name="T1" fmla="*/ 0 h 281"/>
                <a:gd name="T2" fmla="*/ 18 w 339"/>
                <a:gd name="T3" fmla="*/ 0 h 281"/>
                <a:gd name="T4" fmla="*/ 0 w 339"/>
                <a:gd name="T5" fmla="*/ 18 h 281"/>
                <a:gd name="T6" fmla="*/ 0 w 339"/>
                <a:gd name="T7" fmla="*/ 263 h 281"/>
                <a:gd name="T8" fmla="*/ 18 w 339"/>
                <a:gd name="T9" fmla="*/ 281 h 281"/>
                <a:gd name="T10" fmla="*/ 321 w 339"/>
                <a:gd name="T11" fmla="*/ 281 h 281"/>
                <a:gd name="T12" fmla="*/ 339 w 339"/>
                <a:gd name="T13" fmla="*/ 263 h 281"/>
                <a:gd name="T14" fmla="*/ 339 w 339"/>
                <a:gd name="T15" fmla="*/ 18 h 281"/>
                <a:gd name="T16" fmla="*/ 321 w 339"/>
                <a:gd name="T17" fmla="*/ 0 h 281"/>
                <a:gd name="T18" fmla="*/ 316 w 339"/>
                <a:gd name="T19" fmla="*/ 246 h 281"/>
                <a:gd name="T20" fmla="*/ 301 w 339"/>
                <a:gd name="T21" fmla="*/ 262 h 281"/>
                <a:gd name="T22" fmla="*/ 38 w 339"/>
                <a:gd name="T23" fmla="*/ 262 h 281"/>
                <a:gd name="T24" fmla="*/ 23 w 339"/>
                <a:gd name="T25" fmla="*/ 246 h 281"/>
                <a:gd name="T26" fmla="*/ 23 w 339"/>
                <a:gd name="T27" fmla="*/ 35 h 281"/>
                <a:gd name="T28" fmla="*/ 38 w 339"/>
                <a:gd name="T29" fmla="*/ 19 h 281"/>
                <a:gd name="T30" fmla="*/ 301 w 339"/>
                <a:gd name="T31" fmla="*/ 19 h 281"/>
                <a:gd name="T32" fmla="*/ 316 w 339"/>
                <a:gd name="T33" fmla="*/ 35 h 281"/>
                <a:gd name="T34" fmla="*/ 316 w 339"/>
                <a:gd name="T35" fmla="*/ 246 h 2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9"/>
                <a:gd name="T55" fmla="*/ 0 h 281"/>
                <a:gd name="T56" fmla="*/ 339 w 339"/>
                <a:gd name="T57" fmla="*/ 281 h 2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9" h="281">
                  <a:moveTo>
                    <a:pt x="321" y="0"/>
                  </a:moveTo>
                  <a:cubicBezTo>
                    <a:pt x="18" y="0"/>
                    <a:pt x="18" y="0"/>
                    <a:pt x="18" y="0"/>
                  </a:cubicBezTo>
                  <a:cubicBezTo>
                    <a:pt x="8" y="0"/>
                    <a:pt x="0" y="8"/>
                    <a:pt x="0" y="18"/>
                  </a:cubicBezTo>
                  <a:cubicBezTo>
                    <a:pt x="0" y="263"/>
                    <a:pt x="0" y="263"/>
                    <a:pt x="0" y="263"/>
                  </a:cubicBezTo>
                  <a:cubicBezTo>
                    <a:pt x="0" y="273"/>
                    <a:pt x="8" y="281"/>
                    <a:pt x="18" y="281"/>
                  </a:cubicBezTo>
                  <a:cubicBezTo>
                    <a:pt x="321" y="281"/>
                    <a:pt x="321" y="281"/>
                    <a:pt x="321" y="281"/>
                  </a:cubicBezTo>
                  <a:cubicBezTo>
                    <a:pt x="331" y="281"/>
                    <a:pt x="339" y="273"/>
                    <a:pt x="339" y="263"/>
                  </a:cubicBezTo>
                  <a:cubicBezTo>
                    <a:pt x="339" y="18"/>
                    <a:pt x="339" y="18"/>
                    <a:pt x="339" y="18"/>
                  </a:cubicBezTo>
                  <a:cubicBezTo>
                    <a:pt x="339" y="8"/>
                    <a:pt x="331" y="0"/>
                    <a:pt x="321" y="0"/>
                  </a:cubicBezTo>
                  <a:moveTo>
                    <a:pt x="316" y="246"/>
                  </a:moveTo>
                  <a:cubicBezTo>
                    <a:pt x="316" y="255"/>
                    <a:pt x="309" y="262"/>
                    <a:pt x="301" y="262"/>
                  </a:cubicBezTo>
                  <a:cubicBezTo>
                    <a:pt x="38" y="262"/>
                    <a:pt x="38" y="262"/>
                    <a:pt x="38" y="262"/>
                  </a:cubicBezTo>
                  <a:cubicBezTo>
                    <a:pt x="30" y="262"/>
                    <a:pt x="23" y="255"/>
                    <a:pt x="23" y="246"/>
                  </a:cubicBezTo>
                  <a:cubicBezTo>
                    <a:pt x="23" y="35"/>
                    <a:pt x="23" y="35"/>
                    <a:pt x="23" y="35"/>
                  </a:cubicBezTo>
                  <a:cubicBezTo>
                    <a:pt x="23" y="26"/>
                    <a:pt x="30" y="19"/>
                    <a:pt x="38" y="19"/>
                  </a:cubicBezTo>
                  <a:cubicBezTo>
                    <a:pt x="301" y="19"/>
                    <a:pt x="301" y="19"/>
                    <a:pt x="301" y="19"/>
                  </a:cubicBezTo>
                  <a:cubicBezTo>
                    <a:pt x="309" y="19"/>
                    <a:pt x="316" y="26"/>
                    <a:pt x="316" y="35"/>
                  </a:cubicBezTo>
                  <a:lnTo>
                    <a:pt x="316" y="24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0" name="Freeform 25"/>
            <p:cNvSpPr>
              <a:spLocks noChangeArrowheads="1"/>
            </p:cNvSpPr>
            <p:nvPr/>
          </p:nvSpPr>
          <p:spPr bwMode="auto">
            <a:xfrm>
              <a:off x="176371"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1" name="Freeform 26"/>
            <p:cNvSpPr>
              <a:spLocks noChangeArrowheads="1"/>
            </p:cNvSpPr>
            <p:nvPr/>
          </p:nvSpPr>
          <p:spPr bwMode="auto">
            <a:xfrm>
              <a:off x="176371"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2" name="Freeform 27"/>
            <p:cNvSpPr>
              <a:spLocks noChangeArrowheads="1"/>
            </p:cNvSpPr>
            <p:nvPr/>
          </p:nvSpPr>
          <p:spPr bwMode="auto">
            <a:xfrm>
              <a:off x="346744"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3" name="Freeform 28"/>
            <p:cNvSpPr>
              <a:spLocks noChangeArrowheads="1"/>
            </p:cNvSpPr>
            <p:nvPr/>
          </p:nvSpPr>
          <p:spPr bwMode="auto">
            <a:xfrm>
              <a:off x="346744"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4" name="Freeform 29"/>
            <p:cNvSpPr>
              <a:spLocks noChangeArrowheads="1"/>
            </p:cNvSpPr>
            <p:nvPr/>
          </p:nvSpPr>
          <p:spPr bwMode="auto">
            <a:xfrm>
              <a:off x="346744"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5" name="Freeform 30"/>
            <p:cNvSpPr>
              <a:spLocks noChangeArrowheads="1"/>
            </p:cNvSpPr>
            <p:nvPr/>
          </p:nvSpPr>
          <p:spPr bwMode="auto">
            <a:xfrm>
              <a:off x="519516" y="116382"/>
              <a:ext cx="83987"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6" name="Freeform 31"/>
            <p:cNvSpPr>
              <a:spLocks noChangeArrowheads="1"/>
            </p:cNvSpPr>
            <p:nvPr/>
          </p:nvSpPr>
          <p:spPr bwMode="auto">
            <a:xfrm>
              <a:off x="519516" y="274756"/>
              <a:ext cx="83987"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7" name="Freeform 32"/>
            <p:cNvSpPr>
              <a:spLocks noChangeArrowheads="1"/>
            </p:cNvSpPr>
            <p:nvPr/>
          </p:nvSpPr>
          <p:spPr bwMode="auto">
            <a:xfrm>
              <a:off x="688689" y="116382"/>
              <a:ext cx="85186"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8" name="Freeform 33"/>
            <p:cNvSpPr>
              <a:spLocks noChangeArrowheads="1"/>
            </p:cNvSpPr>
            <p:nvPr/>
          </p:nvSpPr>
          <p:spPr bwMode="auto">
            <a:xfrm>
              <a:off x="688689" y="274756"/>
              <a:ext cx="85186"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9" name="Freeform 34"/>
            <p:cNvSpPr>
              <a:spLocks noChangeArrowheads="1"/>
            </p:cNvSpPr>
            <p:nvPr/>
          </p:nvSpPr>
          <p:spPr bwMode="auto">
            <a:xfrm>
              <a:off x="176371"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sp>
        <p:nvSpPr>
          <p:cNvPr id="30" name="Freeform 84"/>
          <p:cNvSpPr>
            <a:spLocks noChangeAspect="1" noEditPoints="1" noChangeArrowheads="1"/>
          </p:cNvSpPr>
          <p:nvPr/>
        </p:nvSpPr>
        <p:spPr bwMode="auto">
          <a:xfrm>
            <a:off x="7169827" y="4205438"/>
            <a:ext cx="333822" cy="333006"/>
          </a:xfrm>
          <a:custGeom>
            <a:avLst/>
            <a:gdLst>
              <a:gd name="T0" fmla="*/ 170 w 170"/>
              <a:gd name="T1" fmla="*/ 0 h 168"/>
              <a:gd name="T2" fmla="*/ 162 w 170"/>
              <a:gd name="T3" fmla="*/ 16 h 168"/>
              <a:gd name="T4" fmla="*/ 170 w 170"/>
              <a:gd name="T5" fmla="*/ 103 h 168"/>
              <a:gd name="T6" fmla="*/ 93 w 170"/>
              <a:gd name="T7" fmla="*/ 119 h 168"/>
              <a:gd name="T8" fmla="*/ 128 w 170"/>
              <a:gd name="T9" fmla="*/ 152 h 168"/>
              <a:gd name="T10" fmla="*/ 42 w 170"/>
              <a:gd name="T11" fmla="*/ 168 h 168"/>
              <a:gd name="T12" fmla="*/ 77 w 170"/>
              <a:gd name="T13" fmla="*/ 152 h 168"/>
              <a:gd name="T14" fmla="*/ 0 w 170"/>
              <a:gd name="T15" fmla="*/ 119 h 168"/>
              <a:gd name="T16" fmla="*/ 6 w 170"/>
              <a:gd name="T17" fmla="*/ 103 h 168"/>
              <a:gd name="T18" fmla="*/ 0 w 170"/>
              <a:gd name="T19" fmla="*/ 16 h 168"/>
              <a:gd name="T20" fmla="*/ 0 w 170"/>
              <a:gd name="T21" fmla="*/ 0 h 168"/>
              <a:gd name="T22" fmla="*/ 122 w 170"/>
              <a:gd name="T23" fmla="*/ 40 h 168"/>
              <a:gd name="T24" fmla="*/ 115 w 170"/>
              <a:gd name="T25" fmla="*/ 44 h 168"/>
              <a:gd name="T26" fmla="*/ 75 w 170"/>
              <a:gd name="T27" fmla="*/ 52 h 168"/>
              <a:gd name="T28" fmla="*/ 73 w 170"/>
              <a:gd name="T29" fmla="*/ 50 h 168"/>
              <a:gd name="T30" fmla="*/ 50 w 170"/>
              <a:gd name="T31" fmla="*/ 67 h 168"/>
              <a:gd name="T32" fmla="*/ 85 w 170"/>
              <a:gd name="T33" fmla="*/ 65 h 168"/>
              <a:gd name="T34" fmla="*/ 89 w 170"/>
              <a:gd name="T35" fmla="*/ 67 h 168"/>
              <a:gd name="T36" fmla="*/ 120 w 170"/>
              <a:gd name="T37" fmla="*/ 52 h 168"/>
              <a:gd name="T38" fmla="*/ 128 w 170"/>
              <a:gd name="T39" fmla="*/ 40 h 168"/>
              <a:gd name="T40" fmla="*/ 113 w 170"/>
              <a:gd name="T41" fmla="*/ 58 h 168"/>
              <a:gd name="T42" fmla="*/ 122 w 170"/>
              <a:gd name="T43" fmla="*/ 85 h 168"/>
              <a:gd name="T44" fmla="*/ 113 w 170"/>
              <a:gd name="T45" fmla="*/ 58 h 168"/>
              <a:gd name="T46" fmla="*/ 101 w 170"/>
              <a:gd name="T47" fmla="*/ 67 h 168"/>
              <a:gd name="T48" fmla="*/ 109 w 170"/>
              <a:gd name="T49" fmla="*/ 85 h 168"/>
              <a:gd name="T50" fmla="*/ 101 w 170"/>
              <a:gd name="T51" fmla="*/ 67 h 168"/>
              <a:gd name="T52" fmla="*/ 87 w 170"/>
              <a:gd name="T53" fmla="*/ 77 h 168"/>
              <a:gd name="T54" fmla="*/ 95 w 170"/>
              <a:gd name="T55" fmla="*/ 85 h 168"/>
              <a:gd name="T56" fmla="*/ 87 w 170"/>
              <a:gd name="T57" fmla="*/ 77 h 168"/>
              <a:gd name="T58" fmla="*/ 75 w 170"/>
              <a:gd name="T59" fmla="*/ 69 h 168"/>
              <a:gd name="T60" fmla="*/ 83 w 170"/>
              <a:gd name="T61" fmla="*/ 85 h 168"/>
              <a:gd name="T62" fmla="*/ 75 w 170"/>
              <a:gd name="T63" fmla="*/ 69 h 168"/>
              <a:gd name="T64" fmla="*/ 63 w 170"/>
              <a:gd name="T65" fmla="*/ 69 h 168"/>
              <a:gd name="T66" fmla="*/ 71 w 170"/>
              <a:gd name="T67" fmla="*/ 85 h 168"/>
              <a:gd name="T68" fmla="*/ 63 w 170"/>
              <a:gd name="T69" fmla="*/ 69 h 168"/>
              <a:gd name="T70" fmla="*/ 48 w 170"/>
              <a:gd name="T71" fmla="*/ 73 h 168"/>
              <a:gd name="T72" fmla="*/ 56 w 170"/>
              <a:gd name="T73" fmla="*/ 85 h 168"/>
              <a:gd name="T74" fmla="*/ 48 w 170"/>
              <a:gd name="T75" fmla="*/ 73 h 168"/>
              <a:gd name="T76" fmla="*/ 146 w 170"/>
              <a:gd name="T77" fmla="*/ 18 h 168"/>
              <a:gd name="T78" fmla="*/ 24 w 170"/>
              <a:gd name="T79" fmla="*/ 101 h 168"/>
              <a:gd name="T80" fmla="*/ 146 w 170"/>
              <a:gd name="T81" fmla="*/ 18 h 1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
              <a:gd name="T124" fmla="*/ 0 h 168"/>
              <a:gd name="T125" fmla="*/ 170 w 170"/>
              <a:gd name="T126" fmla="*/ 168 h 1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 h="168">
                <a:moveTo>
                  <a:pt x="0" y="0"/>
                </a:moveTo>
                <a:lnTo>
                  <a:pt x="170" y="0"/>
                </a:lnTo>
                <a:lnTo>
                  <a:pt x="170" y="16"/>
                </a:lnTo>
                <a:lnTo>
                  <a:pt x="162" y="16"/>
                </a:lnTo>
                <a:lnTo>
                  <a:pt x="162" y="103"/>
                </a:lnTo>
                <a:lnTo>
                  <a:pt x="170" y="103"/>
                </a:lnTo>
                <a:lnTo>
                  <a:pt x="170" y="119"/>
                </a:lnTo>
                <a:lnTo>
                  <a:pt x="93" y="119"/>
                </a:lnTo>
                <a:lnTo>
                  <a:pt x="93" y="152"/>
                </a:lnTo>
                <a:lnTo>
                  <a:pt x="128" y="152"/>
                </a:lnTo>
                <a:lnTo>
                  <a:pt x="128" y="168"/>
                </a:lnTo>
                <a:lnTo>
                  <a:pt x="42" y="168"/>
                </a:lnTo>
                <a:lnTo>
                  <a:pt x="42" y="152"/>
                </a:lnTo>
                <a:lnTo>
                  <a:pt x="77" y="152"/>
                </a:lnTo>
                <a:lnTo>
                  <a:pt x="77" y="119"/>
                </a:lnTo>
                <a:lnTo>
                  <a:pt x="0" y="119"/>
                </a:lnTo>
                <a:lnTo>
                  <a:pt x="0" y="103"/>
                </a:lnTo>
                <a:lnTo>
                  <a:pt x="6" y="103"/>
                </a:lnTo>
                <a:lnTo>
                  <a:pt x="6" y="16"/>
                </a:lnTo>
                <a:lnTo>
                  <a:pt x="0" y="16"/>
                </a:lnTo>
                <a:lnTo>
                  <a:pt x="0" y="0"/>
                </a:lnTo>
                <a:lnTo>
                  <a:pt x="0" y="0"/>
                </a:lnTo>
                <a:close/>
                <a:moveTo>
                  <a:pt x="128" y="40"/>
                </a:moveTo>
                <a:lnTo>
                  <a:pt x="122" y="40"/>
                </a:lnTo>
                <a:lnTo>
                  <a:pt x="113" y="40"/>
                </a:lnTo>
                <a:lnTo>
                  <a:pt x="115" y="44"/>
                </a:lnTo>
                <a:lnTo>
                  <a:pt x="87" y="61"/>
                </a:lnTo>
                <a:lnTo>
                  <a:pt x="75" y="52"/>
                </a:lnTo>
                <a:lnTo>
                  <a:pt x="75" y="50"/>
                </a:lnTo>
                <a:lnTo>
                  <a:pt x="73" y="50"/>
                </a:lnTo>
                <a:lnTo>
                  <a:pt x="48" y="61"/>
                </a:lnTo>
                <a:lnTo>
                  <a:pt x="50" y="67"/>
                </a:lnTo>
                <a:lnTo>
                  <a:pt x="73" y="56"/>
                </a:lnTo>
                <a:lnTo>
                  <a:pt x="85" y="65"/>
                </a:lnTo>
                <a:lnTo>
                  <a:pt x="87" y="67"/>
                </a:lnTo>
                <a:lnTo>
                  <a:pt x="89" y="67"/>
                </a:lnTo>
                <a:lnTo>
                  <a:pt x="117" y="48"/>
                </a:lnTo>
                <a:lnTo>
                  <a:pt x="120" y="52"/>
                </a:lnTo>
                <a:lnTo>
                  <a:pt x="124" y="46"/>
                </a:lnTo>
                <a:lnTo>
                  <a:pt x="128" y="40"/>
                </a:lnTo>
                <a:lnTo>
                  <a:pt x="128" y="40"/>
                </a:lnTo>
                <a:close/>
                <a:moveTo>
                  <a:pt x="113" y="58"/>
                </a:moveTo>
                <a:lnTo>
                  <a:pt x="113" y="85"/>
                </a:lnTo>
                <a:lnTo>
                  <a:pt x="122" y="85"/>
                </a:lnTo>
                <a:lnTo>
                  <a:pt x="122" y="58"/>
                </a:lnTo>
                <a:lnTo>
                  <a:pt x="113" y="58"/>
                </a:lnTo>
                <a:lnTo>
                  <a:pt x="113" y="58"/>
                </a:lnTo>
                <a:close/>
                <a:moveTo>
                  <a:pt x="101" y="67"/>
                </a:moveTo>
                <a:lnTo>
                  <a:pt x="101" y="85"/>
                </a:lnTo>
                <a:lnTo>
                  <a:pt x="109" y="85"/>
                </a:lnTo>
                <a:lnTo>
                  <a:pt x="109" y="67"/>
                </a:lnTo>
                <a:lnTo>
                  <a:pt x="101" y="67"/>
                </a:lnTo>
                <a:lnTo>
                  <a:pt x="101" y="67"/>
                </a:lnTo>
                <a:close/>
                <a:moveTo>
                  <a:pt x="87" y="77"/>
                </a:moveTo>
                <a:lnTo>
                  <a:pt x="87" y="85"/>
                </a:lnTo>
                <a:lnTo>
                  <a:pt x="95" y="85"/>
                </a:lnTo>
                <a:lnTo>
                  <a:pt x="95" y="77"/>
                </a:lnTo>
                <a:lnTo>
                  <a:pt x="87" y="77"/>
                </a:lnTo>
                <a:lnTo>
                  <a:pt x="87" y="77"/>
                </a:lnTo>
                <a:close/>
                <a:moveTo>
                  <a:pt x="75" y="69"/>
                </a:moveTo>
                <a:lnTo>
                  <a:pt x="75" y="85"/>
                </a:lnTo>
                <a:lnTo>
                  <a:pt x="83" y="85"/>
                </a:lnTo>
                <a:lnTo>
                  <a:pt x="83" y="69"/>
                </a:lnTo>
                <a:lnTo>
                  <a:pt x="75" y="69"/>
                </a:lnTo>
                <a:lnTo>
                  <a:pt x="75" y="69"/>
                </a:lnTo>
                <a:close/>
                <a:moveTo>
                  <a:pt x="63" y="69"/>
                </a:moveTo>
                <a:lnTo>
                  <a:pt x="63" y="85"/>
                </a:lnTo>
                <a:lnTo>
                  <a:pt x="71" y="85"/>
                </a:lnTo>
                <a:lnTo>
                  <a:pt x="71" y="69"/>
                </a:lnTo>
                <a:lnTo>
                  <a:pt x="63" y="69"/>
                </a:lnTo>
                <a:lnTo>
                  <a:pt x="63" y="69"/>
                </a:lnTo>
                <a:close/>
                <a:moveTo>
                  <a:pt x="48" y="73"/>
                </a:moveTo>
                <a:lnTo>
                  <a:pt x="48" y="85"/>
                </a:lnTo>
                <a:lnTo>
                  <a:pt x="56" y="85"/>
                </a:lnTo>
                <a:lnTo>
                  <a:pt x="56" y="73"/>
                </a:lnTo>
                <a:lnTo>
                  <a:pt x="48" y="73"/>
                </a:lnTo>
                <a:lnTo>
                  <a:pt x="48" y="73"/>
                </a:lnTo>
                <a:close/>
                <a:moveTo>
                  <a:pt x="146" y="18"/>
                </a:moveTo>
                <a:lnTo>
                  <a:pt x="24" y="18"/>
                </a:lnTo>
                <a:lnTo>
                  <a:pt x="24" y="101"/>
                </a:lnTo>
                <a:lnTo>
                  <a:pt x="146" y="101"/>
                </a:lnTo>
                <a:lnTo>
                  <a:pt x="146" y="18"/>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1" name="Freeform 9"/>
          <p:cNvSpPr>
            <a:spLocks noChangeAspect="1" noEditPoints="1" noChangeArrowheads="1"/>
          </p:cNvSpPr>
          <p:nvPr/>
        </p:nvSpPr>
        <p:spPr bwMode="auto">
          <a:xfrm>
            <a:off x="9150738" y="4205437"/>
            <a:ext cx="361886" cy="333007"/>
          </a:xfrm>
          <a:custGeom>
            <a:avLst/>
            <a:gdLst>
              <a:gd name="T0" fmla="*/ 141 w 181"/>
              <a:gd name="T1" fmla="*/ 0 h 165"/>
              <a:gd name="T2" fmla="*/ 149 w 181"/>
              <a:gd name="T3" fmla="*/ 8 h 165"/>
              <a:gd name="T4" fmla="*/ 134 w 181"/>
              <a:gd name="T5" fmla="*/ 47 h 165"/>
              <a:gd name="T6" fmla="*/ 33 w 181"/>
              <a:gd name="T7" fmla="*/ 14 h 165"/>
              <a:gd name="T8" fmla="*/ 39 w 181"/>
              <a:gd name="T9" fmla="*/ 20 h 165"/>
              <a:gd name="T10" fmla="*/ 51 w 181"/>
              <a:gd name="T11" fmla="*/ 31 h 165"/>
              <a:gd name="T12" fmla="*/ 33 w 181"/>
              <a:gd name="T13" fmla="*/ 39 h 165"/>
              <a:gd name="T14" fmla="*/ 39 w 181"/>
              <a:gd name="T15" fmla="*/ 45 h 165"/>
              <a:gd name="T16" fmla="*/ 51 w 181"/>
              <a:gd name="T17" fmla="*/ 55 h 165"/>
              <a:gd name="T18" fmla="*/ 33 w 181"/>
              <a:gd name="T19" fmla="*/ 63 h 165"/>
              <a:gd name="T20" fmla="*/ 39 w 181"/>
              <a:gd name="T21" fmla="*/ 67 h 165"/>
              <a:gd name="T22" fmla="*/ 51 w 181"/>
              <a:gd name="T23" fmla="*/ 77 h 165"/>
              <a:gd name="T24" fmla="*/ 33 w 181"/>
              <a:gd name="T25" fmla="*/ 86 h 165"/>
              <a:gd name="T26" fmla="*/ 39 w 181"/>
              <a:gd name="T27" fmla="*/ 90 h 165"/>
              <a:gd name="T28" fmla="*/ 51 w 181"/>
              <a:gd name="T29" fmla="*/ 100 h 165"/>
              <a:gd name="T30" fmla="*/ 33 w 181"/>
              <a:gd name="T31" fmla="*/ 110 h 165"/>
              <a:gd name="T32" fmla="*/ 39 w 181"/>
              <a:gd name="T33" fmla="*/ 116 h 165"/>
              <a:gd name="T34" fmla="*/ 51 w 181"/>
              <a:gd name="T35" fmla="*/ 126 h 165"/>
              <a:gd name="T36" fmla="*/ 33 w 181"/>
              <a:gd name="T37" fmla="*/ 134 h 165"/>
              <a:gd name="T38" fmla="*/ 33 w 181"/>
              <a:gd name="T39" fmla="*/ 151 h 165"/>
              <a:gd name="T40" fmla="*/ 134 w 181"/>
              <a:gd name="T41" fmla="*/ 118 h 165"/>
              <a:gd name="T42" fmla="*/ 149 w 181"/>
              <a:gd name="T43" fmla="*/ 157 h 165"/>
              <a:gd name="T44" fmla="*/ 141 w 181"/>
              <a:gd name="T45" fmla="*/ 165 h 165"/>
              <a:gd name="T46" fmla="*/ 19 w 181"/>
              <a:gd name="T47" fmla="*/ 165 h 165"/>
              <a:gd name="T48" fmla="*/ 19 w 181"/>
              <a:gd name="T49" fmla="*/ 146 h 165"/>
              <a:gd name="T50" fmla="*/ 0 w 181"/>
              <a:gd name="T51" fmla="*/ 132 h 165"/>
              <a:gd name="T52" fmla="*/ 19 w 181"/>
              <a:gd name="T53" fmla="*/ 120 h 165"/>
              <a:gd name="T54" fmla="*/ 0 w 181"/>
              <a:gd name="T55" fmla="*/ 108 h 165"/>
              <a:gd name="T56" fmla="*/ 19 w 181"/>
              <a:gd name="T57" fmla="*/ 98 h 165"/>
              <a:gd name="T58" fmla="*/ 0 w 181"/>
              <a:gd name="T59" fmla="*/ 83 h 165"/>
              <a:gd name="T60" fmla="*/ 19 w 181"/>
              <a:gd name="T61" fmla="*/ 75 h 165"/>
              <a:gd name="T62" fmla="*/ 0 w 181"/>
              <a:gd name="T63" fmla="*/ 61 h 165"/>
              <a:gd name="T64" fmla="*/ 19 w 181"/>
              <a:gd name="T65" fmla="*/ 51 h 165"/>
              <a:gd name="T66" fmla="*/ 0 w 181"/>
              <a:gd name="T67" fmla="*/ 39 h 165"/>
              <a:gd name="T68" fmla="*/ 19 w 181"/>
              <a:gd name="T69" fmla="*/ 8 h 165"/>
              <a:gd name="T70" fmla="*/ 27 w 181"/>
              <a:gd name="T71" fmla="*/ 0 h 165"/>
              <a:gd name="T72" fmla="*/ 63 w 181"/>
              <a:gd name="T73" fmla="*/ 79 h 165"/>
              <a:gd name="T74" fmla="*/ 84 w 181"/>
              <a:gd name="T75" fmla="*/ 88 h 165"/>
              <a:gd name="T76" fmla="*/ 63 w 181"/>
              <a:gd name="T77" fmla="*/ 79 h 165"/>
              <a:gd name="T78" fmla="*/ 63 w 181"/>
              <a:gd name="T79" fmla="*/ 61 h 165"/>
              <a:gd name="T80" fmla="*/ 100 w 181"/>
              <a:gd name="T81" fmla="*/ 69 h 165"/>
              <a:gd name="T82" fmla="*/ 63 w 181"/>
              <a:gd name="T83" fmla="*/ 61 h 165"/>
              <a:gd name="T84" fmla="*/ 63 w 181"/>
              <a:gd name="T85" fmla="*/ 45 h 165"/>
              <a:gd name="T86" fmla="*/ 116 w 181"/>
              <a:gd name="T87" fmla="*/ 53 h 165"/>
              <a:gd name="T88" fmla="*/ 63 w 181"/>
              <a:gd name="T89" fmla="*/ 45 h 165"/>
              <a:gd name="T90" fmla="*/ 63 w 181"/>
              <a:gd name="T91" fmla="*/ 29 h 165"/>
              <a:gd name="T92" fmla="*/ 116 w 181"/>
              <a:gd name="T93" fmla="*/ 35 h 165"/>
              <a:gd name="T94" fmla="*/ 63 w 181"/>
              <a:gd name="T95" fmla="*/ 29 h 165"/>
              <a:gd name="T96" fmla="*/ 84 w 181"/>
              <a:gd name="T97" fmla="*/ 130 h 165"/>
              <a:gd name="T98" fmla="*/ 106 w 181"/>
              <a:gd name="T99" fmla="*/ 130 h 165"/>
              <a:gd name="T100" fmla="*/ 86 w 181"/>
              <a:gd name="T101" fmla="*/ 108 h 165"/>
              <a:gd name="T102" fmla="*/ 84 w 181"/>
              <a:gd name="T103" fmla="*/ 130 h 165"/>
              <a:gd name="T104" fmla="*/ 161 w 181"/>
              <a:gd name="T105" fmla="*/ 37 h 165"/>
              <a:gd name="T106" fmla="*/ 116 w 181"/>
              <a:gd name="T107" fmla="*/ 120 h 165"/>
              <a:gd name="T108" fmla="*/ 161 w 181"/>
              <a:gd name="T109" fmla="*/ 37 h 1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1"/>
              <a:gd name="T166" fmla="*/ 0 h 165"/>
              <a:gd name="T167" fmla="*/ 181 w 181"/>
              <a:gd name="T168" fmla="*/ 165 h 1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1" h="165">
                <a:moveTo>
                  <a:pt x="27" y="0"/>
                </a:moveTo>
                <a:lnTo>
                  <a:pt x="141" y="0"/>
                </a:lnTo>
                <a:lnTo>
                  <a:pt x="149" y="0"/>
                </a:lnTo>
                <a:lnTo>
                  <a:pt x="149" y="8"/>
                </a:lnTo>
                <a:lnTo>
                  <a:pt x="149" y="35"/>
                </a:lnTo>
                <a:lnTo>
                  <a:pt x="134" y="47"/>
                </a:lnTo>
                <a:lnTo>
                  <a:pt x="134" y="14"/>
                </a:lnTo>
                <a:lnTo>
                  <a:pt x="33" y="14"/>
                </a:lnTo>
                <a:lnTo>
                  <a:pt x="33" y="25"/>
                </a:lnTo>
                <a:lnTo>
                  <a:pt x="39" y="20"/>
                </a:lnTo>
                <a:lnTo>
                  <a:pt x="47" y="18"/>
                </a:lnTo>
                <a:lnTo>
                  <a:pt x="51" y="31"/>
                </a:lnTo>
                <a:lnTo>
                  <a:pt x="45" y="35"/>
                </a:lnTo>
                <a:lnTo>
                  <a:pt x="33" y="39"/>
                </a:lnTo>
                <a:lnTo>
                  <a:pt x="33" y="47"/>
                </a:lnTo>
                <a:lnTo>
                  <a:pt x="39" y="45"/>
                </a:lnTo>
                <a:lnTo>
                  <a:pt x="47" y="41"/>
                </a:lnTo>
                <a:lnTo>
                  <a:pt x="51" y="55"/>
                </a:lnTo>
                <a:lnTo>
                  <a:pt x="45" y="57"/>
                </a:lnTo>
                <a:lnTo>
                  <a:pt x="33" y="63"/>
                </a:lnTo>
                <a:lnTo>
                  <a:pt x="33" y="71"/>
                </a:lnTo>
                <a:lnTo>
                  <a:pt x="39" y="67"/>
                </a:lnTo>
                <a:lnTo>
                  <a:pt x="47" y="65"/>
                </a:lnTo>
                <a:lnTo>
                  <a:pt x="51" y="77"/>
                </a:lnTo>
                <a:lnTo>
                  <a:pt x="45" y="81"/>
                </a:lnTo>
                <a:lnTo>
                  <a:pt x="33" y="86"/>
                </a:lnTo>
                <a:lnTo>
                  <a:pt x="33" y="94"/>
                </a:lnTo>
                <a:lnTo>
                  <a:pt x="39" y="90"/>
                </a:lnTo>
                <a:lnTo>
                  <a:pt x="47" y="88"/>
                </a:lnTo>
                <a:lnTo>
                  <a:pt x="51" y="100"/>
                </a:lnTo>
                <a:lnTo>
                  <a:pt x="45" y="104"/>
                </a:lnTo>
                <a:lnTo>
                  <a:pt x="33" y="110"/>
                </a:lnTo>
                <a:lnTo>
                  <a:pt x="33" y="118"/>
                </a:lnTo>
                <a:lnTo>
                  <a:pt x="39" y="116"/>
                </a:lnTo>
                <a:lnTo>
                  <a:pt x="47" y="112"/>
                </a:lnTo>
                <a:lnTo>
                  <a:pt x="51" y="126"/>
                </a:lnTo>
                <a:lnTo>
                  <a:pt x="45" y="128"/>
                </a:lnTo>
                <a:lnTo>
                  <a:pt x="33" y="134"/>
                </a:lnTo>
                <a:lnTo>
                  <a:pt x="33" y="146"/>
                </a:lnTo>
                <a:lnTo>
                  <a:pt x="33" y="151"/>
                </a:lnTo>
                <a:lnTo>
                  <a:pt x="134" y="151"/>
                </a:lnTo>
                <a:lnTo>
                  <a:pt x="134" y="118"/>
                </a:lnTo>
                <a:lnTo>
                  <a:pt x="149" y="106"/>
                </a:lnTo>
                <a:lnTo>
                  <a:pt x="149" y="157"/>
                </a:lnTo>
                <a:lnTo>
                  <a:pt x="149" y="165"/>
                </a:lnTo>
                <a:lnTo>
                  <a:pt x="141" y="165"/>
                </a:lnTo>
                <a:lnTo>
                  <a:pt x="27" y="165"/>
                </a:lnTo>
                <a:lnTo>
                  <a:pt x="19" y="165"/>
                </a:lnTo>
                <a:lnTo>
                  <a:pt x="19" y="157"/>
                </a:lnTo>
                <a:lnTo>
                  <a:pt x="19" y="146"/>
                </a:lnTo>
                <a:lnTo>
                  <a:pt x="4" y="146"/>
                </a:lnTo>
                <a:lnTo>
                  <a:pt x="0" y="132"/>
                </a:lnTo>
                <a:lnTo>
                  <a:pt x="19" y="124"/>
                </a:lnTo>
                <a:lnTo>
                  <a:pt x="19" y="120"/>
                </a:lnTo>
                <a:lnTo>
                  <a:pt x="4" y="120"/>
                </a:lnTo>
                <a:lnTo>
                  <a:pt x="0" y="108"/>
                </a:lnTo>
                <a:lnTo>
                  <a:pt x="19" y="100"/>
                </a:lnTo>
                <a:lnTo>
                  <a:pt x="19" y="98"/>
                </a:lnTo>
                <a:lnTo>
                  <a:pt x="4" y="98"/>
                </a:lnTo>
                <a:lnTo>
                  <a:pt x="0" y="83"/>
                </a:lnTo>
                <a:lnTo>
                  <a:pt x="19" y="77"/>
                </a:lnTo>
                <a:lnTo>
                  <a:pt x="19" y="75"/>
                </a:lnTo>
                <a:lnTo>
                  <a:pt x="4" y="75"/>
                </a:lnTo>
                <a:lnTo>
                  <a:pt x="0" y="61"/>
                </a:lnTo>
                <a:lnTo>
                  <a:pt x="19" y="53"/>
                </a:lnTo>
                <a:lnTo>
                  <a:pt x="19" y="51"/>
                </a:lnTo>
                <a:lnTo>
                  <a:pt x="4" y="51"/>
                </a:lnTo>
                <a:lnTo>
                  <a:pt x="0" y="39"/>
                </a:lnTo>
                <a:lnTo>
                  <a:pt x="19" y="31"/>
                </a:lnTo>
                <a:lnTo>
                  <a:pt x="19" y="8"/>
                </a:lnTo>
                <a:lnTo>
                  <a:pt x="19" y="0"/>
                </a:lnTo>
                <a:lnTo>
                  <a:pt x="27" y="0"/>
                </a:lnTo>
                <a:lnTo>
                  <a:pt x="27" y="0"/>
                </a:lnTo>
                <a:close/>
                <a:moveTo>
                  <a:pt x="63" y="79"/>
                </a:moveTo>
                <a:lnTo>
                  <a:pt x="63" y="88"/>
                </a:lnTo>
                <a:lnTo>
                  <a:pt x="84" y="88"/>
                </a:lnTo>
                <a:lnTo>
                  <a:pt x="84" y="79"/>
                </a:lnTo>
                <a:lnTo>
                  <a:pt x="63" y="79"/>
                </a:lnTo>
                <a:lnTo>
                  <a:pt x="63" y="79"/>
                </a:lnTo>
                <a:close/>
                <a:moveTo>
                  <a:pt x="63" y="61"/>
                </a:moveTo>
                <a:lnTo>
                  <a:pt x="63" y="69"/>
                </a:lnTo>
                <a:lnTo>
                  <a:pt x="100" y="69"/>
                </a:lnTo>
                <a:lnTo>
                  <a:pt x="100" y="61"/>
                </a:lnTo>
                <a:lnTo>
                  <a:pt x="63" y="61"/>
                </a:lnTo>
                <a:lnTo>
                  <a:pt x="63" y="61"/>
                </a:lnTo>
                <a:close/>
                <a:moveTo>
                  <a:pt x="63" y="45"/>
                </a:moveTo>
                <a:lnTo>
                  <a:pt x="63" y="53"/>
                </a:lnTo>
                <a:lnTo>
                  <a:pt x="116" y="53"/>
                </a:lnTo>
                <a:lnTo>
                  <a:pt x="116" y="45"/>
                </a:lnTo>
                <a:lnTo>
                  <a:pt x="63" y="45"/>
                </a:lnTo>
                <a:lnTo>
                  <a:pt x="63" y="45"/>
                </a:lnTo>
                <a:close/>
                <a:moveTo>
                  <a:pt x="63" y="29"/>
                </a:moveTo>
                <a:lnTo>
                  <a:pt x="63" y="35"/>
                </a:lnTo>
                <a:lnTo>
                  <a:pt x="116" y="35"/>
                </a:lnTo>
                <a:lnTo>
                  <a:pt x="116" y="29"/>
                </a:lnTo>
                <a:lnTo>
                  <a:pt x="63" y="29"/>
                </a:lnTo>
                <a:lnTo>
                  <a:pt x="63" y="29"/>
                </a:lnTo>
                <a:close/>
                <a:moveTo>
                  <a:pt x="84" y="130"/>
                </a:moveTo>
                <a:lnTo>
                  <a:pt x="96" y="130"/>
                </a:lnTo>
                <a:lnTo>
                  <a:pt x="106" y="130"/>
                </a:lnTo>
                <a:lnTo>
                  <a:pt x="96" y="118"/>
                </a:lnTo>
                <a:lnTo>
                  <a:pt x="86" y="108"/>
                </a:lnTo>
                <a:lnTo>
                  <a:pt x="86" y="120"/>
                </a:lnTo>
                <a:lnTo>
                  <a:pt x="84" y="130"/>
                </a:lnTo>
                <a:lnTo>
                  <a:pt x="84" y="130"/>
                </a:lnTo>
                <a:close/>
                <a:moveTo>
                  <a:pt x="161" y="37"/>
                </a:moveTo>
                <a:lnTo>
                  <a:pt x="96" y="100"/>
                </a:lnTo>
                <a:lnTo>
                  <a:pt x="116" y="120"/>
                </a:lnTo>
                <a:lnTo>
                  <a:pt x="181" y="57"/>
                </a:lnTo>
                <a:lnTo>
                  <a:pt x="161" y="37"/>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lang="zh-CN" altLang="en-US" sz="2800" b="1" dirty="0">
                <a:solidFill>
                  <a:srgbClr val="000000"/>
                </a:solidFill>
                <a:latin typeface="微软雅黑" panose="020B0503020204020204" pitchFamily="34" charset="-122"/>
                <a:ea typeface="微软雅黑" panose="020B0503020204020204" pitchFamily="34" charset="-122"/>
              </a:rPr>
              <a:t>预融合方法概述</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4B0B9165-AEF0-AC99-BFB7-CFF212515CC3}"/>
              </a:ext>
            </a:extLst>
          </p:cNvPr>
          <p:cNvSpPr txBox="1"/>
          <p:nvPr/>
        </p:nvSpPr>
        <p:spPr>
          <a:xfrm>
            <a:off x="718738" y="1018225"/>
            <a:ext cx="8501462" cy="587340"/>
          </a:xfrm>
          <a:prstGeom prst="rect">
            <a:avLst/>
          </a:prstGeom>
          <a:noFill/>
        </p:spPr>
        <p:txBody>
          <a:bodyPr wrap="square">
            <a:spAutoFit/>
          </a:bodyPr>
          <a:lstStyle/>
          <a:p>
            <a:pPr>
              <a:lnSpc>
                <a:spcPct val="150000"/>
              </a:lnSpc>
            </a:pPr>
            <a:r>
              <a:rPr lang="zh-CN" altLang="en-US" sz="2400" b="1" dirty="0">
                <a:solidFill>
                  <a:srgbClr val="268F9C"/>
                </a:solidFill>
                <a:latin typeface="+mn-ea"/>
              </a:rPr>
              <a:t>目标：</a:t>
            </a:r>
            <a:r>
              <a:rPr lang="zh-CN" altLang="en-US" sz="2400" dirty="0">
                <a:latin typeface="+mn-ea"/>
              </a:rPr>
              <a:t>为模型融合阶段提供更好的融合条件</a:t>
            </a:r>
            <a:endParaRPr lang="en-US" altLang="zh-CN" dirty="0">
              <a:solidFill>
                <a:srgbClr val="191B1F"/>
              </a:solidFill>
              <a:latin typeface="-apple-system"/>
            </a:endParaRPr>
          </a:p>
        </p:txBody>
      </p:sp>
      <p:sp>
        <p:nvSpPr>
          <p:cNvPr id="6" name="文本框 5">
            <a:extLst>
              <a:ext uri="{FF2B5EF4-FFF2-40B4-BE49-F238E27FC236}">
                <a16:creationId xmlns:a16="http://schemas.microsoft.com/office/drawing/2014/main" id="{AD18E477-A31D-8C7D-8472-4719E826BDD8}"/>
              </a:ext>
            </a:extLst>
          </p:cNvPr>
          <p:cNvSpPr txBox="1"/>
          <p:nvPr/>
        </p:nvSpPr>
        <p:spPr>
          <a:xfrm>
            <a:off x="718738" y="1733184"/>
            <a:ext cx="10358837" cy="1848583"/>
          </a:xfrm>
          <a:prstGeom prst="rect">
            <a:avLst/>
          </a:prstGeom>
          <a:noFill/>
        </p:spPr>
        <p:txBody>
          <a:bodyPr wrap="square">
            <a:spAutoFit/>
          </a:bodyPr>
          <a:lstStyle/>
          <a:p>
            <a:pPr>
              <a:lnSpc>
                <a:spcPct val="150000"/>
              </a:lnSpc>
            </a:pPr>
            <a:r>
              <a:rPr lang="zh-CN" altLang="en-US" sz="2400" b="1" dirty="0">
                <a:solidFill>
                  <a:srgbClr val="268F9C"/>
                </a:solidFill>
                <a:latin typeface="+mn-ea"/>
              </a:rPr>
              <a:t>方法主要分类</a:t>
            </a:r>
            <a:endParaRPr lang="en-US" altLang="zh-CN" sz="2400" dirty="0">
              <a:solidFill>
                <a:srgbClr val="191B1F"/>
              </a:solidFill>
              <a:latin typeface="+mn-ea"/>
            </a:endParaRPr>
          </a:p>
          <a:p>
            <a:pPr marL="285750" indent="-285750">
              <a:lnSpc>
                <a:spcPct val="150000"/>
              </a:lnSpc>
              <a:buFont typeface="Arial" panose="020B0604020202020204" pitchFamily="34" charset="0"/>
              <a:buChar char="•"/>
            </a:pPr>
            <a:r>
              <a:rPr lang="zh-CN" altLang="en-US" b="1" i="0" dirty="0">
                <a:solidFill>
                  <a:schemeClr val="accent1"/>
                </a:solidFill>
                <a:effectLst/>
                <a:latin typeface="+mn-ea"/>
              </a:rPr>
              <a:t>线性微调：</a:t>
            </a:r>
            <a:r>
              <a:rPr lang="zh-CN" altLang="en-US" i="0" dirty="0">
                <a:effectLst/>
                <a:latin typeface="+mn-ea"/>
              </a:rPr>
              <a:t>模型在切空间微调</a:t>
            </a:r>
            <a:r>
              <a:rPr lang="en-US" altLang="zh-CN" i="0" dirty="0">
                <a:effectLst/>
                <a:latin typeface="+mn-ea"/>
              </a:rPr>
              <a:t>(</a:t>
            </a:r>
            <a:r>
              <a:rPr lang="zh-CN" altLang="en-US" i="0" dirty="0">
                <a:effectLst/>
                <a:latin typeface="+mn-ea"/>
              </a:rPr>
              <a:t>图</a:t>
            </a:r>
            <a:r>
              <a:rPr lang="en-US" altLang="zh-CN" i="0" dirty="0">
                <a:effectLst/>
                <a:latin typeface="+mn-ea"/>
              </a:rPr>
              <a:t>a)</a:t>
            </a:r>
            <a:r>
              <a:rPr lang="zh-CN" altLang="en-US" i="0" dirty="0">
                <a:effectLst/>
                <a:latin typeface="+mn-ea"/>
              </a:rPr>
              <a:t>，提高模型的权重解缠（</a:t>
            </a:r>
            <a:r>
              <a:rPr lang="en-US" altLang="zh-CN" i="0" dirty="0">
                <a:effectLst/>
                <a:latin typeface="+mn-ea"/>
              </a:rPr>
              <a:t>weight disentanglement</a:t>
            </a:r>
            <a:r>
              <a:rPr lang="zh-CN" altLang="en-US" i="0" dirty="0">
                <a:effectLst/>
                <a:latin typeface="+mn-ea"/>
              </a:rPr>
              <a:t>）能力</a:t>
            </a:r>
            <a:endParaRPr lang="en-US" altLang="zh-CN" dirty="0">
              <a:latin typeface="+mn-ea"/>
            </a:endParaRPr>
          </a:p>
          <a:p>
            <a:pPr marL="285750" indent="-285750">
              <a:lnSpc>
                <a:spcPct val="150000"/>
              </a:lnSpc>
              <a:buFont typeface="Arial" panose="020B0604020202020204" pitchFamily="34" charset="0"/>
              <a:buChar char="•"/>
            </a:pPr>
            <a:r>
              <a:rPr lang="zh-CN" altLang="en-US" b="1" dirty="0">
                <a:solidFill>
                  <a:schemeClr val="accent1"/>
                </a:solidFill>
                <a:latin typeface="+mn-ea"/>
              </a:rPr>
              <a:t>架构转换：</a:t>
            </a:r>
            <a:r>
              <a:rPr lang="zh-CN" altLang="en-US" dirty="0">
                <a:latin typeface="+mn-ea"/>
              </a:rPr>
              <a:t>将不同架构的模型对齐为同一架构</a:t>
            </a:r>
            <a:r>
              <a:rPr lang="en-US" altLang="zh-CN" dirty="0">
                <a:latin typeface="+mn-ea"/>
              </a:rPr>
              <a:t>(</a:t>
            </a:r>
            <a:r>
              <a:rPr lang="zh-CN" altLang="en-US" dirty="0">
                <a:latin typeface="+mn-ea"/>
              </a:rPr>
              <a:t>图</a:t>
            </a:r>
            <a:r>
              <a:rPr lang="en-US" altLang="zh-CN" dirty="0">
                <a:latin typeface="+mn-ea"/>
              </a:rPr>
              <a:t>b)</a:t>
            </a:r>
          </a:p>
          <a:p>
            <a:pPr marL="285750" indent="-285750">
              <a:lnSpc>
                <a:spcPct val="150000"/>
              </a:lnSpc>
              <a:buFont typeface="Arial" panose="020B0604020202020204" pitchFamily="34" charset="0"/>
              <a:buChar char="•"/>
            </a:pPr>
            <a:r>
              <a:rPr lang="zh-CN" altLang="en-US" b="1" dirty="0">
                <a:solidFill>
                  <a:schemeClr val="accent1"/>
                </a:solidFill>
                <a:latin typeface="+mn-ea"/>
              </a:rPr>
              <a:t>权重对齐：</a:t>
            </a:r>
            <a:r>
              <a:rPr lang="zh-CN" altLang="en-US" dirty="0">
                <a:latin typeface="+mn-ea"/>
              </a:rPr>
              <a:t>对齐权重</a:t>
            </a:r>
            <a:r>
              <a:rPr lang="en-US" altLang="zh-CN" dirty="0">
                <a:latin typeface="+mn-ea"/>
              </a:rPr>
              <a:t>(</a:t>
            </a:r>
            <a:r>
              <a:rPr lang="zh-CN" altLang="en-US" dirty="0">
                <a:latin typeface="+mn-ea"/>
              </a:rPr>
              <a:t>图</a:t>
            </a:r>
            <a:r>
              <a:rPr lang="en-US" altLang="zh-CN" dirty="0">
                <a:latin typeface="+mn-ea"/>
              </a:rPr>
              <a:t>c)</a:t>
            </a:r>
            <a:r>
              <a:rPr lang="zh-CN" altLang="en-US" dirty="0">
                <a:latin typeface="+mn-ea"/>
              </a:rPr>
              <a:t>，使不同模型的权重在同一个局部最小值区域内</a:t>
            </a:r>
            <a:endParaRPr lang="en-US" altLang="zh-CN" dirty="0">
              <a:latin typeface="+mn-ea"/>
            </a:endParaRPr>
          </a:p>
        </p:txBody>
      </p:sp>
      <p:pic>
        <p:nvPicPr>
          <p:cNvPr id="26" name="图片 25">
            <a:extLst>
              <a:ext uri="{FF2B5EF4-FFF2-40B4-BE49-F238E27FC236}">
                <a16:creationId xmlns:a16="http://schemas.microsoft.com/office/drawing/2014/main" id="{798AC0E4-601D-17E1-9DBD-7F4B23F9DE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957" y="4248744"/>
            <a:ext cx="3026768" cy="1780581"/>
          </a:xfrm>
          <a:prstGeom prst="rect">
            <a:avLst/>
          </a:prstGeom>
        </p:spPr>
      </p:pic>
      <p:pic>
        <p:nvPicPr>
          <p:cNvPr id="28" name="图片 27">
            <a:extLst>
              <a:ext uri="{FF2B5EF4-FFF2-40B4-BE49-F238E27FC236}">
                <a16:creationId xmlns:a16="http://schemas.microsoft.com/office/drawing/2014/main" id="{8CB5A7A0-7017-25D7-4645-FE4AC10D75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51143" y="4055908"/>
            <a:ext cx="4305300" cy="2138626"/>
          </a:xfrm>
          <a:prstGeom prst="rect">
            <a:avLst/>
          </a:prstGeom>
        </p:spPr>
      </p:pic>
      <p:pic>
        <p:nvPicPr>
          <p:cNvPr id="30" name="图片 29">
            <a:extLst>
              <a:ext uri="{FF2B5EF4-FFF2-40B4-BE49-F238E27FC236}">
                <a16:creationId xmlns:a16="http://schemas.microsoft.com/office/drawing/2014/main" id="{76B56D11-9CEA-C5C0-F6A6-19B1024C8E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67215" y="4114963"/>
            <a:ext cx="2731438" cy="2020516"/>
          </a:xfrm>
          <a:prstGeom prst="rect">
            <a:avLst/>
          </a:prstGeom>
        </p:spPr>
      </p:pic>
      <p:sp>
        <p:nvSpPr>
          <p:cNvPr id="32" name="文本框 31">
            <a:extLst>
              <a:ext uri="{FF2B5EF4-FFF2-40B4-BE49-F238E27FC236}">
                <a16:creationId xmlns:a16="http://schemas.microsoft.com/office/drawing/2014/main" id="{87E0E107-12AA-922D-155A-95496BCFF1E0}"/>
              </a:ext>
            </a:extLst>
          </p:cNvPr>
          <p:cNvSpPr txBox="1"/>
          <p:nvPr/>
        </p:nvSpPr>
        <p:spPr>
          <a:xfrm>
            <a:off x="1236960" y="6325134"/>
            <a:ext cx="1528762" cy="307777"/>
          </a:xfrm>
          <a:prstGeom prst="rect">
            <a:avLst/>
          </a:prstGeom>
          <a:noFill/>
        </p:spPr>
        <p:txBody>
          <a:bodyPr wrap="square">
            <a:spAutoFit/>
          </a:bodyPr>
          <a:lstStyle/>
          <a:p>
            <a:pPr algn="ctr"/>
            <a:r>
              <a:rPr lang="en-US" altLang="zh-CN" sz="1400" dirty="0">
                <a:latin typeface="+mn-ea"/>
              </a:rPr>
              <a:t>(a) </a:t>
            </a:r>
            <a:r>
              <a:rPr lang="zh-CN" altLang="en-US" sz="1400" dirty="0">
                <a:latin typeface="+mn-ea"/>
              </a:rPr>
              <a:t>切空间微调</a:t>
            </a:r>
            <a:endParaRPr lang="zh-CN" altLang="en-US" sz="1400" dirty="0"/>
          </a:p>
        </p:txBody>
      </p:sp>
      <p:sp>
        <p:nvSpPr>
          <p:cNvPr id="33" name="文本框 32">
            <a:extLst>
              <a:ext uri="{FF2B5EF4-FFF2-40B4-BE49-F238E27FC236}">
                <a16:creationId xmlns:a16="http://schemas.microsoft.com/office/drawing/2014/main" id="{3A5508F3-A523-5FA6-D7C2-94445755A50B}"/>
              </a:ext>
            </a:extLst>
          </p:cNvPr>
          <p:cNvSpPr txBox="1"/>
          <p:nvPr/>
        </p:nvSpPr>
        <p:spPr>
          <a:xfrm>
            <a:off x="4768553" y="6325133"/>
            <a:ext cx="1528762" cy="307777"/>
          </a:xfrm>
          <a:prstGeom prst="rect">
            <a:avLst/>
          </a:prstGeom>
          <a:noFill/>
        </p:spPr>
        <p:txBody>
          <a:bodyPr wrap="square">
            <a:spAutoFit/>
          </a:bodyPr>
          <a:lstStyle/>
          <a:p>
            <a:pPr algn="ctr"/>
            <a:r>
              <a:rPr lang="en-US" altLang="zh-CN" sz="1400" dirty="0"/>
              <a:t>(b) </a:t>
            </a:r>
            <a:r>
              <a:rPr lang="zh-CN" altLang="en-US" sz="1400" dirty="0"/>
              <a:t>架构转换</a:t>
            </a:r>
          </a:p>
        </p:txBody>
      </p:sp>
      <p:sp>
        <p:nvSpPr>
          <p:cNvPr id="35" name="文本框 34">
            <a:extLst>
              <a:ext uri="{FF2B5EF4-FFF2-40B4-BE49-F238E27FC236}">
                <a16:creationId xmlns:a16="http://schemas.microsoft.com/office/drawing/2014/main" id="{E82F42AD-277E-63B0-E70E-8F3391826FF5}"/>
              </a:ext>
            </a:extLst>
          </p:cNvPr>
          <p:cNvSpPr txBox="1"/>
          <p:nvPr/>
        </p:nvSpPr>
        <p:spPr>
          <a:xfrm>
            <a:off x="8939412" y="6296244"/>
            <a:ext cx="1528762" cy="307777"/>
          </a:xfrm>
          <a:prstGeom prst="rect">
            <a:avLst/>
          </a:prstGeom>
          <a:noFill/>
        </p:spPr>
        <p:txBody>
          <a:bodyPr wrap="square">
            <a:spAutoFit/>
          </a:bodyPr>
          <a:lstStyle/>
          <a:p>
            <a:pPr algn="ctr"/>
            <a:r>
              <a:rPr lang="en-US" altLang="zh-CN" sz="1400" dirty="0">
                <a:latin typeface="+mn-ea"/>
              </a:rPr>
              <a:t>(c) </a:t>
            </a:r>
            <a:r>
              <a:rPr lang="zh-CN" altLang="en-US" sz="1400" dirty="0">
                <a:latin typeface="+mn-ea"/>
              </a:rPr>
              <a:t>权重对齐</a:t>
            </a:r>
            <a:endParaRPr lang="zh-CN" altLang="en-US" sz="1400" dirty="0"/>
          </a:p>
        </p:txBody>
      </p:sp>
    </p:spTree>
    <p:extLst>
      <p:ext uri="{BB962C8B-B14F-4D97-AF65-F5344CB8AC3E}">
        <p14:creationId xmlns:p14="http://schemas.microsoft.com/office/powerpoint/2010/main" val="21142341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28592" y="776798"/>
            <a:ext cx="5070060" cy="5454498"/>
          </a:xfrm>
          <a:prstGeom prst="rect">
            <a:avLst/>
          </a:prstGeom>
          <a:effectLst>
            <a:innerShdw blurRad="63500" dist="50800" dir="16200000">
              <a:prstClr val="black">
                <a:alpha val="50000"/>
              </a:prstClr>
            </a:innerShdw>
          </a:effectLst>
        </p:spPr>
      </p:pic>
      <p:sp>
        <p:nvSpPr>
          <p:cNvPr id="4" name="TextBox 13"/>
          <p:cNvSpPr txBox="1"/>
          <p:nvPr/>
        </p:nvSpPr>
        <p:spPr>
          <a:xfrm>
            <a:off x="6625590" y="2809757"/>
            <a:ext cx="3696764" cy="646331"/>
          </a:xfrm>
          <a:prstGeom prst="rect">
            <a:avLst/>
          </a:prstGeom>
          <a:noFill/>
        </p:spPr>
        <p:txBody>
          <a:bodyPr wrap="square" rtlCol="0">
            <a:spAutoFit/>
          </a:bodyPr>
          <a:lstStyle/>
          <a:p>
            <a:pPr lvl="0" algn="ctr">
              <a:defRPr/>
            </a:pPr>
            <a:r>
              <a:rPr lang="en-US" altLang="zh-CN" sz="3600" dirty="0">
                <a:latin typeface="Lato" panose="020F0502020204030203" pitchFamily="34" charset="0"/>
              </a:rPr>
              <a:t>2.</a:t>
            </a:r>
            <a:r>
              <a:rPr lang="zh-CN" altLang="en-US" sz="3600" dirty="0">
                <a:latin typeface="Lato" panose="020F0502020204030203" pitchFamily="34" charset="0"/>
              </a:rPr>
              <a:t>线性微调</a:t>
            </a:r>
            <a:endParaRPr lang="en-US" altLang="zh-CN" sz="3600" b="1" dirty="0">
              <a:latin typeface="+mj-ea"/>
              <a:ea typeface="+mj-ea"/>
            </a:endParaRPr>
          </a:p>
        </p:txBody>
      </p:sp>
      <p:grpSp>
        <p:nvGrpSpPr>
          <p:cNvPr id="5" name="组合 4"/>
          <p:cNvGrpSpPr/>
          <p:nvPr/>
        </p:nvGrpSpPr>
        <p:grpSpPr>
          <a:xfrm>
            <a:off x="5741065" y="3837410"/>
            <a:ext cx="5863771" cy="57767"/>
            <a:chOff x="5280505" y="3963496"/>
            <a:chExt cx="5863771" cy="57767"/>
          </a:xfrm>
          <a:solidFill>
            <a:schemeClr val="tx1"/>
          </a:solidFill>
        </p:grpSpPr>
        <p:sp>
          <p:nvSpPr>
            <p:cNvPr id="6" name="任意多边形 16"/>
            <p:cNvSpPr/>
            <p:nvPr/>
          </p:nvSpPr>
          <p:spPr>
            <a:xfrm>
              <a:off x="5280505" y="3992380"/>
              <a:ext cx="5863771" cy="0"/>
            </a:xfrm>
            <a:custGeom>
              <a:avLst/>
              <a:gdLst>
                <a:gd name="connsiteX0" fmla="*/ 0 w 5863771"/>
                <a:gd name="connsiteY0" fmla="*/ 0 h 0"/>
                <a:gd name="connsiteX1" fmla="*/ 58057 w 5863771"/>
                <a:gd name="connsiteY1" fmla="*/ 0 h 0"/>
                <a:gd name="connsiteX2" fmla="*/ 5863771 w 5863771"/>
                <a:gd name="connsiteY2" fmla="*/ 0 h 0"/>
              </a:gdLst>
              <a:ahLst/>
              <a:cxnLst>
                <a:cxn ang="0">
                  <a:pos x="connsiteX0" y="connsiteY0"/>
                </a:cxn>
                <a:cxn ang="0">
                  <a:pos x="connsiteX1" y="connsiteY1"/>
                </a:cxn>
                <a:cxn ang="0">
                  <a:pos x="connsiteX2" y="connsiteY2"/>
                </a:cxn>
              </a:cxnLst>
              <a:rect l="l" t="t" r="r" b="b"/>
              <a:pathLst>
                <a:path w="5863771">
                  <a:moveTo>
                    <a:pt x="0" y="0"/>
                  </a:moveTo>
                  <a:lnTo>
                    <a:pt x="58057" y="0"/>
                  </a:lnTo>
                  <a:lnTo>
                    <a:pt x="5863771" y="0"/>
                  </a:lnTo>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sp>
          <p:nvSpPr>
            <p:cNvPr id="7" name="圆角矩形 17"/>
            <p:cNvSpPr/>
            <p:nvPr/>
          </p:nvSpPr>
          <p:spPr>
            <a:xfrm>
              <a:off x="7456740" y="3963496"/>
              <a:ext cx="1511300" cy="5776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grpSp>
      <p:grpSp>
        <p:nvGrpSpPr>
          <p:cNvPr id="9" name="组合 8"/>
          <p:cNvGrpSpPr/>
          <p:nvPr/>
        </p:nvGrpSpPr>
        <p:grpSpPr bwMode="auto">
          <a:xfrm>
            <a:off x="7782456" y="4205439"/>
            <a:ext cx="412709" cy="333006"/>
            <a:chOff x="0" y="0"/>
            <a:chExt cx="1088225" cy="869861"/>
          </a:xfrm>
          <a:solidFill>
            <a:schemeClr val="tx1"/>
          </a:solidFill>
        </p:grpSpPr>
        <p:sp>
          <p:nvSpPr>
            <p:cNvPr id="10" name="Freeform 17"/>
            <p:cNvSpPr>
              <a:spLocks noEditPoints="1" noChangeArrowheads="1"/>
            </p:cNvSpPr>
            <p:nvPr/>
          </p:nvSpPr>
          <p:spPr bwMode="auto">
            <a:xfrm>
              <a:off x="0" y="237562"/>
              <a:ext cx="824268" cy="632299"/>
            </a:xfrm>
            <a:custGeom>
              <a:avLst/>
              <a:gdLst>
                <a:gd name="T0" fmla="*/ 274 w 291"/>
                <a:gd name="T1" fmla="*/ 0 h 223"/>
                <a:gd name="T2" fmla="*/ 17 w 291"/>
                <a:gd name="T3" fmla="*/ 0 h 223"/>
                <a:gd name="T4" fmla="*/ 0 w 291"/>
                <a:gd name="T5" fmla="*/ 16 h 223"/>
                <a:gd name="T6" fmla="*/ 0 w 291"/>
                <a:gd name="T7" fmla="*/ 207 h 223"/>
                <a:gd name="T8" fmla="*/ 17 w 291"/>
                <a:gd name="T9" fmla="*/ 223 h 223"/>
                <a:gd name="T10" fmla="*/ 274 w 291"/>
                <a:gd name="T11" fmla="*/ 223 h 223"/>
                <a:gd name="T12" fmla="*/ 291 w 291"/>
                <a:gd name="T13" fmla="*/ 207 h 223"/>
                <a:gd name="T14" fmla="*/ 291 w 291"/>
                <a:gd name="T15" fmla="*/ 16 h 223"/>
                <a:gd name="T16" fmla="*/ 274 w 291"/>
                <a:gd name="T17" fmla="*/ 0 h 223"/>
                <a:gd name="T18" fmla="*/ 270 w 291"/>
                <a:gd name="T19" fmla="*/ 193 h 223"/>
                <a:gd name="T20" fmla="*/ 256 w 291"/>
                <a:gd name="T21" fmla="*/ 207 h 223"/>
                <a:gd name="T22" fmla="*/ 35 w 291"/>
                <a:gd name="T23" fmla="*/ 207 h 223"/>
                <a:gd name="T24" fmla="*/ 21 w 291"/>
                <a:gd name="T25" fmla="*/ 193 h 223"/>
                <a:gd name="T26" fmla="*/ 21 w 291"/>
                <a:gd name="T27" fmla="*/ 30 h 223"/>
                <a:gd name="T28" fmla="*/ 35 w 291"/>
                <a:gd name="T29" fmla="*/ 16 h 223"/>
                <a:gd name="T30" fmla="*/ 256 w 291"/>
                <a:gd name="T31" fmla="*/ 16 h 223"/>
                <a:gd name="T32" fmla="*/ 270 w 291"/>
                <a:gd name="T33" fmla="*/ 30 h 223"/>
                <a:gd name="T34" fmla="*/ 270 w 291"/>
                <a:gd name="T35" fmla="*/ 19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1"/>
                <a:gd name="T55" fmla="*/ 0 h 223"/>
                <a:gd name="T56" fmla="*/ 291 w 291"/>
                <a:gd name="T57" fmla="*/ 223 h 2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1" h="223">
                  <a:moveTo>
                    <a:pt x="274" y="0"/>
                  </a:moveTo>
                  <a:cubicBezTo>
                    <a:pt x="17" y="0"/>
                    <a:pt x="17" y="0"/>
                    <a:pt x="17" y="0"/>
                  </a:cubicBezTo>
                  <a:cubicBezTo>
                    <a:pt x="8" y="0"/>
                    <a:pt x="0" y="7"/>
                    <a:pt x="0" y="16"/>
                  </a:cubicBezTo>
                  <a:cubicBezTo>
                    <a:pt x="0" y="207"/>
                    <a:pt x="0" y="207"/>
                    <a:pt x="0" y="207"/>
                  </a:cubicBezTo>
                  <a:cubicBezTo>
                    <a:pt x="0" y="215"/>
                    <a:pt x="8" y="223"/>
                    <a:pt x="17" y="223"/>
                  </a:cubicBezTo>
                  <a:cubicBezTo>
                    <a:pt x="274" y="223"/>
                    <a:pt x="274" y="223"/>
                    <a:pt x="274" y="223"/>
                  </a:cubicBezTo>
                  <a:cubicBezTo>
                    <a:pt x="283" y="223"/>
                    <a:pt x="291" y="215"/>
                    <a:pt x="291" y="207"/>
                  </a:cubicBezTo>
                  <a:cubicBezTo>
                    <a:pt x="291" y="16"/>
                    <a:pt x="291" y="16"/>
                    <a:pt x="291" y="16"/>
                  </a:cubicBezTo>
                  <a:cubicBezTo>
                    <a:pt x="291" y="7"/>
                    <a:pt x="283" y="0"/>
                    <a:pt x="274" y="0"/>
                  </a:cubicBezTo>
                  <a:moveTo>
                    <a:pt x="270" y="193"/>
                  </a:moveTo>
                  <a:cubicBezTo>
                    <a:pt x="270" y="201"/>
                    <a:pt x="264" y="207"/>
                    <a:pt x="256" y="207"/>
                  </a:cubicBezTo>
                  <a:cubicBezTo>
                    <a:pt x="35" y="207"/>
                    <a:pt x="35" y="207"/>
                    <a:pt x="35" y="207"/>
                  </a:cubicBezTo>
                  <a:cubicBezTo>
                    <a:pt x="27" y="207"/>
                    <a:pt x="21" y="201"/>
                    <a:pt x="21" y="193"/>
                  </a:cubicBezTo>
                  <a:cubicBezTo>
                    <a:pt x="21" y="30"/>
                    <a:pt x="21" y="30"/>
                    <a:pt x="21" y="30"/>
                  </a:cubicBezTo>
                  <a:cubicBezTo>
                    <a:pt x="21" y="22"/>
                    <a:pt x="27" y="16"/>
                    <a:pt x="35" y="16"/>
                  </a:cubicBezTo>
                  <a:cubicBezTo>
                    <a:pt x="256" y="16"/>
                    <a:pt x="256" y="16"/>
                    <a:pt x="256" y="16"/>
                  </a:cubicBezTo>
                  <a:cubicBezTo>
                    <a:pt x="264" y="16"/>
                    <a:pt x="270" y="22"/>
                    <a:pt x="270" y="30"/>
                  </a:cubicBezTo>
                  <a:lnTo>
                    <a:pt x="270" y="19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1" name="Freeform 18"/>
            <p:cNvSpPr>
              <a:spLocks noChangeArrowheads="1"/>
            </p:cNvSpPr>
            <p:nvPr/>
          </p:nvSpPr>
          <p:spPr bwMode="auto">
            <a:xfrm>
              <a:off x="137978" y="110382"/>
              <a:ext cx="821868" cy="632299"/>
            </a:xfrm>
            <a:custGeom>
              <a:avLst/>
              <a:gdLst>
                <a:gd name="T0" fmla="*/ 274 w 290"/>
                <a:gd name="T1" fmla="*/ 0 h 223"/>
                <a:gd name="T2" fmla="*/ 16 w 290"/>
                <a:gd name="T3" fmla="*/ 0 h 223"/>
                <a:gd name="T4" fmla="*/ 0 w 290"/>
                <a:gd name="T5" fmla="*/ 16 h 223"/>
                <a:gd name="T6" fmla="*/ 0 w 290"/>
                <a:gd name="T7" fmla="*/ 25 h 223"/>
                <a:gd name="T8" fmla="*/ 249 w 290"/>
                <a:gd name="T9" fmla="*/ 25 h 223"/>
                <a:gd name="T10" fmla="*/ 265 w 290"/>
                <a:gd name="T11" fmla="*/ 42 h 223"/>
                <a:gd name="T12" fmla="*/ 265 w 290"/>
                <a:gd name="T13" fmla="*/ 223 h 223"/>
                <a:gd name="T14" fmla="*/ 274 w 290"/>
                <a:gd name="T15" fmla="*/ 223 h 223"/>
                <a:gd name="T16" fmla="*/ 290 w 290"/>
                <a:gd name="T17" fmla="*/ 207 h 223"/>
                <a:gd name="T18" fmla="*/ 290 w 290"/>
                <a:gd name="T19" fmla="*/ 16 h 223"/>
                <a:gd name="T20" fmla="*/ 274 w 29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3"/>
                <a:gd name="T35" fmla="*/ 290 w 29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3">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3"/>
                    <a:pt x="265" y="42"/>
                  </a:cubicBezTo>
                  <a:cubicBezTo>
                    <a:pt x="265" y="223"/>
                    <a:pt x="265" y="223"/>
                    <a:pt x="265" y="223"/>
                  </a:cubicBezTo>
                  <a:cubicBezTo>
                    <a:pt x="274" y="223"/>
                    <a:pt x="274" y="223"/>
                    <a:pt x="274" y="223"/>
                  </a:cubicBezTo>
                  <a:cubicBezTo>
                    <a:pt x="283" y="223"/>
                    <a:pt x="290" y="216"/>
                    <a:pt x="290" y="207"/>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2" name="Freeform 19"/>
            <p:cNvSpPr>
              <a:spLocks noChangeArrowheads="1"/>
            </p:cNvSpPr>
            <p:nvPr/>
          </p:nvSpPr>
          <p:spPr bwMode="auto">
            <a:xfrm>
              <a:off x="266357" y="0"/>
              <a:ext cx="821868" cy="628699"/>
            </a:xfrm>
            <a:custGeom>
              <a:avLst/>
              <a:gdLst>
                <a:gd name="T0" fmla="*/ 274 w 290"/>
                <a:gd name="T1" fmla="*/ 0 h 222"/>
                <a:gd name="T2" fmla="*/ 16 w 290"/>
                <a:gd name="T3" fmla="*/ 0 h 222"/>
                <a:gd name="T4" fmla="*/ 0 w 290"/>
                <a:gd name="T5" fmla="*/ 16 h 222"/>
                <a:gd name="T6" fmla="*/ 0 w 290"/>
                <a:gd name="T7" fmla="*/ 25 h 222"/>
                <a:gd name="T8" fmla="*/ 249 w 290"/>
                <a:gd name="T9" fmla="*/ 25 h 222"/>
                <a:gd name="T10" fmla="*/ 265 w 290"/>
                <a:gd name="T11" fmla="*/ 41 h 222"/>
                <a:gd name="T12" fmla="*/ 265 w 290"/>
                <a:gd name="T13" fmla="*/ 222 h 222"/>
                <a:gd name="T14" fmla="*/ 274 w 290"/>
                <a:gd name="T15" fmla="*/ 222 h 222"/>
                <a:gd name="T16" fmla="*/ 290 w 290"/>
                <a:gd name="T17" fmla="*/ 206 h 222"/>
                <a:gd name="T18" fmla="*/ 290 w 290"/>
                <a:gd name="T19" fmla="*/ 16 h 222"/>
                <a:gd name="T20" fmla="*/ 274 w 290"/>
                <a:gd name="T21" fmla="*/ 0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2"/>
                <a:gd name="T35" fmla="*/ 290 w 290"/>
                <a:gd name="T36" fmla="*/ 222 h 2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2">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2"/>
                    <a:pt x="265" y="41"/>
                  </a:cubicBezTo>
                  <a:cubicBezTo>
                    <a:pt x="265" y="222"/>
                    <a:pt x="265" y="222"/>
                    <a:pt x="265" y="222"/>
                  </a:cubicBezTo>
                  <a:cubicBezTo>
                    <a:pt x="274" y="222"/>
                    <a:pt x="274" y="222"/>
                    <a:pt x="274" y="222"/>
                  </a:cubicBezTo>
                  <a:cubicBezTo>
                    <a:pt x="283" y="222"/>
                    <a:pt x="290" y="215"/>
                    <a:pt x="290" y="206"/>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3" name="Freeform 20"/>
            <p:cNvSpPr>
              <a:spLocks noChangeArrowheads="1"/>
            </p:cNvSpPr>
            <p:nvPr/>
          </p:nvSpPr>
          <p:spPr bwMode="auto">
            <a:xfrm>
              <a:off x="110382" y="422332"/>
              <a:ext cx="569909" cy="353943"/>
            </a:xfrm>
            <a:custGeom>
              <a:avLst/>
              <a:gdLst>
                <a:gd name="T0" fmla="*/ 71 w 201"/>
                <a:gd name="T1" fmla="*/ 5 h 125"/>
                <a:gd name="T2" fmla="*/ 11 w 201"/>
                <a:gd name="T3" fmla="*/ 109 h 125"/>
                <a:gd name="T4" fmla="*/ 11 w 201"/>
                <a:gd name="T5" fmla="*/ 124 h 125"/>
                <a:gd name="T6" fmla="*/ 192 w 201"/>
                <a:gd name="T7" fmla="*/ 124 h 125"/>
                <a:gd name="T8" fmla="*/ 192 w 201"/>
                <a:gd name="T9" fmla="*/ 108 h 125"/>
                <a:gd name="T10" fmla="*/ 151 w 201"/>
                <a:gd name="T11" fmla="*/ 47 h 125"/>
                <a:gd name="T12" fmla="*/ 117 w 201"/>
                <a:gd name="T13" fmla="*/ 86 h 125"/>
                <a:gd name="T14" fmla="*/ 110 w 201"/>
                <a:gd name="T15" fmla="*/ 81 h 125"/>
                <a:gd name="T16" fmla="*/ 122 w 201"/>
                <a:gd name="T17" fmla="*/ 65 h 125"/>
                <a:gd name="T18" fmla="*/ 81 w 201"/>
                <a:gd name="T19" fmla="*/ 5 h 125"/>
                <a:gd name="T20" fmla="*/ 71 w 201"/>
                <a:gd name="T21" fmla="*/ 5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25"/>
                <a:gd name="T35" fmla="*/ 201 w 201"/>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25">
                  <a:moveTo>
                    <a:pt x="71" y="5"/>
                  </a:moveTo>
                  <a:cubicBezTo>
                    <a:pt x="11" y="109"/>
                    <a:pt x="11" y="109"/>
                    <a:pt x="11" y="109"/>
                  </a:cubicBezTo>
                  <a:cubicBezTo>
                    <a:pt x="11" y="109"/>
                    <a:pt x="0" y="124"/>
                    <a:pt x="11" y="124"/>
                  </a:cubicBezTo>
                  <a:cubicBezTo>
                    <a:pt x="25" y="125"/>
                    <a:pt x="192" y="124"/>
                    <a:pt x="192" y="124"/>
                  </a:cubicBezTo>
                  <a:cubicBezTo>
                    <a:pt x="192" y="124"/>
                    <a:pt x="201" y="121"/>
                    <a:pt x="192" y="108"/>
                  </a:cubicBezTo>
                  <a:cubicBezTo>
                    <a:pt x="182" y="94"/>
                    <a:pt x="158" y="46"/>
                    <a:pt x="151" y="47"/>
                  </a:cubicBezTo>
                  <a:cubicBezTo>
                    <a:pt x="144" y="47"/>
                    <a:pt x="120" y="83"/>
                    <a:pt x="117" y="86"/>
                  </a:cubicBezTo>
                  <a:cubicBezTo>
                    <a:pt x="115" y="89"/>
                    <a:pt x="108" y="84"/>
                    <a:pt x="110" y="81"/>
                  </a:cubicBezTo>
                  <a:cubicBezTo>
                    <a:pt x="116" y="74"/>
                    <a:pt x="122" y="65"/>
                    <a:pt x="122" y="65"/>
                  </a:cubicBezTo>
                  <a:cubicBezTo>
                    <a:pt x="122" y="65"/>
                    <a:pt x="84" y="9"/>
                    <a:pt x="81" y="5"/>
                  </a:cubicBezTo>
                  <a:cubicBezTo>
                    <a:pt x="78" y="0"/>
                    <a:pt x="73" y="1"/>
                    <a:pt x="71" y="5"/>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4" name="Oval 21"/>
            <p:cNvSpPr>
              <a:spLocks noChangeArrowheads="1"/>
            </p:cNvSpPr>
            <p:nvPr/>
          </p:nvSpPr>
          <p:spPr bwMode="auto">
            <a:xfrm>
              <a:off x="563909" y="331147"/>
              <a:ext cx="101984" cy="99584"/>
            </a:xfrm>
            <a:prstGeom prst="ellipse">
              <a:avLst/>
            </a:pr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5" name="组合 14"/>
          <p:cNvGrpSpPr/>
          <p:nvPr/>
        </p:nvGrpSpPr>
        <p:grpSpPr bwMode="auto">
          <a:xfrm>
            <a:off x="9791433" y="4205439"/>
            <a:ext cx="329894" cy="333006"/>
            <a:chOff x="0" y="0"/>
            <a:chExt cx="881859" cy="881859"/>
          </a:xfrm>
          <a:solidFill>
            <a:schemeClr val="tx1"/>
          </a:solidFill>
        </p:grpSpPr>
        <p:sp>
          <p:nvSpPr>
            <p:cNvPr id="16" name="Freeform 22"/>
            <p:cNvSpPr>
              <a:spLocks noEditPoints="1" noChangeArrowheads="1"/>
            </p:cNvSpPr>
            <p:nvPr/>
          </p:nvSpPr>
          <p:spPr bwMode="auto">
            <a:xfrm>
              <a:off x="0" y="0"/>
              <a:ext cx="881859" cy="881859"/>
            </a:xfrm>
            <a:custGeom>
              <a:avLst/>
              <a:gdLst>
                <a:gd name="T0" fmla="*/ 155 w 311"/>
                <a:gd name="T1" fmla="*/ 0 h 311"/>
                <a:gd name="T2" fmla="*/ 0 w 311"/>
                <a:gd name="T3" fmla="*/ 155 h 311"/>
                <a:gd name="T4" fmla="*/ 155 w 311"/>
                <a:gd name="T5" fmla="*/ 311 h 311"/>
                <a:gd name="T6" fmla="*/ 311 w 311"/>
                <a:gd name="T7" fmla="*/ 155 h 311"/>
                <a:gd name="T8" fmla="*/ 155 w 311"/>
                <a:gd name="T9" fmla="*/ 0 h 311"/>
                <a:gd name="T10" fmla="*/ 155 w 311"/>
                <a:gd name="T11" fmla="*/ 289 h 311"/>
                <a:gd name="T12" fmla="*/ 21 w 311"/>
                <a:gd name="T13" fmla="*/ 155 h 311"/>
                <a:gd name="T14" fmla="*/ 155 w 311"/>
                <a:gd name="T15" fmla="*/ 21 h 311"/>
                <a:gd name="T16" fmla="*/ 289 w 311"/>
                <a:gd name="T17" fmla="*/ 155 h 311"/>
                <a:gd name="T18" fmla="*/ 155 w 311"/>
                <a:gd name="T19" fmla="*/ 289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1"/>
                <a:gd name="T31" fmla="*/ 0 h 311"/>
                <a:gd name="T32" fmla="*/ 311 w 311"/>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1" h="311">
                  <a:moveTo>
                    <a:pt x="155" y="0"/>
                  </a:moveTo>
                  <a:cubicBezTo>
                    <a:pt x="70" y="0"/>
                    <a:pt x="0" y="69"/>
                    <a:pt x="0" y="155"/>
                  </a:cubicBezTo>
                  <a:cubicBezTo>
                    <a:pt x="0" y="241"/>
                    <a:pt x="70" y="311"/>
                    <a:pt x="155" y="311"/>
                  </a:cubicBezTo>
                  <a:cubicBezTo>
                    <a:pt x="241" y="311"/>
                    <a:pt x="311" y="241"/>
                    <a:pt x="311" y="155"/>
                  </a:cubicBezTo>
                  <a:cubicBezTo>
                    <a:pt x="311" y="69"/>
                    <a:pt x="241" y="0"/>
                    <a:pt x="155" y="0"/>
                  </a:cubicBezTo>
                  <a:moveTo>
                    <a:pt x="155" y="289"/>
                  </a:moveTo>
                  <a:cubicBezTo>
                    <a:pt x="81" y="289"/>
                    <a:pt x="21" y="229"/>
                    <a:pt x="21" y="155"/>
                  </a:cubicBezTo>
                  <a:cubicBezTo>
                    <a:pt x="21" y="81"/>
                    <a:pt x="81" y="21"/>
                    <a:pt x="155" y="21"/>
                  </a:cubicBezTo>
                  <a:cubicBezTo>
                    <a:pt x="229" y="21"/>
                    <a:pt x="289" y="81"/>
                    <a:pt x="289" y="155"/>
                  </a:cubicBezTo>
                  <a:cubicBezTo>
                    <a:pt x="289" y="229"/>
                    <a:pt x="229" y="289"/>
                    <a:pt x="155" y="289"/>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7" name="Freeform 23"/>
            <p:cNvSpPr>
              <a:spLocks noChangeArrowheads="1"/>
            </p:cNvSpPr>
            <p:nvPr/>
          </p:nvSpPr>
          <p:spPr bwMode="auto">
            <a:xfrm>
              <a:off x="235162" y="70789"/>
              <a:ext cx="430731" cy="428331"/>
            </a:xfrm>
            <a:custGeom>
              <a:avLst/>
              <a:gdLst>
                <a:gd name="T0" fmla="*/ 145 w 152"/>
                <a:gd name="T1" fmla="*/ 53 h 151"/>
                <a:gd name="T2" fmla="*/ 144 w 152"/>
                <a:gd name="T3" fmla="*/ 52 h 151"/>
                <a:gd name="T4" fmla="*/ 125 w 152"/>
                <a:gd name="T5" fmla="*/ 52 h 151"/>
                <a:gd name="T6" fmla="*/ 77 w 152"/>
                <a:gd name="T7" fmla="*/ 106 h 151"/>
                <a:gd name="T8" fmla="*/ 31 w 152"/>
                <a:gd name="T9" fmla="*/ 12 h 151"/>
                <a:gd name="T10" fmla="*/ 11 w 152"/>
                <a:gd name="T11" fmla="*/ 4 h 151"/>
                <a:gd name="T12" fmla="*/ 10 w 152"/>
                <a:gd name="T13" fmla="*/ 4 h 151"/>
                <a:gd name="T14" fmla="*/ 4 w 152"/>
                <a:gd name="T15" fmla="*/ 25 h 151"/>
                <a:gd name="T16" fmla="*/ 60 w 152"/>
                <a:gd name="T17" fmla="*/ 140 h 151"/>
                <a:gd name="T18" fmla="*/ 79 w 152"/>
                <a:gd name="T19" fmla="*/ 148 h 151"/>
                <a:gd name="T20" fmla="*/ 79 w 152"/>
                <a:gd name="T21" fmla="*/ 148 h 151"/>
                <a:gd name="T22" fmla="*/ 80 w 152"/>
                <a:gd name="T23" fmla="*/ 148 h 151"/>
                <a:gd name="T24" fmla="*/ 81 w 152"/>
                <a:gd name="T25" fmla="*/ 147 h 151"/>
                <a:gd name="T26" fmla="*/ 87 w 152"/>
                <a:gd name="T27" fmla="*/ 141 h 151"/>
                <a:gd name="T28" fmla="*/ 148 w 152"/>
                <a:gd name="T29" fmla="*/ 72 h 151"/>
                <a:gd name="T30" fmla="*/ 145 w 152"/>
                <a:gd name="T31" fmla="*/ 53 h 1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1"/>
                <a:gd name="T50" fmla="*/ 152 w 152"/>
                <a:gd name="T51" fmla="*/ 151 h 1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1">
                  <a:moveTo>
                    <a:pt x="145" y="53"/>
                  </a:moveTo>
                  <a:cubicBezTo>
                    <a:pt x="144" y="52"/>
                    <a:pt x="144" y="52"/>
                    <a:pt x="144" y="52"/>
                  </a:cubicBezTo>
                  <a:cubicBezTo>
                    <a:pt x="138" y="47"/>
                    <a:pt x="129" y="47"/>
                    <a:pt x="125" y="52"/>
                  </a:cubicBezTo>
                  <a:cubicBezTo>
                    <a:pt x="77" y="106"/>
                    <a:pt x="77" y="106"/>
                    <a:pt x="77" y="106"/>
                  </a:cubicBezTo>
                  <a:cubicBezTo>
                    <a:pt x="31" y="12"/>
                    <a:pt x="31" y="12"/>
                    <a:pt x="31" y="12"/>
                  </a:cubicBezTo>
                  <a:cubicBezTo>
                    <a:pt x="27" y="4"/>
                    <a:pt x="18" y="0"/>
                    <a:pt x="11" y="4"/>
                  </a:cubicBezTo>
                  <a:cubicBezTo>
                    <a:pt x="10" y="4"/>
                    <a:pt x="10" y="4"/>
                    <a:pt x="10" y="4"/>
                  </a:cubicBezTo>
                  <a:cubicBezTo>
                    <a:pt x="3" y="8"/>
                    <a:pt x="0" y="17"/>
                    <a:pt x="4" y="25"/>
                  </a:cubicBezTo>
                  <a:cubicBezTo>
                    <a:pt x="60" y="140"/>
                    <a:pt x="60" y="140"/>
                    <a:pt x="60" y="140"/>
                  </a:cubicBezTo>
                  <a:cubicBezTo>
                    <a:pt x="63" y="148"/>
                    <a:pt x="72" y="151"/>
                    <a:pt x="79" y="148"/>
                  </a:cubicBezTo>
                  <a:cubicBezTo>
                    <a:pt x="79" y="148"/>
                    <a:pt x="79" y="148"/>
                    <a:pt x="79" y="148"/>
                  </a:cubicBezTo>
                  <a:cubicBezTo>
                    <a:pt x="79" y="148"/>
                    <a:pt x="80" y="148"/>
                    <a:pt x="80" y="148"/>
                  </a:cubicBezTo>
                  <a:cubicBezTo>
                    <a:pt x="81" y="147"/>
                    <a:pt x="81" y="147"/>
                    <a:pt x="81" y="147"/>
                  </a:cubicBezTo>
                  <a:cubicBezTo>
                    <a:pt x="84" y="146"/>
                    <a:pt x="86" y="144"/>
                    <a:pt x="87" y="141"/>
                  </a:cubicBezTo>
                  <a:cubicBezTo>
                    <a:pt x="148" y="72"/>
                    <a:pt x="148" y="72"/>
                    <a:pt x="148" y="72"/>
                  </a:cubicBezTo>
                  <a:cubicBezTo>
                    <a:pt x="152" y="67"/>
                    <a:pt x="151" y="59"/>
                    <a:pt x="145" y="53"/>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8" name="组合 17"/>
          <p:cNvGrpSpPr/>
          <p:nvPr/>
        </p:nvGrpSpPr>
        <p:grpSpPr bwMode="auto">
          <a:xfrm>
            <a:off x="8473972" y="4205439"/>
            <a:ext cx="397959" cy="333006"/>
            <a:chOff x="0" y="0"/>
            <a:chExt cx="961046" cy="796672"/>
          </a:xfrm>
          <a:solidFill>
            <a:schemeClr val="tx1"/>
          </a:solidFill>
        </p:grpSpPr>
        <p:sp>
          <p:nvSpPr>
            <p:cNvPr id="19" name="Freeform 24"/>
            <p:cNvSpPr>
              <a:spLocks noEditPoints="1" noChangeArrowheads="1"/>
            </p:cNvSpPr>
            <p:nvPr/>
          </p:nvSpPr>
          <p:spPr bwMode="auto">
            <a:xfrm>
              <a:off x="0" y="0"/>
              <a:ext cx="961046" cy="796672"/>
            </a:xfrm>
            <a:custGeom>
              <a:avLst/>
              <a:gdLst>
                <a:gd name="T0" fmla="*/ 321 w 339"/>
                <a:gd name="T1" fmla="*/ 0 h 281"/>
                <a:gd name="T2" fmla="*/ 18 w 339"/>
                <a:gd name="T3" fmla="*/ 0 h 281"/>
                <a:gd name="T4" fmla="*/ 0 w 339"/>
                <a:gd name="T5" fmla="*/ 18 h 281"/>
                <a:gd name="T6" fmla="*/ 0 w 339"/>
                <a:gd name="T7" fmla="*/ 263 h 281"/>
                <a:gd name="T8" fmla="*/ 18 w 339"/>
                <a:gd name="T9" fmla="*/ 281 h 281"/>
                <a:gd name="T10" fmla="*/ 321 w 339"/>
                <a:gd name="T11" fmla="*/ 281 h 281"/>
                <a:gd name="T12" fmla="*/ 339 w 339"/>
                <a:gd name="T13" fmla="*/ 263 h 281"/>
                <a:gd name="T14" fmla="*/ 339 w 339"/>
                <a:gd name="T15" fmla="*/ 18 h 281"/>
                <a:gd name="T16" fmla="*/ 321 w 339"/>
                <a:gd name="T17" fmla="*/ 0 h 281"/>
                <a:gd name="T18" fmla="*/ 316 w 339"/>
                <a:gd name="T19" fmla="*/ 246 h 281"/>
                <a:gd name="T20" fmla="*/ 301 w 339"/>
                <a:gd name="T21" fmla="*/ 262 h 281"/>
                <a:gd name="T22" fmla="*/ 38 w 339"/>
                <a:gd name="T23" fmla="*/ 262 h 281"/>
                <a:gd name="T24" fmla="*/ 23 w 339"/>
                <a:gd name="T25" fmla="*/ 246 h 281"/>
                <a:gd name="T26" fmla="*/ 23 w 339"/>
                <a:gd name="T27" fmla="*/ 35 h 281"/>
                <a:gd name="T28" fmla="*/ 38 w 339"/>
                <a:gd name="T29" fmla="*/ 19 h 281"/>
                <a:gd name="T30" fmla="*/ 301 w 339"/>
                <a:gd name="T31" fmla="*/ 19 h 281"/>
                <a:gd name="T32" fmla="*/ 316 w 339"/>
                <a:gd name="T33" fmla="*/ 35 h 281"/>
                <a:gd name="T34" fmla="*/ 316 w 339"/>
                <a:gd name="T35" fmla="*/ 246 h 2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9"/>
                <a:gd name="T55" fmla="*/ 0 h 281"/>
                <a:gd name="T56" fmla="*/ 339 w 339"/>
                <a:gd name="T57" fmla="*/ 281 h 2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9" h="281">
                  <a:moveTo>
                    <a:pt x="321" y="0"/>
                  </a:moveTo>
                  <a:cubicBezTo>
                    <a:pt x="18" y="0"/>
                    <a:pt x="18" y="0"/>
                    <a:pt x="18" y="0"/>
                  </a:cubicBezTo>
                  <a:cubicBezTo>
                    <a:pt x="8" y="0"/>
                    <a:pt x="0" y="8"/>
                    <a:pt x="0" y="18"/>
                  </a:cubicBezTo>
                  <a:cubicBezTo>
                    <a:pt x="0" y="263"/>
                    <a:pt x="0" y="263"/>
                    <a:pt x="0" y="263"/>
                  </a:cubicBezTo>
                  <a:cubicBezTo>
                    <a:pt x="0" y="273"/>
                    <a:pt x="8" y="281"/>
                    <a:pt x="18" y="281"/>
                  </a:cubicBezTo>
                  <a:cubicBezTo>
                    <a:pt x="321" y="281"/>
                    <a:pt x="321" y="281"/>
                    <a:pt x="321" y="281"/>
                  </a:cubicBezTo>
                  <a:cubicBezTo>
                    <a:pt x="331" y="281"/>
                    <a:pt x="339" y="273"/>
                    <a:pt x="339" y="263"/>
                  </a:cubicBezTo>
                  <a:cubicBezTo>
                    <a:pt x="339" y="18"/>
                    <a:pt x="339" y="18"/>
                    <a:pt x="339" y="18"/>
                  </a:cubicBezTo>
                  <a:cubicBezTo>
                    <a:pt x="339" y="8"/>
                    <a:pt x="331" y="0"/>
                    <a:pt x="321" y="0"/>
                  </a:cubicBezTo>
                  <a:moveTo>
                    <a:pt x="316" y="246"/>
                  </a:moveTo>
                  <a:cubicBezTo>
                    <a:pt x="316" y="255"/>
                    <a:pt x="309" y="262"/>
                    <a:pt x="301" y="262"/>
                  </a:cubicBezTo>
                  <a:cubicBezTo>
                    <a:pt x="38" y="262"/>
                    <a:pt x="38" y="262"/>
                    <a:pt x="38" y="262"/>
                  </a:cubicBezTo>
                  <a:cubicBezTo>
                    <a:pt x="30" y="262"/>
                    <a:pt x="23" y="255"/>
                    <a:pt x="23" y="246"/>
                  </a:cubicBezTo>
                  <a:cubicBezTo>
                    <a:pt x="23" y="35"/>
                    <a:pt x="23" y="35"/>
                    <a:pt x="23" y="35"/>
                  </a:cubicBezTo>
                  <a:cubicBezTo>
                    <a:pt x="23" y="26"/>
                    <a:pt x="30" y="19"/>
                    <a:pt x="38" y="19"/>
                  </a:cubicBezTo>
                  <a:cubicBezTo>
                    <a:pt x="301" y="19"/>
                    <a:pt x="301" y="19"/>
                    <a:pt x="301" y="19"/>
                  </a:cubicBezTo>
                  <a:cubicBezTo>
                    <a:pt x="309" y="19"/>
                    <a:pt x="316" y="26"/>
                    <a:pt x="316" y="35"/>
                  </a:cubicBezTo>
                  <a:lnTo>
                    <a:pt x="316" y="24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0" name="Freeform 25"/>
            <p:cNvSpPr>
              <a:spLocks noChangeArrowheads="1"/>
            </p:cNvSpPr>
            <p:nvPr/>
          </p:nvSpPr>
          <p:spPr bwMode="auto">
            <a:xfrm>
              <a:off x="176371"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1" name="Freeform 26"/>
            <p:cNvSpPr>
              <a:spLocks noChangeArrowheads="1"/>
            </p:cNvSpPr>
            <p:nvPr/>
          </p:nvSpPr>
          <p:spPr bwMode="auto">
            <a:xfrm>
              <a:off x="176371"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2" name="Freeform 27"/>
            <p:cNvSpPr>
              <a:spLocks noChangeArrowheads="1"/>
            </p:cNvSpPr>
            <p:nvPr/>
          </p:nvSpPr>
          <p:spPr bwMode="auto">
            <a:xfrm>
              <a:off x="346744"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3" name="Freeform 28"/>
            <p:cNvSpPr>
              <a:spLocks noChangeArrowheads="1"/>
            </p:cNvSpPr>
            <p:nvPr/>
          </p:nvSpPr>
          <p:spPr bwMode="auto">
            <a:xfrm>
              <a:off x="346744"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4" name="Freeform 29"/>
            <p:cNvSpPr>
              <a:spLocks noChangeArrowheads="1"/>
            </p:cNvSpPr>
            <p:nvPr/>
          </p:nvSpPr>
          <p:spPr bwMode="auto">
            <a:xfrm>
              <a:off x="346744"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5" name="Freeform 30"/>
            <p:cNvSpPr>
              <a:spLocks noChangeArrowheads="1"/>
            </p:cNvSpPr>
            <p:nvPr/>
          </p:nvSpPr>
          <p:spPr bwMode="auto">
            <a:xfrm>
              <a:off x="519516" y="116382"/>
              <a:ext cx="83987"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6" name="Freeform 31"/>
            <p:cNvSpPr>
              <a:spLocks noChangeArrowheads="1"/>
            </p:cNvSpPr>
            <p:nvPr/>
          </p:nvSpPr>
          <p:spPr bwMode="auto">
            <a:xfrm>
              <a:off x="519516" y="274756"/>
              <a:ext cx="83987"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7" name="Freeform 32"/>
            <p:cNvSpPr>
              <a:spLocks noChangeArrowheads="1"/>
            </p:cNvSpPr>
            <p:nvPr/>
          </p:nvSpPr>
          <p:spPr bwMode="auto">
            <a:xfrm>
              <a:off x="688689" y="116382"/>
              <a:ext cx="85186"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8" name="Freeform 33"/>
            <p:cNvSpPr>
              <a:spLocks noChangeArrowheads="1"/>
            </p:cNvSpPr>
            <p:nvPr/>
          </p:nvSpPr>
          <p:spPr bwMode="auto">
            <a:xfrm>
              <a:off x="688689" y="274756"/>
              <a:ext cx="85186"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9" name="Freeform 34"/>
            <p:cNvSpPr>
              <a:spLocks noChangeArrowheads="1"/>
            </p:cNvSpPr>
            <p:nvPr/>
          </p:nvSpPr>
          <p:spPr bwMode="auto">
            <a:xfrm>
              <a:off x="176371"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sp>
        <p:nvSpPr>
          <p:cNvPr id="30" name="Freeform 84"/>
          <p:cNvSpPr>
            <a:spLocks noChangeAspect="1" noEditPoints="1" noChangeArrowheads="1"/>
          </p:cNvSpPr>
          <p:nvPr/>
        </p:nvSpPr>
        <p:spPr bwMode="auto">
          <a:xfrm>
            <a:off x="7169827" y="4205438"/>
            <a:ext cx="333822" cy="333006"/>
          </a:xfrm>
          <a:custGeom>
            <a:avLst/>
            <a:gdLst>
              <a:gd name="T0" fmla="*/ 170 w 170"/>
              <a:gd name="T1" fmla="*/ 0 h 168"/>
              <a:gd name="T2" fmla="*/ 162 w 170"/>
              <a:gd name="T3" fmla="*/ 16 h 168"/>
              <a:gd name="T4" fmla="*/ 170 w 170"/>
              <a:gd name="T5" fmla="*/ 103 h 168"/>
              <a:gd name="T6" fmla="*/ 93 w 170"/>
              <a:gd name="T7" fmla="*/ 119 h 168"/>
              <a:gd name="T8" fmla="*/ 128 w 170"/>
              <a:gd name="T9" fmla="*/ 152 h 168"/>
              <a:gd name="T10" fmla="*/ 42 w 170"/>
              <a:gd name="T11" fmla="*/ 168 h 168"/>
              <a:gd name="T12" fmla="*/ 77 w 170"/>
              <a:gd name="T13" fmla="*/ 152 h 168"/>
              <a:gd name="T14" fmla="*/ 0 w 170"/>
              <a:gd name="T15" fmla="*/ 119 h 168"/>
              <a:gd name="T16" fmla="*/ 6 w 170"/>
              <a:gd name="T17" fmla="*/ 103 h 168"/>
              <a:gd name="T18" fmla="*/ 0 w 170"/>
              <a:gd name="T19" fmla="*/ 16 h 168"/>
              <a:gd name="T20" fmla="*/ 0 w 170"/>
              <a:gd name="T21" fmla="*/ 0 h 168"/>
              <a:gd name="T22" fmla="*/ 122 w 170"/>
              <a:gd name="T23" fmla="*/ 40 h 168"/>
              <a:gd name="T24" fmla="*/ 115 w 170"/>
              <a:gd name="T25" fmla="*/ 44 h 168"/>
              <a:gd name="T26" fmla="*/ 75 w 170"/>
              <a:gd name="T27" fmla="*/ 52 h 168"/>
              <a:gd name="T28" fmla="*/ 73 w 170"/>
              <a:gd name="T29" fmla="*/ 50 h 168"/>
              <a:gd name="T30" fmla="*/ 50 w 170"/>
              <a:gd name="T31" fmla="*/ 67 h 168"/>
              <a:gd name="T32" fmla="*/ 85 w 170"/>
              <a:gd name="T33" fmla="*/ 65 h 168"/>
              <a:gd name="T34" fmla="*/ 89 w 170"/>
              <a:gd name="T35" fmla="*/ 67 h 168"/>
              <a:gd name="T36" fmla="*/ 120 w 170"/>
              <a:gd name="T37" fmla="*/ 52 h 168"/>
              <a:gd name="T38" fmla="*/ 128 w 170"/>
              <a:gd name="T39" fmla="*/ 40 h 168"/>
              <a:gd name="T40" fmla="*/ 113 w 170"/>
              <a:gd name="T41" fmla="*/ 58 h 168"/>
              <a:gd name="T42" fmla="*/ 122 w 170"/>
              <a:gd name="T43" fmla="*/ 85 h 168"/>
              <a:gd name="T44" fmla="*/ 113 w 170"/>
              <a:gd name="T45" fmla="*/ 58 h 168"/>
              <a:gd name="T46" fmla="*/ 101 w 170"/>
              <a:gd name="T47" fmla="*/ 67 h 168"/>
              <a:gd name="T48" fmla="*/ 109 w 170"/>
              <a:gd name="T49" fmla="*/ 85 h 168"/>
              <a:gd name="T50" fmla="*/ 101 w 170"/>
              <a:gd name="T51" fmla="*/ 67 h 168"/>
              <a:gd name="T52" fmla="*/ 87 w 170"/>
              <a:gd name="T53" fmla="*/ 77 h 168"/>
              <a:gd name="T54" fmla="*/ 95 w 170"/>
              <a:gd name="T55" fmla="*/ 85 h 168"/>
              <a:gd name="T56" fmla="*/ 87 w 170"/>
              <a:gd name="T57" fmla="*/ 77 h 168"/>
              <a:gd name="T58" fmla="*/ 75 w 170"/>
              <a:gd name="T59" fmla="*/ 69 h 168"/>
              <a:gd name="T60" fmla="*/ 83 w 170"/>
              <a:gd name="T61" fmla="*/ 85 h 168"/>
              <a:gd name="T62" fmla="*/ 75 w 170"/>
              <a:gd name="T63" fmla="*/ 69 h 168"/>
              <a:gd name="T64" fmla="*/ 63 w 170"/>
              <a:gd name="T65" fmla="*/ 69 h 168"/>
              <a:gd name="T66" fmla="*/ 71 w 170"/>
              <a:gd name="T67" fmla="*/ 85 h 168"/>
              <a:gd name="T68" fmla="*/ 63 w 170"/>
              <a:gd name="T69" fmla="*/ 69 h 168"/>
              <a:gd name="T70" fmla="*/ 48 w 170"/>
              <a:gd name="T71" fmla="*/ 73 h 168"/>
              <a:gd name="T72" fmla="*/ 56 w 170"/>
              <a:gd name="T73" fmla="*/ 85 h 168"/>
              <a:gd name="T74" fmla="*/ 48 w 170"/>
              <a:gd name="T75" fmla="*/ 73 h 168"/>
              <a:gd name="T76" fmla="*/ 146 w 170"/>
              <a:gd name="T77" fmla="*/ 18 h 168"/>
              <a:gd name="T78" fmla="*/ 24 w 170"/>
              <a:gd name="T79" fmla="*/ 101 h 168"/>
              <a:gd name="T80" fmla="*/ 146 w 170"/>
              <a:gd name="T81" fmla="*/ 18 h 1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
              <a:gd name="T124" fmla="*/ 0 h 168"/>
              <a:gd name="T125" fmla="*/ 170 w 170"/>
              <a:gd name="T126" fmla="*/ 168 h 1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 h="168">
                <a:moveTo>
                  <a:pt x="0" y="0"/>
                </a:moveTo>
                <a:lnTo>
                  <a:pt x="170" y="0"/>
                </a:lnTo>
                <a:lnTo>
                  <a:pt x="170" y="16"/>
                </a:lnTo>
                <a:lnTo>
                  <a:pt x="162" y="16"/>
                </a:lnTo>
                <a:lnTo>
                  <a:pt x="162" y="103"/>
                </a:lnTo>
                <a:lnTo>
                  <a:pt x="170" y="103"/>
                </a:lnTo>
                <a:lnTo>
                  <a:pt x="170" y="119"/>
                </a:lnTo>
                <a:lnTo>
                  <a:pt x="93" y="119"/>
                </a:lnTo>
                <a:lnTo>
                  <a:pt x="93" y="152"/>
                </a:lnTo>
                <a:lnTo>
                  <a:pt x="128" y="152"/>
                </a:lnTo>
                <a:lnTo>
                  <a:pt x="128" y="168"/>
                </a:lnTo>
                <a:lnTo>
                  <a:pt x="42" y="168"/>
                </a:lnTo>
                <a:lnTo>
                  <a:pt x="42" y="152"/>
                </a:lnTo>
                <a:lnTo>
                  <a:pt x="77" y="152"/>
                </a:lnTo>
                <a:lnTo>
                  <a:pt x="77" y="119"/>
                </a:lnTo>
                <a:lnTo>
                  <a:pt x="0" y="119"/>
                </a:lnTo>
                <a:lnTo>
                  <a:pt x="0" y="103"/>
                </a:lnTo>
                <a:lnTo>
                  <a:pt x="6" y="103"/>
                </a:lnTo>
                <a:lnTo>
                  <a:pt x="6" y="16"/>
                </a:lnTo>
                <a:lnTo>
                  <a:pt x="0" y="16"/>
                </a:lnTo>
                <a:lnTo>
                  <a:pt x="0" y="0"/>
                </a:lnTo>
                <a:lnTo>
                  <a:pt x="0" y="0"/>
                </a:lnTo>
                <a:close/>
                <a:moveTo>
                  <a:pt x="128" y="40"/>
                </a:moveTo>
                <a:lnTo>
                  <a:pt x="122" y="40"/>
                </a:lnTo>
                <a:lnTo>
                  <a:pt x="113" y="40"/>
                </a:lnTo>
                <a:lnTo>
                  <a:pt x="115" y="44"/>
                </a:lnTo>
                <a:lnTo>
                  <a:pt x="87" y="61"/>
                </a:lnTo>
                <a:lnTo>
                  <a:pt x="75" y="52"/>
                </a:lnTo>
                <a:lnTo>
                  <a:pt x="75" y="50"/>
                </a:lnTo>
                <a:lnTo>
                  <a:pt x="73" y="50"/>
                </a:lnTo>
                <a:lnTo>
                  <a:pt x="48" y="61"/>
                </a:lnTo>
                <a:lnTo>
                  <a:pt x="50" y="67"/>
                </a:lnTo>
                <a:lnTo>
                  <a:pt x="73" y="56"/>
                </a:lnTo>
                <a:lnTo>
                  <a:pt x="85" y="65"/>
                </a:lnTo>
                <a:lnTo>
                  <a:pt x="87" y="67"/>
                </a:lnTo>
                <a:lnTo>
                  <a:pt x="89" y="67"/>
                </a:lnTo>
                <a:lnTo>
                  <a:pt x="117" y="48"/>
                </a:lnTo>
                <a:lnTo>
                  <a:pt x="120" y="52"/>
                </a:lnTo>
                <a:lnTo>
                  <a:pt x="124" y="46"/>
                </a:lnTo>
                <a:lnTo>
                  <a:pt x="128" y="40"/>
                </a:lnTo>
                <a:lnTo>
                  <a:pt x="128" y="40"/>
                </a:lnTo>
                <a:close/>
                <a:moveTo>
                  <a:pt x="113" y="58"/>
                </a:moveTo>
                <a:lnTo>
                  <a:pt x="113" y="85"/>
                </a:lnTo>
                <a:lnTo>
                  <a:pt x="122" y="85"/>
                </a:lnTo>
                <a:lnTo>
                  <a:pt x="122" y="58"/>
                </a:lnTo>
                <a:lnTo>
                  <a:pt x="113" y="58"/>
                </a:lnTo>
                <a:lnTo>
                  <a:pt x="113" y="58"/>
                </a:lnTo>
                <a:close/>
                <a:moveTo>
                  <a:pt x="101" y="67"/>
                </a:moveTo>
                <a:lnTo>
                  <a:pt x="101" y="85"/>
                </a:lnTo>
                <a:lnTo>
                  <a:pt x="109" y="85"/>
                </a:lnTo>
                <a:lnTo>
                  <a:pt x="109" y="67"/>
                </a:lnTo>
                <a:lnTo>
                  <a:pt x="101" y="67"/>
                </a:lnTo>
                <a:lnTo>
                  <a:pt x="101" y="67"/>
                </a:lnTo>
                <a:close/>
                <a:moveTo>
                  <a:pt x="87" y="77"/>
                </a:moveTo>
                <a:lnTo>
                  <a:pt x="87" y="85"/>
                </a:lnTo>
                <a:lnTo>
                  <a:pt x="95" y="85"/>
                </a:lnTo>
                <a:lnTo>
                  <a:pt x="95" y="77"/>
                </a:lnTo>
                <a:lnTo>
                  <a:pt x="87" y="77"/>
                </a:lnTo>
                <a:lnTo>
                  <a:pt x="87" y="77"/>
                </a:lnTo>
                <a:close/>
                <a:moveTo>
                  <a:pt x="75" y="69"/>
                </a:moveTo>
                <a:lnTo>
                  <a:pt x="75" y="85"/>
                </a:lnTo>
                <a:lnTo>
                  <a:pt x="83" y="85"/>
                </a:lnTo>
                <a:lnTo>
                  <a:pt x="83" y="69"/>
                </a:lnTo>
                <a:lnTo>
                  <a:pt x="75" y="69"/>
                </a:lnTo>
                <a:lnTo>
                  <a:pt x="75" y="69"/>
                </a:lnTo>
                <a:close/>
                <a:moveTo>
                  <a:pt x="63" y="69"/>
                </a:moveTo>
                <a:lnTo>
                  <a:pt x="63" y="85"/>
                </a:lnTo>
                <a:lnTo>
                  <a:pt x="71" y="85"/>
                </a:lnTo>
                <a:lnTo>
                  <a:pt x="71" y="69"/>
                </a:lnTo>
                <a:lnTo>
                  <a:pt x="63" y="69"/>
                </a:lnTo>
                <a:lnTo>
                  <a:pt x="63" y="69"/>
                </a:lnTo>
                <a:close/>
                <a:moveTo>
                  <a:pt x="48" y="73"/>
                </a:moveTo>
                <a:lnTo>
                  <a:pt x="48" y="85"/>
                </a:lnTo>
                <a:lnTo>
                  <a:pt x="56" y="85"/>
                </a:lnTo>
                <a:lnTo>
                  <a:pt x="56" y="73"/>
                </a:lnTo>
                <a:lnTo>
                  <a:pt x="48" y="73"/>
                </a:lnTo>
                <a:lnTo>
                  <a:pt x="48" y="73"/>
                </a:lnTo>
                <a:close/>
                <a:moveTo>
                  <a:pt x="146" y="18"/>
                </a:moveTo>
                <a:lnTo>
                  <a:pt x="24" y="18"/>
                </a:lnTo>
                <a:lnTo>
                  <a:pt x="24" y="101"/>
                </a:lnTo>
                <a:lnTo>
                  <a:pt x="146" y="101"/>
                </a:lnTo>
                <a:lnTo>
                  <a:pt x="146" y="18"/>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1" name="Freeform 9"/>
          <p:cNvSpPr>
            <a:spLocks noChangeAspect="1" noEditPoints="1" noChangeArrowheads="1"/>
          </p:cNvSpPr>
          <p:nvPr/>
        </p:nvSpPr>
        <p:spPr bwMode="auto">
          <a:xfrm>
            <a:off x="9150738" y="4205437"/>
            <a:ext cx="361886" cy="333007"/>
          </a:xfrm>
          <a:custGeom>
            <a:avLst/>
            <a:gdLst>
              <a:gd name="T0" fmla="*/ 141 w 181"/>
              <a:gd name="T1" fmla="*/ 0 h 165"/>
              <a:gd name="T2" fmla="*/ 149 w 181"/>
              <a:gd name="T3" fmla="*/ 8 h 165"/>
              <a:gd name="T4" fmla="*/ 134 w 181"/>
              <a:gd name="T5" fmla="*/ 47 h 165"/>
              <a:gd name="T6" fmla="*/ 33 w 181"/>
              <a:gd name="T7" fmla="*/ 14 h 165"/>
              <a:gd name="T8" fmla="*/ 39 w 181"/>
              <a:gd name="T9" fmla="*/ 20 h 165"/>
              <a:gd name="T10" fmla="*/ 51 w 181"/>
              <a:gd name="T11" fmla="*/ 31 h 165"/>
              <a:gd name="T12" fmla="*/ 33 w 181"/>
              <a:gd name="T13" fmla="*/ 39 h 165"/>
              <a:gd name="T14" fmla="*/ 39 w 181"/>
              <a:gd name="T15" fmla="*/ 45 h 165"/>
              <a:gd name="T16" fmla="*/ 51 w 181"/>
              <a:gd name="T17" fmla="*/ 55 h 165"/>
              <a:gd name="T18" fmla="*/ 33 w 181"/>
              <a:gd name="T19" fmla="*/ 63 h 165"/>
              <a:gd name="T20" fmla="*/ 39 w 181"/>
              <a:gd name="T21" fmla="*/ 67 h 165"/>
              <a:gd name="T22" fmla="*/ 51 w 181"/>
              <a:gd name="T23" fmla="*/ 77 h 165"/>
              <a:gd name="T24" fmla="*/ 33 w 181"/>
              <a:gd name="T25" fmla="*/ 86 h 165"/>
              <a:gd name="T26" fmla="*/ 39 w 181"/>
              <a:gd name="T27" fmla="*/ 90 h 165"/>
              <a:gd name="T28" fmla="*/ 51 w 181"/>
              <a:gd name="T29" fmla="*/ 100 h 165"/>
              <a:gd name="T30" fmla="*/ 33 w 181"/>
              <a:gd name="T31" fmla="*/ 110 h 165"/>
              <a:gd name="T32" fmla="*/ 39 w 181"/>
              <a:gd name="T33" fmla="*/ 116 h 165"/>
              <a:gd name="T34" fmla="*/ 51 w 181"/>
              <a:gd name="T35" fmla="*/ 126 h 165"/>
              <a:gd name="T36" fmla="*/ 33 w 181"/>
              <a:gd name="T37" fmla="*/ 134 h 165"/>
              <a:gd name="T38" fmla="*/ 33 w 181"/>
              <a:gd name="T39" fmla="*/ 151 h 165"/>
              <a:gd name="T40" fmla="*/ 134 w 181"/>
              <a:gd name="T41" fmla="*/ 118 h 165"/>
              <a:gd name="T42" fmla="*/ 149 w 181"/>
              <a:gd name="T43" fmla="*/ 157 h 165"/>
              <a:gd name="T44" fmla="*/ 141 w 181"/>
              <a:gd name="T45" fmla="*/ 165 h 165"/>
              <a:gd name="T46" fmla="*/ 19 w 181"/>
              <a:gd name="T47" fmla="*/ 165 h 165"/>
              <a:gd name="T48" fmla="*/ 19 w 181"/>
              <a:gd name="T49" fmla="*/ 146 h 165"/>
              <a:gd name="T50" fmla="*/ 0 w 181"/>
              <a:gd name="T51" fmla="*/ 132 h 165"/>
              <a:gd name="T52" fmla="*/ 19 w 181"/>
              <a:gd name="T53" fmla="*/ 120 h 165"/>
              <a:gd name="T54" fmla="*/ 0 w 181"/>
              <a:gd name="T55" fmla="*/ 108 h 165"/>
              <a:gd name="T56" fmla="*/ 19 w 181"/>
              <a:gd name="T57" fmla="*/ 98 h 165"/>
              <a:gd name="T58" fmla="*/ 0 w 181"/>
              <a:gd name="T59" fmla="*/ 83 h 165"/>
              <a:gd name="T60" fmla="*/ 19 w 181"/>
              <a:gd name="T61" fmla="*/ 75 h 165"/>
              <a:gd name="T62" fmla="*/ 0 w 181"/>
              <a:gd name="T63" fmla="*/ 61 h 165"/>
              <a:gd name="T64" fmla="*/ 19 w 181"/>
              <a:gd name="T65" fmla="*/ 51 h 165"/>
              <a:gd name="T66" fmla="*/ 0 w 181"/>
              <a:gd name="T67" fmla="*/ 39 h 165"/>
              <a:gd name="T68" fmla="*/ 19 w 181"/>
              <a:gd name="T69" fmla="*/ 8 h 165"/>
              <a:gd name="T70" fmla="*/ 27 w 181"/>
              <a:gd name="T71" fmla="*/ 0 h 165"/>
              <a:gd name="T72" fmla="*/ 63 w 181"/>
              <a:gd name="T73" fmla="*/ 79 h 165"/>
              <a:gd name="T74" fmla="*/ 84 w 181"/>
              <a:gd name="T75" fmla="*/ 88 h 165"/>
              <a:gd name="T76" fmla="*/ 63 w 181"/>
              <a:gd name="T77" fmla="*/ 79 h 165"/>
              <a:gd name="T78" fmla="*/ 63 w 181"/>
              <a:gd name="T79" fmla="*/ 61 h 165"/>
              <a:gd name="T80" fmla="*/ 100 w 181"/>
              <a:gd name="T81" fmla="*/ 69 h 165"/>
              <a:gd name="T82" fmla="*/ 63 w 181"/>
              <a:gd name="T83" fmla="*/ 61 h 165"/>
              <a:gd name="T84" fmla="*/ 63 w 181"/>
              <a:gd name="T85" fmla="*/ 45 h 165"/>
              <a:gd name="T86" fmla="*/ 116 w 181"/>
              <a:gd name="T87" fmla="*/ 53 h 165"/>
              <a:gd name="T88" fmla="*/ 63 w 181"/>
              <a:gd name="T89" fmla="*/ 45 h 165"/>
              <a:gd name="T90" fmla="*/ 63 w 181"/>
              <a:gd name="T91" fmla="*/ 29 h 165"/>
              <a:gd name="T92" fmla="*/ 116 w 181"/>
              <a:gd name="T93" fmla="*/ 35 h 165"/>
              <a:gd name="T94" fmla="*/ 63 w 181"/>
              <a:gd name="T95" fmla="*/ 29 h 165"/>
              <a:gd name="T96" fmla="*/ 84 w 181"/>
              <a:gd name="T97" fmla="*/ 130 h 165"/>
              <a:gd name="T98" fmla="*/ 106 w 181"/>
              <a:gd name="T99" fmla="*/ 130 h 165"/>
              <a:gd name="T100" fmla="*/ 86 w 181"/>
              <a:gd name="T101" fmla="*/ 108 h 165"/>
              <a:gd name="T102" fmla="*/ 84 w 181"/>
              <a:gd name="T103" fmla="*/ 130 h 165"/>
              <a:gd name="T104" fmla="*/ 161 w 181"/>
              <a:gd name="T105" fmla="*/ 37 h 165"/>
              <a:gd name="T106" fmla="*/ 116 w 181"/>
              <a:gd name="T107" fmla="*/ 120 h 165"/>
              <a:gd name="T108" fmla="*/ 161 w 181"/>
              <a:gd name="T109" fmla="*/ 37 h 1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1"/>
              <a:gd name="T166" fmla="*/ 0 h 165"/>
              <a:gd name="T167" fmla="*/ 181 w 181"/>
              <a:gd name="T168" fmla="*/ 165 h 1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1" h="165">
                <a:moveTo>
                  <a:pt x="27" y="0"/>
                </a:moveTo>
                <a:lnTo>
                  <a:pt x="141" y="0"/>
                </a:lnTo>
                <a:lnTo>
                  <a:pt x="149" y="0"/>
                </a:lnTo>
                <a:lnTo>
                  <a:pt x="149" y="8"/>
                </a:lnTo>
                <a:lnTo>
                  <a:pt x="149" y="35"/>
                </a:lnTo>
                <a:lnTo>
                  <a:pt x="134" y="47"/>
                </a:lnTo>
                <a:lnTo>
                  <a:pt x="134" y="14"/>
                </a:lnTo>
                <a:lnTo>
                  <a:pt x="33" y="14"/>
                </a:lnTo>
                <a:lnTo>
                  <a:pt x="33" y="25"/>
                </a:lnTo>
                <a:lnTo>
                  <a:pt x="39" y="20"/>
                </a:lnTo>
                <a:lnTo>
                  <a:pt x="47" y="18"/>
                </a:lnTo>
                <a:lnTo>
                  <a:pt x="51" y="31"/>
                </a:lnTo>
                <a:lnTo>
                  <a:pt x="45" y="35"/>
                </a:lnTo>
                <a:lnTo>
                  <a:pt x="33" y="39"/>
                </a:lnTo>
                <a:lnTo>
                  <a:pt x="33" y="47"/>
                </a:lnTo>
                <a:lnTo>
                  <a:pt x="39" y="45"/>
                </a:lnTo>
                <a:lnTo>
                  <a:pt x="47" y="41"/>
                </a:lnTo>
                <a:lnTo>
                  <a:pt x="51" y="55"/>
                </a:lnTo>
                <a:lnTo>
                  <a:pt x="45" y="57"/>
                </a:lnTo>
                <a:lnTo>
                  <a:pt x="33" y="63"/>
                </a:lnTo>
                <a:lnTo>
                  <a:pt x="33" y="71"/>
                </a:lnTo>
                <a:lnTo>
                  <a:pt x="39" y="67"/>
                </a:lnTo>
                <a:lnTo>
                  <a:pt x="47" y="65"/>
                </a:lnTo>
                <a:lnTo>
                  <a:pt x="51" y="77"/>
                </a:lnTo>
                <a:lnTo>
                  <a:pt x="45" y="81"/>
                </a:lnTo>
                <a:lnTo>
                  <a:pt x="33" y="86"/>
                </a:lnTo>
                <a:lnTo>
                  <a:pt x="33" y="94"/>
                </a:lnTo>
                <a:lnTo>
                  <a:pt x="39" y="90"/>
                </a:lnTo>
                <a:lnTo>
                  <a:pt x="47" y="88"/>
                </a:lnTo>
                <a:lnTo>
                  <a:pt x="51" y="100"/>
                </a:lnTo>
                <a:lnTo>
                  <a:pt x="45" y="104"/>
                </a:lnTo>
                <a:lnTo>
                  <a:pt x="33" y="110"/>
                </a:lnTo>
                <a:lnTo>
                  <a:pt x="33" y="118"/>
                </a:lnTo>
                <a:lnTo>
                  <a:pt x="39" y="116"/>
                </a:lnTo>
                <a:lnTo>
                  <a:pt x="47" y="112"/>
                </a:lnTo>
                <a:lnTo>
                  <a:pt x="51" y="126"/>
                </a:lnTo>
                <a:lnTo>
                  <a:pt x="45" y="128"/>
                </a:lnTo>
                <a:lnTo>
                  <a:pt x="33" y="134"/>
                </a:lnTo>
                <a:lnTo>
                  <a:pt x="33" y="146"/>
                </a:lnTo>
                <a:lnTo>
                  <a:pt x="33" y="151"/>
                </a:lnTo>
                <a:lnTo>
                  <a:pt x="134" y="151"/>
                </a:lnTo>
                <a:lnTo>
                  <a:pt x="134" y="118"/>
                </a:lnTo>
                <a:lnTo>
                  <a:pt x="149" y="106"/>
                </a:lnTo>
                <a:lnTo>
                  <a:pt x="149" y="157"/>
                </a:lnTo>
                <a:lnTo>
                  <a:pt x="149" y="165"/>
                </a:lnTo>
                <a:lnTo>
                  <a:pt x="141" y="165"/>
                </a:lnTo>
                <a:lnTo>
                  <a:pt x="27" y="165"/>
                </a:lnTo>
                <a:lnTo>
                  <a:pt x="19" y="165"/>
                </a:lnTo>
                <a:lnTo>
                  <a:pt x="19" y="157"/>
                </a:lnTo>
                <a:lnTo>
                  <a:pt x="19" y="146"/>
                </a:lnTo>
                <a:lnTo>
                  <a:pt x="4" y="146"/>
                </a:lnTo>
                <a:lnTo>
                  <a:pt x="0" y="132"/>
                </a:lnTo>
                <a:lnTo>
                  <a:pt x="19" y="124"/>
                </a:lnTo>
                <a:lnTo>
                  <a:pt x="19" y="120"/>
                </a:lnTo>
                <a:lnTo>
                  <a:pt x="4" y="120"/>
                </a:lnTo>
                <a:lnTo>
                  <a:pt x="0" y="108"/>
                </a:lnTo>
                <a:lnTo>
                  <a:pt x="19" y="100"/>
                </a:lnTo>
                <a:lnTo>
                  <a:pt x="19" y="98"/>
                </a:lnTo>
                <a:lnTo>
                  <a:pt x="4" y="98"/>
                </a:lnTo>
                <a:lnTo>
                  <a:pt x="0" y="83"/>
                </a:lnTo>
                <a:lnTo>
                  <a:pt x="19" y="77"/>
                </a:lnTo>
                <a:lnTo>
                  <a:pt x="19" y="75"/>
                </a:lnTo>
                <a:lnTo>
                  <a:pt x="4" y="75"/>
                </a:lnTo>
                <a:lnTo>
                  <a:pt x="0" y="61"/>
                </a:lnTo>
                <a:lnTo>
                  <a:pt x="19" y="53"/>
                </a:lnTo>
                <a:lnTo>
                  <a:pt x="19" y="51"/>
                </a:lnTo>
                <a:lnTo>
                  <a:pt x="4" y="51"/>
                </a:lnTo>
                <a:lnTo>
                  <a:pt x="0" y="39"/>
                </a:lnTo>
                <a:lnTo>
                  <a:pt x="19" y="31"/>
                </a:lnTo>
                <a:lnTo>
                  <a:pt x="19" y="8"/>
                </a:lnTo>
                <a:lnTo>
                  <a:pt x="19" y="0"/>
                </a:lnTo>
                <a:lnTo>
                  <a:pt x="27" y="0"/>
                </a:lnTo>
                <a:lnTo>
                  <a:pt x="27" y="0"/>
                </a:lnTo>
                <a:close/>
                <a:moveTo>
                  <a:pt x="63" y="79"/>
                </a:moveTo>
                <a:lnTo>
                  <a:pt x="63" y="88"/>
                </a:lnTo>
                <a:lnTo>
                  <a:pt x="84" y="88"/>
                </a:lnTo>
                <a:lnTo>
                  <a:pt x="84" y="79"/>
                </a:lnTo>
                <a:lnTo>
                  <a:pt x="63" y="79"/>
                </a:lnTo>
                <a:lnTo>
                  <a:pt x="63" y="79"/>
                </a:lnTo>
                <a:close/>
                <a:moveTo>
                  <a:pt x="63" y="61"/>
                </a:moveTo>
                <a:lnTo>
                  <a:pt x="63" y="69"/>
                </a:lnTo>
                <a:lnTo>
                  <a:pt x="100" y="69"/>
                </a:lnTo>
                <a:lnTo>
                  <a:pt x="100" y="61"/>
                </a:lnTo>
                <a:lnTo>
                  <a:pt x="63" y="61"/>
                </a:lnTo>
                <a:lnTo>
                  <a:pt x="63" y="61"/>
                </a:lnTo>
                <a:close/>
                <a:moveTo>
                  <a:pt x="63" y="45"/>
                </a:moveTo>
                <a:lnTo>
                  <a:pt x="63" y="53"/>
                </a:lnTo>
                <a:lnTo>
                  <a:pt x="116" y="53"/>
                </a:lnTo>
                <a:lnTo>
                  <a:pt x="116" y="45"/>
                </a:lnTo>
                <a:lnTo>
                  <a:pt x="63" y="45"/>
                </a:lnTo>
                <a:lnTo>
                  <a:pt x="63" y="45"/>
                </a:lnTo>
                <a:close/>
                <a:moveTo>
                  <a:pt x="63" y="29"/>
                </a:moveTo>
                <a:lnTo>
                  <a:pt x="63" y="35"/>
                </a:lnTo>
                <a:lnTo>
                  <a:pt x="116" y="35"/>
                </a:lnTo>
                <a:lnTo>
                  <a:pt x="116" y="29"/>
                </a:lnTo>
                <a:lnTo>
                  <a:pt x="63" y="29"/>
                </a:lnTo>
                <a:lnTo>
                  <a:pt x="63" y="29"/>
                </a:lnTo>
                <a:close/>
                <a:moveTo>
                  <a:pt x="84" y="130"/>
                </a:moveTo>
                <a:lnTo>
                  <a:pt x="96" y="130"/>
                </a:lnTo>
                <a:lnTo>
                  <a:pt x="106" y="130"/>
                </a:lnTo>
                <a:lnTo>
                  <a:pt x="96" y="118"/>
                </a:lnTo>
                <a:lnTo>
                  <a:pt x="86" y="108"/>
                </a:lnTo>
                <a:lnTo>
                  <a:pt x="86" y="120"/>
                </a:lnTo>
                <a:lnTo>
                  <a:pt x="84" y="130"/>
                </a:lnTo>
                <a:lnTo>
                  <a:pt x="84" y="130"/>
                </a:lnTo>
                <a:close/>
                <a:moveTo>
                  <a:pt x="161" y="37"/>
                </a:moveTo>
                <a:lnTo>
                  <a:pt x="96" y="100"/>
                </a:lnTo>
                <a:lnTo>
                  <a:pt x="116" y="120"/>
                </a:lnTo>
                <a:lnTo>
                  <a:pt x="181" y="57"/>
                </a:lnTo>
                <a:lnTo>
                  <a:pt x="161" y="37"/>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Tree>
    <p:extLst>
      <p:ext uri="{BB962C8B-B14F-4D97-AF65-F5344CB8AC3E}">
        <p14:creationId xmlns:p14="http://schemas.microsoft.com/office/powerpoint/2010/main" val="40819330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12669" y="3863873"/>
            <a:ext cx="10966661" cy="45719"/>
            <a:chOff x="5280505" y="3963496"/>
            <a:chExt cx="5863771" cy="57767"/>
          </a:xfrm>
          <a:solidFill>
            <a:schemeClr val="tx1"/>
          </a:solidFill>
        </p:grpSpPr>
        <p:sp>
          <p:nvSpPr>
            <p:cNvPr id="6" name="任意多边形 16"/>
            <p:cNvSpPr/>
            <p:nvPr/>
          </p:nvSpPr>
          <p:spPr>
            <a:xfrm>
              <a:off x="5280505" y="3992380"/>
              <a:ext cx="5863771" cy="0"/>
            </a:xfrm>
            <a:custGeom>
              <a:avLst/>
              <a:gdLst>
                <a:gd name="connsiteX0" fmla="*/ 0 w 5863771"/>
                <a:gd name="connsiteY0" fmla="*/ 0 h 0"/>
                <a:gd name="connsiteX1" fmla="*/ 58057 w 5863771"/>
                <a:gd name="connsiteY1" fmla="*/ 0 h 0"/>
                <a:gd name="connsiteX2" fmla="*/ 5863771 w 5863771"/>
                <a:gd name="connsiteY2" fmla="*/ 0 h 0"/>
              </a:gdLst>
              <a:ahLst/>
              <a:cxnLst>
                <a:cxn ang="0">
                  <a:pos x="connsiteX0" y="connsiteY0"/>
                </a:cxn>
                <a:cxn ang="0">
                  <a:pos x="connsiteX1" y="connsiteY1"/>
                </a:cxn>
                <a:cxn ang="0">
                  <a:pos x="connsiteX2" y="connsiteY2"/>
                </a:cxn>
              </a:cxnLst>
              <a:rect l="l" t="t" r="r" b="b"/>
              <a:pathLst>
                <a:path w="5863771">
                  <a:moveTo>
                    <a:pt x="0" y="0"/>
                  </a:moveTo>
                  <a:lnTo>
                    <a:pt x="58057" y="0"/>
                  </a:lnTo>
                  <a:lnTo>
                    <a:pt x="5863771" y="0"/>
                  </a:lnTo>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sp>
          <p:nvSpPr>
            <p:cNvPr id="7" name="圆角矩形 17"/>
            <p:cNvSpPr/>
            <p:nvPr/>
          </p:nvSpPr>
          <p:spPr>
            <a:xfrm>
              <a:off x="7456740" y="3963496"/>
              <a:ext cx="1511300" cy="5776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grpSp>
      <p:grpSp>
        <p:nvGrpSpPr>
          <p:cNvPr id="9" name="组合 8"/>
          <p:cNvGrpSpPr/>
          <p:nvPr/>
        </p:nvGrpSpPr>
        <p:grpSpPr bwMode="auto">
          <a:xfrm>
            <a:off x="5170374" y="4178966"/>
            <a:ext cx="412709" cy="333006"/>
            <a:chOff x="0" y="0"/>
            <a:chExt cx="1088225" cy="869861"/>
          </a:xfrm>
          <a:solidFill>
            <a:schemeClr val="tx1"/>
          </a:solidFill>
        </p:grpSpPr>
        <p:sp>
          <p:nvSpPr>
            <p:cNvPr id="10" name="Freeform 17"/>
            <p:cNvSpPr>
              <a:spLocks noEditPoints="1" noChangeArrowheads="1"/>
            </p:cNvSpPr>
            <p:nvPr/>
          </p:nvSpPr>
          <p:spPr bwMode="auto">
            <a:xfrm>
              <a:off x="0" y="237562"/>
              <a:ext cx="824268" cy="632299"/>
            </a:xfrm>
            <a:custGeom>
              <a:avLst/>
              <a:gdLst>
                <a:gd name="T0" fmla="*/ 274 w 291"/>
                <a:gd name="T1" fmla="*/ 0 h 223"/>
                <a:gd name="T2" fmla="*/ 17 w 291"/>
                <a:gd name="T3" fmla="*/ 0 h 223"/>
                <a:gd name="T4" fmla="*/ 0 w 291"/>
                <a:gd name="T5" fmla="*/ 16 h 223"/>
                <a:gd name="T6" fmla="*/ 0 w 291"/>
                <a:gd name="T7" fmla="*/ 207 h 223"/>
                <a:gd name="T8" fmla="*/ 17 w 291"/>
                <a:gd name="T9" fmla="*/ 223 h 223"/>
                <a:gd name="T10" fmla="*/ 274 w 291"/>
                <a:gd name="T11" fmla="*/ 223 h 223"/>
                <a:gd name="T12" fmla="*/ 291 w 291"/>
                <a:gd name="T13" fmla="*/ 207 h 223"/>
                <a:gd name="T14" fmla="*/ 291 w 291"/>
                <a:gd name="T15" fmla="*/ 16 h 223"/>
                <a:gd name="T16" fmla="*/ 274 w 291"/>
                <a:gd name="T17" fmla="*/ 0 h 223"/>
                <a:gd name="T18" fmla="*/ 270 w 291"/>
                <a:gd name="T19" fmla="*/ 193 h 223"/>
                <a:gd name="T20" fmla="*/ 256 w 291"/>
                <a:gd name="T21" fmla="*/ 207 h 223"/>
                <a:gd name="T22" fmla="*/ 35 w 291"/>
                <a:gd name="T23" fmla="*/ 207 h 223"/>
                <a:gd name="T24" fmla="*/ 21 w 291"/>
                <a:gd name="T25" fmla="*/ 193 h 223"/>
                <a:gd name="T26" fmla="*/ 21 w 291"/>
                <a:gd name="T27" fmla="*/ 30 h 223"/>
                <a:gd name="T28" fmla="*/ 35 w 291"/>
                <a:gd name="T29" fmla="*/ 16 h 223"/>
                <a:gd name="T30" fmla="*/ 256 w 291"/>
                <a:gd name="T31" fmla="*/ 16 h 223"/>
                <a:gd name="T32" fmla="*/ 270 w 291"/>
                <a:gd name="T33" fmla="*/ 30 h 223"/>
                <a:gd name="T34" fmla="*/ 270 w 291"/>
                <a:gd name="T35" fmla="*/ 19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1"/>
                <a:gd name="T55" fmla="*/ 0 h 223"/>
                <a:gd name="T56" fmla="*/ 291 w 291"/>
                <a:gd name="T57" fmla="*/ 223 h 2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1" h="223">
                  <a:moveTo>
                    <a:pt x="274" y="0"/>
                  </a:moveTo>
                  <a:cubicBezTo>
                    <a:pt x="17" y="0"/>
                    <a:pt x="17" y="0"/>
                    <a:pt x="17" y="0"/>
                  </a:cubicBezTo>
                  <a:cubicBezTo>
                    <a:pt x="8" y="0"/>
                    <a:pt x="0" y="7"/>
                    <a:pt x="0" y="16"/>
                  </a:cubicBezTo>
                  <a:cubicBezTo>
                    <a:pt x="0" y="207"/>
                    <a:pt x="0" y="207"/>
                    <a:pt x="0" y="207"/>
                  </a:cubicBezTo>
                  <a:cubicBezTo>
                    <a:pt x="0" y="215"/>
                    <a:pt x="8" y="223"/>
                    <a:pt x="17" y="223"/>
                  </a:cubicBezTo>
                  <a:cubicBezTo>
                    <a:pt x="274" y="223"/>
                    <a:pt x="274" y="223"/>
                    <a:pt x="274" y="223"/>
                  </a:cubicBezTo>
                  <a:cubicBezTo>
                    <a:pt x="283" y="223"/>
                    <a:pt x="291" y="215"/>
                    <a:pt x="291" y="207"/>
                  </a:cubicBezTo>
                  <a:cubicBezTo>
                    <a:pt x="291" y="16"/>
                    <a:pt x="291" y="16"/>
                    <a:pt x="291" y="16"/>
                  </a:cubicBezTo>
                  <a:cubicBezTo>
                    <a:pt x="291" y="7"/>
                    <a:pt x="283" y="0"/>
                    <a:pt x="274" y="0"/>
                  </a:cubicBezTo>
                  <a:moveTo>
                    <a:pt x="270" y="193"/>
                  </a:moveTo>
                  <a:cubicBezTo>
                    <a:pt x="270" y="201"/>
                    <a:pt x="264" y="207"/>
                    <a:pt x="256" y="207"/>
                  </a:cubicBezTo>
                  <a:cubicBezTo>
                    <a:pt x="35" y="207"/>
                    <a:pt x="35" y="207"/>
                    <a:pt x="35" y="207"/>
                  </a:cubicBezTo>
                  <a:cubicBezTo>
                    <a:pt x="27" y="207"/>
                    <a:pt x="21" y="201"/>
                    <a:pt x="21" y="193"/>
                  </a:cubicBezTo>
                  <a:cubicBezTo>
                    <a:pt x="21" y="30"/>
                    <a:pt x="21" y="30"/>
                    <a:pt x="21" y="30"/>
                  </a:cubicBezTo>
                  <a:cubicBezTo>
                    <a:pt x="21" y="22"/>
                    <a:pt x="27" y="16"/>
                    <a:pt x="35" y="16"/>
                  </a:cubicBezTo>
                  <a:cubicBezTo>
                    <a:pt x="256" y="16"/>
                    <a:pt x="256" y="16"/>
                    <a:pt x="256" y="16"/>
                  </a:cubicBezTo>
                  <a:cubicBezTo>
                    <a:pt x="264" y="16"/>
                    <a:pt x="270" y="22"/>
                    <a:pt x="270" y="30"/>
                  </a:cubicBezTo>
                  <a:lnTo>
                    <a:pt x="270" y="19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1" name="Freeform 18"/>
            <p:cNvSpPr>
              <a:spLocks noChangeArrowheads="1"/>
            </p:cNvSpPr>
            <p:nvPr/>
          </p:nvSpPr>
          <p:spPr bwMode="auto">
            <a:xfrm>
              <a:off x="137978" y="110382"/>
              <a:ext cx="821868" cy="632299"/>
            </a:xfrm>
            <a:custGeom>
              <a:avLst/>
              <a:gdLst>
                <a:gd name="T0" fmla="*/ 274 w 290"/>
                <a:gd name="T1" fmla="*/ 0 h 223"/>
                <a:gd name="T2" fmla="*/ 16 w 290"/>
                <a:gd name="T3" fmla="*/ 0 h 223"/>
                <a:gd name="T4" fmla="*/ 0 w 290"/>
                <a:gd name="T5" fmla="*/ 16 h 223"/>
                <a:gd name="T6" fmla="*/ 0 w 290"/>
                <a:gd name="T7" fmla="*/ 25 h 223"/>
                <a:gd name="T8" fmla="*/ 249 w 290"/>
                <a:gd name="T9" fmla="*/ 25 h 223"/>
                <a:gd name="T10" fmla="*/ 265 w 290"/>
                <a:gd name="T11" fmla="*/ 42 h 223"/>
                <a:gd name="T12" fmla="*/ 265 w 290"/>
                <a:gd name="T13" fmla="*/ 223 h 223"/>
                <a:gd name="T14" fmla="*/ 274 w 290"/>
                <a:gd name="T15" fmla="*/ 223 h 223"/>
                <a:gd name="T16" fmla="*/ 290 w 290"/>
                <a:gd name="T17" fmla="*/ 207 h 223"/>
                <a:gd name="T18" fmla="*/ 290 w 290"/>
                <a:gd name="T19" fmla="*/ 16 h 223"/>
                <a:gd name="T20" fmla="*/ 274 w 29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3"/>
                <a:gd name="T35" fmla="*/ 290 w 29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3">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3"/>
                    <a:pt x="265" y="42"/>
                  </a:cubicBezTo>
                  <a:cubicBezTo>
                    <a:pt x="265" y="223"/>
                    <a:pt x="265" y="223"/>
                    <a:pt x="265" y="223"/>
                  </a:cubicBezTo>
                  <a:cubicBezTo>
                    <a:pt x="274" y="223"/>
                    <a:pt x="274" y="223"/>
                    <a:pt x="274" y="223"/>
                  </a:cubicBezTo>
                  <a:cubicBezTo>
                    <a:pt x="283" y="223"/>
                    <a:pt x="290" y="216"/>
                    <a:pt x="290" y="207"/>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2" name="Freeform 19"/>
            <p:cNvSpPr>
              <a:spLocks noChangeArrowheads="1"/>
            </p:cNvSpPr>
            <p:nvPr/>
          </p:nvSpPr>
          <p:spPr bwMode="auto">
            <a:xfrm>
              <a:off x="266357" y="0"/>
              <a:ext cx="821868" cy="628699"/>
            </a:xfrm>
            <a:custGeom>
              <a:avLst/>
              <a:gdLst>
                <a:gd name="T0" fmla="*/ 274 w 290"/>
                <a:gd name="T1" fmla="*/ 0 h 222"/>
                <a:gd name="T2" fmla="*/ 16 w 290"/>
                <a:gd name="T3" fmla="*/ 0 h 222"/>
                <a:gd name="T4" fmla="*/ 0 w 290"/>
                <a:gd name="T5" fmla="*/ 16 h 222"/>
                <a:gd name="T6" fmla="*/ 0 w 290"/>
                <a:gd name="T7" fmla="*/ 25 h 222"/>
                <a:gd name="T8" fmla="*/ 249 w 290"/>
                <a:gd name="T9" fmla="*/ 25 h 222"/>
                <a:gd name="T10" fmla="*/ 265 w 290"/>
                <a:gd name="T11" fmla="*/ 41 h 222"/>
                <a:gd name="T12" fmla="*/ 265 w 290"/>
                <a:gd name="T13" fmla="*/ 222 h 222"/>
                <a:gd name="T14" fmla="*/ 274 w 290"/>
                <a:gd name="T15" fmla="*/ 222 h 222"/>
                <a:gd name="T16" fmla="*/ 290 w 290"/>
                <a:gd name="T17" fmla="*/ 206 h 222"/>
                <a:gd name="T18" fmla="*/ 290 w 290"/>
                <a:gd name="T19" fmla="*/ 16 h 222"/>
                <a:gd name="T20" fmla="*/ 274 w 290"/>
                <a:gd name="T21" fmla="*/ 0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2"/>
                <a:gd name="T35" fmla="*/ 290 w 290"/>
                <a:gd name="T36" fmla="*/ 222 h 2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2">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2"/>
                    <a:pt x="265" y="41"/>
                  </a:cubicBezTo>
                  <a:cubicBezTo>
                    <a:pt x="265" y="222"/>
                    <a:pt x="265" y="222"/>
                    <a:pt x="265" y="222"/>
                  </a:cubicBezTo>
                  <a:cubicBezTo>
                    <a:pt x="274" y="222"/>
                    <a:pt x="274" y="222"/>
                    <a:pt x="274" y="222"/>
                  </a:cubicBezTo>
                  <a:cubicBezTo>
                    <a:pt x="283" y="222"/>
                    <a:pt x="290" y="215"/>
                    <a:pt x="290" y="206"/>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3" name="Freeform 20"/>
            <p:cNvSpPr>
              <a:spLocks noChangeArrowheads="1"/>
            </p:cNvSpPr>
            <p:nvPr/>
          </p:nvSpPr>
          <p:spPr bwMode="auto">
            <a:xfrm>
              <a:off x="110382" y="422332"/>
              <a:ext cx="569909" cy="353943"/>
            </a:xfrm>
            <a:custGeom>
              <a:avLst/>
              <a:gdLst>
                <a:gd name="T0" fmla="*/ 71 w 201"/>
                <a:gd name="T1" fmla="*/ 5 h 125"/>
                <a:gd name="T2" fmla="*/ 11 w 201"/>
                <a:gd name="T3" fmla="*/ 109 h 125"/>
                <a:gd name="T4" fmla="*/ 11 w 201"/>
                <a:gd name="T5" fmla="*/ 124 h 125"/>
                <a:gd name="T6" fmla="*/ 192 w 201"/>
                <a:gd name="T7" fmla="*/ 124 h 125"/>
                <a:gd name="T8" fmla="*/ 192 w 201"/>
                <a:gd name="T9" fmla="*/ 108 h 125"/>
                <a:gd name="T10" fmla="*/ 151 w 201"/>
                <a:gd name="T11" fmla="*/ 47 h 125"/>
                <a:gd name="T12" fmla="*/ 117 w 201"/>
                <a:gd name="T13" fmla="*/ 86 h 125"/>
                <a:gd name="T14" fmla="*/ 110 w 201"/>
                <a:gd name="T15" fmla="*/ 81 h 125"/>
                <a:gd name="T16" fmla="*/ 122 w 201"/>
                <a:gd name="T17" fmla="*/ 65 h 125"/>
                <a:gd name="T18" fmla="*/ 81 w 201"/>
                <a:gd name="T19" fmla="*/ 5 h 125"/>
                <a:gd name="T20" fmla="*/ 71 w 201"/>
                <a:gd name="T21" fmla="*/ 5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25"/>
                <a:gd name="T35" fmla="*/ 201 w 201"/>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25">
                  <a:moveTo>
                    <a:pt x="71" y="5"/>
                  </a:moveTo>
                  <a:cubicBezTo>
                    <a:pt x="11" y="109"/>
                    <a:pt x="11" y="109"/>
                    <a:pt x="11" y="109"/>
                  </a:cubicBezTo>
                  <a:cubicBezTo>
                    <a:pt x="11" y="109"/>
                    <a:pt x="0" y="124"/>
                    <a:pt x="11" y="124"/>
                  </a:cubicBezTo>
                  <a:cubicBezTo>
                    <a:pt x="25" y="125"/>
                    <a:pt x="192" y="124"/>
                    <a:pt x="192" y="124"/>
                  </a:cubicBezTo>
                  <a:cubicBezTo>
                    <a:pt x="192" y="124"/>
                    <a:pt x="201" y="121"/>
                    <a:pt x="192" y="108"/>
                  </a:cubicBezTo>
                  <a:cubicBezTo>
                    <a:pt x="182" y="94"/>
                    <a:pt x="158" y="46"/>
                    <a:pt x="151" y="47"/>
                  </a:cubicBezTo>
                  <a:cubicBezTo>
                    <a:pt x="144" y="47"/>
                    <a:pt x="120" y="83"/>
                    <a:pt x="117" y="86"/>
                  </a:cubicBezTo>
                  <a:cubicBezTo>
                    <a:pt x="115" y="89"/>
                    <a:pt x="108" y="84"/>
                    <a:pt x="110" y="81"/>
                  </a:cubicBezTo>
                  <a:cubicBezTo>
                    <a:pt x="116" y="74"/>
                    <a:pt x="122" y="65"/>
                    <a:pt x="122" y="65"/>
                  </a:cubicBezTo>
                  <a:cubicBezTo>
                    <a:pt x="122" y="65"/>
                    <a:pt x="84" y="9"/>
                    <a:pt x="81" y="5"/>
                  </a:cubicBezTo>
                  <a:cubicBezTo>
                    <a:pt x="78" y="0"/>
                    <a:pt x="73" y="1"/>
                    <a:pt x="71" y="5"/>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4" name="Oval 21"/>
            <p:cNvSpPr>
              <a:spLocks noChangeArrowheads="1"/>
            </p:cNvSpPr>
            <p:nvPr/>
          </p:nvSpPr>
          <p:spPr bwMode="auto">
            <a:xfrm>
              <a:off x="563909" y="331147"/>
              <a:ext cx="101984" cy="99584"/>
            </a:xfrm>
            <a:prstGeom prst="ellipse">
              <a:avLst/>
            </a:pr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5" name="组合 14"/>
          <p:cNvGrpSpPr/>
          <p:nvPr/>
        </p:nvGrpSpPr>
        <p:grpSpPr bwMode="auto">
          <a:xfrm>
            <a:off x="7179351" y="4178966"/>
            <a:ext cx="329894" cy="333006"/>
            <a:chOff x="0" y="0"/>
            <a:chExt cx="881859" cy="881859"/>
          </a:xfrm>
          <a:solidFill>
            <a:schemeClr val="tx1"/>
          </a:solidFill>
        </p:grpSpPr>
        <p:sp>
          <p:nvSpPr>
            <p:cNvPr id="16" name="Freeform 22"/>
            <p:cNvSpPr>
              <a:spLocks noEditPoints="1" noChangeArrowheads="1"/>
            </p:cNvSpPr>
            <p:nvPr/>
          </p:nvSpPr>
          <p:spPr bwMode="auto">
            <a:xfrm>
              <a:off x="0" y="0"/>
              <a:ext cx="881859" cy="881859"/>
            </a:xfrm>
            <a:custGeom>
              <a:avLst/>
              <a:gdLst>
                <a:gd name="T0" fmla="*/ 155 w 311"/>
                <a:gd name="T1" fmla="*/ 0 h 311"/>
                <a:gd name="T2" fmla="*/ 0 w 311"/>
                <a:gd name="T3" fmla="*/ 155 h 311"/>
                <a:gd name="T4" fmla="*/ 155 w 311"/>
                <a:gd name="T5" fmla="*/ 311 h 311"/>
                <a:gd name="T6" fmla="*/ 311 w 311"/>
                <a:gd name="T7" fmla="*/ 155 h 311"/>
                <a:gd name="T8" fmla="*/ 155 w 311"/>
                <a:gd name="T9" fmla="*/ 0 h 311"/>
                <a:gd name="T10" fmla="*/ 155 w 311"/>
                <a:gd name="T11" fmla="*/ 289 h 311"/>
                <a:gd name="T12" fmla="*/ 21 w 311"/>
                <a:gd name="T13" fmla="*/ 155 h 311"/>
                <a:gd name="T14" fmla="*/ 155 w 311"/>
                <a:gd name="T15" fmla="*/ 21 h 311"/>
                <a:gd name="T16" fmla="*/ 289 w 311"/>
                <a:gd name="T17" fmla="*/ 155 h 311"/>
                <a:gd name="T18" fmla="*/ 155 w 311"/>
                <a:gd name="T19" fmla="*/ 289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1"/>
                <a:gd name="T31" fmla="*/ 0 h 311"/>
                <a:gd name="T32" fmla="*/ 311 w 311"/>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1" h="311">
                  <a:moveTo>
                    <a:pt x="155" y="0"/>
                  </a:moveTo>
                  <a:cubicBezTo>
                    <a:pt x="70" y="0"/>
                    <a:pt x="0" y="69"/>
                    <a:pt x="0" y="155"/>
                  </a:cubicBezTo>
                  <a:cubicBezTo>
                    <a:pt x="0" y="241"/>
                    <a:pt x="70" y="311"/>
                    <a:pt x="155" y="311"/>
                  </a:cubicBezTo>
                  <a:cubicBezTo>
                    <a:pt x="241" y="311"/>
                    <a:pt x="311" y="241"/>
                    <a:pt x="311" y="155"/>
                  </a:cubicBezTo>
                  <a:cubicBezTo>
                    <a:pt x="311" y="69"/>
                    <a:pt x="241" y="0"/>
                    <a:pt x="155" y="0"/>
                  </a:cubicBezTo>
                  <a:moveTo>
                    <a:pt x="155" y="289"/>
                  </a:moveTo>
                  <a:cubicBezTo>
                    <a:pt x="81" y="289"/>
                    <a:pt x="21" y="229"/>
                    <a:pt x="21" y="155"/>
                  </a:cubicBezTo>
                  <a:cubicBezTo>
                    <a:pt x="21" y="81"/>
                    <a:pt x="81" y="21"/>
                    <a:pt x="155" y="21"/>
                  </a:cubicBezTo>
                  <a:cubicBezTo>
                    <a:pt x="229" y="21"/>
                    <a:pt x="289" y="81"/>
                    <a:pt x="289" y="155"/>
                  </a:cubicBezTo>
                  <a:cubicBezTo>
                    <a:pt x="289" y="229"/>
                    <a:pt x="229" y="289"/>
                    <a:pt x="155" y="289"/>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7" name="Freeform 23"/>
            <p:cNvSpPr>
              <a:spLocks noChangeArrowheads="1"/>
            </p:cNvSpPr>
            <p:nvPr/>
          </p:nvSpPr>
          <p:spPr bwMode="auto">
            <a:xfrm>
              <a:off x="235162" y="70789"/>
              <a:ext cx="430731" cy="428331"/>
            </a:xfrm>
            <a:custGeom>
              <a:avLst/>
              <a:gdLst>
                <a:gd name="T0" fmla="*/ 145 w 152"/>
                <a:gd name="T1" fmla="*/ 53 h 151"/>
                <a:gd name="T2" fmla="*/ 144 w 152"/>
                <a:gd name="T3" fmla="*/ 52 h 151"/>
                <a:gd name="T4" fmla="*/ 125 w 152"/>
                <a:gd name="T5" fmla="*/ 52 h 151"/>
                <a:gd name="T6" fmla="*/ 77 w 152"/>
                <a:gd name="T7" fmla="*/ 106 h 151"/>
                <a:gd name="T8" fmla="*/ 31 w 152"/>
                <a:gd name="T9" fmla="*/ 12 h 151"/>
                <a:gd name="T10" fmla="*/ 11 w 152"/>
                <a:gd name="T11" fmla="*/ 4 h 151"/>
                <a:gd name="T12" fmla="*/ 10 w 152"/>
                <a:gd name="T13" fmla="*/ 4 h 151"/>
                <a:gd name="T14" fmla="*/ 4 w 152"/>
                <a:gd name="T15" fmla="*/ 25 h 151"/>
                <a:gd name="T16" fmla="*/ 60 w 152"/>
                <a:gd name="T17" fmla="*/ 140 h 151"/>
                <a:gd name="T18" fmla="*/ 79 w 152"/>
                <a:gd name="T19" fmla="*/ 148 h 151"/>
                <a:gd name="T20" fmla="*/ 79 w 152"/>
                <a:gd name="T21" fmla="*/ 148 h 151"/>
                <a:gd name="T22" fmla="*/ 80 w 152"/>
                <a:gd name="T23" fmla="*/ 148 h 151"/>
                <a:gd name="T24" fmla="*/ 81 w 152"/>
                <a:gd name="T25" fmla="*/ 147 h 151"/>
                <a:gd name="T26" fmla="*/ 87 w 152"/>
                <a:gd name="T27" fmla="*/ 141 h 151"/>
                <a:gd name="T28" fmla="*/ 148 w 152"/>
                <a:gd name="T29" fmla="*/ 72 h 151"/>
                <a:gd name="T30" fmla="*/ 145 w 152"/>
                <a:gd name="T31" fmla="*/ 53 h 1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1"/>
                <a:gd name="T50" fmla="*/ 152 w 152"/>
                <a:gd name="T51" fmla="*/ 151 h 1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1">
                  <a:moveTo>
                    <a:pt x="145" y="53"/>
                  </a:moveTo>
                  <a:cubicBezTo>
                    <a:pt x="144" y="52"/>
                    <a:pt x="144" y="52"/>
                    <a:pt x="144" y="52"/>
                  </a:cubicBezTo>
                  <a:cubicBezTo>
                    <a:pt x="138" y="47"/>
                    <a:pt x="129" y="47"/>
                    <a:pt x="125" y="52"/>
                  </a:cubicBezTo>
                  <a:cubicBezTo>
                    <a:pt x="77" y="106"/>
                    <a:pt x="77" y="106"/>
                    <a:pt x="77" y="106"/>
                  </a:cubicBezTo>
                  <a:cubicBezTo>
                    <a:pt x="31" y="12"/>
                    <a:pt x="31" y="12"/>
                    <a:pt x="31" y="12"/>
                  </a:cubicBezTo>
                  <a:cubicBezTo>
                    <a:pt x="27" y="4"/>
                    <a:pt x="18" y="0"/>
                    <a:pt x="11" y="4"/>
                  </a:cubicBezTo>
                  <a:cubicBezTo>
                    <a:pt x="10" y="4"/>
                    <a:pt x="10" y="4"/>
                    <a:pt x="10" y="4"/>
                  </a:cubicBezTo>
                  <a:cubicBezTo>
                    <a:pt x="3" y="8"/>
                    <a:pt x="0" y="17"/>
                    <a:pt x="4" y="25"/>
                  </a:cubicBezTo>
                  <a:cubicBezTo>
                    <a:pt x="60" y="140"/>
                    <a:pt x="60" y="140"/>
                    <a:pt x="60" y="140"/>
                  </a:cubicBezTo>
                  <a:cubicBezTo>
                    <a:pt x="63" y="148"/>
                    <a:pt x="72" y="151"/>
                    <a:pt x="79" y="148"/>
                  </a:cubicBezTo>
                  <a:cubicBezTo>
                    <a:pt x="79" y="148"/>
                    <a:pt x="79" y="148"/>
                    <a:pt x="79" y="148"/>
                  </a:cubicBezTo>
                  <a:cubicBezTo>
                    <a:pt x="79" y="148"/>
                    <a:pt x="80" y="148"/>
                    <a:pt x="80" y="148"/>
                  </a:cubicBezTo>
                  <a:cubicBezTo>
                    <a:pt x="81" y="147"/>
                    <a:pt x="81" y="147"/>
                    <a:pt x="81" y="147"/>
                  </a:cubicBezTo>
                  <a:cubicBezTo>
                    <a:pt x="84" y="146"/>
                    <a:pt x="86" y="144"/>
                    <a:pt x="87" y="141"/>
                  </a:cubicBezTo>
                  <a:cubicBezTo>
                    <a:pt x="148" y="72"/>
                    <a:pt x="148" y="72"/>
                    <a:pt x="148" y="72"/>
                  </a:cubicBezTo>
                  <a:cubicBezTo>
                    <a:pt x="152" y="67"/>
                    <a:pt x="151" y="59"/>
                    <a:pt x="145" y="53"/>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8" name="组合 17"/>
          <p:cNvGrpSpPr/>
          <p:nvPr/>
        </p:nvGrpSpPr>
        <p:grpSpPr bwMode="auto">
          <a:xfrm>
            <a:off x="5861890" y="4178966"/>
            <a:ext cx="397959" cy="333006"/>
            <a:chOff x="0" y="0"/>
            <a:chExt cx="961046" cy="796672"/>
          </a:xfrm>
          <a:solidFill>
            <a:schemeClr val="tx1"/>
          </a:solidFill>
        </p:grpSpPr>
        <p:sp>
          <p:nvSpPr>
            <p:cNvPr id="19" name="Freeform 24"/>
            <p:cNvSpPr>
              <a:spLocks noEditPoints="1" noChangeArrowheads="1"/>
            </p:cNvSpPr>
            <p:nvPr/>
          </p:nvSpPr>
          <p:spPr bwMode="auto">
            <a:xfrm>
              <a:off x="0" y="0"/>
              <a:ext cx="961046" cy="796672"/>
            </a:xfrm>
            <a:custGeom>
              <a:avLst/>
              <a:gdLst>
                <a:gd name="T0" fmla="*/ 321 w 339"/>
                <a:gd name="T1" fmla="*/ 0 h 281"/>
                <a:gd name="T2" fmla="*/ 18 w 339"/>
                <a:gd name="T3" fmla="*/ 0 h 281"/>
                <a:gd name="T4" fmla="*/ 0 w 339"/>
                <a:gd name="T5" fmla="*/ 18 h 281"/>
                <a:gd name="T6" fmla="*/ 0 w 339"/>
                <a:gd name="T7" fmla="*/ 263 h 281"/>
                <a:gd name="T8" fmla="*/ 18 w 339"/>
                <a:gd name="T9" fmla="*/ 281 h 281"/>
                <a:gd name="T10" fmla="*/ 321 w 339"/>
                <a:gd name="T11" fmla="*/ 281 h 281"/>
                <a:gd name="T12" fmla="*/ 339 w 339"/>
                <a:gd name="T13" fmla="*/ 263 h 281"/>
                <a:gd name="T14" fmla="*/ 339 w 339"/>
                <a:gd name="T15" fmla="*/ 18 h 281"/>
                <a:gd name="T16" fmla="*/ 321 w 339"/>
                <a:gd name="T17" fmla="*/ 0 h 281"/>
                <a:gd name="T18" fmla="*/ 316 w 339"/>
                <a:gd name="T19" fmla="*/ 246 h 281"/>
                <a:gd name="T20" fmla="*/ 301 w 339"/>
                <a:gd name="T21" fmla="*/ 262 h 281"/>
                <a:gd name="T22" fmla="*/ 38 w 339"/>
                <a:gd name="T23" fmla="*/ 262 h 281"/>
                <a:gd name="T24" fmla="*/ 23 w 339"/>
                <a:gd name="T25" fmla="*/ 246 h 281"/>
                <a:gd name="T26" fmla="*/ 23 w 339"/>
                <a:gd name="T27" fmla="*/ 35 h 281"/>
                <a:gd name="T28" fmla="*/ 38 w 339"/>
                <a:gd name="T29" fmla="*/ 19 h 281"/>
                <a:gd name="T30" fmla="*/ 301 w 339"/>
                <a:gd name="T31" fmla="*/ 19 h 281"/>
                <a:gd name="T32" fmla="*/ 316 w 339"/>
                <a:gd name="T33" fmla="*/ 35 h 281"/>
                <a:gd name="T34" fmla="*/ 316 w 339"/>
                <a:gd name="T35" fmla="*/ 246 h 2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9"/>
                <a:gd name="T55" fmla="*/ 0 h 281"/>
                <a:gd name="T56" fmla="*/ 339 w 339"/>
                <a:gd name="T57" fmla="*/ 281 h 2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9" h="281">
                  <a:moveTo>
                    <a:pt x="321" y="0"/>
                  </a:moveTo>
                  <a:cubicBezTo>
                    <a:pt x="18" y="0"/>
                    <a:pt x="18" y="0"/>
                    <a:pt x="18" y="0"/>
                  </a:cubicBezTo>
                  <a:cubicBezTo>
                    <a:pt x="8" y="0"/>
                    <a:pt x="0" y="8"/>
                    <a:pt x="0" y="18"/>
                  </a:cubicBezTo>
                  <a:cubicBezTo>
                    <a:pt x="0" y="263"/>
                    <a:pt x="0" y="263"/>
                    <a:pt x="0" y="263"/>
                  </a:cubicBezTo>
                  <a:cubicBezTo>
                    <a:pt x="0" y="273"/>
                    <a:pt x="8" y="281"/>
                    <a:pt x="18" y="281"/>
                  </a:cubicBezTo>
                  <a:cubicBezTo>
                    <a:pt x="321" y="281"/>
                    <a:pt x="321" y="281"/>
                    <a:pt x="321" y="281"/>
                  </a:cubicBezTo>
                  <a:cubicBezTo>
                    <a:pt x="331" y="281"/>
                    <a:pt x="339" y="273"/>
                    <a:pt x="339" y="263"/>
                  </a:cubicBezTo>
                  <a:cubicBezTo>
                    <a:pt x="339" y="18"/>
                    <a:pt x="339" y="18"/>
                    <a:pt x="339" y="18"/>
                  </a:cubicBezTo>
                  <a:cubicBezTo>
                    <a:pt x="339" y="8"/>
                    <a:pt x="331" y="0"/>
                    <a:pt x="321" y="0"/>
                  </a:cubicBezTo>
                  <a:moveTo>
                    <a:pt x="316" y="246"/>
                  </a:moveTo>
                  <a:cubicBezTo>
                    <a:pt x="316" y="255"/>
                    <a:pt x="309" y="262"/>
                    <a:pt x="301" y="262"/>
                  </a:cubicBezTo>
                  <a:cubicBezTo>
                    <a:pt x="38" y="262"/>
                    <a:pt x="38" y="262"/>
                    <a:pt x="38" y="262"/>
                  </a:cubicBezTo>
                  <a:cubicBezTo>
                    <a:pt x="30" y="262"/>
                    <a:pt x="23" y="255"/>
                    <a:pt x="23" y="246"/>
                  </a:cubicBezTo>
                  <a:cubicBezTo>
                    <a:pt x="23" y="35"/>
                    <a:pt x="23" y="35"/>
                    <a:pt x="23" y="35"/>
                  </a:cubicBezTo>
                  <a:cubicBezTo>
                    <a:pt x="23" y="26"/>
                    <a:pt x="30" y="19"/>
                    <a:pt x="38" y="19"/>
                  </a:cubicBezTo>
                  <a:cubicBezTo>
                    <a:pt x="301" y="19"/>
                    <a:pt x="301" y="19"/>
                    <a:pt x="301" y="19"/>
                  </a:cubicBezTo>
                  <a:cubicBezTo>
                    <a:pt x="309" y="19"/>
                    <a:pt x="316" y="26"/>
                    <a:pt x="316" y="35"/>
                  </a:cubicBezTo>
                  <a:lnTo>
                    <a:pt x="316" y="24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0" name="Freeform 25"/>
            <p:cNvSpPr>
              <a:spLocks noChangeArrowheads="1"/>
            </p:cNvSpPr>
            <p:nvPr/>
          </p:nvSpPr>
          <p:spPr bwMode="auto">
            <a:xfrm>
              <a:off x="176371"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1" name="Freeform 26"/>
            <p:cNvSpPr>
              <a:spLocks noChangeArrowheads="1"/>
            </p:cNvSpPr>
            <p:nvPr/>
          </p:nvSpPr>
          <p:spPr bwMode="auto">
            <a:xfrm>
              <a:off x="176371"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2" name="Freeform 27"/>
            <p:cNvSpPr>
              <a:spLocks noChangeArrowheads="1"/>
            </p:cNvSpPr>
            <p:nvPr/>
          </p:nvSpPr>
          <p:spPr bwMode="auto">
            <a:xfrm>
              <a:off x="346744"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3" name="Freeform 28"/>
            <p:cNvSpPr>
              <a:spLocks noChangeArrowheads="1"/>
            </p:cNvSpPr>
            <p:nvPr/>
          </p:nvSpPr>
          <p:spPr bwMode="auto">
            <a:xfrm>
              <a:off x="346744"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4" name="Freeform 29"/>
            <p:cNvSpPr>
              <a:spLocks noChangeArrowheads="1"/>
            </p:cNvSpPr>
            <p:nvPr/>
          </p:nvSpPr>
          <p:spPr bwMode="auto">
            <a:xfrm>
              <a:off x="346744"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5" name="Freeform 30"/>
            <p:cNvSpPr>
              <a:spLocks noChangeArrowheads="1"/>
            </p:cNvSpPr>
            <p:nvPr/>
          </p:nvSpPr>
          <p:spPr bwMode="auto">
            <a:xfrm>
              <a:off x="519516" y="116382"/>
              <a:ext cx="83987"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6" name="Freeform 31"/>
            <p:cNvSpPr>
              <a:spLocks noChangeArrowheads="1"/>
            </p:cNvSpPr>
            <p:nvPr/>
          </p:nvSpPr>
          <p:spPr bwMode="auto">
            <a:xfrm>
              <a:off x="519516" y="274756"/>
              <a:ext cx="83987"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7" name="Freeform 32"/>
            <p:cNvSpPr>
              <a:spLocks noChangeArrowheads="1"/>
            </p:cNvSpPr>
            <p:nvPr/>
          </p:nvSpPr>
          <p:spPr bwMode="auto">
            <a:xfrm>
              <a:off x="688689" y="116382"/>
              <a:ext cx="85186"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8" name="Freeform 33"/>
            <p:cNvSpPr>
              <a:spLocks noChangeArrowheads="1"/>
            </p:cNvSpPr>
            <p:nvPr/>
          </p:nvSpPr>
          <p:spPr bwMode="auto">
            <a:xfrm>
              <a:off x="688689" y="274756"/>
              <a:ext cx="85186"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9" name="Freeform 34"/>
            <p:cNvSpPr>
              <a:spLocks noChangeArrowheads="1"/>
            </p:cNvSpPr>
            <p:nvPr/>
          </p:nvSpPr>
          <p:spPr bwMode="auto">
            <a:xfrm>
              <a:off x="176371"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sp>
        <p:nvSpPr>
          <p:cNvPr id="30" name="Freeform 84"/>
          <p:cNvSpPr>
            <a:spLocks noChangeAspect="1" noEditPoints="1" noChangeArrowheads="1"/>
          </p:cNvSpPr>
          <p:nvPr/>
        </p:nvSpPr>
        <p:spPr bwMode="auto">
          <a:xfrm>
            <a:off x="4557745" y="4178965"/>
            <a:ext cx="333822" cy="333006"/>
          </a:xfrm>
          <a:custGeom>
            <a:avLst/>
            <a:gdLst>
              <a:gd name="T0" fmla="*/ 170 w 170"/>
              <a:gd name="T1" fmla="*/ 0 h 168"/>
              <a:gd name="T2" fmla="*/ 162 w 170"/>
              <a:gd name="T3" fmla="*/ 16 h 168"/>
              <a:gd name="T4" fmla="*/ 170 w 170"/>
              <a:gd name="T5" fmla="*/ 103 h 168"/>
              <a:gd name="T6" fmla="*/ 93 w 170"/>
              <a:gd name="T7" fmla="*/ 119 h 168"/>
              <a:gd name="T8" fmla="*/ 128 w 170"/>
              <a:gd name="T9" fmla="*/ 152 h 168"/>
              <a:gd name="T10" fmla="*/ 42 w 170"/>
              <a:gd name="T11" fmla="*/ 168 h 168"/>
              <a:gd name="T12" fmla="*/ 77 w 170"/>
              <a:gd name="T13" fmla="*/ 152 h 168"/>
              <a:gd name="T14" fmla="*/ 0 w 170"/>
              <a:gd name="T15" fmla="*/ 119 h 168"/>
              <a:gd name="T16" fmla="*/ 6 w 170"/>
              <a:gd name="T17" fmla="*/ 103 h 168"/>
              <a:gd name="T18" fmla="*/ 0 w 170"/>
              <a:gd name="T19" fmla="*/ 16 h 168"/>
              <a:gd name="T20" fmla="*/ 0 w 170"/>
              <a:gd name="T21" fmla="*/ 0 h 168"/>
              <a:gd name="T22" fmla="*/ 122 w 170"/>
              <a:gd name="T23" fmla="*/ 40 h 168"/>
              <a:gd name="T24" fmla="*/ 115 w 170"/>
              <a:gd name="T25" fmla="*/ 44 h 168"/>
              <a:gd name="T26" fmla="*/ 75 w 170"/>
              <a:gd name="T27" fmla="*/ 52 h 168"/>
              <a:gd name="T28" fmla="*/ 73 w 170"/>
              <a:gd name="T29" fmla="*/ 50 h 168"/>
              <a:gd name="T30" fmla="*/ 50 w 170"/>
              <a:gd name="T31" fmla="*/ 67 h 168"/>
              <a:gd name="T32" fmla="*/ 85 w 170"/>
              <a:gd name="T33" fmla="*/ 65 h 168"/>
              <a:gd name="T34" fmla="*/ 89 w 170"/>
              <a:gd name="T35" fmla="*/ 67 h 168"/>
              <a:gd name="T36" fmla="*/ 120 w 170"/>
              <a:gd name="T37" fmla="*/ 52 h 168"/>
              <a:gd name="T38" fmla="*/ 128 w 170"/>
              <a:gd name="T39" fmla="*/ 40 h 168"/>
              <a:gd name="T40" fmla="*/ 113 w 170"/>
              <a:gd name="T41" fmla="*/ 58 h 168"/>
              <a:gd name="T42" fmla="*/ 122 w 170"/>
              <a:gd name="T43" fmla="*/ 85 h 168"/>
              <a:gd name="T44" fmla="*/ 113 w 170"/>
              <a:gd name="T45" fmla="*/ 58 h 168"/>
              <a:gd name="T46" fmla="*/ 101 w 170"/>
              <a:gd name="T47" fmla="*/ 67 h 168"/>
              <a:gd name="T48" fmla="*/ 109 w 170"/>
              <a:gd name="T49" fmla="*/ 85 h 168"/>
              <a:gd name="T50" fmla="*/ 101 w 170"/>
              <a:gd name="T51" fmla="*/ 67 h 168"/>
              <a:gd name="T52" fmla="*/ 87 w 170"/>
              <a:gd name="T53" fmla="*/ 77 h 168"/>
              <a:gd name="T54" fmla="*/ 95 w 170"/>
              <a:gd name="T55" fmla="*/ 85 h 168"/>
              <a:gd name="T56" fmla="*/ 87 w 170"/>
              <a:gd name="T57" fmla="*/ 77 h 168"/>
              <a:gd name="T58" fmla="*/ 75 w 170"/>
              <a:gd name="T59" fmla="*/ 69 h 168"/>
              <a:gd name="T60" fmla="*/ 83 w 170"/>
              <a:gd name="T61" fmla="*/ 85 h 168"/>
              <a:gd name="T62" fmla="*/ 75 w 170"/>
              <a:gd name="T63" fmla="*/ 69 h 168"/>
              <a:gd name="T64" fmla="*/ 63 w 170"/>
              <a:gd name="T65" fmla="*/ 69 h 168"/>
              <a:gd name="T66" fmla="*/ 71 w 170"/>
              <a:gd name="T67" fmla="*/ 85 h 168"/>
              <a:gd name="T68" fmla="*/ 63 w 170"/>
              <a:gd name="T69" fmla="*/ 69 h 168"/>
              <a:gd name="T70" fmla="*/ 48 w 170"/>
              <a:gd name="T71" fmla="*/ 73 h 168"/>
              <a:gd name="T72" fmla="*/ 56 w 170"/>
              <a:gd name="T73" fmla="*/ 85 h 168"/>
              <a:gd name="T74" fmla="*/ 48 w 170"/>
              <a:gd name="T75" fmla="*/ 73 h 168"/>
              <a:gd name="T76" fmla="*/ 146 w 170"/>
              <a:gd name="T77" fmla="*/ 18 h 168"/>
              <a:gd name="T78" fmla="*/ 24 w 170"/>
              <a:gd name="T79" fmla="*/ 101 h 168"/>
              <a:gd name="T80" fmla="*/ 146 w 170"/>
              <a:gd name="T81" fmla="*/ 18 h 1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
              <a:gd name="T124" fmla="*/ 0 h 168"/>
              <a:gd name="T125" fmla="*/ 170 w 170"/>
              <a:gd name="T126" fmla="*/ 168 h 1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 h="168">
                <a:moveTo>
                  <a:pt x="0" y="0"/>
                </a:moveTo>
                <a:lnTo>
                  <a:pt x="170" y="0"/>
                </a:lnTo>
                <a:lnTo>
                  <a:pt x="170" y="16"/>
                </a:lnTo>
                <a:lnTo>
                  <a:pt x="162" y="16"/>
                </a:lnTo>
                <a:lnTo>
                  <a:pt x="162" y="103"/>
                </a:lnTo>
                <a:lnTo>
                  <a:pt x="170" y="103"/>
                </a:lnTo>
                <a:lnTo>
                  <a:pt x="170" y="119"/>
                </a:lnTo>
                <a:lnTo>
                  <a:pt x="93" y="119"/>
                </a:lnTo>
                <a:lnTo>
                  <a:pt x="93" y="152"/>
                </a:lnTo>
                <a:lnTo>
                  <a:pt x="128" y="152"/>
                </a:lnTo>
                <a:lnTo>
                  <a:pt x="128" y="168"/>
                </a:lnTo>
                <a:lnTo>
                  <a:pt x="42" y="168"/>
                </a:lnTo>
                <a:lnTo>
                  <a:pt x="42" y="152"/>
                </a:lnTo>
                <a:lnTo>
                  <a:pt x="77" y="152"/>
                </a:lnTo>
                <a:lnTo>
                  <a:pt x="77" y="119"/>
                </a:lnTo>
                <a:lnTo>
                  <a:pt x="0" y="119"/>
                </a:lnTo>
                <a:lnTo>
                  <a:pt x="0" y="103"/>
                </a:lnTo>
                <a:lnTo>
                  <a:pt x="6" y="103"/>
                </a:lnTo>
                <a:lnTo>
                  <a:pt x="6" y="16"/>
                </a:lnTo>
                <a:lnTo>
                  <a:pt x="0" y="16"/>
                </a:lnTo>
                <a:lnTo>
                  <a:pt x="0" y="0"/>
                </a:lnTo>
                <a:lnTo>
                  <a:pt x="0" y="0"/>
                </a:lnTo>
                <a:close/>
                <a:moveTo>
                  <a:pt x="128" y="40"/>
                </a:moveTo>
                <a:lnTo>
                  <a:pt x="122" y="40"/>
                </a:lnTo>
                <a:lnTo>
                  <a:pt x="113" y="40"/>
                </a:lnTo>
                <a:lnTo>
                  <a:pt x="115" y="44"/>
                </a:lnTo>
                <a:lnTo>
                  <a:pt x="87" y="61"/>
                </a:lnTo>
                <a:lnTo>
                  <a:pt x="75" y="52"/>
                </a:lnTo>
                <a:lnTo>
                  <a:pt x="75" y="50"/>
                </a:lnTo>
                <a:lnTo>
                  <a:pt x="73" y="50"/>
                </a:lnTo>
                <a:lnTo>
                  <a:pt x="48" y="61"/>
                </a:lnTo>
                <a:lnTo>
                  <a:pt x="50" y="67"/>
                </a:lnTo>
                <a:lnTo>
                  <a:pt x="73" y="56"/>
                </a:lnTo>
                <a:lnTo>
                  <a:pt x="85" y="65"/>
                </a:lnTo>
                <a:lnTo>
                  <a:pt x="87" y="67"/>
                </a:lnTo>
                <a:lnTo>
                  <a:pt x="89" y="67"/>
                </a:lnTo>
                <a:lnTo>
                  <a:pt x="117" y="48"/>
                </a:lnTo>
                <a:lnTo>
                  <a:pt x="120" y="52"/>
                </a:lnTo>
                <a:lnTo>
                  <a:pt x="124" y="46"/>
                </a:lnTo>
                <a:lnTo>
                  <a:pt x="128" y="40"/>
                </a:lnTo>
                <a:lnTo>
                  <a:pt x="128" y="40"/>
                </a:lnTo>
                <a:close/>
                <a:moveTo>
                  <a:pt x="113" y="58"/>
                </a:moveTo>
                <a:lnTo>
                  <a:pt x="113" y="85"/>
                </a:lnTo>
                <a:lnTo>
                  <a:pt x="122" y="85"/>
                </a:lnTo>
                <a:lnTo>
                  <a:pt x="122" y="58"/>
                </a:lnTo>
                <a:lnTo>
                  <a:pt x="113" y="58"/>
                </a:lnTo>
                <a:lnTo>
                  <a:pt x="113" y="58"/>
                </a:lnTo>
                <a:close/>
                <a:moveTo>
                  <a:pt x="101" y="67"/>
                </a:moveTo>
                <a:lnTo>
                  <a:pt x="101" y="85"/>
                </a:lnTo>
                <a:lnTo>
                  <a:pt x="109" y="85"/>
                </a:lnTo>
                <a:lnTo>
                  <a:pt x="109" y="67"/>
                </a:lnTo>
                <a:lnTo>
                  <a:pt x="101" y="67"/>
                </a:lnTo>
                <a:lnTo>
                  <a:pt x="101" y="67"/>
                </a:lnTo>
                <a:close/>
                <a:moveTo>
                  <a:pt x="87" y="77"/>
                </a:moveTo>
                <a:lnTo>
                  <a:pt x="87" y="85"/>
                </a:lnTo>
                <a:lnTo>
                  <a:pt x="95" y="85"/>
                </a:lnTo>
                <a:lnTo>
                  <a:pt x="95" y="77"/>
                </a:lnTo>
                <a:lnTo>
                  <a:pt x="87" y="77"/>
                </a:lnTo>
                <a:lnTo>
                  <a:pt x="87" y="77"/>
                </a:lnTo>
                <a:close/>
                <a:moveTo>
                  <a:pt x="75" y="69"/>
                </a:moveTo>
                <a:lnTo>
                  <a:pt x="75" y="85"/>
                </a:lnTo>
                <a:lnTo>
                  <a:pt x="83" y="85"/>
                </a:lnTo>
                <a:lnTo>
                  <a:pt x="83" y="69"/>
                </a:lnTo>
                <a:lnTo>
                  <a:pt x="75" y="69"/>
                </a:lnTo>
                <a:lnTo>
                  <a:pt x="75" y="69"/>
                </a:lnTo>
                <a:close/>
                <a:moveTo>
                  <a:pt x="63" y="69"/>
                </a:moveTo>
                <a:lnTo>
                  <a:pt x="63" y="85"/>
                </a:lnTo>
                <a:lnTo>
                  <a:pt x="71" y="85"/>
                </a:lnTo>
                <a:lnTo>
                  <a:pt x="71" y="69"/>
                </a:lnTo>
                <a:lnTo>
                  <a:pt x="63" y="69"/>
                </a:lnTo>
                <a:lnTo>
                  <a:pt x="63" y="69"/>
                </a:lnTo>
                <a:close/>
                <a:moveTo>
                  <a:pt x="48" y="73"/>
                </a:moveTo>
                <a:lnTo>
                  <a:pt x="48" y="85"/>
                </a:lnTo>
                <a:lnTo>
                  <a:pt x="56" y="85"/>
                </a:lnTo>
                <a:lnTo>
                  <a:pt x="56" y="73"/>
                </a:lnTo>
                <a:lnTo>
                  <a:pt x="48" y="73"/>
                </a:lnTo>
                <a:lnTo>
                  <a:pt x="48" y="73"/>
                </a:lnTo>
                <a:close/>
                <a:moveTo>
                  <a:pt x="146" y="18"/>
                </a:moveTo>
                <a:lnTo>
                  <a:pt x="24" y="18"/>
                </a:lnTo>
                <a:lnTo>
                  <a:pt x="24" y="101"/>
                </a:lnTo>
                <a:lnTo>
                  <a:pt x="146" y="101"/>
                </a:lnTo>
                <a:lnTo>
                  <a:pt x="146" y="18"/>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1" name="Freeform 9"/>
          <p:cNvSpPr>
            <a:spLocks noChangeAspect="1" noEditPoints="1" noChangeArrowheads="1"/>
          </p:cNvSpPr>
          <p:nvPr/>
        </p:nvSpPr>
        <p:spPr bwMode="auto">
          <a:xfrm>
            <a:off x="6538656" y="4178964"/>
            <a:ext cx="361886" cy="333007"/>
          </a:xfrm>
          <a:custGeom>
            <a:avLst/>
            <a:gdLst>
              <a:gd name="T0" fmla="*/ 141 w 181"/>
              <a:gd name="T1" fmla="*/ 0 h 165"/>
              <a:gd name="T2" fmla="*/ 149 w 181"/>
              <a:gd name="T3" fmla="*/ 8 h 165"/>
              <a:gd name="T4" fmla="*/ 134 w 181"/>
              <a:gd name="T5" fmla="*/ 47 h 165"/>
              <a:gd name="T6" fmla="*/ 33 w 181"/>
              <a:gd name="T7" fmla="*/ 14 h 165"/>
              <a:gd name="T8" fmla="*/ 39 w 181"/>
              <a:gd name="T9" fmla="*/ 20 h 165"/>
              <a:gd name="T10" fmla="*/ 51 w 181"/>
              <a:gd name="T11" fmla="*/ 31 h 165"/>
              <a:gd name="T12" fmla="*/ 33 w 181"/>
              <a:gd name="T13" fmla="*/ 39 h 165"/>
              <a:gd name="T14" fmla="*/ 39 w 181"/>
              <a:gd name="T15" fmla="*/ 45 h 165"/>
              <a:gd name="T16" fmla="*/ 51 w 181"/>
              <a:gd name="T17" fmla="*/ 55 h 165"/>
              <a:gd name="T18" fmla="*/ 33 w 181"/>
              <a:gd name="T19" fmla="*/ 63 h 165"/>
              <a:gd name="T20" fmla="*/ 39 w 181"/>
              <a:gd name="T21" fmla="*/ 67 h 165"/>
              <a:gd name="T22" fmla="*/ 51 w 181"/>
              <a:gd name="T23" fmla="*/ 77 h 165"/>
              <a:gd name="T24" fmla="*/ 33 w 181"/>
              <a:gd name="T25" fmla="*/ 86 h 165"/>
              <a:gd name="T26" fmla="*/ 39 w 181"/>
              <a:gd name="T27" fmla="*/ 90 h 165"/>
              <a:gd name="T28" fmla="*/ 51 w 181"/>
              <a:gd name="T29" fmla="*/ 100 h 165"/>
              <a:gd name="T30" fmla="*/ 33 w 181"/>
              <a:gd name="T31" fmla="*/ 110 h 165"/>
              <a:gd name="T32" fmla="*/ 39 w 181"/>
              <a:gd name="T33" fmla="*/ 116 h 165"/>
              <a:gd name="T34" fmla="*/ 51 w 181"/>
              <a:gd name="T35" fmla="*/ 126 h 165"/>
              <a:gd name="T36" fmla="*/ 33 w 181"/>
              <a:gd name="T37" fmla="*/ 134 h 165"/>
              <a:gd name="T38" fmla="*/ 33 w 181"/>
              <a:gd name="T39" fmla="*/ 151 h 165"/>
              <a:gd name="T40" fmla="*/ 134 w 181"/>
              <a:gd name="T41" fmla="*/ 118 h 165"/>
              <a:gd name="T42" fmla="*/ 149 w 181"/>
              <a:gd name="T43" fmla="*/ 157 h 165"/>
              <a:gd name="T44" fmla="*/ 141 w 181"/>
              <a:gd name="T45" fmla="*/ 165 h 165"/>
              <a:gd name="T46" fmla="*/ 19 w 181"/>
              <a:gd name="T47" fmla="*/ 165 h 165"/>
              <a:gd name="T48" fmla="*/ 19 w 181"/>
              <a:gd name="T49" fmla="*/ 146 h 165"/>
              <a:gd name="T50" fmla="*/ 0 w 181"/>
              <a:gd name="T51" fmla="*/ 132 h 165"/>
              <a:gd name="T52" fmla="*/ 19 w 181"/>
              <a:gd name="T53" fmla="*/ 120 h 165"/>
              <a:gd name="T54" fmla="*/ 0 w 181"/>
              <a:gd name="T55" fmla="*/ 108 h 165"/>
              <a:gd name="T56" fmla="*/ 19 w 181"/>
              <a:gd name="T57" fmla="*/ 98 h 165"/>
              <a:gd name="T58" fmla="*/ 0 w 181"/>
              <a:gd name="T59" fmla="*/ 83 h 165"/>
              <a:gd name="T60" fmla="*/ 19 w 181"/>
              <a:gd name="T61" fmla="*/ 75 h 165"/>
              <a:gd name="T62" fmla="*/ 0 w 181"/>
              <a:gd name="T63" fmla="*/ 61 h 165"/>
              <a:gd name="T64" fmla="*/ 19 w 181"/>
              <a:gd name="T65" fmla="*/ 51 h 165"/>
              <a:gd name="T66" fmla="*/ 0 w 181"/>
              <a:gd name="T67" fmla="*/ 39 h 165"/>
              <a:gd name="T68" fmla="*/ 19 w 181"/>
              <a:gd name="T69" fmla="*/ 8 h 165"/>
              <a:gd name="T70" fmla="*/ 27 w 181"/>
              <a:gd name="T71" fmla="*/ 0 h 165"/>
              <a:gd name="T72" fmla="*/ 63 w 181"/>
              <a:gd name="T73" fmla="*/ 79 h 165"/>
              <a:gd name="T74" fmla="*/ 84 w 181"/>
              <a:gd name="T75" fmla="*/ 88 h 165"/>
              <a:gd name="T76" fmla="*/ 63 w 181"/>
              <a:gd name="T77" fmla="*/ 79 h 165"/>
              <a:gd name="T78" fmla="*/ 63 w 181"/>
              <a:gd name="T79" fmla="*/ 61 h 165"/>
              <a:gd name="T80" fmla="*/ 100 w 181"/>
              <a:gd name="T81" fmla="*/ 69 h 165"/>
              <a:gd name="T82" fmla="*/ 63 w 181"/>
              <a:gd name="T83" fmla="*/ 61 h 165"/>
              <a:gd name="T84" fmla="*/ 63 w 181"/>
              <a:gd name="T85" fmla="*/ 45 h 165"/>
              <a:gd name="T86" fmla="*/ 116 w 181"/>
              <a:gd name="T87" fmla="*/ 53 h 165"/>
              <a:gd name="T88" fmla="*/ 63 w 181"/>
              <a:gd name="T89" fmla="*/ 45 h 165"/>
              <a:gd name="T90" fmla="*/ 63 w 181"/>
              <a:gd name="T91" fmla="*/ 29 h 165"/>
              <a:gd name="T92" fmla="*/ 116 w 181"/>
              <a:gd name="T93" fmla="*/ 35 h 165"/>
              <a:gd name="T94" fmla="*/ 63 w 181"/>
              <a:gd name="T95" fmla="*/ 29 h 165"/>
              <a:gd name="T96" fmla="*/ 84 w 181"/>
              <a:gd name="T97" fmla="*/ 130 h 165"/>
              <a:gd name="T98" fmla="*/ 106 w 181"/>
              <a:gd name="T99" fmla="*/ 130 h 165"/>
              <a:gd name="T100" fmla="*/ 86 w 181"/>
              <a:gd name="T101" fmla="*/ 108 h 165"/>
              <a:gd name="T102" fmla="*/ 84 w 181"/>
              <a:gd name="T103" fmla="*/ 130 h 165"/>
              <a:gd name="T104" fmla="*/ 161 w 181"/>
              <a:gd name="T105" fmla="*/ 37 h 165"/>
              <a:gd name="T106" fmla="*/ 116 w 181"/>
              <a:gd name="T107" fmla="*/ 120 h 165"/>
              <a:gd name="T108" fmla="*/ 161 w 181"/>
              <a:gd name="T109" fmla="*/ 37 h 1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1"/>
              <a:gd name="T166" fmla="*/ 0 h 165"/>
              <a:gd name="T167" fmla="*/ 181 w 181"/>
              <a:gd name="T168" fmla="*/ 165 h 1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1" h="165">
                <a:moveTo>
                  <a:pt x="27" y="0"/>
                </a:moveTo>
                <a:lnTo>
                  <a:pt x="141" y="0"/>
                </a:lnTo>
                <a:lnTo>
                  <a:pt x="149" y="0"/>
                </a:lnTo>
                <a:lnTo>
                  <a:pt x="149" y="8"/>
                </a:lnTo>
                <a:lnTo>
                  <a:pt x="149" y="35"/>
                </a:lnTo>
                <a:lnTo>
                  <a:pt x="134" y="47"/>
                </a:lnTo>
                <a:lnTo>
                  <a:pt x="134" y="14"/>
                </a:lnTo>
                <a:lnTo>
                  <a:pt x="33" y="14"/>
                </a:lnTo>
                <a:lnTo>
                  <a:pt x="33" y="25"/>
                </a:lnTo>
                <a:lnTo>
                  <a:pt x="39" y="20"/>
                </a:lnTo>
                <a:lnTo>
                  <a:pt x="47" y="18"/>
                </a:lnTo>
                <a:lnTo>
                  <a:pt x="51" y="31"/>
                </a:lnTo>
                <a:lnTo>
                  <a:pt x="45" y="35"/>
                </a:lnTo>
                <a:lnTo>
                  <a:pt x="33" y="39"/>
                </a:lnTo>
                <a:lnTo>
                  <a:pt x="33" y="47"/>
                </a:lnTo>
                <a:lnTo>
                  <a:pt x="39" y="45"/>
                </a:lnTo>
                <a:lnTo>
                  <a:pt x="47" y="41"/>
                </a:lnTo>
                <a:lnTo>
                  <a:pt x="51" y="55"/>
                </a:lnTo>
                <a:lnTo>
                  <a:pt x="45" y="57"/>
                </a:lnTo>
                <a:lnTo>
                  <a:pt x="33" y="63"/>
                </a:lnTo>
                <a:lnTo>
                  <a:pt x="33" y="71"/>
                </a:lnTo>
                <a:lnTo>
                  <a:pt x="39" y="67"/>
                </a:lnTo>
                <a:lnTo>
                  <a:pt x="47" y="65"/>
                </a:lnTo>
                <a:lnTo>
                  <a:pt x="51" y="77"/>
                </a:lnTo>
                <a:lnTo>
                  <a:pt x="45" y="81"/>
                </a:lnTo>
                <a:lnTo>
                  <a:pt x="33" y="86"/>
                </a:lnTo>
                <a:lnTo>
                  <a:pt x="33" y="94"/>
                </a:lnTo>
                <a:lnTo>
                  <a:pt x="39" y="90"/>
                </a:lnTo>
                <a:lnTo>
                  <a:pt x="47" y="88"/>
                </a:lnTo>
                <a:lnTo>
                  <a:pt x="51" y="100"/>
                </a:lnTo>
                <a:lnTo>
                  <a:pt x="45" y="104"/>
                </a:lnTo>
                <a:lnTo>
                  <a:pt x="33" y="110"/>
                </a:lnTo>
                <a:lnTo>
                  <a:pt x="33" y="118"/>
                </a:lnTo>
                <a:lnTo>
                  <a:pt x="39" y="116"/>
                </a:lnTo>
                <a:lnTo>
                  <a:pt x="47" y="112"/>
                </a:lnTo>
                <a:lnTo>
                  <a:pt x="51" y="126"/>
                </a:lnTo>
                <a:lnTo>
                  <a:pt x="45" y="128"/>
                </a:lnTo>
                <a:lnTo>
                  <a:pt x="33" y="134"/>
                </a:lnTo>
                <a:lnTo>
                  <a:pt x="33" y="146"/>
                </a:lnTo>
                <a:lnTo>
                  <a:pt x="33" y="151"/>
                </a:lnTo>
                <a:lnTo>
                  <a:pt x="134" y="151"/>
                </a:lnTo>
                <a:lnTo>
                  <a:pt x="134" y="118"/>
                </a:lnTo>
                <a:lnTo>
                  <a:pt x="149" y="106"/>
                </a:lnTo>
                <a:lnTo>
                  <a:pt x="149" y="157"/>
                </a:lnTo>
                <a:lnTo>
                  <a:pt x="149" y="165"/>
                </a:lnTo>
                <a:lnTo>
                  <a:pt x="141" y="165"/>
                </a:lnTo>
                <a:lnTo>
                  <a:pt x="27" y="165"/>
                </a:lnTo>
                <a:lnTo>
                  <a:pt x="19" y="165"/>
                </a:lnTo>
                <a:lnTo>
                  <a:pt x="19" y="157"/>
                </a:lnTo>
                <a:lnTo>
                  <a:pt x="19" y="146"/>
                </a:lnTo>
                <a:lnTo>
                  <a:pt x="4" y="146"/>
                </a:lnTo>
                <a:lnTo>
                  <a:pt x="0" y="132"/>
                </a:lnTo>
                <a:lnTo>
                  <a:pt x="19" y="124"/>
                </a:lnTo>
                <a:lnTo>
                  <a:pt x="19" y="120"/>
                </a:lnTo>
                <a:lnTo>
                  <a:pt x="4" y="120"/>
                </a:lnTo>
                <a:lnTo>
                  <a:pt x="0" y="108"/>
                </a:lnTo>
                <a:lnTo>
                  <a:pt x="19" y="100"/>
                </a:lnTo>
                <a:lnTo>
                  <a:pt x="19" y="98"/>
                </a:lnTo>
                <a:lnTo>
                  <a:pt x="4" y="98"/>
                </a:lnTo>
                <a:lnTo>
                  <a:pt x="0" y="83"/>
                </a:lnTo>
                <a:lnTo>
                  <a:pt x="19" y="77"/>
                </a:lnTo>
                <a:lnTo>
                  <a:pt x="19" y="75"/>
                </a:lnTo>
                <a:lnTo>
                  <a:pt x="4" y="75"/>
                </a:lnTo>
                <a:lnTo>
                  <a:pt x="0" y="61"/>
                </a:lnTo>
                <a:lnTo>
                  <a:pt x="19" y="53"/>
                </a:lnTo>
                <a:lnTo>
                  <a:pt x="19" y="51"/>
                </a:lnTo>
                <a:lnTo>
                  <a:pt x="4" y="51"/>
                </a:lnTo>
                <a:lnTo>
                  <a:pt x="0" y="39"/>
                </a:lnTo>
                <a:lnTo>
                  <a:pt x="19" y="31"/>
                </a:lnTo>
                <a:lnTo>
                  <a:pt x="19" y="8"/>
                </a:lnTo>
                <a:lnTo>
                  <a:pt x="19" y="0"/>
                </a:lnTo>
                <a:lnTo>
                  <a:pt x="27" y="0"/>
                </a:lnTo>
                <a:lnTo>
                  <a:pt x="27" y="0"/>
                </a:lnTo>
                <a:close/>
                <a:moveTo>
                  <a:pt x="63" y="79"/>
                </a:moveTo>
                <a:lnTo>
                  <a:pt x="63" y="88"/>
                </a:lnTo>
                <a:lnTo>
                  <a:pt x="84" y="88"/>
                </a:lnTo>
                <a:lnTo>
                  <a:pt x="84" y="79"/>
                </a:lnTo>
                <a:lnTo>
                  <a:pt x="63" y="79"/>
                </a:lnTo>
                <a:lnTo>
                  <a:pt x="63" y="79"/>
                </a:lnTo>
                <a:close/>
                <a:moveTo>
                  <a:pt x="63" y="61"/>
                </a:moveTo>
                <a:lnTo>
                  <a:pt x="63" y="69"/>
                </a:lnTo>
                <a:lnTo>
                  <a:pt x="100" y="69"/>
                </a:lnTo>
                <a:lnTo>
                  <a:pt x="100" y="61"/>
                </a:lnTo>
                <a:lnTo>
                  <a:pt x="63" y="61"/>
                </a:lnTo>
                <a:lnTo>
                  <a:pt x="63" y="61"/>
                </a:lnTo>
                <a:close/>
                <a:moveTo>
                  <a:pt x="63" y="45"/>
                </a:moveTo>
                <a:lnTo>
                  <a:pt x="63" y="53"/>
                </a:lnTo>
                <a:lnTo>
                  <a:pt x="116" y="53"/>
                </a:lnTo>
                <a:lnTo>
                  <a:pt x="116" y="45"/>
                </a:lnTo>
                <a:lnTo>
                  <a:pt x="63" y="45"/>
                </a:lnTo>
                <a:lnTo>
                  <a:pt x="63" y="45"/>
                </a:lnTo>
                <a:close/>
                <a:moveTo>
                  <a:pt x="63" y="29"/>
                </a:moveTo>
                <a:lnTo>
                  <a:pt x="63" y="35"/>
                </a:lnTo>
                <a:lnTo>
                  <a:pt x="116" y="35"/>
                </a:lnTo>
                <a:lnTo>
                  <a:pt x="116" y="29"/>
                </a:lnTo>
                <a:lnTo>
                  <a:pt x="63" y="29"/>
                </a:lnTo>
                <a:lnTo>
                  <a:pt x="63" y="29"/>
                </a:lnTo>
                <a:close/>
                <a:moveTo>
                  <a:pt x="84" y="130"/>
                </a:moveTo>
                <a:lnTo>
                  <a:pt x="96" y="130"/>
                </a:lnTo>
                <a:lnTo>
                  <a:pt x="106" y="130"/>
                </a:lnTo>
                <a:lnTo>
                  <a:pt x="96" y="118"/>
                </a:lnTo>
                <a:lnTo>
                  <a:pt x="86" y="108"/>
                </a:lnTo>
                <a:lnTo>
                  <a:pt x="86" y="120"/>
                </a:lnTo>
                <a:lnTo>
                  <a:pt x="84" y="130"/>
                </a:lnTo>
                <a:lnTo>
                  <a:pt x="84" y="130"/>
                </a:lnTo>
                <a:close/>
                <a:moveTo>
                  <a:pt x="161" y="37"/>
                </a:moveTo>
                <a:lnTo>
                  <a:pt x="96" y="100"/>
                </a:lnTo>
                <a:lnTo>
                  <a:pt x="116" y="120"/>
                </a:lnTo>
                <a:lnTo>
                  <a:pt x="181" y="57"/>
                </a:lnTo>
                <a:lnTo>
                  <a:pt x="161" y="37"/>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3" name="文本框 32">
            <a:extLst>
              <a:ext uri="{FF2B5EF4-FFF2-40B4-BE49-F238E27FC236}">
                <a16:creationId xmlns:a16="http://schemas.microsoft.com/office/drawing/2014/main" id="{08D0E11D-9DF4-3F6F-4654-687E1E87F48B}"/>
              </a:ext>
            </a:extLst>
          </p:cNvPr>
          <p:cNvSpPr txBox="1"/>
          <p:nvPr/>
        </p:nvSpPr>
        <p:spPr>
          <a:xfrm>
            <a:off x="2326673" y="2058289"/>
            <a:ext cx="7537347" cy="954107"/>
          </a:xfrm>
          <a:prstGeom prst="rect">
            <a:avLst/>
          </a:prstGeom>
          <a:noFill/>
        </p:spPr>
        <p:txBody>
          <a:bodyPr wrap="square">
            <a:sp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a:ea typeface="微软雅黑"/>
                <a:cs typeface="+mn-cs"/>
              </a:rPr>
              <a:t>Task Arithmetic in the Tangent Space: Improved Editing of Pre-Trained Models</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37" name="文本框 36">
            <a:extLst>
              <a:ext uri="{FF2B5EF4-FFF2-40B4-BE49-F238E27FC236}">
                <a16:creationId xmlns:a16="http://schemas.microsoft.com/office/drawing/2014/main" id="{D66D9E3F-D927-791F-1724-AD43A81C593F}"/>
              </a:ext>
            </a:extLst>
          </p:cNvPr>
          <p:cNvSpPr txBox="1"/>
          <p:nvPr/>
        </p:nvSpPr>
        <p:spPr>
          <a:xfrm>
            <a:off x="2233542" y="3126399"/>
            <a:ext cx="7721725" cy="646331"/>
          </a:xfrm>
          <a:prstGeom prst="rect">
            <a:avLst/>
          </a:prstGeom>
          <a:noFill/>
        </p:spPr>
        <p:txBody>
          <a:bodyPr wrap="square">
            <a:spAutoFit/>
          </a:bodyPr>
          <a:lstStyle/>
          <a:p>
            <a:pPr algn="ctr"/>
            <a:r>
              <a:rPr lang="zh-CN" altLang="en-US" dirty="0"/>
              <a:t>作者：</a:t>
            </a:r>
            <a:r>
              <a:rPr lang="en-US" altLang="zh-CN" dirty="0"/>
              <a:t>Guillermo Ortiz-Jimenez</a:t>
            </a:r>
            <a:r>
              <a:rPr lang="zh-CN" altLang="en-US" dirty="0"/>
              <a:t>、</a:t>
            </a:r>
            <a:r>
              <a:rPr lang="en-US" altLang="zh-CN" dirty="0"/>
              <a:t>Alessandro </a:t>
            </a:r>
            <a:r>
              <a:rPr lang="en-US" altLang="zh-CN" dirty="0" err="1"/>
              <a:t>Favero</a:t>
            </a:r>
            <a:r>
              <a:rPr lang="zh-CN" altLang="en-US" dirty="0"/>
              <a:t>、</a:t>
            </a:r>
            <a:r>
              <a:rPr lang="en-US" altLang="zh-CN" dirty="0"/>
              <a:t>Pascal </a:t>
            </a:r>
            <a:r>
              <a:rPr lang="en-US" altLang="zh-CN" dirty="0" err="1"/>
              <a:t>Frossard</a:t>
            </a:r>
            <a:endParaRPr lang="zh-CN" altLang="en-US" dirty="0"/>
          </a:p>
          <a:p>
            <a:pPr algn="ctr"/>
            <a:endParaRPr lang="zh-CN" altLang="en-US" dirty="0"/>
          </a:p>
        </p:txBody>
      </p:sp>
    </p:spTree>
    <p:extLst>
      <p:ext uri="{BB962C8B-B14F-4D97-AF65-F5344CB8AC3E}">
        <p14:creationId xmlns:p14="http://schemas.microsoft.com/office/powerpoint/2010/main" val="13481219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5225625"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a:extLst>
              <a:ext uri="{FF2B5EF4-FFF2-40B4-BE49-F238E27FC236}">
                <a16:creationId xmlns:a16="http://schemas.microsoft.com/office/drawing/2014/main" id="{B18F1634-B900-850C-FEDB-98D19DED3341}"/>
              </a:ext>
            </a:extLst>
          </p:cNvPr>
          <p:cNvSpPr txBox="1"/>
          <p:nvPr/>
        </p:nvSpPr>
        <p:spPr>
          <a:xfrm>
            <a:off x="1150405" y="149467"/>
            <a:ext cx="6542864" cy="52322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altLang="zh-CN" sz="2800" b="1" dirty="0">
                <a:solidFill>
                  <a:srgbClr val="000000"/>
                </a:solidFill>
                <a:latin typeface="微软雅黑" panose="020B0503020204020204" pitchFamily="34" charset="-122"/>
                <a:ea typeface="微软雅黑" panose="020B0503020204020204" pitchFamily="34" charset="-122"/>
              </a:rPr>
              <a:t>1.</a:t>
            </a:r>
            <a:r>
              <a:rPr lang="zh-CN" altLang="en-US" sz="2800" b="1" dirty="0">
                <a:solidFill>
                  <a:srgbClr val="000000"/>
                </a:solidFill>
                <a:latin typeface="微软雅黑" panose="020B0503020204020204" pitchFamily="34" charset="-122"/>
                <a:ea typeface="微软雅黑" panose="020B0503020204020204" pitchFamily="34" charset="-122"/>
              </a:rPr>
              <a:t>任务向量</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a16="http://schemas.microsoft.com/office/drawing/2014/main" id="{36E9BD3C-4030-CE09-C047-FDB9E0A33480}"/>
              </a:ext>
            </a:extLst>
          </p:cNvPr>
          <p:cNvSpPr txBox="1"/>
          <p:nvPr/>
        </p:nvSpPr>
        <p:spPr>
          <a:xfrm>
            <a:off x="330313" y="1132672"/>
            <a:ext cx="8556511" cy="400110"/>
          </a:xfrm>
          <a:prstGeom prst="rect">
            <a:avLst/>
          </a:prstGeom>
          <a:noFill/>
        </p:spPr>
        <p:txBody>
          <a:bodyPr wrap="square">
            <a:spAutoFit/>
          </a:bodyPr>
          <a:lstStyle/>
          <a:p>
            <a:r>
              <a:rPr lang="zh-CN" altLang="en-US" sz="2000" b="1" dirty="0">
                <a:solidFill>
                  <a:srgbClr val="268F9C"/>
                </a:solidFill>
                <a:latin typeface="+mn-ea"/>
              </a:rPr>
              <a:t>出处：</a:t>
            </a:r>
            <a:r>
              <a:rPr lang="en-US" altLang="zh-CN" sz="2000" dirty="0">
                <a:latin typeface="+mn-ea"/>
              </a:rPr>
              <a:t>Editing Models With Task Arithmetic (Gabriel </a:t>
            </a:r>
            <a:r>
              <a:rPr lang="en-US" altLang="zh-CN" sz="2000" dirty="0" err="1">
                <a:latin typeface="+mn-ea"/>
              </a:rPr>
              <a:t>Ilharco</a:t>
            </a:r>
            <a:r>
              <a:rPr lang="en-US" altLang="zh-CN" sz="2000" dirty="0">
                <a:latin typeface="+mn-ea"/>
              </a:rPr>
              <a:t> et al.)</a:t>
            </a:r>
            <a:endParaRPr lang="en-US" altLang="zh-CN" dirty="0">
              <a:latin typeface="+mn-ea"/>
            </a:endParaRPr>
          </a:p>
        </p:txBody>
      </p:sp>
      <p:sp>
        <p:nvSpPr>
          <p:cNvPr id="9" name="文本框 8">
            <a:extLst>
              <a:ext uri="{FF2B5EF4-FFF2-40B4-BE49-F238E27FC236}">
                <a16:creationId xmlns:a16="http://schemas.microsoft.com/office/drawing/2014/main" id="{D1849550-519D-43A3-DEAD-7DA4ABA71701}"/>
              </a:ext>
            </a:extLst>
          </p:cNvPr>
          <p:cNvSpPr txBox="1"/>
          <p:nvPr/>
        </p:nvSpPr>
        <p:spPr>
          <a:xfrm>
            <a:off x="330313" y="1745117"/>
            <a:ext cx="10585337" cy="707886"/>
          </a:xfrm>
          <a:prstGeom prst="rect">
            <a:avLst/>
          </a:prstGeom>
          <a:noFill/>
        </p:spPr>
        <p:txBody>
          <a:bodyPr wrap="square">
            <a:spAutoFit/>
          </a:bodyPr>
          <a:lstStyle/>
          <a:p>
            <a:r>
              <a:rPr lang="zh-CN" altLang="en-US" sz="2000" b="1" dirty="0">
                <a:solidFill>
                  <a:srgbClr val="268F9C"/>
                </a:solidFill>
                <a:latin typeface="+mn-ea"/>
              </a:rPr>
              <a:t>主要思想：</a:t>
            </a:r>
            <a:r>
              <a:rPr lang="zh-CN" altLang="en-US" sz="2000" dirty="0">
                <a:latin typeface="+mn-ea"/>
              </a:rPr>
              <a:t>通过微调后的模型权重减去预训练模型的权重获得</a:t>
            </a:r>
            <a:r>
              <a:rPr lang="zh-CN" altLang="en-US" sz="2000" dirty="0">
                <a:solidFill>
                  <a:schemeClr val="accent4"/>
                </a:solidFill>
                <a:latin typeface="+mn-ea"/>
              </a:rPr>
              <a:t>任务向量</a:t>
            </a:r>
            <a:r>
              <a:rPr lang="zh-CN" altLang="en-US" sz="2000" dirty="0">
                <a:latin typeface="+mn-ea"/>
              </a:rPr>
              <a:t>，然后对任务向量进行算术运算来控制模型行为</a:t>
            </a:r>
            <a:r>
              <a:rPr lang="en-US" altLang="zh-CN" sz="2000" dirty="0">
                <a:latin typeface="+mn-ea"/>
              </a:rPr>
              <a:t>(</a:t>
            </a:r>
            <a:r>
              <a:rPr lang="zh-CN" altLang="en-US" sz="2000" dirty="0">
                <a:solidFill>
                  <a:schemeClr val="accent4"/>
                </a:solidFill>
                <a:latin typeface="+mn-ea"/>
              </a:rPr>
              <a:t>任务算术</a:t>
            </a:r>
            <a:r>
              <a:rPr lang="en-US" altLang="zh-CN" sz="2000" dirty="0">
                <a:latin typeface="+mn-ea"/>
              </a:rPr>
              <a:t>)</a:t>
            </a:r>
          </a:p>
        </p:txBody>
      </p:sp>
      <p:pic>
        <p:nvPicPr>
          <p:cNvPr id="13" name="图片 12" descr="图形用户界面&#10;&#10;低可信度描述已自动生成">
            <a:extLst>
              <a:ext uri="{FF2B5EF4-FFF2-40B4-BE49-F238E27FC236}">
                <a16:creationId xmlns:a16="http://schemas.microsoft.com/office/drawing/2014/main" id="{FE460D97-65D0-6A77-AC49-0449EF1694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9934" y="3233914"/>
            <a:ext cx="9925716" cy="1920091"/>
          </a:xfrm>
          <a:prstGeom prst="rect">
            <a:avLst/>
          </a:prstGeom>
        </p:spPr>
      </p:pic>
      <p:sp>
        <p:nvSpPr>
          <p:cNvPr id="17" name="文本框 16">
            <a:extLst>
              <a:ext uri="{FF2B5EF4-FFF2-40B4-BE49-F238E27FC236}">
                <a16:creationId xmlns:a16="http://schemas.microsoft.com/office/drawing/2014/main" id="{2E4A9108-62AB-3169-D9C9-710AE30B309D}"/>
              </a:ext>
            </a:extLst>
          </p:cNvPr>
          <p:cNvSpPr txBox="1"/>
          <p:nvPr/>
        </p:nvSpPr>
        <p:spPr>
          <a:xfrm>
            <a:off x="1091400" y="5436601"/>
            <a:ext cx="1357312" cy="307777"/>
          </a:xfrm>
          <a:prstGeom prst="rect">
            <a:avLst/>
          </a:prstGeom>
          <a:noFill/>
        </p:spPr>
        <p:txBody>
          <a:bodyPr wrap="square">
            <a:spAutoFit/>
          </a:bodyPr>
          <a:lstStyle/>
          <a:p>
            <a:pPr algn="ctr"/>
            <a:r>
              <a:rPr lang="en-US" altLang="zh-CN" sz="1400" dirty="0">
                <a:latin typeface="+mn-ea"/>
              </a:rPr>
              <a:t>(a)</a:t>
            </a:r>
            <a:r>
              <a:rPr lang="zh-CN" altLang="en-US" sz="1400" dirty="0">
                <a:latin typeface="+mn-ea"/>
              </a:rPr>
              <a:t> 任务向量</a:t>
            </a:r>
            <a:endParaRPr lang="zh-CN" altLang="en-US" sz="1400" dirty="0"/>
          </a:p>
        </p:txBody>
      </p:sp>
      <p:sp>
        <p:nvSpPr>
          <p:cNvPr id="18" name="文本框 17">
            <a:extLst>
              <a:ext uri="{FF2B5EF4-FFF2-40B4-BE49-F238E27FC236}">
                <a16:creationId xmlns:a16="http://schemas.microsoft.com/office/drawing/2014/main" id="{DF26A08B-CE22-2559-684D-69FA003A014C}"/>
              </a:ext>
            </a:extLst>
          </p:cNvPr>
          <p:cNvSpPr txBox="1"/>
          <p:nvPr/>
        </p:nvSpPr>
        <p:spPr>
          <a:xfrm>
            <a:off x="3502342" y="5436601"/>
            <a:ext cx="1581294" cy="307777"/>
          </a:xfrm>
          <a:prstGeom prst="rect">
            <a:avLst/>
          </a:prstGeom>
          <a:noFill/>
        </p:spPr>
        <p:txBody>
          <a:bodyPr wrap="square">
            <a:spAutoFit/>
          </a:bodyPr>
          <a:lstStyle/>
          <a:p>
            <a:pPr algn="ctr"/>
            <a:r>
              <a:rPr lang="en-US" altLang="zh-CN" sz="1400" dirty="0">
                <a:latin typeface="+mn-ea"/>
              </a:rPr>
              <a:t>(b)</a:t>
            </a:r>
            <a:r>
              <a:rPr lang="zh-CN" altLang="en-US" sz="1400" dirty="0">
                <a:latin typeface="+mn-ea"/>
              </a:rPr>
              <a:t> 任务遗忘</a:t>
            </a:r>
            <a:endParaRPr lang="zh-CN" altLang="en-US" sz="1400" dirty="0"/>
          </a:p>
        </p:txBody>
      </p:sp>
      <p:sp>
        <p:nvSpPr>
          <p:cNvPr id="19" name="文本框 18">
            <a:extLst>
              <a:ext uri="{FF2B5EF4-FFF2-40B4-BE49-F238E27FC236}">
                <a16:creationId xmlns:a16="http://schemas.microsoft.com/office/drawing/2014/main" id="{0182BA6D-CA0F-EDB8-4399-B80577B0CDD2}"/>
              </a:ext>
            </a:extLst>
          </p:cNvPr>
          <p:cNvSpPr txBox="1"/>
          <p:nvPr/>
        </p:nvSpPr>
        <p:spPr>
          <a:xfrm>
            <a:off x="8772190" y="5436601"/>
            <a:ext cx="1581294" cy="307777"/>
          </a:xfrm>
          <a:prstGeom prst="rect">
            <a:avLst/>
          </a:prstGeom>
          <a:noFill/>
        </p:spPr>
        <p:txBody>
          <a:bodyPr wrap="square">
            <a:spAutoFit/>
          </a:bodyPr>
          <a:lstStyle/>
          <a:p>
            <a:pPr algn="ctr"/>
            <a:r>
              <a:rPr lang="en-US" altLang="zh-CN" sz="1400" dirty="0">
                <a:latin typeface="+mn-ea"/>
              </a:rPr>
              <a:t>(d)</a:t>
            </a:r>
            <a:r>
              <a:rPr lang="zh-CN" altLang="en-US" sz="1400" dirty="0">
                <a:latin typeface="+mn-ea"/>
              </a:rPr>
              <a:t> 任务类比</a:t>
            </a:r>
            <a:endParaRPr lang="zh-CN" altLang="en-US" sz="1400" dirty="0"/>
          </a:p>
        </p:txBody>
      </p:sp>
      <p:sp>
        <p:nvSpPr>
          <p:cNvPr id="20" name="文本框 19">
            <a:extLst>
              <a:ext uri="{FF2B5EF4-FFF2-40B4-BE49-F238E27FC236}">
                <a16:creationId xmlns:a16="http://schemas.microsoft.com/office/drawing/2014/main" id="{8A2AE50C-ACDF-7865-69CE-16082B98529D}"/>
              </a:ext>
            </a:extLst>
          </p:cNvPr>
          <p:cNvSpPr txBox="1"/>
          <p:nvPr/>
        </p:nvSpPr>
        <p:spPr>
          <a:xfrm>
            <a:off x="6137266" y="5436601"/>
            <a:ext cx="1581294" cy="307777"/>
          </a:xfrm>
          <a:prstGeom prst="rect">
            <a:avLst/>
          </a:prstGeom>
          <a:noFill/>
        </p:spPr>
        <p:txBody>
          <a:bodyPr wrap="square">
            <a:spAutoFit/>
          </a:bodyPr>
          <a:lstStyle/>
          <a:p>
            <a:pPr algn="ctr"/>
            <a:r>
              <a:rPr lang="en-US" altLang="zh-CN" sz="1400" dirty="0">
                <a:latin typeface="+mn-ea"/>
              </a:rPr>
              <a:t>(c)</a:t>
            </a:r>
            <a:r>
              <a:rPr lang="zh-CN" altLang="en-US" sz="1400" dirty="0">
                <a:latin typeface="+mn-ea"/>
              </a:rPr>
              <a:t> 任务融合</a:t>
            </a:r>
            <a:endParaRPr lang="zh-CN" altLang="en-US" sz="1400" dirty="0"/>
          </a:p>
        </p:txBody>
      </p:sp>
    </p:spTree>
    <p:extLst>
      <p:ext uri="{BB962C8B-B14F-4D97-AF65-F5344CB8AC3E}">
        <p14:creationId xmlns:p14="http://schemas.microsoft.com/office/powerpoint/2010/main" val="8315222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2.</a:t>
            </a:r>
            <a:r>
              <a:rPr lang="zh-CN" altLang="en-US" sz="2800" dirty="0">
                <a:solidFill>
                  <a:srgbClr val="000000">
                    <a:lumMod val="75000"/>
                    <a:lumOff val="25000"/>
                  </a:srgbClr>
                </a:solidFill>
              </a:rPr>
              <a:t>介绍</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105521D9-2456-A13F-0A85-5D861B06BF87}"/>
              </a:ext>
            </a:extLst>
          </p:cNvPr>
          <p:cNvSpPr txBox="1"/>
          <p:nvPr/>
        </p:nvSpPr>
        <p:spPr>
          <a:xfrm>
            <a:off x="366712" y="1034534"/>
            <a:ext cx="10396538" cy="646331"/>
          </a:xfrm>
          <a:prstGeom prst="rect">
            <a:avLst/>
          </a:prstGeom>
          <a:noFill/>
        </p:spPr>
        <p:txBody>
          <a:bodyPr wrap="square">
            <a:spAutoFit/>
          </a:bodyPr>
          <a:lstStyle/>
          <a:p>
            <a:r>
              <a:rPr lang="zh-CN" altLang="en-US" b="1" dirty="0">
                <a:solidFill>
                  <a:srgbClr val="268F9C"/>
                </a:solidFill>
                <a:latin typeface="+mn-ea"/>
              </a:rPr>
              <a:t>背景：</a:t>
            </a:r>
            <a:r>
              <a:rPr lang="zh-CN" altLang="en-US" dirty="0"/>
              <a:t>许多研究基于任务向量实现了高效、低花费以及可扩展的方法，但对任务算法的基本原理及其普遍有效性的理解仍然有限</a:t>
            </a:r>
          </a:p>
        </p:txBody>
      </p:sp>
      <p:sp>
        <p:nvSpPr>
          <p:cNvPr id="10" name="文本框 9">
            <a:extLst>
              <a:ext uri="{FF2B5EF4-FFF2-40B4-BE49-F238E27FC236}">
                <a16:creationId xmlns:a16="http://schemas.microsoft.com/office/drawing/2014/main" id="{52DACD24-AEC2-036B-6AA2-BBC7EA5F946C}"/>
              </a:ext>
            </a:extLst>
          </p:cNvPr>
          <p:cNvSpPr txBox="1"/>
          <p:nvPr/>
        </p:nvSpPr>
        <p:spPr>
          <a:xfrm>
            <a:off x="366711" y="2019908"/>
            <a:ext cx="9815513" cy="3139321"/>
          </a:xfrm>
          <a:prstGeom prst="rect">
            <a:avLst/>
          </a:prstGeom>
          <a:noFill/>
        </p:spPr>
        <p:txBody>
          <a:bodyPr wrap="square">
            <a:spAutoFit/>
          </a:bodyPr>
          <a:lstStyle/>
          <a:p>
            <a:r>
              <a:rPr lang="zh-CN" altLang="en-US" b="1" dirty="0">
                <a:solidFill>
                  <a:srgbClr val="268F9C"/>
                </a:solidFill>
                <a:latin typeface="+mn-ea"/>
              </a:rPr>
              <a:t>本文贡献：</a:t>
            </a:r>
            <a:endParaRPr lang="en-US" altLang="zh-CN" b="1" dirty="0">
              <a:solidFill>
                <a:srgbClr val="268F9C"/>
              </a:solidFill>
              <a:latin typeface="+mn-ea"/>
            </a:endParaRPr>
          </a:p>
          <a:p>
            <a:endParaRPr lang="en-US" altLang="zh-CN" b="1" dirty="0">
              <a:solidFill>
                <a:srgbClr val="268F9C"/>
              </a:solidFill>
              <a:latin typeface="+mn-ea"/>
            </a:endParaRPr>
          </a:p>
          <a:p>
            <a:pPr marL="742950" lvl="1" indent="-285750">
              <a:buFont typeface="Arial" panose="020B0604020202020204" pitchFamily="34" charset="0"/>
              <a:buChar char="•"/>
            </a:pPr>
            <a:r>
              <a:rPr lang="zh-CN" altLang="en-US" dirty="0">
                <a:latin typeface="+mn-ea"/>
              </a:rPr>
              <a:t>将任务算术用符号形式化</a:t>
            </a:r>
            <a:endParaRPr lang="en-US" altLang="zh-CN" dirty="0">
              <a:latin typeface="+mn-ea"/>
            </a:endParaRPr>
          </a:p>
          <a:p>
            <a:pPr marL="742950" lvl="1" indent="-285750">
              <a:buFont typeface="Arial" panose="020B0604020202020204" pitchFamily="34" charset="0"/>
              <a:buChar char="•"/>
            </a:pPr>
            <a:endParaRPr lang="en-US" altLang="zh-CN" dirty="0">
              <a:latin typeface="+mn-ea"/>
            </a:endParaRPr>
          </a:p>
          <a:p>
            <a:pPr marL="742950" lvl="1" indent="-285750">
              <a:buFont typeface="Arial" panose="020B0604020202020204" pitchFamily="34" charset="0"/>
              <a:buChar char="•"/>
            </a:pPr>
            <a:r>
              <a:rPr lang="zh-CN" altLang="en-US" dirty="0">
                <a:latin typeface="+mn-ea"/>
              </a:rPr>
              <a:t>提出了权重解缠的概念，为任务算术属性提供了必要条件</a:t>
            </a:r>
            <a:endParaRPr lang="en-US" altLang="zh-CN" dirty="0">
              <a:latin typeface="+mn-ea"/>
            </a:endParaRPr>
          </a:p>
          <a:p>
            <a:pPr marL="742950" lvl="1" indent="-285750">
              <a:buFont typeface="Arial" panose="020B0604020202020204" pitchFamily="34" charset="0"/>
              <a:buChar char="•"/>
            </a:pPr>
            <a:endParaRPr lang="en-US" altLang="zh-CN" dirty="0">
              <a:latin typeface="+mn-ea"/>
            </a:endParaRPr>
          </a:p>
          <a:p>
            <a:pPr marL="742950" lvl="1" indent="-285750">
              <a:buFont typeface="Arial" panose="020B0604020202020204" pitchFamily="34" charset="0"/>
              <a:buChar char="•"/>
            </a:pPr>
            <a:r>
              <a:rPr lang="zh-CN" altLang="en-US" dirty="0">
                <a:latin typeface="+mn-ea"/>
              </a:rPr>
              <a:t>让模型在切空间内进行微调，提高了模型的权重解缠能力，增强了任务融合以及任务遗忘的性能</a:t>
            </a:r>
            <a:endParaRPr lang="en-US" altLang="zh-CN" dirty="0">
              <a:latin typeface="+mn-ea"/>
            </a:endParaRPr>
          </a:p>
          <a:p>
            <a:pPr marL="742950" lvl="1" indent="-285750">
              <a:buFont typeface="Arial" panose="020B0604020202020204" pitchFamily="34" charset="0"/>
              <a:buChar char="•"/>
            </a:pPr>
            <a:endParaRPr lang="en-US" altLang="zh-CN" dirty="0">
              <a:latin typeface="+mn-ea"/>
            </a:endParaRPr>
          </a:p>
          <a:p>
            <a:pPr marL="742950" lvl="1" indent="-285750">
              <a:buFont typeface="Arial" panose="020B0604020202020204" pitchFamily="34" charset="0"/>
              <a:buChar char="•"/>
            </a:pPr>
            <a:r>
              <a:rPr lang="zh-CN" altLang="en-US" dirty="0">
                <a:latin typeface="+mn-ea"/>
              </a:rPr>
              <a:t>实验说明了权重解缠属性只在预训练模型中出现</a:t>
            </a:r>
            <a:endParaRPr lang="en-US" altLang="zh-CN" dirty="0">
              <a:latin typeface="+mn-ea"/>
            </a:endParaRPr>
          </a:p>
          <a:p>
            <a:pPr marL="285750" indent="-285750">
              <a:buFont typeface="Arial" panose="020B0604020202020204" pitchFamily="34" charset="0"/>
              <a:buChar char="•"/>
            </a:pPr>
            <a:endParaRPr lang="zh-CN" altLang="en-US" dirty="0"/>
          </a:p>
        </p:txBody>
      </p:sp>
    </p:spTree>
    <p:extLst>
      <p:ext uri="{BB962C8B-B14F-4D97-AF65-F5344CB8AC3E}">
        <p14:creationId xmlns:p14="http://schemas.microsoft.com/office/powerpoint/2010/main" val="35227299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80"/>
                                  </p:iterate>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lang="zh-CN" altLang="en-US" sz="2800" dirty="0">
                <a:solidFill>
                  <a:srgbClr val="000000">
                    <a:lumMod val="75000"/>
                    <a:lumOff val="25000"/>
                  </a:srgbClr>
                </a:solidFill>
              </a:rPr>
              <a:t>任务算术形式化</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pic>
        <p:nvPicPr>
          <p:cNvPr id="5" name="图片 4" descr="图示&#10;&#10;描述已自动生成">
            <a:extLst>
              <a:ext uri="{FF2B5EF4-FFF2-40B4-BE49-F238E27FC236}">
                <a16:creationId xmlns:a16="http://schemas.microsoft.com/office/drawing/2014/main" id="{A5B6BED1-6AD3-BCF5-EF94-55DC697620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925" y="2189918"/>
            <a:ext cx="9077325" cy="1239082"/>
          </a:xfrm>
          <a:prstGeom prst="rect">
            <a:avLst/>
          </a:prstGeom>
        </p:spPr>
      </p:pic>
      <p:sp>
        <p:nvSpPr>
          <p:cNvPr id="7" name="文本框 6">
            <a:extLst>
              <a:ext uri="{FF2B5EF4-FFF2-40B4-BE49-F238E27FC236}">
                <a16:creationId xmlns:a16="http://schemas.microsoft.com/office/drawing/2014/main" id="{919CE748-EB26-A484-2609-6F1FDAA67A19}"/>
              </a:ext>
            </a:extLst>
          </p:cNvPr>
          <p:cNvSpPr txBox="1"/>
          <p:nvPr/>
        </p:nvSpPr>
        <p:spPr>
          <a:xfrm>
            <a:off x="542925" y="1348859"/>
            <a:ext cx="6105524" cy="369332"/>
          </a:xfrm>
          <a:prstGeom prst="rect">
            <a:avLst/>
          </a:prstGeom>
          <a:noFill/>
        </p:spPr>
        <p:txBody>
          <a:bodyPr wrap="square">
            <a:spAutoFit/>
          </a:bodyPr>
          <a:lstStyle/>
          <a:p>
            <a:r>
              <a:rPr lang="zh-CN" altLang="en-US" b="1" dirty="0">
                <a:solidFill>
                  <a:srgbClr val="268F9C"/>
                </a:solidFill>
                <a:latin typeface="+mn-ea"/>
              </a:rPr>
              <a:t>一个神经网络满足任务算术，那么他满足如下公式</a:t>
            </a:r>
            <a:endParaRPr lang="en-US" altLang="zh-CN" b="1" dirty="0">
              <a:solidFill>
                <a:srgbClr val="268F9C"/>
              </a:solidFill>
              <a:latin typeface="+mn-ea"/>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5CC880E-E0AF-EFC4-F36E-1CEBEB5CC375}"/>
                  </a:ext>
                </a:extLst>
              </p:cNvPr>
              <p:cNvSpPr txBox="1"/>
              <p:nvPr/>
            </p:nvSpPr>
            <p:spPr>
              <a:xfrm>
                <a:off x="542925" y="3900727"/>
                <a:ext cx="8953500" cy="646331"/>
              </a:xfrm>
              <a:prstGeom prst="rect">
                <a:avLst/>
              </a:prstGeom>
              <a:noFill/>
            </p:spPr>
            <p:txBody>
              <a:bodyPr wrap="square">
                <a:spAutoFit/>
              </a:bodyPr>
              <a:lstStyle/>
              <a:p>
                <a:r>
                  <a:rPr lang="zh-CN" altLang="en-US" b="1" dirty="0">
                    <a:solidFill>
                      <a:srgbClr val="268F9C"/>
                    </a:solidFill>
                    <a:latin typeface="+mn-ea"/>
                  </a:rPr>
                  <a:t>公式解释：</a:t>
                </a: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𝜏</m:t>
                        </m:r>
                      </m:e>
                      <m:sub>
                        <m:r>
                          <a:rPr lang="en-US" altLang="zh-CN" b="0" i="1" smtClean="0">
                            <a:solidFill>
                              <a:schemeClr val="tx1"/>
                            </a:solidFill>
                            <a:latin typeface="Cambria Math" panose="02040503050406030204" pitchFamily="18" charset="0"/>
                          </a:rPr>
                          <m:t>𝑡</m:t>
                        </m:r>
                      </m:sub>
                    </m:sSub>
                  </m:oMath>
                </a14:m>
                <a:r>
                  <a:rPr lang="zh-CN" altLang="en-US" dirty="0">
                    <a:solidFill>
                      <a:schemeClr val="tx1"/>
                    </a:solidFill>
                    <a:latin typeface="+mn-ea"/>
                  </a:rPr>
                  <a:t>为不同任务的任务向量，模型</a:t>
                </a:r>
                <a:r>
                  <a:rPr lang="zh-CN" altLang="en-US" dirty="0">
                    <a:latin typeface="+mn-ea"/>
                  </a:rPr>
                  <a:t>加上</a:t>
                </a:r>
                <a:r>
                  <a:rPr lang="zh-CN" altLang="en-US" dirty="0">
                    <a:solidFill>
                      <a:schemeClr val="tx1"/>
                    </a:solidFill>
                    <a:latin typeface="+mn-ea"/>
                  </a:rPr>
                  <a:t>不同任务向量只会影响对应任务数据的输出，而不会影响其他任务数据的输出</a:t>
                </a:r>
                <a:endParaRPr lang="en-US" altLang="zh-CN" dirty="0">
                  <a:solidFill>
                    <a:srgbClr val="268F9C"/>
                  </a:solidFill>
                  <a:latin typeface="+mn-ea"/>
                </a:endParaRPr>
              </a:p>
            </p:txBody>
          </p:sp>
        </mc:Choice>
        <mc:Fallback xmlns="">
          <p:sp>
            <p:nvSpPr>
              <p:cNvPr id="8" name="文本框 7">
                <a:extLst>
                  <a:ext uri="{FF2B5EF4-FFF2-40B4-BE49-F238E27FC236}">
                    <a16:creationId xmlns:a16="http://schemas.microsoft.com/office/drawing/2014/main" id="{55CC880E-E0AF-EFC4-F36E-1CEBEB5CC375}"/>
                  </a:ext>
                </a:extLst>
              </p:cNvPr>
              <p:cNvSpPr txBox="1">
                <a:spLocks noRot="1" noChangeAspect="1" noMove="1" noResize="1" noEditPoints="1" noAdjustHandles="1" noChangeArrowheads="1" noChangeShapeType="1" noTextEdit="1"/>
              </p:cNvSpPr>
              <p:nvPr/>
            </p:nvSpPr>
            <p:spPr>
              <a:xfrm>
                <a:off x="542925" y="3900727"/>
                <a:ext cx="8953500" cy="646331"/>
              </a:xfrm>
              <a:prstGeom prst="rect">
                <a:avLst/>
              </a:prstGeom>
              <a:blipFill>
                <a:blip r:embed="rId4"/>
                <a:stretch>
                  <a:fillRect l="-545" t="-5660" b="-141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84131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80"/>
                                  </p:iterate>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4.</a:t>
            </a:r>
            <a:r>
              <a:rPr lang="zh-CN" altLang="en-US" sz="2800" dirty="0">
                <a:solidFill>
                  <a:srgbClr val="000000">
                    <a:lumMod val="75000"/>
                    <a:lumOff val="25000"/>
                  </a:srgbClr>
                </a:solidFill>
              </a:rPr>
              <a:t>原始微调的非线性性质</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919CE748-EB26-A484-2609-6F1FDAA67A19}"/>
              </a:ext>
            </a:extLst>
          </p:cNvPr>
          <p:cNvSpPr txBox="1"/>
          <p:nvPr/>
        </p:nvSpPr>
        <p:spPr>
          <a:xfrm>
            <a:off x="542925" y="1073372"/>
            <a:ext cx="7267575"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之前的工作假设任务算术有效的原因是微调是在线性区域，即满足：</a:t>
            </a:r>
            <a:endParaRPr lang="en-US" altLang="zh-CN" b="1" dirty="0">
              <a:solidFill>
                <a:srgbClr val="268F9C"/>
              </a:solidFill>
              <a:latin typeface="+mn-ea"/>
            </a:endParaRPr>
          </a:p>
        </p:txBody>
      </p:sp>
      <p:sp>
        <p:nvSpPr>
          <p:cNvPr id="8" name="文本框 7">
            <a:extLst>
              <a:ext uri="{FF2B5EF4-FFF2-40B4-BE49-F238E27FC236}">
                <a16:creationId xmlns:a16="http://schemas.microsoft.com/office/drawing/2014/main" id="{55CC880E-E0AF-EFC4-F36E-1CEBEB5CC375}"/>
              </a:ext>
            </a:extLst>
          </p:cNvPr>
          <p:cNvSpPr txBox="1"/>
          <p:nvPr/>
        </p:nvSpPr>
        <p:spPr>
          <a:xfrm>
            <a:off x="542925" y="1957039"/>
            <a:ext cx="9658350"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作者用网络的后线性化版本</a:t>
            </a:r>
            <a:r>
              <a:rPr lang="en-US" altLang="zh-CN" b="1" dirty="0">
                <a:solidFill>
                  <a:srgbClr val="268F9C"/>
                </a:solidFill>
                <a:latin typeface="+mn-ea"/>
              </a:rPr>
              <a:t>(post-hoc linearized)</a:t>
            </a:r>
            <a:r>
              <a:rPr lang="zh-CN" altLang="en-US" b="1" dirty="0">
                <a:solidFill>
                  <a:srgbClr val="268F9C"/>
                </a:solidFill>
                <a:latin typeface="+mn-ea"/>
              </a:rPr>
              <a:t>对这个假设进行了验证，结果如图</a:t>
            </a:r>
            <a:r>
              <a:rPr lang="en-US" altLang="zh-CN" b="1" dirty="0">
                <a:solidFill>
                  <a:srgbClr val="268F9C"/>
                </a:solidFill>
                <a:latin typeface="+mn-ea"/>
              </a:rPr>
              <a:t>(a)</a:t>
            </a:r>
          </a:p>
        </p:txBody>
      </p:sp>
      <p:pic>
        <p:nvPicPr>
          <p:cNvPr id="9" name="图片 8">
            <a:extLst>
              <a:ext uri="{FF2B5EF4-FFF2-40B4-BE49-F238E27FC236}">
                <a16:creationId xmlns:a16="http://schemas.microsoft.com/office/drawing/2014/main" id="{8C719D19-1DDE-4605-86DF-CF922C6ADF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4225" y="1518801"/>
            <a:ext cx="5543550" cy="362141"/>
          </a:xfrm>
          <a:prstGeom prst="rect">
            <a:avLst/>
          </a:prstGeom>
        </p:spPr>
      </p:pic>
      <p:pic>
        <p:nvPicPr>
          <p:cNvPr id="13" name="图片 12">
            <a:extLst>
              <a:ext uri="{FF2B5EF4-FFF2-40B4-BE49-F238E27FC236}">
                <a16:creationId xmlns:a16="http://schemas.microsoft.com/office/drawing/2014/main" id="{CB827FB0-7E9E-C703-7E23-70DFACC1CF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76575" y="2402467"/>
            <a:ext cx="5791200" cy="446518"/>
          </a:xfrm>
          <a:prstGeom prst="rect">
            <a:avLst/>
          </a:prstGeom>
        </p:spPr>
      </p:pic>
      <p:pic>
        <p:nvPicPr>
          <p:cNvPr id="15" name="图片 14">
            <a:extLst>
              <a:ext uri="{FF2B5EF4-FFF2-40B4-BE49-F238E27FC236}">
                <a16:creationId xmlns:a16="http://schemas.microsoft.com/office/drawing/2014/main" id="{676ECC2D-4AFA-2A84-72FF-989CA75DEA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33750" y="3002631"/>
            <a:ext cx="4476750" cy="3326707"/>
          </a:xfrm>
          <a:prstGeom prst="rect">
            <a:avLst/>
          </a:prstGeom>
        </p:spPr>
      </p:pic>
      <p:sp>
        <p:nvSpPr>
          <p:cNvPr id="16" name="文本框 15">
            <a:extLst>
              <a:ext uri="{FF2B5EF4-FFF2-40B4-BE49-F238E27FC236}">
                <a16:creationId xmlns:a16="http://schemas.microsoft.com/office/drawing/2014/main" id="{AF73ABCE-CF11-FF5D-96A7-37CE576F8DC2}"/>
              </a:ext>
            </a:extLst>
          </p:cNvPr>
          <p:cNvSpPr txBox="1"/>
          <p:nvPr/>
        </p:nvSpPr>
        <p:spPr>
          <a:xfrm>
            <a:off x="2195513" y="6325648"/>
            <a:ext cx="6753225" cy="276999"/>
          </a:xfrm>
          <a:prstGeom prst="rect">
            <a:avLst/>
          </a:prstGeom>
          <a:noFill/>
        </p:spPr>
        <p:txBody>
          <a:bodyPr wrap="square">
            <a:spAutoFit/>
          </a:bodyPr>
          <a:lstStyle/>
          <a:p>
            <a:pPr algn="ctr"/>
            <a:r>
              <a:rPr lang="zh-CN" altLang="en-US" sz="1200" b="1" dirty="0">
                <a:latin typeface="+mn-ea"/>
              </a:rPr>
              <a:t>图</a:t>
            </a:r>
            <a:r>
              <a:rPr lang="en-US" altLang="zh-CN" sz="1200" b="1" dirty="0">
                <a:latin typeface="+mn-ea"/>
              </a:rPr>
              <a:t>(a) </a:t>
            </a:r>
            <a:r>
              <a:rPr lang="zh-CN" altLang="en-US" sz="1200" b="1" dirty="0">
                <a:latin typeface="+mn-ea"/>
              </a:rPr>
              <a:t>原始微调模型与后线性化模型在单任务上的精度对比</a:t>
            </a:r>
            <a:endParaRPr lang="en-US" altLang="zh-CN" sz="1200" b="1" dirty="0">
              <a:latin typeface="+mn-ea"/>
            </a:endParaRPr>
          </a:p>
        </p:txBody>
      </p:sp>
    </p:spTree>
    <p:extLst>
      <p:ext uri="{BB962C8B-B14F-4D97-AF65-F5344CB8AC3E}">
        <p14:creationId xmlns:p14="http://schemas.microsoft.com/office/powerpoint/2010/main" val="18472056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4.</a:t>
            </a:r>
            <a:r>
              <a:rPr lang="zh-CN" altLang="en-US" sz="2800" dirty="0">
                <a:solidFill>
                  <a:srgbClr val="000000">
                    <a:lumMod val="75000"/>
                    <a:lumOff val="25000"/>
                  </a:srgbClr>
                </a:solidFill>
              </a:rPr>
              <a:t>原始微调的非线性性质</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919CE748-EB26-A484-2609-6F1FDAA67A19}"/>
              </a:ext>
            </a:extLst>
          </p:cNvPr>
          <p:cNvSpPr txBox="1"/>
          <p:nvPr/>
        </p:nvSpPr>
        <p:spPr>
          <a:xfrm>
            <a:off x="669766" y="958584"/>
            <a:ext cx="4044474" cy="646331"/>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原始微调模型与后线性化模型的任务融合、任务遗忘实验实验结果</a:t>
            </a:r>
            <a:endParaRPr lang="en-US" altLang="zh-CN" b="1" dirty="0">
              <a:solidFill>
                <a:srgbClr val="268F9C"/>
              </a:solidFill>
              <a:latin typeface="+mn-ea"/>
            </a:endParaRPr>
          </a:p>
        </p:txBody>
      </p:sp>
      <p:pic>
        <p:nvPicPr>
          <p:cNvPr id="4" name="图片 3" descr="表格&#10;&#10;描述已自动生成">
            <a:extLst>
              <a:ext uri="{FF2B5EF4-FFF2-40B4-BE49-F238E27FC236}">
                <a16:creationId xmlns:a16="http://schemas.microsoft.com/office/drawing/2014/main" id="{290B146B-61E2-2661-A4FE-661BC78A8C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3621" y="2241214"/>
            <a:ext cx="8463281" cy="1975602"/>
          </a:xfrm>
          <a:prstGeom prst="rect">
            <a:avLst/>
          </a:prstGeom>
        </p:spPr>
      </p:pic>
      <p:pic>
        <p:nvPicPr>
          <p:cNvPr id="6" name="图片 5" descr="表格&#10;&#10;描述已自动生成">
            <a:extLst>
              <a:ext uri="{FF2B5EF4-FFF2-40B4-BE49-F238E27FC236}">
                <a16:creationId xmlns:a16="http://schemas.microsoft.com/office/drawing/2014/main" id="{9FA1D023-DCC1-0BFD-0DAC-2D8CBDAFF8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1698" y="4503817"/>
            <a:ext cx="8767128" cy="2048793"/>
          </a:xfrm>
          <a:prstGeom prst="rect">
            <a:avLst/>
          </a:prstGeom>
        </p:spPr>
      </p:pic>
      <p:sp>
        <p:nvSpPr>
          <p:cNvPr id="10" name="文本框 9">
            <a:extLst>
              <a:ext uri="{FF2B5EF4-FFF2-40B4-BE49-F238E27FC236}">
                <a16:creationId xmlns:a16="http://schemas.microsoft.com/office/drawing/2014/main" id="{81157E08-1F78-9C33-36A6-1A801C4942BF}"/>
              </a:ext>
            </a:extLst>
          </p:cNvPr>
          <p:cNvSpPr txBox="1"/>
          <p:nvPr/>
        </p:nvSpPr>
        <p:spPr>
          <a:xfrm>
            <a:off x="2531904" y="4154575"/>
            <a:ext cx="6753225" cy="276999"/>
          </a:xfrm>
          <a:prstGeom prst="rect">
            <a:avLst/>
          </a:prstGeom>
          <a:noFill/>
        </p:spPr>
        <p:txBody>
          <a:bodyPr wrap="square">
            <a:spAutoFit/>
          </a:bodyPr>
          <a:lstStyle/>
          <a:p>
            <a:pPr algn="ctr"/>
            <a:r>
              <a:rPr lang="zh-CN" altLang="en-US" sz="1200" b="1" dirty="0">
                <a:latin typeface="+mn-ea"/>
              </a:rPr>
              <a:t>表</a:t>
            </a:r>
            <a:r>
              <a:rPr lang="en-US" altLang="zh-CN" sz="1200" b="1" dirty="0">
                <a:latin typeface="+mn-ea"/>
              </a:rPr>
              <a:t>(a) </a:t>
            </a:r>
            <a:r>
              <a:rPr lang="zh-CN" altLang="en-US" sz="1200" b="1" dirty="0">
                <a:latin typeface="+mn-ea"/>
              </a:rPr>
              <a:t>任务融合结果</a:t>
            </a:r>
            <a:endParaRPr lang="en-US" altLang="zh-CN" sz="1200" b="1" dirty="0">
              <a:latin typeface="+mn-ea"/>
            </a:endParaRPr>
          </a:p>
        </p:txBody>
      </p:sp>
      <p:sp>
        <p:nvSpPr>
          <p:cNvPr id="11" name="文本框 10">
            <a:extLst>
              <a:ext uri="{FF2B5EF4-FFF2-40B4-BE49-F238E27FC236}">
                <a16:creationId xmlns:a16="http://schemas.microsoft.com/office/drawing/2014/main" id="{DCB956E5-B7C9-02E9-B0C7-C1DB21CBFE77}"/>
              </a:ext>
            </a:extLst>
          </p:cNvPr>
          <p:cNvSpPr txBox="1"/>
          <p:nvPr/>
        </p:nvSpPr>
        <p:spPr>
          <a:xfrm>
            <a:off x="2719387" y="6428127"/>
            <a:ext cx="6753225" cy="276999"/>
          </a:xfrm>
          <a:prstGeom prst="rect">
            <a:avLst/>
          </a:prstGeom>
          <a:noFill/>
        </p:spPr>
        <p:txBody>
          <a:bodyPr wrap="square">
            <a:spAutoFit/>
          </a:bodyPr>
          <a:lstStyle/>
          <a:p>
            <a:pPr algn="ctr"/>
            <a:r>
              <a:rPr lang="zh-CN" altLang="en-US" sz="1200" b="1" dirty="0">
                <a:latin typeface="+mn-ea"/>
              </a:rPr>
              <a:t>图</a:t>
            </a:r>
            <a:r>
              <a:rPr lang="en-US" altLang="zh-CN" sz="1200" b="1" dirty="0">
                <a:latin typeface="+mn-ea"/>
              </a:rPr>
              <a:t>(b) </a:t>
            </a:r>
            <a:r>
              <a:rPr lang="zh-CN" altLang="en-US" sz="1200" b="1" dirty="0">
                <a:latin typeface="+mn-ea"/>
              </a:rPr>
              <a:t>任务遗忘结果</a:t>
            </a:r>
            <a:endParaRPr lang="en-US" altLang="zh-CN" sz="1200" b="1" dirty="0">
              <a:latin typeface="+mn-ea"/>
            </a:endParaRPr>
          </a:p>
        </p:txBody>
      </p:sp>
      <p:pic>
        <p:nvPicPr>
          <p:cNvPr id="5" name="图片 4">
            <a:extLst>
              <a:ext uri="{FF2B5EF4-FFF2-40B4-BE49-F238E27FC236}">
                <a16:creationId xmlns:a16="http://schemas.microsoft.com/office/drawing/2014/main" id="{151B3DE3-A9D8-B949-8EAE-A1A7B08764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21765" y="1113250"/>
            <a:ext cx="5100796" cy="840963"/>
          </a:xfrm>
          <a:prstGeom prst="rect">
            <a:avLst/>
          </a:prstGeom>
        </p:spPr>
      </p:pic>
    </p:spTree>
    <p:extLst>
      <p:ext uri="{BB962C8B-B14F-4D97-AF65-F5344CB8AC3E}">
        <p14:creationId xmlns:p14="http://schemas.microsoft.com/office/powerpoint/2010/main" val="8892859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5.</a:t>
            </a:r>
            <a:r>
              <a:rPr lang="zh-CN" altLang="en-US" sz="2800" dirty="0">
                <a:solidFill>
                  <a:srgbClr val="000000">
                    <a:lumMod val="75000"/>
                    <a:lumOff val="25000"/>
                  </a:srgbClr>
                </a:solidFill>
              </a:rPr>
              <a:t>权重解缠</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D1E70751-56F8-6878-0E91-A94D7D6A3AC2}"/>
              </a:ext>
            </a:extLst>
          </p:cNvPr>
          <p:cNvSpPr txBox="1"/>
          <p:nvPr/>
        </p:nvSpPr>
        <p:spPr>
          <a:xfrm>
            <a:off x="542925" y="1073372"/>
            <a:ext cx="7267575"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a:solidFill>
                  <a:srgbClr val="268F9C"/>
                </a:solidFill>
                <a:latin typeface="+mn-ea"/>
              </a:rPr>
              <a:t>权重解缠的形式化描述：</a:t>
            </a:r>
            <a:endParaRPr lang="en-US" altLang="zh-CN" b="1" dirty="0">
              <a:solidFill>
                <a:srgbClr val="268F9C"/>
              </a:solidFill>
              <a:latin typeface="+mn-ea"/>
            </a:endParaRPr>
          </a:p>
        </p:txBody>
      </p:sp>
      <p:pic>
        <p:nvPicPr>
          <p:cNvPr id="7" name="图片 6" descr="图示&#10;&#10;描述已自动生成">
            <a:extLst>
              <a:ext uri="{FF2B5EF4-FFF2-40B4-BE49-F238E27FC236}">
                <a16:creationId xmlns:a16="http://schemas.microsoft.com/office/drawing/2014/main" id="{4B06C7D0-B2F0-8C64-44FF-39CF847A06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5023" y="1508378"/>
            <a:ext cx="5501954" cy="881924"/>
          </a:xfrm>
          <a:prstGeom prst="rect">
            <a:avLst/>
          </a:prstGeom>
        </p:spPr>
      </p:pic>
      <p:pic>
        <p:nvPicPr>
          <p:cNvPr id="9" name="图片 8">
            <a:extLst>
              <a:ext uri="{FF2B5EF4-FFF2-40B4-BE49-F238E27FC236}">
                <a16:creationId xmlns:a16="http://schemas.microsoft.com/office/drawing/2014/main" id="{F0597961-4ACC-4F98-18C6-56B5B54A0F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3150" y="2647774"/>
            <a:ext cx="7839075" cy="346305"/>
          </a:xfrm>
          <a:prstGeom prst="rect">
            <a:avLst/>
          </a:prstGeom>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524CBAA4-147A-7015-2A8A-16E9B741CAAD}"/>
                  </a:ext>
                </a:extLst>
              </p:cNvPr>
              <p:cNvSpPr txBox="1"/>
              <p:nvPr/>
            </p:nvSpPr>
            <p:spPr>
              <a:xfrm>
                <a:off x="542925" y="3595372"/>
                <a:ext cx="10338435" cy="2369880"/>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公式解释：</a:t>
                </a:r>
                <a:endParaRPr lang="en-US" altLang="zh-CN" b="1" dirty="0">
                  <a:solidFill>
                    <a:srgbClr val="268F9C"/>
                  </a:solidFill>
                  <a:latin typeface="+mn-ea"/>
                </a:endParaRPr>
              </a:p>
              <a:p>
                <a:pPr marL="285750" indent="-285750">
                  <a:buFont typeface="Wingdings" panose="05000000000000000000" pitchFamily="2" charset="2"/>
                  <a:buChar char="Ø"/>
                </a:pPr>
                <a:endParaRPr lang="en-US" altLang="zh-CN" b="1" dirty="0">
                  <a:solidFill>
                    <a:srgbClr val="268F9C"/>
                  </a:solidFill>
                  <a:latin typeface="+mn-ea"/>
                </a:endParaRPr>
              </a:p>
              <a:p>
                <a:pPr marL="742950" lvl="1" indent="-285750">
                  <a:buFont typeface="Wingdings" panose="05000000000000000000" pitchFamily="2" charset="2"/>
                  <a:buChar char="l"/>
                </a:pPr>
                <a:r>
                  <a:rPr lang="zh-CN" altLang="en-US" sz="1600" b="1" dirty="0">
                    <a:latin typeface="+mn-ea"/>
                  </a:rPr>
                  <a:t>局部性</a:t>
                </a:r>
                <a:r>
                  <a:rPr lang="zh-CN" altLang="en-US" sz="1600" dirty="0">
                    <a:latin typeface="+mn-ea"/>
                  </a:rPr>
                  <a:t>：函数 </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𝑔</m:t>
                        </m:r>
                      </m:e>
                      <m:sub>
                        <m:r>
                          <a:rPr lang="en-US" altLang="zh-CN" sz="1600" b="0" i="1" smtClean="0">
                            <a:latin typeface="Cambria Math" panose="02040503050406030204" pitchFamily="18" charset="0"/>
                          </a:rPr>
                          <m:t>𝑡</m:t>
                        </m:r>
                      </m:sub>
                    </m:sSub>
                  </m:oMath>
                </a14:m>
                <a:r>
                  <a:rPr lang="zh-CN" altLang="en-US" sz="1600" dirty="0">
                    <a:latin typeface="+mn-ea"/>
                  </a:rPr>
                  <a:t> 在任务</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𝑇</m:t>
                        </m:r>
                      </m:e>
                      <m:sub>
                        <m:r>
                          <a:rPr lang="en-US" altLang="zh-CN" sz="1600" b="0" i="1" smtClean="0">
                            <a:latin typeface="Cambria Math" panose="02040503050406030204" pitchFamily="18" charset="0"/>
                          </a:rPr>
                          <m:t>𝑡</m:t>
                        </m:r>
                      </m:sub>
                    </m:sSub>
                  </m:oMath>
                </a14:m>
                <a:r>
                  <a:rPr lang="zh-CN" altLang="en-US" sz="1600" dirty="0">
                    <a:latin typeface="+mn-ea"/>
                  </a:rPr>
                  <a:t>的输入区域</a:t>
                </a:r>
                <a14:m>
                  <m:oMath xmlns:m="http://schemas.openxmlformats.org/officeDocument/2006/math">
                    <m:r>
                      <a:rPr lang="en-US" altLang="zh-CN" sz="1600" b="0" i="0" smtClean="0">
                        <a:latin typeface="Cambria Math" panose="02040503050406030204" pitchFamily="18" charset="0"/>
                      </a:rPr>
                      <m:t> </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𝐷</m:t>
                        </m:r>
                      </m:e>
                      <m:sub>
                        <m:r>
                          <a:rPr lang="en-US" altLang="zh-CN" sz="1600" b="0" i="1" smtClean="0">
                            <a:latin typeface="Cambria Math" panose="02040503050406030204" pitchFamily="18" charset="0"/>
                          </a:rPr>
                          <m:t>𝑡</m:t>
                        </m:r>
                      </m:sub>
                    </m:sSub>
                    <m:r>
                      <a:rPr lang="en-US" altLang="zh-CN" sz="1600" b="0" i="1" smtClean="0">
                        <a:latin typeface="Cambria Math" panose="02040503050406030204" pitchFamily="18" charset="0"/>
                      </a:rPr>
                      <m:t> </m:t>
                    </m:r>
                  </m:oMath>
                </a14:m>
                <a:r>
                  <a:rPr lang="zh-CN" altLang="en-US" sz="1600" dirty="0">
                    <a:latin typeface="+mn-ea"/>
                  </a:rPr>
                  <a:t>内有效，在其他区域内则为零。</a:t>
                </a:r>
                <a:endParaRPr lang="en-US" altLang="zh-CN" sz="1600" dirty="0">
                  <a:latin typeface="+mn-ea"/>
                </a:endParaRPr>
              </a:p>
              <a:p>
                <a:pPr marL="742950" lvl="1" indent="-285750">
                  <a:buFont typeface="Wingdings" panose="05000000000000000000" pitchFamily="2" charset="2"/>
                  <a:buChar char="l"/>
                </a:pPr>
                <a:endParaRPr lang="en-US" altLang="zh-CN" sz="1600" dirty="0">
                  <a:latin typeface="+mn-ea"/>
                </a:endParaRPr>
              </a:p>
              <a:p>
                <a:pPr marL="742950" lvl="1" indent="-285750">
                  <a:buFont typeface="Wingdings" panose="05000000000000000000" pitchFamily="2" charset="2"/>
                  <a:buChar char="l"/>
                </a:pPr>
                <a:r>
                  <a:rPr lang="zh-CN" altLang="en-US" sz="1600" b="1" dirty="0"/>
                  <a:t>分离性</a:t>
                </a:r>
                <a:r>
                  <a:rPr lang="zh-CN" altLang="en-US" sz="1600" dirty="0"/>
                  <a:t>：每个局部化函数 </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𝑔</m:t>
                        </m:r>
                      </m:e>
                      <m:sub>
                        <m:r>
                          <a:rPr lang="en-US" altLang="zh-CN" sz="1600" b="0" i="1" smtClean="0">
                            <a:latin typeface="Cambria Math" panose="02040503050406030204" pitchFamily="18" charset="0"/>
                          </a:rPr>
                          <m:t>𝑡</m:t>
                        </m:r>
                      </m:sub>
                    </m:sSub>
                  </m:oMath>
                </a14:m>
                <a:r>
                  <a:rPr lang="zh-CN" altLang="en-US" sz="1600" dirty="0"/>
                  <a:t> 对应一个任务，通过对应的任务向量 </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𝜏</m:t>
                        </m:r>
                      </m:e>
                      <m:sub>
                        <m:r>
                          <a:rPr lang="en-US" altLang="zh-CN" sz="1600" b="0" i="1" smtClean="0">
                            <a:latin typeface="Cambria Math" panose="02040503050406030204" pitchFamily="18" charset="0"/>
                          </a:rPr>
                          <m:t>𝑡</m:t>
                        </m:r>
                      </m:sub>
                    </m:sSub>
                  </m:oMath>
                </a14:m>
                <a:r>
                  <a:rPr lang="zh-CN" altLang="en-US" sz="1600" dirty="0"/>
                  <a:t> 来控制该任务的表现，而不干扰其他任务。</a:t>
                </a:r>
                <a:endParaRPr lang="en-US" altLang="zh-CN" sz="1600" dirty="0"/>
              </a:p>
              <a:p>
                <a:pPr marL="742950" lvl="1" indent="-285750">
                  <a:buFont typeface="Wingdings" panose="05000000000000000000" pitchFamily="2" charset="2"/>
                  <a:buChar char="l"/>
                </a:pPr>
                <a:endParaRPr lang="en-US" altLang="zh-CN" sz="1600" dirty="0"/>
              </a:p>
              <a:p>
                <a:pPr marL="742950" lvl="1" indent="-285750">
                  <a:buFont typeface="Wingdings" panose="05000000000000000000" pitchFamily="2" charset="2"/>
                  <a:buChar char="l"/>
                </a:pPr>
                <a:r>
                  <a:rPr lang="zh-CN" altLang="en-US" sz="1600" b="1" dirty="0"/>
                  <a:t>独立性</a:t>
                </a:r>
                <a:r>
                  <a:rPr lang="zh-CN" altLang="en-US" sz="1600" dirty="0"/>
                  <a:t>：局部化函数的设计允许我们对不同任务进行独立操作，例如对任务向量进行加权、组合等操作，而不会影响其他任务的表现。</a:t>
                </a:r>
                <a:endParaRPr lang="en-US" altLang="zh-CN" sz="1600" dirty="0">
                  <a:latin typeface="+mn-ea"/>
                </a:endParaRPr>
              </a:p>
            </p:txBody>
          </p:sp>
        </mc:Choice>
        <mc:Fallback xmlns="">
          <p:sp>
            <p:nvSpPr>
              <p:cNvPr id="10" name="文本框 9">
                <a:extLst>
                  <a:ext uri="{FF2B5EF4-FFF2-40B4-BE49-F238E27FC236}">
                    <a16:creationId xmlns:a16="http://schemas.microsoft.com/office/drawing/2014/main" id="{524CBAA4-147A-7015-2A8A-16E9B741CAAD}"/>
                  </a:ext>
                </a:extLst>
              </p:cNvPr>
              <p:cNvSpPr txBox="1">
                <a:spLocks noRot="1" noChangeAspect="1" noMove="1" noResize="1" noEditPoints="1" noAdjustHandles="1" noChangeArrowheads="1" noChangeShapeType="1" noTextEdit="1"/>
              </p:cNvSpPr>
              <p:nvPr/>
            </p:nvSpPr>
            <p:spPr>
              <a:xfrm>
                <a:off x="542925" y="3595372"/>
                <a:ext cx="10338435" cy="2369880"/>
              </a:xfrm>
              <a:prstGeom prst="rect">
                <a:avLst/>
              </a:prstGeom>
              <a:blipFill>
                <a:blip r:embed="rId5"/>
                <a:stretch>
                  <a:fillRect l="-354" t="-1542" b="-23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097243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5.</a:t>
            </a:r>
            <a:r>
              <a:rPr lang="zh-CN" altLang="en-US" sz="2800" dirty="0">
                <a:solidFill>
                  <a:srgbClr val="000000">
                    <a:lumMod val="75000"/>
                    <a:lumOff val="25000"/>
                  </a:srgbClr>
                </a:solidFill>
              </a:rPr>
              <a:t>权重解缠</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D1E70751-56F8-6878-0E91-A94D7D6A3AC2}"/>
              </a:ext>
            </a:extLst>
          </p:cNvPr>
          <p:cNvSpPr txBox="1"/>
          <p:nvPr/>
        </p:nvSpPr>
        <p:spPr>
          <a:xfrm>
            <a:off x="695325" y="3028675"/>
            <a:ext cx="4658995"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可视化结果：</a:t>
            </a:r>
            <a:endParaRPr lang="en-US" altLang="zh-CN" b="1" dirty="0">
              <a:solidFill>
                <a:srgbClr val="268F9C"/>
              </a:solidFill>
              <a:latin typeface="+mn-ea"/>
            </a:endParaRPr>
          </a:p>
        </p:txBody>
      </p:sp>
      <p:pic>
        <p:nvPicPr>
          <p:cNvPr id="5" name="图片 4">
            <a:extLst>
              <a:ext uri="{FF2B5EF4-FFF2-40B4-BE49-F238E27FC236}">
                <a16:creationId xmlns:a16="http://schemas.microsoft.com/office/drawing/2014/main" id="{C0020583-9DF1-E2A2-26FD-5879518A49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3279" y="1416901"/>
            <a:ext cx="7373303" cy="860500"/>
          </a:xfrm>
          <a:prstGeom prst="rect">
            <a:avLst/>
          </a:prstGeom>
        </p:spPr>
      </p:pic>
      <p:pic>
        <p:nvPicPr>
          <p:cNvPr id="10" name="图片 9" descr="图形用户界面&#10;&#10;描述已自动生成">
            <a:extLst>
              <a:ext uri="{FF2B5EF4-FFF2-40B4-BE49-F238E27FC236}">
                <a16:creationId xmlns:a16="http://schemas.microsoft.com/office/drawing/2014/main" id="{E790175E-8842-E16D-59D4-AC9D63465A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77522" y="2516574"/>
            <a:ext cx="6421755" cy="3967769"/>
          </a:xfrm>
          <a:prstGeom prst="rect">
            <a:avLst/>
          </a:prstGeom>
        </p:spPr>
      </p:pic>
      <p:sp>
        <p:nvSpPr>
          <p:cNvPr id="11" name="文本框 10">
            <a:extLst>
              <a:ext uri="{FF2B5EF4-FFF2-40B4-BE49-F238E27FC236}">
                <a16:creationId xmlns:a16="http://schemas.microsoft.com/office/drawing/2014/main" id="{FCDF8E6C-7726-3D51-8D12-8CDAC7F20F03}"/>
              </a:ext>
            </a:extLst>
          </p:cNvPr>
          <p:cNvSpPr txBox="1"/>
          <p:nvPr/>
        </p:nvSpPr>
        <p:spPr>
          <a:xfrm>
            <a:off x="695325" y="1003115"/>
            <a:ext cx="7267575"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权重解缠可视化：</a:t>
            </a:r>
            <a:endParaRPr lang="en-US" altLang="zh-CN" b="1" dirty="0">
              <a:solidFill>
                <a:srgbClr val="268F9C"/>
              </a:solidFill>
              <a:latin typeface="+mn-ea"/>
            </a:endParaRPr>
          </a:p>
        </p:txBody>
      </p:sp>
      <p:sp>
        <p:nvSpPr>
          <p:cNvPr id="13" name="文本框 12">
            <a:extLst>
              <a:ext uri="{FF2B5EF4-FFF2-40B4-BE49-F238E27FC236}">
                <a16:creationId xmlns:a16="http://schemas.microsoft.com/office/drawing/2014/main" id="{33C1FAE1-455D-7304-360E-A97BAD264044}"/>
              </a:ext>
            </a:extLst>
          </p:cNvPr>
          <p:cNvSpPr txBox="1"/>
          <p:nvPr/>
        </p:nvSpPr>
        <p:spPr>
          <a:xfrm>
            <a:off x="1158408" y="3644659"/>
            <a:ext cx="4419114" cy="1200329"/>
          </a:xfrm>
          <a:prstGeom prst="rect">
            <a:avLst/>
          </a:prstGeom>
          <a:noFill/>
        </p:spPr>
        <p:txBody>
          <a:bodyPr wrap="square">
            <a:spAutoFit/>
          </a:bodyPr>
          <a:lstStyle/>
          <a:p>
            <a:r>
              <a:rPr lang="zh-CN" altLang="en-US" dirty="0">
                <a:latin typeface="+mn-ea"/>
              </a:rPr>
              <a:t>后线性化模型的解缠误差明显比原始微调模型小的多，这与实验结果中后线性化模型的归一化准确率比原始微调模型的归一化准确率高的结果一致</a:t>
            </a:r>
            <a:endParaRPr lang="en-US" altLang="zh-CN" dirty="0">
              <a:latin typeface="+mn-ea"/>
            </a:endParaRPr>
          </a:p>
        </p:txBody>
      </p:sp>
    </p:spTree>
    <p:extLst>
      <p:ext uri="{BB962C8B-B14F-4D97-AF65-F5344CB8AC3E}">
        <p14:creationId xmlns:p14="http://schemas.microsoft.com/office/powerpoint/2010/main" val="24971175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6</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切空间微调</a:t>
            </a:r>
          </a:p>
        </p:txBody>
      </p:sp>
      <p:sp>
        <p:nvSpPr>
          <p:cNvPr id="11" name="文本框 10">
            <a:extLst>
              <a:ext uri="{FF2B5EF4-FFF2-40B4-BE49-F238E27FC236}">
                <a16:creationId xmlns:a16="http://schemas.microsoft.com/office/drawing/2014/main" id="{FCDF8E6C-7726-3D51-8D12-8CDAC7F20F03}"/>
              </a:ext>
            </a:extLst>
          </p:cNvPr>
          <p:cNvSpPr txBox="1"/>
          <p:nvPr/>
        </p:nvSpPr>
        <p:spPr>
          <a:xfrm>
            <a:off x="695324" y="1011354"/>
            <a:ext cx="8052435" cy="1477328"/>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之前的实验得到的结果：</a:t>
            </a:r>
            <a:endParaRPr lang="en-US" altLang="zh-CN" b="1" dirty="0">
              <a:solidFill>
                <a:srgbClr val="268F9C"/>
              </a:solidFill>
              <a:latin typeface="+mn-ea"/>
            </a:endParaRPr>
          </a:p>
          <a:p>
            <a:pPr marL="285750" indent="-285750">
              <a:buFont typeface="Wingdings" panose="05000000000000000000" pitchFamily="2" charset="2"/>
              <a:buChar char="Ø"/>
            </a:pPr>
            <a:endParaRPr lang="en-US" altLang="zh-CN" b="1" dirty="0">
              <a:solidFill>
                <a:srgbClr val="268F9C"/>
              </a:solidFill>
              <a:latin typeface="+mn-ea"/>
            </a:endParaRPr>
          </a:p>
          <a:p>
            <a:pPr marL="742950" lvl="1" indent="-285750">
              <a:buFont typeface="Wingdings" panose="05000000000000000000" pitchFamily="2" charset="2"/>
              <a:buChar char="l"/>
            </a:pPr>
            <a:r>
              <a:rPr lang="zh-CN" altLang="en-US" dirty="0">
                <a:latin typeface="+mn-ea"/>
              </a:rPr>
              <a:t>原始微调模型在单个任务的精度上比后线性化模型高</a:t>
            </a:r>
            <a:endParaRPr lang="en-US" altLang="zh-CN" dirty="0">
              <a:latin typeface="+mn-ea"/>
            </a:endParaRPr>
          </a:p>
          <a:p>
            <a:pPr marL="742950" lvl="1" indent="-285750">
              <a:buFont typeface="Wingdings" panose="05000000000000000000" pitchFamily="2" charset="2"/>
              <a:buChar char="l"/>
            </a:pPr>
            <a:endParaRPr lang="en-US" altLang="zh-CN" dirty="0">
              <a:latin typeface="+mn-ea"/>
            </a:endParaRPr>
          </a:p>
          <a:p>
            <a:pPr marL="742950" lvl="1" indent="-285750">
              <a:buFont typeface="Wingdings" panose="05000000000000000000" pitchFamily="2" charset="2"/>
              <a:buChar char="l"/>
            </a:pPr>
            <a:r>
              <a:rPr lang="zh-CN" altLang="en-US" dirty="0">
                <a:latin typeface="+mn-ea"/>
              </a:rPr>
              <a:t>在任务融合实验中，后线性化模型的归一化准确率比原始微调模型高</a:t>
            </a:r>
            <a:endParaRPr lang="en-US" altLang="zh-CN" dirty="0">
              <a:latin typeface="+mn-ea"/>
            </a:endParaRPr>
          </a:p>
        </p:txBody>
      </p:sp>
      <p:sp>
        <p:nvSpPr>
          <p:cNvPr id="4" name="文本框 3">
            <a:extLst>
              <a:ext uri="{FF2B5EF4-FFF2-40B4-BE49-F238E27FC236}">
                <a16:creationId xmlns:a16="http://schemas.microsoft.com/office/drawing/2014/main" id="{AD78435A-A18C-0736-1AF6-267653B95F63}"/>
              </a:ext>
            </a:extLst>
          </p:cNvPr>
          <p:cNvSpPr txBox="1"/>
          <p:nvPr/>
        </p:nvSpPr>
        <p:spPr>
          <a:xfrm>
            <a:off x="695324" y="3405092"/>
            <a:ext cx="8052435"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作者提出新的微调方法：</a:t>
            </a:r>
            <a:endParaRPr lang="en-US" altLang="zh-CN" b="1" dirty="0">
              <a:solidFill>
                <a:srgbClr val="268F9C"/>
              </a:solidFill>
              <a:latin typeface="+mn-ea"/>
            </a:endParaRPr>
          </a:p>
        </p:txBody>
      </p:sp>
      <p:sp>
        <p:nvSpPr>
          <p:cNvPr id="7" name="文本框 6">
            <a:extLst>
              <a:ext uri="{FF2B5EF4-FFF2-40B4-BE49-F238E27FC236}">
                <a16:creationId xmlns:a16="http://schemas.microsoft.com/office/drawing/2014/main" id="{77B6F03C-6C79-52DB-E19D-A7143499491A}"/>
              </a:ext>
            </a:extLst>
          </p:cNvPr>
          <p:cNvSpPr txBox="1"/>
          <p:nvPr/>
        </p:nvSpPr>
        <p:spPr>
          <a:xfrm>
            <a:off x="1158408" y="3939890"/>
            <a:ext cx="5031891" cy="923330"/>
          </a:xfrm>
          <a:prstGeom prst="rect">
            <a:avLst/>
          </a:prstGeom>
          <a:noFill/>
        </p:spPr>
        <p:txBody>
          <a:bodyPr wrap="square">
            <a:spAutoFit/>
          </a:bodyPr>
          <a:lstStyle/>
          <a:p>
            <a:r>
              <a:rPr lang="zh-CN" altLang="en-US" dirty="0">
                <a:latin typeface="+mn-ea"/>
              </a:rPr>
              <a:t>后线性化模型在单个任务精度较低，那么让模型直接在切空间内进行微调，以提高线性化模型在单任务上的精度</a:t>
            </a:r>
            <a:endParaRPr lang="en-US" altLang="zh-CN" dirty="0">
              <a:latin typeface="+mn-ea"/>
            </a:endParaRPr>
          </a:p>
        </p:txBody>
      </p:sp>
      <p:pic>
        <p:nvPicPr>
          <p:cNvPr id="8" name="图片 7">
            <a:extLst>
              <a:ext uri="{FF2B5EF4-FFF2-40B4-BE49-F238E27FC236}">
                <a16:creationId xmlns:a16="http://schemas.microsoft.com/office/drawing/2014/main" id="{38966BBB-9597-43B1-8807-D981024FC9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0596" y="3049599"/>
            <a:ext cx="5437567" cy="3198801"/>
          </a:xfrm>
          <a:prstGeom prst="rect">
            <a:avLst/>
          </a:prstGeom>
        </p:spPr>
      </p:pic>
      <p:pic>
        <p:nvPicPr>
          <p:cNvPr id="15" name="图片 14">
            <a:extLst>
              <a:ext uri="{FF2B5EF4-FFF2-40B4-BE49-F238E27FC236}">
                <a16:creationId xmlns:a16="http://schemas.microsoft.com/office/drawing/2014/main" id="{454E1E9F-A889-A11C-9098-4DB1D3B8B1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8408" y="5033766"/>
            <a:ext cx="4914900" cy="400050"/>
          </a:xfrm>
          <a:prstGeom prst="rect">
            <a:avLst/>
          </a:prstGeom>
        </p:spPr>
      </p:pic>
    </p:spTree>
    <p:extLst>
      <p:ext uri="{BB962C8B-B14F-4D97-AF65-F5344CB8AC3E}">
        <p14:creationId xmlns:p14="http://schemas.microsoft.com/office/powerpoint/2010/main" val="14691707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6</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切空间微调</a:t>
            </a:r>
          </a:p>
        </p:txBody>
      </p:sp>
      <p:sp>
        <p:nvSpPr>
          <p:cNvPr id="2" name="文本框 1">
            <a:extLst>
              <a:ext uri="{FF2B5EF4-FFF2-40B4-BE49-F238E27FC236}">
                <a16:creationId xmlns:a16="http://schemas.microsoft.com/office/drawing/2014/main" id="{D58A3BCF-ED35-D0AD-0FE3-E251599F3755}"/>
              </a:ext>
            </a:extLst>
          </p:cNvPr>
          <p:cNvSpPr txBox="1"/>
          <p:nvPr/>
        </p:nvSpPr>
        <p:spPr>
          <a:xfrm>
            <a:off x="656816" y="1019317"/>
            <a:ext cx="4689999"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切空间微调在单任务上的精度</a:t>
            </a:r>
            <a:endParaRPr lang="en-US" altLang="zh-CN" b="1" dirty="0">
              <a:solidFill>
                <a:srgbClr val="268F9C"/>
              </a:solidFill>
              <a:latin typeface="+mn-ea"/>
            </a:endParaRPr>
          </a:p>
        </p:txBody>
      </p:sp>
      <p:pic>
        <p:nvPicPr>
          <p:cNvPr id="6" name="图片 5" descr="图表, 散点图&#10;&#10;描述已自动生成">
            <a:extLst>
              <a:ext uri="{FF2B5EF4-FFF2-40B4-BE49-F238E27FC236}">
                <a16:creationId xmlns:a16="http://schemas.microsoft.com/office/drawing/2014/main" id="{B1F3E30C-C5C9-697E-096C-960E641452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12" y="1630697"/>
            <a:ext cx="5158881" cy="3831313"/>
          </a:xfrm>
          <a:prstGeom prst="rect">
            <a:avLst/>
          </a:prstGeom>
        </p:spPr>
      </p:pic>
      <p:pic>
        <p:nvPicPr>
          <p:cNvPr id="9" name="图片 8" descr="表格&#10;&#10;描述已自动生成">
            <a:extLst>
              <a:ext uri="{FF2B5EF4-FFF2-40B4-BE49-F238E27FC236}">
                <a16:creationId xmlns:a16="http://schemas.microsoft.com/office/drawing/2014/main" id="{C84F0534-C701-E6F8-FCEC-903E1299E4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9214" y="1633786"/>
            <a:ext cx="6432277" cy="1501500"/>
          </a:xfrm>
          <a:prstGeom prst="rect">
            <a:avLst/>
          </a:prstGeom>
        </p:spPr>
      </p:pic>
      <p:pic>
        <p:nvPicPr>
          <p:cNvPr id="10" name="图片 9" descr="表格&#10;&#10;描述已自动生成">
            <a:extLst>
              <a:ext uri="{FF2B5EF4-FFF2-40B4-BE49-F238E27FC236}">
                <a16:creationId xmlns:a16="http://schemas.microsoft.com/office/drawing/2014/main" id="{0267C2C8-8D58-DFE7-EE33-B9EEB57B2D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99214" y="3823352"/>
            <a:ext cx="6600474" cy="1542467"/>
          </a:xfrm>
          <a:prstGeom prst="rect">
            <a:avLst/>
          </a:prstGeom>
        </p:spPr>
      </p:pic>
      <p:sp>
        <p:nvSpPr>
          <p:cNvPr id="12" name="文本框 11">
            <a:extLst>
              <a:ext uri="{FF2B5EF4-FFF2-40B4-BE49-F238E27FC236}">
                <a16:creationId xmlns:a16="http://schemas.microsoft.com/office/drawing/2014/main" id="{0EBB66C1-7AC9-3511-EBAD-527EB6BE7940}"/>
              </a:ext>
            </a:extLst>
          </p:cNvPr>
          <p:cNvSpPr txBox="1"/>
          <p:nvPr/>
        </p:nvSpPr>
        <p:spPr>
          <a:xfrm>
            <a:off x="6298250" y="3110812"/>
            <a:ext cx="5002402" cy="276999"/>
          </a:xfrm>
          <a:prstGeom prst="rect">
            <a:avLst/>
          </a:prstGeom>
          <a:noFill/>
        </p:spPr>
        <p:txBody>
          <a:bodyPr wrap="square">
            <a:spAutoFit/>
          </a:bodyPr>
          <a:lstStyle/>
          <a:p>
            <a:pPr algn="ctr"/>
            <a:r>
              <a:rPr lang="zh-CN" altLang="en-US" sz="1200" b="1" dirty="0">
                <a:latin typeface="+mn-ea"/>
              </a:rPr>
              <a:t>表</a:t>
            </a:r>
            <a:r>
              <a:rPr lang="en-US" altLang="zh-CN" sz="1200" b="1" dirty="0">
                <a:latin typeface="+mn-ea"/>
              </a:rPr>
              <a:t>(a) </a:t>
            </a:r>
            <a:r>
              <a:rPr lang="zh-CN" altLang="en-US" sz="1200" b="1" dirty="0">
                <a:latin typeface="+mn-ea"/>
              </a:rPr>
              <a:t>任务融合结果</a:t>
            </a:r>
            <a:endParaRPr lang="en-US" altLang="zh-CN" sz="1200" b="1" dirty="0">
              <a:latin typeface="+mn-ea"/>
            </a:endParaRPr>
          </a:p>
        </p:txBody>
      </p:sp>
      <p:sp>
        <p:nvSpPr>
          <p:cNvPr id="13" name="文本框 12">
            <a:extLst>
              <a:ext uri="{FF2B5EF4-FFF2-40B4-BE49-F238E27FC236}">
                <a16:creationId xmlns:a16="http://schemas.microsoft.com/office/drawing/2014/main" id="{876E7198-60A9-BBDC-A6F4-586CB1C06EFF}"/>
              </a:ext>
            </a:extLst>
          </p:cNvPr>
          <p:cNvSpPr txBox="1"/>
          <p:nvPr/>
        </p:nvSpPr>
        <p:spPr>
          <a:xfrm>
            <a:off x="6451076" y="5323510"/>
            <a:ext cx="5002402" cy="276999"/>
          </a:xfrm>
          <a:prstGeom prst="rect">
            <a:avLst/>
          </a:prstGeom>
          <a:noFill/>
        </p:spPr>
        <p:txBody>
          <a:bodyPr wrap="square">
            <a:spAutoFit/>
          </a:bodyPr>
          <a:lstStyle/>
          <a:p>
            <a:pPr algn="ctr"/>
            <a:r>
              <a:rPr lang="zh-CN" altLang="en-US" sz="1200" b="1" dirty="0">
                <a:latin typeface="+mn-ea"/>
              </a:rPr>
              <a:t>图</a:t>
            </a:r>
            <a:r>
              <a:rPr lang="en-US" altLang="zh-CN" sz="1200" b="1" dirty="0">
                <a:latin typeface="+mn-ea"/>
              </a:rPr>
              <a:t>(b) </a:t>
            </a:r>
            <a:r>
              <a:rPr lang="zh-CN" altLang="en-US" sz="1200" b="1" dirty="0">
                <a:latin typeface="+mn-ea"/>
              </a:rPr>
              <a:t>任务遗忘结果</a:t>
            </a:r>
            <a:endParaRPr lang="en-US" altLang="zh-CN" sz="1200" b="1" dirty="0">
              <a:latin typeface="+mn-ea"/>
            </a:endParaRPr>
          </a:p>
        </p:txBody>
      </p:sp>
      <p:sp>
        <p:nvSpPr>
          <p:cNvPr id="14" name="文本框 13">
            <a:extLst>
              <a:ext uri="{FF2B5EF4-FFF2-40B4-BE49-F238E27FC236}">
                <a16:creationId xmlns:a16="http://schemas.microsoft.com/office/drawing/2014/main" id="{76BCC5B9-C7E9-B092-C062-34A09A3A358F}"/>
              </a:ext>
            </a:extLst>
          </p:cNvPr>
          <p:cNvSpPr txBox="1"/>
          <p:nvPr/>
        </p:nvSpPr>
        <p:spPr>
          <a:xfrm>
            <a:off x="5346815" y="1019317"/>
            <a:ext cx="4689999"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切空间微调任务融合、任务遗忘实验结果</a:t>
            </a:r>
            <a:endParaRPr lang="en-US" altLang="zh-CN" b="1" dirty="0">
              <a:solidFill>
                <a:srgbClr val="268F9C"/>
              </a:solidFill>
              <a:latin typeface="+mn-ea"/>
            </a:endParaRPr>
          </a:p>
        </p:txBody>
      </p:sp>
    </p:spTree>
    <p:extLst>
      <p:ext uri="{BB962C8B-B14F-4D97-AF65-F5344CB8AC3E}">
        <p14:creationId xmlns:p14="http://schemas.microsoft.com/office/powerpoint/2010/main" val="7576617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7.</a:t>
            </a:r>
            <a:r>
              <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预训练模型的</a:t>
            </a:r>
            <a:r>
              <a:rPr lang="zh-CN" altLang="en-US" sz="2800" dirty="0">
                <a:solidFill>
                  <a:srgbClr val="000000">
                    <a:lumMod val="75000"/>
                    <a:lumOff val="25000"/>
                  </a:srgbClr>
                </a:solidFill>
              </a:rPr>
              <a:t>权重解缠性质</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D58A3BCF-ED35-D0AD-0FE3-E251599F3755}"/>
              </a:ext>
            </a:extLst>
          </p:cNvPr>
          <p:cNvSpPr txBox="1"/>
          <p:nvPr/>
        </p:nvSpPr>
        <p:spPr>
          <a:xfrm>
            <a:off x="656816" y="1019317"/>
            <a:ext cx="10585337" cy="923330"/>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实验背景：</a:t>
            </a:r>
            <a:r>
              <a:rPr lang="zh-CN" altLang="en-US" dirty="0">
                <a:latin typeface="+mn-ea"/>
              </a:rPr>
              <a:t>任务算术不仅在</a:t>
            </a:r>
            <a:r>
              <a:rPr lang="en-US" altLang="zh-CN" dirty="0">
                <a:latin typeface="+mn-ea"/>
              </a:rPr>
              <a:t>CLIP</a:t>
            </a:r>
            <a:r>
              <a:rPr lang="zh-CN" altLang="en-US" dirty="0">
                <a:latin typeface="+mn-ea"/>
              </a:rPr>
              <a:t>预训练模型中有作用，还在</a:t>
            </a:r>
            <a:r>
              <a:rPr lang="en-US" altLang="zh-CN" dirty="0">
                <a:latin typeface="+mn-ea"/>
              </a:rPr>
              <a:t>GPT</a:t>
            </a:r>
            <a:r>
              <a:rPr lang="zh-CN" altLang="en-US" dirty="0">
                <a:latin typeface="+mn-ea"/>
              </a:rPr>
              <a:t>等预训练中起作用，作者为了探究权重解缠是模型本身的性质还是预训练模型的性质，于是作者探究了随机初始化的模型是否满足权重解缠性质</a:t>
            </a:r>
            <a:endParaRPr lang="en-US" altLang="zh-CN" dirty="0">
              <a:latin typeface="+mn-ea"/>
            </a:endParaRPr>
          </a:p>
        </p:txBody>
      </p:sp>
      <p:sp>
        <p:nvSpPr>
          <p:cNvPr id="8" name="文本框 7">
            <a:extLst>
              <a:ext uri="{FF2B5EF4-FFF2-40B4-BE49-F238E27FC236}">
                <a16:creationId xmlns:a16="http://schemas.microsoft.com/office/drawing/2014/main" id="{3D47AB77-1A62-14F4-64AE-11985E2A1D7F}"/>
              </a:ext>
            </a:extLst>
          </p:cNvPr>
          <p:cNvSpPr txBox="1"/>
          <p:nvPr/>
        </p:nvSpPr>
        <p:spPr>
          <a:xfrm>
            <a:off x="656816" y="2266473"/>
            <a:ext cx="6106160"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实验结果</a:t>
            </a:r>
            <a:endParaRPr lang="zh-CN" altLang="en-US" dirty="0"/>
          </a:p>
        </p:txBody>
      </p:sp>
      <p:pic>
        <p:nvPicPr>
          <p:cNvPr id="15" name="图片 14">
            <a:extLst>
              <a:ext uri="{FF2B5EF4-FFF2-40B4-BE49-F238E27FC236}">
                <a16:creationId xmlns:a16="http://schemas.microsoft.com/office/drawing/2014/main" id="{B93254A1-15FE-F088-268C-4A3963F24C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 y="3065890"/>
            <a:ext cx="10088880" cy="2097464"/>
          </a:xfrm>
          <a:prstGeom prst="rect">
            <a:avLst/>
          </a:prstGeom>
        </p:spPr>
      </p:pic>
    </p:spTree>
    <p:extLst>
      <p:ext uri="{BB962C8B-B14F-4D97-AF65-F5344CB8AC3E}">
        <p14:creationId xmlns:p14="http://schemas.microsoft.com/office/powerpoint/2010/main" val="12728374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8.</a:t>
            </a:r>
            <a:r>
              <a:rPr lang="zh-CN" altLang="en-US" sz="2800" dirty="0">
                <a:solidFill>
                  <a:srgbClr val="000000">
                    <a:lumMod val="75000"/>
                    <a:lumOff val="25000"/>
                  </a:srgbClr>
                </a:solidFill>
              </a:rPr>
              <a:t>总结</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a16="http://schemas.microsoft.com/office/drawing/2014/main" id="{AB909669-AD69-773B-543B-49640958972B}"/>
              </a:ext>
            </a:extLst>
          </p:cNvPr>
          <p:cNvSpPr txBox="1"/>
          <p:nvPr/>
        </p:nvSpPr>
        <p:spPr>
          <a:xfrm>
            <a:off x="614679" y="958334"/>
            <a:ext cx="10585337" cy="3139321"/>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本文工作：</a:t>
            </a:r>
            <a:endParaRPr lang="en-US" altLang="zh-CN" b="1" dirty="0">
              <a:solidFill>
                <a:srgbClr val="268F9C"/>
              </a:solidFill>
              <a:latin typeface="+mn-ea"/>
            </a:endParaRPr>
          </a:p>
          <a:p>
            <a:pPr marL="285750" indent="-285750">
              <a:buFont typeface="Wingdings" panose="05000000000000000000" pitchFamily="2" charset="2"/>
              <a:buChar char="Ø"/>
            </a:pPr>
            <a:endParaRPr lang="en-US" altLang="zh-CN" b="1" dirty="0">
              <a:solidFill>
                <a:srgbClr val="268F9C"/>
              </a:solidFill>
              <a:latin typeface="+mn-ea"/>
            </a:endParaRPr>
          </a:p>
          <a:p>
            <a:pPr marL="742950" lvl="1" indent="-285750">
              <a:buFont typeface="Arial" panose="020B0604020202020204" pitchFamily="34" charset="0"/>
              <a:buChar char="•"/>
            </a:pPr>
            <a:r>
              <a:rPr lang="zh-CN" altLang="en-US" dirty="0">
                <a:latin typeface="+mn-ea"/>
              </a:rPr>
              <a:t>将任务算术用符号形式化，并用实验说明了任务算术的成功不是依赖的原始模型的线性能力，而是依赖的模型非线性能力</a:t>
            </a:r>
            <a:endParaRPr lang="en-US" altLang="zh-CN" dirty="0">
              <a:latin typeface="+mn-ea"/>
            </a:endParaRPr>
          </a:p>
          <a:p>
            <a:pPr marL="742950" lvl="1" indent="-285750">
              <a:buFont typeface="Arial" panose="020B0604020202020204" pitchFamily="34" charset="0"/>
              <a:buChar char="•"/>
            </a:pPr>
            <a:endParaRPr lang="en-US" altLang="zh-CN" dirty="0">
              <a:latin typeface="+mn-ea"/>
            </a:endParaRPr>
          </a:p>
          <a:p>
            <a:pPr marL="742950" lvl="1" indent="-285750">
              <a:buFont typeface="Arial" panose="020B0604020202020204" pitchFamily="34" charset="0"/>
              <a:buChar char="•"/>
            </a:pPr>
            <a:r>
              <a:rPr lang="zh-CN" altLang="en-US" dirty="0">
                <a:latin typeface="+mn-ea"/>
              </a:rPr>
              <a:t>提出了权重解缠的概念，为任务算术提供了必要条件</a:t>
            </a:r>
            <a:endParaRPr lang="en-US" altLang="zh-CN" dirty="0">
              <a:latin typeface="+mn-ea"/>
            </a:endParaRPr>
          </a:p>
          <a:p>
            <a:pPr marL="742950" lvl="1" indent="-285750">
              <a:buFont typeface="Arial" panose="020B0604020202020204" pitchFamily="34" charset="0"/>
              <a:buChar char="•"/>
            </a:pPr>
            <a:endParaRPr lang="en-US" altLang="zh-CN" dirty="0">
              <a:latin typeface="+mn-ea"/>
            </a:endParaRPr>
          </a:p>
          <a:p>
            <a:pPr marL="742950" lvl="1" indent="-285750">
              <a:buFont typeface="Arial" panose="020B0604020202020204" pitchFamily="34" charset="0"/>
              <a:buChar char="•"/>
            </a:pPr>
            <a:r>
              <a:rPr lang="zh-CN" altLang="en-US" dirty="0">
                <a:latin typeface="+mn-ea"/>
              </a:rPr>
              <a:t>让模型在切空间内进行微调，提高了模型的权重解缠能力，增强了任务融合以及任务遗忘的性能</a:t>
            </a:r>
            <a:endParaRPr lang="en-US" altLang="zh-CN" dirty="0">
              <a:latin typeface="+mn-ea"/>
            </a:endParaRPr>
          </a:p>
          <a:p>
            <a:pPr marL="742950" lvl="1" indent="-285750">
              <a:buFont typeface="Arial" panose="020B0604020202020204" pitchFamily="34" charset="0"/>
              <a:buChar char="•"/>
            </a:pPr>
            <a:endParaRPr lang="en-US" altLang="zh-CN" dirty="0">
              <a:latin typeface="+mn-ea"/>
            </a:endParaRPr>
          </a:p>
          <a:p>
            <a:pPr marL="742950" lvl="1" indent="-285750">
              <a:buFont typeface="Arial" panose="020B0604020202020204" pitchFamily="34" charset="0"/>
              <a:buChar char="•"/>
            </a:pPr>
            <a:r>
              <a:rPr lang="zh-CN" altLang="en-US" dirty="0">
                <a:latin typeface="+mn-ea"/>
              </a:rPr>
              <a:t>实验说明了权重解缠属性只在预训练模型中出现</a:t>
            </a:r>
            <a:endParaRPr lang="en-US" altLang="zh-CN" b="1" dirty="0">
              <a:solidFill>
                <a:srgbClr val="268F9C"/>
              </a:solidFill>
              <a:latin typeface="+mn-ea"/>
            </a:endParaRPr>
          </a:p>
          <a:p>
            <a:pPr marL="742950" lvl="1" indent="-285750">
              <a:buFont typeface="Arial" panose="020B0604020202020204" pitchFamily="34" charset="0"/>
              <a:buChar char="•"/>
            </a:pPr>
            <a:endParaRPr lang="zh-CN" altLang="en-US" dirty="0"/>
          </a:p>
        </p:txBody>
      </p:sp>
      <p:sp>
        <p:nvSpPr>
          <p:cNvPr id="7" name="文本框 6">
            <a:extLst>
              <a:ext uri="{FF2B5EF4-FFF2-40B4-BE49-F238E27FC236}">
                <a16:creationId xmlns:a16="http://schemas.microsoft.com/office/drawing/2014/main" id="{6F964A7A-9288-2E15-3911-7BF3D58E9ABD}"/>
              </a:ext>
            </a:extLst>
          </p:cNvPr>
          <p:cNvSpPr txBox="1"/>
          <p:nvPr/>
        </p:nvSpPr>
        <p:spPr>
          <a:xfrm>
            <a:off x="614678" y="4175832"/>
            <a:ext cx="10500361" cy="923330"/>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本文不足：</a:t>
            </a:r>
            <a:endParaRPr lang="en-US" altLang="zh-CN" b="1" dirty="0">
              <a:solidFill>
                <a:srgbClr val="268F9C"/>
              </a:solidFill>
              <a:latin typeface="+mn-ea"/>
            </a:endParaRPr>
          </a:p>
          <a:p>
            <a:pPr marL="742950" lvl="1" indent="-285750">
              <a:buFont typeface="Arial" panose="020B0604020202020204" pitchFamily="34" charset="0"/>
              <a:buChar char="•"/>
            </a:pPr>
            <a:endParaRPr lang="en-US" altLang="zh-CN" dirty="0">
              <a:solidFill>
                <a:srgbClr val="268F9C"/>
              </a:solidFill>
              <a:latin typeface="+mn-ea"/>
            </a:endParaRPr>
          </a:p>
          <a:p>
            <a:pPr marL="742950" lvl="1" indent="-285750">
              <a:buFont typeface="Arial" panose="020B0604020202020204" pitchFamily="34" charset="0"/>
              <a:buChar char="•"/>
            </a:pPr>
            <a:r>
              <a:rPr lang="zh-CN" altLang="en-US" dirty="0">
                <a:latin typeface="+mn-ea"/>
              </a:rPr>
              <a:t>本文直接在整个权重空间线性化模型，这使得模型在微调与推理阶段的开销都增加了</a:t>
            </a:r>
            <a:r>
              <a:rPr lang="en-US" altLang="zh-CN" dirty="0">
                <a:latin typeface="+mn-ea"/>
              </a:rPr>
              <a:t>2-3</a:t>
            </a:r>
            <a:r>
              <a:rPr lang="zh-CN" altLang="en-US" dirty="0">
                <a:latin typeface="+mn-ea"/>
              </a:rPr>
              <a:t>倍</a:t>
            </a:r>
            <a:endParaRPr lang="zh-CN" altLang="en-US" dirty="0"/>
          </a:p>
        </p:txBody>
      </p:sp>
    </p:spTree>
    <p:extLst>
      <p:ext uri="{BB962C8B-B14F-4D97-AF65-F5344CB8AC3E}">
        <p14:creationId xmlns:p14="http://schemas.microsoft.com/office/powerpoint/2010/main" val="6963616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28592" y="776798"/>
            <a:ext cx="5070060" cy="5454498"/>
          </a:xfrm>
          <a:prstGeom prst="rect">
            <a:avLst/>
          </a:prstGeom>
          <a:effectLst>
            <a:innerShdw blurRad="63500" dist="50800" dir="16200000">
              <a:prstClr val="black">
                <a:alpha val="50000"/>
              </a:prstClr>
            </a:innerShdw>
          </a:effectLst>
        </p:spPr>
      </p:pic>
      <p:sp>
        <p:nvSpPr>
          <p:cNvPr id="4" name="TextBox 13"/>
          <p:cNvSpPr txBox="1"/>
          <p:nvPr/>
        </p:nvSpPr>
        <p:spPr>
          <a:xfrm>
            <a:off x="6625590" y="2809757"/>
            <a:ext cx="3696764" cy="646331"/>
          </a:xfrm>
          <a:prstGeom prst="rect">
            <a:avLst/>
          </a:prstGeom>
          <a:noFill/>
        </p:spPr>
        <p:txBody>
          <a:bodyPr wrap="square" rtlCol="0">
            <a:spAutoFit/>
          </a:bodyPr>
          <a:lstStyle/>
          <a:p>
            <a:pPr lvl="0" algn="ctr">
              <a:defRPr/>
            </a:pPr>
            <a:r>
              <a:rPr lang="en-US" altLang="zh-CN" sz="3600" dirty="0">
                <a:latin typeface="Lato" panose="020F0502020204030203" pitchFamily="34" charset="0"/>
                <a:ea typeface="+mj-ea"/>
              </a:rPr>
              <a:t>3.</a:t>
            </a:r>
            <a:r>
              <a:rPr lang="zh-CN" altLang="en-US" sz="3600" dirty="0">
                <a:latin typeface="Lato" panose="020F0502020204030203" pitchFamily="34" charset="0"/>
                <a:ea typeface="+mj-ea"/>
              </a:rPr>
              <a:t>架构转换</a:t>
            </a:r>
            <a:endParaRPr lang="en-US" altLang="zh-CN" sz="3600" dirty="0">
              <a:latin typeface="+mj-ea"/>
              <a:ea typeface="+mj-ea"/>
            </a:endParaRPr>
          </a:p>
        </p:txBody>
      </p:sp>
      <p:grpSp>
        <p:nvGrpSpPr>
          <p:cNvPr id="5" name="组合 4"/>
          <p:cNvGrpSpPr/>
          <p:nvPr/>
        </p:nvGrpSpPr>
        <p:grpSpPr>
          <a:xfrm>
            <a:off x="5741065" y="3837410"/>
            <a:ext cx="5863771" cy="57767"/>
            <a:chOff x="5280505" y="3963496"/>
            <a:chExt cx="5863771" cy="57767"/>
          </a:xfrm>
          <a:solidFill>
            <a:schemeClr val="tx1"/>
          </a:solidFill>
        </p:grpSpPr>
        <p:sp>
          <p:nvSpPr>
            <p:cNvPr id="6" name="任意多边形 16"/>
            <p:cNvSpPr/>
            <p:nvPr/>
          </p:nvSpPr>
          <p:spPr>
            <a:xfrm>
              <a:off x="5280505" y="3992380"/>
              <a:ext cx="5863771" cy="0"/>
            </a:xfrm>
            <a:custGeom>
              <a:avLst/>
              <a:gdLst>
                <a:gd name="connsiteX0" fmla="*/ 0 w 5863771"/>
                <a:gd name="connsiteY0" fmla="*/ 0 h 0"/>
                <a:gd name="connsiteX1" fmla="*/ 58057 w 5863771"/>
                <a:gd name="connsiteY1" fmla="*/ 0 h 0"/>
                <a:gd name="connsiteX2" fmla="*/ 5863771 w 5863771"/>
                <a:gd name="connsiteY2" fmla="*/ 0 h 0"/>
              </a:gdLst>
              <a:ahLst/>
              <a:cxnLst>
                <a:cxn ang="0">
                  <a:pos x="connsiteX0" y="connsiteY0"/>
                </a:cxn>
                <a:cxn ang="0">
                  <a:pos x="connsiteX1" y="connsiteY1"/>
                </a:cxn>
                <a:cxn ang="0">
                  <a:pos x="connsiteX2" y="connsiteY2"/>
                </a:cxn>
              </a:cxnLst>
              <a:rect l="l" t="t" r="r" b="b"/>
              <a:pathLst>
                <a:path w="5863771">
                  <a:moveTo>
                    <a:pt x="0" y="0"/>
                  </a:moveTo>
                  <a:lnTo>
                    <a:pt x="58057" y="0"/>
                  </a:lnTo>
                  <a:lnTo>
                    <a:pt x="5863771" y="0"/>
                  </a:lnTo>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sp>
          <p:nvSpPr>
            <p:cNvPr id="7" name="圆角矩形 17"/>
            <p:cNvSpPr/>
            <p:nvPr/>
          </p:nvSpPr>
          <p:spPr>
            <a:xfrm>
              <a:off x="7456740" y="3963496"/>
              <a:ext cx="1511300" cy="5776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grpSp>
      <p:grpSp>
        <p:nvGrpSpPr>
          <p:cNvPr id="9" name="组合 8"/>
          <p:cNvGrpSpPr/>
          <p:nvPr/>
        </p:nvGrpSpPr>
        <p:grpSpPr bwMode="auto">
          <a:xfrm>
            <a:off x="7782456" y="4205439"/>
            <a:ext cx="412709" cy="333006"/>
            <a:chOff x="0" y="0"/>
            <a:chExt cx="1088225" cy="869861"/>
          </a:xfrm>
          <a:solidFill>
            <a:schemeClr val="tx1"/>
          </a:solidFill>
        </p:grpSpPr>
        <p:sp>
          <p:nvSpPr>
            <p:cNvPr id="10" name="Freeform 17"/>
            <p:cNvSpPr>
              <a:spLocks noEditPoints="1" noChangeArrowheads="1"/>
            </p:cNvSpPr>
            <p:nvPr/>
          </p:nvSpPr>
          <p:spPr bwMode="auto">
            <a:xfrm>
              <a:off x="0" y="237562"/>
              <a:ext cx="824268" cy="632299"/>
            </a:xfrm>
            <a:custGeom>
              <a:avLst/>
              <a:gdLst>
                <a:gd name="T0" fmla="*/ 274 w 291"/>
                <a:gd name="T1" fmla="*/ 0 h 223"/>
                <a:gd name="T2" fmla="*/ 17 w 291"/>
                <a:gd name="T3" fmla="*/ 0 h 223"/>
                <a:gd name="T4" fmla="*/ 0 w 291"/>
                <a:gd name="T5" fmla="*/ 16 h 223"/>
                <a:gd name="T6" fmla="*/ 0 w 291"/>
                <a:gd name="T7" fmla="*/ 207 h 223"/>
                <a:gd name="T8" fmla="*/ 17 w 291"/>
                <a:gd name="T9" fmla="*/ 223 h 223"/>
                <a:gd name="T10" fmla="*/ 274 w 291"/>
                <a:gd name="T11" fmla="*/ 223 h 223"/>
                <a:gd name="T12" fmla="*/ 291 w 291"/>
                <a:gd name="T13" fmla="*/ 207 h 223"/>
                <a:gd name="T14" fmla="*/ 291 w 291"/>
                <a:gd name="T15" fmla="*/ 16 h 223"/>
                <a:gd name="T16" fmla="*/ 274 w 291"/>
                <a:gd name="T17" fmla="*/ 0 h 223"/>
                <a:gd name="T18" fmla="*/ 270 w 291"/>
                <a:gd name="T19" fmla="*/ 193 h 223"/>
                <a:gd name="T20" fmla="*/ 256 w 291"/>
                <a:gd name="T21" fmla="*/ 207 h 223"/>
                <a:gd name="T22" fmla="*/ 35 w 291"/>
                <a:gd name="T23" fmla="*/ 207 h 223"/>
                <a:gd name="T24" fmla="*/ 21 w 291"/>
                <a:gd name="T25" fmla="*/ 193 h 223"/>
                <a:gd name="T26" fmla="*/ 21 w 291"/>
                <a:gd name="T27" fmla="*/ 30 h 223"/>
                <a:gd name="T28" fmla="*/ 35 w 291"/>
                <a:gd name="T29" fmla="*/ 16 h 223"/>
                <a:gd name="T30" fmla="*/ 256 w 291"/>
                <a:gd name="T31" fmla="*/ 16 h 223"/>
                <a:gd name="T32" fmla="*/ 270 w 291"/>
                <a:gd name="T33" fmla="*/ 30 h 223"/>
                <a:gd name="T34" fmla="*/ 270 w 291"/>
                <a:gd name="T35" fmla="*/ 19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1"/>
                <a:gd name="T55" fmla="*/ 0 h 223"/>
                <a:gd name="T56" fmla="*/ 291 w 291"/>
                <a:gd name="T57" fmla="*/ 223 h 2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1" h="223">
                  <a:moveTo>
                    <a:pt x="274" y="0"/>
                  </a:moveTo>
                  <a:cubicBezTo>
                    <a:pt x="17" y="0"/>
                    <a:pt x="17" y="0"/>
                    <a:pt x="17" y="0"/>
                  </a:cubicBezTo>
                  <a:cubicBezTo>
                    <a:pt x="8" y="0"/>
                    <a:pt x="0" y="7"/>
                    <a:pt x="0" y="16"/>
                  </a:cubicBezTo>
                  <a:cubicBezTo>
                    <a:pt x="0" y="207"/>
                    <a:pt x="0" y="207"/>
                    <a:pt x="0" y="207"/>
                  </a:cubicBezTo>
                  <a:cubicBezTo>
                    <a:pt x="0" y="215"/>
                    <a:pt x="8" y="223"/>
                    <a:pt x="17" y="223"/>
                  </a:cubicBezTo>
                  <a:cubicBezTo>
                    <a:pt x="274" y="223"/>
                    <a:pt x="274" y="223"/>
                    <a:pt x="274" y="223"/>
                  </a:cubicBezTo>
                  <a:cubicBezTo>
                    <a:pt x="283" y="223"/>
                    <a:pt x="291" y="215"/>
                    <a:pt x="291" y="207"/>
                  </a:cubicBezTo>
                  <a:cubicBezTo>
                    <a:pt x="291" y="16"/>
                    <a:pt x="291" y="16"/>
                    <a:pt x="291" y="16"/>
                  </a:cubicBezTo>
                  <a:cubicBezTo>
                    <a:pt x="291" y="7"/>
                    <a:pt x="283" y="0"/>
                    <a:pt x="274" y="0"/>
                  </a:cubicBezTo>
                  <a:moveTo>
                    <a:pt x="270" y="193"/>
                  </a:moveTo>
                  <a:cubicBezTo>
                    <a:pt x="270" y="201"/>
                    <a:pt x="264" y="207"/>
                    <a:pt x="256" y="207"/>
                  </a:cubicBezTo>
                  <a:cubicBezTo>
                    <a:pt x="35" y="207"/>
                    <a:pt x="35" y="207"/>
                    <a:pt x="35" y="207"/>
                  </a:cubicBezTo>
                  <a:cubicBezTo>
                    <a:pt x="27" y="207"/>
                    <a:pt x="21" y="201"/>
                    <a:pt x="21" y="193"/>
                  </a:cubicBezTo>
                  <a:cubicBezTo>
                    <a:pt x="21" y="30"/>
                    <a:pt x="21" y="30"/>
                    <a:pt x="21" y="30"/>
                  </a:cubicBezTo>
                  <a:cubicBezTo>
                    <a:pt x="21" y="22"/>
                    <a:pt x="27" y="16"/>
                    <a:pt x="35" y="16"/>
                  </a:cubicBezTo>
                  <a:cubicBezTo>
                    <a:pt x="256" y="16"/>
                    <a:pt x="256" y="16"/>
                    <a:pt x="256" y="16"/>
                  </a:cubicBezTo>
                  <a:cubicBezTo>
                    <a:pt x="264" y="16"/>
                    <a:pt x="270" y="22"/>
                    <a:pt x="270" y="30"/>
                  </a:cubicBezTo>
                  <a:lnTo>
                    <a:pt x="270" y="19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1" name="Freeform 18"/>
            <p:cNvSpPr>
              <a:spLocks noChangeArrowheads="1"/>
            </p:cNvSpPr>
            <p:nvPr/>
          </p:nvSpPr>
          <p:spPr bwMode="auto">
            <a:xfrm>
              <a:off x="137978" y="110382"/>
              <a:ext cx="821868" cy="632299"/>
            </a:xfrm>
            <a:custGeom>
              <a:avLst/>
              <a:gdLst>
                <a:gd name="T0" fmla="*/ 274 w 290"/>
                <a:gd name="T1" fmla="*/ 0 h 223"/>
                <a:gd name="T2" fmla="*/ 16 w 290"/>
                <a:gd name="T3" fmla="*/ 0 h 223"/>
                <a:gd name="T4" fmla="*/ 0 w 290"/>
                <a:gd name="T5" fmla="*/ 16 h 223"/>
                <a:gd name="T6" fmla="*/ 0 w 290"/>
                <a:gd name="T7" fmla="*/ 25 h 223"/>
                <a:gd name="T8" fmla="*/ 249 w 290"/>
                <a:gd name="T9" fmla="*/ 25 h 223"/>
                <a:gd name="T10" fmla="*/ 265 w 290"/>
                <a:gd name="T11" fmla="*/ 42 h 223"/>
                <a:gd name="T12" fmla="*/ 265 w 290"/>
                <a:gd name="T13" fmla="*/ 223 h 223"/>
                <a:gd name="T14" fmla="*/ 274 w 290"/>
                <a:gd name="T15" fmla="*/ 223 h 223"/>
                <a:gd name="T16" fmla="*/ 290 w 290"/>
                <a:gd name="T17" fmla="*/ 207 h 223"/>
                <a:gd name="T18" fmla="*/ 290 w 290"/>
                <a:gd name="T19" fmla="*/ 16 h 223"/>
                <a:gd name="T20" fmla="*/ 274 w 29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3"/>
                <a:gd name="T35" fmla="*/ 290 w 29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3">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3"/>
                    <a:pt x="265" y="42"/>
                  </a:cubicBezTo>
                  <a:cubicBezTo>
                    <a:pt x="265" y="223"/>
                    <a:pt x="265" y="223"/>
                    <a:pt x="265" y="223"/>
                  </a:cubicBezTo>
                  <a:cubicBezTo>
                    <a:pt x="274" y="223"/>
                    <a:pt x="274" y="223"/>
                    <a:pt x="274" y="223"/>
                  </a:cubicBezTo>
                  <a:cubicBezTo>
                    <a:pt x="283" y="223"/>
                    <a:pt x="290" y="216"/>
                    <a:pt x="290" y="207"/>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2" name="Freeform 19"/>
            <p:cNvSpPr>
              <a:spLocks noChangeArrowheads="1"/>
            </p:cNvSpPr>
            <p:nvPr/>
          </p:nvSpPr>
          <p:spPr bwMode="auto">
            <a:xfrm>
              <a:off x="266357" y="0"/>
              <a:ext cx="821868" cy="628699"/>
            </a:xfrm>
            <a:custGeom>
              <a:avLst/>
              <a:gdLst>
                <a:gd name="T0" fmla="*/ 274 w 290"/>
                <a:gd name="T1" fmla="*/ 0 h 222"/>
                <a:gd name="T2" fmla="*/ 16 w 290"/>
                <a:gd name="T3" fmla="*/ 0 h 222"/>
                <a:gd name="T4" fmla="*/ 0 w 290"/>
                <a:gd name="T5" fmla="*/ 16 h 222"/>
                <a:gd name="T6" fmla="*/ 0 w 290"/>
                <a:gd name="T7" fmla="*/ 25 h 222"/>
                <a:gd name="T8" fmla="*/ 249 w 290"/>
                <a:gd name="T9" fmla="*/ 25 h 222"/>
                <a:gd name="T10" fmla="*/ 265 w 290"/>
                <a:gd name="T11" fmla="*/ 41 h 222"/>
                <a:gd name="T12" fmla="*/ 265 w 290"/>
                <a:gd name="T13" fmla="*/ 222 h 222"/>
                <a:gd name="T14" fmla="*/ 274 w 290"/>
                <a:gd name="T15" fmla="*/ 222 h 222"/>
                <a:gd name="T16" fmla="*/ 290 w 290"/>
                <a:gd name="T17" fmla="*/ 206 h 222"/>
                <a:gd name="T18" fmla="*/ 290 w 290"/>
                <a:gd name="T19" fmla="*/ 16 h 222"/>
                <a:gd name="T20" fmla="*/ 274 w 290"/>
                <a:gd name="T21" fmla="*/ 0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2"/>
                <a:gd name="T35" fmla="*/ 290 w 290"/>
                <a:gd name="T36" fmla="*/ 222 h 2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2">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2"/>
                    <a:pt x="265" y="41"/>
                  </a:cubicBezTo>
                  <a:cubicBezTo>
                    <a:pt x="265" y="222"/>
                    <a:pt x="265" y="222"/>
                    <a:pt x="265" y="222"/>
                  </a:cubicBezTo>
                  <a:cubicBezTo>
                    <a:pt x="274" y="222"/>
                    <a:pt x="274" y="222"/>
                    <a:pt x="274" y="222"/>
                  </a:cubicBezTo>
                  <a:cubicBezTo>
                    <a:pt x="283" y="222"/>
                    <a:pt x="290" y="215"/>
                    <a:pt x="290" y="206"/>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3" name="Freeform 20"/>
            <p:cNvSpPr>
              <a:spLocks noChangeArrowheads="1"/>
            </p:cNvSpPr>
            <p:nvPr/>
          </p:nvSpPr>
          <p:spPr bwMode="auto">
            <a:xfrm>
              <a:off x="110382" y="422332"/>
              <a:ext cx="569909" cy="353943"/>
            </a:xfrm>
            <a:custGeom>
              <a:avLst/>
              <a:gdLst>
                <a:gd name="T0" fmla="*/ 71 w 201"/>
                <a:gd name="T1" fmla="*/ 5 h 125"/>
                <a:gd name="T2" fmla="*/ 11 w 201"/>
                <a:gd name="T3" fmla="*/ 109 h 125"/>
                <a:gd name="T4" fmla="*/ 11 w 201"/>
                <a:gd name="T5" fmla="*/ 124 h 125"/>
                <a:gd name="T6" fmla="*/ 192 w 201"/>
                <a:gd name="T7" fmla="*/ 124 h 125"/>
                <a:gd name="T8" fmla="*/ 192 w 201"/>
                <a:gd name="T9" fmla="*/ 108 h 125"/>
                <a:gd name="T10" fmla="*/ 151 w 201"/>
                <a:gd name="T11" fmla="*/ 47 h 125"/>
                <a:gd name="T12" fmla="*/ 117 w 201"/>
                <a:gd name="T13" fmla="*/ 86 h 125"/>
                <a:gd name="T14" fmla="*/ 110 w 201"/>
                <a:gd name="T15" fmla="*/ 81 h 125"/>
                <a:gd name="T16" fmla="*/ 122 w 201"/>
                <a:gd name="T17" fmla="*/ 65 h 125"/>
                <a:gd name="T18" fmla="*/ 81 w 201"/>
                <a:gd name="T19" fmla="*/ 5 h 125"/>
                <a:gd name="T20" fmla="*/ 71 w 201"/>
                <a:gd name="T21" fmla="*/ 5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25"/>
                <a:gd name="T35" fmla="*/ 201 w 201"/>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25">
                  <a:moveTo>
                    <a:pt x="71" y="5"/>
                  </a:moveTo>
                  <a:cubicBezTo>
                    <a:pt x="11" y="109"/>
                    <a:pt x="11" y="109"/>
                    <a:pt x="11" y="109"/>
                  </a:cubicBezTo>
                  <a:cubicBezTo>
                    <a:pt x="11" y="109"/>
                    <a:pt x="0" y="124"/>
                    <a:pt x="11" y="124"/>
                  </a:cubicBezTo>
                  <a:cubicBezTo>
                    <a:pt x="25" y="125"/>
                    <a:pt x="192" y="124"/>
                    <a:pt x="192" y="124"/>
                  </a:cubicBezTo>
                  <a:cubicBezTo>
                    <a:pt x="192" y="124"/>
                    <a:pt x="201" y="121"/>
                    <a:pt x="192" y="108"/>
                  </a:cubicBezTo>
                  <a:cubicBezTo>
                    <a:pt x="182" y="94"/>
                    <a:pt x="158" y="46"/>
                    <a:pt x="151" y="47"/>
                  </a:cubicBezTo>
                  <a:cubicBezTo>
                    <a:pt x="144" y="47"/>
                    <a:pt x="120" y="83"/>
                    <a:pt x="117" y="86"/>
                  </a:cubicBezTo>
                  <a:cubicBezTo>
                    <a:pt x="115" y="89"/>
                    <a:pt x="108" y="84"/>
                    <a:pt x="110" y="81"/>
                  </a:cubicBezTo>
                  <a:cubicBezTo>
                    <a:pt x="116" y="74"/>
                    <a:pt x="122" y="65"/>
                    <a:pt x="122" y="65"/>
                  </a:cubicBezTo>
                  <a:cubicBezTo>
                    <a:pt x="122" y="65"/>
                    <a:pt x="84" y="9"/>
                    <a:pt x="81" y="5"/>
                  </a:cubicBezTo>
                  <a:cubicBezTo>
                    <a:pt x="78" y="0"/>
                    <a:pt x="73" y="1"/>
                    <a:pt x="71" y="5"/>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4" name="Oval 21"/>
            <p:cNvSpPr>
              <a:spLocks noChangeArrowheads="1"/>
            </p:cNvSpPr>
            <p:nvPr/>
          </p:nvSpPr>
          <p:spPr bwMode="auto">
            <a:xfrm>
              <a:off x="563909" y="331147"/>
              <a:ext cx="101984" cy="99584"/>
            </a:xfrm>
            <a:prstGeom prst="ellipse">
              <a:avLst/>
            </a:pr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5" name="组合 14"/>
          <p:cNvGrpSpPr/>
          <p:nvPr/>
        </p:nvGrpSpPr>
        <p:grpSpPr bwMode="auto">
          <a:xfrm>
            <a:off x="9791433" y="4205439"/>
            <a:ext cx="329894" cy="333006"/>
            <a:chOff x="0" y="0"/>
            <a:chExt cx="881859" cy="881859"/>
          </a:xfrm>
          <a:solidFill>
            <a:schemeClr val="tx1"/>
          </a:solidFill>
        </p:grpSpPr>
        <p:sp>
          <p:nvSpPr>
            <p:cNvPr id="16" name="Freeform 22"/>
            <p:cNvSpPr>
              <a:spLocks noEditPoints="1" noChangeArrowheads="1"/>
            </p:cNvSpPr>
            <p:nvPr/>
          </p:nvSpPr>
          <p:spPr bwMode="auto">
            <a:xfrm>
              <a:off x="0" y="0"/>
              <a:ext cx="881859" cy="881859"/>
            </a:xfrm>
            <a:custGeom>
              <a:avLst/>
              <a:gdLst>
                <a:gd name="T0" fmla="*/ 155 w 311"/>
                <a:gd name="T1" fmla="*/ 0 h 311"/>
                <a:gd name="T2" fmla="*/ 0 w 311"/>
                <a:gd name="T3" fmla="*/ 155 h 311"/>
                <a:gd name="T4" fmla="*/ 155 w 311"/>
                <a:gd name="T5" fmla="*/ 311 h 311"/>
                <a:gd name="T6" fmla="*/ 311 w 311"/>
                <a:gd name="T7" fmla="*/ 155 h 311"/>
                <a:gd name="T8" fmla="*/ 155 w 311"/>
                <a:gd name="T9" fmla="*/ 0 h 311"/>
                <a:gd name="T10" fmla="*/ 155 w 311"/>
                <a:gd name="T11" fmla="*/ 289 h 311"/>
                <a:gd name="T12" fmla="*/ 21 w 311"/>
                <a:gd name="T13" fmla="*/ 155 h 311"/>
                <a:gd name="T14" fmla="*/ 155 w 311"/>
                <a:gd name="T15" fmla="*/ 21 h 311"/>
                <a:gd name="T16" fmla="*/ 289 w 311"/>
                <a:gd name="T17" fmla="*/ 155 h 311"/>
                <a:gd name="T18" fmla="*/ 155 w 311"/>
                <a:gd name="T19" fmla="*/ 289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1"/>
                <a:gd name="T31" fmla="*/ 0 h 311"/>
                <a:gd name="T32" fmla="*/ 311 w 311"/>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1" h="311">
                  <a:moveTo>
                    <a:pt x="155" y="0"/>
                  </a:moveTo>
                  <a:cubicBezTo>
                    <a:pt x="70" y="0"/>
                    <a:pt x="0" y="69"/>
                    <a:pt x="0" y="155"/>
                  </a:cubicBezTo>
                  <a:cubicBezTo>
                    <a:pt x="0" y="241"/>
                    <a:pt x="70" y="311"/>
                    <a:pt x="155" y="311"/>
                  </a:cubicBezTo>
                  <a:cubicBezTo>
                    <a:pt x="241" y="311"/>
                    <a:pt x="311" y="241"/>
                    <a:pt x="311" y="155"/>
                  </a:cubicBezTo>
                  <a:cubicBezTo>
                    <a:pt x="311" y="69"/>
                    <a:pt x="241" y="0"/>
                    <a:pt x="155" y="0"/>
                  </a:cubicBezTo>
                  <a:moveTo>
                    <a:pt x="155" y="289"/>
                  </a:moveTo>
                  <a:cubicBezTo>
                    <a:pt x="81" y="289"/>
                    <a:pt x="21" y="229"/>
                    <a:pt x="21" y="155"/>
                  </a:cubicBezTo>
                  <a:cubicBezTo>
                    <a:pt x="21" y="81"/>
                    <a:pt x="81" y="21"/>
                    <a:pt x="155" y="21"/>
                  </a:cubicBezTo>
                  <a:cubicBezTo>
                    <a:pt x="229" y="21"/>
                    <a:pt x="289" y="81"/>
                    <a:pt x="289" y="155"/>
                  </a:cubicBezTo>
                  <a:cubicBezTo>
                    <a:pt x="289" y="229"/>
                    <a:pt x="229" y="289"/>
                    <a:pt x="155" y="289"/>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7" name="Freeform 23"/>
            <p:cNvSpPr>
              <a:spLocks noChangeArrowheads="1"/>
            </p:cNvSpPr>
            <p:nvPr/>
          </p:nvSpPr>
          <p:spPr bwMode="auto">
            <a:xfrm>
              <a:off x="235162" y="70789"/>
              <a:ext cx="430731" cy="428331"/>
            </a:xfrm>
            <a:custGeom>
              <a:avLst/>
              <a:gdLst>
                <a:gd name="T0" fmla="*/ 145 w 152"/>
                <a:gd name="T1" fmla="*/ 53 h 151"/>
                <a:gd name="T2" fmla="*/ 144 w 152"/>
                <a:gd name="T3" fmla="*/ 52 h 151"/>
                <a:gd name="T4" fmla="*/ 125 w 152"/>
                <a:gd name="T5" fmla="*/ 52 h 151"/>
                <a:gd name="T6" fmla="*/ 77 w 152"/>
                <a:gd name="T7" fmla="*/ 106 h 151"/>
                <a:gd name="T8" fmla="*/ 31 w 152"/>
                <a:gd name="T9" fmla="*/ 12 h 151"/>
                <a:gd name="T10" fmla="*/ 11 w 152"/>
                <a:gd name="T11" fmla="*/ 4 h 151"/>
                <a:gd name="T12" fmla="*/ 10 w 152"/>
                <a:gd name="T13" fmla="*/ 4 h 151"/>
                <a:gd name="T14" fmla="*/ 4 w 152"/>
                <a:gd name="T15" fmla="*/ 25 h 151"/>
                <a:gd name="T16" fmla="*/ 60 w 152"/>
                <a:gd name="T17" fmla="*/ 140 h 151"/>
                <a:gd name="T18" fmla="*/ 79 w 152"/>
                <a:gd name="T19" fmla="*/ 148 h 151"/>
                <a:gd name="T20" fmla="*/ 79 w 152"/>
                <a:gd name="T21" fmla="*/ 148 h 151"/>
                <a:gd name="T22" fmla="*/ 80 w 152"/>
                <a:gd name="T23" fmla="*/ 148 h 151"/>
                <a:gd name="T24" fmla="*/ 81 w 152"/>
                <a:gd name="T25" fmla="*/ 147 h 151"/>
                <a:gd name="T26" fmla="*/ 87 w 152"/>
                <a:gd name="T27" fmla="*/ 141 h 151"/>
                <a:gd name="T28" fmla="*/ 148 w 152"/>
                <a:gd name="T29" fmla="*/ 72 h 151"/>
                <a:gd name="T30" fmla="*/ 145 w 152"/>
                <a:gd name="T31" fmla="*/ 53 h 1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1"/>
                <a:gd name="T50" fmla="*/ 152 w 152"/>
                <a:gd name="T51" fmla="*/ 151 h 1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1">
                  <a:moveTo>
                    <a:pt x="145" y="53"/>
                  </a:moveTo>
                  <a:cubicBezTo>
                    <a:pt x="144" y="52"/>
                    <a:pt x="144" y="52"/>
                    <a:pt x="144" y="52"/>
                  </a:cubicBezTo>
                  <a:cubicBezTo>
                    <a:pt x="138" y="47"/>
                    <a:pt x="129" y="47"/>
                    <a:pt x="125" y="52"/>
                  </a:cubicBezTo>
                  <a:cubicBezTo>
                    <a:pt x="77" y="106"/>
                    <a:pt x="77" y="106"/>
                    <a:pt x="77" y="106"/>
                  </a:cubicBezTo>
                  <a:cubicBezTo>
                    <a:pt x="31" y="12"/>
                    <a:pt x="31" y="12"/>
                    <a:pt x="31" y="12"/>
                  </a:cubicBezTo>
                  <a:cubicBezTo>
                    <a:pt x="27" y="4"/>
                    <a:pt x="18" y="0"/>
                    <a:pt x="11" y="4"/>
                  </a:cubicBezTo>
                  <a:cubicBezTo>
                    <a:pt x="10" y="4"/>
                    <a:pt x="10" y="4"/>
                    <a:pt x="10" y="4"/>
                  </a:cubicBezTo>
                  <a:cubicBezTo>
                    <a:pt x="3" y="8"/>
                    <a:pt x="0" y="17"/>
                    <a:pt x="4" y="25"/>
                  </a:cubicBezTo>
                  <a:cubicBezTo>
                    <a:pt x="60" y="140"/>
                    <a:pt x="60" y="140"/>
                    <a:pt x="60" y="140"/>
                  </a:cubicBezTo>
                  <a:cubicBezTo>
                    <a:pt x="63" y="148"/>
                    <a:pt x="72" y="151"/>
                    <a:pt x="79" y="148"/>
                  </a:cubicBezTo>
                  <a:cubicBezTo>
                    <a:pt x="79" y="148"/>
                    <a:pt x="79" y="148"/>
                    <a:pt x="79" y="148"/>
                  </a:cubicBezTo>
                  <a:cubicBezTo>
                    <a:pt x="79" y="148"/>
                    <a:pt x="80" y="148"/>
                    <a:pt x="80" y="148"/>
                  </a:cubicBezTo>
                  <a:cubicBezTo>
                    <a:pt x="81" y="147"/>
                    <a:pt x="81" y="147"/>
                    <a:pt x="81" y="147"/>
                  </a:cubicBezTo>
                  <a:cubicBezTo>
                    <a:pt x="84" y="146"/>
                    <a:pt x="86" y="144"/>
                    <a:pt x="87" y="141"/>
                  </a:cubicBezTo>
                  <a:cubicBezTo>
                    <a:pt x="148" y="72"/>
                    <a:pt x="148" y="72"/>
                    <a:pt x="148" y="72"/>
                  </a:cubicBezTo>
                  <a:cubicBezTo>
                    <a:pt x="152" y="67"/>
                    <a:pt x="151" y="59"/>
                    <a:pt x="145" y="53"/>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8" name="组合 17"/>
          <p:cNvGrpSpPr/>
          <p:nvPr/>
        </p:nvGrpSpPr>
        <p:grpSpPr bwMode="auto">
          <a:xfrm>
            <a:off x="8473972" y="4205439"/>
            <a:ext cx="397959" cy="333006"/>
            <a:chOff x="0" y="0"/>
            <a:chExt cx="961046" cy="796672"/>
          </a:xfrm>
          <a:solidFill>
            <a:schemeClr val="tx1"/>
          </a:solidFill>
        </p:grpSpPr>
        <p:sp>
          <p:nvSpPr>
            <p:cNvPr id="19" name="Freeform 24"/>
            <p:cNvSpPr>
              <a:spLocks noEditPoints="1" noChangeArrowheads="1"/>
            </p:cNvSpPr>
            <p:nvPr/>
          </p:nvSpPr>
          <p:spPr bwMode="auto">
            <a:xfrm>
              <a:off x="0" y="0"/>
              <a:ext cx="961046" cy="796672"/>
            </a:xfrm>
            <a:custGeom>
              <a:avLst/>
              <a:gdLst>
                <a:gd name="T0" fmla="*/ 321 w 339"/>
                <a:gd name="T1" fmla="*/ 0 h 281"/>
                <a:gd name="T2" fmla="*/ 18 w 339"/>
                <a:gd name="T3" fmla="*/ 0 h 281"/>
                <a:gd name="T4" fmla="*/ 0 w 339"/>
                <a:gd name="T5" fmla="*/ 18 h 281"/>
                <a:gd name="T6" fmla="*/ 0 w 339"/>
                <a:gd name="T7" fmla="*/ 263 h 281"/>
                <a:gd name="T8" fmla="*/ 18 w 339"/>
                <a:gd name="T9" fmla="*/ 281 h 281"/>
                <a:gd name="T10" fmla="*/ 321 w 339"/>
                <a:gd name="T11" fmla="*/ 281 h 281"/>
                <a:gd name="T12" fmla="*/ 339 w 339"/>
                <a:gd name="T13" fmla="*/ 263 h 281"/>
                <a:gd name="T14" fmla="*/ 339 w 339"/>
                <a:gd name="T15" fmla="*/ 18 h 281"/>
                <a:gd name="T16" fmla="*/ 321 w 339"/>
                <a:gd name="T17" fmla="*/ 0 h 281"/>
                <a:gd name="T18" fmla="*/ 316 w 339"/>
                <a:gd name="T19" fmla="*/ 246 h 281"/>
                <a:gd name="T20" fmla="*/ 301 w 339"/>
                <a:gd name="T21" fmla="*/ 262 h 281"/>
                <a:gd name="T22" fmla="*/ 38 w 339"/>
                <a:gd name="T23" fmla="*/ 262 h 281"/>
                <a:gd name="T24" fmla="*/ 23 w 339"/>
                <a:gd name="T25" fmla="*/ 246 h 281"/>
                <a:gd name="T26" fmla="*/ 23 w 339"/>
                <a:gd name="T27" fmla="*/ 35 h 281"/>
                <a:gd name="T28" fmla="*/ 38 w 339"/>
                <a:gd name="T29" fmla="*/ 19 h 281"/>
                <a:gd name="T30" fmla="*/ 301 w 339"/>
                <a:gd name="T31" fmla="*/ 19 h 281"/>
                <a:gd name="T32" fmla="*/ 316 w 339"/>
                <a:gd name="T33" fmla="*/ 35 h 281"/>
                <a:gd name="T34" fmla="*/ 316 w 339"/>
                <a:gd name="T35" fmla="*/ 246 h 2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9"/>
                <a:gd name="T55" fmla="*/ 0 h 281"/>
                <a:gd name="T56" fmla="*/ 339 w 339"/>
                <a:gd name="T57" fmla="*/ 281 h 2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9" h="281">
                  <a:moveTo>
                    <a:pt x="321" y="0"/>
                  </a:moveTo>
                  <a:cubicBezTo>
                    <a:pt x="18" y="0"/>
                    <a:pt x="18" y="0"/>
                    <a:pt x="18" y="0"/>
                  </a:cubicBezTo>
                  <a:cubicBezTo>
                    <a:pt x="8" y="0"/>
                    <a:pt x="0" y="8"/>
                    <a:pt x="0" y="18"/>
                  </a:cubicBezTo>
                  <a:cubicBezTo>
                    <a:pt x="0" y="263"/>
                    <a:pt x="0" y="263"/>
                    <a:pt x="0" y="263"/>
                  </a:cubicBezTo>
                  <a:cubicBezTo>
                    <a:pt x="0" y="273"/>
                    <a:pt x="8" y="281"/>
                    <a:pt x="18" y="281"/>
                  </a:cubicBezTo>
                  <a:cubicBezTo>
                    <a:pt x="321" y="281"/>
                    <a:pt x="321" y="281"/>
                    <a:pt x="321" y="281"/>
                  </a:cubicBezTo>
                  <a:cubicBezTo>
                    <a:pt x="331" y="281"/>
                    <a:pt x="339" y="273"/>
                    <a:pt x="339" y="263"/>
                  </a:cubicBezTo>
                  <a:cubicBezTo>
                    <a:pt x="339" y="18"/>
                    <a:pt x="339" y="18"/>
                    <a:pt x="339" y="18"/>
                  </a:cubicBezTo>
                  <a:cubicBezTo>
                    <a:pt x="339" y="8"/>
                    <a:pt x="331" y="0"/>
                    <a:pt x="321" y="0"/>
                  </a:cubicBezTo>
                  <a:moveTo>
                    <a:pt x="316" y="246"/>
                  </a:moveTo>
                  <a:cubicBezTo>
                    <a:pt x="316" y="255"/>
                    <a:pt x="309" y="262"/>
                    <a:pt x="301" y="262"/>
                  </a:cubicBezTo>
                  <a:cubicBezTo>
                    <a:pt x="38" y="262"/>
                    <a:pt x="38" y="262"/>
                    <a:pt x="38" y="262"/>
                  </a:cubicBezTo>
                  <a:cubicBezTo>
                    <a:pt x="30" y="262"/>
                    <a:pt x="23" y="255"/>
                    <a:pt x="23" y="246"/>
                  </a:cubicBezTo>
                  <a:cubicBezTo>
                    <a:pt x="23" y="35"/>
                    <a:pt x="23" y="35"/>
                    <a:pt x="23" y="35"/>
                  </a:cubicBezTo>
                  <a:cubicBezTo>
                    <a:pt x="23" y="26"/>
                    <a:pt x="30" y="19"/>
                    <a:pt x="38" y="19"/>
                  </a:cubicBezTo>
                  <a:cubicBezTo>
                    <a:pt x="301" y="19"/>
                    <a:pt x="301" y="19"/>
                    <a:pt x="301" y="19"/>
                  </a:cubicBezTo>
                  <a:cubicBezTo>
                    <a:pt x="309" y="19"/>
                    <a:pt x="316" y="26"/>
                    <a:pt x="316" y="35"/>
                  </a:cubicBezTo>
                  <a:lnTo>
                    <a:pt x="316" y="24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0" name="Freeform 25"/>
            <p:cNvSpPr>
              <a:spLocks noChangeArrowheads="1"/>
            </p:cNvSpPr>
            <p:nvPr/>
          </p:nvSpPr>
          <p:spPr bwMode="auto">
            <a:xfrm>
              <a:off x="176371"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1" name="Freeform 26"/>
            <p:cNvSpPr>
              <a:spLocks noChangeArrowheads="1"/>
            </p:cNvSpPr>
            <p:nvPr/>
          </p:nvSpPr>
          <p:spPr bwMode="auto">
            <a:xfrm>
              <a:off x="176371"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2" name="Freeform 27"/>
            <p:cNvSpPr>
              <a:spLocks noChangeArrowheads="1"/>
            </p:cNvSpPr>
            <p:nvPr/>
          </p:nvSpPr>
          <p:spPr bwMode="auto">
            <a:xfrm>
              <a:off x="346744"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3" name="Freeform 28"/>
            <p:cNvSpPr>
              <a:spLocks noChangeArrowheads="1"/>
            </p:cNvSpPr>
            <p:nvPr/>
          </p:nvSpPr>
          <p:spPr bwMode="auto">
            <a:xfrm>
              <a:off x="346744"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4" name="Freeform 29"/>
            <p:cNvSpPr>
              <a:spLocks noChangeArrowheads="1"/>
            </p:cNvSpPr>
            <p:nvPr/>
          </p:nvSpPr>
          <p:spPr bwMode="auto">
            <a:xfrm>
              <a:off x="346744"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5" name="Freeform 30"/>
            <p:cNvSpPr>
              <a:spLocks noChangeArrowheads="1"/>
            </p:cNvSpPr>
            <p:nvPr/>
          </p:nvSpPr>
          <p:spPr bwMode="auto">
            <a:xfrm>
              <a:off x="519516" y="116382"/>
              <a:ext cx="83987"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6" name="Freeform 31"/>
            <p:cNvSpPr>
              <a:spLocks noChangeArrowheads="1"/>
            </p:cNvSpPr>
            <p:nvPr/>
          </p:nvSpPr>
          <p:spPr bwMode="auto">
            <a:xfrm>
              <a:off x="519516" y="274756"/>
              <a:ext cx="83987"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7" name="Freeform 32"/>
            <p:cNvSpPr>
              <a:spLocks noChangeArrowheads="1"/>
            </p:cNvSpPr>
            <p:nvPr/>
          </p:nvSpPr>
          <p:spPr bwMode="auto">
            <a:xfrm>
              <a:off x="688689" y="116382"/>
              <a:ext cx="85186"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8" name="Freeform 33"/>
            <p:cNvSpPr>
              <a:spLocks noChangeArrowheads="1"/>
            </p:cNvSpPr>
            <p:nvPr/>
          </p:nvSpPr>
          <p:spPr bwMode="auto">
            <a:xfrm>
              <a:off x="688689" y="274756"/>
              <a:ext cx="85186"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9" name="Freeform 34"/>
            <p:cNvSpPr>
              <a:spLocks noChangeArrowheads="1"/>
            </p:cNvSpPr>
            <p:nvPr/>
          </p:nvSpPr>
          <p:spPr bwMode="auto">
            <a:xfrm>
              <a:off x="176371"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sp>
        <p:nvSpPr>
          <p:cNvPr id="30" name="Freeform 84"/>
          <p:cNvSpPr>
            <a:spLocks noChangeAspect="1" noEditPoints="1" noChangeArrowheads="1"/>
          </p:cNvSpPr>
          <p:nvPr/>
        </p:nvSpPr>
        <p:spPr bwMode="auto">
          <a:xfrm>
            <a:off x="7169827" y="4205438"/>
            <a:ext cx="333822" cy="333006"/>
          </a:xfrm>
          <a:custGeom>
            <a:avLst/>
            <a:gdLst>
              <a:gd name="T0" fmla="*/ 170 w 170"/>
              <a:gd name="T1" fmla="*/ 0 h 168"/>
              <a:gd name="T2" fmla="*/ 162 w 170"/>
              <a:gd name="T3" fmla="*/ 16 h 168"/>
              <a:gd name="T4" fmla="*/ 170 w 170"/>
              <a:gd name="T5" fmla="*/ 103 h 168"/>
              <a:gd name="T6" fmla="*/ 93 w 170"/>
              <a:gd name="T7" fmla="*/ 119 h 168"/>
              <a:gd name="T8" fmla="*/ 128 w 170"/>
              <a:gd name="T9" fmla="*/ 152 h 168"/>
              <a:gd name="T10" fmla="*/ 42 w 170"/>
              <a:gd name="T11" fmla="*/ 168 h 168"/>
              <a:gd name="T12" fmla="*/ 77 w 170"/>
              <a:gd name="T13" fmla="*/ 152 h 168"/>
              <a:gd name="T14" fmla="*/ 0 w 170"/>
              <a:gd name="T15" fmla="*/ 119 h 168"/>
              <a:gd name="T16" fmla="*/ 6 w 170"/>
              <a:gd name="T17" fmla="*/ 103 h 168"/>
              <a:gd name="T18" fmla="*/ 0 w 170"/>
              <a:gd name="T19" fmla="*/ 16 h 168"/>
              <a:gd name="T20" fmla="*/ 0 w 170"/>
              <a:gd name="T21" fmla="*/ 0 h 168"/>
              <a:gd name="T22" fmla="*/ 122 w 170"/>
              <a:gd name="T23" fmla="*/ 40 h 168"/>
              <a:gd name="T24" fmla="*/ 115 w 170"/>
              <a:gd name="T25" fmla="*/ 44 h 168"/>
              <a:gd name="T26" fmla="*/ 75 w 170"/>
              <a:gd name="T27" fmla="*/ 52 h 168"/>
              <a:gd name="T28" fmla="*/ 73 w 170"/>
              <a:gd name="T29" fmla="*/ 50 h 168"/>
              <a:gd name="T30" fmla="*/ 50 w 170"/>
              <a:gd name="T31" fmla="*/ 67 h 168"/>
              <a:gd name="T32" fmla="*/ 85 w 170"/>
              <a:gd name="T33" fmla="*/ 65 h 168"/>
              <a:gd name="T34" fmla="*/ 89 w 170"/>
              <a:gd name="T35" fmla="*/ 67 h 168"/>
              <a:gd name="T36" fmla="*/ 120 w 170"/>
              <a:gd name="T37" fmla="*/ 52 h 168"/>
              <a:gd name="T38" fmla="*/ 128 w 170"/>
              <a:gd name="T39" fmla="*/ 40 h 168"/>
              <a:gd name="T40" fmla="*/ 113 w 170"/>
              <a:gd name="T41" fmla="*/ 58 h 168"/>
              <a:gd name="T42" fmla="*/ 122 w 170"/>
              <a:gd name="T43" fmla="*/ 85 h 168"/>
              <a:gd name="T44" fmla="*/ 113 w 170"/>
              <a:gd name="T45" fmla="*/ 58 h 168"/>
              <a:gd name="T46" fmla="*/ 101 w 170"/>
              <a:gd name="T47" fmla="*/ 67 h 168"/>
              <a:gd name="T48" fmla="*/ 109 w 170"/>
              <a:gd name="T49" fmla="*/ 85 h 168"/>
              <a:gd name="T50" fmla="*/ 101 w 170"/>
              <a:gd name="T51" fmla="*/ 67 h 168"/>
              <a:gd name="T52" fmla="*/ 87 w 170"/>
              <a:gd name="T53" fmla="*/ 77 h 168"/>
              <a:gd name="T54" fmla="*/ 95 w 170"/>
              <a:gd name="T55" fmla="*/ 85 h 168"/>
              <a:gd name="T56" fmla="*/ 87 w 170"/>
              <a:gd name="T57" fmla="*/ 77 h 168"/>
              <a:gd name="T58" fmla="*/ 75 w 170"/>
              <a:gd name="T59" fmla="*/ 69 h 168"/>
              <a:gd name="T60" fmla="*/ 83 w 170"/>
              <a:gd name="T61" fmla="*/ 85 h 168"/>
              <a:gd name="T62" fmla="*/ 75 w 170"/>
              <a:gd name="T63" fmla="*/ 69 h 168"/>
              <a:gd name="T64" fmla="*/ 63 w 170"/>
              <a:gd name="T65" fmla="*/ 69 h 168"/>
              <a:gd name="T66" fmla="*/ 71 w 170"/>
              <a:gd name="T67" fmla="*/ 85 h 168"/>
              <a:gd name="T68" fmla="*/ 63 w 170"/>
              <a:gd name="T69" fmla="*/ 69 h 168"/>
              <a:gd name="T70" fmla="*/ 48 w 170"/>
              <a:gd name="T71" fmla="*/ 73 h 168"/>
              <a:gd name="T72" fmla="*/ 56 w 170"/>
              <a:gd name="T73" fmla="*/ 85 h 168"/>
              <a:gd name="T74" fmla="*/ 48 w 170"/>
              <a:gd name="T75" fmla="*/ 73 h 168"/>
              <a:gd name="T76" fmla="*/ 146 w 170"/>
              <a:gd name="T77" fmla="*/ 18 h 168"/>
              <a:gd name="T78" fmla="*/ 24 w 170"/>
              <a:gd name="T79" fmla="*/ 101 h 168"/>
              <a:gd name="T80" fmla="*/ 146 w 170"/>
              <a:gd name="T81" fmla="*/ 18 h 1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
              <a:gd name="T124" fmla="*/ 0 h 168"/>
              <a:gd name="T125" fmla="*/ 170 w 170"/>
              <a:gd name="T126" fmla="*/ 168 h 1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 h="168">
                <a:moveTo>
                  <a:pt x="0" y="0"/>
                </a:moveTo>
                <a:lnTo>
                  <a:pt x="170" y="0"/>
                </a:lnTo>
                <a:lnTo>
                  <a:pt x="170" y="16"/>
                </a:lnTo>
                <a:lnTo>
                  <a:pt x="162" y="16"/>
                </a:lnTo>
                <a:lnTo>
                  <a:pt x="162" y="103"/>
                </a:lnTo>
                <a:lnTo>
                  <a:pt x="170" y="103"/>
                </a:lnTo>
                <a:lnTo>
                  <a:pt x="170" y="119"/>
                </a:lnTo>
                <a:lnTo>
                  <a:pt x="93" y="119"/>
                </a:lnTo>
                <a:lnTo>
                  <a:pt x="93" y="152"/>
                </a:lnTo>
                <a:lnTo>
                  <a:pt x="128" y="152"/>
                </a:lnTo>
                <a:lnTo>
                  <a:pt x="128" y="168"/>
                </a:lnTo>
                <a:lnTo>
                  <a:pt x="42" y="168"/>
                </a:lnTo>
                <a:lnTo>
                  <a:pt x="42" y="152"/>
                </a:lnTo>
                <a:lnTo>
                  <a:pt x="77" y="152"/>
                </a:lnTo>
                <a:lnTo>
                  <a:pt x="77" y="119"/>
                </a:lnTo>
                <a:lnTo>
                  <a:pt x="0" y="119"/>
                </a:lnTo>
                <a:lnTo>
                  <a:pt x="0" y="103"/>
                </a:lnTo>
                <a:lnTo>
                  <a:pt x="6" y="103"/>
                </a:lnTo>
                <a:lnTo>
                  <a:pt x="6" y="16"/>
                </a:lnTo>
                <a:lnTo>
                  <a:pt x="0" y="16"/>
                </a:lnTo>
                <a:lnTo>
                  <a:pt x="0" y="0"/>
                </a:lnTo>
                <a:lnTo>
                  <a:pt x="0" y="0"/>
                </a:lnTo>
                <a:close/>
                <a:moveTo>
                  <a:pt x="128" y="40"/>
                </a:moveTo>
                <a:lnTo>
                  <a:pt x="122" y="40"/>
                </a:lnTo>
                <a:lnTo>
                  <a:pt x="113" y="40"/>
                </a:lnTo>
                <a:lnTo>
                  <a:pt x="115" y="44"/>
                </a:lnTo>
                <a:lnTo>
                  <a:pt x="87" y="61"/>
                </a:lnTo>
                <a:lnTo>
                  <a:pt x="75" y="52"/>
                </a:lnTo>
                <a:lnTo>
                  <a:pt x="75" y="50"/>
                </a:lnTo>
                <a:lnTo>
                  <a:pt x="73" y="50"/>
                </a:lnTo>
                <a:lnTo>
                  <a:pt x="48" y="61"/>
                </a:lnTo>
                <a:lnTo>
                  <a:pt x="50" y="67"/>
                </a:lnTo>
                <a:lnTo>
                  <a:pt x="73" y="56"/>
                </a:lnTo>
                <a:lnTo>
                  <a:pt x="85" y="65"/>
                </a:lnTo>
                <a:lnTo>
                  <a:pt x="87" y="67"/>
                </a:lnTo>
                <a:lnTo>
                  <a:pt x="89" y="67"/>
                </a:lnTo>
                <a:lnTo>
                  <a:pt x="117" y="48"/>
                </a:lnTo>
                <a:lnTo>
                  <a:pt x="120" y="52"/>
                </a:lnTo>
                <a:lnTo>
                  <a:pt x="124" y="46"/>
                </a:lnTo>
                <a:lnTo>
                  <a:pt x="128" y="40"/>
                </a:lnTo>
                <a:lnTo>
                  <a:pt x="128" y="40"/>
                </a:lnTo>
                <a:close/>
                <a:moveTo>
                  <a:pt x="113" y="58"/>
                </a:moveTo>
                <a:lnTo>
                  <a:pt x="113" y="85"/>
                </a:lnTo>
                <a:lnTo>
                  <a:pt x="122" y="85"/>
                </a:lnTo>
                <a:lnTo>
                  <a:pt x="122" y="58"/>
                </a:lnTo>
                <a:lnTo>
                  <a:pt x="113" y="58"/>
                </a:lnTo>
                <a:lnTo>
                  <a:pt x="113" y="58"/>
                </a:lnTo>
                <a:close/>
                <a:moveTo>
                  <a:pt x="101" y="67"/>
                </a:moveTo>
                <a:lnTo>
                  <a:pt x="101" y="85"/>
                </a:lnTo>
                <a:lnTo>
                  <a:pt x="109" y="85"/>
                </a:lnTo>
                <a:lnTo>
                  <a:pt x="109" y="67"/>
                </a:lnTo>
                <a:lnTo>
                  <a:pt x="101" y="67"/>
                </a:lnTo>
                <a:lnTo>
                  <a:pt x="101" y="67"/>
                </a:lnTo>
                <a:close/>
                <a:moveTo>
                  <a:pt x="87" y="77"/>
                </a:moveTo>
                <a:lnTo>
                  <a:pt x="87" y="85"/>
                </a:lnTo>
                <a:lnTo>
                  <a:pt x="95" y="85"/>
                </a:lnTo>
                <a:lnTo>
                  <a:pt x="95" y="77"/>
                </a:lnTo>
                <a:lnTo>
                  <a:pt x="87" y="77"/>
                </a:lnTo>
                <a:lnTo>
                  <a:pt x="87" y="77"/>
                </a:lnTo>
                <a:close/>
                <a:moveTo>
                  <a:pt x="75" y="69"/>
                </a:moveTo>
                <a:lnTo>
                  <a:pt x="75" y="85"/>
                </a:lnTo>
                <a:lnTo>
                  <a:pt x="83" y="85"/>
                </a:lnTo>
                <a:lnTo>
                  <a:pt x="83" y="69"/>
                </a:lnTo>
                <a:lnTo>
                  <a:pt x="75" y="69"/>
                </a:lnTo>
                <a:lnTo>
                  <a:pt x="75" y="69"/>
                </a:lnTo>
                <a:close/>
                <a:moveTo>
                  <a:pt x="63" y="69"/>
                </a:moveTo>
                <a:lnTo>
                  <a:pt x="63" y="85"/>
                </a:lnTo>
                <a:lnTo>
                  <a:pt x="71" y="85"/>
                </a:lnTo>
                <a:lnTo>
                  <a:pt x="71" y="69"/>
                </a:lnTo>
                <a:lnTo>
                  <a:pt x="63" y="69"/>
                </a:lnTo>
                <a:lnTo>
                  <a:pt x="63" y="69"/>
                </a:lnTo>
                <a:close/>
                <a:moveTo>
                  <a:pt x="48" y="73"/>
                </a:moveTo>
                <a:lnTo>
                  <a:pt x="48" y="85"/>
                </a:lnTo>
                <a:lnTo>
                  <a:pt x="56" y="85"/>
                </a:lnTo>
                <a:lnTo>
                  <a:pt x="56" y="73"/>
                </a:lnTo>
                <a:lnTo>
                  <a:pt x="48" y="73"/>
                </a:lnTo>
                <a:lnTo>
                  <a:pt x="48" y="73"/>
                </a:lnTo>
                <a:close/>
                <a:moveTo>
                  <a:pt x="146" y="18"/>
                </a:moveTo>
                <a:lnTo>
                  <a:pt x="24" y="18"/>
                </a:lnTo>
                <a:lnTo>
                  <a:pt x="24" y="101"/>
                </a:lnTo>
                <a:lnTo>
                  <a:pt x="146" y="101"/>
                </a:lnTo>
                <a:lnTo>
                  <a:pt x="146" y="18"/>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1" name="Freeform 9"/>
          <p:cNvSpPr>
            <a:spLocks noChangeAspect="1" noEditPoints="1" noChangeArrowheads="1"/>
          </p:cNvSpPr>
          <p:nvPr/>
        </p:nvSpPr>
        <p:spPr bwMode="auto">
          <a:xfrm>
            <a:off x="9150738" y="4205437"/>
            <a:ext cx="361886" cy="333007"/>
          </a:xfrm>
          <a:custGeom>
            <a:avLst/>
            <a:gdLst>
              <a:gd name="T0" fmla="*/ 141 w 181"/>
              <a:gd name="T1" fmla="*/ 0 h 165"/>
              <a:gd name="T2" fmla="*/ 149 w 181"/>
              <a:gd name="T3" fmla="*/ 8 h 165"/>
              <a:gd name="T4" fmla="*/ 134 w 181"/>
              <a:gd name="T5" fmla="*/ 47 h 165"/>
              <a:gd name="T6" fmla="*/ 33 w 181"/>
              <a:gd name="T7" fmla="*/ 14 h 165"/>
              <a:gd name="T8" fmla="*/ 39 w 181"/>
              <a:gd name="T9" fmla="*/ 20 h 165"/>
              <a:gd name="T10" fmla="*/ 51 w 181"/>
              <a:gd name="T11" fmla="*/ 31 h 165"/>
              <a:gd name="T12" fmla="*/ 33 w 181"/>
              <a:gd name="T13" fmla="*/ 39 h 165"/>
              <a:gd name="T14" fmla="*/ 39 w 181"/>
              <a:gd name="T15" fmla="*/ 45 h 165"/>
              <a:gd name="T16" fmla="*/ 51 w 181"/>
              <a:gd name="T17" fmla="*/ 55 h 165"/>
              <a:gd name="T18" fmla="*/ 33 w 181"/>
              <a:gd name="T19" fmla="*/ 63 h 165"/>
              <a:gd name="T20" fmla="*/ 39 w 181"/>
              <a:gd name="T21" fmla="*/ 67 h 165"/>
              <a:gd name="T22" fmla="*/ 51 w 181"/>
              <a:gd name="T23" fmla="*/ 77 h 165"/>
              <a:gd name="T24" fmla="*/ 33 w 181"/>
              <a:gd name="T25" fmla="*/ 86 h 165"/>
              <a:gd name="T26" fmla="*/ 39 w 181"/>
              <a:gd name="T27" fmla="*/ 90 h 165"/>
              <a:gd name="T28" fmla="*/ 51 w 181"/>
              <a:gd name="T29" fmla="*/ 100 h 165"/>
              <a:gd name="T30" fmla="*/ 33 w 181"/>
              <a:gd name="T31" fmla="*/ 110 h 165"/>
              <a:gd name="T32" fmla="*/ 39 w 181"/>
              <a:gd name="T33" fmla="*/ 116 h 165"/>
              <a:gd name="T34" fmla="*/ 51 w 181"/>
              <a:gd name="T35" fmla="*/ 126 h 165"/>
              <a:gd name="T36" fmla="*/ 33 w 181"/>
              <a:gd name="T37" fmla="*/ 134 h 165"/>
              <a:gd name="T38" fmla="*/ 33 w 181"/>
              <a:gd name="T39" fmla="*/ 151 h 165"/>
              <a:gd name="T40" fmla="*/ 134 w 181"/>
              <a:gd name="T41" fmla="*/ 118 h 165"/>
              <a:gd name="T42" fmla="*/ 149 w 181"/>
              <a:gd name="T43" fmla="*/ 157 h 165"/>
              <a:gd name="T44" fmla="*/ 141 w 181"/>
              <a:gd name="T45" fmla="*/ 165 h 165"/>
              <a:gd name="T46" fmla="*/ 19 w 181"/>
              <a:gd name="T47" fmla="*/ 165 h 165"/>
              <a:gd name="T48" fmla="*/ 19 w 181"/>
              <a:gd name="T49" fmla="*/ 146 h 165"/>
              <a:gd name="T50" fmla="*/ 0 w 181"/>
              <a:gd name="T51" fmla="*/ 132 h 165"/>
              <a:gd name="T52" fmla="*/ 19 w 181"/>
              <a:gd name="T53" fmla="*/ 120 h 165"/>
              <a:gd name="T54" fmla="*/ 0 w 181"/>
              <a:gd name="T55" fmla="*/ 108 h 165"/>
              <a:gd name="T56" fmla="*/ 19 w 181"/>
              <a:gd name="T57" fmla="*/ 98 h 165"/>
              <a:gd name="T58" fmla="*/ 0 w 181"/>
              <a:gd name="T59" fmla="*/ 83 h 165"/>
              <a:gd name="T60" fmla="*/ 19 w 181"/>
              <a:gd name="T61" fmla="*/ 75 h 165"/>
              <a:gd name="T62" fmla="*/ 0 w 181"/>
              <a:gd name="T63" fmla="*/ 61 h 165"/>
              <a:gd name="T64" fmla="*/ 19 w 181"/>
              <a:gd name="T65" fmla="*/ 51 h 165"/>
              <a:gd name="T66" fmla="*/ 0 w 181"/>
              <a:gd name="T67" fmla="*/ 39 h 165"/>
              <a:gd name="T68" fmla="*/ 19 w 181"/>
              <a:gd name="T69" fmla="*/ 8 h 165"/>
              <a:gd name="T70" fmla="*/ 27 w 181"/>
              <a:gd name="T71" fmla="*/ 0 h 165"/>
              <a:gd name="T72" fmla="*/ 63 w 181"/>
              <a:gd name="T73" fmla="*/ 79 h 165"/>
              <a:gd name="T74" fmla="*/ 84 w 181"/>
              <a:gd name="T75" fmla="*/ 88 h 165"/>
              <a:gd name="T76" fmla="*/ 63 w 181"/>
              <a:gd name="T77" fmla="*/ 79 h 165"/>
              <a:gd name="T78" fmla="*/ 63 w 181"/>
              <a:gd name="T79" fmla="*/ 61 h 165"/>
              <a:gd name="T80" fmla="*/ 100 w 181"/>
              <a:gd name="T81" fmla="*/ 69 h 165"/>
              <a:gd name="T82" fmla="*/ 63 w 181"/>
              <a:gd name="T83" fmla="*/ 61 h 165"/>
              <a:gd name="T84" fmla="*/ 63 w 181"/>
              <a:gd name="T85" fmla="*/ 45 h 165"/>
              <a:gd name="T86" fmla="*/ 116 w 181"/>
              <a:gd name="T87" fmla="*/ 53 h 165"/>
              <a:gd name="T88" fmla="*/ 63 w 181"/>
              <a:gd name="T89" fmla="*/ 45 h 165"/>
              <a:gd name="T90" fmla="*/ 63 w 181"/>
              <a:gd name="T91" fmla="*/ 29 h 165"/>
              <a:gd name="T92" fmla="*/ 116 w 181"/>
              <a:gd name="T93" fmla="*/ 35 h 165"/>
              <a:gd name="T94" fmla="*/ 63 w 181"/>
              <a:gd name="T95" fmla="*/ 29 h 165"/>
              <a:gd name="T96" fmla="*/ 84 w 181"/>
              <a:gd name="T97" fmla="*/ 130 h 165"/>
              <a:gd name="T98" fmla="*/ 106 w 181"/>
              <a:gd name="T99" fmla="*/ 130 h 165"/>
              <a:gd name="T100" fmla="*/ 86 w 181"/>
              <a:gd name="T101" fmla="*/ 108 h 165"/>
              <a:gd name="T102" fmla="*/ 84 w 181"/>
              <a:gd name="T103" fmla="*/ 130 h 165"/>
              <a:gd name="T104" fmla="*/ 161 w 181"/>
              <a:gd name="T105" fmla="*/ 37 h 165"/>
              <a:gd name="T106" fmla="*/ 116 w 181"/>
              <a:gd name="T107" fmla="*/ 120 h 165"/>
              <a:gd name="T108" fmla="*/ 161 w 181"/>
              <a:gd name="T109" fmla="*/ 37 h 1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1"/>
              <a:gd name="T166" fmla="*/ 0 h 165"/>
              <a:gd name="T167" fmla="*/ 181 w 181"/>
              <a:gd name="T168" fmla="*/ 165 h 1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1" h="165">
                <a:moveTo>
                  <a:pt x="27" y="0"/>
                </a:moveTo>
                <a:lnTo>
                  <a:pt x="141" y="0"/>
                </a:lnTo>
                <a:lnTo>
                  <a:pt x="149" y="0"/>
                </a:lnTo>
                <a:lnTo>
                  <a:pt x="149" y="8"/>
                </a:lnTo>
                <a:lnTo>
                  <a:pt x="149" y="35"/>
                </a:lnTo>
                <a:lnTo>
                  <a:pt x="134" y="47"/>
                </a:lnTo>
                <a:lnTo>
                  <a:pt x="134" y="14"/>
                </a:lnTo>
                <a:lnTo>
                  <a:pt x="33" y="14"/>
                </a:lnTo>
                <a:lnTo>
                  <a:pt x="33" y="25"/>
                </a:lnTo>
                <a:lnTo>
                  <a:pt x="39" y="20"/>
                </a:lnTo>
                <a:lnTo>
                  <a:pt x="47" y="18"/>
                </a:lnTo>
                <a:lnTo>
                  <a:pt x="51" y="31"/>
                </a:lnTo>
                <a:lnTo>
                  <a:pt x="45" y="35"/>
                </a:lnTo>
                <a:lnTo>
                  <a:pt x="33" y="39"/>
                </a:lnTo>
                <a:lnTo>
                  <a:pt x="33" y="47"/>
                </a:lnTo>
                <a:lnTo>
                  <a:pt x="39" y="45"/>
                </a:lnTo>
                <a:lnTo>
                  <a:pt x="47" y="41"/>
                </a:lnTo>
                <a:lnTo>
                  <a:pt x="51" y="55"/>
                </a:lnTo>
                <a:lnTo>
                  <a:pt x="45" y="57"/>
                </a:lnTo>
                <a:lnTo>
                  <a:pt x="33" y="63"/>
                </a:lnTo>
                <a:lnTo>
                  <a:pt x="33" y="71"/>
                </a:lnTo>
                <a:lnTo>
                  <a:pt x="39" y="67"/>
                </a:lnTo>
                <a:lnTo>
                  <a:pt x="47" y="65"/>
                </a:lnTo>
                <a:lnTo>
                  <a:pt x="51" y="77"/>
                </a:lnTo>
                <a:lnTo>
                  <a:pt x="45" y="81"/>
                </a:lnTo>
                <a:lnTo>
                  <a:pt x="33" y="86"/>
                </a:lnTo>
                <a:lnTo>
                  <a:pt x="33" y="94"/>
                </a:lnTo>
                <a:lnTo>
                  <a:pt x="39" y="90"/>
                </a:lnTo>
                <a:lnTo>
                  <a:pt x="47" y="88"/>
                </a:lnTo>
                <a:lnTo>
                  <a:pt x="51" y="100"/>
                </a:lnTo>
                <a:lnTo>
                  <a:pt x="45" y="104"/>
                </a:lnTo>
                <a:lnTo>
                  <a:pt x="33" y="110"/>
                </a:lnTo>
                <a:lnTo>
                  <a:pt x="33" y="118"/>
                </a:lnTo>
                <a:lnTo>
                  <a:pt x="39" y="116"/>
                </a:lnTo>
                <a:lnTo>
                  <a:pt x="47" y="112"/>
                </a:lnTo>
                <a:lnTo>
                  <a:pt x="51" y="126"/>
                </a:lnTo>
                <a:lnTo>
                  <a:pt x="45" y="128"/>
                </a:lnTo>
                <a:lnTo>
                  <a:pt x="33" y="134"/>
                </a:lnTo>
                <a:lnTo>
                  <a:pt x="33" y="146"/>
                </a:lnTo>
                <a:lnTo>
                  <a:pt x="33" y="151"/>
                </a:lnTo>
                <a:lnTo>
                  <a:pt x="134" y="151"/>
                </a:lnTo>
                <a:lnTo>
                  <a:pt x="134" y="118"/>
                </a:lnTo>
                <a:lnTo>
                  <a:pt x="149" y="106"/>
                </a:lnTo>
                <a:lnTo>
                  <a:pt x="149" y="157"/>
                </a:lnTo>
                <a:lnTo>
                  <a:pt x="149" y="165"/>
                </a:lnTo>
                <a:lnTo>
                  <a:pt x="141" y="165"/>
                </a:lnTo>
                <a:lnTo>
                  <a:pt x="27" y="165"/>
                </a:lnTo>
                <a:lnTo>
                  <a:pt x="19" y="165"/>
                </a:lnTo>
                <a:lnTo>
                  <a:pt x="19" y="157"/>
                </a:lnTo>
                <a:lnTo>
                  <a:pt x="19" y="146"/>
                </a:lnTo>
                <a:lnTo>
                  <a:pt x="4" y="146"/>
                </a:lnTo>
                <a:lnTo>
                  <a:pt x="0" y="132"/>
                </a:lnTo>
                <a:lnTo>
                  <a:pt x="19" y="124"/>
                </a:lnTo>
                <a:lnTo>
                  <a:pt x="19" y="120"/>
                </a:lnTo>
                <a:lnTo>
                  <a:pt x="4" y="120"/>
                </a:lnTo>
                <a:lnTo>
                  <a:pt x="0" y="108"/>
                </a:lnTo>
                <a:lnTo>
                  <a:pt x="19" y="100"/>
                </a:lnTo>
                <a:lnTo>
                  <a:pt x="19" y="98"/>
                </a:lnTo>
                <a:lnTo>
                  <a:pt x="4" y="98"/>
                </a:lnTo>
                <a:lnTo>
                  <a:pt x="0" y="83"/>
                </a:lnTo>
                <a:lnTo>
                  <a:pt x="19" y="77"/>
                </a:lnTo>
                <a:lnTo>
                  <a:pt x="19" y="75"/>
                </a:lnTo>
                <a:lnTo>
                  <a:pt x="4" y="75"/>
                </a:lnTo>
                <a:lnTo>
                  <a:pt x="0" y="61"/>
                </a:lnTo>
                <a:lnTo>
                  <a:pt x="19" y="53"/>
                </a:lnTo>
                <a:lnTo>
                  <a:pt x="19" y="51"/>
                </a:lnTo>
                <a:lnTo>
                  <a:pt x="4" y="51"/>
                </a:lnTo>
                <a:lnTo>
                  <a:pt x="0" y="39"/>
                </a:lnTo>
                <a:lnTo>
                  <a:pt x="19" y="31"/>
                </a:lnTo>
                <a:lnTo>
                  <a:pt x="19" y="8"/>
                </a:lnTo>
                <a:lnTo>
                  <a:pt x="19" y="0"/>
                </a:lnTo>
                <a:lnTo>
                  <a:pt x="27" y="0"/>
                </a:lnTo>
                <a:lnTo>
                  <a:pt x="27" y="0"/>
                </a:lnTo>
                <a:close/>
                <a:moveTo>
                  <a:pt x="63" y="79"/>
                </a:moveTo>
                <a:lnTo>
                  <a:pt x="63" y="88"/>
                </a:lnTo>
                <a:lnTo>
                  <a:pt x="84" y="88"/>
                </a:lnTo>
                <a:lnTo>
                  <a:pt x="84" y="79"/>
                </a:lnTo>
                <a:lnTo>
                  <a:pt x="63" y="79"/>
                </a:lnTo>
                <a:lnTo>
                  <a:pt x="63" y="79"/>
                </a:lnTo>
                <a:close/>
                <a:moveTo>
                  <a:pt x="63" y="61"/>
                </a:moveTo>
                <a:lnTo>
                  <a:pt x="63" y="69"/>
                </a:lnTo>
                <a:lnTo>
                  <a:pt x="100" y="69"/>
                </a:lnTo>
                <a:lnTo>
                  <a:pt x="100" y="61"/>
                </a:lnTo>
                <a:lnTo>
                  <a:pt x="63" y="61"/>
                </a:lnTo>
                <a:lnTo>
                  <a:pt x="63" y="61"/>
                </a:lnTo>
                <a:close/>
                <a:moveTo>
                  <a:pt x="63" y="45"/>
                </a:moveTo>
                <a:lnTo>
                  <a:pt x="63" y="53"/>
                </a:lnTo>
                <a:lnTo>
                  <a:pt x="116" y="53"/>
                </a:lnTo>
                <a:lnTo>
                  <a:pt x="116" y="45"/>
                </a:lnTo>
                <a:lnTo>
                  <a:pt x="63" y="45"/>
                </a:lnTo>
                <a:lnTo>
                  <a:pt x="63" y="45"/>
                </a:lnTo>
                <a:close/>
                <a:moveTo>
                  <a:pt x="63" y="29"/>
                </a:moveTo>
                <a:lnTo>
                  <a:pt x="63" y="35"/>
                </a:lnTo>
                <a:lnTo>
                  <a:pt x="116" y="35"/>
                </a:lnTo>
                <a:lnTo>
                  <a:pt x="116" y="29"/>
                </a:lnTo>
                <a:lnTo>
                  <a:pt x="63" y="29"/>
                </a:lnTo>
                <a:lnTo>
                  <a:pt x="63" y="29"/>
                </a:lnTo>
                <a:close/>
                <a:moveTo>
                  <a:pt x="84" y="130"/>
                </a:moveTo>
                <a:lnTo>
                  <a:pt x="96" y="130"/>
                </a:lnTo>
                <a:lnTo>
                  <a:pt x="106" y="130"/>
                </a:lnTo>
                <a:lnTo>
                  <a:pt x="96" y="118"/>
                </a:lnTo>
                <a:lnTo>
                  <a:pt x="86" y="108"/>
                </a:lnTo>
                <a:lnTo>
                  <a:pt x="86" y="120"/>
                </a:lnTo>
                <a:lnTo>
                  <a:pt x="84" y="130"/>
                </a:lnTo>
                <a:lnTo>
                  <a:pt x="84" y="130"/>
                </a:lnTo>
                <a:close/>
                <a:moveTo>
                  <a:pt x="161" y="37"/>
                </a:moveTo>
                <a:lnTo>
                  <a:pt x="96" y="100"/>
                </a:lnTo>
                <a:lnTo>
                  <a:pt x="116" y="120"/>
                </a:lnTo>
                <a:lnTo>
                  <a:pt x="181" y="57"/>
                </a:lnTo>
                <a:lnTo>
                  <a:pt x="161" y="37"/>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Tree>
    <p:extLst>
      <p:ext uri="{BB962C8B-B14F-4D97-AF65-F5344CB8AC3E}">
        <p14:creationId xmlns:p14="http://schemas.microsoft.com/office/powerpoint/2010/main" val="1909142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12669" y="3863873"/>
            <a:ext cx="10966661" cy="45719"/>
            <a:chOff x="5280505" y="3963496"/>
            <a:chExt cx="5863771" cy="57767"/>
          </a:xfrm>
          <a:solidFill>
            <a:schemeClr val="tx1"/>
          </a:solidFill>
        </p:grpSpPr>
        <p:sp>
          <p:nvSpPr>
            <p:cNvPr id="6" name="任意多边形 16"/>
            <p:cNvSpPr/>
            <p:nvPr/>
          </p:nvSpPr>
          <p:spPr>
            <a:xfrm>
              <a:off x="5280505" y="3992380"/>
              <a:ext cx="5863771" cy="0"/>
            </a:xfrm>
            <a:custGeom>
              <a:avLst/>
              <a:gdLst>
                <a:gd name="connsiteX0" fmla="*/ 0 w 5863771"/>
                <a:gd name="connsiteY0" fmla="*/ 0 h 0"/>
                <a:gd name="connsiteX1" fmla="*/ 58057 w 5863771"/>
                <a:gd name="connsiteY1" fmla="*/ 0 h 0"/>
                <a:gd name="connsiteX2" fmla="*/ 5863771 w 5863771"/>
                <a:gd name="connsiteY2" fmla="*/ 0 h 0"/>
              </a:gdLst>
              <a:ahLst/>
              <a:cxnLst>
                <a:cxn ang="0">
                  <a:pos x="connsiteX0" y="connsiteY0"/>
                </a:cxn>
                <a:cxn ang="0">
                  <a:pos x="connsiteX1" y="connsiteY1"/>
                </a:cxn>
                <a:cxn ang="0">
                  <a:pos x="connsiteX2" y="connsiteY2"/>
                </a:cxn>
              </a:cxnLst>
              <a:rect l="l" t="t" r="r" b="b"/>
              <a:pathLst>
                <a:path w="5863771">
                  <a:moveTo>
                    <a:pt x="0" y="0"/>
                  </a:moveTo>
                  <a:lnTo>
                    <a:pt x="58057" y="0"/>
                  </a:lnTo>
                  <a:lnTo>
                    <a:pt x="5863771" y="0"/>
                  </a:lnTo>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sp>
          <p:nvSpPr>
            <p:cNvPr id="7" name="圆角矩形 17"/>
            <p:cNvSpPr/>
            <p:nvPr/>
          </p:nvSpPr>
          <p:spPr>
            <a:xfrm>
              <a:off x="7456740" y="3963496"/>
              <a:ext cx="1511300" cy="5776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grpSp>
      <p:grpSp>
        <p:nvGrpSpPr>
          <p:cNvPr id="9" name="组合 8"/>
          <p:cNvGrpSpPr/>
          <p:nvPr/>
        </p:nvGrpSpPr>
        <p:grpSpPr bwMode="auto">
          <a:xfrm>
            <a:off x="5170374" y="4178966"/>
            <a:ext cx="412709" cy="333006"/>
            <a:chOff x="0" y="0"/>
            <a:chExt cx="1088225" cy="869861"/>
          </a:xfrm>
          <a:solidFill>
            <a:schemeClr val="tx1"/>
          </a:solidFill>
        </p:grpSpPr>
        <p:sp>
          <p:nvSpPr>
            <p:cNvPr id="10" name="Freeform 17"/>
            <p:cNvSpPr>
              <a:spLocks noEditPoints="1" noChangeArrowheads="1"/>
            </p:cNvSpPr>
            <p:nvPr/>
          </p:nvSpPr>
          <p:spPr bwMode="auto">
            <a:xfrm>
              <a:off x="0" y="237562"/>
              <a:ext cx="824268" cy="632299"/>
            </a:xfrm>
            <a:custGeom>
              <a:avLst/>
              <a:gdLst>
                <a:gd name="T0" fmla="*/ 274 w 291"/>
                <a:gd name="T1" fmla="*/ 0 h 223"/>
                <a:gd name="T2" fmla="*/ 17 w 291"/>
                <a:gd name="T3" fmla="*/ 0 h 223"/>
                <a:gd name="T4" fmla="*/ 0 w 291"/>
                <a:gd name="T5" fmla="*/ 16 h 223"/>
                <a:gd name="T6" fmla="*/ 0 w 291"/>
                <a:gd name="T7" fmla="*/ 207 h 223"/>
                <a:gd name="T8" fmla="*/ 17 w 291"/>
                <a:gd name="T9" fmla="*/ 223 h 223"/>
                <a:gd name="T10" fmla="*/ 274 w 291"/>
                <a:gd name="T11" fmla="*/ 223 h 223"/>
                <a:gd name="T12" fmla="*/ 291 w 291"/>
                <a:gd name="T13" fmla="*/ 207 h 223"/>
                <a:gd name="T14" fmla="*/ 291 w 291"/>
                <a:gd name="T15" fmla="*/ 16 h 223"/>
                <a:gd name="T16" fmla="*/ 274 w 291"/>
                <a:gd name="T17" fmla="*/ 0 h 223"/>
                <a:gd name="T18" fmla="*/ 270 w 291"/>
                <a:gd name="T19" fmla="*/ 193 h 223"/>
                <a:gd name="T20" fmla="*/ 256 w 291"/>
                <a:gd name="T21" fmla="*/ 207 h 223"/>
                <a:gd name="T22" fmla="*/ 35 w 291"/>
                <a:gd name="T23" fmla="*/ 207 h 223"/>
                <a:gd name="T24" fmla="*/ 21 w 291"/>
                <a:gd name="T25" fmla="*/ 193 h 223"/>
                <a:gd name="T26" fmla="*/ 21 w 291"/>
                <a:gd name="T27" fmla="*/ 30 h 223"/>
                <a:gd name="T28" fmla="*/ 35 w 291"/>
                <a:gd name="T29" fmla="*/ 16 h 223"/>
                <a:gd name="T30" fmla="*/ 256 w 291"/>
                <a:gd name="T31" fmla="*/ 16 h 223"/>
                <a:gd name="T32" fmla="*/ 270 w 291"/>
                <a:gd name="T33" fmla="*/ 30 h 223"/>
                <a:gd name="T34" fmla="*/ 270 w 291"/>
                <a:gd name="T35" fmla="*/ 19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1"/>
                <a:gd name="T55" fmla="*/ 0 h 223"/>
                <a:gd name="T56" fmla="*/ 291 w 291"/>
                <a:gd name="T57" fmla="*/ 223 h 2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1" h="223">
                  <a:moveTo>
                    <a:pt x="274" y="0"/>
                  </a:moveTo>
                  <a:cubicBezTo>
                    <a:pt x="17" y="0"/>
                    <a:pt x="17" y="0"/>
                    <a:pt x="17" y="0"/>
                  </a:cubicBezTo>
                  <a:cubicBezTo>
                    <a:pt x="8" y="0"/>
                    <a:pt x="0" y="7"/>
                    <a:pt x="0" y="16"/>
                  </a:cubicBezTo>
                  <a:cubicBezTo>
                    <a:pt x="0" y="207"/>
                    <a:pt x="0" y="207"/>
                    <a:pt x="0" y="207"/>
                  </a:cubicBezTo>
                  <a:cubicBezTo>
                    <a:pt x="0" y="215"/>
                    <a:pt x="8" y="223"/>
                    <a:pt x="17" y="223"/>
                  </a:cubicBezTo>
                  <a:cubicBezTo>
                    <a:pt x="274" y="223"/>
                    <a:pt x="274" y="223"/>
                    <a:pt x="274" y="223"/>
                  </a:cubicBezTo>
                  <a:cubicBezTo>
                    <a:pt x="283" y="223"/>
                    <a:pt x="291" y="215"/>
                    <a:pt x="291" y="207"/>
                  </a:cubicBezTo>
                  <a:cubicBezTo>
                    <a:pt x="291" y="16"/>
                    <a:pt x="291" y="16"/>
                    <a:pt x="291" y="16"/>
                  </a:cubicBezTo>
                  <a:cubicBezTo>
                    <a:pt x="291" y="7"/>
                    <a:pt x="283" y="0"/>
                    <a:pt x="274" y="0"/>
                  </a:cubicBezTo>
                  <a:moveTo>
                    <a:pt x="270" y="193"/>
                  </a:moveTo>
                  <a:cubicBezTo>
                    <a:pt x="270" y="201"/>
                    <a:pt x="264" y="207"/>
                    <a:pt x="256" y="207"/>
                  </a:cubicBezTo>
                  <a:cubicBezTo>
                    <a:pt x="35" y="207"/>
                    <a:pt x="35" y="207"/>
                    <a:pt x="35" y="207"/>
                  </a:cubicBezTo>
                  <a:cubicBezTo>
                    <a:pt x="27" y="207"/>
                    <a:pt x="21" y="201"/>
                    <a:pt x="21" y="193"/>
                  </a:cubicBezTo>
                  <a:cubicBezTo>
                    <a:pt x="21" y="30"/>
                    <a:pt x="21" y="30"/>
                    <a:pt x="21" y="30"/>
                  </a:cubicBezTo>
                  <a:cubicBezTo>
                    <a:pt x="21" y="22"/>
                    <a:pt x="27" y="16"/>
                    <a:pt x="35" y="16"/>
                  </a:cubicBezTo>
                  <a:cubicBezTo>
                    <a:pt x="256" y="16"/>
                    <a:pt x="256" y="16"/>
                    <a:pt x="256" y="16"/>
                  </a:cubicBezTo>
                  <a:cubicBezTo>
                    <a:pt x="264" y="16"/>
                    <a:pt x="270" y="22"/>
                    <a:pt x="270" y="30"/>
                  </a:cubicBezTo>
                  <a:lnTo>
                    <a:pt x="270" y="19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1" name="Freeform 18"/>
            <p:cNvSpPr>
              <a:spLocks noChangeArrowheads="1"/>
            </p:cNvSpPr>
            <p:nvPr/>
          </p:nvSpPr>
          <p:spPr bwMode="auto">
            <a:xfrm>
              <a:off x="137978" y="110382"/>
              <a:ext cx="821868" cy="632299"/>
            </a:xfrm>
            <a:custGeom>
              <a:avLst/>
              <a:gdLst>
                <a:gd name="T0" fmla="*/ 274 w 290"/>
                <a:gd name="T1" fmla="*/ 0 h 223"/>
                <a:gd name="T2" fmla="*/ 16 w 290"/>
                <a:gd name="T3" fmla="*/ 0 h 223"/>
                <a:gd name="T4" fmla="*/ 0 w 290"/>
                <a:gd name="T5" fmla="*/ 16 h 223"/>
                <a:gd name="T6" fmla="*/ 0 w 290"/>
                <a:gd name="T7" fmla="*/ 25 h 223"/>
                <a:gd name="T8" fmla="*/ 249 w 290"/>
                <a:gd name="T9" fmla="*/ 25 h 223"/>
                <a:gd name="T10" fmla="*/ 265 w 290"/>
                <a:gd name="T11" fmla="*/ 42 h 223"/>
                <a:gd name="T12" fmla="*/ 265 w 290"/>
                <a:gd name="T13" fmla="*/ 223 h 223"/>
                <a:gd name="T14" fmla="*/ 274 w 290"/>
                <a:gd name="T15" fmla="*/ 223 h 223"/>
                <a:gd name="T16" fmla="*/ 290 w 290"/>
                <a:gd name="T17" fmla="*/ 207 h 223"/>
                <a:gd name="T18" fmla="*/ 290 w 290"/>
                <a:gd name="T19" fmla="*/ 16 h 223"/>
                <a:gd name="T20" fmla="*/ 274 w 29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3"/>
                <a:gd name="T35" fmla="*/ 290 w 29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3">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3"/>
                    <a:pt x="265" y="42"/>
                  </a:cubicBezTo>
                  <a:cubicBezTo>
                    <a:pt x="265" y="223"/>
                    <a:pt x="265" y="223"/>
                    <a:pt x="265" y="223"/>
                  </a:cubicBezTo>
                  <a:cubicBezTo>
                    <a:pt x="274" y="223"/>
                    <a:pt x="274" y="223"/>
                    <a:pt x="274" y="223"/>
                  </a:cubicBezTo>
                  <a:cubicBezTo>
                    <a:pt x="283" y="223"/>
                    <a:pt x="290" y="216"/>
                    <a:pt x="290" y="207"/>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2" name="Freeform 19"/>
            <p:cNvSpPr>
              <a:spLocks noChangeArrowheads="1"/>
            </p:cNvSpPr>
            <p:nvPr/>
          </p:nvSpPr>
          <p:spPr bwMode="auto">
            <a:xfrm>
              <a:off x="266357" y="0"/>
              <a:ext cx="821868" cy="628699"/>
            </a:xfrm>
            <a:custGeom>
              <a:avLst/>
              <a:gdLst>
                <a:gd name="T0" fmla="*/ 274 w 290"/>
                <a:gd name="T1" fmla="*/ 0 h 222"/>
                <a:gd name="T2" fmla="*/ 16 w 290"/>
                <a:gd name="T3" fmla="*/ 0 h 222"/>
                <a:gd name="T4" fmla="*/ 0 w 290"/>
                <a:gd name="T5" fmla="*/ 16 h 222"/>
                <a:gd name="T6" fmla="*/ 0 w 290"/>
                <a:gd name="T7" fmla="*/ 25 h 222"/>
                <a:gd name="T8" fmla="*/ 249 w 290"/>
                <a:gd name="T9" fmla="*/ 25 h 222"/>
                <a:gd name="T10" fmla="*/ 265 w 290"/>
                <a:gd name="T11" fmla="*/ 41 h 222"/>
                <a:gd name="T12" fmla="*/ 265 w 290"/>
                <a:gd name="T13" fmla="*/ 222 h 222"/>
                <a:gd name="T14" fmla="*/ 274 w 290"/>
                <a:gd name="T15" fmla="*/ 222 h 222"/>
                <a:gd name="T16" fmla="*/ 290 w 290"/>
                <a:gd name="T17" fmla="*/ 206 h 222"/>
                <a:gd name="T18" fmla="*/ 290 w 290"/>
                <a:gd name="T19" fmla="*/ 16 h 222"/>
                <a:gd name="T20" fmla="*/ 274 w 290"/>
                <a:gd name="T21" fmla="*/ 0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2"/>
                <a:gd name="T35" fmla="*/ 290 w 290"/>
                <a:gd name="T36" fmla="*/ 222 h 2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2">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2"/>
                    <a:pt x="265" y="41"/>
                  </a:cubicBezTo>
                  <a:cubicBezTo>
                    <a:pt x="265" y="222"/>
                    <a:pt x="265" y="222"/>
                    <a:pt x="265" y="222"/>
                  </a:cubicBezTo>
                  <a:cubicBezTo>
                    <a:pt x="274" y="222"/>
                    <a:pt x="274" y="222"/>
                    <a:pt x="274" y="222"/>
                  </a:cubicBezTo>
                  <a:cubicBezTo>
                    <a:pt x="283" y="222"/>
                    <a:pt x="290" y="215"/>
                    <a:pt x="290" y="206"/>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3" name="Freeform 20"/>
            <p:cNvSpPr>
              <a:spLocks noChangeArrowheads="1"/>
            </p:cNvSpPr>
            <p:nvPr/>
          </p:nvSpPr>
          <p:spPr bwMode="auto">
            <a:xfrm>
              <a:off x="110382" y="422332"/>
              <a:ext cx="569909" cy="353943"/>
            </a:xfrm>
            <a:custGeom>
              <a:avLst/>
              <a:gdLst>
                <a:gd name="T0" fmla="*/ 71 w 201"/>
                <a:gd name="T1" fmla="*/ 5 h 125"/>
                <a:gd name="T2" fmla="*/ 11 w 201"/>
                <a:gd name="T3" fmla="*/ 109 h 125"/>
                <a:gd name="T4" fmla="*/ 11 w 201"/>
                <a:gd name="T5" fmla="*/ 124 h 125"/>
                <a:gd name="T6" fmla="*/ 192 w 201"/>
                <a:gd name="T7" fmla="*/ 124 h 125"/>
                <a:gd name="T8" fmla="*/ 192 w 201"/>
                <a:gd name="T9" fmla="*/ 108 h 125"/>
                <a:gd name="T10" fmla="*/ 151 w 201"/>
                <a:gd name="T11" fmla="*/ 47 h 125"/>
                <a:gd name="T12" fmla="*/ 117 w 201"/>
                <a:gd name="T13" fmla="*/ 86 h 125"/>
                <a:gd name="T14" fmla="*/ 110 w 201"/>
                <a:gd name="T15" fmla="*/ 81 h 125"/>
                <a:gd name="T16" fmla="*/ 122 w 201"/>
                <a:gd name="T17" fmla="*/ 65 h 125"/>
                <a:gd name="T18" fmla="*/ 81 w 201"/>
                <a:gd name="T19" fmla="*/ 5 h 125"/>
                <a:gd name="T20" fmla="*/ 71 w 201"/>
                <a:gd name="T21" fmla="*/ 5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25"/>
                <a:gd name="T35" fmla="*/ 201 w 201"/>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25">
                  <a:moveTo>
                    <a:pt x="71" y="5"/>
                  </a:moveTo>
                  <a:cubicBezTo>
                    <a:pt x="11" y="109"/>
                    <a:pt x="11" y="109"/>
                    <a:pt x="11" y="109"/>
                  </a:cubicBezTo>
                  <a:cubicBezTo>
                    <a:pt x="11" y="109"/>
                    <a:pt x="0" y="124"/>
                    <a:pt x="11" y="124"/>
                  </a:cubicBezTo>
                  <a:cubicBezTo>
                    <a:pt x="25" y="125"/>
                    <a:pt x="192" y="124"/>
                    <a:pt x="192" y="124"/>
                  </a:cubicBezTo>
                  <a:cubicBezTo>
                    <a:pt x="192" y="124"/>
                    <a:pt x="201" y="121"/>
                    <a:pt x="192" y="108"/>
                  </a:cubicBezTo>
                  <a:cubicBezTo>
                    <a:pt x="182" y="94"/>
                    <a:pt x="158" y="46"/>
                    <a:pt x="151" y="47"/>
                  </a:cubicBezTo>
                  <a:cubicBezTo>
                    <a:pt x="144" y="47"/>
                    <a:pt x="120" y="83"/>
                    <a:pt x="117" y="86"/>
                  </a:cubicBezTo>
                  <a:cubicBezTo>
                    <a:pt x="115" y="89"/>
                    <a:pt x="108" y="84"/>
                    <a:pt x="110" y="81"/>
                  </a:cubicBezTo>
                  <a:cubicBezTo>
                    <a:pt x="116" y="74"/>
                    <a:pt x="122" y="65"/>
                    <a:pt x="122" y="65"/>
                  </a:cubicBezTo>
                  <a:cubicBezTo>
                    <a:pt x="122" y="65"/>
                    <a:pt x="84" y="9"/>
                    <a:pt x="81" y="5"/>
                  </a:cubicBezTo>
                  <a:cubicBezTo>
                    <a:pt x="78" y="0"/>
                    <a:pt x="73" y="1"/>
                    <a:pt x="71" y="5"/>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4" name="Oval 21"/>
            <p:cNvSpPr>
              <a:spLocks noChangeArrowheads="1"/>
            </p:cNvSpPr>
            <p:nvPr/>
          </p:nvSpPr>
          <p:spPr bwMode="auto">
            <a:xfrm>
              <a:off x="563909" y="331147"/>
              <a:ext cx="101984" cy="99584"/>
            </a:xfrm>
            <a:prstGeom prst="ellipse">
              <a:avLst/>
            </a:pr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5" name="组合 14"/>
          <p:cNvGrpSpPr/>
          <p:nvPr/>
        </p:nvGrpSpPr>
        <p:grpSpPr bwMode="auto">
          <a:xfrm>
            <a:off x="7179351" y="4178966"/>
            <a:ext cx="329894" cy="333006"/>
            <a:chOff x="0" y="0"/>
            <a:chExt cx="881859" cy="881859"/>
          </a:xfrm>
          <a:solidFill>
            <a:schemeClr val="tx1"/>
          </a:solidFill>
        </p:grpSpPr>
        <p:sp>
          <p:nvSpPr>
            <p:cNvPr id="16" name="Freeform 22"/>
            <p:cNvSpPr>
              <a:spLocks noEditPoints="1" noChangeArrowheads="1"/>
            </p:cNvSpPr>
            <p:nvPr/>
          </p:nvSpPr>
          <p:spPr bwMode="auto">
            <a:xfrm>
              <a:off x="0" y="0"/>
              <a:ext cx="881859" cy="881859"/>
            </a:xfrm>
            <a:custGeom>
              <a:avLst/>
              <a:gdLst>
                <a:gd name="T0" fmla="*/ 155 w 311"/>
                <a:gd name="T1" fmla="*/ 0 h 311"/>
                <a:gd name="T2" fmla="*/ 0 w 311"/>
                <a:gd name="T3" fmla="*/ 155 h 311"/>
                <a:gd name="T4" fmla="*/ 155 w 311"/>
                <a:gd name="T5" fmla="*/ 311 h 311"/>
                <a:gd name="T6" fmla="*/ 311 w 311"/>
                <a:gd name="T7" fmla="*/ 155 h 311"/>
                <a:gd name="T8" fmla="*/ 155 w 311"/>
                <a:gd name="T9" fmla="*/ 0 h 311"/>
                <a:gd name="T10" fmla="*/ 155 w 311"/>
                <a:gd name="T11" fmla="*/ 289 h 311"/>
                <a:gd name="T12" fmla="*/ 21 w 311"/>
                <a:gd name="T13" fmla="*/ 155 h 311"/>
                <a:gd name="T14" fmla="*/ 155 w 311"/>
                <a:gd name="T15" fmla="*/ 21 h 311"/>
                <a:gd name="T16" fmla="*/ 289 w 311"/>
                <a:gd name="T17" fmla="*/ 155 h 311"/>
                <a:gd name="T18" fmla="*/ 155 w 311"/>
                <a:gd name="T19" fmla="*/ 289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1"/>
                <a:gd name="T31" fmla="*/ 0 h 311"/>
                <a:gd name="T32" fmla="*/ 311 w 311"/>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1" h="311">
                  <a:moveTo>
                    <a:pt x="155" y="0"/>
                  </a:moveTo>
                  <a:cubicBezTo>
                    <a:pt x="70" y="0"/>
                    <a:pt x="0" y="69"/>
                    <a:pt x="0" y="155"/>
                  </a:cubicBezTo>
                  <a:cubicBezTo>
                    <a:pt x="0" y="241"/>
                    <a:pt x="70" y="311"/>
                    <a:pt x="155" y="311"/>
                  </a:cubicBezTo>
                  <a:cubicBezTo>
                    <a:pt x="241" y="311"/>
                    <a:pt x="311" y="241"/>
                    <a:pt x="311" y="155"/>
                  </a:cubicBezTo>
                  <a:cubicBezTo>
                    <a:pt x="311" y="69"/>
                    <a:pt x="241" y="0"/>
                    <a:pt x="155" y="0"/>
                  </a:cubicBezTo>
                  <a:moveTo>
                    <a:pt x="155" y="289"/>
                  </a:moveTo>
                  <a:cubicBezTo>
                    <a:pt x="81" y="289"/>
                    <a:pt x="21" y="229"/>
                    <a:pt x="21" y="155"/>
                  </a:cubicBezTo>
                  <a:cubicBezTo>
                    <a:pt x="21" y="81"/>
                    <a:pt x="81" y="21"/>
                    <a:pt x="155" y="21"/>
                  </a:cubicBezTo>
                  <a:cubicBezTo>
                    <a:pt x="229" y="21"/>
                    <a:pt x="289" y="81"/>
                    <a:pt x="289" y="155"/>
                  </a:cubicBezTo>
                  <a:cubicBezTo>
                    <a:pt x="289" y="229"/>
                    <a:pt x="229" y="289"/>
                    <a:pt x="155" y="289"/>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7" name="Freeform 23"/>
            <p:cNvSpPr>
              <a:spLocks noChangeArrowheads="1"/>
            </p:cNvSpPr>
            <p:nvPr/>
          </p:nvSpPr>
          <p:spPr bwMode="auto">
            <a:xfrm>
              <a:off x="235162" y="70789"/>
              <a:ext cx="430731" cy="428331"/>
            </a:xfrm>
            <a:custGeom>
              <a:avLst/>
              <a:gdLst>
                <a:gd name="T0" fmla="*/ 145 w 152"/>
                <a:gd name="T1" fmla="*/ 53 h 151"/>
                <a:gd name="T2" fmla="*/ 144 w 152"/>
                <a:gd name="T3" fmla="*/ 52 h 151"/>
                <a:gd name="T4" fmla="*/ 125 w 152"/>
                <a:gd name="T5" fmla="*/ 52 h 151"/>
                <a:gd name="T6" fmla="*/ 77 w 152"/>
                <a:gd name="T7" fmla="*/ 106 h 151"/>
                <a:gd name="T8" fmla="*/ 31 w 152"/>
                <a:gd name="T9" fmla="*/ 12 h 151"/>
                <a:gd name="T10" fmla="*/ 11 w 152"/>
                <a:gd name="T11" fmla="*/ 4 h 151"/>
                <a:gd name="T12" fmla="*/ 10 w 152"/>
                <a:gd name="T13" fmla="*/ 4 h 151"/>
                <a:gd name="T14" fmla="*/ 4 w 152"/>
                <a:gd name="T15" fmla="*/ 25 h 151"/>
                <a:gd name="T16" fmla="*/ 60 w 152"/>
                <a:gd name="T17" fmla="*/ 140 h 151"/>
                <a:gd name="T18" fmla="*/ 79 w 152"/>
                <a:gd name="T19" fmla="*/ 148 h 151"/>
                <a:gd name="T20" fmla="*/ 79 w 152"/>
                <a:gd name="T21" fmla="*/ 148 h 151"/>
                <a:gd name="T22" fmla="*/ 80 w 152"/>
                <a:gd name="T23" fmla="*/ 148 h 151"/>
                <a:gd name="T24" fmla="*/ 81 w 152"/>
                <a:gd name="T25" fmla="*/ 147 h 151"/>
                <a:gd name="T26" fmla="*/ 87 w 152"/>
                <a:gd name="T27" fmla="*/ 141 h 151"/>
                <a:gd name="T28" fmla="*/ 148 w 152"/>
                <a:gd name="T29" fmla="*/ 72 h 151"/>
                <a:gd name="T30" fmla="*/ 145 w 152"/>
                <a:gd name="T31" fmla="*/ 53 h 1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1"/>
                <a:gd name="T50" fmla="*/ 152 w 152"/>
                <a:gd name="T51" fmla="*/ 151 h 1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1">
                  <a:moveTo>
                    <a:pt x="145" y="53"/>
                  </a:moveTo>
                  <a:cubicBezTo>
                    <a:pt x="144" y="52"/>
                    <a:pt x="144" y="52"/>
                    <a:pt x="144" y="52"/>
                  </a:cubicBezTo>
                  <a:cubicBezTo>
                    <a:pt x="138" y="47"/>
                    <a:pt x="129" y="47"/>
                    <a:pt x="125" y="52"/>
                  </a:cubicBezTo>
                  <a:cubicBezTo>
                    <a:pt x="77" y="106"/>
                    <a:pt x="77" y="106"/>
                    <a:pt x="77" y="106"/>
                  </a:cubicBezTo>
                  <a:cubicBezTo>
                    <a:pt x="31" y="12"/>
                    <a:pt x="31" y="12"/>
                    <a:pt x="31" y="12"/>
                  </a:cubicBezTo>
                  <a:cubicBezTo>
                    <a:pt x="27" y="4"/>
                    <a:pt x="18" y="0"/>
                    <a:pt x="11" y="4"/>
                  </a:cubicBezTo>
                  <a:cubicBezTo>
                    <a:pt x="10" y="4"/>
                    <a:pt x="10" y="4"/>
                    <a:pt x="10" y="4"/>
                  </a:cubicBezTo>
                  <a:cubicBezTo>
                    <a:pt x="3" y="8"/>
                    <a:pt x="0" y="17"/>
                    <a:pt x="4" y="25"/>
                  </a:cubicBezTo>
                  <a:cubicBezTo>
                    <a:pt x="60" y="140"/>
                    <a:pt x="60" y="140"/>
                    <a:pt x="60" y="140"/>
                  </a:cubicBezTo>
                  <a:cubicBezTo>
                    <a:pt x="63" y="148"/>
                    <a:pt x="72" y="151"/>
                    <a:pt x="79" y="148"/>
                  </a:cubicBezTo>
                  <a:cubicBezTo>
                    <a:pt x="79" y="148"/>
                    <a:pt x="79" y="148"/>
                    <a:pt x="79" y="148"/>
                  </a:cubicBezTo>
                  <a:cubicBezTo>
                    <a:pt x="79" y="148"/>
                    <a:pt x="80" y="148"/>
                    <a:pt x="80" y="148"/>
                  </a:cubicBezTo>
                  <a:cubicBezTo>
                    <a:pt x="81" y="147"/>
                    <a:pt x="81" y="147"/>
                    <a:pt x="81" y="147"/>
                  </a:cubicBezTo>
                  <a:cubicBezTo>
                    <a:pt x="84" y="146"/>
                    <a:pt x="86" y="144"/>
                    <a:pt x="87" y="141"/>
                  </a:cubicBezTo>
                  <a:cubicBezTo>
                    <a:pt x="148" y="72"/>
                    <a:pt x="148" y="72"/>
                    <a:pt x="148" y="72"/>
                  </a:cubicBezTo>
                  <a:cubicBezTo>
                    <a:pt x="152" y="67"/>
                    <a:pt x="151" y="59"/>
                    <a:pt x="145" y="53"/>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8" name="组合 17"/>
          <p:cNvGrpSpPr/>
          <p:nvPr/>
        </p:nvGrpSpPr>
        <p:grpSpPr bwMode="auto">
          <a:xfrm>
            <a:off x="5861890" y="4178966"/>
            <a:ext cx="397959" cy="333006"/>
            <a:chOff x="0" y="0"/>
            <a:chExt cx="961046" cy="796672"/>
          </a:xfrm>
          <a:solidFill>
            <a:schemeClr val="tx1"/>
          </a:solidFill>
        </p:grpSpPr>
        <p:sp>
          <p:nvSpPr>
            <p:cNvPr id="19" name="Freeform 24"/>
            <p:cNvSpPr>
              <a:spLocks noEditPoints="1" noChangeArrowheads="1"/>
            </p:cNvSpPr>
            <p:nvPr/>
          </p:nvSpPr>
          <p:spPr bwMode="auto">
            <a:xfrm>
              <a:off x="0" y="0"/>
              <a:ext cx="961046" cy="796672"/>
            </a:xfrm>
            <a:custGeom>
              <a:avLst/>
              <a:gdLst>
                <a:gd name="T0" fmla="*/ 321 w 339"/>
                <a:gd name="T1" fmla="*/ 0 h 281"/>
                <a:gd name="T2" fmla="*/ 18 w 339"/>
                <a:gd name="T3" fmla="*/ 0 h 281"/>
                <a:gd name="T4" fmla="*/ 0 w 339"/>
                <a:gd name="T5" fmla="*/ 18 h 281"/>
                <a:gd name="T6" fmla="*/ 0 w 339"/>
                <a:gd name="T7" fmla="*/ 263 h 281"/>
                <a:gd name="T8" fmla="*/ 18 w 339"/>
                <a:gd name="T9" fmla="*/ 281 h 281"/>
                <a:gd name="T10" fmla="*/ 321 w 339"/>
                <a:gd name="T11" fmla="*/ 281 h 281"/>
                <a:gd name="T12" fmla="*/ 339 w 339"/>
                <a:gd name="T13" fmla="*/ 263 h 281"/>
                <a:gd name="T14" fmla="*/ 339 w 339"/>
                <a:gd name="T15" fmla="*/ 18 h 281"/>
                <a:gd name="T16" fmla="*/ 321 w 339"/>
                <a:gd name="T17" fmla="*/ 0 h 281"/>
                <a:gd name="T18" fmla="*/ 316 w 339"/>
                <a:gd name="T19" fmla="*/ 246 h 281"/>
                <a:gd name="T20" fmla="*/ 301 w 339"/>
                <a:gd name="T21" fmla="*/ 262 h 281"/>
                <a:gd name="T22" fmla="*/ 38 w 339"/>
                <a:gd name="T23" fmla="*/ 262 h 281"/>
                <a:gd name="T24" fmla="*/ 23 w 339"/>
                <a:gd name="T25" fmla="*/ 246 h 281"/>
                <a:gd name="T26" fmla="*/ 23 w 339"/>
                <a:gd name="T27" fmla="*/ 35 h 281"/>
                <a:gd name="T28" fmla="*/ 38 w 339"/>
                <a:gd name="T29" fmla="*/ 19 h 281"/>
                <a:gd name="T30" fmla="*/ 301 w 339"/>
                <a:gd name="T31" fmla="*/ 19 h 281"/>
                <a:gd name="T32" fmla="*/ 316 w 339"/>
                <a:gd name="T33" fmla="*/ 35 h 281"/>
                <a:gd name="T34" fmla="*/ 316 w 339"/>
                <a:gd name="T35" fmla="*/ 246 h 2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9"/>
                <a:gd name="T55" fmla="*/ 0 h 281"/>
                <a:gd name="T56" fmla="*/ 339 w 339"/>
                <a:gd name="T57" fmla="*/ 281 h 2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9" h="281">
                  <a:moveTo>
                    <a:pt x="321" y="0"/>
                  </a:moveTo>
                  <a:cubicBezTo>
                    <a:pt x="18" y="0"/>
                    <a:pt x="18" y="0"/>
                    <a:pt x="18" y="0"/>
                  </a:cubicBezTo>
                  <a:cubicBezTo>
                    <a:pt x="8" y="0"/>
                    <a:pt x="0" y="8"/>
                    <a:pt x="0" y="18"/>
                  </a:cubicBezTo>
                  <a:cubicBezTo>
                    <a:pt x="0" y="263"/>
                    <a:pt x="0" y="263"/>
                    <a:pt x="0" y="263"/>
                  </a:cubicBezTo>
                  <a:cubicBezTo>
                    <a:pt x="0" y="273"/>
                    <a:pt x="8" y="281"/>
                    <a:pt x="18" y="281"/>
                  </a:cubicBezTo>
                  <a:cubicBezTo>
                    <a:pt x="321" y="281"/>
                    <a:pt x="321" y="281"/>
                    <a:pt x="321" y="281"/>
                  </a:cubicBezTo>
                  <a:cubicBezTo>
                    <a:pt x="331" y="281"/>
                    <a:pt x="339" y="273"/>
                    <a:pt x="339" y="263"/>
                  </a:cubicBezTo>
                  <a:cubicBezTo>
                    <a:pt x="339" y="18"/>
                    <a:pt x="339" y="18"/>
                    <a:pt x="339" y="18"/>
                  </a:cubicBezTo>
                  <a:cubicBezTo>
                    <a:pt x="339" y="8"/>
                    <a:pt x="331" y="0"/>
                    <a:pt x="321" y="0"/>
                  </a:cubicBezTo>
                  <a:moveTo>
                    <a:pt x="316" y="246"/>
                  </a:moveTo>
                  <a:cubicBezTo>
                    <a:pt x="316" y="255"/>
                    <a:pt x="309" y="262"/>
                    <a:pt x="301" y="262"/>
                  </a:cubicBezTo>
                  <a:cubicBezTo>
                    <a:pt x="38" y="262"/>
                    <a:pt x="38" y="262"/>
                    <a:pt x="38" y="262"/>
                  </a:cubicBezTo>
                  <a:cubicBezTo>
                    <a:pt x="30" y="262"/>
                    <a:pt x="23" y="255"/>
                    <a:pt x="23" y="246"/>
                  </a:cubicBezTo>
                  <a:cubicBezTo>
                    <a:pt x="23" y="35"/>
                    <a:pt x="23" y="35"/>
                    <a:pt x="23" y="35"/>
                  </a:cubicBezTo>
                  <a:cubicBezTo>
                    <a:pt x="23" y="26"/>
                    <a:pt x="30" y="19"/>
                    <a:pt x="38" y="19"/>
                  </a:cubicBezTo>
                  <a:cubicBezTo>
                    <a:pt x="301" y="19"/>
                    <a:pt x="301" y="19"/>
                    <a:pt x="301" y="19"/>
                  </a:cubicBezTo>
                  <a:cubicBezTo>
                    <a:pt x="309" y="19"/>
                    <a:pt x="316" y="26"/>
                    <a:pt x="316" y="35"/>
                  </a:cubicBezTo>
                  <a:lnTo>
                    <a:pt x="316" y="24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0" name="Freeform 25"/>
            <p:cNvSpPr>
              <a:spLocks noChangeArrowheads="1"/>
            </p:cNvSpPr>
            <p:nvPr/>
          </p:nvSpPr>
          <p:spPr bwMode="auto">
            <a:xfrm>
              <a:off x="176371"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1" name="Freeform 26"/>
            <p:cNvSpPr>
              <a:spLocks noChangeArrowheads="1"/>
            </p:cNvSpPr>
            <p:nvPr/>
          </p:nvSpPr>
          <p:spPr bwMode="auto">
            <a:xfrm>
              <a:off x="176371"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2" name="Freeform 27"/>
            <p:cNvSpPr>
              <a:spLocks noChangeArrowheads="1"/>
            </p:cNvSpPr>
            <p:nvPr/>
          </p:nvSpPr>
          <p:spPr bwMode="auto">
            <a:xfrm>
              <a:off x="346744"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3" name="Freeform 28"/>
            <p:cNvSpPr>
              <a:spLocks noChangeArrowheads="1"/>
            </p:cNvSpPr>
            <p:nvPr/>
          </p:nvSpPr>
          <p:spPr bwMode="auto">
            <a:xfrm>
              <a:off x="346744"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4" name="Freeform 29"/>
            <p:cNvSpPr>
              <a:spLocks noChangeArrowheads="1"/>
            </p:cNvSpPr>
            <p:nvPr/>
          </p:nvSpPr>
          <p:spPr bwMode="auto">
            <a:xfrm>
              <a:off x="346744"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5" name="Freeform 30"/>
            <p:cNvSpPr>
              <a:spLocks noChangeArrowheads="1"/>
            </p:cNvSpPr>
            <p:nvPr/>
          </p:nvSpPr>
          <p:spPr bwMode="auto">
            <a:xfrm>
              <a:off x="519516" y="116382"/>
              <a:ext cx="83987"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6" name="Freeform 31"/>
            <p:cNvSpPr>
              <a:spLocks noChangeArrowheads="1"/>
            </p:cNvSpPr>
            <p:nvPr/>
          </p:nvSpPr>
          <p:spPr bwMode="auto">
            <a:xfrm>
              <a:off x="519516" y="274756"/>
              <a:ext cx="83987"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7" name="Freeform 32"/>
            <p:cNvSpPr>
              <a:spLocks noChangeArrowheads="1"/>
            </p:cNvSpPr>
            <p:nvPr/>
          </p:nvSpPr>
          <p:spPr bwMode="auto">
            <a:xfrm>
              <a:off x="688689" y="116382"/>
              <a:ext cx="85186"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8" name="Freeform 33"/>
            <p:cNvSpPr>
              <a:spLocks noChangeArrowheads="1"/>
            </p:cNvSpPr>
            <p:nvPr/>
          </p:nvSpPr>
          <p:spPr bwMode="auto">
            <a:xfrm>
              <a:off x="688689" y="274756"/>
              <a:ext cx="85186"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9" name="Freeform 34"/>
            <p:cNvSpPr>
              <a:spLocks noChangeArrowheads="1"/>
            </p:cNvSpPr>
            <p:nvPr/>
          </p:nvSpPr>
          <p:spPr bwMode="auto">
            <a:xfrm>
              <a:off x="176371"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sp>
        <p:nvSpPr>
          <p:cNvPr id="30" name="Freeform 84"/>
          <p:cNvSpPr>
            <a:spLocks noChangeAspect="1" noEditPoints="1" noChangeArrowheads="1"/>
          </p:cNvSpPr>
          <p:nvPr/>
        </p:nvSpPr>
        <p:spPr bwMode="auto">
          <a:xfrm>
            <a:off x="4557745" y="4178965"/>
            <a:ext cx="333822" cy="333006"/>
          </a:xfrm>
          <a:custGeom>
            <a:avLst/>
            <a:gdLst>
              <a:gd name="T0" fmla="*/ 170 w 170"/>
              <a:gd name="T1" fmla="*/ 0 h 168"/>
              <a:gd name="T2" fmla="*/ 162 w 170"/>
              <a:gd name="T3" fmla="*/ 16 h 168"/>
              <a:gd name="T4" fmla="*/ 170 w 170"/>
              <a:gd name="T5" fmla="*/ 103 h 168"/>
              <a:gd name="T6" fmla="*/ 93 w 170"/>
              <a:gd name="T7" fmla="*/ 119 h 168"/>
              <a:gd name="T8" fmla="*/ 128 w 170"/>
              <a:gd name="T9" fmla="*/ 152 h 168"/>
              <a:gd name="T10" fmla="*/ 42 w 170"/>
              <a:gd name="T11" fmla="*/ 168 h 168"/>
              <a:gd name="T12" fmla="*/ 77 w 170"/>
              <a:gd name="T13" fmla="*/ 152 h 168"/>
              <a:gd name="T14" fmla="*/ 0 w 170"/>
              <a:gd name="T15" fmla="*/ 119 h 168"/>
              <a:gd name="T16" fmla="*/ 6 w 170"/>
              <a:gd name="T17" fmla="*/ 103 h 168"/>
              <a:gd name="T18" fmla="*/ 0 w 170"/>
              <a:gd name="T19" fmla="*/ 16 h 168"/>
              <a:gd name="T20" fmla="*/ 0 w 170"/>
              <a:gd name="T21" fmla="*/ 0 h 168"/>
              <a:gd name="T22" fmla="*/ 122 w 170"/>
              <a:gd name="T23" fmla="*/ 40 h 168"/>
              <a:gd name="T24" fmla="*/ 115 w 170"/>
              <a:gd name="T25" fmla="*/ 44 h 168"/>
              <a:gd name="T26" fmla="*/ 75 w 170"/>
              <a:gd name="T27" fmla="*/ 52 h 168"/>
              <a:gd name="T28" fmla="*/ 73 w 170"/>
              <a:gd name="T29" fmla="*/ 50 h 168"/>
              <a:gd name="T30" fmla="*/ 50 w 170"/>
              <a:gd name="T31" fmla="*/ 67 h 168"/>
              <a:gd name="T32" fmla="*/ 85 w 170"/>
              <a:gd name="T33" fmla="*/ 65 h 168"/>
              <a:gd name="T34" fmla="*/ 89 w 170"/>
              <a:gd name="T35" fmla="*/ 67 h 168"/>
              <a:gd name="T36" fmla="*/ 120 w 170"/>
              <a:gd name="T37" fmla="*/ 52 h 168"/>
              <a:gd name="T38" fmla="*/ 128 w 170"/>
              <a:gd name="T39" fmla="*/ 40 h 168"/>
              <a:gd name="T40" fmla="*/ 113 w 170"/>
              <a:gd name="T41" fmla="*/ 58 h 168"/>
              <a:gd name="T42" fmla="*/ 122 w 170"/>
              <a:gd name="T43" fmla="*/ 85 h 168"/>
              <a:gd name="T44" fmla="*/ 113 w 170"/>
              <a:gd name="T45" fmla="*/ 58 h 168"/>
              <a:gd name="T46" fmla="*/ 101 w 170"/>
              <a:gd name="T47" fmla="*/ 67 h 168"/>
              <a:gd name="T48" fmla="*/ 109 w 170"/>
              <a:gd name="T49" fmla="*/ 85 h 168"/>
              <a:gd name="T50" fmla="*/ 101 w 170"/>
              <a:gd name="T51" fmla="*/ 67 h 168"/>
              <a:gd name="T52" fmla="*/ 87 w 170"/>
              <a:gd name="T53" fmla="*/ 77 h 168"/>
              <a:gd name="T54" fmla="*/ 95 w 170"/>
              <a:gd name="T55" fmla="*/ 85 h 168"/>
              <a:gd name="T56" fmla="*/ 87 w 170"/>
              <a:gd name="T57" fmla="*/ 77 h 168"/>
              <a:gd name="T58" fmla="*/ 75 w 170"/>
              <a:gd name="T59" fmla="*/ 69 h 168"/>
              <a:gd name="T60" fmla="*/ 83 w 170"/>
              <a:gd name="T61" fmla="*/ 85 h 168"/>
              <a:gd name="T62" fmla="*/ 75 w 170"/>
              <a:gd name="T63" fmla="*/ 69 h 168"/>
              <a:gd name="T64" fmla="*/ 63 w 170"/>
              <a:gd name="T65" fmla="*/ 69 h 168"/>
              <a:gd name="T66" fmla="*/ 71 w 170"/>
              <a:gd name="T67" fmla="*/ 85 h 168"/>
              <a:gd name="T68" fmla="*/ 63 w 170"/>
              <a:gd name="T69" fmla="*/ 69 h 168"/>
              <a:gd name="T70" fmla="*/ 48 w 170"/>
              <a:gd name="T71" fmla="*/ 73 h 168"/>
              <a:gd name="T72" fmla="*/ 56 w 170"/>
              <a:gd name="T73" fmla="*/ 85 h 168"/>
              <a:gd name="T74" fmla="*/ 48 w 170"/>
              <a:gd name="T75" fmla="*/ 73 h 168"/>
              <a:gd name="T76" fmla="*/ 146 w 170"/>
              <a:gd name="T77" fmla="*/ 18 h 168"/>
              <a:gd name="T78" fmla="*/ 24 w 170"/>
              <a:gd name="T79" fmla="*/ 101 h 168"/>
              <a:gd name="T80" fmla="*/ 146 w 170"/>
              <a:gd name="T81" fmla="*/ 18 h 1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
              <a:gd name="T124" fmla="*/ 0 h 168"/>
              <a:gd name="T125" fmla="*/ 170 w 170"/>
              <a:gd name="T126" fmla="*/ 168 h 1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 h="168">
                <a:moveTo>
                  <a:pt x="0" y="0"/>
                </a:moveTo>
                <a:lnTo>
                  <a:pt x="170" y="0"/>
                </a:lnTo>
                <a:lnTo>
                  <a:pt x="170" y="16"/>
                </a:lnTo>
                <a:lnTo>
                  <a:pt x="162" y="16"/>
                </a:lnTo>
                <a:lnTo>
                  <a:pt x="162" y="103"/>
                </a:lnTo>
                <a:lnTo>
                  <a:pt x="170" y="103"/>
                </a:lnTo>
                <a:lnTo>
                  <a:pt x="170" y="119"/>
                </a:lnTo>
                <a:lnTo>
                  <a:pt x="93" y="119"/>
                </a:lnTo>
                <a:lnTo>
                  <a:pt x="93" y="152"/>
                </a:lnTo>
                <a:lnTo>
                  <a:pt x="128" y="152"/>
                </a:lnTo>
                <a:lnTo>
                  <a:pt x="128" y="168"/>
                </a:lnTo>
                <a:lnTo>
                  <a:pt x="42" y="168"/>
                </a:lnTo>
                <a:lnTo>
                  <a:pt x="42" y="152"/>
                </a:lnTo>
                <a:lnTo>
                  <a:pt x="77" y="152"/>
                </a:lnTo>
                <a:lnTo>
                  <a:pt x="77" y="119"/>
                </a:lnTo>
                <a:lnTo>
                  <a:pt x="0" y="119"/>
                </a:lnTo>
                <a:lnTo>
                  <a:pt x="0" y="103"/>
                </a:lnTo>
                <a:lnTo>
                  <a:pt x="6" y="103"/>
                </a:lnTo>
                <a:lnTo>
                  <a:pt x="6" y="16"/>
                </a:lnTo>
                <a:lnTo>
                  <a:pt x="0" y="16"/>
                </a:lnTo>
                <a:lnTo>
                  <a:pt x="0" y="0"/>
                </a:lnTo>
                <a:lnTo>
                  <a:pt x="0" y="0"/>
                </a:lnTo>
                <a:close/>
                <a:moveTo>
                  <a:pt x="128" y="40"/>
                </a:moveTo>
                <a:lnTo>
                  <a:pt x="122" y="40"/>
                </a:lnTo>
                <a:lnTo>
                  <a:pt x="113" y="40"/>
                </a:lnTo>
                <a:lnTo>
                  <a:pt x="115" y="44"/>
                </a:lnTo>
                <a:lnTo>
                  <a:pt x="87" y="61"/>
                </a:lnTo>
                <a:lnTo>
                  <a:pt x="75" y="52"/>
                </a:lnTo>
                <a:lnTo>
                  <a:pt x="75" y="50"/>
                </a:lnTo>
                <a:lnTo>
                  <a:pt x="73" y="50"/>
                </a:lnTo>
                <a:lnTo>
                  <a:pt x="48" y="61"/>
                </a:lnTo>
                <a:lnTo>
                  <a:pt x="50" y="67"/>
                </a:lnTo>
                <a:lnTo>
                  <a:pt x="73" y="56"/>
                </a:lnTo>
                <a:lnTo>
                  <a:pt x="85" y="65"/>
                </a:lnTo>
                <a:lnTo>
                  <a:pt x="87" y="67"/>
                </a:lnTo>
                <a:lnTo>
                  <a:pt x="89" y="67"/>
                </a:lnTo>
                <a:lnTo>
                  <a:pt x="117" y="48"/>
                </a:lnTo>
                <a:lnTo>
                  <a:pt x="120" y="52"/>
                </a:lnTo>
                <a:lnTo>
                  <a:pt x="124" y="46"/>
                </a:lnTo>
                <a:lnTo>
                  <a:pt x="128" y="40"/>
                </a:lnTo>
                <a:lnTo>
                  <a:pt x="128" y="40"/>
                </a:lnTo>
                <a:close/>
                <a:moveTo>
                  <a:pt x="113" y="58"/>
                </a:moveTo>
                <a:lnTo>
                  <a:pt x="113" y="85"/>
                </a:lnTo>
                <a:lnTo>
                  <a:pt x="122" y="85"/>
                </a:lnTo>
                <a:lnTo>
                  <a:pt x="122" y="58"/>
                </a:lnTo>
                <a:lnTo>
                  <a:pt x="113" y="58"/>
                </a:lnTo>
                <a:lnTo>
                  <a:pt x="113" y="58"/>
                </a:lnTo>
                <a:close/>
                <a:moveTo>
                  <a:pt x="101" y="67"/>
                </a:moveTo>
                <a:lnTo>
                  <a:pt x="101" y="85"/>
                </a:lnTo>
                <a:lnTo>
                  <a:pt x="109" y="85"/>
                </a:lnTo>
                <a:lnTo>
                  <a:pt x="109" y="67"/>
                </a:lnTo>
                <a:lnTo>
                  <a:pt x="101" y="67"/>
                </a:lnTo>
                <a:lnTo>
                  <a:pt x="101" y="67"/>
                </a:lnTo>
                <a:close/>
                <a:moveTo>
                  <a:pt x="87" y="77"/>
                </a:moveTo>
                <a:lnTo>
                  <a:pt x="87" y="85"/>
                </a:lnTo>
                <a:lnTo>
                  <a:pt x="95" y="85"/>
                </a:lnTo>
                <a:lnTo>
                  <a:pt x="95" y="77"/>
                </a:lnTo>
                <a:lnTo>
                  <a:pt x="87" y="77"/>
                </a:lnTo>
                <a:lnTo>
                  <a:pt x="87" y="77"/>
                </a:lnTo>
                <a:close/>
                <a:moveTo>
                  <a:pt x="75" y="69"/>
                </a:moveTo>
                <a:lnTo>
                  <a:pt x="75" y="85"/>
                </a:lnTo>
                <a:lnTo>
                  <a:pt x="83" y="85"/>
                </a:lnTo>
                <a:lnTo>
                  <a:pt x="83" y="69"/>
                </a:lnTo>
                <a:lnTo>
                  <a:pt x="75" y="69"/>
                </a:lnTo>
                <a:lnTo>
                  <a:pt x="75" y="69"/>
                </a:lnTo>
                <a:close/>
                <a:moveTo>
                  <a:pt x="63" y="69"/>
                </a:moveTo>
                <a:lnTo>
                  <a:pt x="63" y="85"/>
                </a:lnTo>
                <a:lnTo>
                  <a:pt x="71" y="85"/>
                </a:lnTo>
                <a:lnTo>
                  <a:pt x="71" y="69"/>
                </a:lnTo>
                <a:lnTo>
                  <a:pt x="63" y="69"/>
                </a:lnTo>
                <a:lnTo>
                  <a:pt x="63" y="69"/>
                </a:lnTo>
                <a:close/>
                <a:moveTo>
                  <a:pt x="48" y="73"/>
                </a:moveTo>
                <a:lnTo>
                  <a:pt x="48" y="85"/>
                </a:lnTo>
                <a:lnTo>
                  <a:pt x="56" y="85"/>
                </a:lnTo>
                <a:lnTo>
                  <a:pt x="56" y="73"/>
                </a:lnTo>
                <a:lnTo>
                  <a:pt x="48" y="73"/>
                </a:lnTo>
                <a:lnTo>
                  <a:pt x="48" y="73"/>
                </a:lnTo>
                <a:close/>
                <a:moveTo>
                  <a:pt x="146" y="18"/>
                </a:moveTo>
                <a:lnTo>
                  <a:pt x="24" y="18"/>
                </a:lnTo>
                <a:lnTo>
                  <a:pt x="24" y="101"/>
                </a:lnTo>
                <a:lnTo>
                  <a:pt x="146" y="101"/>
                </a:lnTo>
                <a:lnTo>
                  <a:pt x="146" y="18"/>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1" name="Freeform 9"/>
          <p:cNvSpPr>
            <a:spLocks noChangeAspect="1" noEditPoints="1" noChangeArrowheads="1"/>
          </p:cNvSpPr>
          <p:nvPr/>
        </p:nvSpPr>
        <p:spPr bwMode="auto">
          <a:xfrm>
            <a:off x="6538656" y="4178964"/>
            <a:ext cx="361886" cy="333007"/>
          </a:xfrm>
          <a:custGeom>
            <a:avLst/>
            <a:gdLst>
              <a:gd name="T0" fmla="*/ 141 w 181"/>
              <a:gd name="T1" fmla="*/ 0 h 165"/>
              <a:gd name="T2" fmla="*/ 149 w 181"/>
              <a:gd name="T3" fmla="*/ 8 h 165"/>
              <a:gd name="T4" fmla="*/ 134 w 181"/>
              <a:gd name="T5" fmla="*/ 47 h 165"/>
              <a:gd name="T6" fmla="*/ 33 w 181"/>
              <a:gd name="T7" fmla="*/ 14 h 165"/>
              <a:gd name="T8" fmla="*/ 39 w 181"/>
              <a:gd name="T9" fmla="*/ 20 h 165"/>
              <a:gd name="T10" fmla="*/ 51 w 181"/>
              <a:gd name="T11" fmla="*/ 31 h 165"/>
              <a:gd name="T12" fmla="*/ 33 w 181"/>
              <a:gd name="T13" fmla="*/ 39 h 165"/>
              <a:gd name="T14" fmla="*/ 39 w 181"/>
              <a:gd name="T15" fmla="*/ 45 h 165"/>
              <a:gd name="T16" fmla="*/ 51 w 181"/>
              <a:gd name="T17" fmla="*/ 55 h 165"/>
              <a:gd name="T18" fmla="*/ 33 w 181"/>
              <a:gd name="T19" fmla="*/ 63 h 165"/>
              <a:gd name="T20" fmla="*/ 39 w 181"/>
              <a:gd name="T21" fmla="*/ 67 h 165"/>
              <a:gd name="T22" fmla="*/ 51 w 181"/>
              <a:gd name="T23" fmla="*/ 77 h 165"/>
              <a:gd name="T24" fmla="*/ 33 w 181"/>
              <a:gd name="T25" fmla="*/ 86 h 165"/>
              <a:gd name="T26" fmla="*/ 39 w 181"/>
              <a:gd name="T27" fmla="*/ 90 h 165"/>
              <a:gd name="T28" fmla="*/ 51 w 181"/>
              <a:gd name="T29" fmla="*/ 100 h 165"/>
              <a:gd name="T30" fmla="*/ 33 w 181"/>
              <a:gd name="T31" fmla="*/ 110 h 165"/>
              <a:gd name="T32" fmla="*/ 39 w 181"/>
              <a:gd name="T33" fmla="*/ 116 h 165"/>
              <a:gd name="T34" fmla="*/ 51 w 181"/>
              <a:gd name="T35" fmla="*/ 126 h 165"/>
              <a:gd name="T36" fmla="*/ 33 w 181"/>
              <a:gd name="T37" fmla="*/ 134 h 165"/>
              <a:gd name="T38" fmla="*/ 33 w 181"/>
              <a:gd name="T39" fmla="*/ 151 h 165"/>
              <a:gd name="T40" fmla="*/ 134 w 181"/>
              <a:gd name="T41" fmla="*/ 118 h 165"/>
              <a:gd name="T42" fmla="*/ 149 w 181"/>
              <a:gd name="T43" fmla="*/ 157 h 165"/>
              <a:gd name="T44" fmla="*/ 141 w 181"/>
              <a:gd name="T45" fmla="*/ 165 h 165"/>
              <a:gd name="T46" fmla="*/ 19 w 181"/>
              <a:gd name="T47" fmla="*/ 165 h 165"/>
              <a:gd name="T48" fmla="*/ 19 w 181"/>
              <a:gd name="T49" fmla="*/ 146 h 165"/>
              <a:gd name="T50" fmla="*/ 0 w 181"/>
              <a:gd name="T51" fmla="*/ 132 h 165"/>
              <a:gd name="T52" fmla="*/ 19 w 181"/>
              <a:gd name="T53" fmla="*/ 120 h 165"/>
              <a:gd name="T54" fmla="*/ 0 w 181"/>
              <a:gd name="T55" fmla="*/ 108 h 165"/>
              <a:gd name="T56" fmla="*/ 19 w 181"/>
              <a:gd name="T57" fmla="*/ 98 h 165"/>
              <a:gd name="T58" fmla="*/ 0 w 181"/>
              <a:gd name="T59" fmla="*/ 83 h 165"/>
              <a:gd name="T60" fmla="*/ 19 w 181"/>
              <a:gd name="T61" fmla="*/ 75 h 165"/>
              <a:gd name="T62" fmla="*/ 0 w 181"/>
              <a:gd name="T63" fmla="*/ 61 h 165"/>
              <a:gd name="T64" fmla="*/ 19 w 181"/>
              <a:gd name="T65" fmla="*/ 51 h 165"/>
              <a:gd name="T66" fmla="*/ 0 w 181"/>
              <a:gd name="T67" fmla="*/ 39 h 165"/>
              <a:gd name="T68" fmla="*/ 19 w 181"/>
              <a:gd name="T69" fmla="*/ 8 h 165"/>
              <a:gd name="T70" fmla="*/ 27 w 181"/>
              <a:gd name="T71" fmla="*/ 0 h 165"/>
              <a:gd name="T72" fmla="*/ 63 w 181"/>
              <a:gd name="T73" fmla="*/ 79 h 165"/>
              <a:gd name="T74" fmla="*/ 84 w 181"/>
              <a:gd name="T75" fmla="*/ 88 h 165"/>
              <a:gd name="T76" fmla="*/ 63 w 181"/>
              <a:gd name="T77" fmla="*/ 79 h 165"/>
              <a:gd name="T78" fmla="*/ 63 w 181"/>
              <a:gd name="T79" fmla="*/ 61 h 165"/>
              <a:gd name="T80" fmla="*/ 100 w 181"/>
              <a:gd name="T81" fmla="*/ 69 h 165"/>
              <a:gd name="T82" fmla="*/ 63 w 181"/>
              <a:gd name="T83" fmla="*/ 61 h 165"/>
              <a:gd name="T84" fmla="*/ 63 w 181"/>
              <a:gd name="T85" fmla="*/ 45 h 165"/>
              <a:gd name="T86" fmla="*/ 116 w 181"/>
              <a:gd name="T87" fmla="*/ 53 h 165"/>
              <a:gd name="T88" fmla="*/ 63 w 181"/>
              <a:gd name="T89" fmla="*/ 45 h 165"/>
              <a:gd name="T90" fmla="*/ 63 w 181"/>
              <a:gd name="T91" fmla="*/ 29 h 165"/>
              <a:gd name="T92" fmla="*/ 116 w 181"/>
              <a:gd name="T93" fmla="*/ 35 h 165"/>
              <a:gd name="T94" fmla="*/ 63 w 181"/>
              <a:gd name="T95" fmla="*/ 29 h 165"/>
              <a:gd name="T96" fmla="*/ 84 w 181"/>
              <a:gd name="T97" fmla="*/ 130 h 165"/>
              <a:gd name="T98" fmla="*/ 106 w 181"/>
              <a:gd name="T99" fmla="*/ 130 h 165"/>
              <a:gd name="T100" fmla="*/ 86 w 181"/>
              <a:gd name="T101" fmla="*/ 108 h 165"/>
              <a:gd name="T102" fmla="*/ 84 w 181"/>
              <a:gd name="T103" fmla="*/ 130 h 165"/>
              <a:gd name="T104" fmla="*/ 161 w 181"/>
              <a:gd name="T105" fmla="*/ 37 h 165"/>
              <a:gd name="T106" fmla="*/ 116 w 181"/>
              <a:gd name="T107" fmla="*/ 120 h 165"/>
              <a:gd name="T108" fmla="*/ 161 w 181"/>
              <a:gd name="T109" fmla="*/ 37 h 1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1"/>
              <a:gd name="T166" fmla="*/ 0 h 165"/>
              <a:gd name="T167" fmla="*/ 181 w 181"/>
              <a:gd name="T168" fmla="*/ 165 h 1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1" h="165">
                <a:moveTo>
                  <a:pt x="27" y="0"/>
                </a:moveTo>
                <a:lnTo>
                  <a:pt x="141" y="0"/>
                </a:lnTo>
                <a:lnTo>
                  <a:pt x="149" y="0"/>
                </a:lnTo>
                <a:lnTo>
                  <a:pt x="149" y="8"/>
                </a:lnTo>
                <a:lnTo>
                  <a:pt x="149" y="35"/>
                </a:lnTo>
                <a:lnTo>
                  <a:pt x="134" y="47"/>
                </a:lnTo>
                <a:lnTo>
                  <a:pt x="134" y="14"/>
                </a:lnTo>
                <a:lnTo>
                  <a:pt x="33" y="14"/>
                </a:lnTo>
                <a:lnTo>
                  <a:pt x="33" y="25"/>
                </a:lnTo>
                <a:lnTo>
                  <a:pt x="39" y="20"/>
                </a:lnTo>
                <a:lnTo>
                  <a:pt x="47" y="18"/>
                </a:lnTo>
                <a:lnTo>
                  <a:pt x="51" y="31"/>
                </a:lnTo>
                <a:lnTo>
                  <a:pt x="45" y="35"/>
                </a:lnTo>
                <a:lnTo>
                  <a:pt x="33" y="39"/>
                </a:lnTo>
                <a:lnTo>
                  <a:pt x="33" y="47"/>
                </a:lnTo>
                <a:lnTo>
                  <a:pt x="39" y="45"/>
                </a:lnTo>
                <a:lnTo>
                  <a:pt x="47" y="41"/>
                </a:lnTo>
                <a:lnTo>
                  <a:pt x="51" y="55"/>
                </a:lnTo>
                <a:lnTo>
                  <a:pt x="45" y="57"/>
                </a:lnTo>
                <a:lnTo>
                  <a:pt x="33" y="63"/>
                </a:lnTo>
                <a:lnTo>
                  <a:pt x="33" y="71"/>
                </a:lnTo>
                <a:lnTo>
                  <a:pt x="39" y="67"/>
                </a:lnTo>
                <a:lnTo>
                  <a:pt x="47" y="65"/>
                </a:lnTo>
                <a:lnTo>
                  <a:pt x="51" y="77"/>
                </a:lnTo>
                <a:lnTo>
                  <a:pt x="45" y="81"/>
                </a:lnTo>
                <a:lnTo>
                  <a:pt x="33" y="86"/>
                </a:lnTo>
                <a:lnTo>
                  <a:pt x="33" y="94"/>
                </a:lnTo>
                <a:lnTo>
                  <a:pt x="39" y="90"/>
                </a:lnTo>
                <a:lnTo>
                  <a:pt x="47" y="88"/>
                </a:lnTo>
                <a:lnTo>
                  <a:pt x="51" y="100"/>
                </a:lnTo>
                <a:lnTo>
                  <a:pt x="45" y="104"/>
                </a:lnTo>
                <a:lnTo>
                  <a:pt x="33" y="110"/>
                </a:lnTo>
                <a:lnTo>
                  <a:pt x="33" y="118"/>
                </a:lnTo>
                <a:lnTo>
                  <a:pt x="39" y="116"/>
                </a:lnTo>
                <a:lnTo>
                  <a:pt x="47" y="112"/>
                </a:lnTo>
                <a:lnTo>
                  <a:pt x="51" y="126"/>
                </a:lnTo>
                <a:lnTo>
                  <a:pt x="45" y="128"/>
                </a:lnTo>
                <a:lnTo>
                  <a:pt x="33" y="134"/>
                </a:lnTo>
                <a:lnTo>
                  <a:pt x="33" y="146"/>
                </a:lnTo>
                <a:lnTo>
                  <a:pt x="33" y="151"/>
                </a:lnTo>
                <a:lnTo>
                  <a:pt x="134" y="151"/>
                </a:lnTo>
                <a:lnTo>
                  <a:pt x="134" y="118"/>
                </a:lnTo>
                <a:lnTo>
                  <a:pt x="149" y="106"/>
                </a:lnTo>
                <a:lnTo>
                  <a:pt x="149" y="157"/>
                </a:lnTo>
                <a:lnTo>
                  <a:pt x="149" y="165"/>
                </a:lnTo>
                <a:lnTo>
                  <a:pt x="141" y="165"/>
                </a:lnTo>
                <a:lnTo>
                  <a:pt x="27" y="165"/>
                </a:lnTo>
                <a:lnTo>
                  <a:pt x="19" y="165"/>
                </a:lnTo>
                <a:lnTo>
                  <a:pt x="19" y="157"/>
                </a:lnTo>
                <a:lnTo>
                  <a:pt x="19" y="146"/>
                </a:lnTo>
                <a:lnTo>
                  <a:pt x="4" y="146"/>
                </a:lnTo>
                <a:lnTo>
                  <a:pt x="0" y="132"/>
                </a:lnTo>
                <a:lnTo>
                  <a:pt x="19" y="124"/>
                </a:lnTo>
                <a:lnTo>
                  <a:pt x="19" y="120"/>
                </a:lnTo>
                <a:lnTo>
                  <a:pt x="4" y="120"/>
                </a:lnTo>
                <a:lnTo>
                  <a:pt x="0" y="108"/>
                </a:lnTo>
                <a:lnTo>
                  <a:pt x="19" y="100"/>
                </a:lnTo>
                <a:lnTo>
                  <a:pt x="19" y="98"/>
                </a:lnTo>
                <a:lnTo>
                  <a:pt x="4" y="98"/>
                </a:lnTo>
                <a:lnTo>
                  <a:pt x="0" y="83"/>
                </a:lnTo>
                <a:lnTo>
                  <a:pt x="19" y="77"/>
                </a:lnTo>
                <a:lnTo>
                  <a:pt x="19" y="75"/>
                </a:lnTo>
                <a:lnTo>
                  <a:pt x="4" y="75"/>
                </a:lnTo>
                <a:lnTo>
                  <a:pt x="0" y="61"/>
                </a:lnTo>
                <a:lnTo>
                  <a:pt x="19" y="53"/>
                </a:lnTo>
                <a:lnTo>
                  <a:pt x="19" y="51"/>
                </a:lnTo>
                <a:lnTo>
                  <a:pt x="4" y="51"/>
                </a:lnTo>
                <a:lnTo>
                  <a:pt x="0" y="39"/>
                </a:lnTo>
                <a:lnTo>
                  <a:pt x="19" y="31"/>
                </a:lnTo>
                <a:lnTo>
                  <a:pt x="19" y="8"/>
                </a:lnTo>
                <a:lnTo>
                  <a:pt x="19" y="0"/>
                </a:lnTo>
                <a:lnTo>
                  <a:pt x="27" y="0"/>
                </a:lnTo>
                <a:lnTo>
                  <a:pt x="27" y="0"/>
                </a:lnTo>
                <a:close/>
                <a:moveTo>
                  <a:pt x="63" y="79"/>
                </a:moveTo>
                <a:lnTo>
                  <a:pt x="63" y="88"/>
                </a:lnTo>
                <a:lnTo>
                  <a:pt x="84" y="88"/>
                </a:lnTo>
                <a:lnTo>
                  <a:pt x="84" y="79"/>
                </a:lnTo>
                <a:lnTo>
                  <a:pt x="63" y="79"/>
                </a:lnTo>
                <a:lnTo>
                  <a:pt x="63" y="79"/>
                </a:lnTo>
                <a:close/>
                <a:moveTo>
                  <a:pt x="63" y="61"/>
                </a:moveTo>
                <a:lnTo>
                  <a:pt x="63" y="69"/>
                </a:lnTo>
                <a:lnTo>
                  <a:pt x="100" y="69"/>
                </a:lnTo>
                <a:lnTo>
                  <a:pt x="100" y="61"/>
                </a:lnTo>
                <a:lnTo>
                  <a:pt x="63" y="61"/>
                </a:lnTo>
                <a:lnTo>
                  <a:pt x="63" y="61"/>
                </a:lnTo>
                <a:close/>
                <a:moveTo>
                  <a:pt x="63" y="45"/>
                </a:moveTo>
                <a:lnTo>
                  <a:pt x="63" y="53"/>
                </a:lnTo>
                <a:lnTo>
                  <a:pt x="116" y="53"/>
                </a:lnTo>
                <a:lnTo>
                  <a:pt x="116" y="45"/>
                </a:lnTo>
                <a:lnTo>
                  <a:pt x="63" y="45"/>
                </a:lnTo>
                <a:lnTo>
                  <a:pt x="63" y="45"/>
                </a:lnTo>
                <a:close/>
                <a:moveTo>
                  <a:pt x="63" y="29"/>
                </a:moveTo>
                <a:lnTo>
                  <a:pt x="63" y="35"/>
                </a:lnTo>
                <a:lnTo>
                  <a:pt x="116" y="35"/>
                </a:lnTo>
                <a:lnTo>
                  <a:pt x="116" y="29"/>
                </a:lnTo>
                <a:lnTo>
                  <a:pt x="63" y="29"/>
                </a:lnTo>
                <a:lnTo>
                  <a:pt x="63" y="29"/>
                </a:lnTo>
                <a:close/>
                <a:moveTo>
                  <a:pt x="84" y="130"/>
                </a:moveTo>
                <a:lnTo>
                  <a:pt x="96" y="130"/>
                </a:lnTo>
                <a:lnTo>
                  <a:pt x="106" y="130"/>
                </a:lnTo>
                <a:lnTo>
                  <a:pt x="96" y="118"/>
                </a:lnTo>
                <a:lnTo>
                  <a:pt x="86" y="108"/>
                </a:lnTo>
                <a:lnTo>
                  <a:pt x="86" y="120"/>
                </a:lnTo>
                <a:lnTo>
                  <a:pt x="84" y="130"/>
                </a:lnTo>
                <a:lnTo>
                  <a:pt x="84" y="130"/>
                </a:lnTo>
                <a:close/>
                <a:moveTo>
                  <a:pt x="161" y="37"/>
                </a:moveTo>
                <a:lnTo>
                  <a:pt x="96" y="100"/>
                </a:lnTo>
                <a:lnTo>
                  <a:pt x="116" y="120"/>
                </a:lnTo>
                <a:lnTo>
                  <a:pt x="181" y="57"/>
                </a:lnTo>
                <a:lnTo>
                  <a:pt x="161" y="37"/>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3" name="文本框 32">
            <a:extLst>
              <a:ext uri="{FF2B5EF4-FFF2-40B4-BE49-F238E27FC236}">
                <a16:creationId xmlns:a16="http://schemas.microsoft.com/office/drawing/2014/main" id="{08D0E11D-9DF4-3F6F-4654-687E1E87F48B}"/>
              </a:ext>
            </a:extLst>
          </p:cNvPr>
          <p:cNvSpPr txBox="1"/>
          <p:nvPr/>
        </p:nvSpPr>
        <p:spPr>
          <a:xfrm>
            <a:off x="2233542" y="2302012"/>
            <a:ext cx="7721725" cy="523220"/>
          </a:xfrm>
          <a:prstGeom prst="rect">
            <a:avLst/>
          </a:prstGeom>
          <a:noFill/>
        </p:spPr>
        <p:txBody>
          <a:bodyPr wrap="square">
            <a:sp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lang="en-US" altLang="zh-CN" sz="2800" dirty="0"/>
              <a:t>FUSECHAT: Knowledge Fusion of Chat Models</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37" name="文本框 36">
            <a:extLst>
              <a:ext uri="{FF2B5EF4-FFF2-40B4-BE49-F238E27FC236}">
                <a16:creationId xmlns:a16="http://schemas.microsoft.com/office/drawing/2014/main" id="{D66D9E3F-D927-791F-1724-AD43A81C593F}"/>
              </a:ext>
            </a:extLst>
          </p:cNvPr>
          <p:cNvSpPr txBox="1"/>
          <p:nvPr/>
        </p:nvSpPr>
        <p:spPr>
          <a:xfrm>
            <a:off x="2233542" y="3126399"/>
            <a:ext cx="7721725" cy="646331"/>
          </a:xfrm>
          <a:prstGeom prst="rect">
            <a:avLst/>
          </a:prstGeom>
          <a:noFill/>
        </p:spPr>
        <p:txBody>
          <a:bodyPr wrap="square">
            <a:spAutoFit/>
          </a:bodyPr>
          <a:lstStyle/>
          <a:p>
            <a:pPr algn="ctr"/>
            <a:r>
              <a:rPr lang="zh-CN" altLang="en-US" dirty="0"/>
              <a:t>作者：</a:t>
            </a:r>
            <a:r>
              <a:rPr lang="en-US" altLang="zh-CN" dirty="0"/>
              <a:t> </a:t>
            </a:r>
            <a:r>
              <a:rPr lang="en-US" altLang="zh-CN" dirty="0" err="1"/>
              <a:t>Fanqi</a:t>
            </a:r>
            <a:r>
              <a:rPr lang="en-US" altLang="zh-CN" dirty="0"/>
              <a:t> Wan</a:t>
            </a:r>
            <a:r>
              <a:rPr lang="zh-CN" altLang="en-US" dirty="0"/>
              <a:t>、</a:t>
            </a:r>
            <a:r>
              <a:rPr lang="en-US" altLang="zh-CN" dirty="0"/>
              <a:t> </a:t>
            </a:r>
            <a:r>
              <a:rPr lang="en-US" altLang="zh-CN" dirty="0" err="1"/>
              <a:t>Longguang</a:t>
            </a:r>
            <a:r>
              <a:rPr lang="en-US" altLang="zh-CN" dirty="0"/>
              <a:t> Zhong</a:t>
            </a:r>
            <a:r>
              <a:rPr lang="zh-CN" altLang="en-US" dirty="0"/>
              <a:t>、</a:t>
            </a:r>
            <a:r>
              <a:rPr lang="en-US" altLang="zh-CN" dirty="0" err="1"/>
              <a:t>Ziyi</a:t>
            </a:r>
            <a:r>
              <a:rPr lang="en-US" altLang="zh-CN" dirty="0"/>
              <a:t> Yang</a:t>
            </a:r>
            <a:r>
              <a:rPr lang="zh-CN" altLang="en-US" dirty="0"/>
              <a:t>等</a:t>
            </a:r>
          </a:p>
          <a:p>
            <a:pPr algn="ctr"/>
            <a:endParaRPr lang="zh-CN" altLang="en-US" dirty="0"/>
          </a:p>
        </p:txBody>
      </p:sp>
    </p:spTree>
    <p:extLst>
      <p:ext uri="{BB962C8B-B14F-4D97-AF65-F5344CB8AC3E}">
        <p14:creationId xmlns:p14="http://schemas.microsoft.com/office/powerpoint/2010/main" val="5034293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1.</a:t>
            </a:r>
            <a:r>
              <a:rPr lang="zh-CN" altLang="en-US" sz="2800" dirty="0">
                <a:solidFill>
                  <a:srgbClr val="000000">
                    <a:lumMod val="75000"/>
                    <a:lumOff val="25000"/>
                  </a:srgbClr>
                </a:solidFill>
              </a:rPr>
              <a:t>介绍</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a16="http://schemas.microsoft.com/office/drawing/2014/main" id="{AB909669-AD69-773B-543B-49640958972B}"/>
              </a:ext>
            </a:extLst>
          </p:cNvPr>
          <p:cNvSpPr txBox="1"/>
          <p:nvPr/>
        </p:nvSpPr>
        <p:spPr>
          <a:xfrm>
            <a:off x="614679" y="958334"/>
            <a:ext cx="10585337" cy="646331"/>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背景：</a:t>
            </a:r>
            <a:r>
              <a:rPr lang="zh-CN" altLang="en-US" dirty="0">
                <a:latin typeface="+mn-ea"/>
              </a:rPr>
              <a:t>大语言模型（如</a:t>
            </a:r>
            <a:r>
              <a:rPr lang="en-US" altLang="zh-CN" dirty="0">
                <a:latin typeface="+mn-ea"/>
              </a:rPr>
              <a:t>GPT</a:t>
            </a:r>
            <a:r>
              <a:rPr lang="zh-CN" altLang="en-US" dirty="0">
                <a:latin typeface="+mn-ea"/>
              </a:rPr>
              <a:t>、</a:t>
            </a:r>
            <a:r>
              <a:rPr lang="en-US" altLang="zh-CN" dirty="0" err="1">
                <a:latin typeface="+mn-ea"/>
              </a:rPr>
              <a:t>LLaMA</a:t>
            </a:r>
            <a:r>
              <a:rPr lang="zh-CN" altLang="en-US" dirty="0">
                <a:latin typeface="+mn-ea"/>
              </a:rPr>
              <a:t>等）在各种自然语言处理任务上取得巨大的成功，将不同模型的优点集中到一个模型中具有非常好的前景。</a:t>
            </a:r>
            <a:endParaRPr lang="en-US" altLang="zh-CN" dirty="0">
              <a:latin typeface="+mn-ea"/>
            </a:endParaRPr>
          </a:p>
        </p:txBody>
      </p:sp>
      <p:sp>
        <p:nvSpPr>
          <p:cNvPr id="4" name="文本框 3">
            <a:extLst>
              <a:ext uri="{FF2B5EF4-FFF2-40B4-BE49-F238E27FC236}">
                <a16:creationId xmlns:a16="http://schemas.microsoft.com/office/drawing/2014/main" id="{CA6131D4-40D0-8F14-CAEB-76408CCF07E9}"/>
              </a:ext>
            </a:extLst>
          </p:cNvPr>
          <p:cNvSpPr txBox="1"/>
          <p:nvPr/>
        </p:nvSpPr>
        <p:spPr>
          <a:xfrm>
            <a:off x="614679" y="1867508"/>
            <a:ext cx="6106160"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相关工作</a:t>
            </a:r>
            <a:endParaRPr lang="zh-CN" altLang="en-US" dirty="0"/>
          </a:p>
        </p:txBody>
      </p:sp>
      <p:pic>
        <p:nvPicPr>
          <p:cNvPr id="8" name="图片 7" descr="图示&#10;&#10;描述已自动生成">
            <a:extLst>
              <a:ext uri="{FF2B5EF4-FFF2-40B4-BE49-F238E27FC236}">
                <a16:creationId xmlns:a16="http://schemas.microsoft.com/office/drawing/2014/main" id="{412B66AF-56AC-731F-F0BF-CE31AC988C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7808" y="2265908"/>
            <a:ext cx="2289048" cy="2798058"/>
          </a:xfrm>
          <a:prstGeom prst="rect">
            <a:avLst/>
          </a:prstGeom>
        </p:spPr>
      </p:pic>
      <p:pic>
        <p:nvPicPr>
          <p:cNvPr id="12" name="图片 11" descr="图示&#10;&#10;描述已自动生成">
            <a:extLst>
              <a:ext uri="{FF2B5EF4-FFF2-40B4-BE49-F238E27FC236}">
                <a16:creationId xmlns:a16="http://schemas.microsoft.com/office/drawing/2014/main" id="{5942F0D2-2D82-CE0E-0A4C-7C07C9B353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23045" y="1624373"/>
            <a:ext cx="3878581" cy="2293062"/>
          </a:xfrm>
          <a:prstGeom prst="rect">
            <a:avLst/>
          </a:prstGeom>
        </p:spPr>
      </p:pic>
      <p:pic>
        <p:nvPicPr>
          <p:cNvPr id="14" name="图片 13" descr="图示&#10;&#10;描述已自动生成">
            <a:extLst>
              <a:ext uri="{FF2B5EF4-FFF2-40B4-BE49-F238E27FC236}">
                <a16:creationId xmlns:a16="http://schemas.microsoft.com/office/drawing/2014/main" id="{38D9E9B7-408A-5AB6-7915-2FEEC6FC16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5971" y="2229649"/>
            <a:ext cx="2307301" cy="2834317"/>
          </a:xfrm>
          <a:prstGeom prst="rect">
            <a:avLst/>
          </a:prstGeom>
        </p:spPr>
      </p:pic>
      <p:sp>
        <p:nvSpPr>
          <p:cNvPr id="16" name="文本框 15">
            <a:extLst>
              <a:ext uri="{FF2B5EF4-FFF2-40B4-BE49-F238E27FC236}">
                <a16:creationId xmlns:a16="http://schemas.microsoft.com/office/drawing/2014/main" id="{9F47ADA7-6E02-8B57-87B6-A37D465E74D6}"/>
              </a:ext>
            </a:extLst>
          </p:cNvPr>
          <p:cNvSpPr txBox="1"/>
          <p:nvPr/>
        </p:nvSpPr>
        <p:spPr>
          <a:xfrm>
            <a:off x="614678" y="5162272"/>
            <a:ext cx="6395722" cy="1754326"/>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本文贡献：</a:t>
            </a:r>
            <a:endParaRPr lang="en-US" altLang="zh-CN" b="1" dirty="0">
              <a:solidFill>
                <a:srgbClr val="268F9C"/>
              </a:solidFill>
              <a:latin typeface="+mn-ea"/>
            </a:endParaRPr>
          </a:p>
          <a:p>
            <a:pPr marL="742950" lvl="1" indent="-285750">
              <a:buFont typeface="Arial" panose="020B0604020202020204" pitchFamily="34" charset="0"/>
              <a:buChar char="•"/>
            </a:pPr>
            <a:r>
              <a:rPr lang="zh-CN" altLang="en-US" dirty="0">
                <a:latin typeface="+mn-ea"/>
              </a:rPr>
              <a:t>将不同架构和大小的模型融合到一起</a:t>
            </a:r>
            <a:endParaRPr lang="en-US" altLang="zh-CN" dirty="0">
              <a:latin typeface="+mn-ea"/>
            </a:endParaRPr>
          </a:p>
          <a:p>
            <a:pPr marL="742950" lvl="1" indent="-285750">
              <a:buFont typeface="Arial" panose="020B0604020202020204" pitchFamily="34" charset="0"/>
              <a:buChar char="•"/>
            </a:pPr>
            <a:r>
              <a:rPr lang="en-US" altLang="zh-CN" dirty="0" err="1">
                <a:latin typeface="+mn-ea"/>
              </a:rPr>
              <a:t>FuseLLM</a:t>
            </a:r>
            <a:r>
              <a:rPr lang="zh-CN" altLang="en-US" dirty="0">
                <a:latin typeface="+mn-ea"/>
              </a:rPr>
              <a:t>需要在训练时将所有知识融合到一起，而</a:t>
            </a:r>
            <a:r>
              <a:rPr lang="en-US" altLang="zh-CN" dirty="0" err="1">
                <a:latin typeface="+mn-ea"/>
              </a:rPr>
              <a:t>FuseChat</a:t>
            </a:r>
            <a:r>
              <a:rPr lang="zh-CN" altLang="en-US" dirty="0">
                <a:latin typeface="+mn-ea"/>
              </a:rPr>
              <a:t>可以在部署时动态融入知识</a:t>
            </a:r>
            <a:endParaRPr lang="en-US" altLang="zh-CN" dirty="0">
              <a:latin typeface="+mn-ea"/>
            </a:endParaRPr>
          </a:p>
          <a:p>
            <a:pPr marL="742950" lvl="1" indent="-285750">
              <a:buFont typeface="Arial" panose="020B0604020202020204" pitchFamily="34" charset="0"/>
              <a:buChar char="•"/>
            </a:pPr>
            <a:r>
              <a:rPr lang="en-US" altLang="zh-CN" dirty="0" err="1">
                <a:latin typeface="+mn-ea"/>
              </a:rPr>
              <a:t>FuseChat</a:t>
            </a:r>
            <a:r>
              <a:rPr lang="zh-CN" altLang="en-US" dirty="0">
                <a:latin typeface="+mn-ea"/>
              </a:rPr>
              <a:t>两两融合成目标网络，缓减了知识蒸馏难度</a:t>
            </a:r>
            <a:endParaRPr lang="en-US" altLang="zh-CN" dirty="0">
              <a:latin typeface="+mn-ea"/>
            </a:endParaRPr>
          </a:p>
          <a:p>
            <a:pPr marL="285750" indent="-285750">
              <a:buFont typeface="Wingdings" panose="05000000000000000000" pitchFamily="2" charset="2"/>
              <a:buChar char="Ø"/>
            </a:pPr>
            <a:endParaRPr lang="en-US" altLang="zh-CN" b="1" dirty="0">
              <a:solidFill>
                <a:srgbClr val="268F9C"/>
              </a:solidFill>
              <a:latin typeface="+mn-ea"/>
            </a:endParaRPr>
          </a:p>
        </p:txBody>
      </p:sp>
      <p:pic>
        <p:nvPicPr>
          <p:cNvPr id="18" name="图片 17" descr="图示&#10;&#10;描述已自动生成">
            <a:extLst>
              <a:ext uri="{FF2B5EF4-FFF2-40B4-BE49-F238E27FC236}">
                <a16:creationId xmlns:a16="http://schemas.microsoft.com/office/drawing/2014/main" id="{912C770F-A863-9D3C-A8CA-0225001CCC8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24699" y="3917435"/>
            <a:ext cx="3875275" cy="2293062"/>
          </a:xfrm>
          <a:prstGeom prst="rect">
            <a:avLst/>
          </a:prstGeom>
        </p:spPr>
      </p:pic>
    </p:spTree>
    <p:extLst>
      <p:ext uri="{BB962C8B-B14F-4D97-AF65-F5344CB8AC3E}">
        <p14:creationId xmlns:p14="http://schemas.microsoft.com/office/powerpoint/2010/main" val="14290507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2.</a:t>
            </a:r>
            <a:r>
              <a:rPr lang="zh-CN" altLang="en-US" sz="2800" dirty="0">
                <a:solidFill>
                  <a:srgbClr val="000000">
                    <a:lumMod val="75000"/>
                    <a:lumOff val="25000"/>
                  </a:srgbClr>
                </a:solidFill>
              </a:rPr>
              <a:t>相似工作</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pic>
        <p:nvPicPr>
          <p:cNvPr id="5" name="图片 4">
            <a:extLst>
              <a:ext uri="{FF2B5EF4-FFF2-40B4-BE49-F238E27FC236}">
                <a16:creationId xmlns:a16="http://schemas.microsoft.com/office/drawing/2014/main" id="{0E9BF4AA-8957-C8F6-A2A3-E276E3F493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2163" y="3429000"/>
            <a:ext cx="2874159" cy="3081197"/>
          </a:xfrm>
          <a:prstGeom prst="rect">
            <a:avLst/>
          </a:prstGeom>
        </p:spPr>
      </p:pic>
      <p:pic>
        <p:nvPicPr>
          <p:cNvPr id="7" name="图片 6">
            <a:extLst>
              <a:ext uri="{FF2B5EF4-FFF2-40B4-BE49-F238E27FC236}">
                <a16:creationId xmlns:a16="http://schemas.microsoft.com/office/drawing/2014/main" id="{328FCB24-0206-DD4B-E804-40DA6AE1CF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574" y="3429000"/>
            <a:ext cx="2881566" cy="3026855"/>
          </a:xfrm>
          <a:prstGeom prst="rect">
            <a:avLst/>
          </a:prstGeom>
        </p:spPr>
      </p:pic>
      <p:sp>
        <p:nvSpPr>
          <p:cNvPr id="9" name="文本框 8">
            <a:extLst>
              <a:ext uri="{FF2B5EF4-FFF2-40B4-BE49-F238E27FC236}">
                <a16:creationId xmlns:a16="http://schemas.microsoft.com/office/drawing/2014/main" id="{270D2D82-BA50-0852-0D3E-1882AAB068C9}"/>
              </a:ext>
            </a:extLst>
          </p:cNvPr>
          <p:cNvSpPr txBox="1"/>
          <p:nvPr/>
        </p:nvSpPr>
        <p:spPr>
          <a:xfrm>
            <a:off x="1400946" y="6531074"/>
            <a:ext cx="1133466" cy="307777"/>
          </a:xfrm>
          <a:prstGeom prst="rect">
            <a:avLst/>
          </a:prstGeom>
          <a:noFill/>
        </p:spPr>
        <p:txBody>
          <a:bodyPr wrap="square">
            <a:spAutoFit/>
          </a:bodyPr>
          <a:lstStyle/>
          <a:p>
            <a:pPr algn="ctr"/>
            <a:r>
              <a:rPr lang="zh-CN" altLang="en-US" sz="1400" dirty="0">
                <a:latin typeface="+mn-ea"/>
              </a:rPr>
              <a:t>直接平均</a:t>
            </a:r>
            <a:endParaRPr lang="zh-CN" altLang="en-US" sz="1400" dirty="0"/>
          </a:p>
        </p:txBody>
      </p:sp>
      <p:sp>
        <p:nvSpPr>
          <p:cNvPr id="10" name="文本框 9">
            <a:extLst>
              <a:ext uri="{FF2B5EF4-FFF2-40B4-BE49-F238E27FC236}">
                <a16:creationId xmlns:a16="http://schemas.microsoft.com/office/drawing/2014/main" id="{973D1986-7638-C067-0C02-6C407AC0838F}"/>
              </a:ext>
            </a:extLst>
          </p:cNvPr>
          <p:cNvSpPr txBox="1"/>
          <p:nvPr/>
        </p:nvSpPr>
        <p:spPr>
          <a:xfrm>
            <a:off x="4145244" y="6531074"/>
            <a:ext cx="1988050" cy="307777"/>
          </a:xfrm>
          <a:prstGeom prst="rect">
            <a:avLst/>
          </a:prstGeom>
          <a:noFill/>
        </p:spPr>
        <p:txBody>
          <a:bodyPr wrap="square">
            <a:spAutoFit/>
          </a:bodyPr>
          <a:lstStyle/>
          <a:p>
            <a:pPr algn="ctr"/>
            <a:r>
              <a:rPr lang="zh-CN" altLang="en-US" sz="1400" dirty="0">
                <a:latin typeface="+mn-ea"/>
              </a:rPr>
              <a:t>对齐跟模型再平均</a:t>
            </a:r>
            <a:endParaRPr lang="zh-CN" altLang="en-US" sz="1400" dirty="0"/>
          </a:p>
        </p:txBody>
      </p:sp>
      <p:pic>
        <p:nvPicPr>
          <p:cNvPr id="12" name="图片 11">
            <a:extLst>
              <a:ext uri="{FF2B5EF4-FFF2-40B4-BE49-F238E27FC236}">
                <a16:creationId xmlns:a16="http://schemas.microsoft.com/office/drawing/2014/main" id="{CEC12ACF-C379-9350-157C-6803612BCD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6345" y="4619244"/>
            <a:ext cx="4745529" cy="1836611"/>
          </a:xfrm>
          <a:prstGeom prst="rect">
            <a:avLst/>
          </a:prstGeom>
        </p:spPr>
      </p:pic>
      <p:sp>
        <p:nvSpPr>
          <p:cNvPr id="13" name="文本框 12">
            <a:extLst>
              <a:ext uri="{FF2B5EF4-FFF2-40B4-BE49-F238E27FC236}">
                <a16:creationId xmlns:a16="http://schemas.microsoft.com/office/drawing/2014/main" id="{225DF863-8143-2070-8DA7-8BF84AD4B26B}"/>
              </a:ext>
            </a:extLst>
          </p:cNvPr>
          <p:cNvSpPr txBox="1"/>
          <p:nvPr/>
        </p:nvSpPr>
        <p:spPr>
          <a:xfrm>
            <a:off x="8432495" y="6531074"/>
            <a:ext cx="1988050" cy="307777"/>
          </a:xfrm>
          <a:prstGeom prst="rect">
            <a:avLst/>
          </a:prstGeom>
          <a:noFill/>
        </p:spPr>
        <p:txBody>
          <a:bodyPr wrap="square">
            <a:spAutoFit/>
          </a:bodyPr>
          <a:lstStyle/>
          <a:p>
            <a:pPr algn="ctr"/>
            <a:r>
              <a:rPr lang="zh-CN" altLang="en-US" sz="1400" dirty="0"/>
              <a:t>权重距离</a:t>
            </a:r>
          </a:p>
        </p:txBody>
      </p:sp>
      <p:sp>
        <p:nvSpPr>
          <p:cNvPr id="15" name="文本框 14">
            <a:extLst>
              <a:ext uri="{FF2B5EF4-FFF2-40B4-BE49-F238E27FC236}">
                <a16:creationId xmlns:a16="http://schemas.microsoft.com/office/drawing/2014/main" id="{AD1F0E40-6FB8-2E1C-1F09-D7B0421A03B7}"/>
              </a:ext>
            </a:extLst>
          </p:cNvPr>
          <p:cNvSpPr txBox="1"/>
          <p:nvPr/>
        </p:nvSpPr>
        <p:spPr>
          <a:xfrm>
            <a:off x="731910" y="1493439"/>
            <a:ext cx="10112874" cy="1477328"/>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基本思想：</a:t>
            </a:r>
            <a:endParaRPr lang="en-US" altLang="zh-CN" b="1" dirty="0">
              <a:solidFill>
                <a:srgbClr val="268F9C"/>
              </a:solidFill>
              <a:latin typeface="+mn-ea"/>
            </a:endParaRPr>
          </a:p>
          <a:p>
            <a:pPr marL="742950" lvl="1" indent="-285750">
              <a:buFont typeface="Wingdings" panose="05000000000000000000" pitchFamily="2" charset="2"/>
              <a:buChar char="l"/>
            </a:pPr>
            <a:r>
              <a:rPr lang="zh-CN" altLang="en-US" dirty="0">
                <a:latin typeface="+mn-ea"/>
              </a:rPr>
              <a:t>不同功能模型有不同架构，就算架构一样，直接平均模型的参数，其输出也往往没有意义</a:t>
            </a:r>
            <a:endParaRPr lang="en-US" altLang="zh-CN" dirty="0">
              <a:latin typeface="+mn-ea"/>
            </a:endParaRPr>
          </a:p>
          <a:p>
            <a:pPr marL="742950" lvl="1" indent="-285750">
              <a:buFont typeface="Wingdings" panose="05000000000000000000" pitchFamily="2" charset="2"/>
              <a:buChar char="l"/>
            </a:pPr>
            <a:r>
              <a:rPr lang="zh-CN" altLang="en-US" dirty="0">
                <a:latin typeface="+mn-ea"/>
              </a:rPr>
              <a:t>选出一个</a:t>
            </a:r>
            <a:r>
              <a:rPr lang="zh-CN" altLang="en-US" b="1" dirty="0">
                <a:solidFill>
                  <a:schemeClr val="accent1"/>
                </a:solidFill>
                <a:latin typeface="+mn-ea"/>
              </a:rPr>
              <a:t>跟模型</a:t>
            </a:r>
            <a:r>
              <a:rPr lang="zh-CN" altLang="en-US" dirty="0">
                <a:latin typeface="+mn-ea"/>
              </a:rPr>
              <a:t>，作为微调的初始化模型，其它模型通过将</a:t>
            </a:r>
            <a:r>
              <a:rPr lang="zh-CN" altLang="en-US" b="1" dirty="0">
                <a:solidFill>
                  <a:schemeClr val="accent1"/>
                </a:solidFill>
                <a:latin typeface="+mn-ea"/>
              </a:rPr>
              <a:t>自己的输出作为跟模型训练目标</a:t>
            </a:r>
            <a:r>
              <a:rPr lang="zh-CN" altLang="en-US" dirty="0">
                <a:latin typeface="+mn-ea"/>
              </a:rPr>
              <a:t>，向跟模型对齐</a:t>
            </a:r>
            <a:endParaRPr lang="en-US" altLang="zh-CN" dirty="0">
              <a:latin typeface="+mn-ea"/>
            </a:endParaRPr>
          </a:p>
          <a:p>
            <a:pPr marL="742950" lvl="1" indent="-285750">
              <a:buFont typeface="Wingdings" panose="05000000000000000000" pitchFamily="2" charset="2"/>
              <a:buChar char="l"/>
            </a:pPr>
            <a:r>
              <a:rPr lang="zh-CN" altLang="en-US" dirty="0">
                <a:latin typeface="+mn-ea"/>
              </a:rPr>
              <a:t>最后将参数平均</a:t>
            </a:r>
            <a:endParaRPr lang="zh-CN" altLang="en-US" dirty="0"/>
          </a:p>
        </p:txBody>
      </p:sp>
      <p:sp>
        <p:nvSpPr>
          <p:cNvPr id="17" name="文本框 16">
            <a:extLst>
              <a:ext uri="{FF2B5EF4-FFF2-40B4-BE49-F238E27FC236}">
                <a16:creationId xmlns:a16="http://schemas.microsoft.com/office/drawing/2014/main" id="{73DB93A0-11B3-B178-2F2A-1BCD1CEEAF51}"/>
              </a:ext>
            </a:extLst>
          </p:cNvPr>
          <p:cNvSpPr txBox="1"/>
          <p:nvPr/>
        </p:nvSpPr>
        <p:spPr>
          <a:xfrm>
            <a:off x="731910" y="916779"/>
            <a:ext cx="10012290"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工作：</a:t>
            </a:r>
            <a:r>
              <a:rPr lang="en-US" altLang="zh-CN" dirty="0">
                <a:latin typeface="+mn-ea"/>
              </a:rPr>
              <a:t>GAN Cocktail: mixing GANs without dataset access</a:t>
            </a:r>
            <a:r>
              <a:rPr lang="zh-CN" altLang="en-US" dirty="0">
                <a:latin typeface="+mn-ea"/>
              </a:rPr>
              <a:t>（</a:t>
            </a:r>
            <a:r>
              <a:rPr lang="en-US" altLang="zh-CN" dirty="0"/>
              <a:t> </a:t>
            </a:r>
            <a:r>
              <a:rPr lang="en-US" altLang="zh-CN" dirty="0" err="1"/>
              <a:t>Omri</a:t>
            </a:r>
            <a:r>
              <a:rPr lang="en-US" altLang="zh-CN" dirty="0"/>
              <a:t> </a:t>
            </a:r>
            <a:r>
              <a:rPr lang="en-US" altLang="zh-CN" dirty="0" err="1"/>
              <a:t>Avrahami</a:t>
            </a:r>
            <a:r>
              <a:rPr lang="en-US" altLang="zh-CN" dirty="0"/>
              <a:t> et al.</a:t>
            </a:r>
            <a:r>
              <a:rPr lang="zh-CN" altLang="en-US" dirty="0">
                <a:latin typeface="+mn-ea"/>
              </a:rPr>
              <a:t>）</a:t>
            </a:r>
            <a:endParaRPr lang="zh-CN" altLang="en-US" dirty="0"/>
          </a:p>
        </p:txBody>
      </p:sp>
    </p:spTree>
    <p:extLst>
      <p:ext uri="{BB962C8B-B14F-4D97-AF65-F5344CB8AC3E}">
        <p14:creationId xmlns:p14="http://schemas.microsoft.com/office/powerpoint/2010/main" val="609886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方法</a:t>
            </a:r>
          </a:p>
        </p:txBody>
      </p:sp>
      <p:pic>
        <p:nvPicPr>
          <p:cNvPr id="2" name="图片 1" descr="图示&#10;&#10;描述已自动生成">
            <a:extLst>
              <a:ext uri="{FF2B5EF4-FFF2-40B4-BE49-F238E27FC236}">
                <a16:creationId xmlns:a16="http://schemas.microsoft.com/office/drawing/2014/main" id="{8F6CD28A-E54F-84D2-2954-D49185C2D4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062" y="3914485"/>
            <a:ext cx="4522554" cy="2676067"/>
          </a:xfrm>
          <a:prstGeom prst="rect">
            <a:avLst/>
          </a:prstGeom>
        </p:spPr>
      </p:pic>
      <p:pic>
        <p:nvPicPr>
          <p:cNvPr id="4" name="图片 3" descr="图示&#10;&#10;描述已自动生成">
            <a:extLst>
              <a:ext uri="{FF2B5EF4-FFF2-40B4-BE49-F238E27FC236}">
                <a16:creationId xmlns:a16="http://schemas.microsoft.com/office/drawing/2014/main" id="{65A71543-7FAE-D03E-B71F-816CBEDA99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205" y="1144638"/>
            <a:ext cx="4526411" cy="2676067"/>
          </a:xfrm>
          <a:prstGeom prst="rect">
            <a:avLst/>
          </a:prstGeom>
        </p:spPr>
      </p:pic>
      <p:sp>
        <p:nvSpPr>
          <p:cNvPr id="8" name="文本框 7">
            <a:extLst>
              <a:ext uri="{FF2B5EF4-FFF2-40B4-BE49-F238E27FC236}">
                <a16:creationId xmlns:a16="http://schemas.microsoft.com/office/drawing/2014/main" id="{0812154E-EF67-202E-5C91-0D7777580D85}"/>
              </a:ext>
            </a:extLst>
          </p:cNvPr>
          <p:cNvSpPr txBox="1"/>
          <p:nvPr/>
        </p:nvSpPr>
        <p:spPr>
          <a:xfrm>
            <a:off x="5392674" y="1929326"/>
            <a:ext cx="5808726" cy="3970318"/>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两阶段方法：与</a:t>
            </a:r>
            <a:r>
              <a:rPr lang="en-US" altLang="zh-CN" b="1" dirty="0" err="1">
                <a:solidFill>
                  <a:srgbClr val="268F9C"/>
                </a:solidFill>
                <a:latin typeface="+mn-ea"/>
              </a:rPr>
              <a:t>FuseLLM</a:t>
            </a:r>
            <a:r>
              <a:rPr lang="zh-CN" altLang="en-US" b="1" dirty="0">
                <a:solidFill>
                  <a:srgbClr val="268F9C"/>
                </a:solidFill>
                <a:latin typeface="+mn-ea"/>
              </a:rPr>
              <a:t>直接将多个知识直接融合不同，</a:t>
            </a:r>
            <a:r>
              <a:rPr lang="en-US" altLang="zh-CN" b="1" dirty="0" err="1">
                <a:solidFill>
                  <a:srgbClr val="268F9C"/>
                </a:solidFill>
                <a:latin typeface="+mn-ea"/>
              </a:rPr>
              <a:t>FuseChat</a:t>
            </a:r>
            <a:r>
              <a:rPr lang="zh-CN" altLang="en-US" b="1" dirty="0">
                <a:solidFill>
                  <a:srgbClr val="268F9C"/>
                </a:solidFill>
                <a:latin typeface="+mn-ea"/>
              </a:rPr>
              <a:t>先知识融合再模型合并</a:t>
            </a:r>
            <a:endParaRPr lang="en-US" altLang="zh-CN" b="1" dirty="0">
              <a:solidFill>
                <a:srgbClr val="268F9C"/>
              </a:solidFill>
              <a:latin typeface="+mn-ea"/>
            </a:endParaRPr>
          </a:p>
          <a:p>
            <a:pPr marL="285750" indent="-285750">
              <a:buFont typeface="Wingdings" panose="05000000000000000000" pitchFamily="2" charset="2"/>
              <a:buChar char="Ø"/>
            </a:pPr>
            <a:endParaRPr lang="en-US" altLang="zh-CN" b="1" dirty="0">
              <a:solidFill>
                <a:srgbClr val="268F9C"/>
              </a:solidFill>
              <a:latin typeface="+mn-ea"/>
            </a:endParaRPr>
          </a:p>
          <a:p>
            <a:pPr marL="285750" indent="-285750">
              <a:buFont typeface="Wingdings" panose="05000000000000000000" pitchFamily="2" charset="2"/>
              <a:buChar char="Ø"/>
            </a:pPr>
            <a:endParaRPr lang="en-US" altLang="zh-CN" b="1" dirty="0">
              <a:solidFill>
                <a:srgbClr val="268F9C"/>
              </a:solidFill>
              <a:latin typeface="+mn-ea"/>
            </a:endParaRPr>
          </a:p>
          <a:p>
            <a:pPr marL="285750" indent="-285750">
              <a:buFont typeface="Wingdings" panose="05000000000000000000" pitchFamily="2" charset="2"/>
              <a:buChar char="Ø"/>
            </a:pPr>
            <a:r>
              <a:rPr lang="zh-CN" altLang="en-US" b="1" dirty="0">
                <a:solidFill>
                  <a:srgbClr val="268F9C"/>
                </a:solidFill>
                <a:latin typeface="+mn-ea"/>
              </a:rPr>
              <a:t>知识融合：</a:t>
            </a:r>
            <a:endParaRPr lang="en-US" altLang="zh-CN" b="1" dirty="0">
              <a:solidFill>
                <a:srgbClr val="268F9C"/>
              </a:solidFill>
              <a:latin typeface="+mn-ea"/>
            </a:endParaRPr>
          </a:p>
          <a:p>
            <a:pPr marL="285750" indent="-285750">
              <a:buFont typeface="Wingdings" panose="05000000000000000000" pitchFamily="2" charset="2"/>
              <a:buChar char="Ø"/>
            </a:pPr>
            <a:endParaRPr lang="en-US" altLang="zh-CN" b="1" dirty="0">
              <a:solidFill>
                <a:srgbClr val="268F9C"/>
              </a:solidFill>
              <a:latin typeface="+mn-ea"/>
            </a:endParaRPr>
          </a:p>
          <a:p>
            <a:pPr marL="742950" lvl="1" indent="-285750">
              <a:buFont typeface="Arial" panose="020B0604020202020204" pitchFamily="34" charset="0"/>
              <a:buChar char="•"/>
            </a:pPr>
            <a:r>
              <a:rPr lang="zh-CN" altLang="en-US" dirty="0">
                <a:latin typeface="+mn-ea"/>
              </a:rPr>
              <a:t>选择一个模型作为中心模型，并其他模型与其进行两两知识融合形成多个目标模型</a:t>
            </a:r>
            <a:endParaRPr lang="en-US" altLang="zh-CN" dirty="0">
              <a:latin typeface="+mn-ea"/>
            </a:endParaRPr>
          </a:p>
          <a:p>
            <a:pPr marL="742950" lvl="1" indent="-285750">
              <a:buFont typeface="Arial" panose="020B0604020202020204" pitchFamily="34" charset="0"/>
              <a:buChar char="•"/>
            </a:pPr>
            <a:endParaRPr lang="en-US" altLang="zh-CN" dirty="0">
              <a:latin typeface="+mn-ea"/>
            </a:endParaRPr>
          </a:p>
          <a:p>
            <a:pPr marL="742950" lvl="1" indent="-285750">
              <a:buFont typeface="Arial" panose="020B0604020202020204" pitchFamily="34" charset="0"/>
              <a:buChar char="•"/>
            </a:pPr>
            <a:endParaRPr lang="en-US" altLang="zh-CN" dirty="0">
              <a:latin typeface="+mn-ea"/>
            </a:endParaRPr>
          </a:p>
          <a:p>
            <a:pPr marL="285750" indent="-285750">
              <a:buFont typeface="Wingdings" panose="05000000000000000000" pitchFamily="2" charset="2"/>
              <a:buChar char="Ø"/>
            </a:pPr>
            <a:r>
              <a:rPr lang="zh-CN" altLang="en-US" b="1" dirty="0">
                <a:solidFill>
                  <a:srgbClr val="268F9C"/>
                </a:solidFill>
                <a:latin typeface="+mn-ea"/>
              </a:rPr>
              <a:t>模型融合：</a:t>
            </a:r>
            <a:endParaRPr lang="en-US" altLang="zh-CN" b="1" dirty="0">
              <a:solidFill>
                <a:srgbClr val="268F9C"/>
              </a:solidFill>
              <a:latin typeface="+mn-ea"/>
            </a:endParaRPr>
          </a:p>
          <a:p>
            <a:pPr marL="285750" indent="-285750">
              <a:buFont typeface="Wingdings" panose="05000000000000000000" pitchFamily="2" charset="2"/>
              <a:buChar char="Ø"/>
            </a:pPr>
            <a:endParaRPr lang="en-US" altLang="zh-CN" b="1" dirty="0">
              <a:solidFill>
                <a:srgbClr val="268F9C"/>
              </a:solidFill>
              <a:latin typeface="+mn-ea"/>
            </a:endParaRPr>
          </a:p>
          <a:p>
            <a:pPr marL="742950" lvl="1" indent="-285750">
              <a:buFont typeface="Arial" panose="020B0604020202020204" pitchFamily="34" charset="0"/>
              <a:buChar char="•"/>
            </a:pPr>
            <a:r>
              <a:rPr lang="zh-CN" altLang="en-US" dirty="0">
                <a:latin typeface="+mn-ea"/>
              </a:rPr>
              <a:t>将多个目标模型通过一个算法在权重空间内进行合并</a:t>
            </a:r>
            <a:endParaRPr lang="en-US" altLang="zh-CN" dirty="0">
              <a:latin typeface="+mn-ea"/>
            </a:endParaRPr>
          </a:p>
        </p:txBody>
      </p:sp>
    </p:spTree>
    <p:extLst>
      <p:ext uri="{BB962C8B-B14F-4D97-AF65-F5344CB8AC3E}">
        <p14:creationId xmlns:p14="http://schemas.microsoft.com/office/powerpoint/2010/main" val="17763019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方法</a:t>
            </a:r>
          </a:p>
        </p:txBody>
      </p:sp>
      <p:sp>
        <p:nvSpPr>
          <p:cNvPr id="6" name="文本框 5">
            <a:extLst>
              <a:ext uri="{FF2B5EF4-FFF2-40B4-BE49-F238E27FC236}">
                <a16:creationId xmlns:a16="http://schemas.microsoft.com/office/drawing/2014/main" id="{F0043E3D-F648-6EBE-B484-8C718080157A}"/>
              </a:ext>
            </a:extLst>
          </p:cNvPr>
          <p:cNvSpPr txBox="1"/>
          <p:nvPr/>
        </p:nvSpPr>
        <p:spPr>
          <a:xfrm>
            <a:off x="628650" y="885182"/>
            <a:ext cx="6103620"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知识融合</a:t>
            </a:r>
            <a:endParaRPr lang="zh-CN" altLang="en-US" dirty="0"/>
          </a:p>
        </p:txBody>
      </p:sp>
      <p:sp>
        <p:nvSpPr>
          <p:cNvPr id="4" name="文本框 3">
            <a:extLst>
              <a:ext uri="{FF2B5EF4-FFF2-40B4-BE49-F238E27FC236}">
                <a16:creationId xmlns:a16="http://schemas.microsoft.com/office/drawing/2014/main" id="{FF72D1C7-2278-07BE-08A4-C579C7E4830D}"/>
              </a:ext>
            </a:extLst>
          </p:cNvPr>
          <p:cNvSpPr txBox="1"/>
          <p:nvPr/>
        </p:nvSpPr>
        <p:spPr>
          <a:xfrm>
            <a:off x="628650" y="1325333"/>
            <a:ext cx="4552950" cy="338554"/>
          </a:xfrm>
          <a:prstGeom prst="rect">
            <a:avLst/>
          </a:prstGeom>
          <a:noFill/>
        </p:spPr>
        <p:txBody>
          <a:bodyPr wrap="square">
            <a:spAutoFit/>
          </a:bodyPr>
          <a:lstStyle/>
          <a:p>
            <a:pPr marL="742950" lvl="1" indent="-285750">
              <a:buFont typeface="Arial" panose="020B0604020202020204" pitchFamily="34" charset="0"/>
              <a:buChar char="•"/>
            </a:pPr>
            <a:r>
              <a:rPr lang="zh-CN" altLang="en-US" sz="1600" dirty="0">
                <a:latin typeface="+mn-ea"/>
              </a:rPr>
              <a:t>序列对齐（</a:t>
            </a:r>
            <a:r>
              <a:rPr lang="en-US" altLang="zh-CN" sz="1600" dirty="0">
                <a:latin typeface="+mn-ea"/>
              </a:rPr>
              <a:t>sequence alignment</a:t>
            </a:r>
            <a:r>
              <a:rPr lang="zh-CN" altLang="en-US" sz="1600" dirty="0">
                <a:latin typeface="+mn-ea"/>
              </a:rPr>
              <a:t>）</a:t>
            </a:r>
            <a:endParaRPr lang="en-US" altLang="zh-CN" sz="1600" dirty="0">
              <a:latin typeface="+mn-ea"/>
            </a:endParaRPr>
          </a:p>
        </p:txBody>
      </p:sp>
      <p:sp>
        <p:nvSpPr>
          <p:cNvPr id="7" name="文本框 6">
            <a:extLst>
              <a:ext uri="{FF2B5EF4-FFF2-40B4-BE49-F238E27FC236}">
                <a16:creationId xmlns:a16="http://schemas.microsoft.com/office/drawing/2014/main" id="{38CFE212-E2A7-1620-A21E-C2BBB84B3DED}"/>
              </a:ext>
            </a:extLst>
          </p:cNvPr>
          <p:cNvSpPr txBox="1"/>
          <p:nvPr/>
        </p:nvSpPr>
        <p:spPr>
          <a:xfrm>
            <a:off x="628650" y="4198545"/>
            <a:ext cx="4431030" cy="338554"/>
          </a:xfrm>
          <a:prstGeom prst="rect">
            <a:avLst/>
          </a:prstGeom>
          <a:noFill/>
        </p:spPr>
        <p:txBody>
          <a:bodyPr wrap="square">
            <a:spAutoFit/>
          </a:bodyPr>
          <a:lstStyle/>
          <a:p>
            <a:pPr marL="742950" lvl="1" indent="-285750">
              <a:buFont typeface="Arial" panose="020B0604020202020204" pitchFamily="34" charset="0"/>
              <a:buChar char="•"/>
            </a:pPr>
            <a:r>
              <a:rPr lang="zh-CN" altLang="en-US" sz="1600" dirty="0">
                <a:latin typeface="+mn-ea"/>
              </a:rPr>
              <a:t>分布对齐（</a:t>
            </a:r>
            <a:r>
              <a:rPr lang="en-US" altLang="zh-CN" sz="1600" dirty="0">
                <a:latin typeface="+mn-ea"/>
              </a:rPr>
              <a:t>distribution alignment</a:t>
            </a:r>
            <a:r>
              <a:rPr lang="zh-CN" altLang="en-US" sz="1600" dirty="0">
                <a:latin typeface="+mn-ea"/>
              </a:rPr>
              <a:t>）</a:t>
            </a:r>
            <a:endParaRPr lang="en-US" altLang="zh-CN" sz="1600" dirty="0">
              <a:latin typeface="+mn-ea"/>
            </a:endParaRPr>
          </a:p>
        </p:txBody>
      </p:sp>
      <p:pic>
        <p:nvPicPr>
          <p:cNvPr id="16" name="图片 15" descr="文本&#10;&#10;描述已自动生成">
            <a:extLst>
              <a:ext uri="{FF2B5EF4-FFF2-40B4-BE49-F238E27FC236}">
                <a16:creationId xmlns:a16="http://schemas.microsoft.com/office/drawing/2014/main" id="{D5307BE0-2649-EEC4-6347-7CC9549658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408" y="2073260"/>
            <a:ext cx="5350035" cy="1575422"/>
          </a:xfrm>
          <a:prstGeom prst="rect">
            <a:avLst/>
          </a:prstGeom>
        </p:spPr>
      </p:pic>
      <p:grpSp>
        <p:nvGrpSpPr>
          <p:cNvPr id="19" name="组合 18">
            <a:extLst>
              <a:ext uri="{FF2B5EF4-FFF2-40B4-BE49-F238E27FC236}">
                <a16:creationId xmlns:a16="http://schemas.microsoft.com/office/drawing/2014/main" id="{5C0D32BA-0B54-6624-6D96-9DB269FBE704}"/>
              </a:ext>
            </a:extLst>
          </p:cNvPr>
          <p:cNvGrpSpPr/>
          <p:nvPr/>
        </p:nvGrpSpPr>
        <p:grpSpPr>
          <a:xfrm>
            <a:off x="6732270" y="1525572"/>
            <a:ext cx="5099024" cy="2488424"/>
            <a:chOff x="6732270" y="1525572"/>
            <a:chExt cx="5099024" cy="2488424"/>
          </a:xfrm>
        </p:grpSpPr>
        <p:sp>
          <p:nvSpPr>
            <p:cNvPr id="22" name="矩形: 圆角 21">
              <a:extLst>
                <a:ext uri="{FF2B5EF4-FFF2-40B4-BE49-F238E27FC236}">
                  <a16:creationId xmlns:a16="http://schemas.microsoft.com/office/drawing/2014/main" id="{0E9740FC-2364-ED7A-0F2F-1B9D42B04046}"/>
                </a:ext>
              </a:extLst>
            </p:cNvPr>
            <p:cNvSpPr/>
            <p:nvPr/>
          </p:nvSpPr>
          <p:spPr>
            <a:xfrm>
              <a:off x="6732270" y="2408293"/>
              <a:ext cx="2363822" cy="508478"/>
            </a:xfrm>
            <a:prstGeom prst="roundRect">
              <a:avLst/>
            </a:prstGeom>
            <a:ln/>
          </p:spPr>
          <p:style>
            <a:lnRef idx="2">
              <a:schemeClr val="accent4"/>
            </a:lnRef>
            <a:fillRef idx="1">
              <a:schemeClr val="lt1"/>
            </a:fillRef>
            <a:effectRef idx="0">
              <a:schemeClr val="accent4"/>
            </a:effectRef>
            <a:fontRef idx="minor">
              <a:schemeClr val="dk1"/>
            </a:fontRef>
          </p:style>
          <p:txBody>
            <a:bodyPr lIns="0" tIns="0" rIns="0" bIns="0" rtlCol="0" anchor="ctr" anchorCtr="0"/>
            <a:lstStyle/>
            <a:p>
              <a:pPr algn="ctr"/>
              <a:r>
                <a:rPr lang="en-US" altLang="zh-CN" sz="1400" dirty="0">
                  <a:latin typeface="+mn-ea"/>
                </a:rPr>
                <a:t>A, beautiful, flower</a:t>
              </a:r>
            </a:p>
          </p:txBody>
        </p:sp>
        <p:sp>
          <p:nvSpPr>
            <p:cNvPr id="23" name="矩形: 圆角 22">
              <a:extLst>
                <a:ext uri="{FF2B5EF4-FFF2-40B4-BE49-F238E27FC236}">
                  <a16:creationId xmlns:a16="http://schemas.microsoft.com/office/drawing/2014/main" id="{417FA87A-B711-433E-A4D4-045464A416A5}"/>
                </a:ext>
              </a:extLst>
            </p:cNvPr>
            <p:cNvSpPr/>
            <p:nvPr/>
          </p:nvSpPr>
          <p:spPr>
            <a:xfrm>
              <a:off x="8049639" y="1525572"/>
              <a:ext cx="2520242" cy="433088"/>
            </a:xfrm>
            <a:prstGeom prst="roundRect">
              <a:avLst/>
            </a:prstGeom>
            <a:ln/>
          </p:spPr>
          <p:style>
            <a:lnRef idx="2">
              <a:schemeClr val="accent4"/>
            </a:lnRef>
            <a:fillRef idx="1">
              <a:schemeClr val="lt1"/>
            </a:fillRef>
            <a:effectRef idx="0">
              <a:schemeClr val="accent4"/>
            </a:effectRef>
            <a:fontRef idx="minor">
              <a:schemeClr val="dk1"/>
            </a:fontRef>
          </p:style>
          <p:txBody>
            <a:bodyPr lIns="0" tIns="0" rIns="0" bIns="0" rtlCol="0" anchor="ctr" anchorCtr="0"/>
            <a:lstStyle/>
            <a:p>
              <a:pPr algn="ctr"/>
              <a:r>
                <a:rPr lang="en-US" altLang="zh-CN" sz="1400" dirty="0">
                  <a:latin typeface="+mn-ea"/>
                </a:rPr>
                <a:t>A beautiful flower</a:t>
              </a:r>
            </a:p>
          </p:txBody>
        </p:sp>
        <p:sp>
          <p:nvSpPr>
            <p:cNvPr id="25" name="矩形: 圆角 24">
              <a:extLst>
                <a:ext uri="{FF2B5EF4-FFF2-40B4-BE49-F238E27FC236}">
                  <a16:creationId xmlns:a16="http://schemas.microsoft.com/office/drawing/2014/main" id="{45754CDE-7141-7C00-FB9A-F96D9993CE05}"/>
                </a:ext>
              </a:extLst>
            </p:cNvPr>
            <p:cNvSpPr/>
            <p:nvPr/>
          </p:nvSpPr>
          <p:spPr>
            <a:xfrm>
              <a:off x="9467472" y="2408293"/>
              <a:ext cx="2363822" cy="508478"/>
            </a:xfrm>
            <a:prstGeom prst="roundRect">
              <a:avLst/>
            </a:prstGeom>
            <a:ln/>
          </p:spPr>
          <p:style>
            <a:lnRef idx="2">
              <a:schemeClr val="accent4"/>
            </a:lnRef>
            <a:fillRef idx="1">
              <a:schemeClr val="lt1"/>
            </a:fillRef>
            <a:effectRef idx="0">
              <a:schemeClr val="accent4"/>
            </a:effectRef>
            <a:fontRef idx="minor">
              <a:schemeClr val="dk1"/>
            </a:fontRef>
          </p:style>
          <p:txBody>
            <a:bodyPr lIns="0" tIns="0" rIns="0" bIns="0" rtlCol="0" anchor="ctr" anchorCtr="0"/>
            <a:lstStyle/>
            <a:p>
              <a:pPr algn="ctr"/>
              <a:r>
                <a:rPr lang="en-US" altLang="zh-CN" sz="1400" dirty="0">
                  <a:latin typeface="+mn-ea"/>
                </a:rPr>
                <a:t>A, beautiful, flow, er</a:t>
              </a:r>
            </a:p>
          </p:txBody>
        </p:sp>
        <p:cxnSp>
          <p:nvCxnSpPr>
            <p:cNvPr id="27" name="直接连接符 26">
              <a:extLst>
                <a:ext uri="{FF2B5EF4-FFF2-40B4-BE49-F238E27FC236}">
                  <a16:creationId xmlns:a16="http://schemas.microsoft.com/office/drawing/2014/main" id="{CF6BED48-6D25-A385-E38F-45276B459CAE}"/>
                </a:ext>
              </a:extLst>
            </p:cNvPr>
            <p:cNvCxnSpPr>
              <a:stCxn id="23" idx="2"/>
              <a:endCxn id="22" idx="0"/>
            </p:cNvCxnSpPr>
            <p:nvPr/>
          </p:nvCxnSpPr>
          <p:spPr>
            <a:xfrm flipH="1">
              <a:off x="7914181" y="1958660"/>
              <a:ext cx="1395579" cy="44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8E662614-491B-9EE2-7A40-38178FB1EA04}"/>
                </a:ext>
              </a:extLst>
            </p:cNvPr>
            <p:cNvCxnSpPr>
              <a:stCxn id="23" idx="2"/>
              <a:endCxn id="25" idx="0"/>
            </p:cNvCxnSpPr>
            <p:nvPr/>
          </p:nvCxnSpPr>
          <p:spPr>
            <a:xfrm>
              <a:off x="9309760" y="1958660"/>
              <a:ext cx="1339623" cy="449633"/>
            </a:xfrm>
            <a:prstGeom prst="line">
              <a:avLst/>
            </a:prstGeom>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7CAA95C3-BBC2-F8FC-9C30-8369BC5783FA}"/>
                </a:ext>
              </a:extLst>
            </p:cNvPr>
            <p:cNvSpPr txBox="1"/>
            <p:nvPr/>
          </p:nvSpPr>
          <p:spPr>
            <a:xfrm>
              <a:off x="6977124" y="2053250"/>
              <a:ext cx="2145030" cy="276999"/>
            </a:xfrm>
            <a:prstGeom prst="rect">
              <a:avLst/>
            </a:prstGeom>
            <a:noFill/>
          </p:spPr>
          <p:txBody>
            <a:bodyPr wrap="square">
              <a:spAutoFit/>
            </a:bodyPr>
            <a:lstStyle/>
            <a:p>
              <a:pPr lvl="1"/>
              <a:r>
                <a:rPr lang="en-US" altLang="zh-CN" sz="1200" dirty="0">
                  <a:latin typeface="+mn-ea"/>
                </a:rPr>
                <a:t>Tokenizer A</a:t>
              </a:r>
            </a:p>
          </p:txBody>
        </p:sp>
        <p:sp>
          <p:nvSpPr>
            <p:cNvPr id="31" name="文本框 30">
              <a:extLst>
                <a:ext uri="{FF2B5EF4-FFF2-40B4-BE49-F238E27FC236}">
                  <a16:creationId xmlns:a16="http://schemas.microsoft.com/office/drawing/2014/main" id="{A79B6DEC-2416-A888-40CD-6ABC40CF0CD8}"/>
                </a:ext>
              </a:extLst>
            </p:cNvPr>
            <p:cNvSpPr txBox="1"/>
            <p:nvPr/>
          </p:nvSpPr>
          <p:spPr>
            <a:xfrm>
              <a:off x="9645805" y="2044976"/>
              <a:ext cx="2145030" cy="276999"/>
            </a:xfrm>
            <a:prstGeom prst="rect">
              <a:avLst/>
            </a:prstGeom>
            <a:noFill/>
          </p:spPr>
          <p:txBody>
            <a:bodyPr wrap="square">
              <a:spAutoFit/>
            </a:bodyPr>
            <a:lstStyle/>
            <a:p>
              <a:pPr lvl="1"/>
              <a:r>
                <a:rPr lang="en-US" altLang="zh-CN" sz="1200" dirty="0">
                  <a:latin typeface="+mn-ea"/>
                </a:rPr>
                <a:t>Tokenizer B</a:t>
              </a:r>
            </a:p>
          </p:txBody>
        </p:sp>
        <p:sp>
          <p:nvSpPr>
            <p:cNvPr id="32" name="矩形: 圆角 31">
              <a:extLst>
                <a:ext uri="{FF2B5EF4-FFF2-40B4-BE49-F238E27FC236}">
                  <a16:creationId xmlns:a16="http://schemas.microsoft.com/office/drawing/2014/main" id="{D1251567-B575-56CC-31A3-3D49AB8D9771}"/>
                </a:ext>
              </a:extLst>
            </p:cNvPr>
            <p:cNvSpPr/>
            <p:nvPr/>
          </p:nvSpPr>
          <p:spPr>
            <a:xfrm>
              <a:off x="6919985" y="3580908"/>
              <a:ext cx="4779550" cy="433088"/>
            </a:xfrm>
            <a:prstGeom prst="roundRect">
              <a:avLst/>
            </a:prstGeom>
            <a:ln/>
          </p:spPr>
          <p:style>
            <a:lnRef idx="2">
              <a:schemeClr val="accent4"/>
            </a:lnRef>
            <a:fillRef idx="1">
              <a:schemeClr val="lt1"/>
            </a:fillRef>
            <a:effectRef idx="0">
              <a:schemeClr val="accent4"/>
            </a:effectRef>
            <a:fontRef idx="minor">
              <a:schemeClr val="dk1"/>
            </a:fontRef>
          </p:style>
          <p:txBody>
            <a:bodyPr lIns="0" tIns="0" rIns="0" bIns="0" rtlCol="0" anchor="ctr" anchorCtr="0"/>
            <a:lstStyle/>
            <a:p>
              <a:pPr algn="ctr"/>
              <a:r>
                <a:rPr lang="en-US" altLang="zh-CN" sz="1400" dirty="0">
                  <a:latin typeface="+mn-ea"/>
                </a:rPr>
                <a:t>[(A), (A)], [(beautiful) , (beautiful)], [(flower), </a:t>
              </a:r>
              <a:r>
                <a:rPr lang="zh-CN" altLang="en-US" sz="1400" dirty="0">
                  <a:latin typeface="+mn-ea"/>
                </a:rPr>
                <a:t>（</a:t>
              </a:r>
              <a:r>
                <a:rPr lang="en-US" altLang="zh-CN" sz="1400" dirty="0">
                  <a:latin typeface="+mn-ea"/>
                </a:rPr>
                <a:t>flow, er)]</a:t>
              </a:r>
            </a:p>
          </p:txBody>
        </p:sp>
        <p:cxnSp>
          <p:nvCxnSpPr>
            <p:cNvPr id="33" name="直接连接符 32">
              <a:extLst>
                <a:ext uri="{FF2B5EF4-FFF2-40B4-BE49-F238E27FC236}">
                  <a16:creationId xmlns:a16="http://schemas.microsoft.com/office/drawing/2014/main" id="{88B7C49E-8470-24FA-C47E-E26A23DF3B46}"/>
                </a:ext>
              </a:extLst>
            </p:cNvPr>
            <p:cNvCxnSpPr>
              <a:cxnSpLocks/>
              <a:stCxn id="22" idx="2"/>
              <a:endCxn id="32" idx="0"/>
            </p:cNvCxnSpPr>
            <p:nvPr/>
          </p:nvCxnSpPr>
          <p:spPr>
            <a:xfrm>
              <a:off x="7914181" y="2916771"/>
              <a:ext cx="1395579" cy="66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0CFCC174-F0E4-045C-B7D3-53DBA2436030}"/>
                </a:ext>
              </a:extLst>
            </p:cNvPr>
            <p:cNvCxnSpPr>
              <a:cxnSpLocks/>
              <a:stCxn id="25" idx="2"/>
              <a:endCxn id="32" idx="0"/>
            </p:cNvCxnSpPr>
            <p:nvPr/>
          </p:nvCxnSpPr>
          <p:spPr>
            <a:xfrm flipH="1">
              <a:off x="9309760" y="2916771"/>
              <a:ext cx="1339623" cy="664137"/>
            </a:xfrm>
            <a:prstGeom prst="line">
              <a:avLst/>
            </a:prstGeom>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63A03E52-0F89-2002-8305-EA152CBFD90A}"/>
                </a:ext>
              </a:extLst>
            </p:cNvPr>
            <p:cNvSpPr txBox="1"/>
            <p:nvPr/>
          </p:nvSpPr>
          <p:spPr>
            <a:xfrm>
              <a:off x="8573290" y="3160745"/>
              <a:ext cx="2145030" cy="276999"/>
            </a:xfrm>
            <a:prstGeom prst="rect">
              <a:avLst/>
            </a:prstGeom>
            <a:noFill/>
          </p:spPr>
          <p:txBody>
            <a:bodyPr wrap="square">
              <a:spAutoFit/>
            </a:bodyPr>
            <a:lstStyle/>
            <a:p>
              <a:pPr lvl="1"/>
              <a:r>
                <a:rPr lang="en-US" altLang="zh-CN" sz="1200" dirty="0">
                  <a:latin typeface="+mn-ea"/>
                </a:rPr>
                <a:t>align</a:t>
              </a:r>
            </a:p>
          </p:txBody>
        </p:sp>
      </p:grpSp>
      <p:pic>
        <p:nvPicPr>
          <p:cNvPr id="44" name="图片 43" descr="图表, 图示, 箱线图&#10;&#10;描述已自动生成">
            <a:extLst>
              <a:ext uri="{FF2B5EF4-FFF2-40B4-BE49-F238E27FC236}">
                <a16:creationId xmlns:a16="http://schemas.microsoft.com/office/drawing/2014/main" id="{FD017A80-F02C-08D5-F2FE-B757B8EB6A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8408" y="4750686"/>
            <a:ext cx="10435522" cy="1661707"/>
          </a:xfrm>
          <a:prstGeom prst="rect">
            <a:avLst/>
          </a:prstGeom>
        </p:spPr>
      </p:pic>
      <p:grpSp>
        <p:nvGrpSpPr>
          <p:cNvPr id="18" name="组合 17">
            <a:extLst>
              <a:ext uri="{FF2B5EF4-FFF2-40B4-BE49-F238E27FC236}">
                <a16:creationId xmlns:a16="http://schemas.microsoft.com/office/drawing/2014/main" id="{1CBBCA66-B017-728F-AB63-A94D8F8C4E07}"/>
              </a:ext>
            </a:extLst>
          </p:cNvPr>
          <p:cNvGrpSpPr/>
          <p:nvPr/>
        </p:nvGrpSpPr>
        <p:grpSpPr>
          <a:xfrm>
            <a:off x="6747561" y="1525572"/>
            <a:ext cx="5099024" cy="2488424"/>
            <a:chOff x="2318651" y="1659251"/>
            <a:chExt cx="5099024" cy="2488424"/>
          </a:xfrm>
        </p:grpSpPr>
        <p:sp>
          <p:nvSpPr>
            <p:cNvPr id="2" name="矩形: 圆角 1">
              <a:extLst>
                <a:ext uri="{FF2B5EF4-FFF2-40B4-BE49-F238E27FC236}">
                  <a16:creationId xmlns:a16="http://schemas.microsoft.com/office/drawing/2014/main" id="{D14A1961-5EB4-9F51-067C-62C68DD6DCE5}"/>
                </a:ext>
              </a:extLst>
            </p:cNvPr>
            <p:cNvSpPr/>
            <p:nvPr/>
          </p:nvSpPr>
          <p:spPr>
            <a:xfrm>
              <a:off x="2318651" y="2541972"/>
              <a:ext cx="2363822" cy="508478"/>
            </a:xfrm>
            <a:prstGeom prst="roundRect">
              <a:avLst/>
            </a:prstGeom>
            <a:ln/>
          </p:spPr>
          <p:style>
            <a:lnRef idx="2">
              <a:schemeClr val="accent4"/>
            </a:lnRef>
            <a:fillRef idx="1">
              <a:schemeClr val="lt1"/>
            </a:fillRef>
            <a:effectRef idx="0">
              <a:schemeClr val="accent4"/>
            </a:effectRef>
            <a:fontRef idx="minor">
              <a:schemeClr val="dk1"/>
            </a:fontRef>
          </p:style>
          <p:txBody>
            <a:bodyPr lIns="0" tIns="0" rIns="0" bIns="0" rtlCol="0" anchor="ctr" anchorCtr="0"/>
            <a:lstStyle/>
            <a:p>
              <a:pPr algn="ctr"/>
              <a:r>
                <a:rPr lang="en-US" altLang="zh-CN" sz="1400" dirty="0">
                  <a:latin typeface="+mn-ea"/>
                </a:rPr>
                <a:t>Good, atmosphere</a:t>
              </a:r>
            </a:p>
          </p:txBody>
        </p:sp>
        <p:sp>
          <p:nvSpPr>
            <p:cNvPr id="5" name="矩形: 圆角 4">
              <a:extLst>
                <a:ext uri="{FF2B5EF4-FFF2-40B4-BE49-F238E27FC236}">
                  <a16:creationId xmlns:a16="http://schemas.microsoft.com/office/drawing/2014/main" id="{805A5247-19F5-1A92-C7BA-9814DCB906CE}"/>
                </a:ext>
              </a:extLst>
            </p:cNvPr>
            <p:cNvSpPr/>
            <p:nvPr/>
          </p:nvSpPr>
          <p:spPr>
            <a:xfrm>
              <a:off x="3636020" y="1659251"/>
              <a:ext cx="2520242" cy="433088"/>
            </a:xfrm>
            <a:prstGeom prst="roundRect">
              <a:avLst/>
            </a:prstGeom>
            <a:ln/>
          </p:spPr>
          <p:style>
            <a:lnRef idx="2">
              <a:schemeClr val="accent4"/>
            </a:lnRef>
            <a:fillRef idx="1">
              <a:schemeClr val="lt1"/>
            </a:fillRef>
            <a:effectRef idx="0">
              <a:schemeClr val="accent4"/>
            </a:effectRef>
            <a:fontRef idx="minor">
              <a:schemeClr val="dk1"/>
            </a:fontRef>
          </p:style>
          <p:txBody>
            <a:bodyPr lIns="0" tIns="0" rIns="0" bIns="0" rtlCol="0" anchor="ctr" anchorCtr="0"/>
            <a:lstStyle/>
            <a:p>
              <a:pPr algn="ctr"/>
              <a:r>
                <a:rPr lang="en-US" altLang="zh-CN" sz="1400" dirty="0">
                  <a:latin typeface="+mn-ea"/>
                </a:rPr>
                <a:t>Good atmosphere</a:t>
              </a:r>
            </a:p>
          </p:txBody>
        </p:sp>
        <p:sp>
          <p:nvSpPr>
            <p:cNvPr id="8" name="矩形: 圆角 7">
              <a:extLst>
                <a:ext uri="{FF2B5EF4-FFF2-40B4-BE49-F238E27FC236}">
                  <a16:creationId xmlns:a16="http://schemas.microsoft.com/office/drawing/2014/main" id="{01C9649F-9BE8-AB79-9766-FBEC1230155D}"/>
                </a:ext>
              </a:extLst>
            </p:cNvPr>
            <p:cNvSpPr/>
            <p:nvPr/>
          </p:nvSpPr>
          <p:spPr>
            <a:xfrm>
              <a:off x="5053853" y="2541972"/>
              <a:ext cx="2363822" cy="508478"/>
            </a:xfrm>
            <a:prstGeom prst="roundRect">
              <a:avLst/>
            </a:prstGeom>
            <a:ln/>
          </p:spPr>
          <p:style>
            <a:lnRef idx="2">
              <a:schemeClr val="accent4"/>
            </a:lnRef>
            <a:fillRef idx="1">
              <a:schemeClr val="lt1"/>
            </a:fillRef>
            <a:effectRef idx="0">
              <a:schemeClr val="accent4"/>
            </a:effectRef>
            <a:fontRef idx="minor">
              <a:schemeClr val="dk1"/>
            </a:fontRef>
          </p:style>
          <p:txBody>
            <a:bodyPr lIns="0" tIns="0" rIns="0" bIns="0" rtlCol="0" anchor="ctr" anchorCtr="0"/>
            <a:lstStyle/>
            <a:p>
              <a:pPr algn="ctr"/>
              <a:r>
                <a:rPr lang="en-US" altLang="zh-CN" sz="1400" dirty="0">
                  <a:latin typeface="+mn-ea"/>
                </a:rPr>
                <a:t>Good, </a:t>
              </a:r>
              <a:r>
                <a:rPr lang="en-US" altLang="zh-CN" sz="1400" dirty="0" err="1">
                  <a:latin typeface="+mn-ea"/>
                </a:rPr>
                <a:t>atmo</a:t>
              </a:r>
              <a:r>
                <a:rPr lang="en-US" altLang="zh-CN" sz="1400" dirty="0">
                  <a:latin typeface="+mn-ea"/>
                </a:rPr>
                <a:t>, sphere</a:t>
              </a:r>
            </a:p>
          </p:txBody>
        </p:sp>
        <p:cxnSp>
          <p:nvCxnSpPr>
            <p:cNvPr id="9" name="直接连接符 8">
              <a:extLst>
                <a:ext uri="{FF2B5EF4-FFF2-40B4-BE49-F238E27FC236}">
                  <a16:creationId xmlns:a16="http://schemas.microsoft.com/office/drawing/2014/main" id="{052138F8-BE1D-5FF0-8C15-A7712DB292EF}"/>
                </a:ext>
              </a:extLst>
            </p:cNvPr>
            <p:cNvCxnSpPr>
              <a:stCxn id="5" idx="2"/>
              <a:endCxn id="2" idx="0"/>
            </p:cNvCxnSpPr>
            <p:nvPr/>
          </p:nvCxnSpPr>
          <p:spPr>
            <a:xfrm flipH="1">
              <a:off x="3500562" y="2092339"/>
              <a:ext cx="1395579" cy="449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D7A3882A-EF7C-C02D-1AAB-17E382F47ABB}"/>
                </a:ext>
              </a:extLst>
            </p:cNvPr>
            <p:cNvCxnSpPr>
              <a:stCxn id="5" idx="2"/>
              <a:endCxn id="8" idx="0"/>
            </p:cNvCxnSpPr>
            <p:nvPr/>
          </p:nvCxnSpPr>
          <p:spPr>
            <a:xfrm>
              <a:off x="4896141" y="2092339"/>
              <a:ext cx="1339623" cy="449633"/>
            </a:xfrm>
            <a:prstGeom prst="line">
              <a:avLst/>
            </a:prstGeom>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E7BEFE66-BE78-D455-8FF5-0627917E450C}"/>
                </a:ext>
              </a:extLst>
            </p:cNvPr>
            <p:cNvSpPr txBox="1"/>
            <p:nvPr/>
          </p:nvSpPr>
          <p:spPr>
            <a:xfrm>
              <a:off x="2563505" y="2186929"/>
              <a:ext cx="2145030" cy="276999"/>
            </a:xfrm>
            <a:prstGeom prst="rect">
              <a:avLst/>
            </a:prstGeom>
            <a:noFill/>
          </p:spPr>
          <p:txBody>
            <a:bodyPr wrap="square">
              <a:spAutoFit/>
            </a:bodyPr>
            <a:lstStyle/>
            <a:p>
              <a:pPr lvl="1"/>
              <a:r>
                <a:rPr lang="en-US" altLang="zh-CN" sz="1200" dirty="0">
                  <a:latin typeface="+mn-ea"/>
                </a:rPr>
                <a:t>Tokenizer A</a:t>
              </a:r>
            </a:p>
          </p:txBody>
        </p:sp>
        <p:sp>
          <p:nvSpPr>
            <p:cNvPr id="12" name="文本框 11">
              <a:extLst>
                <a:ext uri="{FF2B5EF4-FFF2-40B4-BE49-F238E27FC236}">
                  <a16:creationId xmlns:a16="http://schemas.microsoft.com/office/drawing/2014/main" id="{2235D6A8-0FFF-8853-3F69-07ED9C2B387D}"/>
                </a:ext>
              </a:extLst>
            </p:cNvPr>
            <p:cNvSpPr txBox="1"/>
            <p:nvPr/>
          </p:nvSpPr>
          <p:spPr>
            <a:xfrm>
              <a:off x="5232186" y="2178655"/>
              <a:ext cx="2145030" cy="276999"/>
            </a:xfrm>
            <a:prstGeom prst="rect">
              <a:avLst/>
            </a:prstGeom>
            <a:noFill/>
          </p:spPr>
          <p:txBody>
            <a:bodyPr wrap="square">
              <a:spAutoFit/>
            </a:bodyPr>
            <a:lstStyle/>
            <a:p>
              <a:pPr lvl="1"/>
              <a:r>
                <a:rPr lang="en-US" altLang="zh-CN" sz="1200" dirty="0">
                  <a:latin typeface="+mn-ea"/>
                </a:rPr>
                <a:t>Tokenizer B</a:t>
              </a:r>
            </a:p>
          </p:txBody>
        </p:sp>
        <p:sp>
          <p:nvSpPr>
            <p:cNvPr id="13" name="矩形: 圆角 12">
              <a:extLst>
                <a:ext uri="{FF2B5EF4-FFF2-40B4-BE49-F238E27FC236}">
                  <a16:creationId xmlns:a16="http://schemas.microsoft.com/office/drawing/2014/main" id="{0247D303-87AC-D135-FE17-60E7374FB5FE}"/>
                </a:ext>
              </a:extLst>
            </p:cNvPr>
            <p:cNvSpPr/>
            <p:nvPr/>
          </p:nvSpPr>
          <p:spPr>
            <a:xfrm>
              <a:off x="2506366" y="3714587"/>
              <a:ext cx="4779550" cy="433088"/>
            </a:xfrm>
            <a:prstGeom prst="roundRect">
              <a:avLst/>
            </a:prstGeom>
            <a:ln/>
          </p:spPr>
          <p:style>
            <a:lnRef idx="2">
              <a:schemeClr val="accent4"/>
            </a:lnRef>
            <a:fillRef idx="1">
              <a:schemeClr val="lt1"/>
            </a:fillRef>
            <a:effectRef idx="0">
              <a:schemeClr val="accent4"/>
            </a:effectRef>
            <a:fontRef idx="minor">
              <a:schemeClr val="dk1"/>
            </a:fontRef>
          </p:style>
          <p:txBody>
            <a:bodyPr lIns="0" tIns="0" rIns="0" bIns="0" rtlCol="0" anchor="ctr" anchorCtr="0"/>
            <a:lstStyle/>
            <a:p>
              <a:pPr algn="ctr"/>
              <a:r>
                <a:rPr lang="en-US" altLang="zh-CN" sz="1400" dirty="0">
                  <a:latin typeface="+mn-ea"/>
                </a:rPr>
                <a:t>[(Good), (Good, </a:t>
              </a:r>
              <a:r>
                <a:rPr lang="en-US" altLang="zh-CN" sz="1400" dirty="0" err="1">
                  <a:latin typeface="+mn-ea"/>
                </a:rPr>
                <a:t>atmo</a:t>
              </a:r>
              <a:r>
                <a:rPr lang="en-US" altLang="zh-CN" sz="1400" dirty="0">
                  <a:latin typeface="+mn-ea"/>
                </a:rPr>
                <a:t>)], [(atmosphere) , (sphere)]</a:t>
              </a:r>
            </a:p>
          </p:txBody>
        </p:sp>
        <p:cxnSp>
          <p:nvCxnSpPr>
            <p:cNvPr id="14" name="直接连接符 13">
              <a:extLst>
                <a:ext uri="{FF2B5EF4-FFF2-40B4-BE49-F238E27FC236}">
                  <a16:creationId xmlns:a16="http://schemas.microsoft.com/office/drawing/2014/main" id="{B928AAB1-3435-6E38-3ED0-A3791A26D5CC}"/>
                </a:ext>
              </a:extLst>
            </p:cNvPr>
            <p:cNvCxnSpPr>
              <a:cxnSpLocks/>
              <a:stCxn id="2" idx="2"/>
              <a:endCxn id="13" idx="0"/>
            </p:cNvCxnSpPr>
            <p:nvPr/>
          </p:nvCxnSpPr>
          <p:spPr>
            <a:xfrm>
              <a:off x="3500562" y="3050450"/>
              <a:ext cx="1395579" cy="66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62EA24D7-A1D3-F752-A37E-72E4BC5AF787}"/>
                </a:ext>
              </a:extLst>
            </p:cNvPr>
            <p:cNvCxnSpPr>
              <a:cxnSpLocks/>
              <a:stCxn id="8" idx="2"/>
              <a:endCxn id="13" idx="0"/>
            </p:cNvCxnSpPr>
            <p:nvPr/>
          </p:nvCxnSpPr>
          <p:spPr>
            <a:xfrm flipH="1">
              <a:off x="4896141" y="3050450"/>
              <a:ext cx="1339623" cy="664137"/>
            </a:xfrm>
            <a:prstGeom prst="line">
              <a:avLst/>
            </a:prstGeom>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BCFE54F0-1C21-3786-81D0-8CBA2F3D78BE}"/>
                </a:ext>
              </a:extLst>
            </p:cNvPr>
            <p:cNvSpPr txBox="1"/>
            <p:nvPr/>
          </p:nvSpPr>
          <p:spPr>
            <a:xfrm>
              <a:off x="4159671" y="3294424"/>
              <a:ext cx="2145030" cy="276999"/>
            </a:xfrm>
            <a:prstGeom prst="rect">
              <a:avLst/>
            </a:prstGeom>
            <a:noFill/>
          </p:spPr>
          <p:txBody>
            <a:bodyPr wrap="square">
              <a:spAutoFit/>
            </a:bodyPr>
            <a:lstStyle/>
            <a:p>
              <a:pPr lvl="1"/>
              <a:r>
                <a:rPr lang="en-US" altLang="zh-CN" sz="1200" dirty="0">
                  <a:latin typeface="+mn-ea"/>
                </a:rPr>
                <a:t>align</a:t>
              </a:r>
            </a:p>
          </p:txBody>
        </p:sp>
      </p:grpSp>
      <p:pic>
        <p:nvPicPr>
          <p:cNvPr id="50" name="图片 49">
            <a:extLst>
              <a:ext uri="{FF2B5EF4-FFF2-40B4-BE49-F238E27FC236}">
                <a16:creationId xmlns:a16="http://schemas.microsoft.com/office/drawing/2014/main" id="{26EB99BE-729F-8DD2-6F05-6CE8DD45E26E}"/>
              </a:ext>
            </a:extLst>
          </p:cNvPr>
          <p:cNvPicPr>
            <a:picLocks noChangeAspect="1"/>
          </p:cNvPicPr>
          <p:nvPr/>
        </p:nvPicPr>
        <p:blipFill>
          <a:blip r:embed="rId5"/>
          <a:stretch>
            <a:fillRect/>
          </a:stretch>
        </p:blipFill>
        <p:spPr>
          <a:xfrm>
            <a:off x="9638640" y="2140489"/>
            <a:ext cx="2326871" cy="1882361"/>
          </a:xfrm>
          <a:prstGeom prst="rect">
            <a:avLst/>
          </a:prstGeom>
        </p:spPr>
      </p:pic>
      <p:pic>
        <p:nvPicPr>
          <p:cNvPr id="52" name="图片 51">
            <a:extLst>
              <a:ext uri="{FF2B5EF4-FFF2-40B4-BE49-F238E27FC236}">
                <a16:creationId xmlns:a16="http://schemas.microsoft.com/office/drawing/2014/main" id="{36174F66-3639-45F8-2B31-97A5E2B01BC8}"/>
              </a:ext>
            </a:extLst>
          </p:cNvPr>
          <p:cNvPicPr>
            <a:picLocks noChangeAspect="1"/>
          </p:cNvPicPr>
          <p:nvPr/>
        </p:nvPicPr>
        <p:blipFill>
          <a:blip r:embed="rId6"/>
          <a:stretch>
            <a:fillRect/>
          </a:stretch>
        </p:blipFill>
        <p:spPr>
          <a:xfrm>
            <a:off x="6603602" y="2140488"/>
            <a:ext cx="2619733" cy="1882361"/>
          </a:xfrm>
          <a:prstGeom prst="rect">
            <a:avLst/>
          </a:prstGeom>
        </p:spPr>
      </p:pic>
      <p:cxnSp>
        <p:nvCxnSpPr>
          <p:cNvPr id="54" name="直接箭头连接符 53">
            <a:extLst>
              <a:ext uri="{FF2B5EF4-FFF2-40B4-BE49-F238E27FC236}">
                <a16:creationId xmlns:a16="http://schemas.microsoft.com/office/drawing/2014/main" id="{E9E1C111-6109-8F94-52C4-BF0360962057}"/>
              </a:ext>
            </a:extLst>
          </p:cNvPr>
          <p:cNvCxnSpPr>
            <a:stCxn id="52" idx="3"/>
            <a:endCxn id="50" idx="1"/>
          </p:cNvCxnSpPr>
          <p:nvPr/>
        </p:nvCxnSpPr>
        <p:spPr>
          <a:xfrm>
            <a:off x="9223335" y="3081669"/>
            <a:ext cx="41530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60122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19"/>
                                        </p:tgtEl>
                                      </p:cBhvr>
                                    </p:animEffect>
                                    <p:set>
                                      <p:cBhvr>
                                        <p:cTn id="7" dur="1" fill="hold">
                                          <p:stCondLst>
                                            <p:cond delay="499"/>
                                          </p:stCondLst>
                                        </p:cTn>
                                        <p:tgtEl>
                                          <p:spTgt spid="1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nodeType="clickEffect">
                                  <p:stCondLst>
                                    <p:cond delay="0"/>
                                  </p:stCondLst>
                                  <p:childTnLst>
                                    <p:animEffect transition="out" filter="blinds(horizontal)">
                                      <p:cBhvr>
                                        <p:cTn id="16" dur="500"/>
                                        <p:tgtEl>
                                          <p:spTgt spid="18"/>
                                        </p:tgtEl>
                                      </p:cBhvr>
                                    </p:animEffect>
                                    <p:set>
                                      <p:cBhvr>
                                        <p:cTn id="17" dur="1" fill="hold">
                                          <p:stCondLst>
                                            <p:cond delay="499"/>
                                          </p:stCondLst>
                                        </p:cTn>
                                        <p:tgtEl>
                                          <p:spTgt spid="1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fade">
                                      <p:cBhvr>
                                        <p:cTn id="22" dur="500"/>
                                        <p:tgtEl>
                                          <p:spTgt spid="54"/>
                                        </p:tgtEl>
                                      </p:cBhvr>
                                    </p:animEffect>
                                  </p:childTnLst>
                                </p:cTn>
                              </p:par>
                              <p:par>
                                <p:cTn id="23" presetID="10" presetClass="entr" presetSubtype="0" fill="hold" nodeType="withEffect">
                                  <p:stCondLst>
                                    <p:cond delay="0"/>
                                  </p:stCondLst>
                                  <p:childTnLst>
                                    <p:set>
                                      <p:cBhvr>
                                        <p:cTn id="24" dur="1" fill="hold">
                                          <p:stCondLst>
                                            <p:cond delay="0"/>
                                          </p:stCondLst>
                                        </p:cTn>
                                        <p:tgtEl>
                                          <p:spTgt spid="52"/>
                                        </p:tgtEl>
                                        <p:attrNameLst>
                                          <p:attrName>style.visibility</p:attrName>
                                        </p:attrNameLst>
                                      </p:cBhvr>
                                      <p:to>
                                        <p:strVal val="visible"/>
                                      </p:to>
                                    </p:set>
                                    <p:animEffect transition="in" filter="fade">
                                      <p:cBhvr>
                                        <p:cTn id="25" dur="500"/>
                                        <p:tgtEl>
                                          <p:spTgt spid="52"/>
                                        </p:tgtEl>
                                      </p:cBhvr>
                                    </p:animEffect>
                                  </p:childTnLst>
                                </p:cTn>
                              </p:par>
                              <p:par>
                                <p:cTn id="26" presetID="10" presetClass="entr" presetSubtype="0" fill="hold" nodeType="with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fade">
                                      <p:cBhvr>
                                        <p:cTn id="28"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方法</a:t>
            </a:r>
          </a:p>
        </p:txBody>
      </p:sp>
      <p:sp>
        <p:nvSpPr>
          <p:cNvPr id="6" name="文本框 5">
            <a:extLst>
              <a:ext uri="{FF2B5EF4-FFF2-40B4-BE49-F238E27FC236}">
                <a16:creationId xmlns:a16="http://schemas.microsoft.com/office/drawing/2014/main" id="{F0043E3D-F648-6EBE-B484-8C718080157A}"/>
              </a:ext>
            </a:extLst>
          </p:cNvPr>
          <p:cNvSpPr txBox="1"/>
          <p:nvPr/>
        </p:nvSpPr>
        <p:spPr>
          <a:xfrm>
            <a:off x="619506" y="902454"/>
            <a:ext cx="6103620"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知识融合</a:t>
            </a:r>
            <a:endParaRPr lang="zh-CN" altLang="en-US" dirty="0"/>
          </a:p>
        </p:txBody>
      </p:sp>
      <p:sp>
        <p:nvSpPr>
          <p:cNvPr id="9" name="文本框 8">
            <a:extLst>
              <a:ext uri="{FF2B5EF4-FFF2-40B4-BE49-F238E27FC236}">
                <a16:creationId xmlns:a16="http://schemas.microsoft.com/office/drawing/2014/main" id="{6628E699-6C4D-E738-0497-D6BAB827E8A8}"/>
              </a:ext>
            </a:extLst>
          </p:cNvPr>
          <p:cNvSpPr txBox="1"/>
          <p:nvPr/>
        </p:nvSpPr>
        <p:spPr>
          <a:xfrm>
            <a:off x="706120" y="1294083"/>
            <a:ext cx="6106160" cy="369332"/>
          </a:xfrm>
          <a:prstGeom prst="rect">
            <a:avLst/>
          </a:prstGeom>
          <a:noFill/>
        </p:spPr>
        <p:txBody>
          <a:bodyPr wrap="square">
            <a:spAutoFit/>
          </a:bodyPr>
          <a:lstStyle/>
          <a:p>
            <a:pPr lvl="1"/>
            <a:r>
              <a:rPr lang="zh-CN" altLang="en-US" sz="1800" dirty="0">
                <a:latin typeface="+mn-ea"/>
              </a:rPr>
              <a:t>分布对齐（</a:t>
            </a:r>
            <a:r>
              <a:rPr lang="en-US" altLang="zh-CN" sz="1800" dirty="0">
                <a:latin typeface="+mn-ea"/>
              </a:rPr>
              <a:t>distribution alignment</a:t>
            </a:r>
            <a:r>
              <a:rPr lang="zh-CN" altLang="en-US" sz="1800" dirty="0">
                <a:latin typeface="+mn-ea"/>
              </a:rPr>
              <a:t>）</a:t>
            </a:r>
            <a:endParaRPr lang="en-US" altLang="zh-CN" sz="1800" dirty="0">
              <a:latin typeface="+mn-ea"/>
            </a:endParaRPr>
          </a:p>
        </p:txBody>
      </p:sp>
      <p:pic>
        <p:nvPicPr>
          <p:cNvPr id="21" name="图片 20" descr="图示, 表格&#10;&#10;描述已自动生成">
            <a:extLst>
              <a:ext uri="{FF2B5EF4-FFF2-40B4-BE49-F238E27FC236}">
                <a16:creationId xmlns:a16="http://schemas.microsoft.com/office/drawing/2014/main" id="{31C53860-8144-1012-F918-497C270559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040" y="2392629"/>
            <a:ext cx="10698480" cy="2809552"/>
          </a:xfrm>
          <a:prstGeom prst="rect">
            <a:avLst/>
          </a:prstGeom>
        </p:spPr>
      </p:pic>
    </p:spTree>
    <p:extLst>
      <p:ext uri="{BB962C8B-B14F-4D97-AF65-F5344CB8AC3E}">
        <p14:creationId xmlns:p14="http://schemas.microsoft.com/office/powerpoint/2010/main" val="37691379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方法</a:t>
            </a:r>
          </a:p>
        </p:txBody>
      </p:sp>
      <p:sp>
        <p:nvSpPr>
          <p:cNvPr id="6" name="文本框 5">
            <a:extLst>
              <a:ext uri="{FF2B5EF4-FFF2-40B4-BE49-F238E27FC236}">
                <a16:creationId xmlns:a16="http://schemas.microsoft.com/office/drawing/2014/main" id="{F0043E3D-F648-6EBE-B484-8C718080157A}"/>
              </a:ext>
            </a:extLst>
          </p:cNvPr>
          <p:cNvSpPr txBox="1"/>
          <p:nvPr/>
        </p:nvSpPr>
        <p:spPr>
          <a:xfrm>
            <a:off x="619506" y="902454"/>
            <a:ext cx="6103620"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知识融合</a:t>
            </a:r>
            <a:endParaRPr lang="zh-CN" altLang="en-US" dirty="0"/>
          </a:p>
        </p:txBody>
      </p:sp>
      <p:sp>
        <p:nvSpPr>
          <p:cNvPr id="9" name="文本框 8">
            <a:extLst>
              <a:ext uri="{FF2B5EF4-FFF2-40B4-BE49-F238E27FC236}">
                <a16:creationId xmlns:a16="http://schemas.microsoft.com/office/drawing/2014/main" id="{6628E699-6C4D-E738-0497-D6BAB827E8A8}"/>
              </a:ext>
            </a:extLst>
          </p:cNvPr>
          <p:cNvSpPr txBox="1"/>
          <p:nvPr/>
        </p:nvSpPr>
        <p:spPr>
          <a:xfrm>
            <a:off x="706120" y="1294083"/>
            <a:ext cx="6106160" cy="369332"/>
          </a:xfrm>
          <a:prstGeom prst="rect">
            <a:avLst/>
          </a:prstGeom>
          <a:noFill/>
        </p:spPr>
        <p:txBody>
          <a:bodyPr wrap="square">
            <a:spAutoFit/>
          </a:bodyPr>
          <a:lstStyle/>
          <a:p>
            <a:pPr lvl="1"/>
            <a:r>
              <a:rPr lang="zh-CN" altLang="en-US" sz="1800" dirty="0">
                <a:latin typeface="+mn-ea"/>
              </a:rPr>
              <a:t>分布对齐（</a:t>
            </a:r>
            <a:r>
              <a:rPr lang="en-US" altLang="zh-CN" sz="1800" dirty="0">
                <a:latin typeface="+mn-ea"/>
              </a:rPr>
              <a:t>distribution alignment</a:t>
            </a:r>
            <a:r>
              <a:rPr lang="zh-CN" altLang="en-US" sz="1800" dirty="0">
                <a:latin typeface="+mn-ea"/>
              </a:rPr>
              <a:t>）</a:t>
            </a:r>
            <a:endParaRPr lang="en-US" altLang="zh-CN" sz="1800" dirty="0">
              <a:latin typeface="+mn-ea"/>
            </a:endParaRPr>
          </a:p>
        </p:txBody>
      </p:sp>
      <p:pic>
        <p:nvPicPr>
          <p:cNvPr id="10" name="图片 9" descr="图示&#10;&#10;描述已自动生成">
            <a:extLst>
              <a:ext uri="{FF2B5EF4-FFF2-40B4-BE49-F238E27FC236}">
                <a16:creationId xmlns:a16="http://schemas.microsoft.com/office/drawing/2014/main" id="{BE129F65-C367-E5EC-75D1-74BA419C2C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0094" y="2262007"/>
            <a:ext cx="10091811" cy="3528261"/>
          </a:xfrm>
          <a:prstGeom prst="rect">
            <a:avLst/>
          </a:prstGeom>
        </p:spPr>
      </p:pic>
    </p:spTree>
    <p:extLst>
      <p:ext uri="{BB962C8B-B14F-4D97-AF65-F5344CB8AC3E}">
        <p14:creationId xmlns:p14="http://schemas.microsoft.com/office/powerpoint/2010/main" val="1406447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方法</a:t>
            </a:r>
          </a:p>
        </p:txBody>
      </p:sp>
      <p:sp>
        <p:nvSpPr>
          <p:cNvPr id="6" name="文本框 5">
            <a:extLst>
              <a:ext uri="{FF2B5EF4-FFF2-40B4-BE49-F238E27FC236}">
                <a16:creationId xmlns:a16="http://schemas.microsoft.com/office/drawing/2014/main" id="{F0043E3D-F648-6EBE-B484-8C718080157A}"/>
              </a:ext>
            </a:extLst>
          </p:cNvPr>
          <p:cNvSpPr txBox="1"/>
          <p:nvPr/>
        </p:nvSpPr>
        <p:spPr>
          <a:xfrm>
            <a:off x="619506" y="902454"/>
            <a:ext cx="6103620"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知识融合</a:t>
            </a:r>
            <a:endParaRPr lang="zh-CN" altLang="en-US" dirty="0"/>
          </a:p>
        </p:txBody>
      </p:sp>
      <p:sp>
        <p:nvSpPr>
          <p:cNvPr id="9" name="文本框 8">
            <a:extLst>
              <a:ext uri="{FF2B5EF4-FFF2-40B4-BE49-F238E27FC236}">
                <a16:creationId xmlns:a16="http://schemas.microsoft.com/office/drawing/2014/main" id="{6628E699-6C4D-E738-0497-D6BAB827E8A8}"/>
              </a:ext>
            </a:extLst>
          </p:cNvPr>
          <p:cNvSpPr txBox="1"/>
          <p:nvPr/>
        </p:nvSpPr>
        <p:spPr>
          <a:xfrm>
            <a:off x="706120" y="1294083"/>
            <a:ext cx="6106160" cy="369332"/>
          </a:xfrm>
          <a:prstGeom prst="rect">
            <a:avLst/>
          </a:prstGeom>
          <a:noFill/>
        </p:spPr>
        <p:txBody>
          <a:bodyPr wrap="square">
            <a:spAutoFit/>
          </a:bodyPr>
          <a:lstStyle/>
          <a:p>
            <a:pPr lvl="1"/>
            <a:r>
              <a:rPr lang="zh-CN" altLang="en-US" sz="1800" dirty="0">
                <a:latin typeface="+mn-ea"/>
              </a:rPr>
              <a:t>分布对齐（</a:t>
            </a:r>
            <a:r>
              <a:rPr lang="en-US" altLang="zh-CN" sz="1800" dirty="0">
                <a:latin typeface="+mn-ea"/>
              </a:rPr>
              <a:t>distribution alignment</a:t>
            </a:r>
            <a:r>
              <a:rPr lang="zh-CN" altLang="en-US" sz="1800" dirty="0">
                <a:latin typeface="+mn-ea"/>
              </a:rPr>
              <a:t>）</a:t>
            </a:r>
            <a:endParaRPr lang="en-US" altLang="zh-CN" sz="1800" dirty="0">
              <a:latin typeface="+mn-ea"/>
            </a:endParaRPr>
          </a:p>
        </p:txBody>
      </p:sp>
      <p:pic>
        <p:nvPicPr>
          <p:cNvPr id="7" name="图片 6" descr="图示&#10;&#10;描述已自动生成">
            <a:extLst>
              <a:ext uri="{FF2B5EF4-FFF2-40B4-BE49-F238E27FC236}">
                <a16:creationId xmlns:a16="http://schemas.microsoft.com/office/drawing/2014/main" id="{2D161E0F-39F7-6288-D3BC-3E1CFA7417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928" y="2301953"/>
            <a:ext cx="9521230" cy="3261964"/>
          </a:xfrm>
          <a:prstGeom prst="rect">
            <a:avLst/>
          </a:prstGeom>
        </p:spPr>
      </p:pic>
    </p:spTree>
    <p:extLst>
      <p:ext uri="{BB962C8B-B14F-4D97-AF65-F5344CB8AC3E}">
        <p14:creationId xmlns:p14="http://schemas.microsoft.com/office/powerpoint/2010/main" val="30694910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方法</a:t>
            </a:r>
          </a:p>
        </p:txBody>
      </p:sp>
      <p:sp>
        <p:nvSpPr>
          <p:cNvPr id="6" name="文本框 5">
            <a:extLst>
              <a:ext uri="{FF2B5EF4-FFF2-40B4-BE49-F238E27FC236}">
                <a16:creationId xmlns:a16="http://schemas.microsoft.com/office/drawing/2014/main" id="{F0043E3D-F648-6EBE-B484-8C718080157A}"/>
              </a:ext>
            </a:extLst>
          </p:cNvPr>
          <p:cNvSpPr txBox="1"/>
          <p:nvPr/>
        </p:nvSpPr>
        <p:spPr>
          <a:xfrm>
            <a:off x="619506" y="902454"/>
            <a:ext cx="6103620"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知识融合</a:t>
            </a:r>
            <a:endParaRPr lang="zh-CN" altLang="en-US" dirty="0"/>
          </a:p>
        </p:txBody>
      </p:sp>
      <p:pic>
        <p:nvPicPr>
          <p:cNvPr id="8" name="图片 7">
            <a:extLst>
              <a:ext uri="{FF2B5EF4-FFF2-40B4-BE49-F238E27FC236}">
                <a16:creationId xmlns:a16="http://schemas.microsoft.com/office/drawing/2014/main" id="{A0010DCB-57DF-4C5E-9F9E-CB62B8D18242}"/>
              </a:ext>
            </a:extLst>
          </p:cNvPr>
          <p:cNvPicPr>
            <a:picLocks noChangeAspect="1"/>
          </p:cNvPicPr>
          <p:nvPr/>
        </p:nvPicPr>
        <p:blipFill>
          <a:blip r:embed="rId3"/>
          <a:stretch>
            <a:fillRect/>
          </a:stretch>
        </p:blipFill>
        <p:spPr>
          <a:xfrm>
            <a:off x="1086461" y="2192031"/>
            <a:ext cx="3434739" cy="454100"/>
          </a:xfrm>
          <a:prstGeom prst="rect">
            <a:avLst/>
          </a:prstGeom>
        </p:spPr>
      </p:pic>
      <p:sp>
        <p:nvSpPr>
          <p:cNvPr id="11" name="文本框 10">
            <a:extLst>
              <a:ext uri="{FF2B5EF4-FFF2-40B4-BE49-F238E27FC236}">
                <a16:creationId xmlns:a16="http://schemas.microsoft.com/office/drawing/2014/main" id="{D0DC1530-36FC-A90B-C94F-FA373A5DE827}"/>
              </a:ext>
            </a:extLst>
          </p:cNvPr>
          <p:cNvSpPr txBox="1"/>
          <p:nvPr/>
        </p:nvSpPr>
        <p:spPr>
          <a:xfrm>
            <a:off x="355881" y="1632755"/>
            <a:ext cx="6106160" cy="369332"/>
          </a:xfrm>
          <a:prstGeom prst="rect">
            <a:avLst/>
          </a:prstGeom>
          <a:noFill/>
        </p:spPr>
        <p:txBody>
          <a:bodyPr wrap="square">
            <a:spAutoFit/>
          </a:bodyPr>
          <a:lstStyle/>
          <a:p>
            <a:pPr marL="742950" lvl="1" indent="-285750">
              <a:buFont typeface="Arial" panose="020B0604020202020204" pitchFamily="34" charset="0"/>
              <a:buChar char="•"/>
            </a:pPr>
            <a:r>
              <a:rPr lang="zh-CN" altLang="en-US" sz="1800" b="1" dirty="0">
                <a:latin typeface="+mn-ea"/>
              </a:rPr>
              <a:t>知识两两融合：</a:t>
            </a:r>
            <a:endParaRPr lang="en-US" altLang="zh-CN" sz="1800" b="1" dirty="0">
              <a:latin typeface="+mn-ea"/>
            </a:endParaRPr>
          </a:p>
        </p:txBody>
      </p:sp>
      <p:sp>
        <p:nvSpPr>
          <p:cNvPr id="12" name="文本框 11">
            <a:extLst>
              <a:ext uri="{FF2B5EF4-FFF2-40B4-BE49-F238E27FC236}">
                <a16:creationId xmlns:a16="http://schemas.microsoft.com/office/drawing/2014/main" id="{3786C4F4-5FB4-B8B0-7987-FCEBBFCCDAD0}"/>
              </a:ext>
            </a:extLst>
          </p:cNvPr>
          <p:cNvSpPr txBox="1"/>
          <p:nvPr/>
        </p:nvSpPr>
        <p:spPr>
          <a:xfrm>
            <a:off x="322238" y="3333988"/>
            <a:ext cx="6106160" cy="369332"/>
          </a:xfrm>
          <a:prstGeom prst="rect">
            <a:avLst/>
          </a:prstGeom>
          <a:noFill/>
        </p:spPr>
        <p:txBody>
          <a:bodyPr wrap="square">
            <a:spAutoFit/>
          </a:bodyPr>
          <a:lstStyle/>
          <a:p>
            <a:pPr marL="742950" lvl="1" indent="-285750">
              <a:buFont typeface="Arial" panose="020B0604020202020204" pitchFamily="34" charset="0"/>
              <a:buChar char="•"/>
            </a:pPr>
            <a:r>
              <a:rPr lang="zh-CN" altLang="en-US" sz="1800" b="1" dirty="0">
                <a:latin typeface="+mn-ea"/>
              </a:rPr>
              <a:t>训练目标：</a:t>
            </a:r>
            <a:endParaRPr lang="en-US" altLang="zh-CN" sz="1800" b="1" dirty="0">
              <a:latin typeface="+mn-ea"/>
            </a:endParaRPr>
          </a:p>
        </p:txBody>
      </p:sp>
      <p:pic>
        <p:nvPicPr>
          <p:cNvPr id="14" name="图片 13">
            <a:extLst>
              <a:ext uri="{FF2B5EF4-FFF2-40B4-BE49-F238E27FC236}">
                <a16:creationId xmlns:a16="http://schemas.microsoft.com/office/drawing/2014/main" id="{25AB5B59-64C7-278A-0A68-86121CF85CC0}"/>
              </a:ext>
            </a:extLst>
          </p:cNvPr>
          <p:cNvPicPr>
            <a:picLocks noChangeAspect="1"/>
          </p:cNvPicPr>
          <p:nvPr/>
        </p:nvPicPr>
        <p:blipFill>
          <a:blip r:embed="rId4"/>
          <a:stretch>
            <a:fillRect/>
          </a:stretch>
        </p:blipFill>
        <p:spPr>
          <a:xfrm>
            <a:off x="832461" y="3893265"/>
            <a:ext cx="4674259" cy="655506"/>
          </a:xfrm>
          <a:prstGeom prst="rect">
            <a:avLst/>
          </a:prstGeom>
        </p:spPr>
      </p:pic>
      <p:pic>
        <p:nvPicPr>
          <p:cNvPr id="16" name="图片 15">
            <a:extLst>
              <a:ext uri="{FF2B5EF4-FFF2-40B4-BE49-F238E27FC236}">
                <a16:creationId xmlns:a16="http://schemas.microsoft.com/office/drawing/2014/main" id="{FDB9B473-A1CC-CB68-8C56-8BA3B2FB480D}"/>
              </a:ext>
            </a:extLst>
          </p:cNvPr>
          <p:cNvPicPr>
            <a:picLocks noChangeAspect="1"/>
          </p:cNvPicPr>
          <p:nvPr/>
        </p:nvPicPr>
        <p:blipFill>
          <a:blip r:embed="rId5"/>
          <a:stretch>
            <a:fillRect/>
          </a:stretch>
        </p:blipFill>
        <p:spPr>
          <a:xfrm>
            <a:off x="832461" y="4839493"/>
            <a:ext cx="4064659" cy="520542"/>
          </a:xfrm>
          <a:prstGeom prst="rect">
            <a:avLst/>
          </a:prstGeom>
        </p:spPr>
      </p:pic>
      <p:sp>
        <p:nvSpPr>
          <p:cNvPr id="17" name="矩形: 圆角 16">
            <a:extLst>
              <a:ext uri="{FF2B5EF4-FFF2-40B4-BE49-F238E27FC236}">
                <a16:creationId xmlns:a16="http://schemas.microsoft.com/office/drawing/2014/main" id="{4E88435E-74ED-A168-6C7C-321B6B4EF269}"/>
              </a:ext>
            </a:extLst>
          </p:cNvPr>
          <p:cNvSpPr/>
          <p:nvPr/>
        </p:nvSpPr>
        <p:spPr>
          <a:xfrm>
            <a:off x="5773801" y="4473047"/>
            <a:ext cx="1521081" cy="430778"/>
          </a:xfrm>
          <a:prstGeom prst="roundRect">
            <a:avLst/>
          </a:prstGeom>
          <a:ln/>
        </p:spPr>
        <p:style>
          <a:lnRef idx="2">
            <a:schemeClr val="accent4"/>
          </a:lnRef>
          <a:fillRef idx="1">
            <a:schemeClr val="lt1"/>
          </a:fillRef>
          <a:effectRef idx="0">
            <a:schemeClr val="accent4"/>
          </a:effectRef>
          <a:fontRef idx="minor">
            <a:schemeClr val="dk1"/>
          </a:fontRef>
        </p:style>
        <p:txBody>
          <a:bodyPr lIns="0" tIns="0" rIns="0" bIns="0" rtlCol="0" anchor="ctr" anchorCtr="0"/>
          <a:lstStyle/>
          <a:p>
            <a:pPr algn="ctr"/>
            <a:r>
              <a:rPr lang="zh-CN" altLang="en-US" sz="1400" dirty="0">
                <a:latin typeface="+mn-ea"/>
              </a:rPr>
              <a:t>知识蒸馏</a:t>
            </a:r>
            <a:endParaRPr lang="en-US" altLang="zh-CN" sz="1400" dirty="0">
              <a:latin typeface="+mn-ea"/>
            </a:endParaRPr>
          </a:p>
        </p:txBody>
      </p:sp>
      <p:cxnSp>
        <p:nvCxnSpPr>
          <p:cNvPr id="19" name="直接箭头连接符 18">
            <a:extLst>
              <a:ext uri="{FF2B5EF4-FFF2-40B4-BE49-F238E27FC236}">
                <a16:creationId xmlns:a16="http://schemas.microsoft.com/office/drawing/2014/main" id="{04DB9330-49F4-1E81-D698-A3A01C739AC6}"/>
              </a:ext>
            </a:extLst>
          </p:cNvPr>
          <p:cNvCxnSpPr>
            <a:cxnSpLocks/>
            <a:stCxn id="14" idx="3"/>
            <a:endCxn id="17" idx="1"/>
          </p:cNvCxnSpPr>
          <p:nvPr/>
        </p:nvCxnSpPr>
        <p:spPr>
          <a:xfrm>
            <a:off x="5506720" y="4221018"/>
            <a:ext cx="267081" cy="4674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矩形: 圆角 20">
            <a:extLst>
              <a:ext uri="{FF2B5EF4-FFF2-40B4-BE49-F238E27FC236}">
                <a16:creationId xmlns:a16="http://schemas.microsoft.com/office/drawing/2014/main" id="{DEA93DC3-87FE-A8C4-2540-9269EBAF18E7}"/>
              </a:ext>
            </a:extLst>
          </p:cNvPr>
          <p:cNvSpPr/>
          <p:nvPr/>
        </p:nvSpPr>
        <p:spPr>
          <a:xfrm>
            <a:off x="1701837" y="5711706"/>
            <a:ext cx="1521081" cy="430778"/>
          </a:xfrm>
          <a:prstGeom prst="roundRect">
            <a:avLst/>
          </a:prstGeom>
          <a:ln/>
        </p:spPr>
        <p:style>
          <a:lnRef idx="2">
            <a:schemeClr val="accent4"/>
          </a:lnRef>
          <a:fillRef idx="1">
            <a:schemeClr val="lt1"/>
          </a:fillRef>
          <a:effectRef idx="0">
            <a:schemeClr val="accent4"/>
          </a:effectRef>
          <a:fontRef idx="minor">
            <a:schemeClr val="dk1"/>
          </a:fontRef>
        </p:style>
        <p:txBody>
          <a:bodyPr lIns="0" tIns="0" rIns="0" bIns="0" rtlCol="0" anchor="ctr" anchorCtr="0"/>
          <a:lstStyle/>
          <a:p>
            <a:pPr algn="ctr"/>
            <a:r>
              <a:rPr lang="zh-CN" altLang="en-US" sz="1400" dirty="0">
                <a:latin typeface="+mn-ea"/>
              </a:rPr>
              <a:t>监督学习损失</a:t>
            </a:r>
            <a:endParaRPr lang="en-US" altLang="zh-CN" sz="1400" dirty="0">
              <a:latin typeface="+mn-ea"/>
            </a:endParaRPr>
          </a:p>
        </p:txBody>
      </p:sp>
      <p:cxnSp>
        <p:nvCxnSpPr>
          <p:cNvPr id="22" name="直接箭头连接符 21">
            <a:extLst>
              <a:ext uri="{FF2B5EF4-FFF2-40B4-BE49-F238E27FC236}">
                <a16:creationId xmlns:a16="http://schemas.microsoft.com/office/drawing/2014/main" id="{751914EE-18C6-B2C9-2EA5-C135E012953A}"/>
              </a:ext>
            </a:extLst>
          </p:cNvPr>
          <p:cNvCxnSpPr>
            <a:cxnSpLocks/>
          </p:cNvCxnSpPr>
          <p:nvPr/>
        </p:nvCxnSpPr>
        <p:spPr>
          <a:xfrm>
            <a:off x="2186598" y="5328920"/>
            <a:ext cx="325120" cy="382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8" name="图片 27">
            <a:extLst>
              <a:ext uri="{FF2B5EF4-FFF2-40B4-BE49-F238E27FC236}">
                <a16:creationId xmlns:a16="http://schemas.microsoft.com/office/drawing/2014/main" id="{A7B20F4B-8D25-E3C7-7500-2D4391B327C5}"/>
              </a:ext>
            </a:extLst>
          </p:cNvPr>
          <p:cNvPicPr>
            <a:picLocks noChangeAspect="1"/>
          </p:cNvPicPr>
          <p:nvPr/>
        </p:nvPicPr>
        <p:blipFill>
          <a:blip r:embed="rId6"/>
          <a:stretch>
            <a:fillRect/>
          </a:stretch>
        </p:blipFill>
        <p:spPr>
          <a:xfrm>
            <a:off x="6369367" y="802512"/>
            <a:ext cx="5500395" cy="3219974"/>
          </a:xfrm>
          <a:prstGeom prst="rect">
            <a:avLst/>
          </a:prstGeom>
        </p:spPr>
      </p:pic>
    </p:spTree>
    <p:extLst>
      <p:ext uri="{BB962C8B-B14F-4D97-AF65-F5344CB8AC3E}">
        <p14:creationId xmlns:p14="http://schemas.microsoft.com/office/powerpoint/2010/main" val="34099802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方法</a:t>
            </a:r>
          </a:p>
        </p:txBody>
      </p:sp>
      <p:sp>
        <p:nvSpPr>
          <p:cNvPr id="6" name="文本框 5">
            <a:extLst>
              <a:ext uri="{FF2B5EF4-FFF2-40B4-BE49-F238E27FC236}">
                <a16:creationId xmlns:a16="http://schemas.microsoft.com/office/drawing/2014/main" id="{F0043E3D-F648-6EBE-B484-8C718080157A}"/>
              </a:ext>
            </a:extLst>
          </p:cNvPr>
          <p:cNvSpPr txBox="1"/>
          <p:nvPr/>
        </p:nvSpPr>
        <p:spPr>
          <a:xfrm>
            <a:off x="619506" y="902454"/>
            <a:ext cx="6103620"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模型合并</a:t>
            </a:r>
            <a:endParaRPr lang="en-US" altLang="zh-CN" b="1" dirty="0">
              <a:solidFill>
                <a:srgbClr val="268F9C"/>
              </a:solidFill>
              <a:latin typeface="+mn-ea"/>
            </a:endParaRPr>
          </a:p>
        </p:txBody>
      </p:sp>
      <p:pic>
        <p:nvPicPr>
          <p:cNvPr id="4" name="图片 3">
            <a:extLst>
              <a:ext uri="{FF2B5EF4-FFF2-40B4-BE49-F238E27FC236}">
                <a16:creationId xmlns:a16="http://schemas.microsoft.com/office/drawing/2014/main" id="{8C159679-96B5-4B83-C239-D805B1CE52C6}"/>
              </a:ext>
            </a:extLst>
          </p:cNvPr>
          <p:cNvPicPr>
            <a:picLocks noChangeAspect="1"/>
          </p:cNvPicPr>
          <p:nvPr/>
        </p:nvPicPr>
        <p:blipFill>
          <a:blip r:embed="rId3"/>
          <a:stretch>
            <a:fillRect/>
          </a:stretch>
        </p:blipFill>
        <p:spPr>
          <a:xfrm>
            <a:off x="5255327" y="1803441"/>
            <a:ext cx="6773862" cy="3930797"/>
          </a:xfrm>
          <a:prstGeom prst="rect">
            <a:avLst/>
          </a:prstGeom>
        </p:spPr>
      </p:pic>
      <p:pic>
        <p:nvPicPr>
          <p:cNvPr id="7" name="图片 6">
            <a:extLst>
              <a:ext uri="{FF2B5EF4-FFF2-40B4-BE49-F238E27FC236}">
                <a16:creationId xmlns:a16="http://schemas.microsoft.com/office/drawing/2014/main" id="{E7EE68CA-BAC1-A84E-068B-2FD964D0E95F}"/>
              </a:ext>
            </a:extLst>
          </p:cNvPr>
          <p:cNvPicPr>
            <a:picLocks noChangeAspect="1"/>
          </p:cNvPicPr>
          <p:nvPr/>
        </p:nvPicPr>
        <p:blipFill>
          <a:blip r:embed="rId4"/>
          <a:stretch>
            <a:fillRect/>
          </a:stretch>
        </p:blipFill>
        <p:spPr>
          <a:xfrm>
            <a:off x="797560" y="1271786"/>
            <a:ext cx="3751908" cy="5359869"/>
          </a:xfrm>
          <a:prstGeom prst="rect">
            <a:avLst/>
          </a:prstGeom>
        </p:spPr>
      </p:pic>
      <p:grpSp>
        <p:nvGrpSpPr>
          <p:cNvPr id="8" name="组合 7">
            <a:extLst>
              <a:ext uri="{FF2B5EF4-FFF2-40B4-BE49-F238E27FC236}">
                <a16:creationId xmlns:a16="http://schemas.microsoft.com/office/drawing/2014/main" id="{099DADCE-64D8-E78F-70D0-6C402392CDE2}"/>
              </a:ext>
            </a:extLst>
          </p:cNvPr>
          <p:cNvGrpSpPr/>
          <p:nvPr/>
        </p:nvGrpSpPr>
        <p:grpSpPr>
          <a:xfrm>
            <a:off x="7115175" y="982155"/>
            <a:ext cx="3023235" cy="2879571"/>
            <a:chOff x="7115175" y="982155"/>
            <a:chExt cx="3023235" cy="2879571"/>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C9DF8249-9D2B-EB0E-04AD-EF8E50A04C7D}"/>
                    </a:ext>
                  </a:extLst>
                </p:cNvPr>
                <p:cNvSpPr txBox="1"/>
                <p:nvPr/>
              </p:nvSpPr>
              <p:spPr>
                <a:xfrm>
                  <a:off x="7115175" y="982155"/>
                  <a:ext cx="2903220" cy="2879571"/>
                </a:xfrm>
                <a:prstGeom prst="rect">
                  <a:avLst/>
                </a:prstGeom>
                <a:noFill/>
              </p:spPr>
              <p:txBody>
                <a:bodyPr wrap="square" rtlCol="0" anchor="ctr">
                  <a:spAutoFit/>
                </a:bodyPr>
                <a:lstStyle/>
                <a:p>
                  <a:pPr>
                    <a:lnSpc>
                      <a:spcPct val="120000"/>
                    </a:lnSpc>
                  </a:pPr>
                  <a:r>
                    <a:rPr lang="en-US" altLang="zh-CN" sz="2400" b="0" dirty="0">
                      <a:solidFill>
                        <a:schemeClr val="tx1">
                          <a:lumMod val="75000"/>
                          <a:lumOff val="25000"/>
                        </a:schemeClr>
                      </a:solidFill>
                    </a:rPr>
                    <a:t>   </a:t>
                  </a:r>
                  <a14:m>
                    <m:oMath xmlns:m="http://schemas.openxmlformats.org/officeDocument/2006/math">
                      <m:r>
                        <a:rPr lang="en-US" altLang="zh-CN" sz="2400" b="0" i="0" smtClean="0">
                          <a:solidFill>
                            <a:schemeClr val="tx1">
                              <a:lumMod val="75000"/>
                              <a:lumOff val="25000"/>
                            </a:schemeClr>
                          </a:solidFill>
                          <a:latin typeface="Cambria Math" panose="02040503050406030204" pitchFamily="18" charset="0"/>
                        </a:rPr>
                        <m:t> </m:t>
                      </m:r>
                      <m:sSub>
                        <m:sSubPr>
                          <m:ctrlPr>
                            <a:rPr lang="en-US" altLang="zh-CN" sz="2400" b="0" i="1" smtClean="0">
                              <a:solidFill>
                                <a:schemeClr val="tx1">
                                  <a:lumMod val="75000"/>
                                  <a:lumOff val="25000"/>
                                </a:schemeClr>
                              </a:solidFill>
                              <a:latin typeface="Cambria Math" panose="02040503050406030204" pitchFamily="18" charset="0"/>
                            </a:rPr>
                          </m:ctrlPr>
                        </m:sSubPr>
                        <m:e>
                          <m:r>
                            <a:rPr lang="en-US" altLang="zh-CN" sz="2400" b="0" i="1" smtClean="0">
                              <a:solidFill>
                                <a:schemeClr val="tx1">
                                  <a:lumMod val="75000"/>
                                  <a:lumOff val="25000"/>
                                </a:schemeClr>
                              </a:solidFill>
                              <a:latin typeface="Cambria Math" panose="02040503050406030204" pitchFamily="18" charset="0"/>
                            </a:rPr>
                            <m:t>𝜙</m:t>
                          </m:r>
                        </m:e>
                        <m:sub>
                          <m:r>
                            <a:rPr lang="en-US" altLang="zh-CN" sz="2400" b="0" i="1" smtClean="0">
                              <a:solidFill>
                                <a:schemeClr val="tx1">
                                  <a:lumMod val="75000"/>
                                  <a:lumOff val="25000"/>
                                </a:schemeClr>
                              </a:solidFill>
                              <a:latin typeface="Cambria Math" panose="02040503050406030204" pitchFamily="18" charset="0"/>
                            </a:rPr>
                            <m:t>1</m:t>
                          </m:r>
                        </m:sub>
                      </m:sSub>
                    </m:oMath>
                  </a14:m>
                  <a:r>
                    <a:rPr lang="en-US" altLang="zh-CN" sz="2400" i="1" dirty="0">
                      <a:solidFill>
                        <a:schemeClr val="tx1">
                          <a:lumMod val="75000"/>
                          <a:lumOff val="25000"/>
                        </a:schemeClr>
                      </a:solidFill>
                      <a:latin typeface="Cambria Math" panose="02040503050406030204" pitchFamily="18" charset="0"/>
                    </a:rPr>
                    <a:t>        </a:t>
                  </a:r>
                  <a14:m>
                    <m:oMath xmlns:m="http://schemas.openxmlformats.org/officeDocument/2006/math">
                      <m:sSub>
                        <m:sSubPr>
                          <m:ctrlPr>
                            <a:rPr lang="en-US" altLang="zh-CN" sz="2400" b="0" i="1" dirty="0" smtClean="0">
                              <a:solidFill>
                                <a:schemeClr val="tx1">
                                  <a:lumMod val="75000"/>
                                  <a:lumOff val="25000"/>
                                </a:schemeClr>
                              </a:solidFill>
                              <a:latin typeface="Cambria Math" panose="02040503050406030204" pitchFamily="18" charset="0"/>
                            </a:rPr>
                          </m:ctrlPr>
                        </m:sSubPr>
                        <m:e>
                          <m:r>
                            <a:rPr lang="en-US" altLang="zh-CN" sz="2400" b="0" i="1" dirty="0" smtClean="0">
                              <a:solidFill>
                                <a:schemeClr val="tx1">
                                  <a:lumMod val="75000"/>
                                  <a:lumOff val="25000"/>
                                </a:schemeClr>
                              </a:solidFill>
                              <a:latin typeface="Cambria Math" panose="02040503050406030204" pitchFamily="18" charset="0"/>
                            </a:rPr>
                            <m:t>𝜙</m:t>
                          </m:r>
                        </m:e>
                        <m:sub>
                          <m:r>
                            <a:rPr lang="en-US" altLang="zh-CN" sz="2400" b="0" i="1" dirty="0" smtClean="0">
                              <a:solidFill>
                                <a:schemeClr val="tx1">
                                  <a:lumMod val="75000"/>
                                  <a:lumOff val="25000"/>
                                </a:schemeClr>
                              </a:solidFill>
                              <a:latin typeface="Cambria Math" panose="02040503050406030204" pitchFamily="18" charset="0"/>
                            </a:rPr>
                            <m:t>2</m:t>
                          </m:r>
                        </m:sub>
                      </m:sSub>
                    </m:oMath>
                  </a14:m>
                  <a:r>
                    <a:rPr lang="en-US" altLang="zh-CN" sz="2400" i="1" dirty="0">
                      <a:solidFill>
                        <a:schemeClr val="tx1">
                          <a:lumMod val="75000"/>
                          <a:lumOff val="25000"/>
                        </a:schemeClr>
                      </a:solidFill>
                      <a:latin typeface="Cambria Math" panose="02040503050406030204" pitchFamily="18" charset="0"/>
                    </a:rPr>
                    <a:t>          </a:t>
                  </a:r>
                  <a14:m>
                    <m:oMath xmlns:m="http://schemas.openxmlformats.org/officeDocument/2006/math">
                      <m:sSub>
                        <m:sSubPr>
                          <m:ctrlPr>
                            <a:rPr lang="en-US" altLang="zh-CN" sz="2400" b="0" i="1" dirty="0" smtClean="0">
                              <a:solidFill>
                                <a:schemeClr val="tx1">
                                  <a:lumMod val="75000"/>
                                  <a:lumOff val="25000"/>
                                </a:schemeClr>
                              </a:solidFill>
                              <a:latin typeface="Cambria Math" panose="02040503050406030204" pitchFamily="18" charset="0"/>
                            </a:rPr>
                          </m:ctrlPr>
                        </m:sSubPr>
                        <m:e>
                          <m:r>
                            <a:rPr lang="en-US" altLang="zh-CN" sz="2400" b="0" i="1" dirty="0" smtClean="0">
                              <a:solidFill>
                                <a:schemeClr val="tx1">
                                  <a:lumMod val="75000"/>
                                  <a:lumOff val="25000"/>
                                </a:schemeClr>
                              </a:solidFill>
                              <a:latin typeface="Cambria Math" panose="02040503050406030204" pitchFamily="18" charset="0"/>
                            </a:rPr>
                            <m:t>𝜙</m:t>
                          </m:r>
                        </m:e>
                        <m:sub>
                          <m:r>
                            <a:rPr lang="en-US" altLang="zh-CN" sz="2400" b="0" i="1" dirty="0" smtClean="0">
                              <a:solidFill>
                                <a:schemeClr val="tx1">
                                  <a:lumMod val="75000"/>
                                  <a:lumOff val="25000"/>
                                </a:schemeClr>
                              </a:solidFill>
                              <a:latin typeface="Cambria Math" panose="02040503050406030204" pitchFamily="18" charset="0"/>
                            </a:rPr>
                            <m:t>3</m:t>
                          </m:r>
                        </m:sub>
                      </m:sSub>
                    </m:oMath>
                  </a14:m>
                  <a:endParaRPr lang="en-US" altLang="zh-CN" sz="2400" i="1" dirty="0">
                    <a:solidFill>
                      <a:schemeClr val="tx1">
                        <a:lumMod val="75000"/>
                        <a:lumOff val="25000"/>
                      </a:schemeClr>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d>
                          <m:dPr>
                            <m:begChr m:val="⌊"/>
                            <m:endChr m:val="⌋"/>
                            <m:ctrlPr>
                              <a:rPr lang="zh-CN" altLang="en-US" sz="4800" i="1" smtClean="0">
                                <a:solidFill>
                                  <a:schemeClr val="tx1">
                                    <a:lumMod val="75000"/>
                                    <a:lumOff val="25000"/>
                                  </a:schemeClr>
                                </a:solidFill>
                                <a:latin typeface="Cambria Math" panose="02040503050406030204" pitchFamily="18" charset="0"/>
                              </a:rPr>
                            </m:ctrlPr>
                          </m:dPr>
                          <m:e>
                            <m:m>
                              <m:mPr>
                                <m:mcs>
                                  <m:mc>
                                    <m:mcPr>
                                      <m:count m:val="3"/>
                                      <m:mcJc m:val="center"/>
                                    </m:mcPr>
                                  </m:mc>
                                </m:mcs>
                                <m:ctrlPr>
                                  <a:rPr lang="en-US" altLang="zh-CN" sz="4800" i="1" smtClean="0">
                                    <a:solidFill>
                                      <a:schemeClr val="tx1">
                                        <a:lumMod val="75000"/>
                                        <a:lumOff val="25000"/>
                                      </a:schemeClr>
                                    </a:solidFill>
                                    <a:latin typeface="Cambria Math" panose="02040503050406030204" pitchFamily="18" charset="0"/>
                                  </a:rPr>
                                </m:ctrlPr>
                              </m:mPr>
                              <m:mr>
                                <m:e>
                                  <m:r>
                                    <m:rPr>
                                      <m:brk m:alnAt="7"/>
                                    </m:rPr>
                                    <a:rPr lang="en-US" altLang="zh-CN" sz="4800" b="0" i="1" smtClean="0">
                                      <a:solidFill>
                                        <a:schemeClr val="tx1">
                                          <a:lumMod val="75000"/>
                                          <a:lumOff val="25000"/>
                                        </a:schemeClr>
                                      </a:solidFill>
                                      <a:latin typeface="Cambria Math" panose="02040503050406030204" pitchFamily="18" charset="0"/>
                                    </a:rPr>
                                    <m:t>−</m:t>
                                  </m:r>
                                  <m:r>
                                    <a:rPr lang="en-US" altLang="zh-CN" sz="4800" b="0" i="1" smtClean="0">
                                      <a:solidFill>
                                        <a:schemeClr val="tx1">
                                          <a:lumMod val="75000"/>
                                          <a:lumOff val="25000"/>
                                        </a:schemeClr>
                                      </a:solidFill>
                                      <a:latin typeface="Cambria Math" panose="02040503050406030204" pitchFamily="18" charset="0"/>
                                    </a:rPr>
                                    <m:t>1</m:t>
                                  </m:r>
                                </m:e>
                                <m:e>
                                  <m:r>
                                    <a:rPr lang="en-US" altLang="zh-CN" sz="4800" b="0" i="1" smtClean="0">
                                      <a:solidFill>
                                        <a:schemeClr val="tx1">
                                          <a:lumMod val="75000"/>
                                          <a:lumOff val="25000"/>
                                        </a:schemeClr>
                                      </a:solidFill>
                                      <a:latin typeface="Cambria Math" panose="02040503050406030204" pitchFamily="18" charset="0"/>
                                    </a:rPr>
                                    <m:t>1</m:t>
                                  </m:r>
                                </m:e>
                                <m:e>
                                  <m:r>
                                    <a:rPr lang="en-US" altLang="zh-CN" sz="4800" b="0" i="1" smtClean="0">
                                      <a:solidFill>
                                        <a:schemeClr val="tx1">
                                          <a:lumMod val="75000"/>
                                          <a:lumOff val="25000"/>
                                        </a:schemeClr>
                                      </a:solidFill>
                                      <a:latin typeface="Cambria Math" panose="02040503050406030204" pitchFamily="18" charset="0"/>
                                    </a:rPr>
                                    <m:t>1</m:t>
                                  </m:r>
                                </m:e>
                              </m:mr>
                              <m:mr>
                                <m:e>
                                  <m:r>
                                    <a:rPr lang="en-US" altLang="zh-CN" sz="4800" b="0" i="1" smtClean="0">
                                      <a:solidFill>
                                        <a:schemeClr val="tx1">
                                          <a:lumMod val="75000"/>
                                          <a:lumOff val="25000"/>
                                        </a:schemeClr>
                                      </a:solidFill>
                                      <a:latin typeface="Cambria Math" panose="02040503050406030204" pitchFamily="18" charset="0"/>
                                    </a:rPr>
                                    <m:t>2</m:t>
                                  </m:r>
                                </m:e>
                                <m:e>
                                  <m:r>
                                    <a:rPr lang="en-US" altLang="zh-CN" sz="4800" b="0" i="1" smtClean="0">
                                      <a:solidFill>
                                        <a:schemeClr val="tx1">
                                          <a:lumMod val="75000"/>
                                          <a:lumOff val="25000"/>
                                        </a:schemeClr>
                                      </a:solidFill>
                                      <a:latin typeface="Cambria Math" panose="02040503050406030204" pitchFamily="18" charset="0"/>
                                    </a:rPr>
                                    <m:t>2</m:t>
                                  </m:r>
                                </m:e>
                                <m:e>
                                  <m:r>
                                    <a:rPr lang="en-US" altLang="zh-CN" sz="4800" b="0" i="1" smtClean="0">
                                      <a:solidFill>
                                        <a:schemeClr val="tx1">
                                          <a:lumMod val="75000"/>
                                          <a:lumOff val="25000"/>
                                        </a:schemeClr>
                                      </a:solidFill>
                                      <a:latin typeface="Cambria Math" panose="02040503050406030204" pitchFamily="18" charset="0"/>
                                    </a:rPr>
                                    <m:t>2</m:t>
                                  </m:r>
                                </m:e>
                              </m:mr>
                              <m:mr>
                                <m:e>
                                  <m:r>
                                    <a:rPr lang="en-US" altLang="zh-CN" sz="4800" b="0" i="1" smtClean="0">
                                      <a:solidFill>
                                        <a:schemeClr val="tx1">
                                          <a:lumMod val="75000"/>
                                          <a:lumOff val="25000"/>
                                        </a:schemeClr>
                                      </a:solidFill>
                                      <a:latin typeface="Cambria Math" panose="02040503050406030204" pitchFamily="18" charset="0"/>
                                    </a:rPr>
                                    <m:t>1</m:t>
                                  </m:r>
                                </m:e>
                                <m:e>
                                  <m:r>
                                    <a:rPr lang="en-US" altLang="zh-CN" sz="4800" b="0" i="1" smtClean="0">
                                      <a:solidFill>
                                        <a:schemeClr val="tx1">
                                          <a:lumMod val="75000"/>
                                          <a:lumOff val="25000"/>
                                        </a:schemeClr>
                                      </a:solidFill>
                                      <a:latin typeface="Cambria Math" panose="02040503050406030204" pitchFamily="18" charset="0"/>
                                    </a:rPr>
                                    <m:t>2</m:t>
                                  </m:r>
                                </m:e>
                                <m:e>
                                  <m:r>
                                    <a:rPr lang="en-US" altLang="zh-CN" sz="4800" b="0" i="1" smtClean="0">
                                      <a:solidFill>
                                        <a:schemeClr val="tx1">
                                          <a:lumMod val="75000"/>
                                          <a:lumOff val="25000"/>
                                        </a:schemeClr>
                                      </a:solidFill>
                                      <a:latin typeface="Cambria Math" panose="02040503050406030204" pitchFamily="18" charset="0"/>
                                    </a:rPr>
                                    <m:t>3</m:t>
                                  </m:r>
                                </m:e>
                              </m:mr>
                            </m:m>
                          </m:e>
                        </m:d>
                      </m:oMath>
                    </m:oMathPara>
                  </a14:m>
                  <a:endParaRPr lang="zh-CN" altLang="en-US" sz="4800" dirty="0">
                    <a:solidFill>
                      <a:schemeClr val="tx1">
                        <a:lumMod val="75000"/>
                        <a:lumOff val="25000"/>
                      </a:schemeClr>
                    </a:solidFill>
                  </a:endParaRPr>
                </a:p>
              </p:txBody>
            </p:sp>
          </mc:Choice>
          <mc:Fallback xmlns="">
            <p:sp>
              <p:nvSpPr>
                <p:cNvPr id="2" name="文本框 1">
                  <a:extLst>
                    <a:ext uri="{FF2B5EF4-FFF2-40B4-BE49-F238E27FC236}">
                      <a16:creationId xmlns:a16="http://schemas.microsoft.com/office/drawing/2014/main" id="{C9DF8249-9D2B-EB0E-04AD-EF8E50A04C7D}"/>
                    </a:ext>
                  </a:extLst>
                </p:cNvPr>
                <p:cNvSpPr txBox="1">
                  <a:spLocks noRot="1" noChangeAspect="1" noMove="1" noResize="1" noEditPoints="1" noAdjustHandles="1" noChangeArrowheads="1" noChangeShapeType="1" noTextEdit="1"/>
                </p:cNvSpPr>
                <p:nvPr/>
              </p:nvSpPr>
              <p:spPr>
                <a:xfrm>
                  <a:off x="7115175" y="982155"/>
                  <a:ext cx="2903220" cy="2879571"/>
                </a:xfrm>
                <a:prstGeom prst="rect">
                  <a:avLst/>
                </a:prstGeom>
                <a:blipFill>
                  <a:blip r:embed="rId5"/>
                  <a:stretch>
                    <a:fillRect r="-10714"/>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B0267A98-0392-54EC-1157-EADD4349D977}"/>
                </a:ext>
              </a:extLst>
            </p:cNvPr>
            <p:cNvSpPr/>
            <p:nvPr/>
          </p:nvSpPr>
          <p:spPr>
            <a:xfrm>
              <a:off x="7669530" y="3238546"/>
              <a:ext cx="2468880" cy="623180"/>
            </a:xfrm>
            <a:prstGeom prst="rect">
              <a:avLst/>
            </a:prstGeom>
            <a:noFill/>
            <a:ln w="38100">
              <a:solidFill>
                <a:srgbClr val="C0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grpSp>
      <p:pic>
        <p:nvPicPr>
          <p:cNvPr id="10" name="图片 9">
            <a:extLst>
              <a:ext uri="{FF2B5EF4-FFF2-40B4-BE49-F238E27FC236}">
                <a16:creationId xmlns:a16="http://schemas.microsoft.com/office/drawing/2014/main" id="{CCE1ACB4-B2FA-C6C4-793C-7A15896613DA}"/>
              </a:ext>
            </a:extLst>
          </p:cNvPr>
          <p:cNvPicPr>
            <a:picLocks noChangeAspect="1"/>
          </p:cNvPicPr>
          <p:nvPr/>
        </p:nvPicPr>
        <p:blipFill>
          <a:blip r:embed="rId6"/>
          <a:stretch>
            <a:fillRect/>
          </a:stretch>
        </p:blipFill>
        <p:spPr>
          <a:xfrm>
            <a:off x="6237922" y="4505845"/>
            <a:ext cx="4657725" cy="1304925"/>
          </a:xfrm>
          <a:prstGeom prst="rect">
            <a:avLst/>
          </a:prstGeom>
        </p:spPr>
      </p:pic>
    </p:spTree>
    <p:extLst>
      <p:ext uri="{BB962C8B-B14F-4D97-AF65-F5344CB8AC3E}">
        <p14:creationId xmlns:p14="http://schemas.microsoft.com/office/powerpoint/2010/main" val="26128817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4.</a:t>
            </a:r>
            <a:r>
              <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实验</a:t>
            </a:r>
          </a:p>
        </p:txBody>
      </p:sp>
      <p:pic>
        <p:nvPicPr>
          <p:cNvPr id="5" name="图片 4">
            <a:extLst>
              <a:ext uri="{FF2B5EF4-FFF2-40B4-BE49-F238E27FC236}">
                <a16:creationId xmlns:a16="http://schemas.microsoft.com/office/drawing/2014/main" id="{9FC8B082-F49E-1DE1-F2AB-0BDF6A7A2DBA}"/>
              </a:ext>
            </a:extLst>
          </p:cNvPr>
          <p:cNvPicPr>
            <a:picLocks noChangeAspect="1"/>
          </p:cNvPicPr>
          <p:nvPr/>
        </p:nvPicPr>
        <p:blipFill>
          <a:blip r:embed="rId3"/>
          <a:stretch>
            <a:fillRect/>
          </a:stretch>
        </p:blipFill>
        <p:spPr>
          <a:xfrm>
            <a:off x="1425881" y="1304580"/>
            <a:ext cx="9340238" cy="5480267"/>
          </a:xfrm>
          <a:prstGeom prst="rect">
            <a:avLst/>
          </a:prstGeom>
        </p:spPr>
      </p:pic>
      <p:sp>
        <p:nvSpPr>
          <p:cNvPr id="8" name="文本框 7">
            <a:extLst>
              <a:ext uri="{FF2B5EF4-FFF2-40B4-BE49-F238E27FC236}">
                <a16:creationId xmlns:a16="http://schemas.microsoft.com/office/drawing/2014/main" id="{8B1F523D-0150-0759-4B59-A50F8711AA36}"/>
              </a:ext>
            </a:extLst>
          </p:cNvPr>
          <p:cNvSpPr txBox="1"/>
          <p:nvPr/>
        </p:nvSpPr>
        <p:spPr>
          <a:xfrm>
            <a:off x="637794" y="815369"/>
            <a:ext cx="6103620"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主要实验结果</a:t>
            </a:r>
            <a:endParaRPr lang="en-US" altLang="zh-CN" b="1" dirty="0">
              <a:solidFill>
                <a:srgbClr val="268F9C"/>
              </a:solidFill>
              <a:latin typeface="+mn-ea"/>
            </a:endParaRPr>
          </a:p>
        </p:txBody>
      </p:sp>
    </p:spTree>
    <p:extLst>
      <p:ext uri="{BB962C8B-B14F-4D97-AF65-F5344CB8AC3E}">
        <p14:creationId xmlns:p14="http://schemas.microsoft.com/office/powerpoint/2010/main" val="22765409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4.</a:t>
            </a:r>
            <a:r>
              <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实验</a:t>
            </a:r>
          </a:p>
        </p:txBody>
      </p:sp>
      <p:sp>
        <p:nvSpPr>
          <p:cNvPr id="8" name="文本框 7">
            <a:extLst>
              <a:ext uri="{FF2B5EF4-FFF2-40B4-BE49-F238E27FC236}">
                <a16:creationId xmlns:a16="http://schemas.microsoft.com/office/drawing/2014/main" id="{8B1F523D-0150-0759-4B59-A50F8711AA36}"/>
              </a:ext>
            </a:extLst>
          </p:cNvPr>
          <p:cNvSpPr txBox="1"/>
          <p:nvPr/>
        </p:nvSpPr>
        <p:spPr>
          <a:xfrm>
            <a:off x="637794" y="815369"/>
            <a:ext cx="6103620"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主要实验结果</a:t>
            </a:r>
            <a:endParaRPr lang="en-US" altLang="zh-CN" b="1" dirty="0">
              <a:solidFill>
                <a:srgbClr val="268F9C"/>
              </a:solidFill>
              <a:latin typeface="+mn-ea"/>
            </a:endParaRPr>
          </a:p>
        </p:txBody>
      </p:sp>
      <p:pic>
        <p:nvPicPr>
          <p:cNvPr id="4" name="图片 3">
            <a:extLst>
              <a:ext uri="{FF2B5EF4-FFF2-40B4-BE49-F238E27FC236}">
                <a16:creationId xmlns:a16="http://schemas.microsoft.com/office/drawing/2014/main" id="{ED9E3BD8-35B7-D100-798C-AD99FB921AEF}"/>
              </a:ext>
            </a:extLst>
          </p:cNvPr>
          <p:cNvPicPr>
            <a:picLocks noChangeAspect="1"/>
          </p:cNvPicPr>
          <p:nvPr/>
        </p:nvPicPr>
        <p:blipFill>
          <a:blip r:embed="rId3"/>
          <a:stretch>
            <a:fillRect/>
          </a:stretch>
        </p:blipFill>
        <p:spPr>
          <a:xfrm>
            <a:off x="2227840" y="1737154"/>
            <a:ext cx="8264670" cy="2314406"/>
          </a:xfrm>
          <a:prstGeom prst="rect">
            <a:avLst/>
          </a:prstGeom>
        </p:spPr>
      </p:pic>
      <p:pic>
        <p:nvPicPr>
          <p:cNvPr id="7" name="图片 6">
            <a:extLst>
              <a:ext uri="{FF2B5EF4-FFF2-40B4-BE49-F238E27FC236}">
                <a16:creationId xmlns:a16="http://schemas.microsoft.com/office/drawing/2014/main" id="{A67E5EFE-0CEF-CA2A-941B-EAE33C8F5AA6}"/>
              </a:ext>
            </a:extLst>
          </p:cNvPr>
          <p:cNvPicPr>
            <a:picLocks noChangeAspect="1"/>
          </p:cNvPicPr>
          <p:nvPr/>
        </p:nvPicPr>
        <p:blipFill>
          <a:blip r:embed="rId4"/>
          <a:stretch>
            <a:fillRect/>
          </a:stretch>
        </p:blipFill>
        <p:spPr>
          <a:xfrm>
            <a:off x="3676216" y="4242779"/>
            <a:ext cx="5218401" cy="2073161"/>
          </a:xfrm>
          <a:prstGeom prst="rect">
            <a:avLst/>
          </a:prstGeom>
        </p:spPr>
      </p:pic>
      <p:pic>
        <p:nvPicPr>
          <p:cNvPr id="12" name="图片 11">
            <a:extLst>
              <a:ext uri="{FF2B5EF4-FFF2-40B4-BE49-F238E27FC236}">
                <a16:creationId xmlns:a16="http://schemas.microsoft.com/office/drawing/2014/main" id="{41B522D3-C2C4-5744-D9F3-4F5C663C3CA3}"/>
              </a:ext>
            </a:extLst>
          </p:cNvPr>
          <p:cNvPicPr>
            <a:picLocks noChangeAspect="1"/>
          </p:cNvPicPr>
          <p:nvPr/>
        </p:nvPicPr>
        <p:blipFill>
          <a:blip r:embed="rId5"/>
          <a:stretch>
            <a:fillRect/>
          </a:stretch>
        </p:blipFill>
        <p:spPr>
          <a:xfrm>
            <a:off x="3075491" y="1137891"/>
            <a:ext cx="6419850" cy="333375"/>
          </a:xfrm>
          <a:prstGeom prst="rect">
            <a:avLst/>
          </a:prstGeom>
        </p:spPr>
      </p:pic>
    </p:spTree>
    <p:extLst>
      <p:ext uri="{BB962C8B-B14F-4D97-AF65-F5344CB8AC3E}">
        <p14:creationId xmlns:p14="http://schemas.microsoft.com/office/powerpoint/2010/main" val="40449699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5.</a:t>
            </a:r>
            <a:r>
              <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总结</a:t>
            </a:r>
          </a:p>
        </p:txBody>
      </p:sp>
      <p:sp>
        <p:nvSpPr>
          <p:cNvPr id="8" name="文本框 7">
            <a:extLst>
              <a:ext uri="{FF2B5EF4-FFF2-40B4-BE49-F238E27FC236}">
                <a16:creationId xmlns:a16="http://schemas.microsoft.com/office/drawing/2014/main" id="{8B1F523D-0150-0759-4B59-A50F8711AA36}"/>
              </a:ext>
            </a:extLst>
          </p:cNvPr>
          <p:cNvSpPr txBox="1"/>
          <p:nvPr/>
        </p:nvSpPr>
        <p:spPr>
          <a:xfrm>
            <a:off x="637794" y="815369"/>
            <a:ext cx="10426446" cy="2031325"/>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本文主要工作：</a:t>
            </a:r>
            <a:endParaRPr lang="en-US" altLang="zh-CN" b="1" dirty="0">
              <a:solidFill>
                <a:srgbClr val="268F9C"/>
              </a:solidFill>
              <a:latin typeface="+mn-ea"/>
            </a:endParaRPr>
          </a:p>
          <a:p>
            <a:pPr marL="285750" indent="-285750">
              <a:buFont typeface="Wingdings" panose="05000000000000000000" pitchFamily="2" charset="2"/>
              <a:buChar char="Ø"/>
            </a:pPr>
            <a:endParaRPr lang="en-US" altLang="zh-CN" b="1" dirty="0">
              <a:solidFill>
                <a:srgbClr val="268F9C"/>
              </a:solidFill>
              <a:latin typeface="+mn-ea"/>
            </a:endParaRPr>
          </a:p>
          <a:p>
            <a:pPr marL="742950" lvl="1" indent="-285750">
              <a:buFont typeface="Arial" panose="020B0604020202020204" pitchFamily="34" charset="0"/>
              <a:buChar char="•"/>
            </a:pPr>
            <a:r>
              <a:rPr lang="zh-CN" altLang="en-US" dirty="0">
                <a:latin typeface="+mn-ea"/>
              </a:rPr>
              <a:t>是对</a:t>
            </a:r>
            <a:r>
              <a:rPr lang="en-US" altLang="zh-CN" dirty="0" err="1">
                <a:latin typeface="+mn-ea"/>
              </a:rPr>
              <a:t>FuseLLM</a:t>
            </a:r>
            <a:r>
              <a:rPr lang="zh-CN" altLang="en-US" dirty="0">
                <a:latin typeface="+mn-ea"/>
              </a:rPr>
              <a:t>的改进，通过两两知识融合缓解了知识蒸馏（知识融合）的难度</a:t>
            </a:r>
            <a:endParaRPr lang="en-US" altLang="zh-CN" dirty="0">
              <a:latin typeface="+mn-ea"/>
            </a:endParaRPr>
          </a:p>
          <a:p>
            <a:pPr marL="742950" lvl="1" indent="-285750">
              <a:buFont typeface="Arial" panose="020B0604020202020204" pitchFamily="34" charset="0"/>
              <a:buChar char="•"/>
            </a:pPr>
            <a:endParaRPr lang="en-US" altLang="zh-CN" dirty="0">
              <a:latin typeface="+mn-ea"/>
            </a:endParaRPr>
          </a:p>
          <a:p>
            <a:pPr marL="742950" lvl="1" indent="-285750">
              <a:buFont typeface="Arial" panose="020B0604020202020204" pitchFamily="34" charset="0"/>
              <a:buChar char="•"/>
            </a:pPr>
            <a:r>
              <a:rPr lang="zh-CN" altLang="en-US" dirty="0">
                <a:latin typeface="+mn-ea"/>
              </a:rPr>
              <a:t>通过知识蒸馏以及模型合并将不同架构和大小的模型融合到一起，合并了不同模型各自的优点</a:t>
            </a:r>
            <a:endParaRPr lang="en-US" altLang="zh-CN" dirty="0">
              <a:latin typeface="+mn-ea"/>
            </a:endParaRPr>
          </a:p>
          <a:p>
            <a:pPr marL="742950" lvl="1" indent="-285750">
              <a:buFont typeface="Arial" panose="020B0604020202020204" pitchFamily="34" charset="0"/>
              <a:buChar char="•"/>
            </a:pPr>
            <a:endParaRPr lang="en-US" altLang="zh-CN" dirty="0">
              <a:latin typeface="+mn-ea"/>
            </a:endParaRPr>
          </a:p>
          <a:p>
            <a:pPr marL="742950" lvl="1" indent="-285750">
              <a:buFont typeface="Arial" panose="020B0604020202020204" pitchFamily="34" charset="0"/>
              <a:buChar char="•"/>
            </a:pPr>
            <a:r>
              <a:rPr lang="zh-CN" altLang="en-US" dirty="0">
                <a:latin typeface="+mn-ea"/>
              </a:rPr>
              <a:t>通过实验结果证明了</a:t>
            </a:r>
            <a:r>
              <a:rPr lang="en-US" altLang="zh-CN" dirty="0" err="1">
                <a:latin typeface="+mn-ea"/>
              </a:rPr>
              <a:t>FuseChat</a:t>
            </a:r>
            <a:r>
              <a:rPr lang="zh-CN" altLang="en-US" dirty="0">
                <a:latin typeface="+mn-ea"/>
              </a:rPr>
              <a:t>的优越性能</a:t>
            </a:r>
            <a:endParaRPr lang="en-US" altLang="zh-CN" dirty="0">
              <a:latin typeface="+mn-ea"/>
            </a:endParaRPr>
          </a:p>
        </p:txBody>
      </p:sp>
    </p:spTree>
    <p:extLst>
      <p:ext uri="{BB962C8B-B14F-4D97-AF65-F5344CB8AC3E}">
        <p14:creationId xmlns:p14="http://schemas.microsoft.com/office/powerpoint/2010/main" val="8700118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28592" y="776798"/>
            <a:ext cx="5070060" cy="5454498"/>
          </a:xfrm>
          <a:prstGeom prst="rect">
            <a:avLst/>
          </a:prstGeom>
          <a:effectLst>
            <a:innerShdw blurRad="63500" dist="50800" dir="16200000">
              <a:prstClr val="black">
                <a:alpha val="50000"/>
              </a:prstClr>
            </a:innerShdw>
          </a:effectLst>
        </p:spPr>
      </p:pic>
      <p:sp>
        <p:nvSpPr>
          <p:cNvPr id="4" name="TextBox 13"/>
          <p:cNvSpPr txBox="1"/>
          <p:nvPr/>
        </p:nvSpPr>
        <p:spPr>
          <a:xfrm>
            <a:off x="6625590" y="2809757"/>
            <a:ext cx="3696764" cy="646331"/>
          </a:xfrm>
          <a:prstGeom prst="rect">
            <a:avLst/>
          </a:prstGeom>
          <a:noFill/>
        </p:spPr>
        <p:txBody>
          <a:bodyPr wrap="square" rtlCol="0">
            <a:spAutoFit/>
          </a:bodyPr>
          <a:lstStyle/>
          <a:p>
            <a:pPr lvl="0" algn="ctr">
              <a:defRPr/>
            </a:pPr>
            <a:r>
              <a:rPr lang="en-US" altLang="zh-CN" sz="3600" dirty="0">
                <a:latin typeface="Lato" panose="020F0502020204030203" pitchFamily="34" charset="0"/>
                <a:ea typeface="+mj-ea"/>
              </a:rPr>
              <a:t>4.</a:t>
            </a:r>
            <a:r>
              <a:rPr lang="zh-CN" altLang="en-US" sz="3600" dirty="0">
                <a:latin typeface="Lato" panose="020F0502020204030203" pitchFamily="34" charset="0"/>
                <a:ea typeface="+mj-ea"/>
              </a:rPr>
              <a:t>权重对齐</a:t>
            </a:r>
            <a:endParaRPr lang="en-US" altLang="zh-CN" sz="3600" dirty="0">
              <a:latin typeface="+mj-ea"/>
              <a:ea typeface="+mj-ea"/>
            </a:endParaRPr>
          </a:p>
        </p:txBody>
      </p:sp>
      <p:grpSp>
        <p:nvGrpSpPr>
          <p:cNvPr id="5" name="组合 4"/>
          <p:cNvGrpSpPr/>
          <p:nvPr/>
        </p:nvGrpSpPr>
        <p:grpSpPr>
          <a:xfrm>
            <a:off x="5741065" y="3837410"/>
            <a:ext cx="5863771" cy="57767"/>
            <a:chOff x="5280505" y="3963496"/>
            <a:chExt cx="5863771" cy="57767"/>
          </a:xfrm>
          <a:solidFill>
            <a:schemeClr val="tx1"/>
          </a:solidFill>
        </p:grpSpPr>
        <p:sp>
          <p:nvSpPr>
            <p:cNvPr id="6" name="任意多边形 16"/>
            <p:cNvSpPr/>
            <p:nvPr/>
          </p:nvSpPr>
          <p:spPr>
            <a:xfrm>
              <a:off x="5280505" y="3992380"/>
              <a:ext cx="5863771" cy="0"/>
            </a:xfrm>
            <a:custGeom>
              <a:avLst/>
              <a:gdLst>
                <a:gd name="connsiteX0" fmla="*/ 0 w 5863771"/>
                <a:gd name="connsiteY0" fmla="*/ 0 h 0"/>
                <a:gd name="connsiteX1" fmla="*/ 58057 w 5863771"/>
                <a:gd name="connsiteY1" fmla="*/ 0 h 0"/>
                <a:gd name="connsiteX2" fmla="*/ 5863771 w 5863771"/>
                <a:gd name="connsiteY2" fmla="*/ 0 h 0"/>
              </a:gdLst>
              <a:ahLst/>
              <a:cxnLst>
                <a:cxn ang="0">
                  <a:pos x="connsiteX0" y="connsiteY0"/>
                </a:cxn>
                <a:cxn ang="0">
                  <a:pos x="connsiteX1" y="connsiteY1"/>
                </a:cxn>
                <a:cxn ang="0">
                  <a:pos x="connsiteX2" y="connsiteY2"/>
                </a:cxn>
              </a:cxnLst>
              <a:rect l="l" t="t" r="r" b="b"/>
              <a:pathLst>
                <a:path w="5863771">
                  <a:moveTo>
                    <a:pt x="0" y="0"/>
                  </a:moveTo>
                  <a:lnTo>
                    <a:pt x="58057" y="0"/>
                  </a:lnTo>
                  <a:lnTo>
                    <a:pt x="5863771" y="0"/>
                  </a:lnTo>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sp>
          <p:nvSpPr>
            <p:cNvPr id="7" name="圆角矩形 17"/>
            <p:cNvSpPr/>
            <p:nvPr/>
          </p:nvSpPr>
          <p:spPr>
            <a:xfrm>
              <a:off x="7456740" y="3963496"/>
              <a:ext cx="1511300" cy="5776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grpSp>
      <p:grpSp>
        <p:nvGrpSpPr>
          <p:cNvPr id="9" name="组合 8"/>
          <p:cNvGrpSpPr/>
          <p:nvPr/>
        </p:nvGrpSpPr>
        <p:grpSpPr bwMode="auto">
          <a:xfrm>
            <a:off x="7782456" y="4205439"/>
            <a:ext cx="412709" cy="333006"/>
            <a:chOff x="0" y="0"/>
            <a:chExt cx="1088225" cy="869861"/>
          </a:xfrm>
          <a:solidFill>
            <a:schemeClr val="tx1"/>
          </a:solidFill>
        </p:grpSpPr>
        <p:sp>
          <p:nvSpPr>
            <p:cNvPr id="10" name="Freeform 17"/>
            <p:cNvSpPr>
              <a:spLocks noEditPoints="1" noChangeArrowheads="1"/>
            </p:cNvSpPr>
            <p:nvPr/>
          </p:nvSpPr>
          <p:spPr bwMode="auto">
            <a:xfrm>
              <a:off x="0" y="237562"/>
              <a:ext cx="824268" cy="632299"/>
            </a:xfrm>
            <a:custGeom>
              <a:avLst/>
              <a:gdLst>
                <a:gd name="T0" fmla="*/ 274 w 291"/>
                <a:gd name="T1" fmla="*/ 0 h 223"/>
                <a:gd name="T2" fmla="*/ 17 w 291"/>
                <a:gd name="T3" fmla="*/ 0 h 223"/>
                <a:gd name="T4" fmla="*/ 0 w 291"/>
                <a:gd name="T5" fmla="*/ 16 h 223"/>
                <a:gd name="T6" fmla="*/ 0 w 291"/>
                <a:gd name="T7" fmla="*/ 207 h 223"/>
                <a:gd name="T8" fmla="*/ 17 w 291"/>
                <a:gd name="T9" fmla="*/ 223 h 223"/>
                <a:gd name="T10" fmla="*/ 274 w 291"/>
                <a:gd name="T11" fmla="*/ 223 h 223"/>
                <a:gd name="T12" fmla="*/ 291 w 291"/>
                <a:gd name="T13" fmla="*/ 207 h 223"/>
                <a:gd name="T14" fmla="*/ 291 w 291"/>
                <a:gd name="T15" fmla="*/ 16 h 223"/>
                <a:gd name="T16" fmla="*/ 274 w 291"/>
                <a:gd name="T17" fmla="*/ 0 h 223"/>
                <a:gd name="T18" fmla="*/ 270 w 291"/>
                <a:gd name="T19" fmla="*/ 193 h 223"/>
                <a:gd name="T20" fmla="*/ 256 w 291"/>
                <a:gd name="T21" fmla="*/ 207 h 223"/>
                <a:gd name="T22" fmla="*/ 35 w 291"/>
                <a:gd name="T23" fmla="*/ 207 h 223"/>
                <a:gd name="T24" fmla="*/ 21 w 291"/>
                <a:gd name="T25" fmla="*/ 193 h 223"/>
                <a:gd name="T26" fmla="*/ 21 w 291"/>
                <a:gd name="T27" fmla="*/ 30 h 223"/>
                <a:gd name="T28" fmla="*/ 35 w 291"/>
                <a:gd name="T29" fmla="*/ 16 h 223"/>
                <a:gd name="T30" fmla="*/ 256 w 291"/>
                <a:gd name="T31" fmla="*/ 16 h 223"/>
                <a:gd name="T32" fmla="*/ 270 w 291"/>
                <a:gd name="T33" fmla="*/ 30 h 223"/>
                <a:gd name="T34" fmla="*/ 270 w 291"/>
                <a:gd name="T35" fmla="*/ 19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1"/>
                <a:gd name="T55" fmla="*/ 0 h 223"/>
                <a:gd name="T56" fmla="*/ 291 w 291"/>
                <a:gd name="T57" fmla="*/ 223 h 2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1" h="223">
                  <a:moveTo>
                    <a:pt x="274" y="0"/>
                  </a:moveTo>
                  <a:cubicBezTo>
                    <a:pt x="17" y="0"/>
                    <a:pt x="17" y="0"/>
                    <a:pt x="17" y="0"/>
                  </a:cubicBezTo>
                  <a:cubicBezTo>
                    <a:pt x="8" y="0"/>
                    <a:pt x="0" y="7"/>
                    <a:pt x="0" y="16"/>
                  </a:cubicBezTo>
                  <a:cubicBezTo>
                    <a:pt x="0" y="207"/>
                    <a:pt x="0" y="207"/>
                    <a:pt x="0" y="207"/>
                  </a:cubicBezTo>
                  <a:cubicBezTo>
                    <a:pt x="0" y="215"/>
                    <a:pt x="8" y="223"/>
                    <a:pt x="17" y="223"/>
                  </a:cubicBezTo>
                  <a:cubicBezTo>
                    <a:pt x="274" y="223"/>
                    <a:pt x="274" y="223"/>
                    <a:pt x="274" y="223"/>
                  </a:cubicBezTo>
                  <a:cubicBezTo>
                    <a:pt x="283" y="223"/>
                    <a:pt x="291" y="215"/>
                    <a:pt x="291" y="207"/>
                  </a:cubicBezTo>
                  <a:cubicBezTo>
                    <a:pt x="291" y="16"/>
                    <a:pt x="291" y="16"/>
                    <a:pt x="291" y="16"/>
                  </a:cubicBezTo>
                  <a:cubicBezTo>
                    <a:pt x="291" y="7"/>
                    <a:pt x="283" y="0"/>
                    <a:pt x="274" y="0"/>
                  </a:cubicBezTo>
                  <a:moveTo>
                    <a:pt x="270" y="193"/>
                  </a:moveTo>
                  <a:cubicBezTo>
                    <a:pt x="270" y="201"/>
                    <a:pt x="264" y="207"/>
                    <a:pt x="256" y="207"/>
                  </a:cubicBezTo>
                  <a:cubicBezTo>
                    <a:pt x="35" y="207"/>
                    <a:pt x="35" y="207"/>
                    <a:pt x="35" y="207"/>
                  </a:cubicBezTo>
                  <a:cubicBezTo>
                    <a:pt x="27" y="207"/>
                    <a:pt x="21" y="201"/>
                    <a:pt x="21" y="193"/>
                  </a:cubicBezTo>
                  <a:cubicBezTo>
                    <a:pt x="21" y="30"/>
                    <a:pt x="21" y="30"/>
                    <a:pt x="21" y="30"/>
                  </a:cubicBezTo>
                  <a:cubicBezTo>
                    <a:pt x="21" y="22"/>
                    <a:pt x="27" y="16"/>
                    <a:pt x="35" y="16"/>
                  </a:cubicBezTo>
                  <a:cubicBezTo>
                    <a:pt x="256" y="16"/>
                    <a:pt x="256" y="16"/>
                    <a:pt x="256" y="16"/>
                  </a:cubicBezTo>
                  <a:cubicBezTo>
                    <a:pt x="264" y="16"/>
                    <a:pt x="270" y="22"/>
                    <a:pt x="270" y="30"/>
                  </a:cubicBezTo>
                  <a:lnTo>
                    <a:pt x="270" y="19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1" name="Freeform 18"/>
            <p:cNvSpPr>
              <a:spLocks noChangeArrowheads="1"/>
            </p:cNvSpPr>
            <p:nvPr/>
          </p:nvSpPr>
          <p:spPr bwMode="auto">
            <a:xfrm>
              <a:off x="137978" y="110382"/>
              <a:ext cx="821868" cy="632299"/>
            </a:xfrm>
            <a:custGeom>
              <a:avLst/>
              <a:gdLst>
                <a:gd name="T0" fmla="*/ 274 w 290"/>
                <a:gd name="T1" fmla="*/ 0 h 223"/>
                <a:gd name="T2" fmla="*/ 16 w 290"/>
                <a:gd name="T3" fmla="*/ 0 h 223"/>
                <a:gd name="T4" fmla="*/ 0 w 290"/>
                <a:gd name="T5" fmla="*/ 16 h 223"/>
                <a:gd name="T6" fmla="*/ 0 w 290"/>
                <a:gd name="T7" fmla="*/ 25 h 223"/>
                <a:gd name="T8" fmla="*/ 249 w 290"/>
                <a:gd name="T9" fmla="*/ 25 h 223"/>
                <a:gd name="T10" fmla="*/ 265 w 290"/>
                <a:gd name="T11" fmla="*/ 42 h 223"/>
                <a:gd name="T12" fmla="*/ 265 w 290"/>
                <a:gd name="T13" fmla="*/ 223 h 223"/>
                <a:gd name="T14" fmla="*/ 274 w 290"/>
                <a:gd name="T15" fmla="*/ 223 h 223"/>
                <a:gd name="T16" fmla="*/ 290 w 290"/>
                <a:gd name="T17" fmla="*/ 207 h 223"/>
                <a:gd name="T18" fmla="*/ 290 w 290"/>
                <a:gd name="T19" fmla="*/ 16 h 223"/>
                <a:gd name="T20" fmla="*/ 274 w 29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3"/>
                <a:gd name="T35" fmla="*/ 290 w 29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3">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3"/>
                    <a:pt x="265" y="42"/>
                  </a:cubicBezTo>
                  <a:cubicBezTo>
                    <a:pt x="265" y="223"/>
                    <a:pt x="265" y="223"/>
                    <a:pt x="265" y="223"/>
                  </a:cubicBezTo>
                  <a:cubicBezTo>
                    <a:pt x="274" y="223"/>
                    <a:pt x="274" y="223"/>
                    <a:pt x="274" y="223"/>
                  </a:cubicBezTo>
                  <a:cubicBezTo>
                    <a:pt x="283" y="223"/>
                    <a:pt x="290" y="216"/>
                    <a:pt x="290" y="207"/>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2" name="Freeform 19"/>
            <p:cNvSpPr>
              <a:spLocks noChangeArrowheads="1"/>
            </p:cNvSpPr>
            <p:nvPr/>
          </p:nvSpPr>
          <p:spPr bwMode="auto">
            <a:xfrm>
              <a:off x="266357" y="0"/>
              <a:ext cx="821868" cy="628699"/>
            </a:xfrm>
            <a:custGeom>
              <a:avLst/>
              <a:gdLst>
                <a:gd name="T0" fmla="*/ 274 w 290"/>
                <a:gd name="T1" fmla="*/ 0 h 222"/>
                <a:gd name="T2" fmla="*/ 16 w 290"/>
                <a:gd name="T3" fmla="*/ 0 h 222"/>
                <a:gd name="T4" fmla="*/ 0 w 290"/>
                <a:gd name="T5" fmla="*/ 16 h 222"/>
                <a:gd name="T6" fmla="*/ 0 w 290"/>
                <a:gd name="T7" fmla="*/ 25 h 222"/>
                <a:gd name="T8" fmla="*/ 249 w 290"/>
                <a:gd name="T9" fmla="*/ 25 h 222"/>
                <a:gd name="T10" fmla="*/ 265 w 290"/>
                <a:gd name="T11" fmla="*/ 41 h 222"/>
                <a:gd name="T12" fmla="*/ 265 w 290"/>
                <a:gd name="T13" fmla="*/ 222 h 222"/>
                <a:gd name="T14" fmla="*/ 274 w 290"/>
                <a:gd name="T15" fmla="*/ 222 h 222"/>
                <a:gd name="T16" fmla="*/ 290 w 290"/>
                <a:gd name="T17" fmla="*/ 206 h 222"/>
                <a:gd name="T18" fmla="*/ 290 w 290"/>
                <a:gd name="T19" fmla="*/ 16 h 222"/>
                <a:gd name="T20" fmla="*/ 274 w 290"/>
                <a:gd name="T21" fmla="*/ 0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2"/>
                <a:gd name="T35" fmla="*/ 290 w 290"/>
                <a:gd name="T36" fmla="*/ 222 h 2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2">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2"/>
                    <a:pt x="265" y="41"/>
                  </a:cubicBezTo>
                  <a:cubicBezTo>
                    <a:pt x="265" y="222"/>
                    <a:pt x="265" y="222"/>
                    <a:pt x="265" y="222"/>
                  </a:cubicBezTo>
                  <a:cubicBezTo>
                    <a:pt x="274" y="222"/>
                    <a:pt x="274" y="222"/>
                    <a:pt x="274" y="222"/>
                  </a:cubicBezTo>
                  <a:cubicBezTo>
                    <a:pt x="283" y="222"/>
                    <a:pt x="290" y="215"/>
                    <a:pt x="290" y="206"/>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3" name="Freeform 20"/>
            <p:cNvSpPr>
              <a:spLocks noChangeArrowheads="1"/>
            </p:cNvSpPr>
            <p:nvPr/>
          </p:nvSpPr>
          <p:spPr bwMode="auto">
            <a:xfrm>
              <a:off x="110382" y="422332"/>
              <a:ext cx="569909" cy="353943"/>
            </a:xfrm>
            <a:custGeom>
              <a:avLst/>
              <a:gdLst>
                <a:gd name="T0" fmla="*/ 71 w 201"/>
                <a:gd name="T1" fmla="*/ 5 h 125"/>
                <a:gd name="T2" fmla="*/ 11 w 201"/>
                <a:gd name="T3" fmla="*/ 109 h 125"/>
                <a:gd name="T4" fmla="*/ 11 w 201"/>
                <a:gd name="T5" fmla="*/ 124 h 125"/>
                <a:gd name="T6" fmla="*/ 192 w 201"/>
                <a:gd name="T7" fmla="*/ 124 h 125"/>
                <a:gd name="T8" fmla="*/ 192 w 201"/>
                <a:gd name="T9" fmla="*/ 108 h 125"/>
                <a:gd name="T10" fmla="*/ 151 w 201"/>
                <a:gd name="T11" fmla="*/ 47 h 125"/>
                <a:gd name="T12" fmla="*/ 117 w 201"/>
                <a:gd name="T13" fmla="*/ 86 h 125"/>
                <a:gd name="T14" fmla="*/ 110 w 201"/>
                <a:gd name="T15" fmla="*/ 81 h 125"/>
                <a:gd name="T16" fmla="*/ 122 w 201"/>
                <a:gd name="T17" fmla="*/ 65 h 125"/>
                <a:gd name="T18" fmla="*/ 81 w 201"/>
                <a:gd name="T19" fmla="*/ 5 h 125"/>
                <a:gd name="T20" fmla="*/ 71 w 201"/>
                <a:gd name="T21" fmla="*/ 5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25"/>
                <a:gd name="T35" fmla="*/ 201 w 201"/>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25">
                  <a:moveTo>
                    <a:pt x="71" y="5"/>
                  </a:moveTo>
                  <a:cubicBezTo>
                    <a:pt x="11" y="109"/>
                    <a:pt x="11" y="109"/>
                    <a:pt x="11" y="109"/>
                  </a:cubicBezTo>
                  <a:cubicBezTo>
                    <a:pt x="11" y="109"/>
                    <a:pt x="0" y="124"/>
                    <a:pt x="11" y="124"/>
                  </a:cubicBezTo>
                  <a:cubicBezTo>
                    <a:pt x="25" y="125"/>
                    <a:pt x="192" y="124"/>
                    <a:pt x="192" y="124"/>
                  </a:cubicBezTo>
                  <a:cubicBezTo>
                    <a:pt x="192" y="124"/>
                    <a:pt x="201" y="121"/>
                    <a:pt x="192" y="108"/>
                  </a:cubicBezTo>
                  <a:cubicBezTo>
                    <a:pt x="182" y="94"/>
                    <a:pt x="158" y="46"/>
                    <a:pt x="151" y="47"/>
                  </a:cubicBezTo>
                  <a:cubicBezTo>
                    <a:pt x="144" y="47"/>
                    <a:pt x="120" y="83"/>
                    <a:pt x="117" y="86"/>
                  </a:cubicBezTo>
                  <a:cubicBezTo>
                    <a:pt x="115" y="89"/>
                    <a:pt x="108" y="84"/>
                    <a:pt x="110" y="81"/>
                  </a:cubicBezTo>
                  <a:cubicBezTo>
                    <a:pt x="116" y="74"/>
                    <a:pt x="122" y="65"/>
                    <a:pt x="122" y="65"/>
                  </a:cubicBezTo>
                  <a:cubicBezTo>
                    <a:pt x="122" y="65"/>
                    <a:pt x="84" y="9"/>
                    <a:pt x="81" y="5"/>
                  </a:cubicBezTo>
                  <a:cubicBezTo>
                    <a:pt x="78" y="0"/>
                    <a:pt x="73" y="1"/>
                    <a:pt x="71" y="5"/>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4" name="Oval 21"/>
            <p:cNvSpPr>
              <a:spLocks noChangeArrowheads="1"/>
            </p:cNvSpPr>
            <p:nvPr/>
          </p:nvSpPr>
          <p:spPr bwMode="auto">
            <a:xfrm>
              <a:off x="563909" y="331147"/>
              <a:ext cx="101984" cy="99584"/>
            </a:xfrm>
            <a:prstGeom prst="ellipse">
              <a:avLst/>
            </a:pr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5" name="组合 14"/>
          <p:cNvGrpSpPr/>
          <p:nvPr/>
        </p:nvGrpSpPr>
        <p:grpSpPr bwMode="auto">
          <a:xfrm>
            <a:off x="9791433" y="4205439"/>
            <a:ext cx="329894" cy="333006"/>
            <a:chOff x="0" y="0"/>
            <a:chExt cx="881859" cy="881859"/>
          </a:xfrm>
          <a:solidFill>
            <a:schemeClr val="tx1"/>
          </a:solidFill>
        </p:grpSpPr>
        <p:sp>
          <p:nvSpPr>
            <p:cNvPr id="16" name="Freeform 22"/>
            <p:cNvSpPr>
              <a:spLocks noEditPoints="1" noChangeArrowheads="1"/>
            </p:cNvSpPr>
            <p:nvPr/>
          </p:nvSpPr>
          <p:spPr bwMode="auto">
            <a:xfrm>
              <a:off x="0" y="0"/>
              <a:ext cx="881859" cy="881859"/>
            </a:xfrm>
            <a:custGeom>
              <a:avLst/>
              <a:gdLst>
                <a:gd name="T0" fmla="*/ 155 w 311"/>
                <a:gd name="T1" fmla="*/ 0 h 311"/>
                <a:gd name="T2" fmla="*/ 0 w 311"/>
                <a:gd name="T3" fmla="*/ 155 h 311"/>
                <a:gd name="T4" fmla="*/ 155 w 311"/>
                <a:gd name="T5" fmla="*/ 311 h 311"/>
                <a:gd name="T6" fmla="*/ 311 w 311"/>
                <a:gd name="T7" fmla="*/ 155 h 311"/>
                <a:gd name="T8" fmla="*/ 155 w 311"/>
                <a:gd name="T9" fmla="*/ 0 h 311"/>
                <a:gd name="T10" fmla="*/ 155 w 311"/>
                <a:gd name="T11" fmla="*/ 289 h 311"/>
                <a:gd name="T12" fmla="*/ 21 w 311"/>
                <a:gd name="T13" fmla="*/ 155 h 311"/>
                <a:gd name="T14" fmla="*/ 155 w 311"/>
                <a:gd name="T15" fmla="*/ 21 h 311"/>
                <a:gd name="T16" fmla="*/ 289 w 311"/>
                <a:gd name="T17" fmla="*/ 155 h 311"/>
                <a:gd name="T18" fmla="*/ 155 w 311"/>
                <a:gd name="T19" fmla="*/ 289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1"/>
                <a:gd name="T31" fmla="*/ 0 h 311"/>
                <a:gd name="T32" fmla="*/ 311 w 311"/>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1" h="311">
                  <a:moveTo>
                    <a:pt x="155" y="0"/>
                  </a:moveTo>
                  <a:cubicBezTo>
                    <a:pt x="70" y="0"/>
                    <a:pt x="0" y="69"/>
                    <a:pt x="0" y="155"/>
                  </a:cubicBezTo>
                  <a:cubicBezTo>
                    <a:pt x="0" y="241"/>
                    <a:pt x="70" y="311"/>
                    <a:pt x="155" y="311"/>
                  </a:cubicBezTo>
                  <a:cubicBezTo>
                    <a:pt x="241" y="311"/>
                    <a:pt x="311" y="241"/>
                    <a:pt x="311" y="155"/>
                  </a:cubicBezTo>
                  <a:cubicBezTo>
                    <a:pt x="311" y="69"/>
                    <a:pt x="241" y="0"/>
                    <a:pt x="155" y="0"/>
                  </a:cubicBezTo>
                  <a:moveTo>
                    <a:pt x="155" y="289"/>
                  </a:moveTo>
                  <a:cubicBezTo>
                    <a:pt x="81" y="289"/>
                    <a:pt x="21" y="229"/>
                    <a:pt x="21" y="155"/>
                  </a:cubicBezTo>
                  <a:cubicBezTo>
                    <a:pt x="21" y="81"/>
                    <a:pt x="81" y="21"/>
                    <a:pt x="155" y="21"/>
                  </a:cubicBezTo>
                  <a:cubicBezTo>
                    <a:pt x="229" y="21"/>
                    <a:pt x="289" y="81"/>
                    <a:pt x="289" y="155"/>
                  </a:cubicBezTo>
                  <a:cubicBezTo>
                    <a:pt x="289" y="229"/>
                    <a:pt x="229" y="289"/>
                    <a:pt x="155" y="289"/>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7" name="Freeform 23"/>
            <p:cNvSpPr>
              <a:spLocks noChangeArrowheads="1"/>
            </p:cNvSpPr>
            <p:nvPr/>
          </p:nvSpPr>
          <p:spPr bwMode="auto">
            <a:xfrm>
              <a:off x="235162" y="70789"/>
              <a:ext cx="430731" cy="428331"/>
            </a:xfrm>
            <a:custGeom>
              <a:avLst/>
              <a:gdLst>
                <a:gd name="T0" fmla="*/ 145 w 152"/>
                <a:gd name="T1" fmla="*/ 53 h 151"/>
                <a:gd name="T2" fmla="*/ 144 w 152"/>
                <a:gd name="T3" fmla="*/ 52 h 151"/>
                <a:gd name="T4" fmla="*/ 125 w 152"/>
                <a:gd name="T5" fmla="*/ 52 h 151"/>
                <a:gd name="T6" fmla="*/ 77 w 152"/>
                <a:gd name="T7" fmla="*/ 106 h 151"/>
                <a:gd name="T8" fmla="*/ 31 w 152"/>
                <a:gd name="T9" fmla="*/ 12 h 151"/>
                <a:gd name="T10" fmla="*/ 11 w 152"/>
                <a:gd name="T11" fmla="*/ 4 h 151"/>
                <a:gd name="T12" fmla="*/ 10 w 152"/>
                <a:gd name="T13" fmla="*/ 4 h 151"/>
                <a:gd name="T14" fmla="*/ 4 w 152"/>
                <a:gd name="T15" fmla="*/ 25 h 151"/>
                <a:gd name="T16" fmla="*/ 60 w 152"/>
                <a:gd name="T17" fmla="*/ 140 h 151"/>
                <a:gd name="T18" fmla="*/ 79 w 152"/>
                <a:gd name="T19" fmla="*/ 148 h 151"/>
                <a:gd name="T20" fmla="*/ 79 w 152"/>
                <a:gd name="T21" fmla="*/ 148 h 151"/>
                <a:gd name="T22" fmla="*/ 80 w 152"/>
                <a:gd name="T23" fmla="*/ 148 h 151"/>
                <a:gd name="T24" fmla="*/ 81 w 152"/>
                <a:gd name="T25" fmla="*/ 147 h 151"/>
                <a:gd name="T26" fmla="*/ 87 w 152"/>
                <a:gd name="T27" fmla="*/ 141 h 151"/>
                <a:gd name="T28" fmla="*/ 148 w 152"/>
                <a:gd name="T29" fmla="*/ 72 h 151"/>
                <a:gd name="T30" fmla="*/ 145 w 152"/>
                <a:gd name="T31" fmla="*/ 53 h 1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1"/>
                <a:gd name="T50" fmla="*/ 152 w 152"/>
                <a:gd name="T51" fmla="*/ 151 h 1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1">
                  <a:moveTo>
                    <a:pt x="145" y="53"/>
                  </a:moveTo>
                  <a:cubicBezTo>
                    <a:pt x="144" y="52"/>
                    <a:pt x="144" y="52"/>
                    <a:pt x="144" y="52"/>
                  </a:cubicBezTo>
                  <a:cubicBezTo>
                    <a:pt x="138" y="47"/>
                    <a:pt x="129" y="47"/>
                    <a:pt x="125" y="52"/>
                  </a:cubicBezTo>
                  <a:cubicBezTo>
                    <a:pt x="77" y="106"/>
                    <a:pt x="77" y="106"/>
                    <a:pt x="77" y="106"/>
                  </a:cubicBezTo>
                  <a:cubicBezTo>
                    <a:pt x="31" y="12"/>
                    <a:pt x="31" y="12"/>
                    <a:pt x="31" y="12"/>
                  </a:cubicBezTo>
                  <a:cubicBezTo>
                    <a:pt x="27" y="4"/>
                    <a:pt x="18" y="0"/>
                    <a:pt x="11" y="4"/>
                  </a:cubicBezTo>
                  <a:cubicBezTo>
                    <a:pt x="10" y="4"/>
                    <a:pt x="10" y="4"/>
                    <a:pt x="10" y="4"/>
                  </a:cubicBezTo>
                  <a:cubicBezTo>
                    <a:pt x="3" y="8"/>
                    <a:pt x="0" y="17"/>
                    <a:pt x="4" y="25"/>
                  </a:cubicBezTo>
                  <a:cubicBezTo>
                    <a:pt x="60" y="140"/>
                    <a:pt x="60" y="140"/>
                    <a:pt x="60" y="140"/>
                  </a:cubicBezTo>
                  <a:cubicBezTo>
                    <a:pt x="63" y="148"/>
                    <a:pt x="72" y="151"/>
                    <a:pt x="79" y="148"/>
                  </a:cubicBezTo>
                  <a:cubicBezTo>
                    <a:pt x="79" y="148"/>
                    <a:pt x="79" y="148"/>
                    <a:pt x="79" y="148"/>
                  </a:cubicBezTo>
                  <a:cubicBezTo>
                    <a:pt x="79" y="148"/>
                    <a:pt x="80" y="148"/>
                    <a:pt x="80" y="148"/>
                  </a:cubicBezTo>
                  <a:cubicBezTo>
                    <a:pt x="81" y="147"/>
                    <a:pt x="81" y="147"/>
                    <a:pt x="81" y="147"/>
                  </a:cubicBezTo>
                  <a:cubicBezTo>
                    <a:pt x="84" y="146"/>
                    <a:pt x="86" y="144"/>
                    <a:pt x="87" y="141"/>
                  </a:cubicBezTo>
                  <a:cubicBezTo>
                    <a:pt x="148" y="72"/>
                    <a:pt x="148" y="72"/>
                    <a:pt x="148" y="72"/>
                  </a:cubicBezTo>
                  <a:cubicBezTo>
                    <a:pt x="152" y="67"/>
                    <a:pt x="151" y="59"/>
                    <a:pt x="145" y="53"/>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8" name="组合 17"/>
          <p:cNvGrpSpPr/>
          <p:nvPr/>
        </p:nvGrpSpPr>
        <p:grpSpPr bwMode="auto">
          <a:xfrm>
            <a:off x="8473972" y="4205439"/>
            <a:ext cx="397959" cy="333006"/>
            <a:chOff x="0" y="0"/>
            <a:chExt cx="961046" cy="796672"/>
          </a:xfrm>
          <a:solidFill>
            <a:schemeClr val="tx1"/>
          </a:solidFill>
        </p:grpSpPr>
        <p:sp>
          <p:nvSpPr>
            <p:cNvPr id="19" name="Freeform 24"/>
            <p:cNvSpPr>
              <a:spLocks noEditPoints="1" noChangeArrowheads="1"/>
            </p:cNvSpPr>
            <p:nvPr/>
          </p:nvSpPr>
          <p:spPr bwMode="auto">
            <a:xfrm>
              <a:off x="0" y="0"/>
              <a:ext cx="961046" cy="796672"/>
            </a:xfrm>
            <a:custGeom>
              <a:avLst/>
              <a:gdLst>
                <a:gd name="T0" fmla="*/ 321 w 339"/>
                <a:gd name="T1" fmla="*/ 0 h 281"/>
                <a:gd name="T2" fmla="*/ 18 w 339"/>
                <a:gd name="T3" fmla="*/ 0 h 281"/>
                <a:gd name="T4" fmla="*/ 0 w 339"/>
                <a:gd name="T5" fmla="*/ 18 h 281"/>
                <a:gd name="T6" fmla="*/ 0 w 339"/>
                <a:gd name="T7" fmla="*/ 263 h 281"/>
                <a:gd name="T8" fmla="*/ 18 w 339"/>
                <a:gd name="T9" fmla="*/ 281 h 281"/>
                <a:gd name="T10" fmla="*/ 321 w 339"/>
                <a:gd name="T11" fmla="*/ 281 h 281"/>
                <a:gd name="T12" fmla="*/ 339 w 339"/>
                <a:gd name="T13" fmla="*/ 263 h 281"/>
                <a:gd name="T14" fmla="*/ 339 w 339"/>
                <a:gd name="T15" fmla="*/ 18 h 281"/>
                <a:gd name="T16" fmla="*/ 321 w 339"/>
                <a:gd name="T17" fmla="*/ 0 h 281"/>
                <a:gd name="T18" fmla="*/ 316 w 339"/>
                <a:gd name="T19" fmla="*/ 246 h 281"/>
                <a:gd name="T20" fmla="*/ 301 w 339"/>
                <a:gd name="T21" fmla="*/ 262 h 281"/>
                <a:gd name="T22" fmla="*/ 38 w 339"/>
                <a:gd name="T23" fmla="*/ 262 h 281"/>
                <a:gd name="T24" fmla="*/ 23 w 339"/>
                <a:gd name="T25" fmla="*/ 246 h 281"/>
                <a:gd name="T26" fmla="*/ 23 w 339"/>
                <a:gd name="T27" fmla="*/ 35 h 281"/>
                <a:gd name="T28" fmla="*/ 38 w 339"/>
                <a:gd name="T29" fmla="*/ 19 h 281"/>
                <a:gd name="T30" fmla="*/ 301 w 339"/>
                <a:gd name="T31" fmla="*/ 19 h 281"/>
                <a:gd name="T32" fmla="*/ 316 w 339"/>
                <a:gd name="T33" fmla="*/ 35 h 281"/>
                <a:gd name="T34" fmla="*/ 316 w 339"/>
                <a:gd name="T35" fmla="*/ 246 h 2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9"/>
                <a:gd name="T55" fmla="*/ 0 h 281"/>
                <a:gd name="T56" fmla="*/ 339 w 339"/>
                <a:gd name="T57" fmla="*/ 281 h 2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9" h="281">
                  <a:moveTo>
                    <a:pt x="321" y="0"/>
                  </a:moveTo>
                  <a:cubicBezTo>
                    <a:pt x="18" y="0"/>
                    <a:pt x="18" y="0"/>
                    <a:pt x="18" y="0"/>
                  </a:cubicBezTo>
                  <a:cubicBezTo>
                    <a:pt x="8" y="0"/>
                    <a:pt x="0" y="8"/>
                    <a:pt x="0" y="18"/>
                  </a:cubicBezTo>
                  <a:cubicBezTo>
                    <a:pt x="0" y="263"/>
                    <a:pt x="0" y="263"/>
                    <a:pt x="0" y="263"/>
                  </a:cubicBezTo>
                  <a:cubicBezTo>
                    <a:pt x="0" y="273"/>
                    <a:pt x="8" y="281"/>
                    <a:pt x="18" y="281"/>
                  </a:cubicBezTo>
                  <a:cubicBezTo>
                    <a:pt x="321" y="281"/>
                    <a:pt x="321" y="281"/>
                    <a:pt x="321" y="281"/>
                  </a:cubicBezTo>
                  <a:cubicBezTo>
                    <a:pt x="331" y="281"/>
                    <a:pt x="339" y="273"/>
                    <a:pt x="339" y="263"/>
                  </a:cubicBezTo>
                  <a:cubicBezTo>
                    <a:pt x="339" y="18"/>
                    <a:pt x="339" y="18"/>
                    <a:pt x="339" y="18"/>
                  </a:cubicBezTo>
                  <a:cubicBezTo>
                    <a:pt x="339" y="8"/>
                    <a:pt x="331" y="0"/>
                    <a:pt x="321" y="0"/>
                  </a:cubicBezTo>
                  <a:moveTo>
                    <a:pt x="316" y="246"/>
                  </a:moveTo>
                  <a:cubicBezTo>
                    <a:pt x="316" y="255"/>
                    <a:pt x="309" y="262"/>
                    <a:pt x="301" y="262"/>
                  </a:cubicBezTo>
                  <a:cubicBezTo>
                    <a:pt x="38" y="262"/>
                    <a:pt x="38" y="262"/>
                    <a:pt x="38" y="262"/>
                  </a:cubicBezTo>
                  <a:cubicBezTo>
                    <a:pt x="30" y="262"/>
                    <a:pt x="23" y="255"/>
                    <a:pt x="23" y="246"/>
                  </a:cubicBezTo>
                  <a:cubicBezTo>
                    <a:pt x="23" y="35"/>
                    <a:pt x="23" y="35"/>
                    <a:pt x="23" y="35"/>
                  </a:cubicBezTo>
                  <a:cubicBezTo>
                    <a:pt x="23" y="26"/>
                    <a:pt x="30" y="19"/>
                    <a:pt x="38" y="19"/>
                  </a:cubicBezTo>
                  <a:cubicBezTo>
                    <a:pt x="301" y="19"/>
                    <a:pt x="301" y="19"/>
                    <a:pt x="301" y="19"/>
                  </a:cubicBezTo>
                  <a:cubicBezTo>
                    <a:pt x="309" y="19"/>
                    <a:pt x="316" y="26"/>
                    <a:pt x="316" y="35"/>
                  </a:cubicBezTo>
                  <a:lnTo>
                    <a:pt x="316" y="24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0" name="Freeform 25"/>
            <p:cNvSpPr>
              <a:spLocks noChangeArrowheads="1"/>
            </p:cNvSpPr>
            <p:nvPr/>
          </p:nvSpPr>
          <p:spPr bwMode="auto">
            <a:xfrm>
              <a:off x="176371"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1" name="Freeform 26"/>
            <p:cNvSpPr>
              <a:spLocks noChangeArrowheads="1"/>
            </p:cNvSpPr>
            <p:nvPr/>
          </p:nvSpPr>
          <p:spPr bwMode="auto">
            <a:xfrm>
              <a:off x="176371"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2" name="Freeform 27"/>
            <p:cNvSpPr>
              <a:spLocks noChangeArrowheads="1"/>
            </p:cNvSpPr>
            <p:nvPr/>
          </p:nvSpPr>
          <p:spPr bwMode="auto">
            <a:xfrm>
              <a:off x="346744"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3" name="Freeform 28"/>
            <p:cNvSpPr>
              <a:spLocks noChangeArrowheads="1"/>
            </p:cNvSpPr>
            <p:nvPr/>
          </p:nvSpPr>
          <p:spPr bwMode="auto">
            <a:xfrm>
              <a:off x="346744"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4" name="Freeform 29"/>
            <p:cNvSpPr>
              <a:spLocks noChangeArrowheads="1"/>
            </p:cNvSpPr>
            <p:nvPr/>
          </p:nvSpPr>
          <p:spPr bwMode="auto">
            <a:xfrm>
              <a:off x="346744"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5" name="Freeform 30"/>
            <p:cNvSpPr>
              <a:spLocks noChangeArrowheads="1"/>
            </p:cNvSpPr>
            <p:nvPr/>
          </p:nvSpPr>
          <p:spPr bwMode="auto">
            <a:xfrm>
              <a:off x="519516" y="116382"/>
              <a:ext cx="83987"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6" name="Freeform 31"/>
            <p:cNvSpPr>
              <a:spLocks noChangeArrowheads="1"/>
            </p:cNvSpPr>
            <p:nvPr/>
          </p:nvSpPr>
          <p:spPr bwMode="auto">
            <a:xfrm>
              <a:off x="519516" y="274756"/>
              <a:ext cx="83987"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7" name="Freeform 32"/>
            <p:cNvSpPr>
              <a:spLocks noChangeArrowheads="1"/>
            </p:cNvSpPr>
            <p:nvPr/>
          </p:nvSpPr>
          <p:spPr bwMode="auto">
            <a:xfrm>
              <a:off x="688689" y="116382"/>
              <a:ext cx="85186"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8" name="Freeform 33"/>
            <p:cNvSpPr>
              <a:spLocks noChangeArrowheads="1"/>
            </p:cNvSpPr>
            <p:nvPr/>
          </p:nvSpPr>
          <p:spPr bwMode="auto">
            <a:xfrm>
              <a:off x="688689" y="274756"/>
              <a:ext cx="85186"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9" name="Freeform 34"/>
            <p:cNvSpPr>
              <a:spLocks noChangeArrowheads="1"/>
            </p:cNvSpPr>
            <p:nvPr/>
          </p:nvSpPr>
          <p:spPr bwMode="auto">
            <a:xfrm>
              <a:off x="176371"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sp>
        <p:nvSpPr>
          <p:cNvPr id="30" name="Freeform 84"/>
          <p:cNvSpPr>
            <a:spLocks noChangeAspect="1" noEditPoints="1" noChangeArrowheads="1"/>
          </p:cNvSpPr>
          <p:nvPr/>
        </p:nvSpPr>
        <p:spPr bwMode="auto">
          <a:xfrm>
            <a:off x="7169827" y="4205438"/>
            <a:ext cx="333822" cy="333006"/>
          </a:xfrm>
          <a:custGeom>
            <a:avLst/>
            <a:gdLst>
              <a:gd name="T0" fmla="*/ 170 w 170"/>
              <a:gd name="T1" fmla="*/ 0 h 168"/>
              <a:gd name="T2" fmla="*/ 162 w 170"/>
              <a:gd name="T3" fmla="*/ 16 h 168"/>
              <a:gd name="T4" fmla="*/ 170 w 170"/>
              <a:gd name="T5" fmla="*/ 103 h 168"/>
              <a:gd name="T6" fmla="*/ 93 w 170"/>
              <a:gd name="T7" fmla="*/ 119 h 168"/>
              <a:gd name="T8" fmla="*/ 128 w 170"/>
              <a:gd name="T9" fmla="*/ 152 h 168"/>
              <a:gd name="T10" fmla="*/ 42 w 170"/>
              <a:gd name="T11" fmla="*/ 168 h 168"/>
              <a:gd name="T12" fmla="*/ 77 w 170"/>
              <a:gd name="T13" fmla="*/ 152 h 168"/>
              <a:gd name="T14" fmla="*/ 0 w 170"/>
              <a:gd name="T15" fmla="*/ 119 h 168"/>
              <a:gd name="T16" fmla="*/ 6 w 170"/>
              <a:gd name="T17" fmla="*/ 103 h 168"/>
              <a:gd name="T18" fmla="*/ 0 w 170"/>
              <a:gd name="T19" fmla="*/ 16 h 168"/>
              <a:gd name="T20" fmla="*/ 0 w 170"/>
              <a:gd name="T21" fmla="*/ 0 h 168"/>
              <a:gd name="T22" fmla="*/ 122 w 170"/>
              <a:gd name="T23" fmla="*/ 40 h 168"/>
              <a:gd name="T24" fmla="*/ 115 w 170"/>
              <a:gd name="T25" fmla="*/ 44 h 168"/>
              <a:gd name="T26" fmla="*/ 75 w 170"/>
              <a:gd name="T27" fmla="*/ 52 h 168"/>
              <a:gd name="T28" fmla="*/ 73 w 170"/>
              <a:gd name="T29" fmla="*/ 50 h 168"/>
              <a:gd name="T30" fmla="*/ 50 w 170"/>
              <a:gd name="T31" fmla="*/ 67 h 168"/>
              <a:gd name="T32" fmla="*/ 85 w 170"/>
              <a:gd name="T33" fmla="*/ 65 h 168"/>
              <a:gd name="T34" fmla="*/ 89 w 170"/>
              <a:gd name="T35" fmla="*/ 67 h 168"/>
              <a:gd name="T36" fmla="*/ 120 w 170"/>
              <a:gd name="T37" fmla="*/ 52 h 168"/>
              <a:gd name="T38" fmla="*/ 128 w 170"/>
              <a:gd name="T39" fmla="*/ 40 h 168"/>
              <a:gd name="T40" fmla="*/ 113 w 170"/>
              <a:gd name="T41" fmla="*/ 58 h 168"/>
              <a:gd name="T42" fmla="*/ 122 w 170"/>
              <a:gd name="T43" fmla="*/ 85 h 168"/>
              <a:gd name="T44" fmla="*/ 113 w 170"/>
              <a:gd name="T45" fmla="*/ 58 h 168"/>
              <a:gd name="T46" fmla="*/ 101 w 170"/>
              <a:gd name="T47" fmla="*/ 67 h 168"/>
              <a:gd name="T48" fmla="*/ 109 w 170"/>
              <a:gd name="T49" fmla="*/ 85 h 168"/>
              <a:gd name="T50" fmla="*/ 101 w 170"/>
              <a:gd name="T51" fmla="*/ 67 h 168"/>
              <a:gd name="T52" fmla="*/ 87 w 170"/>
              <a:gd name="T53" fmla="*/ 77 h 168"/>
              <a:gd name="T54" fmla="*/ 95 w 170"/>
              <a:gd name="T55" fmla="*/ 85 h 168"/>
              <a:gd name="T56" fmla="*/ 87 w 170"/>
              <a:gd name="T57" fmla="*/ 77 h 168"/>
              <a:gd name="T58" fmla="*/ 75 w 170"/>
              <a:gd name="T59" fmla="*/ 69 h 168"/>
              <a:gd name="T60" fmla="*/ 83 w 170"/>
              <a:gd name="T61" fmla="*/ 85 h 168"/>
              <a:gd name="T62" fmla="*/ 75 w 170"/>
              <a:gd name="T63" fmla="*/ 69 h 168"/>
              <a:gd name="T64" fmla="*/ 63 w 170"/>
              <a:gd name="T65" fmla="*/ 69 h 168"/>
              <a:gd name="T66" fmla="*/ 71 w 170"/>
              <a:gd name="T67" fmla="*/ 85 h 168"/>
              <a:gd name="T68" fmla="*/ 63 w 170"/>
              <a:gd name="T69" fmla="*/ 69 h 168"/>
              <a:gd name="T70" fmla="*/ 48 w 170"/>
              <a:gd name="T71" fmla="*/ 73 h 168"/>
              <a:gd name="T72" fmla="*/ 56 w 170"/>
              <a:gd name="T73" fmla="*/ 85 h 168"/>
              <a:gd name="T74" fmla="*/ 48 w 170"/>
              <a:gd name="T75" fmla="*/ 73 h 168"/>
              <a:gd name="T76" fmla="*/ 146 w 170"/>
              <a:gd name="T77" fmla="*/ 18 h 168"/>
              <a:gd name="T78" fmla="*/ 24 w 170"/>
              <a:gd name="T79" fmla="*/ 101 h 168"/>
              <a:gd name="T80" fmla="*/ 146 w 170"/>
              <a:gd name="T81" fmla="*/ 18 h 1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
              <a:gd name="T124" fmla="*/ 0 h 168"/>
              <a:gd name="T125" fmla="*/ 170 w 170"/>
              <a:gd name="T126" fmla="*/ 168 h 1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 h="168">
                <a:moveTo>
                  <a:pt x="0" y="0"/>
                </a:moveTo>
                <a:lnTo>
                  <a:pt x="170" y="0"/>
                </a:lnTo>
                <a:lnTo>
                  <a:pt x="170" y="16"/>
                </a:lnTo>
                <a:lnTo>
                  <a:pt x="162" y="16"/>
                </a:lnTo>
                <a:lnTo>
                  <a:pt x="162" y="103"/>
                </a:lnTo>
                <a:lnTo>
                  <a:pt x="170" y="103"/>
                </a:lnTo>
                <a:lnTo>
                  <a:pt x="170" y="119"/>
                </a:lnTo>
                <a:lnTo>
                  <a:pt x="93" y="119"/>
                </a:lnTo>
                <a:lnTo>
                  <a:pt x="93" y="152"/>
                </a:lnTo>
                <a:lnTo>
                  <a:pt x="128" y="152"/>
                </a:lnTo>
                <a:lnTo>
                  <a:pt x="128" y="168"/>
                </a:lnTo>
                <a:lnTo>
                  <a:pt x="42" y="168"/>
                </a:lnTo>
                <a:lnTo>
                  <a:pt x="42" y="152"/>
                </a:lnTo>
                <a:lnTo>
                  <a:pt x="77" y="152"/>
                </a:lnTo>
                <a:lnTo>
                  <a:pt x="77" y="119"/>
                </a:lnTo>
                <a:lnTo>
                  <a:pt x="0" y="119"/>
                </a:lnTo>
                <a:lnTo>
                  <a:pt x="0" y="103"/>
                </a:lnTo>
                <a:lnTo>
                  <a:pt x="6" y="103"/>
                </a:lnTo>
                <a:lnTo>
                  <a:pt x="6" y="16"/>
                </a:lnTo>
                <a:lnTo>
                  <a:pt x="0" y="16"/>
                </a:lnTo>
                <a:lnTo>
                  <a:pt x="0" y="0"/>
                </a:lnTo>
                <a:lnTo>
                  <a:pt x="0" y="0"/>
                </a:lnTo>
                <a:close/>
                <a:moveTo>
                  <a:pt x="128" y="40"/>
                </a:moveTo>
                <a:lnTo>
                  <a:pt x="122" y="40"/>
                </a:lnTo>
                <a:lnTo>
                  <a:pt x="113" y="40"/>
                </a:lnTo>
                <a:lnTo>
                  <a:pt x="115" y="44"/>
                </a:lnTo>
                <a:lnTo>
                  <a:pt x="87" y="61"/>
                </a:lnTo>
                <a:lnTo>
                  <a:pt x="75" y="52"/>
                </a:lnTo>
                <a:lnTo>
                  <a:pt x="75" y="50"/>
                </a:lnTo>
                <a:lnTo>
                  <a:pt x="73" y="50"/>
                </a:lnTo>
                <a:lnTo>
                  <a:pt x="48" y="61"/>
                </a:lnTo>
                <a:lnTo>
                  <a:pt x="50" y="67"/>
                </a:lnTo>
                <a:lnTo>
                  <a:pt x="73" y="56"/>
                </a:lnTo>
                <a:lnTo>
                  <a:pt x="85" y="65"/>
                </a:lnTo>
                <a:lnTo>
                  <a:pt x="87" y="67"/>
                </a:lnTo>
                <a:lnTo>
                  <a:pt x="89" y="67"/>
                </a:lnTo>
                <a:lnTo>
                  <a:pt x="117" y="48"/>
                </a:lnTo>
                <a:lnTo>
                  <a:pt x="120" y="52"/>
                </a:lnTo>
                <a:lnTo>
                  <a:pt x="124" y="46"/>
                </a:lnTo>
                <a:lnTo>
                  <a:pt x="128" y="40"/>
                </a:lnTo>
                <a:lnTo>
                  <a:pt x="128" y="40"/>
                </a:lnTo>
                <a:close/>
                <a:moveTo>
                  <a:pt x="113" y="58"/>
                </a:moveTo>
                <a:lnTo>
                  <a:pt x="113" y="85"/>
                </a:lnTo>
                <a:lnTo>
                  <a:pt x="122" y="85"/>
                </a:lnTo>
                <a:lnTo>
                  <a:pt x="122" y="58"/>
                </a:lnTo>
                <a:lnTo>
                  <a:pt x="113" y="58"/>
                </a:lnTo>
                <a:lnTo>
                  <a:pt x="113" y="58"/>
                </a:lnTo>
                <a:close/>
                <a:moveTo>
                  <a:pt x="101" y="67"/>
                </a:moveTo>
                <a:lnTo>
                  <a:pt x="101" y="85"/>
                </a:lnTo>
                <a:lnTo>
                  <a:pt x="109" y="85"/>
                </a:lnTo>
                <a:lnTo>
                  <a:pt x="109" y="67"/>
                </a:lnTo>
                <a:lnTo>
                  <a:pt x="101" y="67"/>
                </a:lnTo>
                <a:lnTo>
                  <a:pt x="101" y="67"/>
                </a:lnTo>
                <a:close/>
                <a:moveTo>
                  <a:pt x="87" y="77"/>
                </a:moveTo>
                <a:lnTo>
                  <a:pt x="87" y="85"/>
                </a:lnTo>
                <a:lnTo>
                  <a:pt x="95" y="85"/>
                </a:lnTo>
                <a:lnTo>
                  <a:pt x="95" y="77"/>
                </a:lnTo>
                <a:lnTo>
                  <a:pt x="87" y="77"/>
                </a:lnTo>
                <a:lnTo>
                  <a:pt x="87" y="77"/>
                </a:lnTo>
                <a:close/>
                <a:moveTo>
                  <a:pt x="75" y="69"/>
                </a:moveTo>
                <a:lnTo>
                  <a:pt x="75" y="85"/>
                </a:lnTo>
                <a:lnTo>
                  <a:pt x="83" y="85"/>
                </a:lnTo>
                <a:lnTo>
                  <a:pt x="83" y="69"/>
                </a:lnTo>
                <a:lnTo>
                  <a:pt x="75" y="69"/>
                </a:lnTo>
                <a:lnTo>
                  <a:pt x="75" y="69"/>
                </a:lnTo>
                <a:close/>
                <a:moveTo>
                  <a:pt x="63" y="69"/>
                </a:moveTo>
                <a:lnTo>
                  <a:pt x="63" y="85"/>
                </a:lnTo>
                <a:lnTo>
                  <a:pt x="71" y="85"/>
                </a:lnTo>
                <a:lnTo>
                  <a:pt x="71" y="69"/>
                </a:lnTo>
                <a:lnTo>
                  <a:pt x="63" y="69"/>
                </a:lnTo>
                <a:lnTo>
                  <a:pt x="63" y="69"/>
                </a:lnTo>
                <a:close/>
                <a:moveTo>
                  <a:pt x="48" y="73"/>
                </a:moveTo>
                <a:lnTo>
                  <a:pt x="48" y="85"/>
                </a:lnTo>
                <a:lnTo>
                  <a:pt x="56" y="85"/>
                </a:lnTo>
                <a:lnTo>
                  <a:pt x="56" y="73"/>
                </a:lnTo>
                <a:lnTo>
                  <a:pt x="48" y="73"/>
                </a:lnTo>
                <a:lnTo>
                  <a:pt x="48" y="73"/>
                </a:lnTo>
                <a:close/>
                <a:moveTo>
                  <a:pt x="146" y="18"/>
                </a:moveTo>
                <a:lnTo>
                  <a:pt x="24" y="18"/>
                </a:lnTo>
                <a:lnTo>
                  <a:pt x="24" y="101"/>
                </a:lnTo>
                <a:lnTo>
                  <a:pt x="146" y="101"/>
                </a:lnTo>
                <a:lnTo>
                  <a:pt x="146" y="18"/>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1" name="Freeform 9"/>
          <p:cNvSpPr>
            <a:spLocks noChangeAspect="1" noEditPoints="1" noChangeArrowheads="1"/>
          </p:cNvSpPr>
          <p:nvPr/>
        </p:nvSpPr>
        <p:spPr bwMode="auto">
          <a:xfrm>
            <a:off x="9150738" y="4205437"/>
            <a:ext cx="361886" cy="333007"/>
          </a:xfrm>
          <a:custGeom>
            <a:avLst/>
            <a:gdLst>
              <a:gd name="T0" fmla="*/ 141 w 181"/>
              <a:gd name="T1" fmla="*/ 0 h 165"/>
              <a:gd name="T2" fmla="*/ 149 w 181"/>
              <a:gd name="T3" fmla="*/ 8 h 165"/>
              <a:gd name="T4" fmla="*/ 134 w 181"/>
              <a:gd name="T5" fmla="*/ 47 h 165"/>
              <a:gd name="T6" fmla="*/ 33 w 181"/>
              <a:gd name="T7" fmla="*/ 14 h 165"/>
              <a:gd name="T8" fmla="*/ 39 w 181"/>
              <a:gd name="T9" fmla="*/ 20 h 165"/>
              <a:gd name="T10" fmla="*/ 51 w 181"/>
              <a:gd name="T11" fmla="*/ 31 h 165"/>
              <a:gd name="T12" fmla="*/ 33 w 181"/>
              <a:gd name="T13" fmla="*/ 39 h 165"/>
              <a:gd name="T14" fmla="*/ 39 w 181"/>
              <a:gd name="T15" fmla="*/ 45 h 165"/>
              <a:gd name="T16" fmla="*/ 51 w 181"/>
              <a:gd name="T17" fmla="*/ 55 h 165"/>
              <a:gd name="T18" fmla="*/ 33 w 181"/>
              <a:gd name="T19" fmla="*/ 63 h 165"/>
              <a:gd name="T20" fmla="*/ 39 w 181"/>
              <a:gd name="T21" fmla="*/ 67 h 165"/>
              <a:gd name="T22" fmla="*/ 51 w 181"/>
              <a:gd name="T23" fmla="*/ 77 h 165"/>
              <a:gd name="T24" fmla="*/ 33 w 181"/>
              <a:gd name="T25" fmla="*/ 86 h 165"/>
              <a:gd name="T26" fmla="*/ 39 w 181"/>
              <a:gd name="T27" fmla="*/ 90 h 165"/>
              <a:gd name="T28" fmla="*/ 51 w 181"/>
              <a:gd name="T29" fmla="*/ 100 h 165"/>
              <a:gd name="T30" fmla="*/ 33 w 181"/>
              <a:gd name="T31" fmla="*/ 110 h 165"/>
              <a:gd name="T32" fmla="*/ 39 w 181"/>
              <a:gd name="T33" fmla="*/ 116 h 165"/>
              <a:gd name="T34" fmla="*/ 51 w 181"/>
              <a:gd name="T35" fmla="*/ 126 h 165"/>
              <a:gd name="T36" fmla="*/ 33 w 181"/>
              <a:gd name="T37" fmla="*/ 134 h 165"/>
              <a:gd name="T38" fmla="*/ 33 w 181"/>
              <a:gd name="T39" fmla="*/ 151 h 165"/>
              <a:gd name="T40" fmla="*/ 134 w 181"/>
              <a:gd name="T41" fmla="*/ 118 h 165"/>
              <a:gd name="T42" fmla="*/ 149 w 181"/>
              <a:gd name="T43" fmla="*/ 157 h 165"/>
              <a:gd name="T44" fmla="*/ 141 w 181"/>
              <a:gd name="T45" fmla="*/ 165 h 165"/>
              <a:gd name="T46" fmla="*/ 19 w 181"/>
              <a:gd name="T47" fmla="*/ 165 h 165"/>
              <a:gd name="T48" fmla="*/ 19 w 181"/>
              <a:gd name="T49" fmla="*/ 146 h 165"/>
              <a:gd name="T50" fmla="*/ 0 w 181"/>
              <a:gd name="T51" fmla="*/ 132 h 165"/>
              <a:gd name="T52" fmla="*/ 19 w 181"/>
              <a:gd name="T53" fmla="*/ 120 h 165"/>
              <a:gd name="T54" fmla="*/ 0 w 181"/>
              <a:gd name="T55" fmla="*/ 108 h 165"/>
              <a:gd name="T56" fmla="*/ 19 w 181"/>
              <a:gd name="T57" fmla="*/ 98 h 165"/>
              <a:gd name="T58" fmla="*/ 0 w 181"/>
              <a:gd name="T59" fmla="*/ 83 h 165"/>
              <a:gd name="T60" fmla="*/ 19 w 181"/>
              <a:gd name="T61" fmla="*/ 75 h 165"/>
              <a:gd name="T62" fmla="*/ 0 w 181"/>
              <a:gd name="T63" fmla="*/ 61 h 165"/>
              <a:gd name="T64" fmla="*/ 19 w 181"/>
              <a:gd name="T65" fmla="*/ 51 h 165"/>
              <a:gd name="T66" fmla="*/ 0 w 181"/>
              <a:gd name="T67" fmla="*/ 39 h 165"/>
              <a:gd name="T68" fmla="*/ 19 w 181"/>
              <a:gd name="T69" fmla="*/ 8 h 165"/>
              <a:gd name="T70" fmla="*/ 27 w 181"/>
              <a:gd name="T71" fmla="*/ 0 h 165"/>
              <a:gd name="T72" fmla="*/ 63 w 181"/>
              <a:gd name="T73" fmla="*/ 79 h 165"/>
              <a:gd name="T74" fmla="*/ 84 w 181"/>
              <a:gd name="T75" fmla="*/ 88 h 165"/>
              <a:gd name="T76" fmla="*/ 63 w 181"/>
              <a:gd name="T77" fmla="*/ 79 h 165"/>
              <a:gd name="T78" fmla="*/ 63 w 181"/>
              <a:gd name="T79" fmla="*/ 61 h 165"/>
              <a:gd name="T80" fmla="*/ 100 w 181"/>
              <a:gd name="T81" fmla="*/ 69 h 165"/>
              <a:gd name="T82" fmla="*/ 63 w 181"/>
              <a:gd name="T83" fmla="*/ 61 h 165"/>
              <a:gd name="T84" fmla="*/ 63 w 181"/>
              <a:gd name="T85" fmla="*/ 45 h 165"/>
              <a:gd name="T86" fmla="*/ 116 w 181"/>
              <a:gd name="T87" fmla="*/ 53 h 165"/>
              <a:gd name="T88" fmla="*/ 63 w 181"/>
              <a:gd name="T89" fmla="*/ 45 h 165"/>
              <a:gd name="T90" fmla="*/ 63 w 181"/>
              <a:gd name="T91" fmla="*/ 29 h 165"/>
              <a:gd name="T92" fmla="*/ 116 w 181"/>
              <a:gd name="T93" fmla="*/ 35 h 165"/>
              <a:gd name="T94" fmla="*/ 63 w 181"/>
              <a:gd name="T95" fmla="*/ 29 h 165"/>
              <a:gd name="T96" fmla="*/ 84 w 181"/>
              <a:gd name="T97" fmla="*/ 130 h 165"/>
              <a:gd name="T98" fmla="*/ 106 w 181"/>
              <a:gd name="T99" fmla="*/ 130 h 165"/>
              <a:gd name="T100" fmla="*/ 86 w 181"/>
              <a:gd name="T101" fmla="*/ 108 h 165"/>
              <a:gd name="T102" fmla="*/ 84 w 181"/>
              <a:gd name="T103" fmla="*/ 130 h 165"/>
              <a:gd name="T104" fmla="*/ 161 w 181"/>
              <a:gd name="T105" fmla="*/ 37 h 165"/>
              <a:gd name="T106" fmla="*/ 116 w 181"/>
              <a:gd name="T107" fmla="*/ 120 h 165"/>
              <a:gd name="T108" fmla="*/ 161 w 181"/>
              <a:gd name="T109" fmla="*/ 37 h 1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1"/>
              <a:gd name="T166" fmla="*/ 0 h 165"/>
              <a:gd name="T167" fmla="*/ 181 w 181"/>
              <a:gd name="T168" fmla="*/ 165 h 1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1" h="165">
                <a:moveTo>
                  <a:pt x="27" y="0"/>
                </a:moveTo>
                <a:lnTo>
                  <a:pt x="141" y="0"/>
                </a:lnTo>
                <a:lnTo>
                  <a:pt x="149" y="0"/>
                </a:lnTo>
                <a:lnTo>
                  <a:pt x="149" y="8"/>
                </a:lnTo>
                <a:lnTo>
                  <a:pt x="149" y="35"/>
                </a:lnTo>
                <a:lnTo>
                  <a:pt x="134" y="47"/>
                </a:lnTo>
                <a:lnTo>
                  <a:pt x="134" y="14"/>
                </a:lnTo>
                <a:lnTo>
                  <a:pt x="33" y="14"/>
                </a:lnTo>
                <a:lnTo>
                  <a:pt x="33" y="25"/>
                </a:lnTo>
                <a:lnTo>
                  <a:pt x="39" y="20"/>
                </a:lnTo>
                <a:lnTo>
                  <a:pt x="47" y="18"/>
                </a:lnTo>
                <a:lnTo>
                  <a:pt x="51" y="31"/>
                </a:lnTo>
                <a:lnTo>
                  <a:pt x="45" y="35"/>
                </a:lnTo>
                <a:lnTo>
                  <a:pt x="33" y="39"/>
                </a:lnTo>
                <a:lnTo>
                  <a:pt x="33" y="47"/>
                </a:lnTo>
                <a:lnTo>
                  <a:pt x="39" y="45"/>
                </a:lnTo>
                <a:lnTo>
                  <a:pt x="47" y="41"/>
                </a:lnTo>
                <a:lnTo>
                  <a:pt x="51" y="55"/>
                </a:lnTo>
                <a:lnTo>
                  <a:pt x="45" y="57"/>
                </a:lnTo>
                <a:lnTo>
                  <a:pt x="33" y="63"/>
                </a:lnTo>
                <a:lnTo>
                  <a:pt x="33" y="71"/>
                </a:lnTo>
                <a:lnTo>
                  <a:pt x="39" y="67"/>
                </a:lnTo>
                <a:lnTo>
                  <a:pt x="47" y="65"/>
                </a:lnTo>
                <a:lnTo>
                  <a:pt x="51" y="77"/>
                </a:lnTo>
                <a:lnTo>
                  <a:pt x="45" y="81"/>
                </a:lnTo>
                <a:lnTo>
                  <a:pt x="33" y="86"/>
                </a:lnTo>
                <a:lnTo>
                  <a:pt x="33" y="94"/>
                </a:lnTo>
                <a:lnTo>
                  <a:pt x="39" y="90"/>
                </a:lnTo>
                <a:lnTo>
                  <a:pt x="47" y="88"/>
                </a:lnTo>
                <a:lnTo>
                  <a:pt x="51" y="100"/>
                </a:lnTo>
                <a:lnTo>
                  <a:pt x="45" y="104"/>
                </a:lnTo>
                <a:lnTo>
                  <a:pt x="33" y="110"/>
                </a:lnTo>
                <a:lnTo>
                  <a:pt x="33" y="118"/>
                </a:lnTo>
                <a:lnTo>
                  <a:pt x="39" y="116"/>
                </a:lnTo>
                <a:lnTo>
                  <a:pt x="47" y="112"/>
                </a:lnTo>
                <a:lnTo>
                  <a:pt x="51" y="126"/>
                </a:lnTo>
                <a:lnTo>
                  <a:pt x="45" y="128"/>
                </a:lnTo>
                <a:lnTo>
                  <a:pt x="33" y="134"/>
                </a:lnTo>
                <a:lnTo>
                  <a:pt x="33" y="146"/>
                </a:lnTo>
                <a:lnTo>
                  <a:pt x="33" y="151"/>
                </a:lnTo>
                <a:lnTo>
                  <a:pt x="134" y="151"/>
                </a:lnTo>
                <a:lnTo>
                  <a:pt x="134" y="118"/>
                </a:lnTo>
                <a:lnTo>
                  <a:pt x="149" y="106"/>
                </a:lnTo>
                <a:lnTo>
                  <a:pt x="149" y="157"/>
                </a:lnTo>
                <a:lnTo>
                  <a:pt x="149" y="165"/>
                </a:lnTo>
                <a:lnTo>
                  <a:pt x="141" y="165"/>
                </a:lnTo>
                <a:lnTo>
                  <a:pt x="27" y="165"/>
                </a:lnTo>
                <a:lnTo>
                  <a:pt x="19" y="165"/>
                </a:lnTo>
                <a:lnTo>
                  <a:pt x="19" y="157"/>
                </a:lnTo>
                <a:lnTo>
                  <a:pt x="19" y="146"/>
                </a:lnTo>
                <a:lnTo>
                  <a:pt x="4" y="146"/>
                </a:lnTo>
                <a:lnTo>
                  <a:pt x="0" y="132"/>
                </a:lnTo>
                <a:lnTo>
                  <a:pt x="19" y="124"/>
                </a:lnTo>
                <a:lnTo>
                  <a:pt x="19" y="120"/>
                </a:lnTo>
                <a:lnTo>
                  <a:pt x="4" y="120"/>
                </a:lnTo>
                <a:lnTo>
                  <a:pt x="0" y="108"/>
                </a:lnTo>
                <a:lnTo>
                  <a:pt x="19" y="100"/>
                </a:lnTo>
                <a:lnTo>
                  <a:pt x="19" y="98"/>
                </a:lnTo>
                <a:lnTo>
                  <a:pt x="4" y="98"/>
                </a:lnTo>
                <a:lnTo>
                  <a:pt x="0" y="83"/>
                </a:lnTo>
                <a:lnTo>
                  <a:pt x="19" y="77"/>
                </a:lnTo>
                <a:lnTo>
                  <a:pt x="19" y="75"/>
                </a:lnTo>
                <a:lnTo>
                  <a:pt x="4" y="75"/>
                </a:lnTo>
                <a:lnTo>
                  <a:pt x="0" y="61"/>
                </a:lnTo>
                <a:lnTo>
                  <a:pt x="19" y="53"/>
                </a:lnTo>
                <a:lnTo>
                  <a:pt x="19" y="51"/>
                </a:lnTo>
                <a:lnTo>
                  <a:pt x="4" y="51"/>
                </a:lnTo>
                <a:lnTo>
                  <a:pt x="0" y="39"/>
                </a:lnTo>
                <a:lnTo>
                  <a:pt x="19" y="31"/>
                </a:lnTo>
                <a:lnTo>
                  <a:pt x="19" y="8"/>
                </a:lnTo>
                <a:lnTo>
                  <a:pt x="19" y="0"/>
                </a:lnTo>
                <a:lnTo>
                  <a:pt x="27" y="0"/>
                </a:lnTo>
                <a:lnTo>
                  <a:pt x="27" y="0"/>
                </a:lnTo>
                <a:close/>
                <a:moveTo>
                  <a:pt x="63" y="79"/>
                </a:moveTo>
                <a:lnTo>
                  <a:pt x="63" y="88"/>
                </a:lnTo>
                <a:lnTo>
                  <a:pt x="84" y="88"/>
                </a:lnTo>
                <a:lnTo>
                  <a:pt x="84" y="79"/>
                </a:lnTo>
                <a:lnTo>
                  <a:pt x="63" y="79"/>
                </a:lnTo>
                <a:lnTo>
                  <a:pt x="63" y="79"/>
                </a:lnTo>
                <a:close/>
                <a:moveTo>
                  <a:pt x="63" y="61"/>
                </a:moveTo>
                <a:lnTo>
                  <a:pt x="63" y="69"/>
                </a:lnTo>
                <a:lnTo>
                  <a:pt x="100" y="69"/>
                </a:lnTo>
                <a:lnTo>
                  <a:pt x="100" y="61"/>
                </a:lnTo>
                <a:lnTo>
                  <a:pt x="63" y="61"/>
                </a:lnTo>
                <a:lnTo>
                  <a:pt x="63" y="61"/>
                </a:lnTo>
                <a:close/>
                <a:moveTo>
                  <a:pt x="63" y="45"/>
                </a:moveTo>
                <a:lnTo>
                  <a:pt x="63" y="53"/>
                </a:lnTo>
                <a:lnTo>
                  <a:pt x="116" y="53"/>
                </a:lnTo>
                <a:lnTo>
                  <a:pt x="116" y="45"/>
                </a:lnTo>
                <a:lnTo>
                  <a:pt x="63" y="45"/>
                </a:lnTo>
                <a:lnTo>
                  <a:pt x="63" y="45"/>
                </a:lnTo>
                <a:close/>
                <a:moveTo>
                  <a:pt x="63" y="29"/>
                </a:moveTo>
                <a:lnTo>
                  <a:pt x="63" y="35"/>
                </a:lnTo>
                <a:lnTo>
                  <a:pt x="116" y="35"/>
                </a:lnTo>
                <a:lnTo>
                  <a:pt x="116" y="29"/>
                </a:lnTo>
                <a:lnTo>
                  <a:pt x="63" y="29"/>
                </a:lnTo>
                <a:lnTo>
                  <a:pt x="63" y="29"/>
                </a:lnTo>
                <a:close/>
                <a:moveTo>
                  <a:pt x="84" y="130"/>
                </a:moveTo>
                <a:lnTo>
                  <a:pt x="96" y="130"/>
                </a:lnTo>
                <a:lnTo>
                  <a:pt x="106" y="130"/>
                </a:lnTo>
                <a:lnTo>
                  <a:pt x="96" y="118"/>
                </a:lnTo>
                <a:lnTo>
                  <a:pt x="86" y="108"/>
                </a:lnTo>
                <a:lnTo>
                  <a:pt x="86" y="120"/>
                </a:lnTo>
                <a:lnTo>
                  <a:pt x="84" y="130"/>
                </a:lnTo>
                <a:lnTo>
                  <a:pt x="84" y="130"/>
                </a:lnTo>
                <a:close/>
                <a:moveTo>
                  <a:pt x="161" y="37"/>
                </a:moveTo>
                <a:lnTo>
                  <a:pt x="96" y="100"/>
                </a:lnTo>
                <a:lnTo>
                  <a:pt x="116" y="120"/>
                </a:lnTo>
                <a:lnTo>
                  <a:pt x="181" y="57"/>
                </a:lnTo>
                <a:lnTo>
                  <a:pt x="161" y="37"/>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Tree>
    <p:extLst>
      <p:ext uri="{BB962C8B-B14F-4D97-AF65-F5344CB8AC3E}">
        <p14:creationId xmlns:p14="http://schemas.microsoft.com/office/powerpoint/2010/main" val="39767219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12669" y="3863873"/>
            <a:ext cx="10966661" cy="45719"/>
            <a:chOff x="5280505" y="3963496"/>
            <a:chExt cx="5863771" cy="57767"/>
          </a:xfrm>
          <a:solidFill>
            <a:schemeClr val="tx1"/>
          </a:solidFill>
        </p:grpSpPr>
        <p:sp>
          <p:nvSpPr>
            <p:cNvPr id="6" name="任意多边形 16"/>
            <p:cNvSpPr/>
            <p:nvPr/>
          </p:nvSpPr>
          <p:spPr>
            <a:xfrm>
              <a:off x="5280505" y="3992380"/>
              <a:ext cx="5863771" cy="0"/>
            </a:xfrm>
            <a:custGeom>
              <a:avLst/>
              <a:gdLst>
                <a:gd name="connsiteX0" fmla="*/ 0 w 5863771"/>
                <a:gd name="connsiteY0" fmla="*/ 0 h 0"/>
                <a:gd name="connsiteX1" fmla="*/ 58057 w 5863771"/>
                <a:gd name="connsiteY1" fmla="*/ 0 h 0"/>
                <a:gd name="connsiteX2" fmla="*/ 5863771 w 5863771"/>
                <a:gd name="connsiteY2" fmla="*/ 0 h 0"/>
              </a:gdLst>
              <a:ahLst/>
              <a:cxnLst>
                <a:cxn ang="0">
                  <a:pos x="connsiteX0" y="connsiteY0"/>
                </a:cxn>
                <a:cxn ang="0">
                  <a:pos x="connsiteX1" y="connsiteY1"/>
                </a:cxn>
                <a:cxn ang="0">
                  <a:pos x="connsiteX2" y="connsiteY2"/>
                </a:cxn>
              </a:cxnLst>
              <a:rect l="l" t="t" r="r" b="b"/>
              <a:pathLst>
                <a:path w="5863771">
                  <a:moveTo>
                    <a:pt x="0" y="0"/>
                  </a:moveTo>
                  <a:lnTo>
                    <a:pt x="58057" y="0"/>
                  </a:lnTo>
                  <a:lnTo>
                    <a:pt x="5863771" y="0"/>
                  </a:lnTo>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sp>
          <p:nvSpPr>
            <p:cNvPr id="7" name="圆角矩形 17"/>
            <p:cNvSpPr/>
            <p:nvPr/>
          </p:nvSpPr>
          <p:spPr>
            <a:xfrm>
              <a:off x="7456740" y="3963496"/>
              <a:ext cx="1511300" cy="5776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grpSp>
      <p:grpSp>
        <p:nvGrpSpPr>
          <p:cNvPr id="9" name="组合 8"/>
          <p:cNvGrpSpPr/>
          <p:nvPr/>
        </p:nvGrpSpPr>
        <p:grpSpPr bwMode="auto">
          <a:xfrm>
            <a:off x="5170374" y="4178966"/>
            <a:ext cx="412709" cy="333006"/>
            <a:chOff x="0" y="0"/>
            <a:chExt cx="1088225" cy="869861"/>
          </a:xfrm>
          <a:solidFill>
            <a:schemeClr val="tx1"/>
          </a:solidFill>
        </p:grpSpPr>
        <p:sp>
          <p:nvSpPr>
            <p:cNvPr id="10" name="Freeform 17"/>
            <p:cNvSpPr>
              <a:spLocks noEditPoints="1" noChangeArrowheads="1"/>
            </p:cNvSpPr>
            <p:nvPr/>
          </p:nvSpPr>
          <p:spPr bwMode="auto">
            <a:xfrm>
              <a:off x="0" y="237562"/>
              <a:ext cx="824268" cy="632299"/>
            </a:xfrm>
            <a:custGeom>
              <a:avLst/>
              <a:gdLst>
                <a:gd name="T0" fmla="*/ 274 w 291"/>
                <a:gd name="T1" fmla="*/ 0 h 223"/>
                <a:gd name="T2" fmla="*/ 17 w 291"/>
                <a:gd name="T3" fmla="*/ 0 h 223"/>
                <a:gd name="T4" fmla="*/ 0 w 291"/>
                <a:gd name="T5" fmla="*/ 16 h 223"/>
                <a:gd name="T6" fmla="*/ 0 w 291"/>
                <a:gd name="T7" fmla="*/ 207 h 223"/>
                <a:gd name="T8" fmla="*/ 17 w 291"/>
                <a:gd name="T9" fmla="*/ 223 h 223"/>
                <a:gd name="T10" fmla="*/ 274 w 291"/>
                <a:gd name="T11" fmla="*/ 223 h 223"/>
                <a:gd name="T12" fmla="*/ 291 w 291"/>
                <a:gd name="T13" fmla="*/ 207 h 223"/>
                <a:gd name="T14" fmla="*/ 291 w 291"/>
                <a:gd name="T15" fmla="*/ 16 h 223"/>
                <a:gd name="T16" fmla="*/ 274 w 291"/>
                <a:gd name="T17" fmla="*/ 0 h 223"/>
                <a:gd name="T18" fmla="*/ 270 w 291"/>
                <a:gd name="T19" fmla="*/ 193 h 223"/>
                <a:gd name="T20" fmla="*/ 256 w 291"/>
                <a:gd name="T21" fmla="*/ 207 h 223"/>
                <a:gd name="T22" fmla="*/ 35 w 291"/>
                <a:gd name="T23" fmla="*/ 207 h 223"/>
                <a:gd name="T24" fmla="*/ 21 w 291"/>
                <a:gd name="T25" fmla="*/ 193 h 223"/>
                <a:gd name="T26" fmla="*/ 21 w 291"/>
                <a:gd name="T27" fmla="*/ 30 h 223"/>
                <a:gd name="T28" fmla="*/ 35 w 291"/>
                <a:gd name="T29" fmla="*/ 16 h 223"/>
                <a:gd name="T30" fmla="*/ 256 w 291"/>
                <a:gd name="T31" fmla="*/ 16 h 223"/>
                <a:gd name="T32" fmla="*/ 270 w 291"/>
                <a:gd name="T33" fmla="*/ 30 h 223"/>
                <a:gd name="T34" fmla="*/ 270 w 291"/>
                <a:gd name="T35" fmla="*/ 19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1"/>
                <a:gd name="T55" fmla="*/ 0 h 223"/>
                <a:gd name="T56" fmla="*/ 291 w 291"/>
                <a:gd name="T57" fmla="*/ 223 h 2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1" h="223">
                  <a:moveTo>
                    <a:pt x="274" y="0"/>
                  </a:moveTo>
                  <a:cubicBezTo>
                    <a:pt x="17" y="0"/>
                    <a:pt x="17" y="0"/>
                    <a:pt x="17" y="0"/>
                  </a:cubicBezTo>
                  <a:cubicBezTo>
                    <a:pt x="8" y="0"/>
                    <a:pt x="0" y="7"/>
                    <a:pt x="0" y="16"/>
                  </a:cubicBezTo>
                  <a:cubicBezTo>
                    <a:pt x="0" y="207"/>
                    <a:pt x="0" y="207"/>
                    <a:pt x="0" y="207"/>
                  </a:cubicBezTo>
                  <a:cubicBezTo>
                    <a:pt x="0" y="215"/>
                    <a:pt x="8" y="223"/>
                    <a:pt x="17" y="223"/>
                  </a:cubicBezTo>
                  <a:cubicBezTo>
                    <a:pt x="274" y="223"/>
                    <a:pt x="274" y="223"/>
                    <a:pt x="274" y="223"/>
                  </a:cubicBezTo>
                  <a:cubicBezTo>
                    <a:pt x="283" y="223"/>
                    <a:pt x="291" y="215"/>
                    <a:pt x="291" y="207"/>
                  </a:cubicBezTo>
                  <a:cubicBezTo>
                    <a:pt x="291" y="16"/>
                    <a:pt x="291" y="16"/>
                    <a:pt x="291" y="16"/>
                  </a:cubicBezTo>
                  <a:cubicBezTo>
                    <a:pt x="291" y="7"/>
                    <a:pt x="283" y="0"/>
                    <a:pt x="274" y="0"/>
                  </a:cubicBezTo>
                  <a:moveTo>
                    <a:pt x="270" y="193"/>
                  </a:moveTo>
                  <a:cubicBezTo>
                    <a:pt x="270" y="201"/>
                    <a:pt x="264" y="207"/>
                    <a:pt x="256" y="207"/>
                  </a:cubicBezTo>
                  <a:cubicBezTo>
                    <a:pt x="35" y="207"/>
                    <a:pt x="35" y="207"/>
                    <a:pt x="35" y="207"/>
                  </a:cubicBezTo>
                  <a:cubicBezTo>
                    <a:pt x="27" y="207"/>
                    <a:pt x="21" y="201"/>
                    <a:pt x="21" y="193"/>
                  </a:cubicBezTo>
                  <a:cubicBezTo>
                    <a:pt x="21" y="30"/>
                    <a:pt x="21" y="30"/>
                    <a:pt x="21" y="30"/>
                  </a:cubicBezTo>
                  <a:cubicBezTo>
                    <a:pt x="21" y="22"/>
                    <a:pt x="27" y="16"/>
                    <a:pt x="35" y="16"/>
                  </a:cubicBezTo>
                  <a:cubicBezTo>
                    <a:pt x="256" y="16"/>
                    <a:pt x="256" y="16"/>
                    <a:pt x="256" y="16"/>
                  </a:cubicBezTo>
                  <a:cubicBezTo>
                    <a:pt x="264" y="16"/>
                    <a:pt x="270" y="22"/>
                    <a:pt x="270" y="30"/>
                  </a:cubicBezTo>
                  <a:lnTo>
                    <a:pt x="270" y="19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1" name="Freeform 18"/>
            <p:cNvSpPr>
              <a:spLocks noChangeArrowheads="1"/>
            </p:cNvSpPr>
            <p:nvPr/>
          </p:nvSpPr>
          <p:spPr bwMode="auto">
            <a:xfrm>
              <a:off x="137978" y="110382"/>
              <a:ext cx="821868" cy="632299"/>
            </a:xfrm>
            <a:custGeom>
              <a:avLst/>
              <a:gdLst>
                <a:gd name="T0" fmla="*/ 274 w 290"/>
                <a:gd name="T1" fmla="*/ 0 h 223"/>
                <a:gd name="T2" fmla="*/ 16 w 290"/>
                <a:gd name="T3" fmla="*/ 0 h 223"/>
                <a:gd name="T4" fmla="*/ 0 w 290"/>
                <a:gd name="T5" fmla="*/ 16 h 223"/>
                <a:gd name="T6" fmla="*/ 0 w 290"/>
                <a:gd name="T7" fmla="*/ 25 h 223"/>
                <a:gd name="T8" fmla="*/ 249 w 290"/>
                <a:gd name="T9" fmla="*/ 25 h 223"/>
                <a:gd name="T10" fmla="*/ 265 w 290"/>
                <a:gd name="T11" fmla="*/ 42 h 223"/>
                <a:gd name="T12" fmla="*/ 265 w 290"/>
                <a:gd name="T13" fmla="*/ 223 h 223"/>
                <a:gd name="T14" fmla="*/ 274 w 290"/>
                <a:gd name="T15" fmla="*/ 223 h 223"/>
                <a:gd name="T16" fmla="*/ 290 w 290"/>
                <a:gd name="T17" fmla="*/ 207 h 223"/>
                <a:gd name="T18" fmla="*/ 290 w 290"/>
                <a:gd name="T19" fmla="*/ 16 h 223"/>
                <a:gd name="T20" fmla="*/ 274 w 29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3"/>
                <a:gd name="T35" fmla="*/ 290 w 29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3">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3"/>
                    <a:pt x="265" y="42"/>
                  </a:cubicBezTo>
                  <a:cubicBezTo>
                    <a:pt x="265" y="223"/>
                    <a:pt x="265" y="223"/>
                    <a:pt x="265" y="223"/>
                  </a:cubicBezTo>
                  <a:cubicBezTo>
                    <a:pt x="274" y="223"/>
                    <a:pt x="274" y="223"/>
                    <a:pt x="274" y="223"/>
                  </a:cubicBezTo>
                  <a:cubicBezTo>
                    <a:pt x="283" y="223"/>
                    <a:pt x="290" y="216"/>
                    <a:pt x="290" y="207"/>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2" name="Freeform 19"/>
            <p:cNvSpPr>
              <a:spLocks noChangeArrowheads="1"/>
            </p:cNvSpPr>
            <p:nvPr/>
          </p:nvSpPr>
          <p:spPr bwMode="auto">
            <a:xfrm>
              <a:off x="266357" y="0"/>
              <a:ext cx="821868" cy="628699"/>
            </a:xfrm>
            <a:custGeom>
              <a:avLst/>
              <a:gdLst>
                <a:gd name="T0" fmla="*/ 274 w 290"/>
                <a:gd name="T1" fmla="*/ 0 h 222"/>
                <a:gd name="T2" fmla="*/ 16 w 290"/>
                <a:gd name="T3" fmla="*/ 0 h 222"/>
                <a:gd name="T4" fmla="*/ 0 w 290"/>
                <a:gd name="T5" fmla="*/ 16 h 222"/>
                <a:gd name="T6" fmla="*/ 0 w 290"/>
                <a:gd name="T7" fmla="*/ 25 h 222"/>
                <a:gd name="T8" fmla="*/ 249 w 290"/>
                <a:gd name="T9" fmla="*/ 25 h 222"/>
                <a:gd name="T10" fmla="*/ 265 w 290"/>
                <a:gd name="T11" fmla="*/ 41 h 222"/>
                <a:gd name="T12" fmla="*/ 265 w 290"/>
                <a:gd name="T13" fmla="*/ 222 h 222"/>
                <a:gd name="T14" fmla="*/ 274 w 290"/>
                <a:gd name="T15" fmla="*/ 222 h 222"/>
                <a:gd name="T16" fmla="*/ 290 w 290"/>
                <a:gd name="T17" fmla="*/ 206 h 222"/>
                <a:gd name="T18" fmla="*/ 290 w 290"/>
                <a:gd name="T19" fmla="*/ 16 h 222"/>
                <a:gd name="T20" fmla="*/ 274 w 290"/>
                <a:gd name="T21" fmla="*/ 0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2"/>
                <a:gd name="T35" fmla="*/ 290 w 290"/>
                <a:gd name="T36" fmla="*/ 222 h 2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2">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2"/>
                    <a:pt x="265" y="41"/>
                  </a:cubicBezTo>
                  <a:cubicBezTo>
                    <a:pt x="265" y="222"/>
                    <a:pt x="265" y="222"/>
                    <a:pt x="265" y="222"/>
                  </a:cubicBezTo>
                  <a:cubicBezTo>
                    <a:pt x="274" y="222"/>
                    <a:pt x="274" y="222"/>
                    <a:pt x="274" y="222"/>
                  </a:cubicBezTo>
                  <a:cubicBezTo>
                    <a:pt x="283" y="222"/>
                    <a:pt x="290" y="215"/>
                    <a:pt x="290" y="206"/>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3" name="Freeform 20"/>
            <p:cNvSpPr>
              <a:spLocks noChangeArrowheads="1"/>
            </p:cNvSpPr>
            <p:nvPr/>
          </p:nvSpPr>
          <p:spPr bwMode="auto">
            <a:xfrm>
              <a:off x="110382" y="422332"/>
              <a:ext cx="569909" cy="353943"/>
            </a:xfrm>
            <a:custGeom>
              <a:avLst/>
              <a:gdLst>
                <a:gd name="T0" fmla="*/ 71 w 201"/>
                <a:gd name="T1" fmla="*/ 5 h 125"/>
                <a:gd name="T2" fmla="*/ 11 w 201"/>
                <a:gd name="T3" fmla="*/ 109 h 125"/>
                <a:gd name="T4" fmla="*/ 11 w 201"/>
                <a:gd name="T5" fmla="*/ 124 h 125"/>
                <a:gd name="T6" fmla="*/ 192 w 201"/>
                <a:gd name="T7" fmla="*/ 124 h 125"/>
                <a:gd name="T8" fmla="*/ 192 w 201"/>
                <a:gd name="T9" fmla="*/ 108 h 125"/>
                <a:gd name="T10" fmla="*/ 151 w 201"/>
                <a:gd name="T11" fmla="*/ 47 h 125"/>
                <a:gd name="T12" fmla="*/ 117 w 201"/>
                <a:gd name="T13" fmla="*/ 86 h 125"/>
                <a:gd name="T14" fmla="*/ 110 w 201"/>
                <a:gd name="T15" fmla="*/ 81 h 125"/>
                <a:gd name="T16" fmla="*/ 122 w 201"/>
                <a:gd name="T17" fmla="*/ 65 h 125"/>
                <a:gd name="T18" fmla="*/ 81 w 201"/>
                <a:gd name="T19" fmla="*/ 5 h 125"/>
                <a:gd name="T20" fmla="*/ 71 w 201"/>
                <a:gd name="T21" fmla="*/ 5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25"/>
                <a:gd name="T35" fmla="*/ 201 w 201"/>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25">
                  <a:moveTo>
                    <a:pt x="71" y="5"/>
                  </a:moveTo>
                  <a:cubicBezTo>
                    <a:pt x="11" y="109"/>
                    <a:pt x="11" y="109"/>
                    <a:pt x="11" y="109"/>
                  </a:cubicBezTo>
                  <a:cubicBezTo>
                    <a:pt x="11" y="109"/>
                    <a:pt x="0" y="124"/>
                    <a:pt x="11" y="124"/>
                  </a:cubicBezTo>
                  <a:cubicBezTo>
                    <a:pt x="25" y="125"/>
                    <a:pt x="192" y="124"/>
                    <a:pt x="192" y="124"/>
                  </a:cubicBezTo>
                  <a:cubicBezTo>
                    <a:pt x="192" y="124"/>
                    <a:pt x="201" y="121"/>
                    <a:pt x="192" y="108"/>
                  </a:cubicBezTo>
                  <a:cubicBezTo>
                    <a:pt x="182" y="94"/>
                    <a:pt x="158" y="46"/>
                    <a:pt x="151" y="47"/>
                  </a:cubicBezTo>
                  <a:cubicBezTo>
                    <a:pt x="144" y="47"/>
                    <a:pt x="120" y="83"/>
                    <a:pt x="117" y="86"/>
                  </a:cubicBezTo>
                  <a:cubicBezTo>
                    <a:pt x="115" y="89"/>
                    <a:pt x="108" y="84"/>
                    <a:pt x="110" y="81"/>
                  </a:cubicBezTo>
                  <a:cubicBezTo>
                    <a:pt x="116" y="74"/>
                    <a:pt x="122" y="65"/>
                    <a:pt x="122" y="65"/>
                  </a:cubicBezTo>
                  <a:cubicBezTo>
                    <a:pt x="122" y="65"/>
                    <a:pt x="84" y="9"/>
                    <a:pt x="81" y="5"/>
                  </a:cubicBezTo>
                  <a:cubicBezTo>
                    <a:pt x="78" y="0"/>
                    <a:pt x="73" y="1"/>
                    <a:pt x="71" y="5"/>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4" name="Oval 21"/>
            <p:cNvSpPr>
              <a:spLocks noChangeArrowheads="1"/>
            </p:cNvSpPr>
            <p:nvPr/>
          </p:nvSpPr>
          <p:spPr bwMode="auto">
            <a:xfrm>
              <a:off x="563909" y="331147"/>
              <a:ext cx="101984" cy="99584"/>
            </a:xfrm>
            <a:prstGeom prst="ellipse">
              <a:avLst/>
            </a:pr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5" name="组合 14"/>
          <p:cNvGrpSpPr/>
          <p:nvPr/>
        </p:nvGrpSpPr>
        <p:grpSpPr bwMode="auto">
          <a:xfrm>
            <a:off x="7179351" y="4178966"/>
            <a:ext cx="329894" cy="333006"/>
            <a:chOff x="0" y="0"/>
            <a:chExt cx="881859" cy="881859"/>
          </a:xfrm>
          <a:solidFill>
            <a:schemeClr val="tx1"/>
          </a:solidFill>
        </p:grpSpPr>
        <p:sp>
          <p:nvSpPr>
            <p:cNvPr id="16" name="Freeform 22"/>
            <p:cNvSpPr>
              <a:spLocks noEditPoints="1" noChangeArrowheads="1"/>
            </p:cNvSpPr>
            <p:nvPr/>
          </p:nvSpPr>
          <p:spPr bwMode="auto">
            <a:xfrm>
              <a:off x="0" y="0"/>
              <a:ext cx="881859" cy="881859"/>
            </a:xfrm>
            <a:custGeom>
              <a:avLst/>
              <a:gdLst>
                <a:gd name="T0" fmla="*/ 155 w 311"/>
                <a:gd name="T1" fmla="*/ 0 h 311"/>
                <a:gd name="T2" fmla="*/ 0 w 311"/>
                <a:gd name="T3" fmla="*/ 155 h 311"/>
                <a:gd name="T4" fmla="*/ 155 w 311"/>
                <a:gd name="T5" fmla="*/ 311 h 311"/>
                <a:gd name="T6" fmla="*/ 311 w 311"/>
                <a:gd name="T7" fmla="*/ 155 h 311"/>
                <a:gd name="T8" fmla="*/ 155 w 311"/>
                <a:gd name="T9" fmla="*/ 0 h 311"/>
                <a:gd name="T10" fmla="*/ 155 w 311"/>
                <a:gd name="T11" fmla="*/ 289 h 311"/>
                <a:gd name="T12" fmla="*/ 21 w 311"/>
                <a:gd name="T13" fmla="*/ 155 h 311"/>
                <a:gd name="T14" fmla="*/ 155 w 311"/>
                <a:gd name="T15" fmla="*/ 21 h 311"/>
                <a:gd name="T16" fmla="*/ 289 w 311"/>
                <a:gd name="T17" fmla="*/ 155 h 311"/>
                <a:gd name="T18" fmla="*/ 155 w 311"/>
                <a:gd name="T19" fmla="*/ 289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1"/>
                <a:gd name="T31" fmla="*/ 0 h 311"/>
                <a:gd name="T32" fmla="*/ 311 w 311"/>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1" h="311">
                  <a:moveTo>
                    <a:pt x="155" y="0"/>
                  </a:moveTo>
                  <a:cubicBezTo>
                    <a:pt x="70" y="0"/>
                    <a:pt x="0" y="69"/>
                    <a:pt x="0" y="155"/>
                  </a:cubicBezTo>
                  <a:cubicBezTo>
                    <a:pt x="0" y="241"/>
                    <a:pt x="70" y="311"/>
                    <a:pt x="155" y="311"/>
                  </a:cubicBezTo>
                  <a:cubicBezTo>
                    <a:pt x="241" y="311"/>
                    <a:pt x="311" y="241"/>
                    <a:pt x="311" y="155"/>
                  </a:cubicBezTo>
                  <a:cubicBezTo>
                    <a:pt x="311" y="69"/>
                    <a:pt x="241" y="0"/>
                    <a:pt x="155" y="0"/>
                  </a:cubicBezTo>
                  <a:moveTo>
                    <a:pt x="155" y="289"/>
                  </a:moveTo>
                  <a:cubicBezTo>
                    <a:pt x="81" y="289"/>
                    <a:pt x="21" y="229"/>
                    <a:pt x="21" y="155"/>
                  </a:cubicBezTo>
                  <a:cubicBezTo>
                    <a:pt x="21" y="81"/>
                    <a:pt x="81" y="21"/>
                    <a:pt x="155" y="21"/>
                  </a:cubicBezTo>
                  <a:cubicBezTo>
                    <a:pt x="229" y="21"/>
                    <a:pt x="289" y="81"/>
                    <a:pt x="289" y="155"/>
                  </a:cubicBezTo>
                  <a:cubicBezTo>
                    <a:pt x="289" y="229"/>
                    <a:pt x="229" y="289"/>
                    <a:pt x="155" y="289"/>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7" name="Freeform 23"/>
            <p:cNvSpPr>
              <a:spLocks noChangeArrowheads="1"/>
            </p:cNvSpPr>
            <p:nvPr/>
          </p:nvSpPr>
          <p:spPr bwMode="auto">
            <a:xfrm>
              <a:off x="235162" y="70789"/>
              <a:ext cx="430731" cy="428331"/>
            </a:xfrm>
            <a:custGeom>
              <a:avLst/>
              <a:gdLst>
                <a:gd name="T0" fmla="*/ 145 w 152"/>
                <a:gd name="T1" fmla="*/ 53 h 151"/>
                <a:gd name="T2" fmla="*/ 144 w 152"/>
                <a:gd name="T3" fmla="*/ 52 h 151"/>
                <a:gd name="T4" fmla="*/ 125 w 152"/>
                <a:gd name="T5" fmla="*/ 52 h 151"/>
                <a:gd name="T6" fmla="*/ 77 w 152"/>
                <a:gd name="T7" fmla="*/ 106 h 151"/>
                <a:gd name="T8" fmla="*/ 31 w 152"/>
                <a:gd name="T9" fmla="*/ 12 h 151"/>
                <a:gd name="T10" fmla="*/ 11 w 152"/>
                <a:gd name="T11" fmla="*/ 4 h 151"/>
                <a:gd name="T12" fmla="*/ 10 w 152"/>
                <a:gd name="T13" fmla="*/ 4 h 151"/>
                <a:gd name="T14" fmla="*/ 4 w 152"/>
                <a:gd name="T15" fmla="*/ 25 h 151"/>
                <a:gd name="T16" fmla="*/ 60 w 152"/>
                <a:gd name="T17" fmla="*/ 140 h 151"/>
                <a:gd name="T18" fmla="*/ 79 w 152"/>
                <a:gd name="T19" fmla="*/ 148 h 151"/>
                <a:gd name="T20" fmla="*/ 79 w 152"/>
                <a:gd name="T21" fmla="*/ 148 h 151"/>
                <a:gd name="T22" fmla="*/ 80 w 152"/>
                <a:gd name="T23" fmla="*/ 148 h 151"/>
                <a:gd name="T24" fmla="*/ 81 w 152"/>
                <a:gd name="T25" fmla="*/ 147 h 151"/>
                <a:gd name="T26" fmla="*/ 87 w 152"/>
                <a:gd name="T27" fmla="*/ 141 h 151"/>
                <a:gd name="T28" fmla="*/ 148 w 152"/>
                <a:gd name="T29" fmla="*/ 72 h 151"/>
                <a:gd name="T30" fmla="*/ 145 w 152"/>
                <a:gd name="T31" fmla="*/ 53 h 1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1"/>
                <a:gd name="T50" fmla="*/ 152 w 152"/>
                <a:gd name="T51" fmla="*/ 151 h 1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1">
                  <a:moveTo>
                    <a:pt x="145" y="53"/>
                  </a:moveTo>
                  <a:cubicBezTo>
                    <a:pt x="144" y="52"/>
                    <a:pt x="144" y="52"/>
                    <a:pt x="144" y="52"/>
                  </a:cubicBezTo>
                  <a:cubicBezTo>
                    <a:pt x="138" y="47"/>
                    <a:pt x="129" y="47"/>
                    <a:pt x="125" y="52"/>
                  </a:cubicBezTo>
                  <a:cubicBezTo>
                    <a:pt x="77" y="106"/>
                    <a:pt x="77" y="106"/>
                    <a:pt x="77" y="106"/>
                  </a:cubicBezTo>
                  <a:cubicBezTo>
                    <a:pt x="31" y="12"/>
                    <a:pt x="31" y="12"/>
                    <a:pt x="31" y="12"/>
                  </a:cubicBezTo>
                  <a:cubicBezTo>
                    <a:pt x="27" y="4"/>
                    <a:pt x="18" y="0"/>
                    <a:pt x="11" y="4"/>
                  </a:cubicBezTo>
                  <a:cubicBezTo>
                    <a:pt x="10" y="4"/>
                    <a:pt x="10" y="4"/>
                    <a:pt x="10" y="4"/>
                  </a:cubicBezTo>
                  <a:cubicBezTo>
                    <a:pt x="3" y="8"/>
                    <a:pt x="0" y="17"/>
                    <a:pt x="4" y="25"/>
                  </a:cubicBezTo>
                  <a:cubicBezTo>
                    <a:pt x="60" y="140"/>
                    <a:pt x="60" y="140"/>
                    <a:pt x="60" y="140"/>
                  </a:cubicBezTo>
                  <a:cubicBezTo>
                    <a:pt x="63" y="148"/>
                    <a:pt x="72" y="151"/>
                    <a:pt x="79" y="148"/>
                  </a:cubicBezTo>
                  <a:cubicBezTo>
                    <a:pt x="79" y="148"/>
                    <a:pt x="79" y="148"/>
                    <a:pt x="79" y="148"/>
                  </a:cubicBezTo>
                  <a:cubicBezTo>
                    <a:pt x="79" y="148"/>
                    <a:pt x="80" y="148"/>
                    <a:pt x="80" y="148"/>
                  </a:cubicBezTo>
                  <a:cubicBezTo>
                    <a:pt x="81" y="147"/>
                    <a:pt x="81" y="147"/>
                    <a:pt x="81" y="147"/>
                  </a:cubicBezTo>
                  <a:cubicBezTo>
                    <a:pt x="84" y="146"/>
                    <a:pt x="86" y="144"/>
                    <a:pt x="87" y="141"/>
                  </a:cubicBezTo>
                  <a:cubicBezTo>
                    <a:pt x="148" y="72"/>
                    <a:pt x="148" y="72"/>
                    <a:pt x="148" y="72"/>
                  </a:cubicBezTo>
                  <a:cubicBezTo>
                    <a:pt x="152" y="67"/>
                    <a:pt x="151" y="59"/>
                    <a:pt x="145" y="53"/>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8" name="组合 17"/>
          <p:cNvGrpSpPr/>
          <p:nvPr/>
        </p:nvGrpSpPr>
        <p:grpSpPr bwMode="auto">
          <a:xfrm>
            <a:off x="5861890" y="4178966"/>
            <a:ext cx="397959" cy="333006"/>
            <a:chOff x="0" y="0"/>
            <a:chExt cx="961046" cy="796672"/>
          </a:xfrm>
          <a:solidFill>
            <a:schemeClr val="tx1"/>
          </a:solidFill>
        </p:grpSpPr>
        <p:sp>
          <p:nvSpPr>
            <p:cNvPr id="19" name="Freeform 24"/>
            <p:cNvSpPr>
              <a:spLocks noEditPoints="1" noChangeArrowheads="1"/>
            </p:cNvSpPr>
            <p:nvPr/>
          </p:nvSpPr>
          <p:spPr bwMode="auto">
            <a:xfrm>
              <a:off x="0" y="0"/>
              <a:ext cx="961046" cy="796672"/>
            </a:xfrm>
            <a:custGeom>
              <a:avLst/>
              <a:gdLst>
                <a:gd name="T0" fmla="*/ 321 w 339"/>
                <a:gd name="T1" fmla="*/ 0 h 281"/>
                <a:gd name="T2" fmla="*/ 18 w 339"/>
                <a:gd name="T3" fmla="*/ 0 h 281"/>
                <a:gd name="T4" fmla="*/ 0 w 339"/>
                <a:gd name="T5" fmla="*/ 18 h 281"/>
                <a:gd name="T6" fmla="*/ 0 w 339"/>
                <a:gd name="T7" fmla="*/ 263 h 281"/>
                <a:gd name="T8" fmla="*/ 18 w 339"/>
                <a:gd name="T9" fmla="*/ 281 h 281"/>
                <a:gd name="T10" fmla="*/ 321 w 339"/>
                <a:gd name="T11" fmla="*/ 281 h 281"/>
                <a:gd name="T12" fmla="*/ 339 w 339"/>
                <a:gd name="T13" fmla="*/ 263 h 281"/>
                <a:gd name="T14" fmla="*/ 339 w 339"/>
                <a:gd name="T15" fmla="*/ 18 h 281"/>
                <a:gd name="T16" fmla="*/ 321 w 339"/>
                <a:gd name="T17" fmla="*/ 0 h 281"/>
                <a:gd name="T18" fmla="*/ 316 w 339"/>
                <a:gd name="T19" fmla="*/ 246 h 281"/>
                <a:gd name="T20" fmla="*/ 301 w 339"/>
                <a:gd name="T21" fmla="*/ 262 h 281"/>
                <a:gd name="T22" fmla="*/ 38 w 339"/>
                <a:gd name="T23" fmla="*/ 262 h 281"/>
                <a:gd name="T24" fmla="*/ 23 w 339"/>
                <a:gd name="T25" fmla="*/ 246 h 281"/>
                <a:gd name="T26" fmla="*/ 23 w 339"/>
                <a:gd name="T27" fmla="*/ 35 h 281"/>
                <a:gd name="T28" fmla="*/ 38 w 339"/>
                <a:gd name="T29" fmla="*/ 19 h 281"/>
                <a:gd name="T30" fmla="*/ 301 w 339"/>
                <a:gd name="T31" fmla="*/ 19 h 281"/>
                <a:gd name="T32" fmla="*/ 316 w 339"/>
                <a:gd name="T33" fmla="*/ 35 h 281"/>
                <a:gd name="T34" fmla="*/ 316 w 339"/>
                <a:gd name="T35" fmla="*/ 246 h 2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9"/>
                <a:gd name="T55" fmla="*/ 0 h 281"/>
                <a:gd name="T56" fmla="*/ 339 w 339"/>
                <a:gd name="T57" fmla="*/ 281 h 2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9" h="281">
                  <a:moveTo>
                    <a:pt x="321" y="0"/>
                  </a:moveTo>
                  <a:cubicBezTo>
                    <a:pt x="18" y="0"/>
                    <a:pt x="18" y="0"/>
                    <a:pt x="18" y="0"/>
                  </a:cubicBezTo>
                  <a:cubicBezTo>
                    <a:pt x="8" y="0"/>
                    <a:pt x="0" y="8"/>
                    <a:pt x="0" y="18"/>
                  </a:cubicBezTo>
                  <a:cubicBezTo>
                    <a:pt x="0" y="263"/>
                    <a:pt x="0" y="263"/>
                    <a:pt x="0" y="263"/>
                  </a:cubicBezTo>
                  <a:cubicBezTo>
                    <a:pt x="0" y="273"/>
                    <a:pt x="8" y="281"/>
                    <a:pt x="18" y="281"/>
                  </a:cubicBezTo>
                  <a:cubicBezTo>
                    <a:pt x="321" y="281"/>
                    <a:pt x="321" y="281"/>
                    <a:pt x="321" y="281"/>
                  </a:cubicBezTo>
                  <a:cubicBezTo>
                    <a:pt x="331" y="281"/>
                    <a:pt x="339" y="273"/>
                    <a:pt x="339" y="263"/>
                  </a:cubicBezTo>
                  <a:cubicBezTo>
                    <a:pt x="339" y="18"/>
                    <a:pt x="339" y="18"/>
                    <a:pt x="339" y="18"/>
                  </a:cubicBezTo>
                  <a:cubicBezTo>
                    <a:pt x="339" y="8"/>
                    <a:pt x="331" y="0"/>
                    <a:pt x="321" y="0"/>
                  </a:cubicBezTo>
                  <a:moveTo>
                    <a:pt x="316" y="246"/>
                  </a:moveTo>
                  <a:cubicBezTo>
                    <a:pt x="316" y="255"/>
                    <a:pt x="309" y="262"/>
                    <a:pt x="301" y="262"/>
                  </a:cubicBezTo>
                  <a:cubicBezTo>
                    <a:pt x="38" y="262"/>
                    <a:pt x="38" y="262"/>
                    <a:pt x="38" y="262"/>
                  </a:cubicBezTo>
                  <a:cubicBezTo>
                    <a:pt x="30" y="262"/>
                    <a:pt x="23" y="255"/>
                    <a:pt x="23" y="246"/>
                  </a:cubicBezTo>
                  <a:cubicBezTo>
                    <a:pt x="23" y="35"/>
                    <a:pt x="23" y="35"/>
                    <a:pt x="23" y="35"/>
                  </a:cubicBezTo>
                  <a:cubicBezTo>
                    <a:pt x="23" y="26"/>
                    <a:pt x="30" y="19"/>
                    <a:pt x="38" y="19"/>
                  </a:cubicBezTo>
                  <a:cubicBezTo>
                    <a:pt x="301" y="19"/>
                    <a:pt x="301" y="19"/>
                    <a:pt x="301" y="19"/>
                  </a:cubicBezTo>
                  <a:cubicBezTo>
                    <a:pt x="309" y="19"/>
                    <a:pt x="316" y="26"/>
                    <a:pt x="316" y="35"/>
                  </a:cubicBezTo>
                  <a:lnTo>
                    <a:pt x="316" y="24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0" name="Freeform 25"/>
            <p:cNvSpPr>
              <a:spLocks noChangeArrowheads="1"/>
            </p:cNvSpPr>
            <p:nvPr/>
          </p:nvSpPr>
          <p:spPr bwMode="auto">
            <a:xfrm>
              <a:off x="176371"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1" name="Freeform 26"/>
            <p:cNvSpPr>
              <a:spLocks noChangeArrowheads="1"/>
            </p:cNvSpPr>
            <p:nvPr/>
          </p:nvSpPr>
          <p:spPr bwMode="auto">
            <a:xfrm>
              <a:off x="176371"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2" name="Freeform 27"/>
            <p:cNvSpPr>
              <a:spLocks noChangeArrowheads="1"/>
            </p:cNvSpPr>
            <p:nvPr/>
          </p:nvSpPr>
          <p:spPr bwMode="auto">
            <a:xfrm>
              <a:off x="346744"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3" name="Freeform 28"/>
            <p:cNvSpPr>
              <a:spLocks noChangeArrowheads="1"/>
            </p:cNvSpPr>
            <p:nvPr/>
          </p:nvSpPr>
          <p:spPr bwMode="auto">
            <a:xfrm>
              <a:off x="346744"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4" name="Freeform 29"/>
            <p:cNvSpPr>
              <a:spLocks noChangeArrowheads="1"/>
            </p:cNvSpPr>
            <p:nvPr/>
          </p:nvSpPr>
          <p:spPr bwMode="auto">
            <a:xfrm>
              <a:off x="346744"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5" name="Freeform 30"/>
            <p:cNvSpPr>
              <a:spLocks noChangeArrowheads="1"/>
            </p:cNvSpPr>
            <p:nvPr/>
          </p:nvSpPr>
          <p:spPr bwMode="auto">
            <a:xfrm>
              <a:off x="519516" y="116382"/>
              <a:ext cx="83987"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6" name="Freeform 31"/>
            <p:cNvSpPr>
              <a:spLocks noChangeArrowheads="1"/>
            </p:cNvSpPr>
            <p:nvPr/>
          </p:nvSpPr>
          <p:spPr bwMode="auto">
            <a:xfrm>
              <a:off x="519516" y="274756"/>
              <a:ext cx="83987"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7" name="Freeform 32"/>
            <p:cNvSpPr>
              <a:spLocks noChangeArrowheads="1"/>
            </p:cNvSpPr>
            <p:nvPr/>
          </p:nvSpPr>
          <p:spPr bwMode="auto">
            <a:xfrm>
              <a:off x="688689" y="116382"/>
              <a:ext cx="85186"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8" name="Freeform 33"/>
            <p:cNvSpPr>
              <a:spLocks noChangeArrowheads="1"/>
            </p:cNvSpPr>
            <p:nvPr/>
          </p:nvSpPr>
          <p:spPr bwMode="auto">
            <a:xfrm>
              <a:off x="688689" y="274756"/>
              <a:ext cx="85186"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9" name="Freeform 34"/>
            <p:cNvSpPr>
              <a:spLocks noChangeArrowheads="1"/>
            </p:cNvSpPr>
            <p:nvPr/>
          </p:nvSpPr>
          <p:spPr bwMode="auto">
            <a:xfrm>
              <a:off x="176371"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sp>
        <p:nvSpPr>
          <p:cNvPr id="30" name="Freeform 84"/>
          <p:cNvSpPr>
            <a:spLocks noChangeAspect="1" noEditPoints="1" noChangeArrowheads="1"/>
          </p:cNvSpPr>
          <p:nvPr/>
        </p:nvSpPr>
        <p:spPr bwMode="auto">
          <a:xfrm>
            <a:off x="4557745" y="4178965"/>
            <a:ext cx="333822" cy="333006"/>
          </a:xfrm>
          <a:custGeom>
            <a:avLst/>
            <a:gdLst>
              <a:gd name="T0" fmla="*/ 170 w 170"/>
              <a:gd name="T1" fmla="*/ 0 h 168"/>
              <a:gd name="T2" fmla="*/ 162 w 170"/>
              <a:gd name="T3" fmla="*/ 16 h 168"/>
              <a:gd name="T4" fmla="*/ 170 w 170"/>
              <a:gd name="T5" fmla="*/ 103 h 168"/>
              <a:gd name="T6" fmla="*/ 93 w 170"/>
              <a:gd name="T7" fmla="*/ 119 h 168"/>
              <a:gd name="T8" fmla="*/ 128 w 170"/>
              <a:gd name="T9" fmla="*/ 152 h 168"/>
              <a:gd name="T10" fmla="*/ 42 w 170"/>
              <a:gd name="T11" fmla="*/ 168 h 168"/>
              <a:gd name="T12" fmla="*/ 77 w 170"/>
              <a:gd name="T13" fmla="*/ 152 h 168"/>
              <a:gd name="T14" fmla="*/ 0 w 170"/>
              <a:gd name="T15" fmla="*/ 119 h 168"/>
              <a:gd name="T16" fmla="*/ 6 w 170"/>
              <a:gd name="T17" fmla="*/ 103 h 168"/>
              <a:gd name="T18" fmla="*/ 0 w 170"/>
              <a:gd name="T19" fmla="*/ 16 h 168"/>
              <a:gd name="T20" fmla="*/ 0 w 170"/>
              <a:gd name="T21" fmla="*/ 0 h 168"/>
              <a:gd name="T22" fmla="*/ 122 w 170"/>
              <a:gd name="T23" fmla="*/ 40 h 168"/>
              <a:gd name="T24" fmla="*/ 115 w 170"/>
              <a:gd name="T25" fmla="*/ 44 h 168"/>
              <a:gd name="T26" fmla="*/ 75 w 170"/>
              <a:gd name="T27" fmla="*/ 52 h 168"/>
              <a:gd name="T28" fmla="*/ 73 w 170"/>
              <a:gd name="T29" fmla="*/ 50 h 168"/>
              <a:gd name="T30" fmla="*/ 50 w 170"/>
              <a:gd name="T31" fmla="*/ 67 h 168"/>
              <a:gd name="T32" fmla="*/ 85 w 170"/>
              <a:gd name="T33" fmla="*/ 65 h 168"/>
              <a:gd name="T34" fmla="*/ 89 w 170"/>
              <a:gd name="T35" fmla="*/ 67 h 168"/>
              <a:gd name="T36" fmla="*/ 120 w 170"/>
              <a:gd name="T37" fmla="*/ 52 h 168"/>
              <a:gd name="T38" fmla="*/ 128 w 170"/>
              <a:gd name="T39" fmla="*/ 40 h 168"/>
              <a:gd name="T40" fmla="*/ 113 w 170"/>
              <a:gd name="T41" fmla="*/ 58 h 168"/>
              <a:gd name="T42" fmla="*/ 122 w 170"/>
              <a:gd name="T43" fmla="*/ 85 h 168"/>
              <a:gd name="T44" fmla="*/ 113 w 170"/>
              <a:gd name="T45" fmla="*/ 58 h 168"/>
              <a:gd name="T46" fmla="*/ 101 w 170"/>
              <a:gd name="T47" fmla="*/ 67 h 168"/>
              <a:gd name="T48" fmla="*/ 109 w 170"/>
              <a:gd name="T49" fmla="*/ 85 h 168"/>
              <a:gd name="T50" fmla="*/ 101 w 170"/>
              <a:gd name="T51" fmla="*/ 67 h 168"/>
              <a:gd name="T52" fmla="*/ 87 w 170"/>
              <a:gd name="T53" fmla="*/ 77 h 168"/>
              <a:gd name="T54" fmla="*/ 95 w 170"/>
              <a:gd name="T55" fmla="*/ 85 h 168"/>
              <a:gd name="T56" fmla="*/ 87 w 170"/>
              <a:gd name="T57" fmla="*/ 77 h 168"/>
              <a:gd name="T58" fmla="*/ 75 w 170"/>
              <a:gd name="T59" fmla="*/ 69 h 168"/>
              <a:gd name="T60" fmla="*/ 83 w 170"/>
              <a:gd name="T61" fmla="*/ 85 h 168"/>
              <a:gd name="T62" fmla="*/ 75 w 170"/>
              <a:gd name="T63" fmla="*/ 69 h 168"/>
              <a:gd name="T64" fmla="*/ 63 w 170"/>
              <a:gd name="T65" fmla="*/ 69 h 168"/>
              <a:gd name="T66" fmla="*/ 71 w 170"/>
              <a:gd name="T67" fmla="*/ 85 h 168"/>
              <a:gd name="T68" fmla="*/ 63 w 170"/>
              <a:gd name="T69" fmla="*/ 69 h 168"/>
              <a:gd name="T70" fmla="*/ 48 w 170"/>
              <a:gd name="T71" fmla="*/ 73 h 168"/>
              <a:gd name="T72" fmla="*/ 56 w 170"/>
              <a:gd name="T73" fmla="*/ 85 h 168"/>
              <a:gd name="T74" fmla="*/ 48 w 170"/>
              <a:gd name="T75" fmla="*/ 73 h 168"/>
              <a:gd name="T76" fmla="*/ 146 w 170"/>
              <a:gd name="T77" fmla="*/ 18 h 168"/>
              <a:gd name="T78" fmla="*/ 24 w 170"/>
              <a:gd name="T79" fmla="*/ 101 h 168"/>
              <a:gd name="T80" fmla="*/ 146 w 170"/>
              <a:gd name="T81" fmla="*/ 18 h 1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
              <a:gd name="T124" fmla="*/ 0 h 168"/>
              <a:gd name="T125" fmla="*/ 170 w 170"/>
              <a:gd name="T126" fmla="*/ 168 h 1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 h="168">
                <a:moveTo>
                  <a:pt x="0" y="0"/>
                </a:moveTo>
                <a:lnTo>
                  <a:pt x="170" y="0"/>
                </a:lnTo>
                <a:lnTo>
                  <a:pt x="170" y="16"/>
                </a:lnTo>
                <a:lnTo>
                  <a:pt x="162" y="16"/>
                </a:lnTo>
                <a:lnTo>
                  <a:pt x="162" y="103"/>
                </a:lnTo>
                <a:lnTo>
                  <a:pt x="170" y="103"/>
                </a:lnTo>
                <a:lnTo>
                  <a:pt x="170" y="119"/>
                </a:lnTo>
                <a:lnTo>
                  <a:pt x="93" y="119"/>
                </a:lnTo>
                <a:lnTo>
                  <a:pt x="93" y="152"/>
                </a:lnTo>
                <a:lnTo>
                  <a:pt x="128" y="152"/>
                </a:lnTo>
                <a:lnTo>
                  <a:pt x="128" y="168"/>
                </a:lnTo>
                <a:lnTo>
                  <a:pt x="42" y="168"/>
                </a:lnTo>
                <a:lnTo>
                  <a:pt x="42" y="152"/>
                </a:lnTo>
                <a:lnTo>
                  <a:pt x="77" y="152"/>
                </a:lnTo>
                <a:lnTo>
                  <a:pt x="77" y="119"/>
                </a:lnTo>
                <a:lnTo>
                  <a:pt x="0" y="119"/>
                </a:lnTo>
                <a:lnTo>
                  <a:pt x="0" y="103"/>
                </a:lnTo>
                <a:lnTo>
                  <a:pt x="6" y="103"/>
                </a:lnTo>
                <a:lnTo>
                  <a:pt x="6" y="16"/>
                </a:lnTo>
                <a:lnTo>
                  <a:pt x="0" y="16"/>
                </a:lnTo>
                <a:lnTo>
                  <a:pt x="0" y="0"/>
                </a:lnTo>
                <a:lnTo>
                  <a:pt x="0" y="0"/>
                </a:lnTo>
                <a:close/>
                <a:moveTo>
                  <a:pt x="128" y="40"/>
                </a:moveTo>
                <a:lnTo>
                  <a:pt x="122" y="40"/>
                </a:lnTo>
                <a:lnTo>
                  <a:pt x="113" y="40"/>
                </a:lnTo>
                <a:lnTo>
                  <a:pt x="115" y="44"/>
                </a:lnTo>
                <a:lnTo>
                  <a:pt x="87" y="61"/>
                </a:lnTo>
                <a:lnTo>
                  <a:pt x="75" y="52"/>
                </a:lnTo>
                <a:lnTo>
                  <a:pt x="75" y="50"/>
                </a:lnTo>
                <a:lnTo>
                  <a:pt x="73" y="50"/>
                </a:lnTo>
                <a:lnTo>
                  <a:pt x="48" y="61"/>
                </a:lnTo>
                <a:lnTo>
                  <a:pt x="50" y="67"/>
                </a:lnTo>
                <a:lnTo>
                  <a:pt x="73" y="56"/>
                </a:lnTo>
                <a:lnTo>
                  <a:pt x="85" y="65"/>
                </a:lnTo>
                <a:lnTo>
                  <a:pt x="87" y="67"/>
                </a:lnTo>
                <a:lnTo>
                  <a:pt x="89" y="67"/>
                </a:lnTo>
                <a:lnTo>
                  <a:pt x="117" y="48"/>
                </a:lnTo>
                <a:lnTo>
                  <a:pt x="120" y="52"/>
                </a:lnTo>
                <a:lnTo>
                  <a:pt x="124" y="46"/>
                </a:lnTo>
                <a:lnTo>
                  <a:pt x="128" y="40"/>
                </a:lnTo>
                <a:lnTo>
                  <a:pt x="128" y="40"/>
                </a:lnTo>
                <a:close/>
                <a:moveTo>
                  <a:pt x="113" y="58"/>
                </a:moveTo>
                <a:lnTo>
                  <a:pt x="113" y="85"/>
                </a:lnTo>
                <a:lnTo>
                  <a:pt x="122" y="85"/>
                </a:lnTo>
                <a:lnTo>
                  <a:pt x="122" y="58"/>
                </a:lnTo>
                <a:lnTo>
                  <a:pt x="113" y="58"/>
                </a:lnTo>
                <a:lnTo>
                  <a:pt x="113" y="58"/>
                </a:lnTo>
                <a:close/>
                <a:moveTo>
                  <a:pt x="101" y="67"/>
                </a:moveTo>
                <a:lnTo>
                  <a:pt x="101" y="85"/>
                </a:lnTo>
                <a:lnTo>
                  <a:pt x="109" y="85"/>
                </a:lnTo>
                <a:lnTo>
                  <a:pt x="109" y="67"/>
                </a:lnTo>
                <a:lnTo>
                  <a:pt x="101" y="67"/>
                </a:lnTo>
                <a:lnTo>
                  <a:pt x="101" y="67"/>
                </a:lnTo>
                <a:close/>
                <a:moveTo>
                  <a:pt x="87" y="77"/>
                </a:moveTo>
                <a:lnTo>
                  <a:pt x="87" y="85"/>
                </a:lnTo>
                <a:lnTo>
                  <a:pt x="95" y="85"/>
                </a:lnTo>
                <a:lnTo>
                  <a:pt x="95" y="77"/>
                </a:lnTo>
                <a:lnTo>
                  <a:pt x="87" y="77"/>
                </a:lnTo>
                <a:lnTo>
                  <a:pt x="87" y="77"/>
                </a:lnTo>
                <a:close/>
                <a:moveTo>
                  <a:pt x="75" y="69"/>
                </a:moveTo>
                <a:lnTo>
                  <a:pt x="75" y="85"/>
                </a:lnTo>
                <a:lnTo>
                  <a:pt x="83" y="85"/>
                </a:lnTo>
                <a:lnTo>
                  <a:pt x="83" y="69"/>
                </a:lnTo>
                <a:lnTo>
                  <a:pt x="75" y="69"/>
                </a:lnTo>
                <a:lnTo>
                  <a:pt x="75" y="69"/>
                </a:lnTo>
                <a:close/>
                <a:moveTo>
                  <a:pt x="63" y="69"/>
                </a:moveTo>
                <a:lnTo>
                  <a:pt x="63" y="85"/>
                </a:lnTo>
                <a:lnTo>
                  <a:pt x="71" y="85"/>
                </a:lnTo>
                <a:lnTo>
                  <a:pt x="71" y="69"/>
                </a:lnTo>
                <a:lnTo>
                  <a:pt x="63" y="69"/>
                </a:lnTo>
                <a:lnTo>
                  <a:pt x="63" y="69"/>
                </a:lnTo>
                <a:close/>
                <a:moveTo>
                  <a:pt x="48" y="73"/>
                </a:moveTo>
                <a:lnTo>
                  <a:pt x="48" y="85"/>
                </a:lnTo>
                <a:lnTo>
                  <a:pt x="56" y="85"/>
                </a:lnTo>
                <a:lnTo>
                  <a:pt x="56" y="73"/>
                </a:lnTo>
                <a:lnTo>
                  <a:pt x="48" y="73"/>
                </a:lnTo>
                <a:lnTo>
                  <a:pt x="48" y="73"/>
                </a:lnTo>
                <a:close/>
                <a:moveTo>
                  <a:pt x="146" y="18"/>
                </a:moveTo>
                <a:lnTo>
                  <a:pt x="24" y="18"/>
                </a:lnTo>
                <a:lnTo>
                  <a:pt x="24" y="101"/>
                </a:lnTo>
                <a:lnTo>
                  <a:pt x="146" y="101"/>
                </a:lnTo>
                <a:lnTo>
                  <a:pt x="146" y="18"/>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1" name="Freeform 9"/>
          <p:cNvSpPr>
            <a:spLocks noChangeAspect="1" noEditPoints="1" noChangeArrowheads="1"/>
          </p:cNvSpPr>
          <p:nvPr/>
        </p:nvSpPr>
        <p:spPr bwMode="auto">
          <a:xfrm>
            <a:off x="6538656" y="4178964"/>
            <a:ext cx="361886" cy="333007"/>
          </a:xfrm>
          <a:custGeom>
            <a:avLst/>
            <a:gdLst>
              <a:gd name="T0" fmla="*/ 141 w 181"/>
              <a:gd name="T1" fmla="*/ 0 h 165"/>
              <a:gd name="T2" fmla="*/ 149 w 181"/>
              <a:gd name="T3" fmla="*/ 8 h 165"/>
              <a:gd name="T4" fmla="*/ 134 w 181"/>
              <a:gd name="T5" fmla="*/ 47 h 165"/>
              <a:gd name="T6" fmla="*/ 33 w 181"/>
              <a:gd name="T7" fmla="*/ 14 h 165"/>
              <a:gd name="T8" fmla="*/ 39 w 181"/>
              <a:gd name="T9" fmla="*/ 20 h 165"/>
              <a:gd name="T10" fmla="*/ 51 w 181"/>
              <a:gd name="T11" fmla="*/ 31 h 165"/>
              <a:gd name="T12" fmla="*/ 33 w 181"/>
              <a:gd name="T13" fmla="*/ 39 h 165"/>
              <a:gd name="T14" fmla="*/ 39 w 181"/>
              <a:gd name="T15" fmla="*/ 45 h 165"/>
              <a:gd name="T16" fmla="*/ 51 w 181"/>
              <a:gd name="T17" fmla="*/ 55 h 165"/>
              <a:gd name="T18" fmla="*/ 33 w 181"/>
              <a:gd name="T19" fmla="*/ 63 h 165"/>
              <a:gd name="T20" fmla="*/ 39 w 181"/>
              <a:gd name="T21" fmla="*/ 67 h 165"/>
              <a:gd name="T22" fmla="*/ 51 w 181"/>
              <a:gd name="T23" fmla="*/ 77 h 165"/>
              <a:gd name="T24" fmla="*/ 33 w 181"/>
              <a:gd name="T25" fmla="*/ 86 h 165"/>
              <a:gd name="T26" fmla="*/ 39 w 181"/>
              <a:gd name="T27" fmla="*/ 90 h 165"/>
              <a:gd name="T28" fmla="*/ 51 w 181"/>
              <a:gd name="T29" fmla="*/ 100 h 165"/>
              <a:gd name="T30" fmla="*/ 33 w 181"/>
              <a:gd name="T31" fmla="*/ 110 h 165"/>
              <a:gd name="T32" fmla="*/ 39 w 181"/>
              <a:gd name="T33" fmla="*/ 116 h 165"/>
              <a:gd name="T34" fmla="*/ 51 w 181"/>
              <a:gd name="T35" fmla="*/ 126 h 165"/>
              <a:gd name="T36" fmla="*/ 33 w 181"/>
              <a:gd name="T37" fmla="*/ 134 h 165"/>
              <a:gd name="T38" fmla="*/ 33 w 181"/>
              <a:gd name="T39" fmla="*/ 151 h 165"/>
              <a:gd name="T40" fmla="*/ 134 w 181"/>
              <a:gd name="T41" fmla="*/ 118 h 165"/>
              <a:gd name="T42" fmla="*/ 149 w 181"/>
              <a:gd name="T43" fmla="*/ 157 h 165"/>
              <a:gd name="T44" fmla="*/ 141 w 181"/>
              <a:gd name="T45" fmla="*/ 165 h 165"/>
              <a:gd name="T46" fmla="*/ 19 w 181"/>
              <a:gd name="T47" fmla="*/ 165 h 165"/>
              <a:gd name="T48" fmla="*/ 19 w 181"/>
              <a:gd name="T49" fmla="*/ 146 h 165"/>
              <a:gd name="T50" fmla="*/ 0 w 181"/>
              <a:gd name="T51" fmla="*/ 132 h 165"/>
              <a:gd name="T52" fmla="*/ 19 w 181"/>
              <a:gd name="T53" fmla="*/ 120 h 165"/>
              <a:gd name="T54" fmla="*/ 0 w 181"/>
              <a:gd name="T55" fmla="*/ 108 h 165"/>
              <a:gd name="T56" fmla="*/ 19 w 181"/>
              <a:gd name="T57" fmla="*/ 98 h 165"/>
              <a:gd name="T58" fmla="*/ 0 w 181"/>
              <a:gd name="T59" fmla="*/ 83 h 165"/>
              <a:gd name="T60" fmla="*/ 19 w 181"/>
              <a:gd name="T61" fmla="*/ 75 h 165"/>
              <a:gd name="T62" fmla="*/ 0 w 181"/>
              <a:gd name="T63" fmla="*/ 61 h 165"/>
              <a:gd name="T64" fmla="*/ 19 w 181"/>
              <a:gd name="T65" fmla="*/ 51 h 165"/>
              <a:gd name="T66" fmla="*/ 0 w 181"/>
              <a:gd name="T67" fmla="*/ 39 h 165"/>
              <a:gd name="T68" fmla="*/ 19 w 181"/>
              <a:gd name="T69" fmla="*/ 8 h 165"/>
              <a:gd name="T70" fmla="*/ 27 w 181"/>
              <a:gd name="T71" fmla="*/ 0 h 165"/>
              <a:gd name="T72" fmla="*/ 63 w 181"/>
              <a:gd name="T73" fmla="*/ 79 h 165"/>
              <a:gd name="T74" fmla="*/ 84 w 181"/>
              <a:gd name="T75" fmla="*/ 88 h 165"/>
              <a:gd name="T76" fmla="*/ 63 w 181"/>
              <a:gd name="T77" fmla="*/ 79 h 165"/>
              <a:gd name="T78" fmla="*/ 63 w 181"/>
              <a:gd name="T79" fmla="*/ 61 h 165"/>
              <a:gd name="T80" fmla="*/ 100 w 181"/>
              <a:gd name="T81" fmla="*/ 69 h 165"/>
              <a:gd name="T82" fmla="*/ 63 w 181"/>
              <a:gd name="T83" fmla="*/ 61 h 165"/>
              <a:gd name="T84" fmla="*/ 63 w 181"/>
              <a:gd name="T85" fmla="*/ 45 h 165"/>
              <a:gd name="T86" fmla="*/ 116 w 181"/>
              <a:gd name="T87" fmla="*/ 53 h 165"/>
              <a:gd name="T88" fmla="*/ 63 w 181"/>
              <a:gd name="T89" fmla="*/ 45 h 165"/>
              <a:gd name="T90" fmla="*/ 63 w 181"/>
              <a:gd name="T91" fmla="*/ 29 h 165"/>
              <a:gd name="T92" fmla="*/ 116 w 181"/>
              <a:gd name="T93" fmla="*/ 35 h 165"/>
              <a:gd name="T94" fmla="*/ 63 w 181"/>
              <a:gd name="T95" fmla="*/ 29 h 165"/>
              <a:gd name="T96" fmla="*/ 84 w 181"/>
              <a:gd name="T97" fmla="*/ 130 h 165"/>
              <a:gd name="T98" fmla="*/ 106 w 181"/>
              <a:gd name="T99" fmla="*/ 130 h 165"/>
              <a:gd name="T100" fmla="*/ 86 w 181"/>
              <a:gd name="T101" fmla="*/ 108 h 165"/>
              <a:gd name="T102" fmla="*/ 84 w 181"/>
              <a:gd name="T103" fmla="*/ 130 h 165"/>
              <a:gd name="T104" fmla="*/ 161 w 181"/>
              <a:gd name="T105" fmla="*/ 37 h 165"/>
              <a:gd name="T106" fmla="*/ 116 w 181"/>
              <a:gd name="T107" fmla="*/ 120 h 165"/>
              <a:gd name="T108" fmla="*/ 161 w 181"/>
              <a:gd name="T109" fmla="*/ 37 h 1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1"/>
              <a:gd name="T166" fmla="*/ 0 h 165"/>
              <a:gd name="T167" fmla="*/ 181 w 181"/>
              <a:gd name="T168" fmla="*/ 165 h 1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1" h="165">
                <a:moveTo>
                  <a:pt x="27" y="0"/>
                </a:moveTo>
                <a:lnTo>
                  <a:pt x="141" y="0"/>
                </a:lnTo>
                <a:lnTo>
                  <a:pt x="149" y="0"/>
                </a:lnTo>
                <a:lnTo>
                  <a:pt x="149" y="8"/>
                </a:lnTo>
                <a:lnTo>
                  <a:pt x="149" y="35"/>
                </a:lnTo>
                <a:lnTo>
                  <a:pt x="134" y="47"/>
                </a:lnTo>
                <a:lnTo>
                  <a:pt x="134" y="14"/>
                </a:lnTo>
                <a:lnTo>
                  <a:pt x="33" y="14"/>
                </a:lnTo>
                <a:lnTo>
                  <a:pt x="33" y="25"/>
                </a:lnTo>
                <a:lnTo>
                  <a:pt x="39" y="20"/>
                </a:lnTo>
                <a:lnTo>
                  <a:pt x="47" y="18"/>
                </a:lnTo>
                <a:lnTo>
                  <a:pt x="51" y="31"/>
                </a:lnTo>
                <a:lnTo>
                  <a:pt x="45" y="35"/>
                </a:lnTo>
                <a:lnTo>
                  <a:pt x="33" y="39"/>
                </a:lnTo>
                <a:lnTo>
                  <a:pt x="33" y="47"/>
                </a:lnTo>
                <a:lnTo>
                  <a:pt x="39" y="45"/>
                </a:lnTo>
                <a:lnTo>
                  <a:pt x="47" y="41"/>
                </a:lnTo>
                <a:lnTo>
                  <a:pt x="51" y="55"/>
                </a:lnTo>
                <a:lnTo>
                  <a:pt x="45" y="57"/>
                </a:lnTo>
                <a:lnTo>
                  <a:pt x="33" y="63"/>
                </a:lnTo>
                <a:lnTo>
                  <a:pt x="33" y="71"/>
                </a:lnTo>
                <a:lnTo>
                  <a:pt x="39" y="67"/>
                </a:lnTo>
                <a:lnTo>
                  <a:pt x="47" y="65"/>
                </a:lnTo>
                <a:lnTo>
                  <a:pt x="51" y="77"/>
                </a:lnTo>
                <a:lnTo>
                  <a:pt x="45" y="81"/>
                </a:lnTo>
                <a:lnTo>
                  <a:pt x="33" y="86"/>
                </a:lnTo>
                <a:lnTo>
                  <a:pt x="33" y="94"/>
                </a:lnTo>
                <a:lnTo>
                  <a:pt x="39" y="90"/>
                </a:lnTo>
                <a:lnTo>
                  <a:pt x="47" y="88"/>
                </a:lnTo>
                <a:lnTo>
                  <a:pt x="51" y="100"/>
                </a:lnTo>
                <a:lnTo>
                  <a:pt x="45" y="104"/>
                </a:lnTo>
                <a:lnTo>
                  <a:pt x="33" y="110"/>
                </a:lnTo>
                <a:lnTo>
                  <a:pt x="33" y="118"/>
                </a:lnTo>
                <a:lnTo>
                  <a:pt x="39" y="116"/>
                </a:lnTo>
                <a:lnTo>
                  <a:pt x="47" y="112"/>
                </a:lnTo>
                <a:lnTo>
                  <a:pt x="51" y="126"/>
                </a:lnTo>
                <a:lnTo>
                  <a:pt x="45" y="128"/>
                </a:lnTo>
                <a:lnTo>
                  <a:pt x="33" y="134"/>
                </a:lnTo>
                <a:lnTo>
                  <a:pt x="33" y="146"/>
                </a:lnTo>
                <a:lnTo>
                  <a:pt x="33" y="151"/>
                </a:lnTo>
                <a:lnTo>
                  <a:pt x="134" y="151"/>
                </a:lnTo>
                <a:lnTo>
                  <a:pt x="134" y="118"/>
                </a:lnTo>
                <a:lnTo>
                  <a:pt x="149" y="106"/>
                </a:lnTo>
                <a:lnTo>
                  <a:pt x="149" y="157"/>
                </a:lnTo>
                <a:lnTo>
                  <a:pt x="149" y="165"/>
                </a:lnTo>
                <a:lnTo>
                  <a:pt x="141" y="165"/>
                </a:lnTo>
                <a:lnTo>
                  <a:pt x="27" y="165"/>
                </a:lnTo>
                <a:lnTo>
                  <a:pt x="19" y="165"/>
                </a:lnTo>
                <a:lnTo>
                  <a:pt x="19" y="157"/>
                </a:lnTo>
                <a:lnTo>
                  <a:pt x="19" y="146"/>
                </a:lnTo>
                <a:lnTo>
                  <a:pt x="4" y="146"/>
                </a:lnTo>
                <a:lnTo>
                  <a:pt x="0" y="132"/>
                </a:lnTo>
                <a:lnTo>
                  <a:pt x="19" y="124"/>
                </a:lnTo>
                <a:lnTo>
                  <a:pt x="19" y="120"/>
                </a:lnTo>
                <a:lnTo>
                  <a:pt x="4" y="120"/>
                </a:lnTo>
                <a:lnTo>
                  <a:pt x="0" y="108"/>
                </a:lnTo>
                <a:lnTo>
                  <a:pt x="19" y="100"/>
                </a:lnTo>
                <a:lnTo>
                  <a:pt x="19" y="98"/>
                </a:lnTo>
                <a:lnTo>
                  <a:pt x="4" y="98"/>
                </a:lnTo>
                <a:lnTo>
                  <a:pt x="0" y="83"/>
                </a:lnTo>
                <a:lnTo>
                  <a:pt x="19" y="77"/>
                </a:lnTo>
                <a:lnTo>
                  <a:pt x="19" y="75"/>
                </a:lnTo>
                <a:lnTo>
                  <a:pt x="4" y="75"/>
                </a:lnTo>
                <a:lnTo>
                  <a:pt x="0" y="61"/>
                </a:lnTo>
                <a:lnTo>
                  <a:pt x="19" y="53"/>
                </a:lnTo>
                <a:lnTo>
                  <a:pt x="19" y="51"/>
                </a:lnTo>
                <a:lnTo>
                  <a:pt x="4" y="51"/>
                </a:lnTo>
                <a:lnTo>
                  <a:pt x="0" y="39"/>
                </a:lnTo>
                <a:lnTo>
                  <a:pt x="19" y="31"/>
                </a:lnTo>
                <a:lnTo>
                  <a:pt x="19" y="8"/>
                </a:lnTo>
                <a:lnTo>
                  <a:pt x="19" y="0"/>
                </a:lnTo>
                <a:lnTo>
                  <a:pt x="27" y="0"/>
                </a:lnTo>
                <a:lnTo>
                  <a:pt x="27" y="0"/>
                </a:lnTo>
                <a:close/>
                <a:moveTo>
                  <a:pt x="63" y="79"/>
                </a:moveTo>
                <a:lnTo>
                  <a:pt x="63" y="88"/>
                </a:lnTo>
                <a:lnTo>
                  <a:pt x="84" y="88"/>
                </a:lnTo>
                <a:lnTo>
                  <a:pt x="84" y="79"/>
                </a:lnTo>
                <a:lnTo>
                  <a:pt x="63" y="79"/>
                </a:lnTo>
                <a:lnTo>
                  <a:pt x="63" y="79"/>
                </a:lnTo>
                <a:close/>
                <a:moveTo>
                  <a:pt x="63" y="61"/>
                </a:moveTo>
                <a:lnTo>
                  <a:pt x="63" y="69"/>
                </a:lnTo>
                <a:lnTo>
                  <a:pt x="100" y="69"/>
                </a:lnTo>
                <a:lnTo>
                  <a:pt x="100" y="61"/>
                </a:lnTo>
                <a:lnTo>
                  <a:pt x="63" y="61"/>
                </a:lnTo>
                <a:lnTo>
                  <a:pt x="63" y="61"/>
                </a:lnTo>
                <a:close/>
                <a:moveTo>
                  <a:pt x="63" y="45"/>
                </a:moveTo>
                <a:lnTo>
                  <a:pt x="63" y="53"/>
                </a:lnTo>
                <a:lnTo>
                  <a:pt x="116" y="53"/>
                </a:lnTo>
                <a:lnTo>
                  <a:pt x="116" y="45"/>
                </a:lnTo>
                <a:lnTo>
                  <a:pt x="63" y="45"/>
                </a:lnTo>
                <a:lnTo>
                  <a:pt x="63" y="45"/>
                </a:lnTo>
                <a:close/>
                <a:moveTo>
                  <a:pt x="63" y="29"/>
                </a:moveTo>
                <a:lnTo>
                  <a:pt x="63" y="35"/>
                </a:lnTo>
                <a:lnTo>
                  <a:pt x="116" y="35"/>
                </a:lnTo>
                <a:lnTo>
                  <a:pt x="116" y="29"/>
                </a:lnTo>
                <a:lnTo>
                  <a:pt x="63" y="29"/>
                </a:lnTo>
                <a:lnTo>
                  <a:pt x="63" y="29"/>
                </a:lnTo>
                <a:close/>
                <a:moveTo>
                  <a:pt x="84" y="130"/>
                </a:moveTo>
                <a:lnTo>
                  <a:pt x="96" y="130"/>
                </a:lnTo>
                <a:lnTo>
                  <a:pt x="106" y="130"/>
                </a:lnTo>
                <a:lnTo>
                  <a:pt x="96" y="118"/>
                </a:lnTo>
                <a:lnTo>
                  <a:pt x="86" y="108"/>
                </a:lnTo>
                <a:lnTo>
                  <a:pt x="86" y="120"/>
                </a:lnTo>
                <a:lnTo>
                  <a:pt x="84" y="130"/>
                </a:lnTo>
                <a:lnTo>
                  <a:pt x="84" y="130"/>
                </a:lnTo>
                <a:close/>
                <a:moveTo>
                  <a:pt x="161" y="37"/>
                </a:moveTo>
                <a:lnTo>
                  <a:pt x="96" y="100"/>
                </a:lnTo>
                <a:lnTo>
                  <a:pt x="116" y="120"/>
                </a:lnTo>
                <a:lnTo>
                  <a:pt x="181" y="57"/>
                </a:lnTo>
                <a:lnTo>
                  <a:pt x="161" y="37"/>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3" name="文本框 32">
            <a:extLst>
              <a:ext uri="{FF2B5EF4-FFF2-40B4-BE49-F238E27FC236}">
                <a16:creationId xmlns:a16="http://schemas.microsoft.com/office/drawing/2014/main" id="{08D0E11D-9DF4-3F6F-4654-687E1E87F48B}"/>
              </a:ext>
            </a:extLst>
          </p:cNvPr>
          <p:cNvSpPr txBox="1"/>
          <p:nvPr/>
        </p:nvSpPr>
        <p:spPr>
          <a:xfrm>
            <a:off x="2233542" y="2302012"/>
            <a:ext cx="7721725" cy="523220"/>
          </a:xfrm>
          <a:prstGeom prst="rect">
            <a:avLst/>
          </a:prstGeom>
          <a:noFill/>
        </p:spPr>
        <p:txBody>
          <a:bodyPr wrap="square">
            <a:sp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lang="en-US" altLang="zh-CN" sz="2800" dirty="0"/>
              <a:t>Model Fusion via Optimal Transport</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37" name="文本框 36">
            <a:extLst>
              <a:ext uri="{FF2B5EF4-FFF2-40B4-BE49-F238E27FC236}">
                <a16:creationId xmlns:a16="http://schemas.microsoft.com/office/drawing/2014/main" id="{D66D9E3F-D927-791F-1724-AD43A81C593F}"/>
              </a:ext>
            </a:extLst>
          </p:cNvPr>
          <p:cNvSpPr txBox="1"/>
          <p:nvPr/>
        </p:nvSpPr>
        <p:spPr>
          <a:xfrm>
            <a:off x="2233542" y="3126399"/>
            <a:ext cx="7721725" cy="369332"/>
          </a:xfrm>
          <a:prstGeom prst="rect">
            <a:avLst/>
          </a:prstGeom>
          <a:noFill/>
        </p:spPr>
        <p:txBody>
          <a:bodyPr wrap="square">
            <a:spAutoFit/>
          </a:bodyPr>
          <a:lstStyle/>
          <a:p>
            <a:pPr algn="ctr"/>
            <a:r>
              <a:rPr lang="zh-CN" altLang="en-US" dirty="0"/>
              <a:t>作者：</a:t>
            </a:r>
            <a:r>
              <a:rPr lang="en-US" altLang="zh-CN" dirty="0"/>
              <a:t> </a:t>
            </a:r>
            <a:r>
              <a:rPr lang="en-US" altLang="zh-CN" dirty="0" err="1"/>
              <a:t>Sidak</a:t>
            </a:r>
            <a:r>
              <a:rPr lang="en-US" altLang="zh-CN" dirty="0"/>
              <a:t> Pal Singh</a:t>
            </a:r>
            <a:r>
              <a:rPr lang="zh-CN" altLang="en-US" dirty="0"/>
              <a:t>、</a:t>
            </a:r>
            <a:r>
              <a:rPr lang="en-US" altLang="zh-CN" dirty="0"/>
              <a:t>Martin Jaggi</a:t>
            </a:r>
            <a:endParaRPr lang="zh-CN" altLang="en-US" dirty="0"/>
          </a:p>
        </p:txBody>
      </p:sp>
    </p:spTree>
    <p:extLst>
      <p:ext uri="{BB962C8B-B14F-4D97-AF65-F5344CB8AC3E}">
        <p14:creationId xmlns:p14="http://schemas.microsoft.com/office/powerpoint/2010/main" val="21876701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1.</a:t>
            </a:r>
            <a:r>
              <a:rPr lang="zh-CN" altLang="en-US" sz="2800" dirty="0">
                <a:solidFill>
                  <a:srgbClr val="000000">
                    <a:lumMod val="75000"/>
                    <a:lumOff val="25000"/>
                  </a:srgbClr>
                </a:solidFill>
              </a:rPr>
              <a:t>介绍</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8" name="文本框 7">
            <a:extLst>
              <a:ext uri="{FF2B5EF4-FFF2-40B4-BE49-F238E27FC236}">
                <a16:creationId xmlns:a16="http://schemas.microsoft.com/office/drawing/2014/main" id="{8B1F523D-0150-0759-4B59-A50F8711AA36}"/>
              </a:ext>
            </a:extLst>
          </p:cNvPr>
          <p:cNvSpPr txBox="1"/>
          <p:nvPr/>
        </p:nvSpPr>
        <p:spPr>
          <a:xfrm>
            <a:off x="637794" y="815369"/>
            <a:ext cx="10426446" cy="2031325"/>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相关方法：</a:t>
            </a:r>
            <a:endParaRPr lang="en-US" altLang="zh-CN" b="1" dirty="0">
              <a:solidFill>
                <a:srgbClr val="268F9C"/>
              </a:solidFill>
              <a:latin typeface="+mn-ea"/>
            </a:endParaRPr>
          </a:p>
          <a:p>
            <a:pPr marL="285750" indent="-285750">
              <a:buFont typeface="Wingdings" panose="05000000000000000000" pitchFamily="2" charset="2"/>
              <a:buChar char="Ø"/>
            </a:pPr>
            <a:endParaRPr lang="en-US" altLang="zh-CN" b="1" dirty="0">
              <a:solidFill>
                <a:srgbClr val="268F9C"/>
              </a:solidFill>
              <a:latin typeface="+mn-ea"/>
            </a:endParaRPr>
          </a:p>
          <a:p>
            <a:pPr marL="742950" lvl="1" indent="-285750">
              <a:buFont typeface="Arial" panose="020B0604020202020204" pitchFamily="34" charset="0"/>
              <a:buChar char="•"/>
            </a:pPr>
            <a:r>
              <a:rPr lang="zh-CN" altLang="en-US" b="1" dirty="0">
                <a:latin typeface="+mn-ea"/>
              </a:rPr>
              <a:t>集成方法：耗费资源</a:t>
            </a:r>
            <a:endParaRPr lang="en-US" altLang="zh-CN" b="1" dirty="0">
              <a:latin typeface="+mn-ea"/>
            </a:endParaRPr>
          </a:p>
          <a:p>
            <a:pPr marL="742950" lvl="1" indent="-285750">
              <a:buFont typeface="Arial" panose="020B0604020202020204" pitchFamily="34" charset="0"/>
              <a:buChar char="•"/>
            </a:pPr>
            <a:endParaRPr lang="en-US" altLang="zh-CN" b="1" dirty="0">
              <a:latin typeface="+mn-ea"/>
            </a:endParaRPr>
          </a:p>
          <a:p>
            <a:pPr marL="742950" lvl="1" indent="-285750">
              <a:buFont typeface="Arial" panose="020B0604020202020204" pitchFamily="34" charset="0"/>
              <a:buChar char="•"/>
            </a:pPr>
            <a:r>
              <a:rPr lang="zh-CN" altLang="en-US" b="1" dirty="0">
                <a:latin typeface="+mn-ea"/>
              </a:rPr>
              <a:t>参数直接平均：同一功能的网络，权重很可能不一样</a:t>
            </a:r>
            <a:endParaRPr lang="en-US" altLang="zh-CN" b="1" dirty="0">
              <a:latin typeface="+mn-ea"/>
            </a:endParaRPr>
          </a:p>
          <a:p>
            <a:pPr marL="742950" lvl="1" indent="-285750">
              <a:buFont typeface="Arial" panose="020B0604020202020204" pitchFamily="34" charset="0"/>
              <a:buChar char="•"/>
            </a:pPr>
            <a:endParaRPr lang="en-US" altLang="zh-CN" b="1" dirty="0">
              <a:latin typeface="+mn-ea"/>
            </a:endParaRPr>
          </a:p>
          <a:p>
            <a:pPr marL="742950" lvl="1" indent="-285750">
              <a:buFont typeface="Arial" panose="020B0604020202020204" pitchFamily="34" charset="0"/>
              <a:buChar char="•"/>
            </a:pPr>
            <a:r>
              <a:rPr lang="zh-CN" altLang="en-US" b="1" dirty="0">
                <a:latin typeface="+mn-ea"/>
              </a:rPr>
              <a:t>知识蒸馏：训练数据可能是私有的</a:t>
            </a:r>
            <a:endParaRPr lang="en-US" altLang="zh-CN" b="1" dirty="0">
              <a:latin typeface="+mn-ea"/>
            </a:endParaRPr>
          </a:p>
        </p:txBody>
      </p:sp>
      <p:pic>
        <p:nvPicPr>
          <p:cNvPr id="4" name="图片 3">
            <a:extLst>
              <a:ext uri="{FF2B5EF4-FFF2-40B4-BE49-F238E27FC236}">
                <a16:creationId xmlns:a16="http://schemas.microsoft.com/office/drawing/2014/main" id="{6BE697BF-B2EB-F0B9-6137-134C65FFC275}"/>
              </a:ext>
            </a:extLst>
          </p:cNvPr>
          <p:cNvPicPr>
            <a:picLocks noChangeAspect="1"/>
          </p:cNvPicPr>
          <p:nvPr/>
        </p:nvPicPr>
        <p:blipFill>
          <a:blip r:embed="rId3"/>
          <a:stretch>
            <a:fillRect/>
          </a:stretch>
        </p:blipFill>
        <p:spPr>
          <a:xfrm>
            <a:off x="5651551" y="3277635"/>
            <a:ext cx="6540449" cy="2483006"/>
          </a:xfrm>
          <a:prstGeom prst="rect">
            <a:avLst/>
          </a:prstGeom>
        </p:spPr>
      </p:pic>
      <p:sp>
        <p:nvSpPr>
          <p:cNvPr id="6" name="文本框 5">
            <a:extLst>
              <a:ext uri="{FF2B5EF4-FFF2-40B4-BE49-F238E27FC236}">
                <a16:creationId xmlns:a16="http://schemas.microsoft.com/office/drawing/2014/main" id="{401AA4B3-A84E-3F4B-C208-064CB37A0552}"/>
              </a:ext>
            </a:extLst>
          </p:cNvPr>
          <p:cNvSpPr txBox="1"/>
          <p:nvPr/>
        </p:nvSpPr>
        <p:spPr>
          <a:xfrm>
            <a:off x="637794" y="3641975"/>
            <a:ext cx="5278374" cy="1754326"/>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贡献：</a:t>
            </a:r>
            <a:endParaRPr lang="en-US" altLang="zh-CN" b="1" dirty="0">
              <a:solidFill>
                <a:srgbClr val="268F9C"/>
              </a:solidFill>
              <a:latin typeface="+mn-ea"/>
            </a:endParaRPr>
          </a:p>
          <a:p>
            <a:pPr marL="285750" indent="-285750">
              <a:buFont typeface="Wingdings" panose="05000000000000000000" pitchFamily="2" charset="2"/>
              <a:buChar char="Ø"/>
            </a:pPr>
            <a:endParaRPr lang="en-US" altLang="zh-CN" b="1" dirty="0">
              <a:solidFill>
                <a:srgbClr val="268F9C"/>
              </a:solidFill>
              <a:latin typeface="+mn-ea"/>
            </a:endParaRPr>
          </a:p>
          <a:p>
            <a:pPr marL="742950" lvl="1" indent="-285750">
              <a:buFont typeface="Arial" panose="020B0604020202020204" pitchFamily="34" charset="0"/>
              <a:buChar char="•"/>
            </a:pPr>
            <a:r>
              <a:rPr lang="zh-CN" altLang="en-US" b="1" dirty="0">
                <a:latin typeface="+mn-ea"/>
              </a:rPr>
              <a:t>利用最优传输解决了每一层权重对齐的问题</a:t>
            </a:r>
            <a:endParaRPr lang="en-US" altLang="zh-CN" b="1" dirty="0">
              <a:latin typeface="+mn-ea"/>
            </a:endParaRPr>
          </a:p>
          <a:p>
            <a:pPr marL="742950" lvl="1" indent="-285750">
              <a:buFont typeface="Arial" panose="020B0604020202020204" pitchFamily="34" charset="0"/>
              <a:buChar char="•"/>
            </a:pPr>
            <a:endParaRPr lang="en-US" altLang="zh-CN" b="1" dirty="0">
              <a:latin typeface="+mn-ea"/>
            </a:endParaRPr>
          </a:p>
          <a:p>
            <a:pPr marL="742950" lvl="1" indent="-285750">
              <a:buFont typeface="Arial" panose="020B0604020202020204" pitchFamily="34" charset="0"/>
              <a:buChar char="•"/>
            </a:pPr>
            <a:r>
              <a:rPr lang="zh-CN" altLang="en-US" b="1" dirty="0">
                <a:latin typeface="+mn-ea"/>
              </a:rPr>
              <a:t>通过实验证明其性能优于传统参数直接平均的方法</a:t>
            </a:r>
          </a:p>
        </p:txBody>
      </p:sp>
    </p:spTree>
    <p:extLst>
      <p:ext uri="{BB962C8B-B14F-4D97-AF65-F5344CB8AC3E}">
        <p14:creationId xmlns:p14="http://schemas.microsoft.com/office/powerpoint/2010/main" val="2309717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2.</a:t>
            </a:r>
            <a:r>
              <a:rPr lang="zh-CN" altLang="en-US" sz="2800" dirty="0">
                <a:solidFill>
                  <a:srgbClr val="000000">
                    <a:lumMod val="75000"/>
                    <a:lumOff val="25000"/>
                  </a:srgbClr>
                </a:solidFill>
              </a:rPr>
              <a:t>最优</a:t>
            </a:r>
            <a:r>
              <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传输</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(Optimal </a:t>
            </a:r>
            <a:r>
              <a:rPr lang="en-US" altLang="zh-CN" sz="2800" dirty="0">
                <a:solidFill>
                  <a:srgbClr val="000000">
                    <a:lumMod val="75000"/>
                    <a:lumOff val="25000"/>
                  </a:srgbClr>
                </a:solidFill>
              </a:rPr>
              <a:t>T</a:t>
            </a:r>
            <a:r>
              <a:rPr kumimoji="0" lang="en-US" altLang="zh-CN" sz="2800" b="1" i="0" u="none" strike="noStrike" kern="1200" cap="none" spc="0" normalizeH="0" baseline="0" noProof="0" dirty="0" err="1">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ransport</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a16="http://schemas.microsoft.com/office/drawing/2014/main" id="{2E972FED-5B36-278A-28B7-4A5C22F3DEC4}"/>
              </a:ext>
            </a:extLst>
          </p:cNvPr>
          <p:cNvSpPr txBox="1"/>
          <p:nvPr/>
        </p:nvSpPr>
        <p:spPr>
          <a:xfrm>
            <a:off x="500634" y="1001375"/>
            <a:ext cx="10399014"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起源</a:t>
            </a:r>
            <a:r>
              <a:rPr lang="zh-CN" altLang="en-US" b="0" i="0" dirty="0">
                <a:solidFill>
                  <a:srgbClr val="191B1F"/>
                </a:solidFill>
                <a:effectLst/>
                <a:latin typeface="-apple-system"/>
              </a:rPr>
              <a:t>：蒙日（</a:t>
            </a:r>
            <a:r>
              <a:rPr lang="en-US" altLang="zh-CN" b="0" i="0" dirty="0">
                <a:solidFill>
                  <a:srgbClr val="191B1F"/>
                </a:solidFill>
                <a:effectLst/>
                <a:latin typeface="-apple-system"/>
              </a:rPr>
              <a:t>Monge</a:t>
            </a:r>
            <a:r>
              <a:rPr lang="zh-CN" altLang="en-US" b="0" i="0" dirty="0">
                <a:solidFill>
                  <a:srgbClr val="191B1F"/>
                </a:solidFill>
                <a:effectLst/>
                <a:latin typeface="-apple-system"/>
              </a:rPr>
              <a:t>）两百多前提出，将一个沙盘的沙子以最小花销传输到另外一个沙盘。</a:t>
            </a:r>
            <a:endParaRPr lang="zh-CN" altLang="en-US" dirty="0"/>
          </a:p>
        </p:txBody>
      </p:sp>
      <p:pic>
        <p:nvPicPr>
          <p:cNvPr id="9" name="图片 8">
            <a:extLst>
              <a:ext uri="{FF2B5EF4-FFF2-40B4-BE49-F238E27FC236}">
                <a16:creationId xmlns:a16="http://schemas.microsoft.com/office/drawing/2014/main" id="{F3AC8CDD-A4B5-026C-2821-D53291187C93}"/>
              </a:ext>
            </a:extLst>
          </p:cNvPr>
          <p:cNvPicPr>
            <a:picLocks noChangeAspect="1"/>
          </p:cNvPicPr>
          <p:nvPr/>
        </p:nvPicPr>
        <p:blipFill>
          <a:blip r:embed="rId3"/>
          <a:stretch>
            <a:fillRect/>
          </a:stretch>
        </p:blipFill>
        <p:spPr>
          <a:xfrm>
            <a:off x="1240704" y="1516797"/>
            <a:ext cx="4198004" cy="4339828"/>
          </a:xfrm>
          <a:prstGeom prst="rect">
            <a:avLst/>
          </a:prstGeom>
        </p:spPr>
      </p:pic>
      <p:pic>
        <p:nvPicPr>
          <p:cNvPr id="11" name="图片 10">
            <a:extLst>
              <a:ext uri="{FF2B5EF4-FFF2-40B4-BE49-F238E27FC236}">
                <a16:creationId xmlns:a16="http://schemas.microsoft.com/office/drawing/2014/main" id="{94CA2249-511A-F744-A239-390DD2105BAD}"/>
              </a:ext>
            </a:extLst>
          </p:cNvPr>
          <p:cNvPicPr>
            <a:picLocks noChangeAspect="1"/>
          </p:cNvPicPr>
          <p:nvPr/>
        </p:nvPicPr>
        <p:blipFill>
          <a:blip r:embed="rId4"/>
          <a:stretch>
            <a:fillRect/>
          </a:stretch>
        </p:blipFill>
        <p:spPr>
          <a:xfrm>
            <a:off x="6565878" y="1623602"/>
            <a:ext cx="3346218" cy="4365719"/>
          </a:xfrm>
          <a:prstGeom prst="rect">
            <a:avLst/>
          </a:prstGeom>
        </p:spPr>
      </p:pic>
      <p:sp>
        <p:nvSpPr>
          <p:cNvPr id="13" name="文本框 12">
            <a:extLst>
              <a:ext uri="{FF2B5EF4-FFF2-40B4-BE49-F238E27FC236}">
                <a16:creationId xmlns:a16="http://schemas.microsoft.com/office/drawing/2014/main" id="{25C2844B-22ED-C8E0-D91A-86F079E48E5D}"/>
              </a:ext>
            </a:extLst>
          </p:cNvPr>
          <p:cNvSpPr txBox="1"/>
          <p:nvPr/>
        </p:nvSpPr>
        <p:spPr>
          <a:xfrm>
            <a:off x="7578090" y="6088327"/>
            <a:ext cx="2068830" cy="307777"/>
          </a:xfrm>
          <a:prstGeom prst="rect">
            <a:avLst/>
          </a:prstGeom>
          <a:noFill/>
        </p:spPr>
        <p:txBody>
          <a:bodyPr wrap="square">
            <a:spAutoFit/>
          </a:bodyPr>
          <a:lstStyle/>
          <a:p>
            <a:pPr algn="ctr"/>
            <a:r>
              <a:rPr lang="zh-CN" altLang="en-US" sz="1400" dirty="0">
                <a:solidFill>
                  <a:srgbClr val="191B1F"/>
                </a:solidFill>
                <a:latin typeface="-apple-system"/>
              </a:rPr>
              <a:t>最优传输矩阵</a:t>
            </a:r>
            <a:endParaRPr lang="zh-CN" altLang="en-US" sz="1400" dirty="0"/>
          </a:p>
        </p:txBody>
      </p:sp>
      <p:sp>
        <p:nvSpPr>
          <p:cNvPr id="14" name="文本框 13">
            <a:extLst>
              <a:ext uri="{FF2B5EF4-FFF2-40B4-BE49-F238E27FC236}">
                <a16:creationId xmlns:a16="http://schemas.microsoft.com/office/drawing/2014/main" id="{7DCF20ED-D03A-E92A-884B-B44E7B591CDD}"/>
              </a:ext>
            </a:extLst>
          </p:cNvPr>
          <p:cNvSpPr txBox="1"/>
          <p:nvPr/>
        </p:nvSpPr>
        <p:spPr>
          <a:xfrm>
            <a:off x="1969770" y="6088326"/>
            <a:ext cx="2068830" cy="307777"/>
          </a:xfrm>
          <a:prstGeom prst="rect">
            <a:avLst/>
          </a:prstGeom>
          <a:noFill/>
        </p:spPr>
        <p:txBody>
          <a:bodyPr wrap="square">
            <a:spAutoFit/>
          </a:bodyPr>
          <a:lstStyle/>
          <a:p>
            <a:pPr algn="ctr"/>
            <a:r>
              <a:rPr lang="zh-CN" altLang="en-US" sz="1400" dirty="0"/>
              <a:t>蒙日问题</a:t>
            </a:r>
          </a:p>
        </p:txBody>
      </p:sp>
    </p:spTree>
    <p:extLst>
      <p:ext uri="{BB962C8B-B14F-4D97-AF65-F5344CB8AC3E}">
        <p14:creationId xmlns:p14="http://schemas.microsoft.com/office/powerpoint/2010/main" val="16516440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3.</a:t>
            </a:r>
            <a:r>
              <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动机</a:t>
            </a:r>
          </a:p>
        </p:txBody>
      </p:sp>
      <p:pic>
        <p:nvPicPr>
          <p:cNvPr id="2" name="图片 1">
            <a:extLst>
              <a:ext uri="{FF2B5EF4-FFF2-40B4-BE49-F238E27FC236}">
                <a16:creationId xmlns:a16="http://schemas.microsoft.com/office/drawing/2014/main" id="{A9E45904-148A-8472-DDE3-159A60DAF265}"/>
              </a:ext>
            </a:extLst>
          </p:cNvPr>
          <p:cNvPicPr>
            <a:picLocks noChangeAspect="1"/>
          </p:cNvPicPr>
          <p:nvPr/>
        </p:nvPicPr>
        <p:blipFill>
          <a:blip r:embed="rId3"/>
          <a:stretch>
            <a:fillRect/>
          </a:stretch>
        </p:blipFill>
        <p:spPr>
          <a:xfrm>
            <a:off x="1158408" y="2987231"/>
            <a:ext cx="9040291" cy="3432042"/>
          </a:xfrm>
          <a:prstGeom prst="rect">
            <a:avLst/>
          </a:prstGeom>
        </p:spPr>
      </p:pic>
      <p:sp>
        <p:nvSpPr>
          <p:cNvPr id="4" name="文本框 3">
            <a:extLst>
              <a:ext uri="{FF2B5EF4-FFF2-40B4-BE49-F238E27FC236}">
                <a16:creationId xmlns:a16="http://schemas.microsoft.com/office/drawing/2014/main" id="{926459F8-302B-C7D5-23DD-186DF684852E}"/>
              </a:ext>
            </a:extLst>
          </p:cNvPr>
          <p:cNvSpPr txBox="1"/>
          <p:nvPr/>
        </p:nvSpPr>
        <p:spPr>
          <a:xfrm>
            <a:off x="573786" y="1037951"/>
            <a:ext cx="10399014" cy="1477328"/>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参数直接平均存在的问题：</a:t>
            </a:r>
            <a:endParaRPr lang="en-US" altLang="zh-CN" b="1" dirty="0">
              <a:solidFill>
                <a:srgbClr val="268F9C"/>
              </a:solidFill>
              <a:latin typeface="+mn-ea"/>
            </a:endParaRPr>
          </a:p>
          <a:p>
            <a:pPr marL="285750" indent="-285750">
              <a:buFont typeface="Wingdings" panose="05000000000000000000" pitchFamily="2" charset="2"/>
              <a:buChar char="Ø"/>
            </a:pPr>
            <a:endParaRPr lang="en-US" altLang="zh-CN" dirty="0">
              <a:solidFill>
                <a:srgbClr val="191B1F"/>
              </a:solidFill>
              <a:latin typeface="-apple-system"/>
            </a:endParaRPr>
          </a:p>
          <a:p>
            <a:pPr marL="742950" lvl="1" indent="-285750">
              <a:buFont typeface="Arial" panose="020B0604020202020204" pitchFamily="34" charset="0"/>
              <a:buChar char="•"/>
            </a:pPr>
            <a:r>
              <a:rPr lang="zh-CN" altLang="en-US" dirty="0">
                <a:solidFill>
                  <a:srgbClr val="191B1F"/>
                </a:solidFill>
                <a:latin typeface="-apple-system"/>
              </a:rPr>
              <a:t>神经元</a:t>
            </a:r>
            <a:r>
              <a:rPr lang="zh-CN" altLang="en-US" b="0" i="0" dirty="0">
                <a:solidFill>
                  <a:srgbClr val="191B1F"/>
                </a:solidFill>
                <a:effectLst/>
                <a:latin typeface="-apple-system"/>
              </a:rPr>
              <a:t>之间往往缺少一对一关系。</a:t>
            </a:r>
            <a:endParaRPr lang="en-US" altLang="zh-CN" b="0" i="0" dirty="0">
              <a:solidFill>
                <a:srgbClr val="191B1F"/>
              </a:solidFill>
              <a:effectLst/>
              <a:latin typeface="-apple-system"/>
            </a:endParaRPr>
          </a:p>
          <a:p>
            <a:pPr marL="742950" lvl="1" indent="-285750">
              <a:buFont typeface="Arial" panose="020B0604020202020204" pitchFamily="34" charset="0"/>
              <a:buChar char="•"/>
            </a:pPr>
            <a:endParaRPr lang="en-US" altLang="zh-CN" dirty="0">
              <a:solidFill>
                <a:srgbClr val="191B1F"/>
              </a:solidFill>
              <a:latin typeface="-apple-system"/>
            </a:endParaRPr>
          </a:p>
          <a:p>
            <a:pPr marL="742950" lvl="1" indent="-285750">
              <a:buFont typeface="Arial" panose="020B0604020202020204" pitchFamily="34" charset="0"/>
              <a:buChar char="•"/>
            </a:pPr>
            <a:r>
              <a:rPr lang="zh-CN" altLang="en-US" dirty="0">
                <a:solidFill>
                  <a:srgbClr val="191B1F"/>
                </a:solidFill>
                <a:latin typeface="-apple-system"/>
              </a:rPr>
              <a:t>如果知道了神经元间一对一对应关系，那么就可以直接平均参数</a:t>
            </a:r>
            <a:endParaRPr lang="zh-CN" altLang="en-US" dirty="0"/>
          </a:p>
        </p:txBody>
      </p:sp>
    </p:spTree>
    <p:extLst>
      <p:ext uri="{BB962C8B-B14F-4D97-AF65-F5344CB8AC3E}">
        <p14:creationId xmlns:p14="http://schemas.microsoft.com/office/powerpoint/2010/main" val="9336583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4</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lang="zh-CN" altLang="en-US" sz="2800" dirty="0">
                <a:solidFill>
                  <a:srgbClr val="000000">
                    <a:lumMod val="75000"/>
                    <a:lumOff val="25000"/>
                  </a:srgbClr>
                </a:solidFill>
              </a:rPr>
              <a:t>方法</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pic>
        <p:nvPicPr>
          <p:cNvPr id="2" name="图片 1">
            <a:extLst>
              <a:ext uri="{FF2B5EF4-FFF2-40B4-BE49-F238E27FC236}">
                <a16:creationId xmlns:a16="http://schemas.microsoft.com/office/drawing/2014/main" id="{A9E45904-148A-8472-DDE3-159A60DAF265}"/>
              </a:ext>
            </a:extLst>
          </p:cNvPr>
          <p:cNvPicPr>
            <a:picLocks noChangeAspect="1"/>
          </p:cNvPicPr>
          <p:nvPr/>
        </p:nvPicPr>
        <p:blipFill>
          <a:blip r:embed="rId3"/>
          <a:stretch>
            <a:fillRect/>
          </a:stretch>
        </p:blipFill>
        <p:spPr>
          <a:xfrm>
            <a:off x="4866451" y="3840415"/>
            <a:ext cx="7325549" cy="2781060"/>
          </a:xfrm>
          <a:prstGeom prst="rect">
            <a:avLst/>
          </a:prstGeom>
        </p:spPr>
      </p:pic>
      <p:sp>
        <p:nvSpPr>
          <p:cNvPr id="4" name="文本框 3">
            <a:extLst>
              <a:ext uri="{FF2B5EF4-FFF2-40B4-BE49-F238E27FC236}">
                <a16:creationId xmlns:a16="http://schemas.microsoft.com/office/drawing/2014/main" id="{926459F8-302B-C7D5-23DD-186DF684852E}"/>
              </a:ext>
            </a:extLst>
          </p:cNvPr>
          <p:cNvSpPr txBox="1"/>
          <p:nvPr/>
        </p:nvSpPr>
        <p:spPr>
          <a:xfrm>
            <a:off x="210220" y="1009841"/>
            <a:ext cx="5104729"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概率测度（</a:t>
            </a:r>
            <a:r>
              <a:rPr lang="en-US" altLang="zh-CN" b="1" dirty="0">
                <a:solidFill>
                  <a:srgbClr val="268F9C"/>
                </a:solidFill>
                <a:latin typeface="+mn-ea"/>
              </a:rPr>
              <a:t>Probability Measures</a:t>
            </a:r>
            <a:r>
              <a:rPr lang="zh-CN" altLang="en-US" b="1" dirty="0">
                <a:solidFill>
                  <a:srgbClr val="268F9C"/>
                </a:solidFill>
                <a:latin typeface="+mn-ea"/>
              </a:rPr>
              <a:t>）定义：</a:t>
            </a:r>
            <a:endParaRPr lang="zh-CN" altLang="en-US" dirty="0"/>
          </a:p>
        </p:txBody>
      </p:sp>
      <p:pic>
        <p:nvPicPr>
          <p:cNvPr id="8" name="图片 7">
            <a:extLst>
              <a:ext uri="{FF2B5EF4-FFF2-40B4-BE49-F238E27FC236}">
                <a16:creationId xmlns:a16="http://schemas.microsoft.com/office/drawing/2014/main" id="{BEEBE0AA-396C-5F5F-EC19-170EE611D85F}"/>
              </a:ext>
            </a:extLst>
          </p:cNvPr>
          <p:cNvPicPr>
            <a:picLocks noChangeAspect="1"/>
          </p:cNvPicPr>
          <p:nvPr/>
        </p:nvPicPr>
        <p:blipFill>
          <a:blip r:embed="rId4"/>
          <a:stretch>
            <a:fillRect/>
          </a:stretch>
        </p:blipFill>
        <p:spPr>
          <a:xfrm>
            <a:off x="508192" y="1379173"/>
            <a:ext cx="2541560" cy="480547"/>
          </a:xfrm>
          <a:prstGeom prst="rect">
            <a:avLst/>
          </a:prstGeom>
        </p:spPr>
      </p:pic>
      <p:pic>
        <p:nvPicPr>
          <p:cNvPr id="10" name="图片 9">
            <a:extLst>
              <a:ext uri="{FF2B5EF4-FFF2-40B4-BE49-F238E27FC236}">
                <a16:creationId xmlns:a16="http://schemas.microsoft.com/office/drawing/2014/main" id="{67E30249-964C-FD99-D0DC-B810C10238F4}"/>
              </a:ext>
            </a:extLst>
          </p:cNvPr>
          <p:cNvPicPr>
            <a:picLocks noChangeAspect="1"/>
          </p:cNvPicPr>
          <p:nvPr/>
        </p:nvPicPr>
        <p:blipFill>
          <a:blip r:embed="rId5"/>
          <a:stretch>
            <a:fillRect/>
          </a:stretch>
        </p:blipFill>
        <p:spPr>
          <a:xfrm>
            <a:off x="508192" y="1956326"/>
            <a:ext cx="2541560" cy="464111"/>
          </a:xfrm>
          <a:prstGeom prst="rect">
            <a:avLst/>
          </a:prstGeom>
        </p:spPr>
      </p:pic>
      <p:pic>
        <p:nvPicPr>
          <p:cNvPr id="14" name="图片 13">
            <a:extLst>
              <a:ext uri="{FF2B5EF4-FFF2-40B4-BE49-F238E27FC236}">
                <a16:creationId xmlns:a16="http://schemas.microsoft.com/office/drawing/2014/main" id="{D2B4CDEB-5BC0-E12E-F4F7-5E668F5B67AB}"/>
              </a:ext>
            </a:extLst>
          </p:cNvPr>
          <p:cNvPicPr>
            <a:picLocks noChangeAspect="1"/>
          </p:cNvPicPr>
          <p:nvPr/>
        </p:nvPicPr>
        <p:blipFill>
          <a:blip r:embed="rId6"/>
          <a:stretch>
            <a:fillRect/>
          </a:stretch>
        </p:blipFill>
        <p:spPr>
          <a:xfrm>
            <a:off x="508192" y="2503167"/>
            <a:ext cx="4914900" cy="419100"/>
          </a:xfrm>
          <a:prstGeom prst="rect">
            <a:avLst/>
          </a:prstGeom>
        </p:spPr>
      </p:pic>
      <p:pic>
        <p:nvPicPr>
          <p:cNvPr id="16" name="图片 15">
            <a:extLst>
              <a:ext uri="{FF2B5EF4-FFF2-40B4-BE49-F238E27FC236}">
                <a16:creationId xmlns:a16="http://schemas.microsoft.com/office/drawing/2014/main" id="{DC99F589-E117-F835-B3F1-2401663080FB}"/>
              </a:ext>
            </a:extLst>
          </p:cNvPr>
          <p:cNvPicPr>
            <a:picLocks noChangeAspect="1"/>
          </p:cNvPicPr>
          <p:nvPr/>
        </p:nvPicPr>
        <p:blipFill>
          <a:blip r:embed="rId7"/>
          <a:stretch>
            <a:fillRect/>
          </a:stretch>
        </p:blipFill>
        <p:spPr>
          <a:xfrm>
            <a:off x="508191" y="3592094"/>
            <a:ext cx="4658167" cy="636019"/>
          </a:xfrm>
          <a:prstGeom prst="rect">
            <a:avLst/>
          </a:prstGeom>
        </p:spPr>
      </p:pic>
      <p:sp>
        <p:nvSpPr>
          <p:cNvPr id="18" name="文本框 17">
            <a:extLst>
              <a:ext uri="{FF2B5EF4-FFF2-40B4-BE49-F238E27FC236}">
                <a16:creationId xmlns:a16="http://schemas.microsoft.com/office/drawing/2014/main" id="{3C4F9A0A-9B46-2E33-2592-C8405BB90F96}"/>
              </a:ext>
            </a:extLst>
          </p:cNvPr>
          <p:cNvSpPr txBox="1"/>
          <p:nvPr/>
        </p:nvSpPr>
        <p:spPr>
          <a:xfrm>
            <a:off x="206112" y="4330495"/>
            <a:ext cx="6109334"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获得传输矩阵并对齐：</a:t>
            </a:r>
            <a:endParaRPr lang="zh-CN" altLang="en-US" dirty="0"/>
          </a:p>
        </p:txBody>
      </p:sp>
      <p:pic>
        <p:nvPicPr>
          <p:cNvPr id="20" name="图片 19">
            <a:extLst>
              <a:ext uri="{FF2B5EF4-FFF2-40B4-BE49-F238E27FC236}">
                <a16:creationId xmlns:a16="http://schemas.microsoft.com/office/drawing/2014/main" id="{A6FE6066-70A4-8CF3-CEFC-81EC84244861}"/>
              </a:ext>
            </a:extLst>
          </p:cNvPr>
          <p:cNvPicPr>
            <a:picLocks noChangeAspect="1"/>
          </p:cNvPicPr>
          <p:nvPr/>
        </p:nvPicPr>
        <p:blipFill>
          <a:blip r:embed="rId8"/>
          <a:stretch>
            <a:fillRect/>
          </a:stretch>
        </p:blipFill>
        <p:spPr>
          <a:xfrm>
            <a:off x="508191" y="4779103"/>
            <a:ext cx="4658167" cy="751317"/>
          </a:xfrm>
          <a:prstGeom prst="rect">
            <a:avLst/>
          </a:prstGeom>
        </p:spPr>
      </p:pic>
      <p:sp>
        <p:nvSpPr>
          <p:cNvPr id="21" name="文本框 20">
            <a:extLst>
              <a:ext uri="{FF2B5EF4-FFF2-40B4-BE49-F238E27FC236}">
                <a16:creationId xmlns:a16="http://schemas.microsoft.com/office/drawing/2014/main" id="{F9E95887-5044-14FC-2395-97EA7EE28918}"/>
              </a:ext>
            </a:extLst>
          </p:cNvPr>
          <p:cNvSpPr txBox="1"/>
          <p:nvPr/>
        </p:nvSpPr>
        <p:spPr>
          <a:xfrm>
            <a:off x="206112" y="3156733"/>
            <a:ext cx="6109334"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对齐输入权重边：</a:t>
            </a:r>
            <a:endParaRPr lang="zh-CN" altLang="en-US" dirty="0"/>
          </a:p>
        </p:txBody>
      </p:sp>
      <p:pic>
        <p:nvPicPr>
          <p:cNvPr id="23" name="图片 22">
            <a:extLst>
              <a:ext uri="{FF2B5EF4-FFF2-40B4-BE49-F238E27FC236}">
                <a16:creationId xmlns:a16="http://schemas.microsoft.com/office/drawing/2014/main" id="{37F3EF62-0A78-F179-0224-A9DD97A73EF3}"/>
              </a:ext>
            </a:extLst>
          </p:cNvPr>
          <p:cNvPicPr>
            <a:picLocks noChangeAspect="1"/>
          </p:cNvPicPr>
          <p:nvPr/>
        </p:nvPicPr>
        <p:blipFill>
          <a:blip r:embed="rId9"/>
          <a:stretch>
            <a:fillRect/>
          </a:stretch>
        </p:blipFill>
        <p:spPr>
          <a:xfrm>
            <a:off x="364807" y="6000885"/>
            <a:ext cx="4430824" cy="534278"/>
          </a:xfrm>
          <a:prstGeom prst="rect">
            <a:avLst/>
          </a:prstGeom>
        </p:spPr>
      </p:pic>
      <p:sp>
        <p:nvSpPr>
          <p:cNvPr id="24" name="文本框 23">
            <a:extLst>
              <a:ext uri="{FF2B5EF4-FFF2-40B4-BE49-F238E27FC236}">
                <a16:creationId xmlns:a16="http://schemas.microsoft.com/office/drawing/2014/main" id="{E9E02D3D-0A9A-19B8-3B32-4DFAC2F42D68}"/>
              </a:ext>
            </a:extLst>
          </p:cNvPr>
          <p:cNvSpPr txBox="1"/>
          <p:nvPr/>
        </p:nvSpPr>
        <p:spPr>
          <a:xfrm>
            <a:off x="206112" y="5492208"/>
            <a:ext cx="6109334"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权重平均融合：</a:t>
            </a:r>
            <a:endParaRPr lang="zh-CN" altLang="en-US" dirty="0"/>
          </a:p>
        </p:txBody>
      </p:sp>
    </p:spTree>
    <p:extLst>
      <p:ext uri="{BB962C8B-B14F-4D97-AF65-F5344CB8AC3E}">
        <p14:creationId xmlns:p14="http://schemas.microsoft.com/office/powerpoint/2010/main" val="40104479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4</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lang="zh-CN" altLang="en-US" sz="2800" dirty="0">
                <a:solidFill>
                  <a:srgbClr val="000000">
                    <a:lumMod val="75000"/>
                    <a:lumOff val="25000"/>
                  </a:srgbClr>
                </a:solidFill>
              </a:rPr>
              <a:t>方法</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926459F8-302B-C7D5-23DD-186DF684852E}"/>
              </a:ext>
            </a:extLst>
          </p:cNvPr>
          <p:cNvSpPr txBox="1"/>
          <p:nvPr/>
        </p:nvSpPr>
        <p:spPr>
          <a:xfrm>
            <a:off x="210220" y="1009841"/>
            <a:ext cx="5104729"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基础度量（</a:t>
            </a:r>
            <a:r>
              <a:rPr lang="en-US" altLang="zh-CN" b="1" dirty="0">
                <a:solidFill>
                  <a:srgbClr val="268F9C"/>
                </a:solidFill>
                <a:latin typeface="+mn-ea"/>
              </a:rPr>
              <a:t>ground metric</a:t>
            </a:r>
            <a:r>
              <a:rPr lang="zh-CN" altLang="en-US" b="1" dirty="0">
                <a:solidFill>
                  <a:srgbClr val="268F9C"/>
                </a:solidFill>
                <a:latin typeface="+mn-ea"/>
              </a:rPr>
              <a:t>）</a:t>
            </a:r>
            <a:endParaRPr lang="zh-CN" altLang="en-US" dirty="0"/>
          </a:p>
        </p:txBody>
      </p:sp>
      <p:sp>
        <p:nvSpPr>
          <p:cNvPr id="6" name="文本框 5">
            <a:extLst>
              <a:ext uri="{FF2B5EF4-FFF2-40B4-BE49-F238E27FC236}">
                <a16:creationId xmlns:a16="http://schemas.microsoft.com/office/drawing/2014/main" id="{78FE67B8-7C0C-9CB7-94B6-0F3BB38E7DFA}"/>
              </a:ext>
            </a:extLst>
          </p:cNvPr>
          <p:cNvSpPr txBox="1"/>
          <p:nvPr/>
        </p:nvSpPr>
        <p:spPr>
          <a:xfrm>
            <a:off x="768668" y="1508857"/>
            <a:ext cx="9964102" cy="646331"/>
          </a:xfrm>
          <a:prstGeom prst="rect">
            <a:avLst/>
          </a:prstGeom>
          <a:noFill/>
        </p:spPr>
        <p:txBody>
          <a:bodyPr wrap="square">
            <a:spAutoFit/>
          </a:bodyPr>
          <a:lstStyle/>
          <a:p>
            <a:pPr marL="285750" indent="-285750">
              <a:buFont typeface="Arial" panose="020B0604020202020204" pitchFamily="34" charset="0"/>
              <a:buChar char="•"/>
            </a:pPr>
            <a:r>
              <a:rPr lang="zh-CN" altLang="en-US" b="1" dirty="0"/>
              <a:t>基于激活的对齐（</a:t>
            </a:r>
            <a:r>
              <a:rPr lang="en-US" altLang="zh-CN" b="1" dirty="0"/>
              <a:t>Activation-based alignment</a:t>
            </a:r>
            <a:r>
              <a:rPr lang="zh-CN" altLang="en-US" b="1" dirty="0"/>
              <a:t>）</a:t>
            </a:r>
            <a:endParaRPr lang="en-US" altLang="zh-CN" b="1" dirty="0"/>
          </a:p>
          <a:p>
            <a:pPr lvl="1"/>
            <a:r>
              <a:rPr lang="zh-CN" altLang="en-US" dirty="0"/>
              <a:t>抽样</a:t>
            </a:r>
            <a:r>
              <a:rPr lang="en-US" altLang="zh-CN" dirty="0"/>
              <a:t>n</a:t>
            </a:r>
            <a:r>
              <a:rPr lang="zh-CN" altLang="en-US" dirty="0"/>
              <a:t>的训练样本输入网络当中，记录每个神经元在每个输入上的激活函数值，作为基础度量</a:t>
            </a:r>
            <a:endParaRPr lang="en-US" altLang="zh-CN" dirty="0"/>
          </a:p>
        </p:txBody>
      </p:sp>
      <p:sp>
        <p:nvSpPr>
          <p:cNvPr id="7" name="文本框 6">
            <a:extLst>
              <a:ext uri="{FF2B5EF4-FFF2-40B4-BE49-F238E27FC236}">
                <a16:creationId xmlns:a16="http://schemas.microsoft.com/office/drawing/2014/main" id="{644F9BFB-33CB-7033-D9F3-A11CF6270BD8}"/>
              </a:ext>
            </a:extLst>
          </p:cNvPr>
          <p:cNvSpPr txBox="1"/>
          <p:nvPr/>
        </p:nvSpPr>
        <p:spPr>
          <a:xfrm>
            <a:off x="768668" y="3543224"/>
            <a:ext cx="6397942" cy="646331"/>
          </a:xfrm>
          <a:prstGeom prst="rect">
            <a:avLst/>
          </a:prstGeom>
          <a:noFill/>
        </p:spPr>
        <p:txBody>
          <a:bodyPr wrap="square">
            <a:spAutoFit/>
          </a:bodyPr>
          <a:lstStyle/>
          <a:p>
            <a:pPr marL="285750" indent="-285750">
              <a:buFont typeface="Arial" panose="020B0604020202020204" pitchFamily="34" charset="0"/>
              <a:buChar char="•"/>
            </a:pPr>
            <a:r>
              <a:rPr lang="zh-CN" altLang="en-US" b="1" dirty="0"/>
              <a:t>基于权重的对齐（</a:t>
            </a:r>
            <a:r>
              <a:rPr lang="en-US" altLang="zh-CN" b="1" dirty="0"/>
              <a:t>Weight-based alignment</a:t>
            </a:r>
            <a:r>
              <a:rPr lang="zh-CN" altLang="en-US" b="1" dirty="0"/>
              <a:t>）</a:t>
            </a:r>
            <a:endParaRPr lang="en-US" altLang="zh-CN" b="1" dirty="0"/>
          </a:p>
          <a:p>
            <a:pPr lvl="1"/>
            <a:r>
              <a:rPr lang="zh-CN" altLang="en-US" dirty="0"/>
              <a:t>直接将每个神经元的输入边的权重作为基础度量</a:t>
            </a:r>
            <a:endParaRPr lang="en-US" altLang="zh-CN" dirty="0"/>
          </a:p>
        </p:txBody>
      </p:sp>
      <p:sp>
        <p:nvSpPr>
          <p:cNvPr id="9" name="文本框 8">
            <a:extLst>
              <a:ext uri="{FF2B5EF4-FFF2-40B4-BE49-F238E27FC236}">
                <a16:creationId xmlns:a16="http://schemas.microsoft.com/office/drawing/2014/main" id="{00CDB862-1619-71F4-C21E-5B593EE044D1}"/>
              </a:ext>
            </a:extLst>
          </p:cNvPr>
          <p:cNvSpPr txBox="1"/>
          <p:nvPr/>
        </p:nvSpPr>
        <p:spPr>
          <a:xfrm>
            <a:off x="768668" y="5324400"/>
            <a:ext cx="5609272" cy="369332"/>
          </a:xfrm>
          <a:prstGeom prst="rect">
            <a:avLst/>
          </a:prstGeom>
          <a:noFill/>
        </p:spPr>
        <p:txBody>
          <a:bodyPr wrap="square">
            <a:spAutoFit/>
          </a:bodyPr>
          <a:lstStyle/>
          <a:p>
            <a:pPr marL="285750" indent="-285750">
              <a:buFont typeface="Arial" panose="020B0604020202020204" pitchFamily="34" charset="0"/>
              <a:buChar char="•"/>
            </a:pPr>
            <a:r>
              <a:rPr lang="zh-CN" altLang="en-US" b="1" dirty="0"/>
              <a:t>两个神经元间的距离用欧式距离计算</a:t>
            </a:r>
            <a:endParaRPr lang="en-US" altLang="zh-CN" b="1" dirty="0"/>
          </a:p>
        </p:txBody>
      </p:sp>
      <p:pic>
        <p:nvPicPr>
          <p:cNvPr id="12" name="图片 11">
            <a:extLst>
              <a:ext uri="{FF2B5EF4-FFF2-40B4-BE49-F238E27FC236}">
                <a16:creationId xmlns:a16="http://schemas.microsoft.com/office/drawing/2014/main" id="{86C7407B-05A0-0F4D-9603-646403C8DD86}"/>
              </a:ext>
            </a:extLst>
          </p:cNvPr>
          <p:cNvPicPr>
            <a:picLocks noChangeAspect="1"/>
          </p:cNvPicPr>
          <p:nvPr/>
        </p:nvPicPr>
        <p:blipFill>
          <a:blip r:embed="rId3"/>
          <a:stretch>
            <a:fillRect/>
          </a:stretch>
        </p:blipFill>
        <p:spPr>
          <a:xfrm>
            <a:off x="1519237" y="4304437"/>
            <a:ext cx="4381500" cy="409575"/>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CF49991-2502-C1AD-E5F3-7DB5AEEB0D19}"/>
                  </a:ext>
                </a:extLst>
              </p:cNvPr>
              <p:cNvSpPr txBox="1"/>
              <p:nvPr/>
            </p:nvSpPr>
            <p:spPr>
              <a:xfrm>
                <a:off x="882388" y="5832728"/>
                <a:ext cx="4181681" cy="4988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𝐷</m:t>
                          </m:r>
                        </m:e>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d>
                            <m:dPr>
                              <m:begChr m:val="‖"/>
                              <m:endChr m:val="‖"/>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𝑋</m:t>
                                  </m:r>
                                </m:e>
                                <m:sub>
                                  <m:r>
                                    <a:rPr lang="en-US" altLang="zh-CN" sz="2400" b="0" i="1" smtClean="0">
                                      <a:latin typeface="Cambria Math" panose="02040503050406030204" pitchFamily="18" charset="0"/>
                                    </a:rPr>
                                    <m:t>𝑘</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𝑙</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𝑌</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𝑙</m:t>
                              </m:r>
                              <m:r>
                                <a:rPr lang="en-US" altLang="zh-CN" sz="2400" b="0" i="1" smtClean="0">
                                  <a:latin typeface="Cambria Math" panose="02040503050406030204" pitchFamily="18" charset="0"/>
                                </a:rPr>
                                <m:t>]</m:t>
                              </m:r>
                            </m:e>
                          </m:d>
                        </m:e>
                        <m:sup>
                          <m:r>
                            <a:rPr lang="en-US" altLang="zh-CN" sz="2400" b="0" i="1" smtClean="0">
                              <a:latin typeface="Cambria Math" panose="02040503050406030204" pitchFamily="18" charset="0"/>
                            </a:rPr>
                            <m:t>2</m:t>
                          </m:r>
                        </m:sup>
                      </m:sSup>
                    </m:oMath>
                  </m:oMathPara>
                </a14:m>
                <a:endParaRPr lang="en-US" altLang="zh-CN" sz="2400" dirty="0"/>
              </a:p>
            </p:txBody>
          </p:sp>
        </mc:Choice>
        <mc:Fallback xmlns="">
          <p:sp>
            <p:nvSpPr>
              <p:cNvPr id="15" name="文本框 14">
                <a:extLst>
                  <a:ext uri="{FF2B5EF4-FFF2-40B4-BE49-F238E27FC236}">
                    <a16:creationId xmlns:a16="http://schemas.microsoft.com/office/drawing/2014/main" id="{ECF49991-2502-C1AD-E5F3-7DB5AEEB0D19}"/>
                  </a:ext>
                </a:extLst>
              </p:cNvPr>
              <p:cNvSpPr txBox="1">
                <a:spLocks noRot="1" noChangeAspect="1" noMove="1" noResize="1" noEditPoints="1" noAdjustHandles="1" noChangeArrowheads="1" noChangeShapeType="1" noTextEdit="1"/>
              </p:cNvSpPr>
              <p:nvPr/>
            </p:nvSpPr>
            <p:spPr>
              <a:xfrm>
                <a:off x="882388" y="5832728"/>
                <a:ext cx="4181681" cy="498855"/>
              </a:xfrm>
              <a:prstGeom prst="rect">
                <a:avLst/>
              </a:prstGeom>
              <a:blipFill>
                <a:blip r:embed="rId4"/>
                <a:stretch>
                  <a:fillRect b="-10976"/>
                </a:stretch>
              </a:blipFill>
            </p:spPr>
            <p:txBody>
              <a:bodyPr/>
              <a:lstStyle/>
              <a:p>
                <a:r>
                  <a:rPr lang="zh-CN" altLang="en-US">
                    <a:noFill/>
                  </a:rPr>
                  <a:t> </a:t>
                </a:r>
              </a:p>
            </p:txBody>
          </p:sp>
        </mc:Fallback>
      </mc:AlternateContent>
      <p:pic>
        <p:nvPicPr>
          <p:cNvPr id="25" name="图片 24">
            <a:extLst>
              <a:ext uri="{FF2B5EF4-FFF2-40B4-BE49-F238E27FC236}">
                <a16:creationId xmlns:a16="http://schemas.microsoft.com/office/drawing/2014/main" id="{94FDA535-BD96-8604-4C84-82408227D0C1}"/>
              </a:ext>
            </a:extLst>
          </p:cNvPr>
          <p:cNvPicPr>
            <a:picLocks noChangeAspect="1"/>
          </p:cNvPicPr>
          <p:nvPr/>
        </p:nvPicPr>
        <p:blipFill>
          <a:blip r:embed="rId5"/>
          <a:stretch>
            <a:fillRect/>
          </a:stretch>
        </p:blipFill>
        <p:spPr>
          <a:xfrm>
            <a:off x="1519237" y="2329369"/>
            <a:ext cx="5647373" cy="393241"/>
          </a:xfrm>
          <a:prstGeom prst="rect">
            <a:avLst/>
          </a:prstGeom>
        </p:spPr>
      </p:pic>
      <p:pic>
        <p:nvPicPr>
          <p:cNvPr id="37" name="图片 36">
            <a:extLst>
              <a:ext uri="{FF2B5EF4-FFF2-40B4-BE49-F238E27FC236}">
                <a16:creationId xmlns:a16="http://schemas.microsoft.com/office/drawing/2014/main" id="{F33789BE-0978-C99F-524E-0AD94A02F956}"/>
              </a:ext>
            </a:extLst>
          </p:cNvPr>
          <p:cNvPicPr>
            <a:picLocks noChangeAspect="1"/>
          </p:cNvPicPr>
          <p:nvPr/>
        </p:nvPicPr>
        <p:blipFill>
          <a:blip r:embed="rId6"/>
          <a:stretch>
            <a:fillRect/>
          </a:stretch>
        </p:blipFill>
        <p:spPr>
          <a:xfrm>
            <a:off x="8821783" y="3485719"/>
            <a:ext cx="3187612" cy="2456586"/>
          </a:xfrm>
          <a:prstGeom prst="rect">
            <a:avLst/>
          </a:prstGeom>
        </p:spPr>
      </p:pic>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2E3DC70B-BDEB-1CDE-3273-5B871B410D31}"/>
                  </a:ext>
                </a:extLst>
              </p:cNvPr>
              <p:cNvSpPr txBox="1"/>
              <p:nvPr/>
            </p:nvSpPr>
            <p:spPr>
              <a:xfrm>
                <a:off x="6757990" y="4482538"/>
                <a:ext cx="1683743" cy="46294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𝑆</m:t>
                          </m:r>
                          <m:r>
                            <a:rPr lang="en-US" altLang="zh-CN" sz="2400" b="0" i="1" smtClean="0">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𝑖</m:t>
                                  </m:r>
                                </m:sub>
                              </m:sSub>
                            </m:e>
                          </m:d>
                        </m:e>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sSubSup>
                    </m:oMath>
                  </m:oMathPara>
                </a14:m>
                <a:endParaRPr lang="zh-CN" altLang="en-US" sz="2400" dirty="0"/>
              </a:p>
            </p:txBody>
          </p:sp>
        </mc:Choice>
        <mc:Fallback xmlns="">
          <p:sp>
            <p:nvSpPr>
              <p:cNvPr id="39" name="文本框 38">
                <a:extLst>
                  <a:ext uri="{FF2B5EF4-FFF2-40B4-BE49-F238E27FC236}">
                    <a16:creationId xmlns:a16="http://schemas.microsoft.com/office/drawing/2014/main" id="{2E3DC70B-BDEB-1CDE-3273-5B871B410D31}"/>
                  </a:ext>
                </a:extLst>
              </p:cNvPr>
              <p:cNvSpPr txBox="1">
                <a:spLocks noRot="1" noChangeAspect="1" noMove="1" noResize="1" noEditPoints="1" noAdjustHandles="1" noChangeArrowheads="1" noChangeShapeType="1" noTextEdit="1"/>
              </p:cNvSpPr>
              <p:nvPr/>
            </p:nvSpPr>
            <p:spPr>
              <a:xfrm>
                <a:off x="6757990" y="4482538"/>
                <a:ext cx="1683743" cy="462947"/>
              </a:xfrm>
              <a:prstGeom prst="rect">
                <a:avLst/>
              </a:prstGeom>
              <a:blipFill>
                <a:blip r:embed="rId7"/>
                <a:stretch>
                  <a:fillRect b="-6579"/>
                </a:stretch>
              </a:blipFill>
            </p:spPr>
            <p:txBody>
              <a:bodyPr/>
              <a:lstStyle/>
              <a:p>
                <a:r>
                  <a:rPr lang="zh-CN" altLang="en-US">
                    <a:noFill/>
                  </a:rPr>
                  <a:t> </a:t>
                </a:r>
              </a:p>
            </p:txBody>
          </p:sp>
        </mc:Fallback>
      </mc:AlternateContent>
      <p:cxnSp>
        <p:nvCxnSpPr>
          <p:cNvPr id="41" name="直接箭头连接符 40">
            <a:extLst>
              <a:ext uri="{FF2B5EF4-FFF2-40B4-BE49-F238E27FC236}">
                <a16:creationId xmlns:a16="http://schemas.microsoft.com/office/drawing/2014/main" id="{1270B74B-BF54-2266-8EF4-1B52E0563E1C}"/>
              </a:ext>
            </a:extLst>
          </p:cNvPr>
          <p:cNvCxnSpPr>
            <a:cxnSpLocks/>
            <a:stCxn id="39" idx="3"/>
            <a:endCxn id="37" idx="1"/>
          </p:cNvCxnSpPr>
          <p:nvPr/>
        </p:nvCxnSpPr>
        <p:spPr>
          <a:xfrm>
            <a:off x="8441733" y="4714012"/>
            <a:ext cx="3800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57C31466-9D33-4C4A-6DCB-2B7571FE3342}"/>
                  </a:ext>
                </a:extLst>
              </p:cNvPr>
              <p:cNvSpPr txBox="1"/>
              <p:nvPr/>
            </p:nvSpPr>
            <p:spPr>
              <a:xfrm>
                <a:off x="8989020" y="2686675"/>
                <a:ext cx="1683743" cy="46294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2400" b="0" i="1" smtClean="0">
                              <a:latin typeface="Cambria Math" panose="02040503050406030204" pitchFamily="18" charset="0"/>
                            </a:rPr>
                          </m:ctrlPr>
                        </m:sSubSupPr>
                        <m:e>
                          <m:d>
                            <m:dPr>
                              <m:begChr m:val="{"/>
                              <m:endChr m:val="}"/>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𝐴𝐶𝑇𝑆</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e>
                          </m:d>
                        </m:e>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sSubSup>
                    </m:oMath>
                  </m:oMathPara>
                </a14:m>
                <a:endParaRPr lang="zh-CN" altLang="en-US" sz="2400" dirty="0"/>
              </a:p>
            </p:txBody>
          </p:sp>
        </mc:Choice>
        <mc:Fallback xmlns="">
          <p:sp>
            <p:nvSpPr>
              <p:cNvPr id="50" name="文本框 49">
                <a:extLst>
                  <a:ext uri="{FF2B5EF4-FFF2-40B4-BE49-F238E27FC236}">
                    <a16:creationId xmlns:a16="http://schemas.microsoft.com/office/drawing/2014/main" id="{57C31466-9D33-4C4A-6DCB-2B7571FE3342}"/>
                  </a:ext>
                </a:extLst>
              </p:cNvPr>
              <p:cNvSpPr txBox="1">
                <a:spLocks noRot="1" noChangeAspect="1" noMove="1" noResize="1" noEditPoints="1" noAdjustHandles="1" noChangeArrowheads="1" noChangeShapeType="1" noTextEdit="1"/>
              </p:cNvSpPr>
              <p:nvPr/>
            </p:nvSpPr>
            <p:spPr>
              <a:xfrm>
                <a:off x="8989020" y="2686675"/>
                <a:ext cx="1683743" cy="462947"/>
              </a:xfrm>
              <a:prstGeom prst="rect">
                <a:avLst/>
              </a:prstGeom>
              <a:blipFill>
                <a:blip r:embed="rId8"/>
                <a:stretch>
                  <a:fillRect r="-18116" b="-18421"/>
                </a:stretch>
              </a:blipFill>
            </p:spPr>
            <p:txBody>
              <a:bodyPr/>
              <a:lstStyle/>
              <a:p>
                <a:r>
                  <a:rPr lang="zh-CN" altLang="en-US">
                    <a:noFill/>
                  </a:rPr>
                  <a:t> </a:t>
                </a:r>
              </a:p>
            </p:txBody>
          </p:sp>
        </mc:Fallback>
      </mc:AlternateContent>
      <p:cxnSp>
        <p:nvCxnSpPr>
          <p:cNvPr id="51" name="直接箭头连接符 50">
            <a:extLst>
              <a:ext uri="{FF2B5EF4-FFF2-40B4-BE49-F238E27FC236}">
                <a16:creationId xmlns:a16="http://schemas.microsoft.com/office/drawing/2014/main" id="{79EACCCE-B74C-215A-2262-7C543F4C3B63}"/>
              </a:ext>
            </a:extLst>
          </p:cNvPr>
          <p:cNvCxnSpPr>
            <a:cxnSpLocks/>
            <a:endCxn id="50" idx="2"/>
          </p:cNvCxnSpPr>
          <p:nvPr/>
        </p:nvCxnSpPr>
        <p:spPr>
          <a:xfrm flipH="1" flipV="1">
            <a:off x="9830892" y="3149622"/>
            <a:ext cx="101778" cy="5314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10518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4</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lang="zh-CN" altLang="en-US" sz="2800" dirty="0">
                <a:solidFill>
                  <a:srgbClr val="000000">
                    <a:lumMod val="75000"/>
                    <a:lumOff val="25000"/>
                  </a:srgbClr>
                </a:solidFill>
              </a:rPr>
              <a:t>方法</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926459F8-302B-C7D5-23DD-186DF684852E}"/>
              </a:ext>
            </a:extLst>
          </p:cNvPr>
          <p:cNvSpPr txBox="1"/>
          <p:nvPr/>
        </p:nvSpPr>
        <p:spPr>
          <a:xfrm>
            <a:off x="210220" y="1009841"/>
            <a:ext cx="5104729"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多模型融合</a:t>
            </a:r>
            <a:endParaRPr lang="zh-CN" altLang="en-US" dirty="0"/>
          </a:p>
        </p:txBody>
      </p:sp>
      <p:pic>
        <p:nvPicPr>
          <p:cNvPr id="5" name="图片 4">
            <a:extLst>
              <a:ext uri="{FF2B5EF4-FFF2-40B4-BE49-F238E27FC236}">
                <a16:creationId xmlns:a16="http://schemas.microsoft.com/office/drawing/2014/main" id="{917FE55D-CEC3-2B9B-F1D4-C271783B16BB}"/>
              </a:ext>
            </a:extLst>
          </p:cNvPr>
          <p:cNvPicPr>
            <a:picLocks noChangeAspect="1"/>
          </p:cNvPicPr>
          <p:nvPr/>
        </p:nvPicPr>
        <p:blipFill>
          <a:blip r:embed="rId3"/>
          <a:stretch>
            <a:fillRect/>
          </a:stretch>
        </p:blipFill>
        <p:spPr>
          <a:xfrm>
            <a:off x="2082758" y="890120"/>
            <a:ext cx="7555450" cy="6242200"/>
          </a:xfrm>
          <a:prstGeom prst="rect">
            <a:avLst/>
          </a:prstGeom>
        </p:spPr>
      </p:pic>
    </p:spTree>
    <p:extLst>
      <p:ext uri="{BB962C8B-B14F-4D97-AF65-F5344CB8AC3E}">
        <p14:creationId xmlns:p14="http://schemas.microsoft.com/office/powerpoint/2010/main" val="6339265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5.</a:t>
            </a:r>
            <a:r>
              <a:rPr lang="zh-CN" altLang="en-US" sz="2800" dirty="0">
                <a:solidFill>
                  <a:srgbClr val="000000">
                    <a:lumMod val="75000"/>
                    <a:lumOff val="25000"/>
                  </a:srgbClr>
                </a:solidFill>
              </a:rPr>
              <a:t>实验</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926459F8-302B-C7D5-23DD-186DF684852E}"/>
              </a:ext>
            </a:extLst>
          </p:cNvPr>
          <p:cNvSpPr txBox="1"/>
          <p:nvPr/>
        </p:nvSpPr>
        <p:spPr>
          <a:xfrm>
            <a:off x="621700" y="1273687"/>
            <a:ext cx="9368120" cy="923330"/>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实验设置：</a:t>
            </a:r>
            <a:r>
              <a:rPr lang="zh-CN" altLang="en-US" dirty="0">
                <a:latin typeface="+mn-ea"/>
              </a:rPr>
              <a:t>模拟联邦学习情景，一个模型更强大，另一个模型在特定领域有专有知识</a:t>
            </a:r>
            <a:endParaRPr lang="en-US" altLang="zh-CN" dirty="0">
              <a:latin typeface="+mn-ea"/>
            </a:endParaRPr>
          </a:p>
          <a:p>
            <a:pPr lvl="3"/>
            <a:r>
              <a:rPr lang="zh-CN" altLang="en-US" dirty="0">
                <a:latin typeface="+mn-ea"/>
              </a:rPr>
              <a:t>例如对于手写数字来说，一个模型他能识别</a:t>
            </a:r>
            <a:r>
              <a:rPr lang="en-US" altLang="zh-CN" dirty="0">
                <a:latin typeface="+mn-ea"/>
              </a:rPr>
              <a:t>1-9</a:t>
            </a:r>
            <a:r>
              <a:rPr lang="zh-CN" altLang="en-US" dirty="0">
                <a:latin typeface="+mn-ea"/>
              </a:rPr>
              <a:t>中除了</a:t>
            </a:r>
            <a:r>
              <a:rPr lang="en-US" altLang="zh-CN" dirty="0">
                <a:latin typeface="+mn-ea"/>
              </a:rPr>
              <a:t>4</a:t>
            </a:r>
            <a:r>
              <a:rPr lang="zh-CN" altLang="en-US" dirty="0">
                <a:latin typeface="+mn-ea"/>
              </a:rPr>
              <a:t>的任何数字</a:t>
            </a:r>
            <a:endParaRPr lang="en-US" altLang="zh-CN" dirty="0">
              <a:latin typeface="+mn-ea"/>
            </a:endParaRPr>
          </a:p>
          <a:p>
            <a:pPr lvl="3"/>
            <a:r>
              <a:rPr lang="zh-CN" altLang="en-US" dirty="0">
                <a:latin typeface="+mn-ea"/>
              </a:rPr>
              <a:t>另一个模型则只能识别数字</a:t>
            </a:r>
            <a:r>
              <a:rPr lang="en-US" altLang="zh-CN" dirty="0">
                <a:latin typeface="+mn-ea"/>
              </a:rPr>
              <a:t>4</a:t>
            </a:r>
            <a:endParaRPr lang="zh-CN" altLang="en-US" dirty="0"/>
          </a:p>
        </p:txBody>
      </p:sp>
      <p:pic>
        <p:nvPicPr>
          <p:cNvPr id="6" name="图片 5">
            <a:extLst>
              <a:ext uri="{FF2B5EF4-FFF2-40B4-BE49-F238E27FC236}">
                <a16:creationId xmlns:a16="http://schemas.microsoft.com/office/drawing/2014/main" id="{E3F4154B-8477-1409-728E-4E4297EA5FA5}"/>
              </a:ext>
            </a:extLst>
          </p:cNvPr>
          <p:cNvPicPr>
            <a:picLocks noChangeAspect="1"/>
          </p:cNvPicPr>
          <p:nvPr/>
        </p:nvPicPr>
        <p:blipFill>
          <a:blip r:embed="rId3"/>
          <a:stretch>
            <a:fillRect/>
          </a:stretch>
        </p:blipFill>
        <p:spPr>
          <a:xfrm>
            <a:off x="824943" y="2221215"/>
            <a:ext cx="10542113" cy="4276581"/>
          </a:xfrm>
          <a:prstGeom prst="rect">
            <a:avLst/>
          </a:prstGeom>
        </p:spPr>
      </p:pic>
    </p:spTree>
    <p:extLst>
      <p:ext uri="{BB962C8B-B14F-4D97-AF65-F5344CB8AC3E}">
        <p14:creationId xmlns:p14="http://schemas.microsoft.com/office/powerpoint/2010/main" val="28449846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5.</a:t>
            </a:r>
            <a:r>
              <a:rPr lang="zh-CN" altLang="en-US" sz="2800" dirty="0">
                <a:solidFill>
                  <a:srgbClr val="000000">
                    <a:lumMod val="75000"/>
                    <a:lumOff val="25000"/>
                  </a:srgbClr>
                </a:solidFill>
              </a:rPr>
              <a:t>实验</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926459F8-302B-C7D5-23DD-186DF684852E}"/>
              </a:ext>
            </a:extLst>
          </p:cNvPr>
          <p:cNvSpPr txBox="1"/>
          <p:nvPr/>
        </p:nvSpPr>
        <p:spPr>
          <a:xfrm>
            <a:off x="652829" y="1136527"/>
            <a:ext cx="9368120"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实验设置：</a:t>
            </a:r>
            <a:r>
              <a:rPr lang="zh-CN" altLang="en-US" dirty="0">
                <a:latin typeface="+mn-ea"/>
              </a:rPr>
              <a:t>模拟集成学习情景，将多个模型合并</a:t>
            </a:r>
            <a:endParaRPr lang="zh-CN" altLang="en-US" dirty="0"/>
          </a:p>
        </p:txBody>
      </p:sp>
      <p:pic>
        <p:nvPicPr>
          <p:cNvPr id="5" name="图片 4">
            <a:extLst>
              <a:ext uri="{FF2B5EF4-FFF2-40B4-BE49-F238E27FC236}">
                <a16:creationId xmlns:a16="http://schemas.microsoft.com/office/drawing/2014/main" id="{E4A93B6D-AFA9-6F27-8E34-621174660667}"/>
              </a:ext>
            </a:extLst>
          </p:cNvPr>
          <p:cNvPicPr>
            <a:picLocks noChangeAspect="1"/>
          </p:cNvPicPr>
          <p:nvPr/>
        </p:nvPicPr>
        <p:blipFill>
          <a:blip r:embed="rId3"/>
          <a:stretch>
            <a:fillRect/>
          </a:stretch>
        </p:blipFill>
        <p:spPr>
          <a:xfrm>
            <a:off x="652829" y="2198370"/>
            <a:ext cx="10886342" cy="2461260"/>
          </a:xfrm>
          <a:prstGeom prst="rect">
            <a:avLst/>
          </a:prstGeom>
        </p:spPr>
      </p:pic>
    </p:spTree>
    <p:extLst>
      <p:ext uri="{BB962C8B-B14F-4D97-AF65-F5344CB8AC3E}">
        <p14:creationId xmlns:p14="http://schemas.microsoft.com/office/powerpoint/2010/main" val="9949699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6</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总结</a:t>
            </a:r>
          </a:p>
        </p:txBody>
      </p:sp>
      <p:sp>
        <p:nvSpPr>
          <p:cNvPr id="4" name="文本框 3">
            <a:extLst>
              <a:ext uri="{FF2B5EF4-FFF2-40B4-BE49-F238E27FC236}">
                <a16:creationId xmlns:a16="http://schemas.microsoft.com/office/drawing/2014/main" id="{926459F8-302B-C7D5-23DD-186DF684852E}"/>
              </a:ext>
            </a:extLst>
          </p:cNvPr>
          <p:cNvSpPr txBox="1"/>
          <p:nvPr/>
        </p:nvSpPr>
        <p:spPr>
          <a:xfrm>
            <a:off x="687118" y="1113667"/>
            <a:ext cx="9657031" cy="1754326"/>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本文工作总结：</a:t>
            </a:r>
            <a:endParaRPr lang="en-US" altLang="zh-CN" b="1" dirty="0">
              <a:solidFill>
                <a:srgbClr val="268F9C"/>
              </a:solidFill>
              <a:latin typeface="+mn-ea"/>
            </a:endParaRPr>
          </a:p>
          <a:p>
            <a:pPr marL="285750" indent="-285750">
              <a:buFont typeface="Wingdings" panose="05000000000000000000" pitchFamily="2" charset="2"/>
              <a:buChar char="Ø"/>
            </a:pPr>
            <a:endParaRPr lang="en-US" altLang="zh-CN" b="1" dirty="0">
              <a:solidFill>
                <a:srgbClr val="268F9C"/>
              </a:solidFill>
              <a:latin typeface="+mn-ea"/>
            </a:endParaRPr>
          </a:p>
          <a:p>
            <a:pPr marL="742950" lvl="1" indent="-285750">
              <a:buFont typeface="Arial" panose="020B0604020202020204" pitchFamily="34" charset="0"/>
              <a:buChar char="•"/>
            </a:pPr>
            <a:r>
              <a:rPr lang="zh-CN" altLang="en-US" dirty="0"/>
              <a:t>利用最优传输解决了模型在权重空间对齐的问题</a:t>
            </a:r>
            <a:endParaRPr lang="en-US" altLang="zh-CN" dirty="0"/>
          </a:p>
          <a:p>
            <a:pPr marL="742950" lvl="1" indent="-285750">
              <a:buFont typeface="Arial" panose="020B0604020202020204" pitchFamily="34" charset="0"/>
              <a:buChar char="•"/>
            </a:pPr>
            <a:endParaRPr lang="en-US" altLang="zh-CN" dirty="0"/>
          </a:p>
          <a:p>
            <a:pPr marL="742950" lvl="1" indent="-285750">
              <a:buFont typeface="Arial" panose="020B0604020202020204" pitchFamily="34" charset="0"/>
              <a:buChar char="•"/>
            </a:pPr>
            <a:r>
              <a:rPr lang="zh-CN" altLang="en-US" dirty="0"/>
              <a:t>解决了一次知识迁移，在训练数据得不到的情况下也可以实现模型合并，而不需要训练数据来训练</a:t>
            </a:r>
            <a:endParaRPr lang="en-US" altLang="zh-CN" dirty="0"/>
          </a:p>
        </p:txBody>
      </p:sp>
    </p:spTree>
    <p:extLst>
      <p:ext uri="{BB962C8B-B14F-4D97-AF65-F5344CB8AC3E}">
        <p14:creationId xmlns:p14="http://schemas.microsoft.com/office/powerpoint/2010/main" val="12875732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28592" y="776798"/>
            <a:ext cx="5070060" cy="5454498"/>
          </a:xfrm>
          <a:prstGeom prst="rect">
            <a:avLst/>
          </a:prstGeom>
          <a:effectLst>
            <a:innerShdw blurRad="63500" dist="50800" dir="16200000">
              <a:prstClr val="black">
                <a:alpha val="50000"/>
              </a:prstClr>
            </a:innerShdw>
          </a:effectLst>
        </p:spPr>
      </p:pic>
      <p:sp>
        <p:nvSpPr>
          <p:cNvPr id="4" name="TextBox 13"/>
          <p:cNvSpPr txBox="1"/>
          <p:nvPr/>
        </p:nvSpPr>
        <p:spPr>
          <a:xfrm>
            <a:off x="6625590" y="2809757"/>
            <a:ext cx="3696764" cy="646331"/>
          </a:xfrm>
          <a:prstGeom prst="rect">
            <a:avLst/>
          </a:prstGeom>
          <a:noFill/>
        </p:spPr>
        <p:txBody>
          <a:bodyPr wrap="square" rtlCol="0">
            <a:spAutoFit/>
          </a:bodyPr>
          <a:lstStyle/>
          <a:p>
            <a:pPr lvl="0" algn="ctr">
              <a:defRPr/>
            </a:pPr>
            <a:r>
              <a:rPr lang="en-US" altLang="zh-CN" sz="3600" dirty="0">
                <a:latin typeface="Lato" panose="020F0502020204030203" pitchFamily="34" charset="0"/>
                <a:ea typeface="+mj-ea"/>
              </a:rPr>
              <a:t>5.</a:t>
            </a:r>
            <a:r>
              <a:rPr lang="zh-CN" altLang="en-US" sz="3600" dirty="0">
                <a:latin typeface="Lato" panose="020F0502020204030203" pitchFamily="34" charset="0"/>
                <a:ea typeface="+mj-ea"/>
              </a:rPr>
              <a:t>总结</a:t>
            </a:r>
            <a:endParaRPr lang="en-US" altLang="zh-CN" sz="3600" dirty="0">
              <a:latin typeface="+mj-ea"/>
              <a:ea typeface="+mj-ea"/>
            </a:endParaRPr>
          </a:p>
        </p:txBody>
      </p:sp>
      <p:grpSp>
        <p:nvGrpSpPr>
          <p:cNvPr id="5" name="组合 4"/>
          <p:cNvGrpSpPr/>
          <p:nvPr/>
        </p:nvGrpSpPr>
        <p:grpSpPr>
          <a:xfrm>
            <a:off x="5741065" y="3837410"/>
            <a:ext cx="5863771" cy="57767"/>
            <a:chOff x="5280505" y="3963496"/>
            <a:chExt cx="5863771" cy="57767"/>
          </a:xfrm>
          <a:solidFill>
            <a:schemeClr val="tx1"/>
          </a:solidFill>
        </p:grpSpPr>
        <p:sp>
          <p:nvSpPr>
            <p:cNvPr id="6" name="任意多边形 16"/>
            <p:cNvSpPr/>
            <p:nvPr/>
          </p:nvSpPr>
          <p:spPr>
            <a:xfrm>
              <a:off x="5280505" y="3992380"/>
              <a:ext cx="5863771" cy="0"/>
            </a:xfrm>
            <a:custGeom>
              <a:avLst/>
              <a:gdLst>
                <a:gd name="connsiteX0" fmla="*/ 0 w 5863771"/>
                <a:gd name="connsiteY0" fmla="*/ 0 h 0"/>
                <a:gd name="connsiteX1" fmla="*/ 58057 w 5863771"/>
                <a:gd name="connsiteY1" fmla="*/ 0 h 0"/>
                <a:gd name="connsiteX2" fmla="*/ 5863771 w 5863771"/>
                <a:gd name="connsiteY2" fmla="*/ 0 h 0"/>
              </a:gdLst>
              <a:ahLst/>
              <a:cxnLst>
                <a:cxn ang="0">
                  <a:pos x="connsiteX0" y="connsiteY0"/>
                </a:cxn>
                <a:cxn ang="0">
                  <a:pos x="connsiteX1" y="connsiteY1"/>
                </a:cxn>
                <a:cxn ang="0">
                  <a:pos x="connsiteX2" y="connsiteY2"/>
                </a:cxn>
              </a:cxnLst>
              <a:rect l="l" t="t" r="r" b="b"/>
              <a:pathLst>
                <a:path w="5863771">
                  <a:moveTo>
                    <a:pt x="0" y="0"/>
                  </a:moveTo>
                  <a:lnTo>
                    <a:pt x="58057" y="0"/>
                  </a:lnTo>
                  <a:lnTo>
                    <a:pt x="5863771" y="0"/>
                  </a:lnTo>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sp>
          <p:nvSpPr>
            <p:cNvPr id="7" name="圆角矩形 17"/>
            <p:cNvSpPr/>
            <p:nvPr/>
          </p:nvSpPr>
          <p:spPr>
            <a:xfrm>
              <a:off x="7456740" y="3963496"/>
              <a:ext cx="1511300" cy="5776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grpSp>
      <p:grpSp>
        <p:nvGrpSpPr>
          <p:cNvPr id="9" name="组合 8"/>
          <p:cNvGrpSpPr/>
          <p:nvPr/>
        </p:nvGrpSpPr>
        <p:grpSpPr bwMode="auto">
          <a:xfrm>
            <a:off x="7782456" y="4205439"/>
            <a:ext cx="412709" cy="333006"/>
            <a:chOff x="0" y="0"/>
            <a:chExt cx="1088225" cy="869861"/>
          </a:xfrm>
          <a:solidFill>
            <a:schemeClr val="tx1"/>
          </a:solidFill>
        </p:grpSpPr>
        <p:sp>
          <p:nvSpPr>
            <p:cNvPr id="10" name="Freeform 17"/>
            <p:cNvSpPr>
              <a:spLocks noEditPoints="1" noChangeArrowheads="1"/>
            </p:cNvSpPr>
            <p:nvPr/>
          </p:nvSpPr>
          <p:spPr bwMode="auto">
            <a:xfrm>
              <a:off x="0" y="237562"/>
              <a:ext cx="824268" cy="632299"/>
            </a:xfrm>
            <a:custGeom>
              <a:avLst/>
              <a:gdLst>
                <a:gd name="T0" fmla="*/ 274 w 291"/>
                <a:gd name="T1" fmla="*/ 0 h 223"/>
                <a:gd name="T2" fmla="*/ 17 w 291"/>
                <a:gd name="T3" fmla="*/ 0 h 223"/>
                <a:gd name="T4" fmla="*/ 0 w 291"/>
                <a:gd name="T5" fmla="*/ 16 h 223"/>
                <a:gd name="T6" fmla="*/ 0 w 291"/>
                <a:gd name="T7" fmla="*/ 207 h 223"/>
                <a:gd name="T8" fmla="*/ 17 w 291"/>
                <a:gd name="T9" fmla="*/ 223 h 223"/>
                <a:gd name="T10" fmla="*/ 274 w 291"/>
                <a:gd name="T11" fmla="*/ 223 h 223"/>
                <a:gd name="T12" fmla="*/ 291 w 291"/>
                <a:gd name="T13" fmla="*/ 207 h 223"/>
                <a:gd name="T14" fmla="*/ 291 w 291"/>
                <a:gd name="T15" fmla="*/ 16 h 223"/>
                <a:gd name="T16" fmla="*/ 274 w 291"/>
                <a:gd name="T17" fmla="*/ 0 h 223"/>
                <a:gd name="T18" fmla="*/ 270 w 291"/>
                <a:gd name="T19" fmla="*/ 193 h 223"/>
                <a:gd name="T20" fmla="*/ 256 w 291"/>
                <a:gd name="T21" fmla="*/ 207 h 223"/>
                <a:gd name="T22" fmla="*/ 35 w 291"/>
                <a:gd name="T23" fmla="*/ 207 h 223"/>
                <a:gd name="T24" fmla="*/ 21 w 291"/>
                <a:gd name="T25" fmla="*/ 193 h 223"/>
                <a:gd name="T26" fmla="*/ 21 w 291"/>
                <a:gd name="T27" fmla="*/ 30 h 223"/>
                <a:gd name="T28" fmla="*/ 35 w 291"/>
                <a:gd name="T29" fmla="*/ 16 h 223"/>
                <a:gd name="T30" fmla="*/ 256 w 291"/>
                <a:gd name="T31" fmla="*/ 16 h 223"/>
                <a:gd name="T32" fmla="*/ 270 w 291"/>
                <a:gd name="T33" fmla="*/ 30 h 223"/>
                <a:gd name="T34" fmla="*/ 270 w 291"/>
                <a:gd name="T35" fmla="*/ 19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1"/>
                <a:gd name="T55" fmla="*/ 0 h 223"/>
                <a:gd name="T56" fmla="*/ 291 w 291"/>
                <a:gd name="T57" fmla="*/ 223 h 2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1" h="223">
                  <a:moveTo>
                    <a:pt x="274" y="0"/>
                  </a:moveTo>
                  <a:cubicBezTo>
                    <a:pt x="17" y="0"/>
                    <a:pt x="17" y="0"/>
                    <a:pt x="17" y="0"/>
                  </a:cubicBezTo>
                  <a:cubicBezTo>
                    <a:pt x="8" y="0"/>
                    <a:pt x="0" y="7"/>
                    <a:pt x="0" y="16"/>
                  </a:cubicBezTo>
                  <a:cubicBezTo>
                    <a:pt x="0" y="207"/>
                    <a:pt x="0" y="207"/>
                    <a:pt x="0" y="207"/>
                  </a:cubicBezTo>
                  <a:cubicBezTo>
                    <a:pt x="0" y="215"/>
                    <a:pt x="8" y="223"/>
                    <a:pt x="17" y="223"/>
                  </a:cubicBezTo>
                  <a:cubicBezTo>
                    <a:pt x="274" y="223"/>
                    <a:pt x="274" y="223"/>
                    <a:pt x="274" y="223"/>
                  </a:cubicBezTo>
                  <a:cubicBezTo>
                    <a:pt x="283" y="223"/>
                    <a:pt x="291" y="215"/>
                    <a:pt x="291" y="207"/>
                  </a:cubicBezTo>
                  <a:cubicBezTo>
                    <a:pt x="291" y="16"/>
                    <a:pt x="291" y="16"/>
                    <a:pt x="291" y="16"/>
                  </a:cubicBezTo>
                  <a:cubicBezTo>
                    <a:pt x="291" y="7"/>
                    <a:pt x="283" y="0"/>
                    <a:pt x="274" y="0"/>
                  </a:cubicBezTo>
                  <a:moveTo>
                    <a:pt x="270" y="193"/>
                  </a:moveTo>
                  <a:cubicBezTo>
                    <a:pt x="270" y="201"/>
                    <a:pt x="264" y="207"/>
                    <a:pt x="256" y="207"/>
                  </a:cubicBezTo>
                  <a:cubicBezTo>
                    <a:pt x="35" y="207"/>
                    <a:pt x="35" y="207"/>
                    <a:pt x="35" y="207"/>
                  </a:cubicBezTo>
                  <a:cubicBezTo>
                    <a:pt x="27" y="207"/>
                    <a:pt x="21" y="201"/>
                    <a:pt x="21" y="193"/>
                  </a:cubicBezTo>
                  <a:cubicBezTo>
                    <a:pt x="21" y="30"/>
                    <a:pt x="21" y="30"/>
                    <a:pt x="21" y="30"/>
                  </a:cubicBezTo>
                  <a:cubicBezTo>
                    <a:pt x="21" y="22"/>
                    <a:pt x="27" y="16"/>
                    <a:pt x="35" y="16"/>
                  </a:cubicBezTo>
                  <a:cubicBezTo>
                    <a:pt x="256" y="16"/>
                    <a:pt x="256" y="16"/>
                    <a:pt x="256" y="16"/>
                  </a:cubicBezTo>
                  <a:cubicBezTo>
                    <a:pt x="264" y="16"/>
                    <a:pt x="270" y="22"/>
                    <a:pt x="270" y="30"/>
                  </a:cubicBezTo>
                  <a:lnTo>
                    <a:pt x="270" y="19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1" name="Freeform 18"/>
            <p:cNvSpPr>
              <a:spLocks noChangeArrowheads="1"/>
            </p:cNvSpPr>
            <p:nvPr/>
          </p:nvSpPr>
          <p:spPr bwMode="auto">
            <a:xfrm>
              <a:off x="137978" y="110382"/>
              <a:ext cx="821868" cy="632299"/>
            </a:xfrm>
            <a:custGeom>
              <a:avLst/>
              <a:gdLst>
                <a:gd name="T0" fmla="*/ 274 w 290"/>
                <a:gd name="T1" fmla="*/ 0 h 223"/>
                <a:gd name="T2" fmla="*/ 16 w 290"/>
                <a:gd name="T3" fmla="*/ 0 h 223"/>
                <a:gd name="T4" fmla="*/ 0 w 290"/>
                <a:gd name="T5" fmla="*/ 16 h 223"/>
                <a:gd name="T6" fmla="*/ 0 w 290"/>
                <a:gd name="T7" fmla="*/ 25 h 223"/>
                <a:gd name="T8" fmla="*/ 249 w 290"/>
                <a:gd name="T9" fmla="*/ 25 h 223"/>
                <a:gd name="T10" fmla="*/ 265 w 290"/>
                <a:gd name="T11" fmla="*/ 42 h 223"/>
                <a:gd name="T12" fmla="*/ 265 w 290"/>
                <a:gd name="T13" fmla="*/ 223 h 223"/>
                <a:gd name="T14" fmla="*/ 274 w 290"/>
                <a:gd name="T15" fmla="*/ 223 h 223"/>
                <a:gd name="T16" fmla="*/ 290 w 290"/>
                <a:gd name="T17" fmla="*/ 207 h 223"/>
                <a:gd name="T18" fmla="*/ 290 w 290"/>
                <a:gd name="T19" fmla="*/ 16 h 223"/>
                <a:gd name="T20" fmla="*/ 274 w 29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3"/>
                <a:gd name="T35" fmla="*/ 290 w 29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3">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3"/>
                    <a:pt x="265" y="42"/>
                  </a:cubicBezTo>
                  <a:cubicBezTo>
                    <a:pt x="265" y="223"/>
                    <a:pt x="265" y="223"/>
                    <a:pt x="265" y="223"/>
                  </a:cubicBezTo>
                  <a:cubicBezTo>
                    <a:pt x="274" y="223"/>
                    <a:pt x="274" y="223"/>
                    <a:pt x="274" y="223"/>
                  </a:cubicBezTo>
                  <a:cubicBezTo>
                    <a:pt x="283" y="223"/>
                    <a:pt x="290" y="216"/>
                    <a:pt x="290" y="207"/>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2" name="Freeform 19"/>
            <p:cNvSpPr>
              <a:spLocks noChangeArrowheads="1"/>
            </p:cNvSpPr>
            <p:nvPr/>
          </p:nvSpPr>
          <p:spPr bwMode="auto">
            <a:xfrm>
              <a:off x="266357" y="0"/>
              <a:ext cx="821868" cy="628699"/>
            </a:xfrm>
            <a:custGeom>
              <a:avLst/>
              <a:gdLst>
                <a:gd name="T0" fmla="*/ 274 w 290"/>
                <a:gd name="T1" fmla="*/ 0 h 222"/>
                <a:gd name="T2" fmla="*/ 16 w 290"/>
                <a:gd name="T3" fmla="*/ 0 h 222"/>
                <a:gd name="T4" fmla="*/ 0 w 290"/>
                <a:gd name="T5" fmla="*/ 16 h 222"/>
                <a:gd name="T6" fmla="*/ 0 w 290"/>
                <a:gd name="T7" fmla="*/ 25 h 222"/>
                <a:gd name="T8" fmla="*/ 249 w 290"/>
                <a:gd name="T9" fmla="*/ 25 h 222"/>
                <a:gd name="T10" fmla="*/ 265 w 290"/>
                <a:gd name="T11" fmla="*/ 41 h 222"/>
                <a:gd name="T12" fmla="*/ 265 w 290"/>
                <a:gd name="T13" fmla="*/ 222 h 222"/>
                <a:gd name="T14" fmla="*/ 274 w 290"/>
                <a:gd name="T15" fmla="*/ 222 h 222"/>
                <a:gd name="T16" fmla="*/ 290 w 290"/>
                <a:gd name="T17" fmla="*/ 206 h 222"/>
                <a:gd name="T18" fmla="*/ 290 w 290"/>
                <a:gd name="T19" fmla="*/ 16 h 222"/>
                <a:gd name="T20" fmla="*/ 274 w 290"/>
                <a:gd name="T21" fmla="*/ 0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2"/>
                <a:gd name="T35" fmla="*/ 290 w 290"/>
                <a:gd name="T36" fmla="*/ 222 h 2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2">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2"/>
                    <a:pt x="265" y="41"/>
                  </a:cubicBezTo>
                  <a:cubicBezTo>
                    <a:pt x="265" y="222"/>
                    <a:pt x="265" y="222"/>
                    <a:pt x="265" y="222"/>
                  </a:cubicBezTo>
                  <a:cubicBezTo>
                    <a:pt x="274" y="222"/>
                    <a:pt x="274" y="222"/>
                    <a:pt x="274" y="222"/>
                  </a:cubicBezTo>
                  <a:cubicBezTo>
                    <a:pt x="283" y="222"/>
                    <a:pt x="290" y="215"/>
                    <a:pt x="290" y="206"/>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3" name="Freeform 20"/>
            <p:cNvSpPr>
              <a:spLocks noChangeArrowheads="1"/>
            </p:cNvSpPr>
            <p:nvPr/>
          </p:nvSpPr>
          <p:spPr bwMode="auto">
            <a:xfrm>
              <a:off x="110382" y="422332"/>
              <a:ext cx="569909" cy="353943"/>
            </a:xfrm>
            <a:custGeom>
              <a:avLst/>
              <a:gdLst>
                <a:gd name="T0" fmla="*/ 71 w 201"/>
                <a:gd name="T1" fmla="*/ 5 h 125"/>
                <a:gd name="T2" fmla="*/ 11 w 201"/>
                <a:gd name="T3" fmla="*/ 109 h 125"/>
                <a:gd name="T4" fmla="*/ 11 w 201"/>
                <a:gd name="T5" fmla="*/ 124 h 125"/>
                <a:gd name="T6" fmla="*/ 192 w 201"/>
                <a:gd name="T7" fmla="*/ 124 h 125"/>
                <a:gd name="T8" fmla="*/ 192 w 201"/>
                <a:gd name="T9" fmla="*/ 108 h 125"/>
                <a:gd name="T10" fmla="*/ 151 w 201"/>
                <a:gd name="T11" fmla="*/ 47 h 125"/>
                <a:gd name="T12" fmla="*/ 117 w 201"/>
                <a:gd name="T13" fmla="*/ 86 h 125"/>
                <a:gd name="T14" fmla="*/ 110 w 201"/>
                <a:gd name="T15" fmla="*/ 81 h 125"/>
                <a:gd name="T16" fmla="*/ 122 w 201"/>
                <a:gd name="T17" fmla="*/ 65 h 125"/>
                <a:gd name="T18" fmla="*/ 81 w 201"/>
                <a:gd name="T19" fmla="*/ 5 h 125"/>
                <a:gd name="T20" fmla="*/ 71 w 201"/>
                <a:gd name="T21" fmla="*/ 5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25"/>
                <a:gd name="T35" fmla="*/ 201 w 201"/>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25">
                  <a:moveTo>
                    <a:pt x="71" y="5"/>
                  </a:moveTo>
                  <a:cubicBezTo>
                    <a:pt x="11" y="109"/>
                    <a:pt x="11" y="109"/>
                    <a:pt x="11" y="109"/>
                  </a:cubicBezTo>
                  <a:cubicBezTo>
                    <a:pt x="11" y="109"/>
                    <a:pt x="0" y="124"/>
                    <a:pt x="11" y="124"/>
                  </a:cubicBezTo>
                  <a:cubicBezTo>
                    <a:pt x="25" y="125"/>
                    <a:pt x="192" y="124"/>
                    <a:pt x="192" y="124"/>
                  </a:cubicBezTo>
                  <a:cubicBezTo>
                    <a:pt x="192" y="124"/>
                    <a:pt x="201" y="121"/>
                    <a:pt x="192" y="108"/>
                  </a:cubicBezTo>
                  <a:cubicBezTo>
                    <a:pt x="182" y="94"/>
                    <a:pt x="158" y="46"/>
                    <a:pt x="151" y="47"/>
                  </a:cubicBezTo>
                  <a:cubicBezTo>
                    <a:pt x="144" y="47"/>
                    <a:pt x="120" y="83"/>
                    <a:pt x="117" y="86"/>
                  </a:cubicBezTo>
                  <a:cubicBezTo>
                    <a:pt x="115" y="89"/>
                    <a:pt x="108" y="84"/>
                    <a:pt x="110" y="81"/>
                  </a:cubicBezTo>
                  <a:cubicBezTo>
                    <a:pt x="116" y="74"/>
                    <a:pt x="122" y="65"/>
                    <a:pt x="122" y="65"/>
                  </a:cubicBezTo>
                  <a:cubicBezTo>
                    <a:pt x="122" y="65"/>
                    <a:pt x="84" y="9"/>
                    <a:pt x="81" y="5"/>
                  </a:cubicBezTo>
                  <a:cubicBezTo>
                    <a:pt x="78" y="0"/>
                    <a:pt x="73" y="1"/>
                    <a:pt x="71" y="5"/>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4" name="Oval 21"/>
            <p:cNvSpPr>
              <a:spLocks noChangeArrowheads="1"/>
            </p:cNvSpPr>
            <p:nvPr/>
          </p:nvSpPr>
          <p:spPr bwMode="auto">
            <a:xfrm>
              <a:off x="563909" y="331147"/>
              <a:ext cx="101984" cy="99584"/>
            </a:xfrm>
            <a:prstGeom prst="ellipse">
              <a:avLst/>
            </a:pr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5" name="组合 14"/>
          <p:cNvGrpSpPr/>
          <p:nvPr/>
        </p:nvGrpSpPr>
        <p:grpSpPr bwMode="auto">
          <a:xfrm>
            <a:off x="9791433" y="4205439"/>
            <a:ext cx="329894" cy="333006"/>
            <a:chOff x="0" y="0"/>
            <a:chExt cx="881859" cy="881859"/>
          </a:xfrm>
          <a:solidFill>
            <a:schemeClr val="tx1"/>
          </a:solidFill>
        </p:grpSpPr>
        <p:sp>
          <p:nvSpPr>
            <p:cNvPr id="16" name="Freeform 22"/>
            <p:cNvSpPr>
              <a:spLocks noEditPoints="1" noChangeArrowheads="1"/>
            </p:cNvSpPr>
            <p:nvPr/>
          </p:nvSpPr>
          <p:spPr bwMode="auto">
            <a:xfrm>
              <a:off x="0" y="0"/>
              <a:ext cx="881859" cy="881859"/>
            </a:xfrm>
            <a:custGeom>
              <a:avLst/>
              <a:gdLst>
                <a:gd name="T0" fmla="*/ 155 w 311"/>
                <a:gd name="T1" fmla="*/ 0 h 311"/>
                <a:gd name="T2" fmla="*/ 0 w 311"/>
                <a:gd name="T3" fmla="*/ 155 h 311"/>
                <a:gd name="T4" fmla="*/ 155 w 311"/>
                <a:gd name="T5" fmla="*/ 311 h 311"/>
                <a:gd name="T6" fmla="*/ 311 w 311"/>
                <a:gd name="T7" fmla="*/ 155 h 311"/>
                <a:gd name="T8" fmla="*/ 155 w 311"/>
                <a:gd name="T9" fmla="*/ 0 h 311"/>
                <a:gd name="T10" fmla="*/ 155 w 311"/>
                <a:gd name="T11" fmla="*/ 289 h 311"/>
                <a:gd name="T12" fmla="*/ 21 w 311"/>
                <a:gd name="T13" fmla="*/ 155 h 311"/>
                <a:gd name="T14" fmla="*/ 155 w 311"/>
                <a:gd name="T15" fmla="*/ 21 h 311"/>
                <a:gd name="T16" fmla="*/ 289 w 311"/>
                <a:gd name="T17" fmla="*/ 155 h 311"/>
                <a:gd name="T18" fmla="*/ 155 w 311"/>
                <a:gd name="T19" fmla="*/ 289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1"/>
                <a:gd name="T31" fmla="*/ 0 h 311"/>
                <a:gd name="T32" fmla="*/ 311 w 311"/>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1" h="311">
                  <a:moveTo>
                    <a:pt x="155" y="0"/>
                  </a:moveTo>
                  <a:cubicBezTo>
                    <a:pt x="70" y="0"/>
                    <a:pt x="0" y="69"/>
                    <a:pt x="0" y="155"/>
                  </a:cubicBezTo>
                  <a:cubicBezTo>
                    <a:pt x="0" y="241"/>
                    <a:pt x="70" y="311"/>
                    <a:pt x="155" y="311"/>
                  </a:cubicBezTo>
                  <a:cubicBezTo>
                    <a:pt x="241" y="311"/>
                    <a:pt x="311" y="241"/>
                    <a:pt x="311" y="155"/>
                  </a:cubicBezTo>
                  <a:cubicBezTo>
                    <a:pt x="311" y="69"/>
                    <a:pt x="241" y="0"/>
                    <a:pt x="155" y="0"/>
                  </a:cubicBezTo>
                  <a:moveTo>
                    <a:pt x="155" y="289"/>
                  </a:moveTo>
                  <a:cubicBezTo>
                    <a:pt x="81" y="289"/>
                    <a:pt x="21" y="229"/>
                    <a:pt x="21" y="155"/>
                  </a:cubicBezTo>
                  <a:cubicBezTo>
                    <a:pt x="21" y="81"/>
                    <a:pt x="81" y="21"/>
                    <a:pt x="155" y="21"/>
                  </a:cubicBezTo>
                  <a:cubicBezTo>
                    <a:pt x="229" y="21"/>
                    <a:pt x="289" y="81"/>
                    <a:pt x="289" y="155"/>
                  </a:cubicBezTo>
                  <a:cubicBezTo>
                    <a:pt x="289" y="229"/>
                    <a:pt x="229" y="289"/>
                    <a:pt x="155" y="289"/>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7" name="Freeform 23"/>
            <p:cNvSpPr>
              <a:spLocks noChangeArrowheads="1"/>
            </p:cNvSpPr>
            <p:nvPr/>
          </p:nvSpPr>
          <p:spPr bwMode="auto">
            <a:xfrm>
              <a:off x="235162" y="70789"/>
              <a:ext cx="430731" cy="428331"/>
            </a:xfrm>
            <a:custGeom>
              <a:avLst/>
              <a:gdLst>
                <a:gd name="T0" fmla="*/ 145 w 152"/>
                <a:gd name="T1" fmla="*/ 53 h 151"/>
                <a:gd name="T2" fmla="*/ 144 w 152"/>
                <a:gd name="T3" fmla="*/ 52 h 151"/>
                <a:gd name="T4" fmla="*/ 125 w 152"/>
                <a:gd name="T5" fmla="*/ 52 h 151"/>
                <a:gd name="T6" fmla="*/ 77 w 152"/>
                <a:gd name="T7" fmla="*/ 106 h 151"/>
                <a:gd name="T8" fmla="*/ 31 w 152"/>
                <a:gd name="T9" fmla="*/ 12 h 151"/>
                <a:gd name="T10" fmla="*/ 11 w 152"/>
                <a:gd name="T11" fmla="*/ 4 h 151"/>
                <a:gd name="T12" fmla="*/ 10 w 152"/>
                <a:gd name="T13" fmla="*/ 4 h 151"/>
                <a:gd name="T14" fmla="*/ 4 w 152"/>
                <a:gd name="T15" fmla="*/ 25 h 151"/>
                <a:gd name="T16" fmla="*/ 60 w 152"/>
                <a:gd name="T17" fmla="*/ 140 h 151"/>
                <a:gd name="T18" fmla="*/ 79 w 152"/>
                <a:gd name="T19" fmla="*/ 148 h 151"/>
                <a:gd name="T20" fmla="*/ 79 w 152"/>
                <a:gd name="T21" fmla="*/ 148 h 151"/>
                <a:gd name="T22" fmla="*/ 80 w 152"/>
                <a:gd name="T23" fmla="*/ 148 h 151"/>
                <a:gd name="T24" fmla="*/ 81 w 152"/>
                <a:gd name="T25" fmla="*/ 147 h 151"/>
                <a:gd name="T26" fmla="*/ 87 w 152"/>
                <a:gd name="T27" fmla="*/ 141 h 151"/>
                <a:gd name="T28" fmla="*/ 148 w 152"/>
                <a:gd name="T29" fmla="*/ 72 h 151"/>
                <a:gd name="T30" fmla="*/ 145 w 152"/>
                <a:gd name="T31" fmla="*/ 53 h 1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1"/>
                <a:gd name="T50" fmla="*/ 152 w 152"/>
                <a:gd name="T51" fmla="*/ 151 h 1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1">
                  <a:moveTo>
                    <a:pt x="145" y="53"/>
                  </a:moveTo>
                  <a:cubicBezTo>
                    <a:pt x="144" y="52"/>
                    <a:pt x="144" y="52"/>
                    <a:pt x="144" y="52"/>
                  </a:cubicBezTo>
                  <a:cubicBezTo>
                    <a:pt x="138" y="47"/>
                    <a:pt x="129" y="47"/>
                    <a:pt x="125" y="52"/>
                  </a:cubicBezTo>
                  <a:cubicBezTo>
                    <a:pt x="77" y="106"/>
                    <a:pt x="77" y="106"/>
                    <a:pt x="77" y="106"/>
                  </a:cubicBezTo>
                  <a:cubicBezTo>
                    <a:pt x="31" y="12"/>
                    <a:pt x="31" y="12"/>
                    <a:pt x="31" y="12"/>
                  </a:cubicBezTo>
                  <a:cubicBezTo>
                    <a:pt x="27" y="4"/>
                    <a:pt x="18" y="0"/>
                    <a:pt x="11" y="4"/>
                  </a:cubicBezTo>
                  <a:cubicBezTo>
                    <a:pt x="10" y="4"/>
                    <a:pt x="10" y="4"/>
                    <a:pt x="10" y="4"/>
                  </a:cubicBezTo>
                  <a:cubicBezTo>
                    <a:pt x="3" y="8"/>
                    <a:pt x="0" y="17"/>
                    <a:pt x="4" y="25"/>
                  </a:cubicBezTo>
                  <a:cubicBezTo>
                    <a:pt x="60" y="140"/>
                    <a:pt x="60" y="140"/>
                    <a:pt x="60" y="140"/>
                  </a:cubicBezTo>
                  <a:cubicBezTo>
                    <a:pt x="63" y="148"/>
                    <a:pt x="72" y="151"/>
                    <a:pt x="79" y="148"/>
                  </a:cubicBezTo>
                  <a:cubicBezTo>
                    <a:pt x="79" y="148"/>
                    <a:pt x="79" y="148"/>
                    <a:pt x="79" y="148"/>
                  </a:cubicBezTo>
                  <a:cubicBezTo>
                    <a:pt x="79" y="148"/>
                    <a:pt x="80" y="148"/>
                    <a:pt x="80" y="148"/>
                  </a:cubicBezTo>
                  <a:cubicBezTo>
                    <a:pt x="81" y="147"/>
                    <a:pt x="81" y="147"/>
                    <a:pt x="81" y="147"/>
                  </a:cubicBezTo>
                  <a:cubicBezTo>
                    <a:pt x="84" y="146"/>
                    <a:pt x="86" y="144"/>
                    <a:pt x="87" y="141"/>
                  </a:cubicBezTo>
                  <a:cubicBezTo>
                    <a:pt x="148" y="72"/>
                    <a:pt x="148" y="72"/>
                    <a:pt x="148" y="72"/>
                  </a:cubicBezTo>
                  <a:cubicBezTo>
                    <a:pt x="152" y="67"/>
                    <a:pt x="151" y="59"/>
                    <a:pt x="145" y="53"/>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8" name="组合 17"/>
          <p:cNvGrpSpPr/>
          <p:nvPr/>
        </p:nvGrpSpPr>
        <p:grpSpPr bwMode="auto">
          <a:xfrm>
            <a:off x="8473972" y="4205439"/>
            <a:ext cx="397959" cy="333006"/>
            <a:chOff x="0" y="0"/>
            <a:chExt cx="961046" cy="796672"/>
          </a:xfrm>
          <a:solidFill>
            <a:schemeClr val="tx1"/>
          </a:solidFill>
        </p:grpSpPr>
        <p:sp>
          <p:nvSpPr>
            <p:cNvPr id="19" name="Freeform 24"/>
            <p:cNvSpPr>
              <a:spLocks noEditPoints="1" noChangeArrowheads="1"/>
            </p:cNvSpPr>
            <p:nvPr/>
          </p:nvSpPr>
          <p:spPr bwMode="auto">
            <a:xfrm>
              <a:off x="0" y="0"/>
              <a:ext cx="961046" cy="796672"/>
            </a:xfrm>
            <a:custGeom>
              <a:avLst/>
              <a:gdLst>
                <a:gd name="T0" fmla="*/ 321 w 339"/>
                <a:gd name="T1" fmla="*/ 0 h 281"/>
                <a:gd name="T2" fmla="*/ 18 w 339"/>
                <a:gd name="T3" fmla="*/ 0 h 281"/>
                <a:gd name="T4" fmla="*/ 0 w 339"/>
                <a:gd name="T5" fmla="*/ 18 h 281"/>
                <a:gd name="T6" fmla="*/ 0 w 339"/>
                <a:gd name="T7" fmla="*/ 263 h 281"/>
                <a:gd name="T8" fmla="*/ 18 w 339"/>
                <a:gd name="T9" fmla="*/ 281 h 281"/>
                <a:gd name="T10" fmla="*/ 321 w 339"/>
                <a:gd name="T11" fmla="*/ 281 h 281"/>
                <a:gd name="T12" fmla="*/ 339 w 339"/>
                <a:gd name="T13" fmla="*/ 263 h 281"/>
                <a:gd name="T14" fmla="*/ 339 w 339"/>
                <a:gd name="T15" fmla="*/ 18 h 281"/>
                <a:gd name="T16" fmla="*/ 321 w 339"/>
                <a:gd name="T17" fmla="*/ 0 h 281"/>
                <a:gd name="T18" fmla="*/ 316 w 339"/>
                <a:gd name="T19" fmla="*/ 246 h 281"/>
                <a:gd name="T20" fmla="*/ 301 w 339"/>
                <a:gd name="T21" fmla="*/ 262 h 281"/>
                <a:gd name="T22" fmla="*/ 38 w 339"/>
                <a:gd name="T23" fmla="*/ 262 h 281"/>
                <a:gd name="T24" fmla="*/ 23 w 339"/>
                <a:gd name="T25" fmla="*/ 246 h 281"/>
                <a:gd name="T26" fmla="*/ 23 w 339"/>
                <a:gd name="T27" fmla="*/ 35 h 281"/>
                <a:gd name="T28" fmla="*/ 38 w 339"/>
                <a:gd name="T29" fmla="*/ 19 h 281"/>
                <a:gd name="T30" fmla="*/ 301 w 339"/>
                <a:gd name="T31" fmla="*/ 19 h 281"/>
                <a:gd name="T32" fmla="*/ 316 w 339"/>
                <a:gd name="T33" fmla="*/ 35 h 281"/>
                <a:gd name="T34" fmla="*/ 316 w 339"/>
                <a:gd name="T35" fmla="*/ 246 h 2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9"/>
                <a:gd name="T55" fmla="*/ 0 h 281"/>
                <a:gd name="T56" fmla="*/ 339 w 339"/>
                <a:gd name="T57" fmla="*/ 281 h 2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9" h="281">
                  <a:moveTo>
                    <a:pt x="321" y="0"/>
                  </a:moveTo>
                  <a:cubicBezTo>
                    <a:pt x="18" y="0"/>
                    <a:pt x="18" y="0"/>
                    <a:pt x="18" y="0"/>
                  </a:cubicBezTo>
                  <a:cubicBezTo>
                    <a:pt x="8" y="0"/>
                    <a:pt x="0" y="8"/>
                    <a:pt x="0" y="18"/>
                  </a:cubicBezTo>
                  <a:cubicBezTo>
                    <a:pt x="0" y="263"/>
                    <a:pt x="0" y="263"/>
                    <a:pt x="0" y="263"/>
                  </a:cubicBezTo>
                  <a:cubicBezTo>
                    <a:pt x="0" y="273"/>
                    <a:pt x="8" y="281"/>
                    <a:pt x="18" y="281"/>
                  </a:cubicBezTo>
                  <a:cubicBezTo>
                    <a:pt x="321" y="281"/>
                    <a:pt x="321" y="281"/>
                    <a:pt x="321" y="281"/>
                  </a:cubicBezTo>
                  <a:cubicBezTo>
                    <a:pt x="331" y="281"/>
                    <a:pt x="339" y="273"/>
                    <a:pt x="339" y="263"/>
                  </a:cubicBezTo>
                  <a:cubicBezTo>
                    <a:pt x="339" y="18"/>
                    <a:pt x="339" y="18"/>
                    <a:pt x="339" y="18"/>
                  </a:cubicBezTo>
                  <a:cubicBezTo>
                    <a:pt x="339" y="8"/>
                    <a:pt x="331" y="0"/>
                    <a:pt x="321" y="0"/>
                  </a:cubicBezTo>
                  <a:moveTo>
                    <a:pt x="316" y="246"/>
                  </a:moveTo>
                  <a:cubicBezTo>
                    <a:pt x="316" y="255"/>
                    <a:pt x="309" y="262"/>
                    <a:pt x="301" y="262"/>
                  </a:cubicBezTo>
                  <a:cubicBezTo>
                    <a:pt x="38" y="262"/>
                    <a:pt x="38" y="262"/>
                    <a:pt x="38" y="262"/>
                  </a:cubicBezTo>
                  <a:cubicBezTo>
                    <a:pt x="30" y="262"/>
                    <a:pt x="23" y="255"/>
                    <a:pt x="23" y="246"/>
                  </a:cubicBezTo>
                  <a:cubicBezTo>
                    <a:pt x="23" y="35"/>
                    <a:pt x="23" y="35"/>
                    <a:pt x="23" y="35"/>
                  </a:cubicBezTo>
                  <a:cubicBezTo>
                    <a:pt x="23" y="26"/>
                    <a:pt x="30" y="19"/>
                    <a:pt x="38" y="19"/>
                  </a:cubicBezTo>
                  <a:cubicBezTo>
                    <a:pt x="301" y="19"/>
                    <a:pt x="301" y="19"/>
                    <a:pt x="301" y="19"/>
                  </a:cubicBezTo>
                  <a:cubicBezTo>
                    <a:pt x="309" y="19"/>
                    <a:pt x="316" y="26"/>
                    <a:pt x="316" y="35"/>
                  </a:cubicBezTo>
                  <a:lnTo>
                    <a:pt x="316" y="24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0" name="Freeform 25"/>
            <p:cNvSpPr>
              <a:spLocks noChangeArrowheads="1"/>
            </p:cNvSpPr>
            <p:nvPr/>
          </p:nvSpPr>
          <p:spPr bwMode="auto">
            <a:xfrm>
              <a:off x="176371"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1" name="Freeform 26"/>
            <p:cNvSpPr>
              <a:spLocks noChangeArrowheads="1"/>
            </p:cNvSpPr>
            <p:nvPr/>
          </p:nvSpPr>
          <p:spPr bwMode="auto">
            <a:xfrm>
              <a:off x="176371"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2" name="Freeform 27"/>
            <p:cNvSpPr>
              <a:spLocks noChangeArrowheads="1"/>
            </p:cNvSpPr>
            <p:nvPr/>
          </p:nvSpPr>
          <p:spPr bwMode="auto">
            <a:xfrm>
              <a:off x="346744"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3" name="Freeform 28"/>
            <p:cNvSpPr>
              <a:spLocks noChangeArrowheads="1"/>
            </p:cNvSpPr>
            <p:nvPr/>
          </p:nvSpPr>
          <p:spPr bwMode="auto">
            <a:xfrm>
              <a:off x="346744"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4" name="Freeform 29"/>
            <p:cNvSpPr>
              <a:spLocks noChangeArrowheads="1"/>
            </p:cNvSpPr>
            <p:nvPr/>
          </p:nvSpPr>
          <p:spPr bwMode="auto">
            <a:xfrm>
              <a:off x="346744"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5" name="Freeform 30"/>
            <p:cNvSpPr>
              <a:spLocks noChangeArrowheads="1"/>
            </p:cNvSpPr>
            <p:nvPr/>
          </p:nvSpPr>
          <p:spPr bwMode="auto">
            <a:xfrm>
              <a:off x="519516" y="116382"/>
              <a:ext cx="83987"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6" name="Freeform 31"/>
            <p:cNvSpPr>
              <a:spLocks noChangeArrowheads="1"/>
            </p:cNvSpPr>
            <p:nvPr/>
          </p:nvSpPr>
          <p:spPr bwMode="auto">
            <a:xfrm>
              <a:off x="519516" y="274756"/>
              <a:ext cx="83987"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7" name="Freeform 32"/>
            <p:cNvSpPr>
              <a:spLocks noChangeArrowheads="1"/>
            </p:cNvSpPr>
            <p:nvPr/>
          </p:nvSpPr>
          <p:spPr bwMode="auto">
            <a:xfrm>
              <a:off x="688689" y="116382"/>
              <a:ext cx="85186"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8" name="Freeform 33"/>
            <p:cNvSpPr>
              <a:spLocks noChangeArrowheads="1"/>
            </p:cNvSpPr>
            <p:nvPr/>
          </p:nvSpPr>
          <p:spPr bwMode="auto">
            <a:xfrm>
              <a:off x="688689" y="274756"/>
              <a:ext cx="85186"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9" name="Freeform 34"/>
            <p:cNvSpPr>
              <a:spLocks noChangeArrowheads="1"/>
            </p:cNvSpPr>
            <p:nvPr/>
          </p:nvSpPr>
          <p:spPr bwMode="auto">
            <a:xfrm>
              <a:off x="176371"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sp>
        <p:nvSpPr>
          <p:cNvPr id="30" name="Freeform 84"/>
          <p:cNvSpPr>
            <a:spLocks noChangeAspect="1" noEditPoints="1" noChangeArrowheads="1"/>
          </p:cNvSpPr>
          <p:nvPr/>
        </p:nvSpPr>
        <p:spPr bwMode="auto">
          <a:xfrm>
            <a:off x="7169827" y="4205438"/>
            <a:ext cx="333822" cy="333006"/>
          </a:xfrm>
          <a:custGeom>
            <a:avLst/>
            <a:gdLst>
              <a:gd name="T0" fmla="*/ 170 w 170"/>
              <a:gd name="T1" fmla="*/ 0 h 168"/>
              <a:gd name="T2" fmla="*/ 162 w 170"/>
              <a:gd name="T3" fmla="*/ 16 h 168"/>
              <a:gd name="T4" fmla="*/ 170 w 170"/>
              <a:gd name="T5" fmla="*/ 103 h 168"/>
              <a:gd name="T6" fmla="*/ 93 w 170"/>
              <a:gd name="T7" fmla="*/ 119 h 168"/>
              <a:gd name="T8" fmla="*/ 128 w 170"/>
              <a:gd name="T9" fmla="*/ 152 h 168"/>
              <a:gd name="T10" fmla="*/ 42 w 170"/>
              <a:gd name="T11" fmla="*/ 168 h 168"/>
              <a:gd name="T12" fmla="*/ 77 w 170"/>
              <a:gd name="T13" fmla="*/ 152 h 168"/>
              <a:gd name="T14" fmla="*/ 0 w 170"/>
              <a:gd name="T15" fmla="*/ 119 h 168"/>
              <a:gd name="T16" fmla="*/ 6 w 170"/>
              <a:gd name="T17" fmla="*/ 103 h 168"/>
              <a:gd name="T18" fmla="*/ 0 w 170"/>
              <a:gd name="T19" fmla="*/ 16 h 168"/>
              <a:gd name="T20" fmla="*/ 0 w 170"/>
              <a:gd name="T21" fmla="*/ 0 h 168"/>
              <a:gd name="T22" fmla="*/ 122 w 170"/>
              <a:gd name="T23" fmla="*/ 40 h 168"/>
              <a:gd name="T24" fmla="*/ 115 w 170"/>
              <a:gd name="T25" fmla="*/ 44 h 168"/>
              <a:gd name="T26" fmla="*/ 75 w 170"/>
              <a:gd name="T27" fmla="*/ 52 h 168"/>
              <a:gd name="T28" fmla="*/ 73 w 170"/>
              <a:gd name="T29" fmla="*/ 50 h 168"/>
              <a:gd name="T30" fmla="*/ 50 w 170"/>
              <a:gd name="T31" fmla="*/ 67 h 168"/>
              <a:gd name="T32" fmla="*/ 85 w 170"/>
              <a:gd name="T33" fmla="*/ 65 h 168"/>
              <a:gd name="T34" fmla="*/ 89 w 170"/>
              <a:gd name="T35" fmla="*/ 67 h 168"/>
              <a:gd name="T36" fmla="*/ 120 w 170"/>
              <a:gd name="T37" fmla="*/ 52 h 168"/>
              <a:gd name="T38" fmla="*/ 128 w 170"/>
              <a:gd name="T39" fmla="*/ 40 h 168"/>
              <a:gd name="T40" fmla="*/ 113 w 170"/>
              <a:gd name="T41" fmla="*/ 58 h 168"/>
              <a:gd name="T42" fmla="*/ 122 w 170"/>
              <a:gd name="T43" fmla="*/ 85 h 168"/>
              <a:gd name="T44" fmla="*/ 113 w 170"/>
              <a:gd name="T45" fmla="*/ 58 h 168"/>
              <a:gd name="T46" fmla="*/ 101 w 170"/>
              <a:gd name="T47" fmla="*/ 67 h 168"/>
              <a:gd name="T48" fmla="*/ 109 w 170"/>
              <a:gd name="T49" fmla="*/ 85 h 168"/>
              <a:gd name="T50" fmla="*/ 101 w 170"/>
              <a:gd name="T51" fmla="*/ 67 h 168"/>
              <a:gd name="T52" fmla="*/ 87 w 170"/>
              <a:gd name="T53" fmla="*/ 77 h 168"/>
              <a:gd name="T54" fmla="*/ 95 w 170"/>
              <a:gd name="T55" fmla="*/ 85 h 168"/>
              <a:gd name="T56" fmla="*/ 87 w 170"/>
              <a:gd name="T57" fmla="*/ 77 h 168"/>
              <a:gd name="T58" fmla="*/ 75 w 170"/>
              <a:gd name="T59" fmla="*/ 69 h 168"/>
              <a:gd name="T60" fmla="*/ 83 w 170"/>
              <a:gd name="T61" fmla="*/ 85 h 168"/>
              <a:gd name="T62" fmla="*/ 75 w 170"/>
              <a:gd name="T63" fmla="*/ 69 h 168"/>
              <a:gd name="T64" fmla="*/ 63 w 170"/>
              <a:gd name="T65" fmla="*/ 69 h 168"/>
              <a:gd name="T66" fmla="*/ 71 w 170"/>
              <a:gd name="T67" fmla="*/ 85 h 168"/>
              <a:gd name="T68" fmla="*/ 63 w 170"/>
              <a:gd name="T69" fmla="*/ 69 h 168"/>
              <a:gd name="T70" fmla="*/ 48 w 170"/>
              <a:gd name="T71" fmla="*/ 73 h 168"/>
              <a:gd name="T72" fmla="*/ 56 w 170"/>
              <a:gd name="T73" fmla="*/ 85 h 168"/>
              <a:gd name="T74" fmla="*/ 48 w 170"/>
              <a:gd name="T75" fmla="*/ 73 h 168"/>
              <a:gd name="T76" fmla="*/ 146 w 170"/>
              <a:gd name="T77" fmla="*/ 18 h 168"/>
              <a:gd name="T78" fmla="*/ 24 w 170"/>
              <a:gd name="T79" fmla="*/ 101 h 168"/>
              <a:gd name="T80" fmla="*/ 146 w 170"/>
              <a:gd name="T81" fmla="*/ 18 h 1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
              <a:gd name="T124" fmla="*/ 0 h 168"/>
              <a:gd name="T125" fmla="*/ 170 w 170"/>
              <a:gd name="T126" fmla="*/ 168 h 1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 h="168">
                <a:moveTo>
                  <a:pt x="0" y="0"/>
                </a:moveTo>
                <a:lnTo>
                  <a:pt x="170" y="0"/>
                </a:lnTo>
                <a:lnTo>
                  <a:pt x="170" y="16"/>
                </a:lnTo>
                <a:lnTo>
                  <a:pt x="162" y="16"/>
                </a:lnTo>
                <a:lnTo>
                  <a:pt x="162" y="103"/>
                </a:lnTo>
                <a:lnTo>
                  <a:pt x="170" y="103"/>
                </a:lnTo>
                <a:lnTo>
                  <a:pt x="170" y="119"/>
                </a:lnTo>
                <a:lnTo>
                  <a:pt x="93" y="119"/>
                </a:lnTo>
                <a:lnTo>
                  <a:pt x="93" y="152"/>
                </a:lnTo>
                <a:lnTo>
                  <a:pt x="128" y="152"/>
                </a:lnTo>
                <a:lnTo>
                  <a:pt x="128" y="168"/>
                </a:lnTo>
                <a:lnTo>
                  <a:pt x="42" y="168"/>
                </a:lnTo>
                <a:lnTo>
                  <a:pt x="42" y="152"/>
                </a:lnTo>
                <a:lnTo>
                  <a:pt x="77" y="152"/>
                </a:lnTo>
                <a:lnTo>
                  <a:pt x="77" y="119"/>
                </a:lnTo>
                <a:lnTo>
                  <a:pt x="0" y="119"/>
                </a:lnTo>
                <a:lnTo>
                  <a:pt x="0" y="103"/>
                </a:lnTo>
                <a:lnTo>
                  <a:pt x="6" y="103"/>
                </a:lnTo>
                <a:lnTo>
                  <a:pt x="6" y="16"/>
                </a:lnTo>
                <a:lnTo>
                  <a:pt x="0" y="16"/>
                </a:lnTo>
                <a:lnTo>
                  <a:pt x="0" y="0"/>
                </a:lnTo>
                <a:lnTo>
                  <a:pt x="0" y="0"/>
                </a:lnTo>
                <a:close/>
                <a:moveTo>
                  <a:pt x="128" y="40"/>
                </a:moveTo>
                <a:lnTo>
                  <a:pt x="122" y="40"/>
                </a:lnTo>
                <a:lnTo>
                  <a:pt x="113" y="40"/>
                </a:lnTo>
                <a:lnTo>
                  <a:pt x="115" y="44"/>
                </a:lnTo>
                <a:lnTo>
                  <a:pt x="87" y="61"/>
                </a:lnTo>
                <a:lnTo>
                  <a:pt x="75" y="52"/>
                </a:lnTo>
                <a:lnTo>
                  <a:pt x="75" y="50"/>
                </a:lnTo>
                <a:lnTo>
                  <a:pt x="73" y="50"/>
                </a:lnTo>
                <a:lnTo>
                  <a:pt x="48" y="61"/>
                </a:lnTo>
                <a:lnTo>
                  <a:pt x="50" y="67"/>
                </a:lnTo>
                <a:lnTo>
                  <a:pt x="73" y="56"/>
                </a:lnTo>
                <a:lnTo>
                  <a:pt x="85" y="65"/>
                </a:lnTo>
                <a:lnTo>
                  <a:pt x="87" y="67"/>
                </a:lnTo>
                <a:lnTo>
                  <a:pt x="89" y="67"/>
                </a:lnTo>
                <a:lnTo>
                  <a:pt x="117" y="48"/>
                </a:lnTo>
                <a:lnTo>
                  <a:pt x="120" y="52"/>
                </a:lnTo>
                <a:lnTo>
                  <a:pt x="124" y="46"/>
                </a:lnTo>
                <a:lnTo>
                  <a:pt x="128" y="40"/>
                </a:lnTo>
                <a:lnTo>
                  <a:pt x="128" y="40"/>
                </a:lnTo>
                <a:close/>
                <a:moveTo>
                  <a:pt x="113" y="58"/>
                </a:moveTo>
                <a:lnTo>
                  <a:pt x="113" y="85"/>
                </a:lnTo>
                <a:lnTo>
                  <a:pt x="122" y="85"/>
                </a:lnTo>
                <a:lnTo>
                  <a:pt x="122" y="58"/>
                </a:lnTo>
                <a:lnTo>
                  <a:pt x="113" y="58"/>
                </a:lnTo>
                <a:lnTo>
                  <a:pt x="113" y="58"/>
                </a:lnTo>
                <a:close/>
                <a:moveTo>
                  <a:pt x="101" y="67"/>
                </a:moveTo>
                <a:lnTo>
                  <a:pt x="101" y="85"/>
                </a:lnTo>
                <a:lnTo>
                  <a:pt x="109" y="85"/>
                </a:lnTo>
                <a:lnTo>
                  <a:pt x="109" y="67"/>
                </a:lnTo>
                <a:lnTo>
                  <a:pt x="101" y="67"/>
                </a:lnTo>
                <a:lnTo>
                  <a:pt x="101" y="67"/>
                </a:lnTo>
                <a:close/>
                <a:moveTo>
                  <a:pt x="87" y="77"/>
                </a:moveTo>
                <a:lnTo>
                  <a:pt x="87" y="85"/>
                </a:lnTo>
                <a:lnTo>
                  <a:pt x="95" y="85"/>
                </a:lnTo>
                <a:lnTo>
                  <a:pt x="95" y="77"/>
                </a:lnTo>
                <a:lnTo>
                  <a:pt x="87" y="77"/>
                </a:lnTo>
                <a:lnTo>
                  <a:pt x="87" y="77"/>
                </a:lnTo>
                <a:close/>
                <a:moveTo>
                  <a:pt x="75" y="69"/>
                </a:moveTo>
                <a:lnTo>
                  <a:pt x="75" y="85"/>
                </a:lnTo>
                <a:lnTo>
                  <a:pt x="83" y="85"/>
                </a:lnTo>
                <a:lnTo>
                  <a:pt x="83" y="69"/>
                </a:lnTo>
                <a:lnTo>
                  <a:pt x="75" y="69"/>
                </a:lnTo>
                <a:lnTo>
                  <a:pt x="75" y="69"/>
                </a:lnTo>
                <a:close/>
                <a:moveTo>
                  <a:pt x="63" y="69"/>
                </a:moveTo>
                <a:lnTo>
                  <a:pt x="63" y="85"/>
                </a:lnTo>
                <a:lnTo>
                  <a:pt x="71" y="85"/>
                </a:lnTo>
                <a:lnTo>
                  <a:pt x="71" y="69"/>
                </a:lnTo>
                <a:lnTo>
                  <a:pt x="63" y="69"/>
                </a:lnTo>
                <a:lnTo>
                  <a:pt x="63" y="69"/>
                </a:lnTo>
                <a:close/>
                <a:moveTo>
                  <a:pt x="48" y="73"/>
                </a:moveTo>
                <a:lnTo>
                  <a:pt x="48" y="85"/>
                </a:lnTo>
                <a:lnTo>
                  <a:pt x="56" y="85"/>
                </a:lnTo>
                <a:lnTo>
                  <a:pt x="56" y="73"/>
                </a:lnTo>
                <a:lnTo>
                  <a:pt x="48" y="73"/>
                </a:lnTo>
                <a:lnTo>
                  <a:pt x="48" y="73"/>
                </a:lnTo>
                <a:close/>
                <a:moveTo>
                  <a:pt x="146" y="18"/>
                </a:moveTo>
                <a:lnTo>
                  <a:pt x="24" y="18"/>
                </a:lnTo>
                <a:lnTo>
                  <a:pt x="24" y="101"/>
                </a:lnTo>
                <a:lnTo>
                  <a:pt x="146" y="101"/>
                </a:lnTo>
                <a:lnTo>
                  <a:pt x="146" y="18"/>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1" name="Freeform 9"/>
          <p:cNvSpPr>
            <a:spLocks noChangeAspect="1" noEditPoints="1" noChangeArrowheads="1"/>
          </p:cNvSpPr>
          <p:nvPr/>
        </p:nvSpPr>
        <p:spPr bwMode="auto">
          <a:xfrm>
            <a:off x="9150738" y="4205437"/>
            <a:ext cx="361886" cy="333007"/>
          </a:xfrm>
          <a:custGeom>
            <a:avLst/>
            <a:gdLst>
              <a:gd name="T0" fmla="*/ 141 w 181"/>
              <a:gd name="T1" fmla="*/ 0 h 165"/>
              <a:gd name="T2" fmla="*/ 149 w 181"/>
              <a:gd name="T3" fmla="*/ 8 h 165"/>
              <a:gd name="T4" fmla="*/ 134 w 181"/>
              <a:gd name="T5" fmla="*/ 47 h 165"/>
              <a:gd name="T6" fmla="*/ 33 w 181"/>
              <a:gd name="T7" fmla="*/ 14 h 165"/>
              <a:gd name="T8" fmla="*/ 39 w 181"/>
              <a:gd name="T9" fmla="*/ 20 h 165"/>
              <a:gd name="T10" fmla="*/ 51 w 181"/>
              <a:gd name="T11" fmla="*/ 31 h 165"/>
              <a:gd name="T12" fmla="*/ 33 w 181"/>
              <a:gd name="T13" fmla="*/ 39 h 165"/>
              <a:gd name="T14" fmla="*/ 39 w 181"/>
              <a:gd name="T15" fmla="*/ 45 h 165"/>
              <a:gd name="T16" fmla="*/ 51 w 181"/>
              <a:gd name="T17" fmla="*/ 55 h 165"/>
              <a:gd name="T18" fmla="*/ 33 w 181"/>
              <a:gd name="T19" fmla="*/ 63 h 165"/>
              <a:gd name="T20" fmla="*/ 39 w 181"/>
              <a:gd name="T21" fmla="*/ 67 h 165"/>
              <a:gd name="T22" fmla="*/ 51 w 181"/>
              <a:gd name="T23" fmla="*/ 77 h 165"/>
              <a:gd name="T24" fmla="*/ 33 w 181"/>
              <a:gd name="T25" fmla="*/ 86 h 165"/>
              <a:gd name="T26" fmla="*/ 39 w 181"/>
              <a:gd name="T27" fmla="*/ 90 h 165"/>
              <a:gd name="T28" fmla="*/ 51 w 181"/>
              <a:gd name="T29" fmla="*/ 100 h 165"/>
              <a:gd name="T30" fmla="*/ 33 w 181"/>
              <a:gd name="T31" fmla="*/ 110 h 165"/>
              <a:gd name="T32" fmla="*/ 39 w 181"/>
              <a:gd name="T33" fmla="*/ 116 h 165"/>
              <a:gd name="T34" fmla="*/ 51 w 181"/>
              <a:gd name="T35" fmla="*/ 126 h 165"/>
              <a:gd name="T36" fmla="*/ 33 w 181"/>
              <a:gd name="T37" fmla="*/ 134 h 165"/>
              <a:gd name="T38" fmla="*/ 33 w 181"/>
              <a:gd name="T39" fmla="*/ 151 h 165"/>
              <a:gd name="T40" fmla="*/ 134 w 181"/>
              <a:gd name="T41" fmla="*/ 118 h 165"/>
              <a:gd name="T42" fmla="*/ 149 w 181"/>
              <a:gd name="T43" fmla="*/ 157 h 165"/>
              <a:gd name="T44" fmla="*/ 141 w 181"/>
              <a:gd name="T45" fmla="*/ 165 h 165"/>
              <a:gd name="T46" fmla="*/ 19 w 181"/>
              <a:gd name="T47" fmla="*/ 165 h 165"/>
              <a:gd name="T48" fmla="*/ 19 w 181"/>
              <a:gd name="T49" fmla="*/ 146 h 165"/>
              <a:gd name="T50" fmla="*/ 0 w 181"/>
              <a:gd name="T51" fmla="*/ 132 h 165"/>
              <a:gd name="T52" fmla="*/ 19 w 181"/>
              <a:gd name="T53" fmla="*/ 120 h 165"/>
              <a:gd name="T54" fmla="*/ 0 w 181"/>
              <a:gd name="T55" fmla="*/ 108 h 165"/>
              <a:gd name="T56" fmla="*/ 19 w 181"/>
              <a:gd name="T57" fmla="*/ 98 h 165"/>
              <a:gd name="T58" fmla="*/ 0 w 181"/>
              <a:gd name="T59" fmla="*/ 83 h 165"/>
              <a:gd name="T60" fmla="*/ 19 w 181"/>
              <a:gd name="T61" fmla="*/ 75 h 165"/>
              <a:gd name="T62" fmla="*/ 0 w 181"/>
              <a:gd name="T63" fmla="*/ 61 h 165"/>
              <a:gd name="T64" fmla="*/ 19 w 181"/>
              <a:gd name="T65" fmla="*/ 51 h 165"/>
              <a:gd name="T66" fmla="*/ 0 w 181"/>
              <a:gd name="T67" fmla="*/ 39 h 165"/>
              <a:gd name="T68" fmla="*/ 19 w 181"/>
              <a:gd name="T69" fmla="*/ 8 h 165"/>
              <a:gd name="T70" fmla="*/ 27 w 181"/>
              <a:gd name="T71" fmla="*/ 0 h 165"/>
              <a:gd name="T72" fmla="*/ 63 w 181"/>
              <a:gd name="T73" fmla="*/ 79 h 165"/>
              <a:gd name="T74" fmla="*/ 84 w 181"/>
              <a:gd name="T75" fmla="*/ 88 h 165"/>
              <a:gd name="T76" fmla="*/ 63 w 181"/>
              <a:gd name="T77" fmla="*/ 79 h 165"/>
              <a:gd name="T78" fmla="*/ 63 w 181"/>
              <a:gd name="T79" fmla="*/ 61 h 165"/>
              <a:gd name="T80" fmla="*/ 100 w 181"/>
              <a:gd name="T81" fmla="*/ 69 h 165"/>
              <a:gd name="T82" fmla="*/ 63 w 181"/>
              <a:gd name="T83" fmla="*/ 61 h 165"/>
              <a:gd name="T84" fmla="*/ 63 w 181"/>
              <a:gd name="T85" fmla="*/ 45 h 165"/>
              <a:gd name="T86" fmla="*/ 116 w 181"/>
              <a:gd name="T87" fmla="*/ 53 h 165"/>
              <a:gd name="T88" fmla="*/ 63 w 181"/>
              <a:gd name="T89" fmla="*/ 45 h 165"/>
              <a:gd name="T90" fmla="*/ 63 w 181"/>
              <a:gd name="T91" fmla="*/ 29 h 165"/>
              <a:gd name="T92" fmla="*/ 116 w 181"/>
              <a:gd name="T93" fmla="*/ 35 h 165"/>
              <a:gd name="T94" fmla="*/ 63 w 181"/>
              <a:gd name="T95" fmla="*/ 29 h 165"/>
              <a:gd name="T96" fmla="*/ 84 w 181"/>
              <a:gd name="T97" fmla="*/ 130 h 165"/>
              <a:gd name="T98" fmla="*/ 106 w 181"/>
              <a:gd name="T99" fmla="*/ 130 h 165"/>
              <a:gd name="T100" fmla="*/ 86 w 181"/>
              <a:gd name="T101" fmla="*/ 108 h 165"/>
              <a:gd name="T102" fmla="*/ 84 w 181"/>
              <a:gd name="T103" fmla="*/ 130 h 165"/>
              <a:gd name="T104" fmla="*/ 161 w 181"/>
              <a:gd name="T105" fmla="*/ 37 h 165"/>
              <a:gd name="T106" fmla="*/ 116 w 181"/>
              <a:gd name="T107" fmla="*/ 120 h 165"/>
              <a:gd name="T108" fmla="*/ 161 w 181"/>
              <a:gd name="T109" fmla="*/ 37 h 1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1"/>
              <a:gd name="T166" fmla="*/ 0 h 165"/>
              <a:gd name="T167" fmla="*/ 181 w 181"/>
              <a:gd name="T168" fmla="*/ 165 h 1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1" h="165">
                <a:moveTo>
                  <a:pt x="27" y="0"/>
                </a:moveTo>
                <a:lnTo>
                  <a:pt x="141" y="0"/>
                </a:lnTo>
                <a:lnTo>
                  <a:pt x="149" y="0"/>
                </a:lnTo>
                <a:lnTo>
                  <a:pt x="149" y="8"/>
                </a:lnTo>
                <a:lnTo>
                  <a:pt x="149" y="35"/>
                </a:lnTo>
                <a:lnTo>
                  <a:pt x="134" y="47"/>
                </a:lnTo>
                <a:lnTo>
                  <a:pt x="134" y="14"/>
                </a:lnTo>
                <a:lnTo>
                  <a:pt x="33" y="14"/>
                </a:lnTo>
                <a:lnTo>
                  <a:pt x="33" y="25"/>
                </a:lnTo>
                <a:lnTo>
                  <a:pt x="39" y="20"/>
                </a:lnTo>
                <a:lnTo>
                  <a:pt x="47" y="18"/>
                </a:lnTo>
                <a:lnTo>
                  <a:pt x="51" y="31"/>
                </a:lnTo>
                <a:lnTo>
                  <a:pt x="45" y="35"/>
                </a:lnTo>
                <a:lnTo>
                  <a:pt x="33" y="39"/>
                </a:lnTo>
                <a:lnTo>
                  <a:pt x="33" y="47"/>
                </a:lnTo>
                <a:lnTo>
                  <a:pt x="39" y="45"/>
                </a:lnTo>
                <a:lnTo>
                  <a:pt x="47" y="41"/>
                </a:lnTo>
                <a:lnTo>
                  <a:pt x="51" y="55"/>
                </a:lnTo>
                <a:lnTo>
                  <a:pt x="45" y="57"/>
                </a:lnTo>
                <a:lnTo>
                  <a:pt x="33" y="63"/>
                </a:lnTo>
                <a:lnTo>
                  <a:pt x="33" y="71"/>
                </a:lnTo>
                <a:lnTo>
                  <a:pt x="39" y="67"/>
                </a:lnTo>
                <a:lnTo>
                  <a:pt x="47" y="65"/>
                </a:lnTo>
                <a:lnTo>
                  <a:pt x="51" y="77"/>
                </a:lnTo>
                <a:lnTo>
                  <a:pt x="45" y="81"/>
                </a:lnTo>
                <a:lnTo>
                  <a:pt x="33" y="86"/>
                </a:lnTo>
                <a:lnTo>
                  <a:pt x="33" y="94"/>
                </a:lnTo>
                <a:lnTo>
                  <a:pt x="39" y="90"/>
                </a:lnTo>
                <a:lnTo>
                  <a:pt x="47" y="88"/>
                </a:lnTo>
                <a:lnTo>
                  <a:pt x="51" y="100"/>
                </a:lnTo>
                <a:lnTo>
                  <a:pt x="45" y="104"/>
                </a:lnTo>
                <a:lnTo>
                  <a:pt x="33" y="110"/>
                </a:lnTo>
                <a:lnTo>
                  <a:pt x="33" y="118"/>
                </a:lnTo>
                <a:lnTo>
                  <a:pt x="39" y="116"/>
                </a:lnTo>
                <a:lnTo>
                  <a:pt x="47" y="112"/>
                </a:lnTo>
                <a:lnTo>
                  <a:pt x="51" y="126"/>
                </a:lnTo>
                <a:lnTo>
                  <a:pt x="45" y="128"/>
                </a:lnTo>
                <a:lnTo>
                  <a:pt x="33" y="134"/>
                </a:lnTo>
                <a:lnTo>
                  <a:pt x="33" y="146"/>
                </a:lnTo>
                <a:lnTo>
                  <a:pt x="33" y="151"/>
                </a:lnTo>
                <a:lnTo>
                  <a:pt x="134" y="151"/>
                </a:lnTo>
                <a:lnTo>
                  <a:pt x="134" y="118"/>
                </a:lnTo>
                <a:lnTo>
                  <a:pt x="149" y="106"/>
                </a:lnTo>
                <a:lnTo>
                  <a:pt x="149" y="157"/>
                </a:lnTo>
                <a:lnTo>
                  <a:pt x="149" y="165"/>
                </a:lnTo>
                <a:lnTo>
                  <a:pt x="141" y="165"/>
                </a:lnTo>
                <a:lnTo>
                  <a:pt x="27" y="165"/>
                </a:lnTo>
                <a:lnTo>
                  <a:pt x="19" y="165"/>
                </a:lnTo>
                <a:lnTo>
                  <a:pt x="19" y="157"/>
                </a:lnTo>
                <a:lnTo>
                  <a:pt x="19" y="146"/>
                </a:lnTo>
                <a:lnTo>
                  <a:pt x="4" y="146"/>
                </a:lnTo>
                <a:lnTo>
                  <a:pt x="0" y="132"/>
                </a:lnTo>
                <a:lnTo>
                  <a:pt x="19" y="124"/>
                </a:lnTo>
                <a:lnTo>
                  <a:pt x="19" y="120"/>
                </a:lnTo>
                <a:lnTo>
                  <a:pt x="4" y="120"/>
                </a:lnTo>
                <a:lnTo>
                  <a:pt x="0" y="108"/>
                </a:lnTo>
                <a:lnTo>
                  <a:pt x="19" y="100"/>
                </a:lnTo>
                <a:lnTo>
                  <a:pt x="19" y="98"/>
                </a:lnTo>
                <a:lnTo>
                  <a:pt x="4" y="98"/>
                </a:lnTo>
                <a:lnTo>
                  <a:pt x="0" y="83"/>
                </a:lnTo>
                <a:lnTo>
                  <a:pt x="19" y="77"/>
                </a:lnTo>
                <a:lnTo>
                  <a:pt x="19" y="75"/>
                </a:lnTo>
                <a:lnTo>
                  <a:pt x="4" y="75"/>
                </a:lnTo>
                <a:lnTo>
                  <a:pt x="0" y="61"/>
                </a:lnTo>
                <a:lnTo>
                  <a:pt x="19" y="53"/>
                </a:lnTo>
                <a:lnTo>
                  <a:pt x="19" y="51"/>
                </a:lnTo>
                <a:lnTo>
                  <a:pt x="4" y="51"/>
                </a:lnTo>
                <a:lnTo>
                  <a:pt x="0" y="39"/>
                </a:lnTo>
                <a:lnTo>
                  <a:pt x="19" y="31"/>
                </a:lnTo>
                <a:lnTo>
                  <a:pt x="19" y="8"/>
                </a:lnTo>
                <a:lnTo>
                  <a:pt x="19" y="0"/>
                </a:lnTo>
                <a:lnTo>
                  <a:pt x="27" y="0"/>
                </a:lnTo>
                <a:lnTo>
                  <a:pt x="27" y="0"/>
                </a:lnTo>
                <a:close/>
                <a:moveTo>
                  <a:pt x="63" y="79"/>
                </a:moveTo>
                <a:lnTo>
                  <a:pt x="63" y="88"/>
                </a:lnTo>
                <a:lnTo>
                  <a:pt x="84" y="88"/>
                </a:lnTo>
                <a:lnTo>
                  <a:pt x="84" y="79"/>
                </a:lnTo>
                <a:lnTo>
                  <a:pt x="63" y="79"/>
                </a:lnTo>
                <a:lnTo>
                  <a:pt x="63" y="79"/>
                </a:lnTo>
                <a:close/>
                <a:moveTo>
                  <a:pt x="63" y="61"/>
                </a:moveTo>
                <a:lnTo>
                  <a:pt x="63" y="69"/>
                </a:lnTo>
                <a:lnTo>
                  <a:pt x="100" y="69"/>
                </a:lnTo>
                <a:lnTo>
                  <a:pt x="100" y="61"/>
                </a:lnTo>
                <a:lnTo>
                  <a:pt x="63" y="61"/>
                </a:lnTo>
                <a:lnTo>
                  <a:pt x="63" y="61"/>
                </a:lnTo>
                <a:close/>
                <a:moveTo>
                  <a:pt x="63" y="45"/>
                </a:moveTo>
                <a:lnTo>
                  <a:pt x="63" y="53"/>
                </a:lnTo>
                <a:lnTo>
                  <a:pt x="116" y="53"/>
                </a:lnTo>
                <a:lnTo>
                  <a:pt x="116" y="45"/>
                </a:lnTo>
                <a:lnTo>
                  <a:pt x="63" y="45"/>
                </a:lnTo>
                <a:lnTo>
                  <a:pt x="63" y="45"/>
                </a:lnTo>
                <a:close/>
                <a:moveTo>
                  <a:pt x="63" y="29"/>
                </a:moveTo>
                <a:lnTo>
                  <a:pt x="63" y="35"/>
                </a:lnTo>
                <a:lnTo>
                  <a:pt x="116" y="35"/>
                </a:lnTo>
                <a:lnTo>
                  <a:pt x="116" y="29"/>
                </a:lnTo>
                <a:lnTo>
                  <a:pt x="63" y="29"/>
                </a:lnTo>
                <a:lnTo>
                  <a:pt x="63" y="29"/>
                </a:lnTo>
                <a:close/>
                <a:moveTo>
                  <a:pt x="84" y="130"/>
                </a:moveTo>
                <a:lnTo>
                  <a:pt x="96" y="130"/>
                </a:lnTo>
                <a:lnTo>
                  <a:pt x="106" y="130"/>
                </a:lnTo>
                <a:lnTo>
                  <a:pt x="96" y="118"/>
                </a:lnTo>
                <a:lnTo>
                  <a:pt x="86" y="108"/>
                </a:lnTo>
                <a:lnTo>
                  <a:pt x="86" y="120"/>
                </a:lnTo>
                <a:lnTo>
                  <a:pt x="84" y="130"/>
                </a:lnTo>
                <a:lnTo>
                  <a:pt x="84" y="130"/>
                </a:lnTo>
                <a:close/>
                <a:moveTo>
                  <a:pt x="161" y="37"/>
                </a:moveTo>
                <a:lnTo>
                  <a:pt x="96" y="100"/>
                </a:lnTo>
                <a:lnTo>
                  <a:pt x="116" y="120"/>
                </a:lnTo>
                <a:lnTo>
                  <a:pt x="181" y="57"/>
                </a:lnTo>
                <a:lnTo>
                  <a:pt x="161" y="37"/>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Tree>
    <p:extLst>
      <p:ext uri="{BB962C8B-B14F-4D97-AF65-F5344CB8AC3E}">
        <p14:creationId xmlns:p14="http://schemas.microsoft.com/office/powerpoint/2010/main" val="13600918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1.</a:t>
            </a:r>
            <a:r>
              <a:rPr lang="zh-CN" altLang="en-US" sz="2800" dirty="0">
                <a:solidFill>
                  <a:srgbClr val="000000">
                    <a:lumMod val="75000"/>
                    <a:lumOff val="25000"/>
                  </a:srgbClr>
                </a:solidFill>
              </a:rPr>
              <a:t>阅读论文时的小疑问</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pic>
        <p:nvPicPr>
          <p:cNvPr id="5" name="图片 4">
            <a:extLst>
              <a:ext uri="{FF2B5EF4-FFF2-40B4-BE49-F238E27FC236}">
                <a16:creationId xmlns:a16="http://schemas.microsoft.com/office/drawing/2014/main" id="{085DFE1F-6C15-92C9-51FE-23BF94A1D321}"/>
              </a:ext>
            </a:extLst>
          </p:cNvPr>
          <p:cNvPicPr>
            <a:picLocks noChangeAspect="1"/>
          </p:cNvPicPr>
          <p:nvPr/>
        </p:nvPicPr>
        <p:blipFill>
          <a:blip r:embed="rId3"/>
          <a:stretch>
            <a:fillRect/>
          </a:stretch>
        </p:blipFill>
        <p:spPr>
          <a:xfrm>
            <a:off x="981075" y="1393507"/>
            <a:ext cx="10229850" cy="4276725"/>
          </a:xfrm>
          <a:prstGeom prst="rect">
            <a:avLst/>
          </a:prstGeom>
        </p:spPr>
      </p:pic>
    </p:spTree>
    <p:extLst>
      <p:ext uri="{BB962C8B-B14F-4D97-AF65-F5344CB8AC3E}">
        <p14:creationId xmlns:p14="http://schemas.microsoft.com/office/powerpoint/2010/main" val="22654124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2</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lang="zh-CN" altLang="en-US" sz="2800" dirty="0">
                <a:solidFill>
                  <a:srgbClr val="000000">
                    <a:lumMod val="75000"/>
                    <a:lumOff val="25000"/>
                  </a:srgbClr>
                </a:solidFill>
              </a:rPr>
              <a:t>存在的问题</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926459F8-302B-C7D5-23DD-186DF684852E}"/>
              </a:ext>
            </a:extLst>
          </p:cNvPr>
          <p:cNvSpPr txBox="1"/>
          <p:nvPr/>
        </p:nvSpPr>
        <p:spPr>
          <a:xfrm>
            <a:off x="687118" y="1113667"/>
            <a:ext cx="9657031" cy="1477328"/>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基础较差，阅读较慢</a:t>
            </a:r>
            <a:endParaRPr lang="en-US" altLang="zh-CN" b="1" dirty="0">
              <a:solidFill>
                <a:srgbClr val="268F9C"/>
              </a:solidFill>
              <a:latin typeface="+mn-ea"/>
            </a:endParaRPr>
          </a:p>
          <a:p>
            <a:pPr marL="285750" indent="-285750">
              <a:buFont typeface="Wingdings" panose="05000000000000000000" pitchFamily="2" charset="2"/>
              <a:buChar char="Ø"/>
            </a:pPr>
            <a:endParaRPr lang="en-US" altLang="zh-CN" b="1" dirty="0">
              <a:solidFill>
                <a:srgbClr val="268F9C"/>
              </a:solidFill>
              <a:latin typeface="+mn-ea"/>
            </a:endParaRPr>
          </a:p>
          <a:p>
            <a:pPr marL="285750" indent="-285750">
              <a:buFont typeface="Wingdings" panose="05000000000000000000" pitchFamily="2" charset="2"/>
              <a:buChar char="Ø"/>
            </a:pPr>
            <a:r>
              <a:rPr lang="zh-CN" altLang="en-US" b="1" dirty="0">
                <a:solidFill>
                  <a:srgbClr val="268F9C"/>
                </a:solidFill>
                <a:latin typeface="+mn-ea"/>
              </a:rPr>
              <a:t>代码运行不了，并且缺乏相关编程经验</a:t>
            </a:r>
            <a:endParaRPr lang="en-US" altLang="zh-CN" b="1" dirty="0">
              <a:solidFill>
                <a:srgbClr val="268F9C"/>
              </a:solidFill>
              <a:latin typeface="+mn-ea"/>
            </a:endParaRPr>
          </a:p>
          <a:p>
            <a:pPr marL="285750" indent="-285750">
              <a:buFont typeface="Wingdings" panose="05000000000000000000" pitchFamily="2" charset="2"/>
              <a:buChar char="Ø"/>
            </a:pPr>
            <a:endParaRPr lang="en-US" altLang="zh-CN" b="1" dirty="0">
              <a:solidFill>
                <a:srgbClr val="268F9C"/>
              </a:solidFill>
              <a:latin typeface="+mn-ea"/>
            </a:endParaRPr>
          </a:p>
          <a:p>
            <a:pPr marL="285750" indent="-285750">
              <a:buFont typeface="Wingdings" panose="05000000000000000000" pitchFamily="2" charset="2"/>
              <a:buChar char="Ø"/>
            </a:pPr>
            <a:endParaRPr lang="en-US" altLang="zh-CN" b="1" dirty="0">
              <a:solidFill>
                <a:srgbClr val="268F9C"/>
              </a:solidFill>
              <a:latin typeface="+mn-ea"/>
            </a:endParaRPr>
          </a:p>
        </p:txBody>
      </p:sp>
    </p:spTree>
    <p:extLst>
      <p:ext uri="{BB962C8B-B14F-4D97-AF65-F5344CB8AC3E}">
        <p14:creationId xmlns:p14="http://schemas.microsoft.com/office/powerpoint/2010/main" val="11073254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3.</a:t>
            </a:r>
            <a:r>
              <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一些小想法</a:t>
            </a:r>
          </a:p>
        </p:txBody>
      </p:sp>
      <p:sp>
        <p:nvSpPr>
          <p:cNvPr id="4" name="文本框 3">
            <a:extLst>
              <a:ext uri="{FF2B5EF4-FFF2-40B4-BE49-F238E27FC236}">
                <a16:creationId xmlns:a16="http://schemas.microsoft.com/office/drawing/2014/main" id="{926459F8-302B-C7D5-23DD-186DF684852E}"/>
              </a:ext>
            </a:extLst>
          </p:cNvPr>
          <p:cNvSpPr txBox="1"/>
          <p:nvPr/>
        </p:nvSpPr>
        <p:spPr>
          <a:xfrm>
            <a:off x="687118" y="1113667"/>
            <a:ext cx="9657031"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线性微调后的模型，相当于加了一个全连接层</a:t>
            </a:r>
            <a:endParaRPr lang="en-US" altLang="zh-CN" b="1" dirty="0">
              <a:solidFill>
                <a:srgbClr val="268F9C"/>
              </a:solidFill>
              <a:latin typeface="+mn-ea"/>
            </a:endParaRPr>
          </a:p>
        </p:txBody>
      </p:sp>
      <p:pic>
        <p:nvPicPr>
          <p:cNvPr id="2" name="图片 1">
            <a:extLst>
              <a:ext uri="{FF2B5EF4-FFF2-40B4-BE49-F238E27FC236}">
                <a16:creationId xmlns:a16="http://schemas.microsoft.com/office/drawing/2014/main" id="{67BA3645-2556-D915-94FD-3FEAD144E5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0033" y="1786875"/>
            <a:ext cx="5791200" cy="446518"/>
          </a:xfrm>
          <a:prstGeom prst="rect">
            <a:avLst/>
          </a:prstGeom>
        </p:spPr>
      </p:pic>
      <p:sp>
        <p:nvSpPr>
          <p:cNvPr id="5" name="文本框 4">
            <a:extLst>
              <a:ext uri="{FF2B5EF4-FFF2-40B4-BE49-F238E27FC236}">
                <a16:creationId xmlns:a16="http://schemas.microsoft.com/office/drawing/2014/main" id="{A5ABB680-7FA4-1A12-FFC5-E3D3ECCF3CFA}"/>
              </a:ext>
            </a:extLst>
          </p:cNvPr>
          <p:cNvSpPr txBox="1"/>
          <p:nvPr/>
        </p:nvSpPr>
        <p:spPr>
          <a:xfrm>
            <a:off x="687118" y="3244334"/>
            <a:ext cx="9657031"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在模型权重合并前，能否使用最优传输，使他们的任务向量更加正交，减轻他们之间的干扰？</a:t>
            </a:r>
            <a:endParaRPr lang="en-US" altLang="zh-CN" b="1" dirty="0">
              <a:solidFill>
                <a:srgbClr val="268F9C"/>
              </a:solidFill>
              <a:latin typeface="+mn-ea"/>
            </a:endParaRPr>
          </a:p>
        </p:txBody>
      </p:sp>
    </p:spTree>
    <p:extLst>
      <p:ext uri="{BB962C8B-B14F-4D97-AF65-F5344CB8AC3E}">
        <p14:creationId xmlns:p14="http://schemas.microsoft.com/office/powerpoint/2010/main" val="14086845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28592" y="776798"/>
            <a:ext cx="5070060" cy="5454498"/>
          </a:xfrm>
          <a:prstGeom prst="rect">
            <a:avLst/>
          </a:prstGeom>
          <a:effectLst>
            <a:innerShdw blurRad="63500" dist="50800" dir="16200000">
              <a:prstClr val="black">
                <a:alpha val="50000"/>
              </a:prstClr>
            </a:innerShdw>
          </a:effectLst>
        </p:spPr>
      </p:pic>
      <p:sp>
        <p:nvSpPr>
          <p:cNvPr id="4" name="TextBox 13"/>
          <p:cNvSpPr txBox="1"/>
          <p:nvPr/>
        </p:nvSpPr>
        <p:spPr>
          <a:xfrm>
            <a:off x="6625590" y="2456034"/>
            <a:ext cx="3696764" cy="1200329"/>
          </a:xfrm>
          <a:prstGeom prst="rect">
            <a:avLst/>
          </a:prstGeom>
          <a:noFill/>
        </p:spPr>
        <p:txBody>
          <a:bodyPr wrap="square" rtlCol="0">
            <a:spAutoFit/>
          </a:bodyPr>
          <a:lstStyle/>
          <a:p>
            <a:pPr lvl="0" algn="ctr">
              <a:defRPr/>
            </a:pPr>
            <a:r>
              <a:rPr lang="zh-CN" altLang="en-US" sz="3600" dirty="0">
                <a:latin typeface="Lato" panose="020F0502020204030203" pitchFamily="34" charset="0"/>
                <a:ea typeface="+mj-ea"/>
              </a:rPr>
              <a:t>谢谢聆听</a:t>
            </a:r>
            <a:endParaRPr lang="en-US" altLang="zh-CN" sz="3600" dirty="0">
              <a:latin typeface="Lato" panose="020F0502020204030203" pitchFamily="34" charset="0"/>
              <a:ea typeface="+mj-ea"/>
            </a:endParaRPr>
          </a:p>
          <a:p>
            <a:pPr lvl="0" algn="ctr">
              <a:defRPr/>
            </a:pPr>
            <a:r>
              <a:rPr lang="zh-CN" altLang="en-US" sz="3600" dirty="0">
                <a:latin typeface="Lato" panose="020F0502020204030203" pitchFamily="34" charset="0"/>
                <a:ea typeface="+mj-ea"/>
              </a:rPr>
              <a:t>请老师批评指正</a:t>
            </a:r>
            <a:endParaRPr lang="en-US" altLang="zh-CN" sz="3600" dirty="0">
              <a:latin typeface="+mj-ea"/>
              <a:ea typeface="+mj-ea"/>
            </a:endParaRPr>
          </a:p>
        </p:txBody>
      </p:sp>
      <p:grpSp>
        <p:nvGrpSpPr>
          <p:cNvPr id="5" name="组合 4"/>
          <p:cNvGrpSpPr/>
          <p:nvPr/>
        </p:nvGrpSpPr>
        <p:grpSpPr>
          <a:xfrm>
            <a:off x="5741065" y="3837410"/>
            <a:ext cx="5863771" cy="57767"/>
            <a:chOff x="5280505" y="3963496"/>
            <a:chExt cx="5863771" cy="57767"/>
          </a:xfrm>
          <a:solidFill>
            <a:schemeClr val="tx1"/>
          </a:solidFill>
        </p:grpSpPr>
        <p:sp>
          <p:nvSpPr>
            <p:cNvPr id="6" name="任意多边形 16"/>
            <p:cNvSpPr/>
            <p:nvPr/>
          </p:nvSpPr>
          <p:spPr>
            <a:xfrm>
              <a:off x="5280505" y="3992380"/>
              <a:ext cx="5863771" cy="0"/>
            </a:xfrm>
            <a:custGeom>
              <a:avLst/>
              <a:gdLst>
                <a:gd name="connsiteX0" fmla="*/ 0 w 5863771"/>
                <a:gd name="connsiteY0" fmla="*/ 0 h 0"/>
                <a:gd name="connsiteX1" fmla="*/ 58057 w 5863771"/>
                <a:gd name="connsiteY1" fmla="*/ 0 h 0"/>
                <a:gd name="connsiteX2" fmla="*/ 5863771 w 5863771"/>
                <a:gd name="connsiteY2" fmla="*/ 0 h 0"/>
              </a:gdLst>
              <a:ahLst/>
              <a:cxnLst>
                <a:cxn ang="0">
                  <a:pos x="connsiteX0" y="connsiteY0"/>
                </a:cxn>
                <a:cxn ang="0">
                  <a:pos x="connsiteX1" y="connsiteY1"/>
                </a:cxn>
                <a:cxn ang="0">
                  <a:pos x="connsiteX2" y="connsiteY2"/>
                </a:cxn>
              </a:cxnLst>
              <a:rect l="l" t="t" r="r" b="b"/>
              <a:pathLst>
                <a:path w="5863771">
                  <a:moveTo>
                    <a:pt x="0" y="0"/>
                  </a:moveTo>
                  <a:lnTo>
                    <a:pt x="58057" y="0"/>
                  </a:lnTo>
                  <a:lnTo>
                    <a:pt x="5863771" y="0"/>
                  </a:lnTo>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sp>
          <p:nvSpPr>
            <p:cNvPr id="7" name="圆角矩形 17"/>
            <p:cNvSpPr/>
            <p:nvPr/>
          </p:nvSpPr>
          <p:spPr>
            <a:xfrm>
              <a:off x="7456740" y="3963496"/>
              <a:ext cx="1511300" cy="5776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grpSp>
      <p:grpSp>
        <p:nvGrpSpPr>
          <p:cNvPr id="9" name="组合 8"/>
          <p:cNvGrpSpPr/>
          <p:nvPr/>
        </p:nvGrpSpPr>
        <p:grpSpPr bwMode="auto">
          <a:xfrm>
            <a:off x="7782456" y="4205439"/>
            <a:ext cx="412709" cy="333006"/>
            <a:chOff x="0" y="0"/>
            <a:chExt cx="1088225" cy="869861"/>
          </a:xfrm>
          <a:solidFill>
            <a:schemeClr val="tx1"/>
          </a:solidFill>
        </p:grpSpPr>
        <p:sp>
          <p:nvSpPr>
            <p:cNvPr id="10" name="Freeform 17"/>
            <p:cNvSpPr>
              <a:spLocks noEditPoints="1" noChangeArrowheads="1"/>
            </p:cNvSpPr>
            <p:nvPr/>
          </p:nvSpPr>
          <p:spPr bwMode="auto">
            <a:xfrm>
              <a:off x="0" y="237562"/>
              <a:ext cx="824268" cy="632299"/>
            </a:xfrm>
            <a:custGeom>
              <a:avLst/>
              <a:gdLst>
                <a:gd name="T0" fmla="*/ 274 w 291"/>
                <a:gd name="T1" fmla="*/ 0 h 223"/>
                <a:gd name="T2" fmla="*/ 17 w 291"/>
                <a:gd name="T3" fmla="*/ 0 h 223"/>
                <a:gd name="T4" fmla="*/ 0 w 291"/>
                <a:gd name="T5" fmla="*/ 16 h 223"/>
                <a:gd name="T6" fmla="*/ 0 w 291"/>
                <a:gd name="T7" fmla="*/ 207 h 223"/>
                <a:gd name="T8" fmla="*/ 17 w 291"/>
                <a:gd name="T9" fmla="*/ 223 h 223"/>
                <a:gd name="T10" fmla="*/ 274 w 291"/>
                <a:gd name="T11" fmla="*/ 223 h 223"/>
                <a:gd name="T12" fmla="*/ 291 w 291"/>
                <a:gd name="T13" fmla="*/ 207 h 223"/>
                <a:gd name="T14" fmla="*/ 291 w 291"/>
                <a:gd name="T15" fmla="*/ 16 h 223"/>
                <a:gd name="T16" fmla="*/ 274 w 291"/>
                <a:gd name="T17" fmla="*/ 0 h 223"/>
                <a:gd name="T18" fmla="*/ 270 w 291"/>
                <a:gd name="T19" fmla="*/ 193 h 223"/>
                <a:gd name="T20" fmla="*/ 256 w 291"/>
                <a:gd name="T21" fmla="*/ 207 h 223"/>
                <a:gd name="T22" fmla="*/ 35 w 291"/>
                <a:gd name="T23" fmla="*/ 207 h 223"/>
                <a:gd name="T24" fmla="*/ 21 w 291"/>
                <a:gd name="T25" fmla="*/ 193 h 223"/>
                <a:gd name="T26" fmla="*/ 21 w 291"/>
                <a:gd name="T27" fmla="*/ 30 h 223"/>
                <a:gd name="T28" fmla="*/ 35 w 291"/>
                <a:gd name="T29" fmla="*/ 16 h 223"/>
                <a:gd name="T30" fmla="*/ 256 w 291"/>
                <a:gd name="T31" fmla="*/ 16 h 223"/>
                <a:gd name="T32" fmla="*/ 270 w 291"/>
                <a:gd name="T33" fmla="*/ 30 h 223"/>
                <a:gd name="T34" fmla="*/ 270 w 291"/>
                <a:gd name="T35" fmla="*/ 19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1"/>
                <a:gd name="T55" fmla="*/ 0 h 223"/>
                <a:gd name="T56" fmla="*/ 291 w 291"/>
                <a:gd name="T57" fmla="*/ 223 h 2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1" h="223">
                  <a:moveTo>
                    <a:pt x="274" y="0"/>
                  </a:moveTo>
                  <a:cubicBezTo>
                    <a:pt x="17" y="0"/>
                    <a:pt x="17" y="0"/>
                    <a:pt x="17" y="0"/>
                  </a:cubicBezTo>
                  <a:cubicBezTo>
                    <a:pt x="8" y="0"/>
                    <a:pt x="0" y="7"/>
                    <a:pt x="0" y="16"/>
                  </a:cubicBezTo>
                  <a:cubicBezTo>
                    <a:pt x="0" y="207"/>
                    <a:pt x="0" y="207"/>
                    <a:pt x="0" y="207"/>
                  </a:cubicBezTo>
                  <a:cubicBezTo>
                    <a:pt x="0" y="215"/>
                    <a:pt x="8" y="223"/>
                    <a:pt x="17" y="223"/>
                  </a:cubicBezTo>
                  <a:cubicBezTo>
                    <a:pt x="274" y="223"/>
                    <a:pt x="274" y="223"/>
                    <a:pt x="274" y="223"/>
                  </a:cubicBezTo>
                  <a:cubicBezTo>
                    <a:pt x="283" y="223"/>
                    <a:pt x="291" y="215"/>
                    <a:pt x="291" y="207"/>
                  </a:cubicBezTo>
                  <a:cubicBezTo>
                    <a:pt x="291" y="16"/>
                    <a:pt x="291" y="16"/>
                    <a:pt x="291" y="16"/>
                  </a:cubicBezTo>
                  <a:cubicBezTo>
                    <a:pt x="291" y="7"/>
                    <a:pt x="283" y="0"/>
                    <a:pt x="274" y="0"/>
                  </a:cubicBezTo>
                  <a:moveTo>
                    <a:pt x="270" y="193"/>
                  </a:moveTo>
                  <a:cubicBezTo>
                    <a:pt x="270" y="201"/>
                    <a:pt x="264" y="207"/>
                    <a:pt x="256" y="207"/>
                  </a:cubicBezTo>
                  <a:cubicBezTo>
                    <a:pt x="35" y="207"/>
                    <a:pt x="35" y="207"/>
                    <a:pt x="35" y="207"/>
                  </a:cubicBezTo>
                  <a:cubicBezTo>
                    <a:pt x="27" y="207"/>
                    <a:pt x="21" y="201"/>
                    <a:pt x="21" y="193"/>
                  </a:cubicBezTo>
                  <a:cubicBezTo>
                    <a:pt x="21" y="30"/>
                    <a:pt x="21" y="30"/>
                    <a:pt x="21" y="30"/>
                  </a:cubicBezTo>
                  <a:cubicBezTo>
                    <a:pt x="21" y="22"/>
                    <a:pt x="27" y="16"/>
                    <a:pt x="35" y="16"/>
                  </a:cubicBezTo>
                  <a:cubicBezTo>
                    <a:pt x="256" y="16"/>
                    <a:pt x="256" y="16"/>
                    <a:pt x="256" y="16"/>
                  </a:cubicBezTo>
                  <a:cubicBezTo>
                    <a:pt x="264" y="16"/>
                    <a:pt x="270" y="22"/>
                    <a:pt x="270" y="30"/>
                  </a:cubicBezTo>
                  <a:lnTo>
                    <a:pt x="270" y="19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1" name="Freeform 18"/>
            <p:cNvSpPr>
              <a:spLocks noChangeArrowheads="1"/>
            </p:cNvSpPr>
            <p:nvPr/>
          </p:nvSpPr>
          <p:spPr bwMode="auto">
            <a:xfrm>
              <a:off x="137978" y="110382"/>
              <a:ext cx="821868" cy="632299"/>
            </a:xfrm>
            <a:custGeom>
              <a:avLst/>
              <a:gdLst>
                <a:gd name="T0" fmla="*/ 274 w 290"/>
                <a:gd name="T1" fmla="*/ 0 h 223"/>
                <a:gd name="T2" fmla="*/ 16 w 290"/>
                <a:gd name="T3" fmla="*/ 0 h 223"/>
                <a:gd name="T4" fmla="*/ 0 w 290"/>
                <a:gd name="T5" fmla="*/ 16 h 223"/>
                <a:gd name="T6" fmla="*/ 0 w 290"/>
                <a:gd name="T7" fmla="*/ 25 h 223"/>
                <a:gd name="T8" fmla="*/ 249 w 290"/>
                <a:gd name="T9" fmla="*/ 25 h 223"/>
                <a:gd name="T10" fmla="*/ 265 w 290"/>
                <a:gd name="T11" fmla="*/ 42 h 223"/>
                <a:gd name="T12" fmla="*/ 265 w 290"/>
                <a:gd name="T13" fmla="*/ 223 h 223"/>
                <a:gd name="T14" fmla="*/ 274 w 290"/>
                <a:gd name="T15" fmla="*/ 223 h 223"/>
                <a:gd name="T16" fmla="*/ 290 w 290"/>
                <a:gd name="T17" fmla="*/ 207 h 223"/>
                <a:gd name="T18" fmla="*/ 290 w 290"/>
                <a:gd name="T19" fmla="*/ 16 h 223"/>
                <a:gd name="T20" fmla="*/ 274 w 29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3"/>
                <a:gd name="T35" fmla="*/ 290 w 29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3">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3"/>
                    <a:pt x="265" y="42"/>
                  </a:cubicBezTo>
                  <a:cubicBezTo>
                    <a:pt x="265" y="223"/>
                    <a:pt x="265" y="223"/>
                    <a:pt x="265" y="223"/>
                  </a:cubicBezTo>
                  <a:cubicBezTo>
                    <a:pt x="274" y="223"/>
                    <a:pt x="274" y="223"/>
                    <a:pt x="274" y="223"/>
                  </a:cubicBezTo>
                  <a:cubicBezTo>
                    <a:pt x="283" y="223"/>
                    <a:pt x="290" y="216"/>
                    <a:pt x="290" y="207"/>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2" name="Freeform 19"/>
            <p:cNvSpPr>
              <a:spLocks noChangeArrowheads="1"/>
            </p:cNvSpPr>
            <p:nvPr/>
          </p:nvSpPr>
          <p:spPr bwMode="auto">
            <a:xfrm>
              <a:off x="266357" y="0"/>
              <a:ext cx="821868" cy="628699"/>
            </a:xfrm>
            <a:custGeom>
              <a:avLst/>
              <a:gdLst>
                <a:gd name="T0" fmla="*/ 274 w 290"/>
                <a:gd name="T1" fmla="*/ 0 h 222"/>
                <a:gd name="T2" fmla="*/ 16 w 290"/>
                <a:gd name="T3" fmla="*/ 0 h 222"/>
                <a:gd name="T4" fmla="*/ 0 w 290"/>
                <a:gd name="T5" fmla="*/ 16 h 222"/>
                <a:gd name="T6" fmla="*/ 0 w 290"/>
                <a:gd name="T7" fmla="*/ 25 h 222"/>
                <a:gd name="T8" fmla="*/ 249 w 290"/>
                <a:gd name="T9" fmla="*/ 25 h 222"/>
                <a:gd name="T10" fmla="*/ 265 w 290"/>
                <a:gd name="T11" fmla="*/ 41 h 222"/>
                <a:gd name="T12" fmla="*/ 265 w 290"/>
                <a:gd name="T13" fmla="*/ 222 h 222"/>
                <a:gd name="T14" fmla="*/ 274 w 290"/>
                <a:gd name="T15" fmla="*/ 222 h 222"/>
                <a:gd name="T16" fmla="*/ 290 w 290"/>
                <a:gd name="T17" fmla="*/ 206 h 222"/>
                <a:gd name="T18" fmla="*/ 290 w 290"/>
                <a:gd name="T19" fmla="*/ 16 h 222"/>
                <a:gd name="T20" fmla="*/ 274 w 290"/>
                <a:gd name="T21" fmla="*/ 0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2"/>
                <a:gd name="T35" fmla="*/ 290 w 290"/>
                <a:gd name="T36" fmla="*/ 222 h 2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2">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2"/>
                    <a:pt x="265" y="41"/>
                  </a:cubicBezTo>
                  <a:cubicBezTo>
                    <a:pt x="265" y="222"/>
                    <a:pt x="265" y="222"/>
                    <a:pt x="265" y="222"/>
                  </a:cubicBezTo>
                  <a:cubicBezTo>
                    <a:pt x="274" y="222"/>
                    <a:pt x="274" y="222"/>
                    <a:pt x="274" y="222"/>
                  </a:cubicBezTo>
                  <a:cubicBezTo>
                    <a:pt x="283" y="222"/>
                    <a:pt x="290" y="215"/>
                    <a:pt x="290" y="206"/>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3" name="Freeform 20"/>
            <p:cNvSpPr>
              <a:spLocks noChangeArrowheads="1"/>
            </p:cNvSpPr>
            <p:nvPr/>
          </p:nvSpPr>
          <p:spPr bwMode="auto">
            <a:xfrm>
              <a:off x="110382" y="422332"/>
              <a:ext cx="569909" cy="353943"/>
            </a:xfrm>
            <a:custGeom>
              <a:avLst/>
              <a:gdLst>
                <a:gd name="T0" fmla="*/ 71 w 201"/>
                <a:gd name="T1" fmla="*/ 5 h 125"/>
                <a:gd name="T2" fmla="*/ 11 w 201"/>
                <a:gd name="T3" fmla="*/ 109 h 125"/>
                <a:gd name="T4" fmla="*/ 11 w 201"/>
                <a:gd name="T5" fmla="*/ 124 h 125"/>
                <a:gd name="T6" fmla="*/ 192 w 201"/>
                <a:gd name="T7" fmla="*/ 124 h 125"/>
                <a:gd name="T8" fmla="*/ 192 w 201"/>
                <a:gd name="T9" fmla="*/ 108 h 125"/>
                <a:gd name="T10" fmla="*/ 151 w 201"/>
                <a:gd name="T11" fmla="*/ 47 h 125"/>
                <a:gd name="T12" fmla="*/ 117 w 201"/>
                <a:gd name="T13" fmla="*/ 86 h 125"/>
                <a:gd name="T14" fmla="*/ 110 w 201"/>
                <a:gd name="T15" fmla="*/ 81 h 125"/>
                <a:gd name="T16" fmla="*/ 122 w 201"/>
                <a:gd name="T17" fmla="*/ 65 h 125"/>
                <a:gd name="T18" fmla="*/ 81 w 201"/>
                <a:gd name="T19" fmla="*/ 5 h 125"/>
                <a:gd name="T20" fmla="*/ 71 w 201"/>
                <a:gd name="T21" fmla="*/ 5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25"/>
                <a:gd name="T35" fmla="*/ 201 w 201"/>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25">
                  <a:moveTo>
                    <a:pt x="71" y="5"/>
                  </a:moveTo>
                  <a:cubicBezTo>
                    <a:pt x="11" y="109"/>
                    <a:pt x="11" y="109"/>
                    <a:pt x="11" y="109"/>
                  </a:cubicBezTo>
                  <a:cubicBezTo>
                    <a:pt x="11" y="109"/>
                    <a:pt x="0" y="124"/>
                    <a:pt x="11" y="124"/>
                  </a:cubicBezTo>
                  <a:cubicBezTo>
                    <a:pt x="25" y="125"/>
                    <a:pt x="192" y="124"/>
                    <a:pt x="192" y="124"/>
                  </a:cubicBezTo>
                  <a:cubicBezTo>
                    <a:pt x="192" y="124"/>
                    <a:pt x="201" y="121"/>
                    <a:pt x="192" y="108"/>
                  </a:cubicBezTo>
                  <a:cubicBezTo>
                    <a:pt x="182" y="94"/>
                    <a:pt x="158" y="46"/>
                    <a:pt x="151" y="47"/>
                  </a:cubicBezTo>
                  <a:cubicBezTo>
                    <a:pt x="144" y="47"/>
                    <a:pt x="120" y="83"/>
                    <a:pt x="117" y="86"/>
                  </a:cubicBezTo>
                  <a:cubicBezTo>
                    <a:pt x="115" y="89"/>
                    <a:pt x="108" y="84"/>
                    <a:pt x="110" y="81"/>
                  </a:cubicBezTo>
                  <a:cubicBezTo>
                    <a:pt x="116" y="74"/>
                    <a:pt x="122" y="65"/>
                    <a:pt x="122" y="65"/>
                  </a:cubicBezTo>
                  <a:cubicBezTo>
                    <a:pt x="122" y="65"/>
                    <a:pt x="84" y="9"/>
                    <a:pt x="81" y="5"/>
                  </a:cubicBezTo>
                  <a:cubicBezTo>
                    <a:pt x="78" y="0"/>
                    <a:pt x="73" y="1"/>
                    <a:pt x="71" y="5"/>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4" name="Oval 21"/>
            <p:cNvSpPr>
              <a:spLocks noChangeArrowheads="1"/>
            </p:cNvSpPr>
            <p:nvPr/>
          </p:nvSpPr>
          <p:spPr bwMode="auto">
            <a:xfrm>
              <a:off x="563909" y="331147"/>
              <a:ext cx="101984" cy="99584"/>
            </a:xfrm>
            <a:prstGeom prst="ellipse">
              <a:avLst/>
            </a:pr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5" name="组合 14"/>
          <p:cNvGrpSpPr/>
          <p:nvPr/>
        </p:nvGrpSpPr>
        <p:grpSpPr bwMode="auto">
          <a:xfrm>
            <a:off x="9791433" y="4205439"/>
            <a:ext cx="329894" cy="333006"/>
            <a:chOff x="0" y="0"/>
            <a:chExt cx="881859" cy="881859"/>
          </a:xfrm>
          <a:solidFill>
            <a:schemeClr val="tx1"/>
          </a:solidFill>
        </p:grpSpPr>
        <p:sp>
          <p:nvSpPr>
            <p:cNvPr id="16" name="Freeform 22"/>
            <p:cNvSpPr>
              <a:spLocks noEditPoints="1" noChangeArrowheads="1"/>
            </p:cNvSpPr>
            <p:nvPr/>
          </p:nvSpPr>
          <p:spPr bwMode="auto">
            <a:xfrm>
              <a:off x="0" y="0"/>
              <a:ext cx="881859" cy="881859"/>
            </a:xfrm>
            <a:custGeom>
              <a:avLst/>
              <a:gdLst>
                <a:gd name="T0" fmla="*/ 155 w 311"/>
                <a:gd name="T1" fmla="*/ 0 h 311"/>
                <a:gd name="T2" fmla="*/ 0 w 311"/>
                <a:gd name="T3" fmla="*/ 155 h 311"/>
                <a:gd name="T4" fmla="*/ 155 w 311"/>
                <a:gd name="T5" fmla="*/ 311 h 311"/>
                <a:gd name="T6" fmla="*/ 311 w 311"/>
                <a:gd name="T7" fmla="*/ 155 h 311"/>
                <a:gd name="T8" fmla="*/ 155 w 311"/>
                <a:gd name="T9" fmla="*/ 0 h 311"/>
                <a:gd name="T10" fmla="*/ 155 w 311"/>
                <a:gd name="T11" fmla="*/ 289 h 311"/>
                <a:gd name="T12" fmla="*/ 21 w 311"/>
                <a:gd name="T13" fmla="*/ 155 h 311"/>
                <a:gd name="T14" fmla="*/ 155 w 311"/>
                <a:gd name="T15" fmla="*/ 21 h 311"/>
                <a:gd name="T16" fmla="*/ 289 w 311"/>
                <a:gd name="T17" fmla="*/ 155 h 311"/>
                <a:gd name="T18" fmla="*/ 155 w 311"/>
                <a:gd name="T19" fmla="*/ 289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1"/>
                <a:gd name="T31" fmla="*/ 0 h 311"/>
                <a:gd name="T32" fmla="*/ 311 w 311"/>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1" h="311">
                  <a:moveTo>
                    <a:pt x="155" y="0"/>
                  </a:moveTo>
                  <a:cubicBezTo>
                    <a:pt x="70" y="0"/>
                    <a:pt x="0" y="69"/>
                    <a:pt x="0" y="155"/>
                  </a:cubicBezTo>
                  <a:cubicBezTo>
                    <a:pt x="0" y="241"/>
                    <a:pt x="70" y="311"/>
                    <a:pt x="155" y="311"/>
                  </a:cubicBezTo>
                  <a:cubicBezTo>
                    <a:pt x="241" y="311"/>
                    <a:pt x="311" y="241"/>
                    <a:pt x="311" y="155"/>
                  </a:cubicBezTo>
                  <a:cubicBezTo>
                    <a:pt x="311" y="69"/>
                    <a:pt x="241" y="0"/>
                    <a:pt x="155" y="0"/>
                  </a:cubicBezTo>
                  <a:moveTo>
                    <a:pt x="155" y="289"/>
                  </a:moveTo>
                  <a:cubicBezTo>
                    <a:pt x="81" y="289"/>
                    <a:pt x="21" y="229"/>
                    <a:pt x="21" y="155"/>
                  </a:cubicBezTo>
                  <a:cubicBezTo>
                    <a:pt x="21" y="81"/>
                    <a:pt x="81" y="21"/>
                    <a:pt x="155" y="21"/>
                  </a:cubicBezTo>
                  <a:cubicBezTo>
                    <a:pt x="229" y="21"/>
                    <a:pt x="289" y="81"/>
                    <a:pt x="289" y="155"/>
                  </a:cubicBezTo>
                  <a:cubicBezTo>
                    <a:pt x="289" y="229"/>
                    <a:pt x="229" y="289"/>
                    <a:pt x="155" y="289"/>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7" name="Freeform 23"/>
            <p:cNvSpPr>
              <a:spLocks noChangeArrowheads="1"/>
            </p:cNvSpPr>
            <p:nvPr/>
          </p:nvSpPr>
          <p:spPr bwMode="auto">
            <a:xfrm>
              <a:off x="235162" y="70789"/>
              <a:ext cx="430731" cy="428331"/>
            </a:xfrm>
            <a:custGeom>
              <a:avLst/>
              <a:gdLst>
                <a:gd name="T0" fmla="*/ 145 w 152"/>
                <a:gd name="T1" fmla="*/ 53 h 151"/>
                <a:gd name="T2" fmla="*/ 144 w 152"/>
                <a:gd name="T3" fmla="*/ 52 h 151"/>
                <a:gd name="T4" fmla="*/ 125 w 152"/>
                <a:gd name="T5" fmla="*/ 52 h 151"/>
                <a:gd name="T6" fmla="*/ 77 w 152"/>
                <a:gd name="T7" fmla="*/ 106 h 151"/>
                <a:gd name="T8" fmla="*/ 31 w 152"/>
                <a:gd name="T9" fmla="*/ 12 h 151"/>
                <a:gd name="T10" fmla="*/ 11 w 152"/>
                <a:gd name="T11" fmla="*/ 4 h 151"/>
                <a:gd name="T12" fmla="*/ 10 w 152"/>
                <a:gd name="T13" fmla="*/ 4 h 151"/>
                <a:gd name="T14" fmla="*/ 4 w 152"/>
                <a:gd name="T15" fmla="*/ 25 h 151"/>
                <a:gd name="T16" fmla="*/ 60 w 152"/>
                <a:gd name="T17" fmla="*/ 140 h 151"/>
                <a:gd name="T18" fmla="*/ 79 w 152"/>
                <a:gd name="T19" fmla="*/ 148 h 151"/>
                <a:gd name="T20" fmla="*/ 79 w 152"/>
                <a:gd name="T21" fmla="*/ 148 h 151"/>
                <a:gd name="T22" fmla="*/ 80 w 152"/>
                <a:gd name="T23" fmla="*/ 148 h 151"/>
                <a:gd name="T24" fmla="*/ 81 w 152"/>
                <a:gd name="T25" fmla="*/ 147 h 151"/>
                <a:gd name="T26" fmla="*/ 87 w 152"/>
                <a:gd name="T27" fmla="*/ 141 h 151"/>
                <a:gd name="T28" fmla="*/ 148 w 152"/>
                <a:gd name="T29" fmla="*/ 72 h 151"/>
                <a:gd name="T30" fmla="*/ 145 w 152"/>
                <a:gd name="T31" fmla="*/ 53 h 1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1"/>
                <a:gd name="T50" fmla="*/ 152 w 152"/>
                <a:gd name="T51" fmla="*/ 151 h 1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1">
                  <a:moveTo>
                    <a:pt x="145" y="53"/>
                  </a:moveTo>
                  <a:cubicBezTo>
                    <a:pt x="144" y="52"/>
                    <a:pt x="144" y="52"/>
                    <a:pt x="144" y="52"/>
                  </a:cubicBezTo>
                  <a:cubicBezTo>
                    <a:pt x="138" y="47"/>
                    <a:pt x="129" y="47"/>
                    <a:pt x="125" y="52"/>
                  </a:cubicBezTo>
                  <a:cubicBezTo>
                    <a:pt x="77" y="106"/>
                    <a:pt x="77" y="106"/>
                    <a:pt x="77" y="106"/>
                  </a:cubicBezTo>
                  <a:cubicBezTo>
                    <a:pt x="31" y="12"/>
                    <a:pt x="31" y="12"/>
                    <a:pt x="31" y="12"/>
                  </a:cubicBezTo>
                  <a:cubicBezTo>
                    <a:pt x="27" y="4"/>
                    <a:pt x="18" y="0"/>
                    <a:pt x="11" y="4"/>
                  </a:cubicBezTo>
                  <a:cubicBezTo>
                    <a:pt x="10" y="4"/>
                    <a:pt x="10" y="4"/>
                    <a:pt x="10" y="4"/>
                  </a:cubicBezTo>
                  <a:cubicBezTo>
                    <a:pt x="3" y="8"/>
                    <a:pt x="0" y="17"/>
                    <a:pt x="4" y="25"/>
                  </a:cubicBezTo>
                  <a:cubicBezTo>
                    <a:pt x="60" y="140"/>
                    <a:pt x="60" y="140"/>
                    <a:pt x="60" y="140"/>
                  </a:cubicBezTo>
                  <a:cubicBezTo>
                    <a:pt x="63" y="148"/>
                    <a:pt x="72" y="151"/>
                    <a:pt x="79" y="148"/>
                  </a:cubicBezTo>
                  <a:cubicBezTo>
                    <a:pt x="79" y="148"/>
                    <a:pt x="79" y="148"/>
                    <a:pt x="79" y="148"/>
                  </a:cubicBezTo>
                  <a:cubicBezTo>
                    <a:pt x="79" y="148"/>
                    <a:pt x="80" y="148"/>
                    <a:pt x="80" y="148"/>
                  </a:cubicBezTo>
                  <a:cubicBezTo>
                    <a:pt x="81" y="147"/>
                    <a:pt x="81" y="147"/>
                    <a:pt x="81" y="147"/>
                  </a:cubicBezTo>
                  <a:cubicBezTo>
                    <a:pt x="84" y="146"/>
                    <a:pt x="86" y="144"/>
                    <a:pt x="87" y="141"/>
                  </a:cubicBezTo>
                  <a:cubicBezTo>
                    <a:pt x="148" y="72"/>
                    <a:pt x="148" y="72"/>
                    <a:pt x="148" y="72"/>
                  </a:cubicBezTo>
                  <a:cubicBezTo>
                    <a:pt x="152" y="67"/>
                    <a:pt x="151" y="59"/>
                    <a:pt x="145" y="53"/>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8" name="组合 17"/>
          <p:cNvGrpSpPr/>
          <p:nvPr/>
        </p:nvGrpSpPr>
        <p:grpSpPr bwMode="auto">
          <a:xfrm>
            <a:off x="8473972" y="4205439"/>
            <a:ext cx="397959" cy="333006"/>
            <a:chOff x="0" y="0"/>
            <a:chExt cx="961046" cy="796672"/>
          </a:xfrm>
          <a:solidFill>
            <a:schemeClr val="tx1"/>
          </a:solidFill>
        </p:grpSpPr>
        <p:sp>
          <p:nvSpPr>
            <p:cNvPr id="19" name="Freeform 24"/>
            <p:cNvSpPr>
              <a:spLocks noEditPoints="1" noChangeArrowheads="1"/>
            </p:cNvSpPr>
            <p:nvPr/>
          </p:nvSpPr>
          <p:spPr bwMode="auto">
            <a:xfrm>
              <a:off x="0" y="0"/>
              <a:ext cx="961046" cy="796672"/>
            </a:xfrm>
            <a:custGeom>
              <a:avLst/>
              <a:gdLst>
                <a:gd name="T0" fmla="*/ 321 w 339"/>
                <a:gd name="T1" fmla="*/ 0 h 281"/>
                <a:gd name="T2" fmla="*/ 18 w 339"/>
                <a:gd name="T3" fmla="*/ 0 h 281"/>
                <a:gd name="T4" fmla="*/ 0 w 339"/>
                <a:gd name="T5" fmla="*/ 18 h 281"/>
                <a:gd name="T6" fmla="*/ 0 w 339"/>
                <a:gd name="T7" fmla="*/ 263 h 281"/>
                <a:gd name="T8" fmla="*/ 18 w 339"/>
                <a:gd name="T9" fmla="*/ 281 h 281"/>
                <a:gd name="T10" fmla="*/ 321 w 339"/>
                <a:gd name="T11" fmla="*/ 281 h 281"/>
                <a:gd name="T12" fmla="*/ 339 w 339"/>
                <a:gd name="T13" fmla="*/ 263 h 281"/>
                <a:gd name="T14" fmla="*/ 339 w 339"/>
                <a:gd name="T15" fmla="*/ 18 h 281"/>
                <a:gd name="T16" fmla="*/ 321 w 339"/>
                <a:gd name="T17" fmla="*/ 0 h 281"/>
                <a:gd name="T18" fmla="*/ 316 w 339"/>
                <a:gd name="T19" fmla="*/ 246 h 281"/>
                <a:gd name="T20" fmla="*/ 301 w 339"/>
                <a:gd name="T21" fmla="*/ 262 h 281"/>
                <a:gd name="T22" fmla="*/ 38 w 339"/>
                <a:gd name="T23" fmla="*/ 262 h 281"/>
                <a:gd name="T24" fmla="*/ 23 w 339"/>
                <a:gd name="T25" fmla="*/ 246 h 281"/>
                <a:gd name="T26" fmla="*/ 23 w 339"/>
                <a:gd name="T27" fmla="*/ 35 h 281"/>
                <a:gd name="T28" fmla="*/ 38 w 339"/>
                <a:gd name="T29" fmla="*/ 19 h 281"/>
                <a:gd name="T30" fmla="*/ 301 w 339"/>
                <a:gd name="T31" fmla="*/ 19 h 281"/>
                <a:gd name="T32" fmla="*/ 316 w 339"/>
                <a:gd name="T33" fmla="*/ 35 h 281"/>
                <a:gd name="T34" fmla="*/ 316 w 339"/>
                <a:gd name="T35" fmla="*/ 246 h 2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9"/>
                <a:gd name="T55" fmla="*/ 0 h 281"/>
                <a:gd name="T56" fmla="*/ 339 w 339"/>
                <a:gd name="T57" fmla="*/ 281 h 2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9" h="281">
                  <a:moveTo>
                    <a:pt x="321" y="0"/>
                  </a:moveTo>
                  <a:cubicBezTo>
                    <a:pt x="18" y="0"/>
                    <a:pt x="18" y="0"/>
                    <a:pt x="18" y="0"/>
                  </a:cubicBezTo>
                  <a:cubicBezTo>
                    <a:pt x="8" y="0"/>
                    <a:pt x="0" y="8"/>
                    <a:pt x="0" y="18"/>
                  </a:cubicBezTo>
                  <a:cubicBezTo>
                    <a:pt x="0" y="263"/>
                    <a:pt x="0" y="263"/>
                    <a:pt x="0" y="263"/>
                  </a:cubicBezTo>
                  <a:cubicBezTo>
                    <a:pt x="0" y="273"/>
                    <a:pt x="8" y="281"/>
                    <a:pt x="18" y="281"/>
                  </a:cubicBezTo>
                  <a:cubicBezTo>
                    <a:pt x="321" y="281"/>
                    <a:pt x="321" y="281"/>
                    <a:pt x="321" y="281"/>
                  </a:cubicBezTo>
                  <a:cubicBezTo>
                    <a:pt x="331" y="281"/>
                    <a:pt x="339" y="273"/>
                    <a:pt x="339" y="263"/>
                  </a:cubicBezTo>
                  <a:cubicBezTo>
                    <a:pt x="339" y="18"/>
                    <a:pt x="339" y="18"/>
                    <a:pt x="339" y="18"/>
                  </a:cubicBezTo>
                  <a:cubicBezTo>
                    <a:pt x="339" y="8"/>
                    <a:pt x="331" y="0"/>
                    <a:pt x="321" y="0"/>
                  </a:cubicBezTo>
                  <a:moveTo>
                    <a:pt x="316" y="246"/>
                  </a:moveTo>
                  <a:cubicBezTo>
                    <a:pt x="316" y="255"/>
                    <a:pt x="309" y="262"/>
                    <a:pt x="301" y="262"/>
                  </a:cubicBezTo>
                  <a:cubicBezTo>
                    <a:pt x="38" y="262"/>
                    <a:pt x="38" y="262"/>
                    <a:pt x="38" y="262"/>
                  </a:cubicBezTo>
                  <a:cubicBezTo>
                    <a:pt x="30" y="262"/>
                    <a:pt x="23" y="255"/>
                    <a:pt x="23" y="246"/>
                  </a:cubicBezTo>
                  <a:cubicBezTo>
                    <a:pt x="23" y="35"/>
                    <a:pt x="23" y="35"/>
                    <a:pt x="23" y="35"/>
                  </a:cubicBezTo>
                  <a:cubicBezTo>
                    <a:pt x="23" y="26"/>
                    <a:pt x="30" y="19"/>
                    <a:pt x="38" y="19"/>
                  </a:cubicBezTo>
                  <a:cubicBezTo>
                    <a:pt x="301" y="19"/>
                    <a:pt x="301" y="19"/>
                    <a:pt x="301" y="19"/>
                  </a:cubicBezTo>
                  <a:cubicBezTo>
                    <a:pt x="309" y="19"/>
                    <a:pt x="316" y="26"/>
                    <a:pt x="316" y="35"/>
                  </a:cubicBezTo>
                  <a:lnTo>
                    <a:pt x="316" y="24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0" name="Freeform 25"/>
            <p:cNvSpPr>
              <a:spLocks noChangeArrowheads="1"/>
            </p:cNvSpPr>
            <p:nvPr/>
          </p:nvSpPr>
          <p:spPr bwMode="auto">
            <a:xfrm>
              <a:off x="176371"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1" name="Freeform 26"/>
            <p:cNvSpPr>
              <a:spLocks noChangeArrowheads="1"/>
            </p:cNvSpPr>
            <p:nvPr/>
          </p:nvSpPr>
          <p:spPr bwMode="auto">
            <a:xfrm>
              <a:off x="176371"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2" name="Freeform 27"/>
            <p:cNvSpPr>
              <a:spLocks noChangeArrowheads="1"/>
            </p:cNvSpPr>
            <p:nvPr/>
          </p:nvSpPr>
          <p:spPr bwMode="auto">
            <a:xfrm>
              <a:off x="346744"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3" name="Freeform 28"/>
            <p:cNvSpPr>
              <a:spLocks noChangeArrowheads="1"/>
            </p:cNvSpPr>
            <p:nvPr/>
          </p:nvSpPr>
          <p:spPr bwMode="auto">
            <a:xfrm>
              <a:off x="346744"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4" name="Freeform 29"/>
            <p:cNvSpPr>
              <a:spLocks noChangeArrowheads="1"/>
            </p:cNvSpPr>
            <p:nvPr/>
          </p:nvSpPr>
          <p:spPr bwMode="auto">
            <a:xfrm>
              <a:off x="346744"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5" name="Freeform 30"/>
            <p:cNvSpPr>
              <a:spLocks noChangeArrowheads="1"/>
            </p:cNvSpPr>
            <p:nvPr/>
          </p:nvSpPr>
          <p:spPr bwMode="auto">
            <a:xfrm>
              <a:off x="519516" y="116382"/>
              <a:ext cx="83987"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6" name="Freeform 31"/>
            <p:cNvSpPr>
              <a:spLocks noChangeArrowheads="1"/>
            </p:cNvSpPr>
            <p:nvPr/>
          </p:nvSpPr>
          <p:spPr bwMode="auto">
            <a:xfrm>
              <a:off x="519516" y="274756"/>
              <a:ext cx="83987"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7" name="Freeform 32"/>
            <p:cNvSpPr>
              <a:spLocks noChangeArrowheads="1"/>
            </p:cNvSpPr>
            <p:nvPr/>
          </p:nvSpPr>
          <p:spPr bwMode="auto">
            <a:xfrm>
              <a:off x="688689" y="116382"/>
              <a:ext cx="85186"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8" name="Freeform 33"/>
            <p:cNvSpPr>
              <a:spLocks noChangeArrowheads="1"/>
            </p:cNvSpPr>
            <p:nvPr/>
          </p:nvSpPr>
          <p:spPr bwMode="auto">
            <a:xfrm>
              <a:off x="688689" y="274756"/>
              <a:ext cx="85186"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9" name="Freeform 34"/>
            <p:cNvSpPr>
              <a:spLocks noChangeArrowheads="1"/>
            </p:cNvSpPr>
            <p:nvPr/>
          </p:nvSpPr>
          <p:spPr bwMode="auto">
            <a:xfrm>
              <a:off x="176371"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sp>
        <p:nvSpPr>
          <p:cNvPr id="30" name="Freeform 84"/>
          <p:cNvSpPr>
            <a:spLocks noChangeAspect="1" noEditPoints="1" noChangeArrowheads="1"/>
          </p:cNvSpPr>
          <p:nvPr/>
        </p:nvSpPr>
        <p:spPr bwMode="auto">
          <a:xfrm>
            <a:off x="7169827" y="4205438"/>
            <a:ext cx="333822" cy="333006"/>
          </a:xfrm>
          <a:custGeom>
            <a:avLst/>
            <a:gdLst>
              <a:gd name="T0" fmla="*/ 170 w 170"/>
              <a:gd name="T1" fmla="*/ 0 h 168"/>
              <a:gd name="T2" fmla="*/ 162 w 170"/>
              <a:gd name="T3" fmla="*/ 16 h 168"/>
              <a:gd name="T4" fmla="*/ 170 w 170"/>
              <a:gd name="T5" fmla="*/ 103 h 168"/>
              <a:gd name="T6" fmla="*/ 93 w 170"/>
              <a:gd name="T7" fmla="*/ 119 h 168"/>
              <a:gd name="T8" fmla="*/ 128 w 170"/>
              <a:gd name="T9" fmla="*/ 152 h 168"/>
              <a:gd name="T10" fmla="*/ 42 w 170"/>
              <a:gd name="T11" fmla="*/ 168 h 168"/>
              <a:gd name="T12" fmla="*/ 77 w 170"/>
              <a:gd name="T13" fmla="*/ 152 h 168"/>
              <a:gd name="T14" fmla="*/ 0 w 170"/>
              <a:gd name="T15" fmla="*/ 119 h 168"/>
              <a:gd name="T16" fmla="*/ 6 w 170"/>
              <a:gd name="T17" fmla="*/ 103 h 168"/>
              <a:gd name="T18" fmla="*/ 0 w 170"/>
              <a:gd name="T19" fmla="*/ 16 h 168"/>
              <a:gd name="T20" fmla="*/ 0 w 170"/>
              <a:gd name="T21" fmla="*/ 0 h 168"/>
              <a:gd name="T22" fmla="*/ 122 w 170"/>
              <a:gd name="T23" fmla="*/ 40 h 168"/>
              <a:gd name="T24" fmla="*/ 115 w 170"/>
              <a:gd name="T25" fmla="*/ 44 h 168"/>
              <a:gd name="T26" fmla="*/ 75 w 170"/>
              <a:gd name="T27" fmla="*/ 52 h 168"/>
              <a:gd name="T28" fmla="*/ 73 w 170"/>
              <a:gd name="T29" fmla="*/ 50 h 168"/>
              <a:gd name="T30" fmla="*/ 50 w 170"/>
              <a:gd name="T31" fmla="*/ 67 h 168"/>
              <a:gd name="T32" fmla="*/ 85 w 170"/>
              <a:gd name="T33" fmla="*/ 65 h 168"/>
              <a:gd name="T34" fmla="*/ 89 w 170"/>
              <a:gd name="T35" fmla="*/ 67 h 168"/>
              <a:gd name="T36" fmla="*/ 120 w 170"/>
              <a:gd name="T37" fmla="*/ 52 h 168"/>
              <a:gd name="T38" fmla="*/ 128 w 170"/>
              <a:gd name="T39" fmla="*/ 40 h 168"/>
              <a:gd name="T40" fmla="*/ 113 w 170"/>
              <a:gd name="T41" fmla="*/ 58 h 168"/>
              <a:gd name="T42" fmla="*/ 122 w 170"/>
              <a:gd name="T43" fmla="*/ 85 h 168"/>
              <a:gd name="T44" fmla="*/ 113 w 170"/>
              <a:gd name="T45" fmla="*/ 58 h 168"/>
              <a:gd name="T46" fmla="*/ 101 w 170"/>
              <a:gd name="T47" fmla="*/ 67 h 168"/>
              <a:gd name="T48" fmla="*/ 109 w 170"/>
              <a:gd name="T49" fmla="*/ 85 h 168"/>
              <a:gd name="T50" fmla="*/ 101 w 170"/>
              <a:gd name="T51" fmla="*/ 67 h 168"/>
              <a:gd name="T52" fmla="*/ 87 w 170"/>
              <a:gd name="T53" fmla="*/ 77 h 168"/>
              <a:gd name="T54" fmla="*/ 95 w 170"/>
              <a:gd name="T55" fmla="*/ 85 h 168"/>
              <a:gd name="T56" fmla="*/ 87 w 170"/>
              <a:gd name="T57" fmla="*/ 77 h 168"/>
              <a:gd name="T58" fmla="*/ 75 w 170"/>
              <a:gd name="T59" fmla="*/ 69 h 168"/>
              <a:gd name="T60" fmla="*/ 83 w 170"/>
              <a:gd name="T61" fmla="*/ 85 h 168"/>
              <a:gd name="T62" fmla="*/ 75 w 170"/>
              <a:gd name="T63" fmla="*/ 69 h 168"/>
              <a:gd name="T64" fmla="*/ 63 w 170"/>
              <a:gd name="T65" fmla="*/ 69 h 168"/>
              <a:gd name="T66" fmla="*/ 71 w 170"/>
              <a:gd name="T67" fmla="*/ 85 h 168"/>
              <a:gd name="T68" fmla="*/ 63 w 170"/>
              <a:gd name="T69" fmla="*/ 69 h 168"/>
              <a:gd name="T70" fmla="*/ 48 w 170"/>
              <a:gd name="T71" fmla="*/ 73 h 168"/>
              <a:gd name="T72" fmla="*/ 56 w 170"/>
              <a:gd name="T73" fmla="*/ 85 h 168"/>
              <a:gd name="T74" fmla="*/ 48 w 170"/>
              <a:gd name="T75" fmla="*/ 73 h 168"/>
              <a:gd name="T76" fmla="*/ 146 w 170"/>
              <a:gd name="T77" fmla="*/ 18 h 168"/>
              <a:gd name="T78" fmla="*/ 24 w 170"/>
              <a:gd name="T79" fmla="*/ 101 h 168"/>
              <a:gd name="T80" fmla="*/ 146 w 170"/>
              <a:gd name="T81" fmla="*/ 18 h 1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
              <a:gd name="T124" fmla="*/ 0 h 168"/>
              <a:gd name="T125" fmla="*/ 170 w 170"/>
              <a:gd name="T126" fmla="*/ 168 h 1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 h="168">
                <a:moveTo>
                  <a:pt x="0" y="0"/>
                </a:moveTo>
                <a:lnTo>
                  <a:pt x="170" y="0"/>
                </a:lnTo>
                <a:lnTo>
                  <a:pt x="170" y="16"/>
                </a:lnTo>
                <a:lnTo>
                  <a:pt x="162" y="16"/>
                </a:lnTo>
                <a:lnTo>
                  <a:pt x="162" y="103"/>
                </a:lnTo>
                <a:lnTo>
                  <a:pt x="170" y="103"/>
                </a:lnTo>
                <a:lnTo>
                  <a:pt x="170" y="119"/>
                </a:lnTo>
                <a:lnTo>
                  <a:pt x="93" y="119"/>
                </a:lnTo>
                <a:lnTo>
                  <a:pt x="93" y="152"/>
                </a:lnTo>
                <a:lnTo>
                  <a:pt x="128" y="152"/>
                </a:lnTo>
                <a:lnTo>
                  <a:pt x="128" y="168"/>
                </a:lnTo>
                <a:lnTo>
                  <a:pt x="42" y="168"/>
                </a:lnTo>
                <a:lnTo>
                  <a:pt x="42" y="152"/>
                </a:lnTo>
                <a:lnTo>
                  <a:pt x="77" y="152"/>
                </a:lnTo>
                <a:lnTo>
                  <a:pt x="77" y="119"/>
                </a:lnTo>
                <a:lnTo>
                  <a:pt x="0" y="119"/>
                </a:lnTo>
                <a:lnTo>
                  <a:pt x="0" y="103"/>
                </a:lnTo>
                <a:lnTo>
                  <a:pt x="6" y="103"/>
                </a:lnTo>
                <a:lnTo>
                  <a:pt x="6" y="16"/>
                </a:lnTo>
                <a:lnTo>
                  <a:pt x="0" y="16"/>
                </a:lnTo>
                <a:lnTo>
                  <a:pt x="0" y="0"/>
                </a:lnTo>
                <a:lnTo>
                  <a:pt x="0" y="0"/>
                </a:lnTo>
                <a:close/>
                <a:moveTo>
                  <a:pt x="128" y="40"/>
                </a:moveTo>
                <a:lnTo>
                  <a:pt x="122" y="40"/>
                </a:lnTo>
                <a:lnTo>
                  <a:pt x="113" y="40"/>
                </a:lnTo>
                <a:lnTo>
                  <a:pt x="115" y="44"/>
                </a:lnTo>
                <a:lnTo>
                  <a:pt x="87" y="61"/>
                </a:lnTo>
                <a:lnTo>
                  <a:pt x="75" y="52"/>
                </a:lnTo>
                <a:lnTo>
                  <a:pt x="75" y="50"/>
                </a:lnTo>
                <a:lnTo>
                  <a:pt x="73" y="50"/>
                </a:lnTo>
                <a:lnTo>
                  <a:pt x="48" y="61"/>
                </a:lnTo>
                <a:lnTo>
                  <a:pt x="50" y="67"/>
                </a:lnTo>
                <a:lnTo>
                  <a:pt x="73" y="56"/>
                </a:lnTo>
                <a:lnTo>
                  <a:pt x="85" y="65"/>
                </a:lnTo>
                <a:lnTo>
                  <a:pt x="87" y="67"/>
                </a:lnTo>
                <a:lnTo>
                  <a:pt x="89" y="67"/>
                </a:lnTo>
                <a:lnTo>
                  <a:pt x="117" y="48"/>
                </a:lnTo>
                <a:lnTo>
                  <a:pt x="120" y="52"/>
                </a:lnTo>
                <a:lnTo>
                  <a:pt x="124" y="46"/>
                </a:lnTo>
                <a:lnTo>
                  <a:pt x="128" y="40"/>
                </a:lnTo>
                <a:lnTo>
                  <a:pt x="128" y="40"/>
                </a:lnTo>
                <a:close/>
                <a:moveTo>
                  <a:pt x="113" y="58"/>
                </a:moveTo>
                <a:lnTo>
                  <a:pt x="113" y="85"/>
                </a:lnTo>
                <a:lnTo>
                  <a:pt x="122" y="85"/>
                </a:lnTo>
                <a:lnTo>
                  <a:pt x="122" y="58"/>
                </a:lnTo>
                <a:lnTo>
                  <a:pt x="113" y="58"/>
                </a:lnTo>
                <a:lnTo>
                  <a:pt x="113" y="58"/>
                </a:lnTo>
                <a:close/>
                <a:moveTo>
                  <a:pt x="101" y="67"/>
                </a:moveTo>
                <a:lnTo>
                  <a:pt x="101" y="85"/>
                </a:lnTo>
                <a:lnTo>
                  <a:pt x="109" y="85"/>
                </a:lnTo>
                <a:lnTo>
                  <a:pt x="109" y="67"/>
                </a:lnTo>
                <a:lnTo>
                  <a:pt x="101" y="67"/>
                </a:lnTo>
                <a:lnTo>
                  <a:pt x="101" y="67"/>
                </a:lnTo>
                <a:close/>
                <a:moveTo>
                  <a:pt x="87" y="77"/>
                </a:moveTo>
                <a:lnTo>
                  <a:pt x="87" y="85"/>
                </a:lnTo>
                <a:lnTo>
                  <a:pt x="95" y="85"/>
                </a:lnTo>
                <a:lnTo>
                  <a:pt x="95" y="77"/>
                </a:lnTo>
                <a:lnTo>
                  <a:pt x="87" y="77"/>
                </a:lnTo>
                <a:lnTo>
                  <a:pt x="87" y="77"/>
                </a:lnTo>
                <a:close/>
                <a:moveTo>
                  <a:pt x="75" y="69"/>
                </a:moveTo>
                <a:lnTo>
                  <a:pt x="75" y="85"/>
                </a:lnTo>
                <a:lnTo>
                  <a:pt x="83" y="85"/>
                </a:lnTo>
                <a:lnTo>
                  <a:pt x="83" y="69"/>
                </a:lnTo>
                <a:lnTo>
                  <a:pt x="75" y="69"/>
                </a:lnTo>
                <a:lnTo>
                  <a:pt x="75" y="69"/>
                </a:lnTo>
                <a:close/>
                <a:moveTo>
                  <a:pt x="63" y="69"/>
                </a:moveTo>
                <a:lnTo>
                  <a:pt x="63" y="85"/>
                </a:lnTo>
                <a:lnTo>
                  <a:pt x="71" y="85"/>
                </a:lnTo>
                <a:lnTo>
                  <a:pt x="71" y="69"/>
                </a:lnTo>
                <a:lnTo>
                  <a:pt x="63" y="69"/>
                </a:lnTo>
                <a:lnTo>
                  <a:pt x="63" y="69"/>
                </a:lnTo>
                <a:close/>
                <a:moveTo>
                  <a:pt x="48" y="73"/>
                </a:moveTo>
                <a:lnTo>
                  <a:pt x="48" y="85"/>
                </a:lnTo>
                <a:lnTo>
                  <a:pt x="56" y="85"/>
                </a:lnTo>
                <a:lnTo>
                  <a:pt x="56" y="73"/>
                </a:lnTo>
                <a:lnTo>
                  <a:pt x="48" y="73"/>
                </a:lnTo>
                <a:lnTo>
                  <a:pt x="48" y="73"/>
                </a:lnTo>
                <a:close/>
                <a:moveTo>
                  <a:pt x="146" y="18"/>
                </a:moveTo>
                <a:lnTo>
                  <a:pt x="24" y="18"/>
                </a:lnTo>
                <a:lnTo>
                  <a:pt x="24" y="101"/>
                </a:lnTo>
                <a:lnTo>
                  <a:pt x="146" y="101"/>
                </a:lnTo>
                <a:lnTo>
                  <a:pt x="146" y="18"/>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1" name="Freeform 9"/>
          <p:cNvSpPr>
            <a:spLocks noChangeAspect="1" noEditPoints="1" noChangeArrowheads="1"/>
          </p:cNvSpPr>
          <p:nvPr/>
        </p:nvSpPr>
        <p:spPr bwMode="auto">
          <a:xfrm>
            <a:off x="9150738" y="4205437"/>
            <a:ext cx="361886" cy="333007"/>
          </a:xfrm>
          <a:custGeom>
            <a:avLst/>
            <a:gdLst>
              <a:gd name="T0" fmla="*/ 141 w 181"/>
              <a:gd name="T1" fmla="*/ 0 h 165"/>
              <a:gd name="T2" fmla="*/ 149 w 181"/>
              <a:gd name="T3" fmla="*/ 8 h 165"/>
              <a:gd name="T4" fmla="*/ 134 w 181"/>
              <a:gd name="T5" fmla="*/ 47 h 165"/>
              <a:gd name="T6" fmla="*/ 33 w 181"/>
              <a:gd name="T7" fmla="*/ 14 h 165"/>
              <a:gd name="T8" fmla="*/ 39 w 181"/>
              <a:gd name="T9" fmla="*/ 20 h 165"/>
              <a:gd name="T10" fmla="*/ 51 w 181"/>
              <a:gd name="T11" fmla="*/ 31 h 165"/>
              <a:gd name="T12" fmla="*/ 33 w 181"/>
              <a:gd name="T13" fmla="*/ 39 h 165"/>
              <a:gd name="T14" fmla="*/ 39 w 181"/>
              <a:gd name="T15" fmla="*/ 45 h 165"/>
              <a:gd name="T16" fmla="*/ 51 w 181"/>
              <a:gd name="T17" fmla="*/ 55 h 165"/>
              <a:gd name="T18" fmla="*/ 33 w 181"/>
              <a:gd name="T19" fmla="*/ 63 h 165"/>
              <a:gd name="T20" fmla="*/ 39 w 181"/>
              <a:gd name="T21" fmla="*/ 67 h 165"/>
              <a:gd name="T22" fmla="*/ 51 w 181"/>
              <a:gd name="T23" fmla="*/ 77 h 165"/>
              <a:gd name="T24" fmla="*/ 33 w 181"/>
              <a:gd name="T25" fmla="*/ 86 h 165"/>
              <a:gd name="T26" fmla="*/ 39 w 181"/>
              <a:gd name="T27" fmla="*/ 90 h 165"/>
              <a:gd name="T28" fmla="*/ 51 w 181"/>
              <a:gd name="T29" fmla="*/ 100 h 165"/>
              <a:gd name="T30" fmla="*/ 33 w 181"/>
              <a:gd name="T31" fmla="*/ 110 h 165"/>
              <a:gd name="T32" fmla="*/ 39 w 181"/>
              <a:gd name="T33" fmla="*/ 116 h 165"/>
              <a:gd name="T34" fmla="*/ 51 w 181"/>
              <a:gd name="T35" fmla="*/ 126 h 165"/>
              <a:gd name="T36" fmla="*/ 33 w 181"/>
              <a:gd name="T37" fmla="*/ 134 h 165"/>
              <a:gd name="T38" fmla="*/ 33 w 181"/>
              <a:gd name="T39" fmla="*/ 151 h 165"/>
              <a:gd name="T40" fmla="*/ 134 w 181"/>
              <a:gd name="T41" fmla="*/ 118 h 165"/>
              <a:gd name="T42" fmla="*/ 149 w 181"/>
              <a:gd name="T43" fmla="*/ 157 h 165"/>
              <a:gd name="T44" fmla="*/ 141 w 181"/>
              <a:gd name="T45" fmla="*/ 165 h 165"/>
              <a:gd name="T46" fmla="*/ 19 w 181"/>
              <a:gd name="T47" fmla="*/ 165 h 165"/>
              <a:gd name="T48" fmla="*/ 19 w 181"/>
              <a:gd name="T49" fmla="*/ 146 h 165"/>
              <a:gd name="T50" fmla="*/ 0 w 181"/>
              <a:gd name="T51" fmla="*/ 132 h 165"/>
              <a:gd name="T52" fmla="*/ 19 w 181"/>
              <a:gd name="T53" fmla="*/ 120 h 165"/>
              <a:gd name="T54" fmla="*/ 0 w 181"/>
              <a:gd name="T55" fmla="*/ 108 h 165"/>
              <a:gd name="T56" fmla="*/ 19 w 181"/>
              <a:gd name="T57" fmla="*/ 98 h 165"/>
              <a:gd name="T58" fmla="*/ 0 w 181"/>
              <a:gd name="T59" fmla="*/ 83 h 165"/>
              <a:gd name="T60" fmla="*/ 19 w 181"/>
              <a:gd name="T61" fmla="*/ 75 h 165"/>
              <a:gd name="T62" fmla="*/ 0 w 181"/>
              <a:gd name="T63" fmla="*/ 61 h 165"/>
              <a:gd name="T64" fmla="*/ 19 w 181"/>
              <a:gd name="T65" fmla="*/ 51 h 165"/>
              <a:gd name="T66" fmla="*/ 0 w 181"/>
              <a:gd name="T67" fmla="*/ 39 h 165"/>
              <a:gd name="T68" fmla="*/ 19 w 181"/>
              <a:gd name="T69" fmla="*/ 8 h 165"/>
              <a:gd name="T70" fmla="*/ 27 w 181"/>
              <a:gd name="T71" fmla="*/ 0 h 165"/>
              <a:gd name="T72" fmla="*/ 63 w 181"/>
              <a:gd name="T73" fmla="*/ 79 h 165"/>
              <a:gd name="T74" fmla="*/ 84 w 181"/>
              <a:gd name="T75" fmla="*/ 88 h 165"/>
              <a:gd name="T76" fmla="*/ 63 w 181"/>
              <a:gd name="T77" fmla="*/ 79 h 165"/>
              <a:gd name="T78" fmla="*/ 63 w 181"/>
              <a:gd name="T79" fmla="*/ 61 h 165"/>
              <a:gd name="T80" fmla="*/ 100 w 181"/>
              <a:gd name="T81" fmla="*/ 69 h 165"/>
              <a:gd name="T82" fmla="*/ 63 w 181"/>
              <a:gd name="T83" fmla="*/ 61 h 165"/>
              <a:gd name="T84" fmla="*/ 63 w 181"/>
              <a:gd name="T85" fmla="*/ 45 h 165"/>
              <a:gd name="T86" fmla="*/ 116 w 181"/>
              <a:gd name="T87" fmla="*/ 53 h 165"/>
              <a:gd name="T88" fmla="*/ 63 w 181"/>
              <a:gd name="T89" fmla="*/ 45 h 165"/>
              <a:gd name="T90" fmla="*/ 63 w 181"/>
              <a:gd name="T91" fmla="*/ 29 h 165"/>
              <a:gd name="T92" fmla="*/ 116 w 181"/>
              <a:gd name="T93" fmla="*/ 35 h 165"/>
              <a:gd name="T94" fmla="*/ 63 w 181"/>
              <a:gd name="T95" fmla="*/ 29 h 165"/>
              <a:gd name="T96" fmla="*/ 84 w 181"/>
              <a:gd name="T97" fmla="*/ 130 h 165"/>
              <a:gd name="T98" fmla="*/ 106 w 181"/>
              <a:gd name="T99" fmla="*/ 130 h 165"/>
              <a:gd name="T100" fmla="*/ 86 w 181"/>
              <a:gd name="T101" fmla="*/ 108 h 165"/>
              <a:gd name="T102" fmla="*/ 84 w 181"/>
              <a:gd name="T103" fmla="*/ 130 h 165"/>
              <a:gd name="T104" fmla="*/ 161 w 181"/>
              <a:gd name="T105" fmla="*/ 37 h 165"/>
              <a:gd name="T106" fmla="*/ 116 w 181"/>
              <a:gd name="T107" fmla="*/ 120 h 165"/>
              <a:gd name="T108" fmla="*/ 161 w 181"/>
              <a:gd name="T109" fmla="*/ 37 h 1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1"/>
              <a:gd name="T166" fmla="*/ 0 h 165"/>
              <a:gd name="T167" fmla="*/ 181 w 181"/>
              <a:gd name="T168" fmla="*/ 165 h 1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1" h="165">
                <a:moveTo>
                  <a:pt x="27" y="0"/>
                </a:moveTo>
                <a:lnTo>
                  <a:pt x="141" y="0"/>
                </a:lnTo>
                <a:lnTo>
                  <a:pt x="149" y="0"/>
                </a:lnTo>
                <a:lnTo>
                  <a:pt x="149" y="8"/>
                </a:lnTo>
                <a:lnTo>
                  <a:pt x="149" y="35"/>
                </a:lnTo>
                <a:lnTo>
                  <a:pt x="134" y="47"/>
                </a:lnTo>
                <a:lnTo>
                  <a:pt x="134" y="14"/>
                </a:lnTo>
                <a:lnTo>
                  <a:pt x="33" y="14"/>
                </a:lnTo>
                <a:lnTo>
                  <a:pt x="33" y="25"/>
                </a:lnTo>
                <a:lnTo>
                  <a:pt x="39" y="20"/>
                </a:lnTo>
                <a:lnTo>
                  <a:pt x="47" y="18"/>
                </a:lnTo>
                <a:lnTo>
                  <a:pt x="51" y="31"/>
                </a:lnTo>
                <a:lnTo>
                  <a:pt x="45" y="35"/>
                </a:lnTo>
                <a:lnTo>
                  <a:pt x="33" y="39"/>
                </a:lnTo>
                <a:lnTo>
                  <a:pt x="33" y="47"/>
                </a:lnTo>
                <a:lnTo>
                  <a:pt x="39" y="45"/>
                </a:lnTo>
                <a:lnTo>
                  <a:pt x="47" y="41"/>
                </a:lnTo>
                <a:lnTo>
                  <a:pt x="51" y="55"/>
                </a:lnTo>
                <a:lnTo>
                  <a:pt x="45" y="57"/>
                </a:lnTo>
                <a:lnTo>
                  <a:pt x="33" y="63"/>
                </a:lnTo>
                <a:lnTo>
                  <a:pt x="33" y="71"/>
                </a:lnTo>
                <a:lnTo>
                  <a:pt x="39" y="67"/>
                </a:lnTo>
                <a:lnTo>
                  <a:pt x="47" y="65"/>
                </a:lnTo>
                <a:lnTo>
                  <a:pt x="51" y="77"/>
                </a:lnTo>
                <a:lnTo>
                  <a:pt x="45" y="81"/>
                </a:lnTo>
                <a:lnTo>
                  <a:pt x="33" y="86"/>
                </a:lnTo>
                <a:lnTo>
                  <a:pt x="33" y="94"/>
                </a:lnTo>
                <a:lnTo>
                  <a:pt x="39" y="90"/>
                </a:lnTo>
                <a:lnTo>
                  <a:pt x="47" y="88"/>
                </a:lnTo>
                <a:lnTo>
                  <a:pt x="51" y="100"/>
                </a:lnTo>
                <a:lnTo>
                  <a:pt x="45" y="104"/>
                </a:lnTo>
                <a:lnTo>
                  <a:pt x="33" y="110"/>
                </a:lnTo>
                <a:lnTo>
                  <a:pt x="33" y="118"/>
                </a:lnTo>
                <a:lnTo>
                  <a:pt x="39" y="116"/>
                </a:lnTo>
                <a:lnTo>
                  <a:pt x="47" y="112"/>
                </a:lnTo>
                <a:lnTo>
                  <a:pt x="51" y="126"/>
                </a:lnTo>
                <a:lnTo>
                  <a:pt x="45" y="128"/>
                </a:lnTo>
                <a:lnTo>
                  <a:pt x="33" y="134"/>
                </a:lnTo>
                <a:lnTo>
                  <a:pt x="33" y="146"/>
                </a:lnTo>
                <a:lnTo>
                  <a:pt x="33" y="151"/>
                </a:lnTo>
                <a:lnTo>
                  <a:pt x="134" y="151"/>
                </a:lnTo>
                <a:lnTo>
                  <a:pt x="134" y="118"/>
                </a:lnTo>
                <a:lnTo>
                  <a:pt x="149" y="106"/>
                </a:lnTo>
                <a:lnTo>
                  <a:pt x="149" y="157"/>
                </a:lnTo>
                <a:lnTo>
                  <a:pt x="149" y="165"/>
                </a:lnTo>
                <a:lnTo>
                  <a:pt x="141" y="165"/>
                </a:lnTo>
                <a:lnTo>
                  <a:pt x="27" y="165"/>
                </a:lnTo>
                <a:lnTo>
                  <a:pt x="19" y="165"/>
                </a:lnTo>
                <a:lnTo>
                  <a:pt x="19" y="157"/>
                </a:lnTo>
                <a:lnTo>
                  <a:pt x="19" y="146"/>
                </a:lnTo>
                <a:lnTo>
                  <a:pt x="4" y="146"/>
                </a:lnTo>
                <a:lnTo>
                  <a:pt x="0" y="132"/>
                </a:lnTo>
                <a:lnTo>
                  <a:pt x="19" y="124"/>
                </a:lnTo>
                <a:lnTo>
                  <a:pt x="19" y="120"/>
                </a:lnTo>
                <a:lnTo>
                  <a:pt x="4" y="120"/>
                </a:lnTo>
                <a:lnTo>
                  <a:pt x="0" y="108"/>
                </a:lnTo>
                <a:lnTo>
                  <a:pt x="19" y="100"/>
                </a:lnTo>
                <a:lnTo>
                  <a:pt x="19" y="98"/>
                </a:lnTo>
                <a:lnTo>
                  <a:pt x="4" y="98"/>
                </a:lnTo>
                <a:lnTo>
                  <a:pt x="0" y="83"/>
                </a:lnTo>
                <a:lnTo>
                  <a:pt x="19" y="77"/>
                </a:lnTo>
                <a:lnTo>
                  <a:pt x="19" y="75"/>
                </a:lnTo>
                <a:lnTo>
                  <a:pt x="4" y="75"/>
                </a:lnTo>
                <a:lnTo>
                  <a:pt x="0" y="61"/>
                </a:lnTo>
                <a:lnTo>
                  <a:pt x="19" y="53"/>
                </a:lnTo>
                <a:lnTo>
                  <a:pt x="19" y="51"/>
                </a:lnTo>
                <a:lnTo>
                  <a:pt x="4" y="51"/>
                </a:lnTo>
                <a:lnTo>
                  <a:pt x="0" y="39"/>
                </a:lnTo>
                <a:lnTo>
                  <a:pt x="19" y="31"/>
                </a:lnTo>
                <a:lnTo>
                  <a:pt x="19" y="8"/>
                </a:lnTo>
                <a:lnTo>
                  <a:pt x="19" y="0"/>
                </a:lnTo>
                <a:lnTo>
                  <a:pt x="27" y="0"/>
                </a:lnTo>
                <a:lnTo>
                  <a:pt x="27" y="0"/>
                </a:lnTo>
                <a:close/>
                <a:moveTo>
                  <a:pt x="63" y="79"/>
                </a:moveTo>
                <a:lnTo>
                  <a:pt x="63" y="88"/>
                </a:lnTo>
                <a:lnTo>
                  <a:pt x="84" y="88"/>
                </a:lnTo>
                <a:lnTo>
                  <a:pt x="84" y="79"/>
                </a:lnTo>
                <a:lnTo>
                  <a:pt x="63" y="79"/>
                </a:lnTo>
                <a:lnTo>
                  <a:pt x="63" y="79"/>
                </a:lnTo>
                <a:close/>
                <a:moveTo>
                  <a:pt x="63" y="61"/>
                </a:moveTo>
                <a:lnTo>
                  <a:pt x="63" y="69"/>
                </a:lnTo>
                <a:lnTo>
                  <a:pt x="100" y="69"/>
                </a:lnTo>
                <a:lnTo>
                  <a:pt x="100" y="61"/>
                </a:lnTo>
                <a:lnTo>
                  <a:pt x="63" y="61"/>
                </a:lnTo>
                <a:lnTo>
                  <a:pt x="63" y="61"/>
                </a:lnTo>
                <a:close/>
                <a:moveTo>
                  <a:pt x="63" y="45"/>
                </a:moveTo>
                <a:lnTo>
                  <a:pt x="63" y="53"/>
                </a:lnTo>
                <a:lnTo>
                  <a:pt x="116" y="53"/>
                </a:lnTo>
                <a:lnTo>
                  <a:pt x="116" y="45"/>
                </a:lnTo>
                <a:lnTo>
                  <a:pt x="63" y="45"/>
                </a:lnTo>
                <a:lnTo>
                  <a:pt x="63" y="45"/>
                </a:lnTo>
                <a:close/>
                <a:moveTo>
                  <a:pt x="63" y="29"/>
                </a:moveTo>
                <a:lnTo>
                  <a:pt x="63" y="35"/>
                </a:lnTo>
                <a:lnTo>
                  <a:pt x="116" y="35"/>
                </a:lnTo>
                <a:lnTo>
                  <a:pt x="116" y="29"/>
                </a:lnTo>
                <a:lnTo>
                  <a:pt x="63" y="29"/>
                </a:lnTo>
                <a:lnTo>
                  <a:pt x="63" y="29"/>
                </a:lnTo>
                <a:close/>
                <a:moveTo>
                  <a:pt x="84" y="130"/>
                </a:moveTo>
                <a:lnTo>
                  <a:pt x="96" y="130"/>
                </a:lnTo>
                <a:lnTo>
                  <a:pt x="106" y="130"/>
                </a:lnTo>
                <a:lnTo>
                  <a:pt x="96" y="118"/>
                </a:lnTo>
                <a:lnTo>
                  <a:pt x="86" y="108"/>
                </a:lnTo>
                <a:lnTo>
                  <a:pt x="86" y="120"/>
                </a:lnTo>
                <a:lnTo>
                  <a:pt x="84" y="130"/>
                </a:lnTo>
                <a:lnTo>
                  <a:pt x="84" y="130"/>
                </a:lnTo>
                <a:close/>
                <a:moveTo>
                  <a:pt x="161" y="37"/>
                </a:moveTo>
                <a:lnTo>
                  <a:pt x="96" y="100"/>
                </a:lnTo>
                <a:lnTo>
                  <a:pt x="116" y="120"/>
                </a:lnTo>
                <a:lnTo>
                  <a:pt x="181" y="57"/>
                </a:lnTo>
                <a:lnTo>
                  <a:pt x="161" y="37"/>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Tree>
    <p:extLst>
      <p:ext uri="{BB962C8B-B14F-4D97-AF65-F5344CB8AC3E}">
        <p14:creationId xmlns:p14="http://schemas.microsoft.com/office/powerpoint/2010/main" val="1362737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夏雨家 https://xnwe.taobao.com/">
  <a:themeElements>
    <a:clrScheme name="MC-欧美风主题色">
      <a:dk1>
        <a:srgbClr val="000000"/>
      </a:dk1>
      <a:lt1>
        <a:srgbClr val="FFFFFF"/>
      </a:lt1>
      <a:dk2>
        <a:srgbClr val="44546A"/>
      </a:dk2>
      <a:lt2>
        <a:srgbClr val="E7E6E6"/>
      </a:lt2>
      <a:accent1>
        <a:srgbClr val="268F9C"/>
      </a:accent1>
      <a:accent2>
        <a:srgbClr val="2A566E"/>
      </a:accent2>
      <a:accent3>
        <a:srgbClr val="D71D49"/>
      </a:accent3>
      <a:accent4>
        <a:srgbClr val="268F9C"/>
      </a:accent4>
      <a:accent5>
        <a:srgbClr val="2A566E"/>
      </a:accent5>
      <a:accent6>
        <a:srgbClr val="D71D49"/>
      </a:accent6>
      <a:hlink>
        <a:srgbClr val="0563C1"/>
      </a:hlink>
      <a:folHlink>
        <a:srgbClr val="954F72"/>
      </a:folHlink>
    </a:clrScheme>
    <a:fontScheme name="Arial+微软雅黑">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nchor="ctr">
        <a:spAutoFit/>
      </a:bodyPr>
      <a:lstStyle>
        <a:defPPr>
          <a:lnSpc>
            <a:spcPct val="120000"/>
          </a:lnSpc>
          <a:defRPr dirty="0" smtClean="0">
            <a:solidFill>
              <a:schemeClr val="tx1">
                <a:lumMod val="75000"/>
                <a:lumOff val="25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3812</TotalTime>
  <Words>5960</Words>
  <Application>Microsoft Office PowerPoint</Application>
  <PresentationFormat>宽屏</PresentationFormat>
  <Paragraphs>551</Paragraphs>
  <Slides>47</Slides>
  <Notes>47</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47</vt:i4>
      </vt:variant>
    </vt:vector>
  </HeadingPairs>
  <TitlesOfParts>
    <vt:vector size="58" baseType="lpstr">
      <vt:lpstr>-apple-system</vt:lpstr>
      <vt:lpstr>等线</vt:lpstr>
      <vt:lpstr>等线 Light</vt:lpstr>
      <vt:lpstr>微软雅黑</vt:lpstr>
      <vt:lpstr>Arial</vt:lpstr>
      <vt:lpstr>Calibri</vt:lpstr>
      <vt:lpstr>Cambria Math</vt:lpstr>
      <vt:lpstr>Lato</vt:lpstr>
      <vt:lpstr>Wingdings</vt:lpstr>
      <vt:lpstr>Office 主题​​</vt:lpstr>
      <vt:lpstr>夏雨家 https://xnwe.taobao.com/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盈钢 邱</dc:creator>
  <cp:lastModifiedBy>盈钢 邱</cp:lastModifiedBy>
  <cp:revision>390</cp:revision>
  <dcterms:created xsi:type="dcterms:W3CDTF">2024-11-06T01:21:23Z</dcterms:created>
  <dcterms:modified xsi:type="dcterms:W3CDTF">2024-11-10T06:12:02Z</dcterms:modified>
</cp:coreProperties>
</file>