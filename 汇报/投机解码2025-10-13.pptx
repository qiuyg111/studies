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8E503-EB1E-4FB6-AEB4-E6265AA8810D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1CA6A-19FD-48C1-B4DB-1B3A337B74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8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1CA6A-19FD-48C1-B4DB-1B3A337B74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35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1CA6A-19FD-48C1-B4DB-1B3A337B742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45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34CB-F73A-A3A4-7093-DBF1961E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5100C9-3058-2411-051C-1C3C5D757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BBE7C9-832A-7943-9A3B-D40DD0E71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2A505F-8234-70CC-3940-3BAA94C17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1CA6A-19FD-48C1-B4DB-1B3A337B742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38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BD823-5ED5-7150-E8E7-13BD26E5D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1D128D-0A04-5DD7-22D8-47DF1FA64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B4E25-6E85-FEC2-6EA8-2DCFFD97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1B0AF-8168-E989-27D7-37D37BF2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E4747-B2E1-E0B1-BA5A-C2C0EFDB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33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E83E45-4CDF-00A3-DBE5-5044A555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F2B07-39D5-CDCD-C81E-00A116A4C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28A372-7F57-9CDB-B598-29BA9291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CDB750-7F2C-E58A-76A1-689150F7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C9351-40C0-50B6-55FC-1F5C98BF2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14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218E8-8639-5FCE-B871-BF9D1747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9AB84-6D65-F4E8-CE7E-5355105B6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86541-32FE-BC28-BBB2-2427D83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0CCBC6-0BE1-F463-54D5-9BD549B16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9A272-B734-90D7-60EA-45C6E93D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98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4B5F6-A289-70E4-60FD-7F97C8BF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C9E58-CE08-AFC0-D544-BB0D01492D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E7E21F-82D8-BB35-B7C7-3673F9CF4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2D9D6E-4BD5-2992-0AFA-800039F35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E31C90-3B4D-DAB6-A0D7-160ED76B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54A64-D30D-1430-26C9-CBB856D3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3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73CAC-BCDF-9AD7-010C-A98DD71F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FE456-73CE-A211-DF3B-3FDA4715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1B52A1-793E-FF6D-42D6-B6AD6414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FCCFB1-09FF-810E-78A4-148A7BF28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44F109-0FA5-784A-A984-BC210C097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11F619-C99A-24DE-1439-D573DEFA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E6B729-3144-7559-314D-EB32EBF8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A305D63-F9B2-4281-5079-28E647ACD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01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052CE-55A7-DAA5-7A58-375950ED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16D4AC-1816-7E16-F901-31AC4728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00674-D09E-E015-28A7-E645839E9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868EB2-03A7-4BA7-FDB0-B7299F46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78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4022D4-00A8-2AE5-C367-F17FAA7B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853C8-7E8B-6BEF-ABF9-E3AB1395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926B43-8061-8AD0-081C-CE679972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5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9D29D-D9D9-858D-6A28-8F8B84F1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F25BE-C1C4-53EF-EB4F-0E864969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7798DD-2D30-FB15-BEF1-A00BA8E7D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EEF485-8532-14AA-C2CD-6315BCDC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96B37-57F9-8C09-B174-EC114354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57B3BD-C922-E878-F052-D825843F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2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AE030-9BCD-DB4D-1256-DECE0359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5CA6B1-7002-FC9B-BE15-2D20D2862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F8C3D7-069E-5375-0C58-564246F81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ACFE81-6C31-26E8-915E-0876C18DB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93416-C43A-FE1A-DFC9-B4242946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2A9B3-EFDE-259C-5D12-6DCA43CB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06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CB37B-1924-18C0-B1A2-4F773FBC1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A89791-7EB1-FF62-1C48-A86CE800E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ED40D1-4287-5760-2350-12D8E416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64B6B7-7524-9A8E-89BC-8EE297735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FFF64-0991-E7D5-0B3B-D37C3324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4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918E8F-E299-0313-D9A8-7E16B74EB1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00964C-8B90-273D-CD6C-2E92D7E89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11B22-01B6-66D7-3BEE-D3364B2E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508763-77B4-589C-077F-EE1438D8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333E2E-6267-A36B-C45E-BDD320B3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28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D0F3AC-B950-1220-5805-5458B868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787DFF-2C90-4E14-C077-F5B63B658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8CD65-8D6A-ED55-CA23-DB3BE1E27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6A9D1A-97CA-446D-9A35-BCDAA748E38B}" type="datetimeFigureOut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AAA66-8E6C-6D39-66CC-64BF847C6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E293DA-B8D4-7262-C0D5-B2302F82E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17790-E72F-4528-8593-8558EB4105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0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823F063-5E56-11F9-10AD-BF857EC9A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72" y="1060128"/>
            <a:ext cx="10242305" cy="44069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BE3630A-E501-B4BA-744B-1C0CB001A965}"/>
              </a:ext>
            </a:extLst>
          </p:cNvPr>
          <p:cNvSpPr txBox="1"/>
          <p:nvPr/>
        </p:nvSpPr>
        <p:spPr>
          <a:xfrm>
            <a:off x="182489" y="164510"/>
            <a:ext cx="3073879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投机解码</a:t>
            </a:r>
          </a:p>
        </p:txBody>
      </p:sp>
    </p:spTree>
    <p:extLst>
      <p:ext uri="{BB962C8B-B14F-4D97-AF65-F5344CB8AC3E}">
        <p14:creationId xmlns:p14="http://schemas.microsoft.com/office/powerpoint/2010/main" val="333621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B4415-FFB2-FD66-4007-CCA31E5B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765B2EF0-2166-427C-7A86-7CC3090421D9}"/>
              </a:ext>
            </a:extLst>
          </p:cNvPr>
          <p:cNvCxnSpPr>
            <a:cxnSpLocks/>
            <a:stCxn id="89" idx="1"/>
            <a:endCxn id="83" idx="3"/>
          </p:cNvCxnSpPr>
          <p:nvPr/>
        </p:nvCxnSpPr>
        <p:spPr>
          <a:xfrm rot="10800000">
            <a:off x="4503364" y="4391430"/>
            <a:ext cx="467849" cy="1964930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46C186C-E0AE-583B-4517-496A8271CF43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2546811" y="1839292"/>
            <a:ext cx="0" cy="388603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57FF7723-EAE9-F922-65FA-AB971C92CA5E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3483621" y="1839292"/>
            <a:ext cx="0" cy="388603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5A7EEBE-2B16-5773-0EB2-C66F74DEF2F5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4427994" y="1839292"/>
            <a:ext cx="0" cy="40738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9A6B784A-CB41-7A01-FB12-0B7E2DF71AF1}"/>
              </a:ext>
            </a:extLst>
          </p:cNvPr>
          <p:cNvCxnSpPr>
            <a:cxnSpLocks/>
            <a:stCxn id="59" idx="1"/>
            <a:endCxn id="66" idx="3"/>
          </p:cNvCxnSpPr>
          <p:nvPr/>
        </p:nvCxnSpPr>
        <p:spPr>
          <a:xfrm rot="10800000">
            <a:off x="3747391" y="1675170"/>
            <a:ext cx="416835" cy="154025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C1D32870-016C-A412-38FA-3D12F1F2FCB4}"/>
              </a:ext>
            </a:extLst>
          </p:cNvPr>
          <p:cNvCxnSpPr>
            <a:cxnSpLocks/>
            <a:stCxn id="60" idx="1"/>
            <a:endCxn id="67" idx="3"/>
          </p:cNvCxnSpPr>
          <p:nvPr/>
        </p:nvCxnSpPr>
        <p:spPr>
          <a:xfrm rot="10800000">
            <a:off x="4691764" y="1675170"/>
            <a:ext cx="413883" cy="1539605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B572309A-7CC8-F0BE-437F-355082A3A4E4}"/>
              </a:ext>
            </a:extLst>
          </p:cNvPr>
          <p:cNvCxnSpPr>
            <a:cxnSpLocks/>
            <a:stCxn id="58" idx="1"/>
            <a:endCxn id="65" idx="3"/>
          </p:cNvCxnSpPr>
          <p:nvPr/>
        </p:nvCxnSpPr>
        <p:spPr>
          <a:xfrm rot="10800000">
            <a:off x="2810581" y="1675170"/>
            <a:ext cx="412223" cy="1540251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C5B1CF4C-31BD-E594-804D-6244FA3C4729}"/>
                  </a:ext>
                </a:extLst>
              </p:cNvPr>
              <p:cNvSpPr/>
              <p:nvPr/>
            </p:nvSpPr>
            <p:spPr>
              <a:xfrm>
                <a:off x="1343283" y="3053862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C5B1CF4C-31BD-E594-804D-6244FA3C4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283" y="3053862"/>
                <a:ext cx="527538" cy="3282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F81DA902-0CB0-3F3A-7003-12C0770DF901}"/>
                  </a:ext>
                </a:extLst>
              </p:cNvPr>
              <p:cNvSpPr/>
              <p:nvPr/>
            </p:nvSpPr>
            <p:spPr>
              <a:xfrm>
                <a:off x="2283043" y="3053862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F81DA902-0CB0-3F3A-7003-12C0770DF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043" y="3053862"/>
                <a:ext cx="527538" cy="32824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3DA4FE0B-FF44-3C1D-BAA8-DE4924FA36EE}"/>
              </a:ext>
            </a:extLst>
          </p:cNvPr>
          <p:cNvSpPr/>
          <p:nvPr/>
        </p:nvSpPr>
        <p:spPr>
          <a:xfrm>
            <a:off x="1235983" y="2220473"/>
            <a:ext cx="4491815" cy="388068"/>
          </a:xfrm>
          <a:prstGeom prst="roundRect">
            <a:avLst/>
          </a:prstGeom>
          <a:solidFill>
            <a:srgbClr val="268F9C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Drafter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7A53E664-4BEF-1101-F7BB-6AC9AF405F8A}"/>
                  </a:ext>
                </a:extLst>
              </p:cNvPr>
              <p:cNvSpPr/>
              <p:nvPr/>
            </p:nvSpPr>
            <p:spPr>
              <a:xfrm>
                <a:off x="3222803" y="3051620"/>
                <a:ext cx="529200" cy="327600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58" name="矩形: 圆角 57">
                <a:extLst>
                  <a:ext uri="{FF2B5EF4-FFF2-40B4-BE49-F238E27FC236}">
                    <a16:creationId xmlns:a16="http://schemas.microsoft.com/office/drawing/2014/main" id="{7A53E664-4BEF-1101-F7BB-6AC9AF405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803" y="3051620"/>
                <a:ext cx="529200" cy="327600"/>
              </a:xfrm>
              <a:prstGeom prst="roundRect">
                <a:avLst/>
              </a:prstGeom>
              <a:blipFill>
                <a:blip r:embed="rId4"/>
                <a:stretch>
                  <a:fillRect b="-3571"/>
                </a:stretch>
              </a:blip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86912192-B4B3-0DA0-5E10-C9B6B12AB091}"/>
                  </a:ext>
                </a:extLst>
              </p:cNvPr>
              <p:cNvSpPr/>
              <p:nvPr/>
            </p:nvSpPr>
            <p:spPr>
              <a:xfrm>
                <a:off x="4164225" y="3051620"/>
                <a:ext cx="529200" cy="327600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86912192-B4B3-0DA0-5E10-C9B6B12AB0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5" y="3051620"/>
                <a:ext cx="529200" cy="327600"/>
              </a:xfrm>
              <a:prstGeom prst="roundRect">
                <a:avLst/>
              </a:prstGeom>
              <a:blipFill>
                <a:blip r:embed="rId5"/>
                <a:stretch>
                  <a:fillRect b="-5357"/>
                </a:stretch>
              </a:blip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1E488676-5B47-DF4E-7554-76F5322C1C0E}"/>
                  </a:ext>
                </a:extLst>
              </p:cNvPr>
              <p:cNvSpPr/>
              <p:nvPr/>
            </p:nvSpPr>
            <p:spPr>
              <a:xfrm>
                <a:off x="5105646" y="3050974"/>
                <a:ext cx="529200" cy="327600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60" name="矩形: 圆角 59">
                <a:extLst>
                  <a:ext uri="{FF2B5EF4-FFF2-40B4-BE49-F238E27FC236}">
                    <a16:creationId xmlns:a16="http://schemas.microsoft.com/office/drawing/2014/main" id="{1E488676-5B47-DF4E-7554-76F5322C1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646" y="3050974"/>
                <a:ext cx="529200" cy="327600"/>
              </a:xfrm>
              <a:prstGeom prst="roundRect">
                <a:avLst/>
              </a:prstGeom>
              <a:blipFill>
                <a:blip r:embed="rId6"/>
                <a:stretch>
                  <a:fillRect b="-3509"/>
                </a:stretch>
              </a:blip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FA2F214F-3C23-0647-EFCB-DA32C8DB9699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1607052" y="2608541"/>
            <a:ext cx="0" cy="44532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AE9BCF8-F091-60A1-97DA-7714780DFBD2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2546811" y="2608541"/>
            <a:ext cx="1" cy="44532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48A3FC4-9416-BFD8-E1BC-9AFCB612C13D}"/>
              </a:ext>
            </a:extLst>
          </p:cNvPr>
          <p:cNvCxnSpPr>
            <a:cxnSpLocks/>
            <a:stCxn id="58" idx="0"/>
          </p:cNvCxnSpPr>
          <p:nvPr/>
        </p:nvCxnSpPr>
        <p:spPr>
          <a:xfrm flipV="1">
            <a:off x="3487403" y="2608541"/>
            <a:ext cx="0" cy="44307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50882D1-659F-A604-F8A6-48BE99B92E94}"/>
              </a:ext>
            </a:extLst>
          </p:cNvPr>
          <p:cNvCxnSpPr>
            <a:cxnSpLocks/>
            <a:stCxn id="59" idx="0"/>
          </p:cNvCxnSpPr>
          <p:nvPr/>
        </p:nvCxnSpPr>
        <p:spPr>
          <a:xfrm flipH="1" flipV="1">
            <a:off x="4427994" y="2608541"/>
            <a:ext cx="831" cy="44307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74DD2E25-F76F-3283-EEE9-33D7E32B6521}"/>
                  </a:ext>
                </a:extLst>
              </p:cNvPr>
              <p:cNvSpPr/>
              <p:nvPr/>
            </p:nvSpPr>
            <p:spPr>
              <a:xfrm>
                <a:off x="2283042" y="1511046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65" name="矩形: 圆角 64">
                <a:extLst>
                  <a:ext uri="{FF2B5EF4-FFF2-40B4-BE49-F238E27FC236}">
                    <a16:creationId xmlns:a16="http://schemas.microsoft.com/office/drawing/2014/main" id="{74DD2E25-F76F-3283-EEE9-33D7E32B65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042" y="1511046"/>
                <a:ext cx="527538" cy="328246"/>
              </a:xfrm>
              <a:prstGeom prst="roundRect">
                <a:avLst/>
              </a:prstGeom>
              <a:blipFill>
                <a:blip r:embed="rId7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FBCD56C3-0584-D53C-2EB5-E26965B7B976}"/>
                  </a:ext>
                </a:extLst>
              </p:cNvPr>
              <p:cNvSpPr/>
              <p:nvPr/>
            </p:nvSpPr>
            <p:spPr>
              <a:xfrm>
                <a:off x="3219852" y="1511046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FBCD56C3-0584-D53C-2EB5-E26965B7B9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852" y="1511046"/>
                <a:ext cx="527538" cy="328246"/>
              </a:xfrm>
              <a:prstGeom prst="roundRect">
                <a:avLst/>
              </a:prstGeom>
              <a:blipFill>
                <a:blip r:embed="rId8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4BC43CCB-795A-9E0A-407A-95E4168600C5}"/>
                  </a:ext>
                </a:extLst>
              </p:cNvPr>
              <p:cNvSpPr/>
              <p:nvPr/>
            </p:nvSpPr>
            <p:spPr>
              <a:xfrm>
                <a:off x="4164225" y="1511046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𝑞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67" name="矩形: 圆角 66">
                <a:extLst>
                  <a:ext uri="{FF2B5EF4-FFF2-40B4-BE49-F238E27FC236}">
                    <a16:creationId xmlns:a16="http://schemas.microsoft.com/office/drawing/2014/main" id="{4BC43CCB-795A-9E0A-407A-95E416860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225" y="1511046"/>
                <a:ext cx="527538" cy="328246"/>
              </a:xfrm>
              <a:prstGeom prst="roundRect">
                <a:avLst/>
              </a:prstGeom>
              <a:blipFill>
                <a:blip r:embed="rId9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88134D3C-CA48-A221-A2E7-2E9EA1F3E05F}"/>
              </a:ext>
            </a:extLst>
          </p:cNvPr>
          <p:cNvCxnSpPr>
            <a:cxnSpLocks/>
            <a:stCxn id="74" idx="1"/>
            <a:endCxn id="81" idx="3"/>
          </p:cNvCxnSpPr>
          <p:nvPr/>
        </p:nvCxnSpPr>
        <p:spPr>
          <a:xfrm rot="10800000">
            <a:off x="3558991" y="4391431"/>
            <a:ext cx="416835" cy="1962279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/>
        </p:spPr>
      </p:cxn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857A4F99-D7B1-934E-E2AF-ED8C27089E1B}"/>
              </a:ext>
            </a:extLst>
          </p:cNvPr>
          <p:cNvCxnSpPr>
            <a:cxnSpLocks/>
            <a:stCxn id="73" idx="1"/>
            <a:endCxn id="79" idx="3"/>
          </p:cNvCxnSpPr>
          <p:nvPr/>
        </p:nvCxnSpPr>
        <p:spPr>
          <a:xfrm rot="10800000">
            <a:off x="2622181" y="4391431"/>
            <a:ext cx="412223" cy="1962279"/>
          </a:xfrm>
          <a:prstGeom prst="curvedConnector3">
            <a:avLst>
              <a:gd name="adj1" fmla="val 50000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808EB4F2-19CE-60B6-155C-7F378542FF95}"/>
                  </a:ext>
                </a:extLst>
              </p:cNvPr>
              <p:cNvSpPr/>
              <p:nvPr/>
            </p:nvSpPr>
            <p:spPr>
              <a:xfrm>
                <a:off x="1154883" y="6192151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808EB4F2-19CE-60B6-155C-7F378542F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883" y="6192151"/>
                <a:ext cx="527538" cy="32824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1BF83336-530D-BBF9-23E4-490AC0532AB6}"/>
                  </a:ext>
                </a:extLst>
              </p:cNvPr>
              <p:cNvSpPr/>
              <p:nvPr/>
            </p:nvSpPr>
            <p:spPr>
              <a:xfrm>
                <a:off x="2094643" y="6192151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1BF83336-530D-BBF9-23E4-490AC0532A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643" y="6192151"/>
                <a:ext cx="527538" cy="328246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28709330-2FA6-F45A-891D-9C3C2CB33EBE}"/>
              </a:ext>
            </a:extLst>
          </p:cNvPr>
          <p:cNvSpPr/>
          <p:nvPr/>
        </p:nvSpPr>
        <p:spPr>
          <a:xfrm>
            <a:off x="1212537" y="4962939"/>
            <a:ext cx="4491815" cy="785658"/>
          </a:xfrm>
          <a:prstGeom prst="roundRect">
            <a:avLst/>
          </a:prstGeom>
          <a:solidFill>
            <a:srgbClr val="268F9C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LLM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DB98FC0-94FB-0373-2A4D-F98041FE2B37}"/>
                  </a:ext>
                </a:extLst>
              </p:cNvPr>
              <p:cNvSpPr/>
              <p:nvPr/>
            </p:nvSpPr>
            <p:spPr>
              <a:xfrm>
                <a:off x="3034403" y="6189909"/>
                <a:ext cx="529200" cy="327600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BDB98FC0-94FB-0373-2A4D-F98041FE2B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4403" y="6189909"/>
                <a:ext cx="529200" cy="327600"/>
              </a:xfrm>
              <a:prstGeom prst="roundRect">
                <a:avLst/>
              </a:prstGeom>
              <a:blipFill>
                <a:blip r:embed="rId12"/>
                <a:stretch>
                  <a:fillRect b="-3509"/>
                </a:stretch>
              </a:blip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DDEA5A33-1A1A-CC76-15CB-3CEBE168731F}"/>
                  </a:ext>
                </a:extLst>
              </p:cNvPr>
              <p:cNvSpPr/>
              <p:nvPr/>
            </p:nvSpPr>
            <p:spPr>
              <a:xfrm>
                <a:off x="3975825" y="6189909"/>
                <a:ext cx="529200" cy="327600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74" name="矩形: 圆角 73">
                <a:extLst>
                  <a:ext uri="{FF2B5EF4-FFF2-40B4-BE49-F238E27FC236}">
                    <a16:creationId xmlns:a16="http://schemas.microsoft.com/office/drawing/2014/main" id="{DDEA5A33-1A1A-CC76-15CB-3CEBE16873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25" y="6189909"/>
                <a:ext cx="529200" cy="327600"/>
              </a:xfrm>
              <a:prstGeom prst="roundRect">
                <a:avLst/>
              </a:prstGeom>
              <a:blipFill>
                <a:blip r:embed="rId13"/>
                <a:stretch>
                  <a:fillRect b="-5263"/>
                </a:stretch>
              </a:blip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44074E14-0510-75D5-4643-031C6157184D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1418652" y="5746830"/>
            <a:ext cx="0" cy="44532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89377D3-0F66-7CBB-EF06-32F37B9A63C4}"/>
              </a:ext>
            </a:extLst>
          </p:cNvPr>
          <p:cNvCxnSpPr>
            <a:cxnSpLocks/>
            <a:stCxn id="71" idx="0"/>
          </p:cNvCxnSpPr>
          <p:nvPr/>
        </p:nvCxnSpPr>
        <p:spPr>
          <a:xfrm flipH="1" flipV="1">
            <a:off x="2358411" y="5746830"/>
            <a:ext cx="1" cy="445321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6418DC4A-B528-25C6-90D1-A490AF9599D8}"/>
              </a:ext>
            </a:extLst>
          </p:cNvPr>
          <p:cNvCxnSpPr>
            <a:cxnSpLocks/>
            <a:stCxn id="73" idx="0"/>
          </p:cNvCxnSpPr>
          <p:nvPr/>
        </p:nvCxnSpPr>
        <p:spPr>
          <a:xfrm flipV="1">
            <a:off x="3299003" y="5746830"/>
            <a:ext cx="0" cy="44307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AEFC2E50-5468-DFC1-B972-D5CDF619AED6}"/>
              </a:ext>
            </a:extLst>
          </p:cNvPr>
          <p:cNvCxnSpPr>
            <a:cxnSpLocks/>
            <a:stCxn id="74" idx="0"/>
          </p:cNvCxnSpPr>
          <p:nvPr/>
        </p:nvCxnSpPr>
        <p:spPr>
          <a:xfrm flipH="1" flipV="1">
            <a:off x="4239594" y="5746830"/>
            <a:ext cx="831" cy="443079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7BAD8698-7AB9-6A0A-6939-E004537E2542}"/>
                  </a:ext>
                </a:extLst>
              </p:cNvPr>
              <p:cNvSpPr/>
              <p:nvPr/>
            </p:nvSpPr>
            <p:spPr>
              <a:xfrm>
                <a:off x="2094642" y="4227307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7BAD8698-7AB9-6A0A-6939-E004537E2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642" y="4227307"/>
                <a:ext cx="527538" cy="328246"/>
              </a:xfrm>
              <a:prstGeom prst="roundRect">
                <a:avLst/>
              </a:prstGeom>
              <a:blipFill>
                <a:blip r:embed="rId14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73299CA-F180-80C1-9310-0CF6FB367183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2358411" y="4555553"/>
            <a:ext cx="0" cy="388603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3E7A21AE-313B-4444-8371-701E86B0A4D2}"/>
                  </a:ext>
                </a:extLst>
              </p:cNvPr>
              <p:cNvSpPr/>
              <p:nvPr/>
            </p:nvSpPr>
            <p:spPr>
              <a:xfrm>
                <a:off x="3031452" y="4227307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81" name="矩形: 圆角 80">
                <a:extLst>
                  <a:ext uri="{FF2B5EF4-FFF2-40B4-BE49-F238E27FC236}">
                    <a16:creationId xmlns:a16="http://schemas.microsoft.com/office/drawing/2014/main" id="{3E7A21AE-313B-4444-8371-701E86B0A4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452" y="4227307"/>
                <a:ext cx="527538" cy="328246"/>
              </a:xfrm>
              <a:prstGeom prst="roundRect">
                <a:avLst/>
              </a:prstGeom>
              <a:blipFill>
                <a:blip r:embed="rId15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5EF5C33-5C0A-EAF4-C352-13B9B4467352}"/>
              </a:ext>
            </a:extLst>
          </p:cNvPr>
          <p:cNvCxnSpPr>
            <a:cxnSpLocks/>
            <a:endCxn id="81" idx="2"/>
          </p:cNvCxnSpPr>
          <p:nvPr/>
        </p:nvCxnSpPr>
        <p:spPr>
          <a:xfrm flipV="1">
            <a:off x="3295221" y="4555553"/>
            <a:ext cx="0" cy="388603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3582EB10-ED2A-1D9D-9714-6D737495DCBD}"/>
                  </a:ext>
                </a:extLst>
              </p:cNvPr>
              <p:cNvSpPr/>
              <p:nvPr/>
            </p:nvSpPr>
            <p:spPr>
              <a:xfrm>
                <a:off x="3975825" y="4227307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83" name="矩形: 圆角 82">
                <a:extLst>
                  <a:ext uri="{FF2B5EF4-FFF2-40B4-BE49-F238E27FC236}">
                    <a16:creationId xmlns:a16="http://schemas.microsoft.com/office/drawing/2014/main" id="{3582EB10-ED2A-1D9D-9714-6D737495D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25" y="4227307"/>
                <a:ext cx="527538" cy="328246"/>
              </a:xfrm>
              <a:prstGeom prst="roundRect">
                <a:avLst/>
              </a:prstGeom>
              <a:blipFill>
                <a:blip r:embed="rId16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786C230D-599A-AE3F-DD7E-32FDB95799C5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4239594" y="4555553"/>
            <a:ext cx="0" cy="40738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7AEBAD72-D15C-A655-7E21-1D5D6F76183D}"/>
              </a:ext>
            </a:extLst>
          </p:cNvPr>
          <p:cNvSpPr txBox="1"/>
          <p:nvPr/>
        </p:nvSpPr>
        <p:spPr>
          <a:xfrm>
            <a:off x="361202" y="1278502"/>
            <a:ext cx="712931" cy="4947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微软雅黑"/>
              </a:rPr>
              <a:t>(1)</a:t>
            </a:r>
            <a:endParaRPr lang="zh-CN" alt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rial"/>
              <a:ea typeface="微软雅黑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E04AFC2-F0EC-923F-802B-B85F579B3B37}"/>
              </a:ext>
            </a:extLst>
          </p:cNvPr>
          <p:cNvSpPr txBox="1"/>
          <p:nvPr/>
        </p:nvSpPr>
        <p:spPr>
          <a:xfrm>
            <a:off x="445476" y="4060802"/>
            <a:ext cx="712931" cy="4947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微软雅黑"/>
              </a:rPr>
              <a:t>(2)</a:t>
            </a:r>
            <a:endParaRPr lang="zh-CN" altLang="en-US" sz="2400" b="1" dirty="0">
              <a:solidFill>
                <a:srgbClr val="000000">
                  <a:lumMod val="75000"/>
                  <a:lumOff val="25000"/>
                </a:srgbClr>
              </a:solidFill>
              <a:latin typeface="Arial"/>
              <a:ea typeface="微软雅黑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CEFA408A-F3D4-3584-BACA-3091E09A97C2}"/>
                  </a:ext>
                </a:extLst>
              </p:cNvPr>
              <p:cNvSpPr txBox="1"/>
              <p:nvPr/>
            </p:nvSpPr>
            <p:spPr>
              <a:xfrm>
                <a:off x="6403788" y="1093836"/>
                <a:ext cx="5565474" cy="3151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1200"/>
                  </a:spcAft>
                  <a:buFontTx/>
                  <a:buAutoNum type="arabicParenBoth" startAt="3"/>
                </a:pPr>
                <a:r>
                  <a:rPr lang="zh-CN" altLang="en-US" sz="2400" b="1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验证</a:t>
                </a:r>
                <a:endParaRPr lang="en-US" altLang="zh-CN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)&lt;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，接受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反之以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)/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的概率接受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被拒绝，则下面分布重新采样，并停止验证过程</a:t>
                </a:r>
                <a:endParaRPr lang="en-US" altLang="zh-CN" sz="20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  <a:p>
                <a:pPr lvl="1">
                  <a:lnSpc>
                    <a:spcPct val="1200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nl-NL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nl-NL" altLang="zh-CN" sz="20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𝑛𝑜𝑟𝑚</m:t>
                      </m:r>
                      <m:d>
                        <m:dPr>
                          <m:ctrlPr>
                            <a:rPr lang="nl-NL" altLang="zh-CN" sz="20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NL" altLang="zh-CN" sz="20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NL" altLang="zh-CN" sz="200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nl-NL" altLang="zh-CN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altLang="zh-CN" sz="20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altLang="zh-CN" sz="20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altLang="zh-CN" sz="20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sz="20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CEFA408A-F3D4-3584-BACA-3091E09A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788" y="1093836"/>
                <a:ext cx="5565474" cy="3151632"/>
              </a:xfrm>
              <a:prstGeom prst="rect">
                <a:avLst/>
              </a:prstGeom>
              <a:blipFill>
                <a:blip r:embed="rId17"/>
                <a:stretch>
                  <a:fillRect l="-1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DDB568FB-921F-D2F7-13D4-E73FBC14F02E}"/>
                  </a:ext>
                </a:extLst>
              </p:cNvPr>
              <p:cNvSpPr txBox="1"/>
              <p:nvPr/>
            </p:nvSpPr>
            <p:spPr>
              <a:xfrm>
                <a:off x="6453656" y="4244602"/>
                <a:ext cx="5115209" cy="87338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(4) </a:t>
                </a:r>
                <a:r>
                  <a:rPr lang="zh-CN" altLang="en-US" sz="2400" b="1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进一步采样</a:t>
                </a:r>
                <a:endParaRPr lang="en-US" altLang="zh-CN" sz="2400" b="1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      </a:t>
                </a:r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如果全被接受，则从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再采样一次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00000">
                                <a:lumMod val="75000"/>
                                <a:lumOff val="25000"/>
                              </a:srgbClr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Arial"/>
                    <a:ea typeface="微软雅黑"/>
                  </a:rPr>
                  <a:t>	</a:t>
                </a:r>
                <a:endParaRPr lang="zh-CN" altLang="en-US" sz="20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Arial"/>
                  <a:ea typeface="微软雅黑"/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DDB568FB-921F-D2F7-13D4-E73FBC14F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656" y="4244602"/>
                <a:ext cx="5115209" cy="873381"/>
              </a:xfrm>
              <a:prstGeom prst="rect">
                <a:avLst/>
              </a:prstGeom>
              <a:blipFill>
                <a:blip r:embed="rId18"/>
                <a:stretch>
                  <a:fillRect l="-1907" t="-694" b="-11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5AEACA33-5C68-2367-9BE5-9BA740459A04}"/>
                  </a:ext>
                </a:extLst>
              </p:cNvPr>
              <p:cNvSpPr/>
              <p:nvPr/>
            </p:nvSpPr>
            <p:spPr>
              <a:xfrm>
                <a:off x="4971212" y="6192560"/>
                <a:ext cx="529200" cy="327600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US" altLang="zh-CN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5AEACA33-5C68-2367-9BE5-9BA740459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212" y="6192560"/>
                <a:ext cx="529200" cy="327600"/>
              </a:xfrm>
              <a:prstGeom prst="roundRect">
                <a:avLst/>
              </a:prstGeom>
              <a:blipFill>
                <a:blip r:embed="rId19"/>
                <a:stretch>
                  <a:fillRect b="-3509"/>
                </a:stretch>
              </a:blipFill>
              <a:ln w="19050" cap="flat" cmpd="sng" algn="ctr">
                <a:solidFill>
                  <a:srgbClr val="C00000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0BB1099F-640B-C408-3CEE-E89B0ACD1F1D}"/>
                  </a:ext>
                </a:extLst>
              </p:cNvPr>
              <p:cNvSpPr/>
              <p:nvPr/>
            </p:nvSpPr>
            <p:spPr>
              <a:xfrm>
                <a:off x="4957739" y="4226986"/>
                <a:ext cx="527538" cy="328246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𝑝</m:t>
                          </m:r>
                        </m:e>
                        <m:sub>
                          <m:r>
                            <a:rPr kumimoji="0" lang="en-US" altLang="zh-CN" sz="1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endParaRPr>
              </a:p>
            </p:txBody>
          </p:sp>
        </mc:Choice>
        <mc:Fallback xmlns=""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0BB1099F-640B-C408-3CEE-E89B0ACD1F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39" y="4226986"/>
                <a:ext cx="527538" cy="328246"/>
              </a:xfrm>
              <a:prstGeom prst="roundRect">
                <a:avLst/>
              </a:prstGeom>
              <a:blipFill>
                <a:blip r:embed="rId20"/>
                <a:stretch>
                  <a:fillRect b="-3509"/>
                </a:stretch>
              </a:blipFill>
              <a:ln w="19050" cap="flat" cmpd="sng" algn="ctr">
                <a:solidFill>
                  <a:srgbClr val="268F9C"/>
                </a:solidFill>
                <a:prstDash val="soli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F25FADAF-21C3-EA6D-A0A4-E621665C0374}"/>
              </a:ext>
            </a:extLst>
          </p:cNvPr>
          <p:cNvCxnSpPr>
            <a:cxnSpLocks/>
            <a:endCxn id="90" idx="2"/>
          </p:cNvCxnSpPr>
          <p:nvPr/>
        </p:nvCxnSpPr>
        <p:spPr>
          <a:xfrm flipV="1">
            <a:off x="5221508" y="4555232"/>
            <a:ext cx="0" cy="407386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3D4BF1E3-217A-074F-FA10-7ACA9A47CA29}"/>
              </a:ext>
            </a:extLst>
          </p:cNvPr>
          <p:cNvCxnSpPr>
            <a:cxnSpLocks/>
            <a:stCxn id="89" idx="0"/>
          </p:cNvCxnSpPr>
          <p:nvPr/>
        </p:nvCxnSpPr>
        <p:spPr>
          <a:xfrm flipH="1" flipV="1">
            <a:off x="5221508" y="5719465"/>
            <a:ext cx="14304" cy="473095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9C0D87B9-CA38-D0E8-CC22-779E9799766B}"/>
              </a:ext>
            </a:extLst>
          </p:cNvPr>
          <p:cNvSpPr txBox="1"/>
          <p:nvPr/>
        </p:nvSpPr>
        <p:spPr>
          <a:xfrm>
            <a:off x="182489" y="164510"/>
            <a:ext cx="3073879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投机解码</a:t>
            </a:r>
          </a:p>
        </p:txBody>
      </p:sp>
    </p:spTree>
    <p:extLst>
      <p:ext uri="{BB962C8B-B14F-4D97-AF65-F5344CB8AC3E}">
        <p14:creationId xmlns:p14="http://schemas.microsoft.com/office/powerpoint/2010/main" val="10217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8314-83E6-9E03-C56B-7EF1E553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DF6EA1E-FD7A-7111-4089-2A3F7EE831AD}"/>
              </a:ext>
            </a:extLst>
          </p:cNvPr>
          <p:cNvSpPr txBox="1"/>
          <p:nvPr/>
        </p:nvSpPr>
        <p:spPr>
          <a:xfrm>
            <a:off x="251315" y="142545"/>
            <a:ext cx="3073879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投机解码加速效率的影响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C0AE5F-B966-307F-EBE5-ABE67DEE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166" y="1005835"/>
            <a:ext cx="4179992" cy="3413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4778EC-D6FC-2A19-DD0A-ED055B6E3ECC}"/>
                  </a:ext>
                </a:extLst>
              </p:cNvPr>
              <p:cNvSpPr txBox="1"/>
              <p:nvPr/>
            </p:nvSpPr>
            <p:spPr>
              <a:xfrm>
                <a:off x="797168" y="727759"/>
                <a:ext cx="2309446" cy="3961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(1) </a:t>
                </a: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接受概率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4778EC-D6FC-2A19-DD0A-ED055B6E3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68" y="727759"/>
                <a:ext cx="2309446" cy="396134"/>
              </a:xfrm>
              <a:prstGeom prst="rect">
                <a:avLst/>
              </a:prstGeom>
              <a:blipFill>
                <a:blip r:embed="rId3"/>
                <a:stretch>
                  <a:fillRect l="-2375" b="-2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C5BCA026-80C0-ABDE-C5FA-4E1057E9F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842" y="1649283"/>
            <a:ext cx="4337537" cy="24152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B9EECE3-1A70-3015-D80F-636479AA431B}"/>
                  </a:ext>
                </a:extLst>
              </p:cNvPr>
              <p:cNvSpPr txBox="1"/>
              <p:nvPr/>
            </p:nvSpPr>
            <p:spPr>
              <a:xfrm>
                <a:off x="797168" y="1212675"/>
                <a:ext cx="3997572" cy="3961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(2) </a:t>
                </a: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草稿模型每次生成</a:t>
                </a:r>
                <a:r>
                  <a:rPr lang="en-US" altLang="zh-CN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token</a:t>
                </a:r>
                <a:r>
                  <a:rPr lang="zh-CN" alt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数量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B9EECE3-1A70-3015-D80F-636479AA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68" y="1212675"/>
                <a:ext cx="3997572" cy="396134"/>
              </a:xfrm>
              <a:prstGeom prst="rect">
                <a:avLst/>
              </a:prstGeom>
              <a:blipFill>
                <a:blip r:embed="rId5"/>
                <a:stretch>
                  <a:fillRect l="-1372" b="-2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4339D71-E144-9F6E-0D21-CBF7CF6AD86C}"/>
              </a:ext>
            </a:extLst>
          </p:cNvPr>
          <p:cNvSpPr txBox="1"/>
          <p:nvPr/>
        </p:nvSpPr>
        <p:spPr>
          <a:xfrm>
            <a:off x="797168" y="4023036"/>
            <a:ext cx="3997572" cy="3961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(3) 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草稿模型的推理速度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E9A8774-591A-0F77-DCDD-D345B57F1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807" y="4441820"/>
            <a:ext cx="11605846" cy="181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36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EDB18-3D4F-4D59-4F15-04C3B880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934E42C-A70C-47AC-0250-9A6211095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3" y="511037"/>
            <a:ext cx="12192000" cy="31499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6D2698-BF7A-542C-4728-589A7583A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82" y="4073724"/>
            <a:ext cx="6175575" cy="254987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8BF0830-F94E-B13C-22CA-B654E7B01502}"/>
              </a:ext>
            </a:extLst>
          </p:cNvPr>
          <p:cNvSpPr txBox="1"/>
          <p:nvPr/>
        </p:nvSpPr>
        <p:spPr>
          <a:xfrm>
            <a:off x="197090" y="107721"/>
            <a:ext cx="3607994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Self-Speculative Decoding</a:t>
            </a:r>
            <a:endParaRPr lang="zh-CN" altLang="en-US" b="1" dirty="0">
              <a:solidFill>
                <a:srgbClr val="268F9C"/>
              </a:solidFill>
              <a:latin typeface="+mn-ea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1EEBAFB-F797-B697-B9A6-6331A9F34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340" y="4290302"/>
            <a:ext cx="5356478" cy="211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8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D306-2343-0EB3-9717-A16476E2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A7C2E99-F4F9-8063-A1BF-A7F920276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859"/>
            <a:ext cx="12192000" cy="485628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8C46CDD-D3A0-5AD6-443C-5476295F9E2E}"/>
              </a:ext>
            </a:extLst>
          </p:cNvPr>
          <p:cNvSpPr txBox="1"/>
          <p:nvPr/>
        </p:nvSpPr>
        <p:spPr>
          <a:xfrm>
            <a:off x="199663" y="226234"/>
            <a:ext cx="609407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/>
              <a:t>REST: Retrieval-Based Speculative Decoding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883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F8095-1714-6D70-8D5D-B38AE8B6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A11392-73A9-6384-5429-59A74FD8C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56" y="0"/>
            <a:ext cx="6795717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E019467-9E59-1CB2-E090-5AE45418574C}"/>
              </a:ext>
            </a:extLst>
          </p:cNvPr>
          <p:cNvSpPr txBox="1"/>
          <p:nvPr/>
        </p:nvSpPr>
        <p:spPr>
          <a:xfrm>
            <a:off x="199663" y="226234"/>
            <a:ext cx="1753193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 err="1"/>
              <a:t>FastFixer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5214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9EF22-A7DF-050F-8350-6201DD54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593A394-273B-8FC1-DBCA-0D9317E3EF4F}"/>
              </a:ext>
            </a:extLst>
          </p:cNvPr>
          <p:cNvSpPr txBox="1"/>
          <p:nvPr/>
        </p:nvSpPr>
        <p:spPr>
          <a:xfrm>
            <a:off x="199663" y="226234"/>
            <a:ext cx="1753193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 err="1"/>
              <a:t>FastFixer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B4E1B8-5412-CE06-50E1-7EC5D7656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087" y="571500"/>
            <a:ext cx="545782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8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920F-329E-0BE2-B2A1-B605D402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0BDF32-7A40-832C-0691-6E9EED15AE58}"/>
              </a:ext>
            </a:extLst>
          </p:cNvPr>
          <p:cNvSpPr txBox="1"/>
          <p:nvPr/>
        </p:nvSpPr>
        <p:spPr>
          <a:xfrm>
            <a:off x="199663" y="226234"/>
            <a:ext cx="264186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 err="1"/>
              <a:t>EfficientEdit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1768B9-479E-2B6A-4D33-ACEE7CA32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" y="741310"/>
            <a:ext cx="11267440" cy="603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82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3D3E-6EED-356C-0229-49B464089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C1086FF-38B2-CFDF-73B5-EB20B63617AF}"/>
              </a:ext>
            </a:extLst>
          </p:cNvPr>
          <p:cNvSpPr txBox="1"/>
          <p:nvPr/>
        </p:nvSpPr>
        <p:spPr>
          <a:xfrm>
            <a:off x="199663" y="226234"/>
            <a:ext cx="264186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 err="1"/>
              <a:t>FastCoder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14AD08-4426-0491-9616-B9F61D500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893855"/>
            <a:ext cx="11201400" cy="573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1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9428-CF00-1987-2CF7-B5A2C4AA5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8F2513F-E935-D617-0028-6B4B5C163EBD}"/>
              </a:ext>
            </a:extLst>
          </p:cNvPr>
          <p:cNvSpPr txBox="1"/>
          <p:nvPr/>
        </p:nvSpPr>
        <p:spPr>
          <a:xfrm>
            <a:off x="199663" y="226234"/>
            <a:ext cx="264186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 err="1"/>
              <a:t>FastCoder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F32D75-B4B4-A73B-B6F9-54304CC2D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41" y="1284352"/>
            <a:ext cx="10741306" cy="544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72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974D-3A6D-62CE-5093-61D5300E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E22DFD-AAFF-C703-FCF1-0E9BFDBD3E40}"/>
              </a:ext>
            </a:extLst>
          </p:cNvPr>
          <p:cNvSpPr txBox="1"/>
          <p:nvPr/>
        </p:nvSpPr>
        <p:spPr>
          <a:xfrm>
            <a:off x="199663" y="226234"/>
            <a:ext cx="264186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/>
              <a:t>CodeFast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068F08-E618-1136-D511-05F0DC66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986"/>
            <a:ext cx="12192000" cy="447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56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0C7B-CFFB-D29B-03E2-189D8B18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1412C6-6536-8313-766D-D7FED01DCEDB}"/>
              </a:ext>
            </a:extLst>
          </p:cNvPr>
          <p:cNvSpPr txBox="1"/>
          <p:nvPr/>
        </p:nvSpPr>
        <p:spPr>
          <a:xfrm>
            <a:off x="199663" y="226234"/>
            <a:ext cx="2641860" cy="4033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/>
              <a:t>CodeFast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C2966E6-48EB-C12E-E157-5D3DDB4A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6" y="693533"/>
            <a:ext cx="11262167" cy="593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419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6DBF-E822-2ACE-232F-4AD52D33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975D7EA-9985-236F-3219-4D75AD0D3F04}"/>
              </a:ext>
            </a:extLst>
          </p:cNvPr>
          <p:cNvSpPr txBox="1"/>
          <p:nvPr/>
        </p:nvSpPr>
        <p:spPr>
          <a:xfrm>
            <a:off x="737419" y="658761"/>
            <a:ext cx="366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结构化剪枝压缩模型得到草稿模型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AE9140-94A9-7D03-483F-95DF3C2CB677}"/>
              </a:ext>
            </a:extLst>
          </p:cNvPr>
          <p:cNvSpPr txBox="1"/>
          <p:nvPr/>
        </p:nvSpPr>
        <p:spPr>
          <a:xfrm>
            <a:off x="761289" y="2010697"/>
            <a:ext cx="5490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Self-Speculative Decoding + </a:t>
            </a:r>
            <a:r>
              <a:rPr lang="en-US" altLang="zh-CN" dirty="0" err="1"/>
              <a:t>LoRA</a:t>
            </a:r>
            <a:r>
              <a:rPr lang="en-US" altLang="zh-CN" dirty="0"/>
              <a:t> + </a:t>
            </a:r>
            <a:r>
              <a:rPr lang="zh-CN" altLang="en-US" dirty="0"/>
              <a:t>领域自适应微调</a:t>
            </a:r>
          </a:p>
        </p:txBody>
      </p:sp>
    </p:spTree>
    <p:extLst>
      <p:ext uri="{BB962C8B-B14F-4D97-AF65-F5344CB8AC3E}">
        <p14:creationId xmlns:p14="http://schemas.microsoft.com/office/powerpoint/2010/main" val="386978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158</Words>
  <Application>Microsoft Office PowerPoint</Application>
  <PresentationFormat>宽屏</PresentationFormat>
  <Paragraphs>48</Paragraphs>
  <Slides>13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6</cp:revision>
  <dcterms:created xsi:type="dcterms:W3CDTF">2025-10-13T05:24:17Z</dcterms:created>
  <dcterms:modified xsi:type="dcterms:W3CDTF">2025-10-13T11:49:50Z</dcterms:modified>
</cp:coreProperties>
</file>